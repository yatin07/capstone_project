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8"/>
  </p:notesMasterIdLst>
  <p:sldIdLst>
    <p:sldId id="270" r:id="rId2"/>
    <p:sldId id="271" r:id="rId3"/>
    <p:sldId id="288" r:id="rId4"/>
    <p:sldId id="272" r:id="rId5"/>
    <p:sldId id="273" r:id="rId6"/>
    <p:sldId id="291" r:id="rId7"/>
    <p:sldId id="277" r:id="rId8"/>
    <p:sldId id="279" r:id="rId9"/>
    <p:sldId id="280" r:id="rId10"/>
    <p:sldId id="281" r:id="rId11"/>
    <p:sldId id="290" r:id="rId12"/>
    <p:sldId id="289" r:id="rId13"/>
    <p:sldId id="283" r:id="rId14"/>
    <p:sldId id="287" r:id="rId15"/>
    <p:sldId id="286" r:id="rId16"/>
    <p:sldId id="267" r:id="rId17"/>
  </p:sldIdLst>
  <p:sldSz cx="9144000" cy="6858000" type="screen4x3"/>
  <p:notesSz cx="6858000" cy="9144000"/>
  <p:embeddedFontLst>
    <p:embeddedFont>
      <p:font typeface="Cambria" panose="02040503050406030204" pitchFamily="18" charset="0"/>
      <p:regular r:id="rId19"/>
      <p:bold r:id="rId20"/>
      <p:italic r:id="rId21"/>
      <p:boldItalic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hWkRhyvlVRw74fboU9iUIVzPuIO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033" autoAdjust="0"/>
  </p:normalViewPr>
  <p:slideViewPr>
    <p:cSldViewPr snapToGrid="0">
      <p:cViewPr varScale="1">
        <p:scale>
          <a:sx n="82" d="100"/>
          <a:sy n="82" d="100"/>
        </p:scale>
        <p:origin x="1474" y="7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22f13355470_0_5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200" name="Google Shape;200;g22f13355470_0_5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lnSpc>
                <a:spcPct val="115000"/>
              </a:lnSpc>
              <a:spcBef>
                <a:spcPts val="0"/>
              </a:spcBef>
              <a:spcAft>
                <a:spcPts val="0"/>
              </a:spcAft>
              <a:buClr>
                <a:schemeClr val="dk1"/>
              </a:buClr>
              <a:buSzPts val="1100"/>
              <a:buFont typeface="Arial"/>
              <a:buNone/>
            </a:pPr>
            <a:endParaRPr dirty="0"/>
          </a:p>
        </p:txBody>
      </p:sp>
      <p:sp>
        <p:nvSpPr>
          <p:cNvPr id="201" name="Google Shape;201;g22f13355470_0_5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IN"/>
              <a:t>16</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1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480"/>
              </a:spcBef>
              <a:spcAft>
                <a:spcPts val="0"/>
              </a:spcAft>
              <a:buClr>
                <a:srgbClr val="888888"/>
              </a:buClr>
              <a:buSzPts val="2400"/>
              <a:buNone/>
              <a:defRPr>
                <a:solidFill>
                  <a:srgbClr val="888888"/>
                </a:solidFill>
              </a:defRPr>
            </a:lvl1pPr>
            <a:lvl2pPr lvl="1" algn="ctr">
              <a:lnSpc>
                <a:spcPct val="100000"/>
              </a:lnSpc>
              <a:spcBef>
                <a:spcPts val="400"/>
              </a:spcBef>
              <a:spcAft>
                <a:spcPts val="0"/>
              </a:spcAft>
              <a:buClr>
                <a:srgbClr val="888888"/>
              </a:buClr>
              <a:buSzPts val="2000"/>
              <a:buNone/>
              <a:defRPr>
                <a:solidFill>
                  <a:srgbClr val="888888"/>
                </a:solidFill>
              </a:defRPr>
            </a:lvl2pPr>
            <a:lvl3pPr lvl="2" algn="ctr">
              <a:lnSpc>
                <a:spcPct val="100000"/>
              </a:lnSpc>
              <a:spcBef>
                <a:spcPts val="360"/>
              </a:spcBef>
              <a:spcAft>
                <a:spcPts val="0"/>
              </a:spcAft>
              <a:buClr>
                <a:srgbClr val="888888"/>
              </a:buClr>
              <a:buSzPts val="1800"/>
              <a:buNone/>
              <a:defRPr>
                <a:solidFill>
                  <a:srgbClr val="888888"/>
                </a:solidFill>
              </a:defRPr>
            </a:lvl3pPr>
            <a:lvl4pPr lvl="3" algn="ctr">
              <a:lnSpc>
                <a:spcPct val="100000"/>
              </a:lnSpc>
              <a:spcBef>
                <a:spcPts val="320"/>
              </a:spcBef>
              <a:spcAft>
                <a:spcPts val="0"/>
              </a:spcAft>
              <a:buClr>
                <a:srgbClr val="888888"/>
              </a:buClr>
              <a:buSzPts val="1600"/>
              <a:buNone/>
              <a:defRPr>
                <a:solidFill>
                  <a:srgbClr val="888888"/>
                </a:solidFill>
              </a:defRPr>
            </a:lvl4pPr>
            <a:lvl5pPr lvl="4" algn="ctr">
              <a:lnSpc>
                <a:spcPct val="100000"/>
              </a:lnSpc>
              <a:spcBef>
                <a:spcPts val="320"/>
              </a:spcBef>
              <a:spcAft>
                <a:spcPts val="0"/>
              </a:spcAft>
              <a:buClr>
                <a:srgbClr val="888888"/>
              </a:buClr>
              <a:buSzPts val="16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18" name="Google Shape;18;p13"/>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13"/>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13"/>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14"/>
          <p:cNvSpPr txBox="1">
            <a:spLocks noGrp="1"/>
          </p:cNvSpPr>
          <p:nvPr>
            <p:ph type="title"/>
          </p:nvPr>
        </p:nvSpPr>
        <p:spPr>
          <a:xfrm>
            <a:off x="457200" y="1295400"/>
            <a:ext cx="8229600" cy="914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4"/>
          <p:cNvSpPr txBox="1">
            <a:spLocks noGrp="1"/>
          </p:cNvSpPr>
          <p:nvPr>
            <p:ph type="body" idx="1"/>
          </p:nvPr>
        </p:nvSpPr>
        <p:spPr>
          <a:xfrm>
            <a:off x="457200" y="2286000"/>
            <a:ext cx="8229600" cy="4070351"/>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4" name="Google Shape;24;p14"/>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14"/>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14"/>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1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4000"/>
              <a:buFont typeface="Calibri"/>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1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30" name="Google Shape;30;p15"/>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5"/>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15"/>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6"/>
          <p:cNvSpPr txBox="1">
            <a:spLocks noGrp="1"/>
          </p:cNvSpPr>
          <p:nvPr>
            <p:ph type="title"/>
          </p:nvPr>
        </p:nvSpPr>
        <p:spPr>
          <a:xfrm>
            <a:off x="457200" y="1295400"/>
            <a:ext cx="8229600" cy="914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6" name="Google Shape;36;p1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7" name="Google Shape;37;p16"/>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6"/>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16"/>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7"/>
          <p:cNvSpPr txBox="1">
            <a:spLocks noGrp="1"/>
          </p:cNvSpPr>
          <p:nvPr>
            <p:ph type="title"/>
          </p:nvPr>
        </p:nvSpPr>
        <p:spPr>
          <a:xfrm>
            <a:off x="457200" y="1295400"/>
            <a:ext cx="8229600" cy="914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36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3" name="Google Shape;43;p1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4" name="Google Shape;44;p1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5" name="Google Shape;45;p1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6" name="Google Shape;46;p17"/>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17"/>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17"/>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18"/>
          <p:cNvSpPr txBox="1">
            <a:spLocks noGrp="1"/>
          </p:cNvSpPr>
          <p:nvPr>
            <p:ph type="title"/>
          </p:nvPr>
        </p:nvSpPr>
        <p:spPr>
          <a:xfrm>
            <a:off x="457200" y="1295400"/>
            <a:ext cx="8229600" cy="914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18"/>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8"/>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8"/>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20"/>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20"/>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61" name="Google Shape;61;p20"/>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2" name="Google Shape;62;p20"/>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0"/>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20"/>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21"/>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21"/>
          <p:cNvSpPr>
            <a:spLocks noGrp="1"/>
          </p:cNvSpPr>
          <p:nvPr>
            <p:ph type="pic" idx="2"/>
          </p:nvPr>
        </p:nvSpPr>
        <p:spPr>
          <a:xfrm>
            <a:off x="1792288" y="612775"/>
            <a:ext cx="5486400" cy="4114800"/>
          </a:xfrm>
          <a:prstGeom prst="rect">
            <a:avLst/>
          </a:prstGeom>
          <a:noFill/>
          <a:ln>
            <a:noFill/>
          </a:ln>
        </p:spPr>
        <p:txBody>
          <a:bodyPr/>
          <a:lstStyle/>
          <a:p>
            <a:endParaRPr lang="en-IN"/>
          </a:p>
        </p:txBody>
      </p:sp>
      <p:sp>
        <p:nvSpPr>
          <p:cNvPr id="68" name="Google Shape;68;p21"/>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9" name="Google Shape;69;p21"/>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1"/>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21"/>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22"/>
          <p:cNvSpPr txBox="1">
            <a:spLocks noGrp="1"/>
          </p:cNvSpPr>
          <p:nvPr>
            <p:ph type="title"/>
          </p:nvPr>
        </p:nvSpPr>
        <p:spPr>
          <a:xfrm>
            <a:off x="457200" y="1295400"/>
            <a:ext cx="8229600" cy="914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22"/>
          <p:cNvSpPr txBox="1">
            <a:spLocks noGrp="1"/>
          </p:cNvSpPr>
          <p:nvPr>
            <p:ph type="body" idx="1"/>
          </p:nvPr>
        </p:nvSpPr>
        <p:spPr>
          <a:xfrm rot="5400000">
            <a:off x="2536824" y="206375"/>
            <a:ext cx="4070351" cy="8229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5" name="Google Shape;75;p22"/>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2"/>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2"/>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23"/>
          <p:cNvSpPr txBox="1">
            <a:spLocks noGrp="1"/>
          </p:cNvSpPr>
          <p:nvPr>
            <p:ph type="title"/>
          </p:nvPr>
        </p:nvSpPr>
        <p:spPr>
          <a:xfrm rot="5400000">
            <a:off x="4732337" y="2171700"/>
            <a:ext cx="5851525" cy="2057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23"/>
          <p:cNvSpPr txBox="1">
            <a:spLocks noGrp="1"/>
          </p:cNvSpPr>
          <p:nvPr>
            <p:ph type="body" idx="1"/>
          </p:nvPr>
        </p:nvSpPr>
        <p:spPr>
          <a:xfrm rot="5400000">
            <a:off x="541338" y="190501"/>
            <a:ext cx="5851525" cy="6019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81" name="Google Shape;81;p23"/>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23"/>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3"/>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2">
            <a:alphaModFix/>
          </a:blip>
          <a:stretch>
            <a:fillRect/>
          </a:stretch>
        </a:blipFill>
        <a:effectLst/>
      </p:bgPr>
    </p:bg>
    <p:spTree>
      <p:nvGrpSpPr>
        <p:cNvPr id="1" name="Shape 9"/>
        <p:cNvGrpSpPr/>
        <p:nvPr/>
      </p:nvGrpSpPr>
      <p:grpSpPr>
        <a:xfrm>
          <a:off x="0" y="0"/>
          <a:ext cx="0" cy="0"/>
          <a:chOff x="0" y="0"/>
          <a:chExt cx="0" cy="0"/>
        </a:xfrm>
      </p:grpSpPr>
      <p:sp>
        <p:nvSpPr>
          <p:cNvPr id="10" name="Google Shape;10;p12"/>
          <p:cNvSpPr txBox="1">
            <a:spLocks noGrp="1"/>
          </p:cNvSpPr>
          <p:nvPr>
            <p:ph type="title"/>
          </p:nvPr>
        </p:nvSpPr>
        <p:spPr>
          <a:xfrm>
            <a:off x="457200" y="1295400"/>
            <a:ext cx="8229600" cy="91440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3600"/>
              <a:buFont typeface="Calibri"/>
              <a:buNone/>
              <a:defRPr sz="3600" b="1"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2"/>
          <p:cNvSpPr txBox="1">
            <a:spLocks noGrp="1"/>
          </p:cNvSpPr>
          <p:nvPr>
            <p:ph type="body" idx="1"/>
          </p:nvPr>
        </p:nvSpPr>
        <p:spPr>
          <a:xfrm>
            <a:off x="457200" y="2286000"/>
            <a:ext cx="8229600" cy="4070351"/>
          </a:xfrm>
          <a:prstGeom prst="rect">
            <a:avLst/>
          </a:prstGeom>
          <a:noFill/>
          <a:ln>
            <a:noFill/>
          </a:ln>
        </p:spPr>
        <p:txBody>
          <a:bodyPr spcFirstLastPara="1" wrap="square" lIns="91425" tIns="45700" rIns="91425" bIns="45700" anchor="t" anchorCtr="0">
            <a:normAutofit/>
          </a:bodyPr>
          <a:lstStyle>
            <a:lvl1pPr marL="457200" marR="0" lvl="0" indent="-381000" algn="l" rtl="0">
              <a:lnSpc>
                <a:spcPct val="100000"/>
              </a:lnSpc>
              <a:spcBef>
                <a:spcPts val="480"/>
              </a:spcBef>
              <a:spcAft>
                <a:spcPts val="0"/>
              </a:spcAft>
              <a:buClr>
                <a:schemeClr val="dk1"/>
              </a:buClr>
              <a:buSzPts val="2400"/>
              <a:buFont typeface="Noto Sans Symbols"/>
              <a:buChar char="❑"/>
              <a:defRPr sz="2400" b="0" i="0" u="none" strike="noStrike" cap="none">
                <a:solidFill>
                  <a:schemeClr val="dk1"/>
                </a:solidFill>
                <a:latin typeface="Calibri"/>
                <a:ea typeface="Calibri"/>
                <a:cs typeface="Calibri"/>
                <a:sym typeface="Calibri"/>
              </a:defRPr>
            </a:lvl1pPr>
            <a:lvl2pPr marL="914400" marR="0" lvl="1" indent="-355600" algn="l" rtl="0">
              <a:lnSpc>
                <a:spcPct val="100000"/>
              </a:lnSpc>
              <a:spcBef>
                <a:spcPts val="400"/>
              </a:spcBef>
              <a:spcAft>
                <a:spcPts val="0"/>
              </a:spcAft>
              <a:buClr>
                <a:schemeClr val="dk1"/>
              </a:buClr>
              <a:buSzPts val="2000"/>
              <a:buFont typeface="Noto Sans Symbols"/>
              <a:buChar char="▪"/>
              <a:defRPr sz="20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360"/>
              </a:spcBef>
              <a:spcAft>
                <a:spcPts val="0"/>
              </a:spcAft>
              <a:buClr>
                <a:schemeClr val="dk1"/>
              </a:buClr>
              <a:buSzPts val="1800"/>
              <a:buFont typeface="Noto Sans Symbols"/>
              <a:buChar char="▪"/>
              <a:defRPr sz="1800" b="0" i="0" u="none" strike="noStrike" cap="none">
                <a:solidFill>
                  <a:schemeClr val="dk1"/>
                </a:solidFill>
                <a:latin typeface="Calibri"/>
                <a:ea typeface="Calibri"/>
                <a:cs typeface="Calibri"/>
                <a:sym typeface="Calibri"/>
              </a:defRPr>
            </a:lvl3pPr>
            <a:lvl4pPr marL="1828800" marR="0" lvl="3" indent="-330200" algn="l" rtl="0">
              <a:lnSpc>
                <a:spcPct val="100000"/>
              </a:lnSpc>
              <a:spcBef>
                <a:spcPts val="320"/>
              </a:spcBef>
              <a:spcAft>
                <a:spcPts val="0"/>
              </a:spcAft>
              <a:buClr>
                <a:schemeClr val="dk1"/>
              </a:buClr>
              <a:buSzPts val="1600"/>
              <a:buFont typeface="Noto Sans Symbols"/>
              <a:buChar char="▪"/>
              <a:defRPr sz="1600" b="0" i="0" u="none" strike="noStrike" cap="none">
                <a:solidFill>
                  <a:schemeClr val="dk1"/>
                </a:solidFill>
                <a:latin typeface="Calibri"/>
                <a:ea typeface="Calibri"/>
                <a:cs typeface="Calibri"/>
                <a:sym typeface="Calibri"/>
              </a:defRPr>
            </a:lvl4pPr>
            <a:lvl5pPr marL="2286000" marR="0" lvl="4" indent="-330200" algn="l" rtl="0">
              <a:lnSpc>
                <a:spcPct val="100000"/>
              </a:lnSpc>
              <a:spcBef>
                <a:spcPts val="320"/>
              </a:spcBef>
              <a:spcAft>
                <a:spcPts val="0"/>
              </a:spcAft>
              <a:buClr>
                <a:schemeClr val="dk1"/>
              </a:buClr>
              <a:buSzPts val="1600"/>
              <a:buFont typeface="Noto Sans Symbols"/>
              <a:buChar char="▪"/>
              <a:defRPr sz="16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2"/>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05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2"/>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05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2"/>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6" r:id="rId7"/>
    <p:sldLayoutId id="2147483657" r:id="rId8"/>
    <p:sldLayoutId id="2147483658" r:id="rId9"/>
    <p:sldLayoutId id="2147483659"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23899" y="1857033"/>
            <a:ext cx="7696200" cy="1656634"/>
          </a:xfrm>
        </p:spPr>
        <p:txBody>
          <a:bodyPr>
            <a:noAutofit/>
          </a:bodyPr>
          <a:lstStyle/>
          <a:p>
            <a:br>
              <a:rPr lang="en-IN" sz="2000" b="1" dirty="0">
                <a:latin typeface="Times New Roman" panose="02020603050405020304" pitchFamily="18" charset="0"/>
                <a:cs typeface="Times New Roman" pitchFamily="18" charset="0"/>
              </a:rPr>
            </a:br>
            <a:br>
              <a:rPr lang="en-IN" sz="2000" b="1" dirty="0">
                <a:latin typeface="Times New Roman" panose="02020603050405020304" pitchFamily="18" charset="0"/>
                <a:cs typeface="Times New Roman" pitchFamily="18" charset="0"/>
              </a:rPr>
            </a:br>
            <a:br>
              <a:rPr lang="en-IN" sz="2000" b="1" dirty="0">
                <a:latin typeface="Times New Roman" panose="02020603050405020304" pitchFamily="18" charset="0"/>
                <a:cs typeface="Times New Roman" pitchFamily="18" charset="0"/>
              </a:rPr>
            </a:br>
            <a:r>
              <a:rPr lang="en-IN" sz="2000" b="1" dirty="0">
                <a:latin typeface="Times New Roman" panose="02020603050405020304" pitchFamily="18" charset="0"/>
                <a:cs typeface="Times New Roman" pitchFamily="18" charset="0"/>
              </a:rPr>
              <a:t>Project Review-I Presentation on</a:t>
            </a:r>
            <a:br>
              <a:rPr lang="en-IN" sz="2000" b="1" dirty="0">
                <a:latin typeface="Times New Roman" panose="02020603050405020304" pitchFamily="18" charset="0"/>
                <a:cs typeface="Times New Roman" pitchFamily="18" charset="0"/>
              </a:rPr>
            </a:br>
            <a:r>
              <a:rPr lang="en-IN" sz="2000" dirty="0">
                <a:solidFill>
                  <a:srgbClr val="C00000"/>
                </a:solidFill>
                <a:latin typeface="Times New Roman" panose="02020603050405020304" pitchFamily="18" charset="0"/>
                <a:cs typeface="Times New Roman" panose="02020603050405020304" pitchFamily="18" charset="0"/>
              </a:rPr>
              <a:t>Demand Forecasting and Inventory Recommendation</a:t>
            </a:r>
            <a:br>
              <a:rPr lang="en-IN" sz="2000" dirty="0">
                <a:solidFill>
                  <a:srgbClr val="C00000"/>
                </a:solidFill>
                <a:latin typeface="Times New Roman" panose="02020603050405020304" pitchFamily="18" charset="0"/>
                <a:cs typeface="Times New Roman" panose="02020603050405020304" pitchFamily="18" charset="0"/>
              </a:rPr>
            </a:br>
            <a:r>
              <a:rPr lang="en-IN" sz="2000" dirty="0">
                <a:solidFill>
                  <a:srgbClr val="C00000"/>
                </a:solidFill>
                <a:latin typeface="Times New Roman" panose="02020603050405020304" pitchFamily="18" charset="0"/>
                <a:cs typeface="Times New Roman" panose="02020603050405020304" pitchFamily="18" charset="0"/>
              </a:rPr>
              <a:t> for Small Food Retailers</a:t>
            </a:r>
            <a:br>
              <a:rPr lang="en-IN" sz="2000" dirty="0">
                <a:solidFill>
                  <a:srgbClr val="C00000"/>
                </a:solidFill>
                <a:latin typeface="Times New Roman" panose="02020603050405020304" pitchFamily="18" charset="0"/>
                <a:cs typeface="Times New Roman" panose="02020603050405020304" pitchFamily="18" charset="0"/>
              </a:rPr>
            </a:br>
            <a:br>
              <a:rPr lang="en-IN" sz="2000" b="1" dirty="0">
                <a:latin typeface="Times New Roman" panose="02020603050405020304" pitchFamily="18" charset="0"/>
                <a:cs typeface="Times New Roman" pitchFamily="18" charset="0"/>
              </a:rPr>
            </a:br>
            <a:r>
              <a:rPr lang="en-IN" sz="1950" b="1" dirty="0">
                <a:latin typeface="Times New Roman" panose="02020603050405020304" pitchFamily="18" charset="0"/>
                <a:cs typeface="Times New Roman" pitchFamily="18" charset="0"/>
              </a:rPr>
              <a:t>By (G1)</a:t>
            </a:r>
            <a:br>
              <a:rPr lang="en-IN" sz="1950" dirty="0">
                <a:latin typeface="Times New Roman" panose="02020603050405020304" pitchFamily="18" charset="0"/>
                <a:cs typeface="Times New Roman" pitchFamily="18" charset="0"/>
              </a:rPr>
            </a:br>
            <a:r>
              <a:rPr lang="en-IN" sz="1950" b="1" dirty="0">
                <a:latin typeface="Times New Roman" panose="02020603050405020304" pitchFamily="18" charset="0"/>
                <a:cs typeface="Times New Roman" pitchFamily="18" charset="0"/>
              </a:rPr>
              <a:t>1. </a:t>
            </a:r>
            <a:r>
              <a:rPr lang="en-IN" sz="1950" dirty="0" err="1">
                <a:latin typeface="Times New Roman" panose="02020603050405020304" pitchFamily="18" charset="0"/>
                <a:cs typeface="Times New Roman" pitchFamily="18" charset="0"/>
              </a:rPr>
              <a:t>Yatin</a:t>
            </a:r>
            <a:r>
              <a:rPr lang="en-IN" sz="1950" dirty="0">
                <a:latin typeface="Times New Roman" panose="02020603050405020304" pitchFamily="18" charset="0"/>
                <a:cs typeface="Times New Roman" pitchFamily="18" charset="0"/>
              </a:rPr>
              <a:t> Patil 70012300043</a:t>
            </a:r>
            <a:br>
              <a:rPr lang="en-IN" sz="1950" b="1" dirty="0">
                <a:latin typeface="Times New Roman" panose="02020603050405020304" pitchFamily="18" charset="0"/>
                <a:cs typeface="Times New Roman" pitchFamily="18" charset="0"/>
              </a:rPr>
            </a:br>
            <a:r>
              <a:rPr lang="en-IN" sz="1950" b="1" dirty="0">
                <a:latin typeface="Times New Roman" panose="02020603050405020304" pitchFamily="18" charset="0"/>
                <a:cs typeface="Times New Roman" pitchFamily="18" charset="0"/>
              </a:rPr>
              <a:t>2. </a:t>
            </a:r>
            <a:r>
              <a:rPr lang="en-IN" sz="1950" dirty="0">
                <a:latin typeface="Times New Roman" panose="02020603050405020304" pitchFamily="18" charset="0"/>
                <a:cs typeface="Times New Roman" pitchFamily="18" charset="0"/>
              </a:rPr>
              <a:t>Chinmay Patil 70012300123</a:t>
            </a:r>
            <a:br>
              <a:rPr lang="en-IN" sz="1950" b="1" dirty="0">
                <a:latin typeface="Times New Roman" panose="02020603050405020304" pitchFamily="18" charset="0"/>
                <a:cs typeface="Times New Roman" pitchFamily="18" charset="0"/>
              </a:rPr>
            </a:br>
            <a:r>
              <a:rPr lang="en-IN" sz="1950" b="1" dirty="0">
                <a:latin typeface="Times New Roman" panose="02020603050405020304" pitchFamily="18" charset="0"/>
                <a:cs typeface="Times New Roman" pitchFamily="18" charset="0"/>
              </a:rPr>
              <a:t>3.</a:t>
            </a:r>
            <a:r>
              <a:rPr lang="en-IN" sz="1950" dirty="0">
                <a:latin typeface="Times New Roman" panose="02020603050405020304" pitchFamily="18" charset="0"/>
                <a:cs typeface="Times New Roman" pitchFamily="18" charset="0"/>
              </a:rPr>
              <a:t> </a:t>
            </a:r>
            <a:r>
              <a:rPr lang="en-IN" sz="1950" b="1" dirty="0" err="1">
                <a:latin typeface="Times New Roman" panose="02020603050405020304" pitchFamily="18" charset="0"/>
                <a:cs typeface="Times New Roman" pitchFamily="18" charset="0"/>
              </a:rPr>
              <a:t>Soumy</a:t>
            </a:r>
            <a:r>
              <a:rPr lang="en-IN" sz="1950" b="1" dirty="0">
                <a:latin typeface="Times New Roman" panose="02020603050405020304" pitchFamily="18" charset="0"/>
                <a:cs typeface="Times New Roman" pitchFamily="18" charset="0"/>
              </a:rPr>
              <a:t> Raghuvanshi 70012300116</a:t>
            </a:r>
            <a:br>
              <a:rPr lang="en-IN" sz="1950" dirty="0">
                <a:latin typeface="Times New Roman" panose="02020603050405020304" pitchFamily="18" charset="0"/>
                <a:cs typeface="Times New Roman" pitchFamily="18" charset="0"/>
              </a:rPr>
            </a:br>
            <a:br>
              <a:rPr lang="en-IN" sz="1950" b="1" dirty="0">
                <a:latin typeface="Times New Roman" panose="02020603050405020304" pitchFamily="18" charset="0"/>
                <a:cs typeface="Times New Roman" pitchFamily="18" charset="0"/>
              </a:rPr>
            </a:br>
            <a:r>
              <a:rPr lang="en-IN" sz="1950" b="1" dirty="0">
                <a:latin typeface="Times New Roman" panose="02020603050405020304" pitchFamily="18" charset="0"/>
                <a:cs typeface="Times New Roman" pitchFamily="18" charset="0"/>
              </a:rPr>
              <a:t>Under the Guidance</a:t>
            </a:r>
            <a:r>
              <a:rPr lang="en-IN" sz="1950" dirty="0">
                <a:latin typeface="Times New Roman" panose="02020603050405020304" pitchFamily="18" charset="0"/>
                <a:cs typeface="Times New Roman" pitchFamily="18" charset="0"/>
              </a:rPr>
              <a:t> </a:t>
            </a:r>
            <a:r>
              <a:rPr lang="en-IN" sz="1950" b="1" dirty="0">
                <a:latin typeface="Times New Roman" panose="02020603050405020304" pitchFamily="18" charset="0"/>
                <a:cs typeface="Times New Roman" pitchFamily="18" charset="0"/>
              </a:rPr>
              <a:t>of</a:t>
            </a:r>
            <a:br>
              <a:rPr lang="en-IN" sz="1950" b="1" dirty="0">
                <a:latin typeface="Times New Roman" panose="02020603050405020304" pitchFamily="18" charset="0"/>
                <a:cs typeface="Times New Roman" pitchFamily="18" charset="0"/>
              </a:rPr>
            </a:br>
            <a:r>
              <a:rPr lang="en-IN" sz="1950" dirty="0">
                <a:latin typeface="Times New Roman" panose="02020603050405020304" pitchFamily="18" charset="0"/>
                <a:cs typeface="Times New Roman" panose="02020603050405020304" pitchFamily="18" charset="0"/>
              </a:rPr>
              <a:t>Dr. Srikanth </a:t>
            </a:r>
            <a:r>
              <a:rPr lang="en-IN" sz="1950" dirty="0" err="1">
                <a:latin typeface="Times New Roman" panose="02020603050405020304" pitchFamily="18" charset="0"/>
                <a:cs typeface="Times New Roman" panose="02020603050405020304" pitchFamily="18" charset="0"/>
              </a:rPr>
              <a:t>Pulipeti</a:t>
            </a:r>
            <a:br>
              <a:rPr lang="en-IN" sz="2000" b="1" dirty="0">
                <a:latin typeface="Times New Roman" panose="02020603050405020304" pitchFamily="18" charset="0"/>
                <a:cs typeface="Times New Roman" pitchFamily="18" charset="0"/>
              </a:rPr>
            </a:br>
            <a:endParaRPr lang="en-IN" sz="2000" b="1" dirty="0">
              <a:latin typeface="Times New Roman" panose="02020603050405020304" pitchFamily="18" charset="0"/>
              <a:cs typeface="Times New Roman" pitchFamily="18" charset="0"/>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1</a:t>
            </a:fld>
            <a:endParaRPr lang="en-US">
              <a:latin typeface="Times New Roman" panose="02020603050405020304" pitchFamily="18" charset="0"/>
              <a:cs typeface="Times New Roman" panose="02020603050405020304" pitchFamily="18" charset="0"/>
            </a:endParaRPr>
          </a:p>
        </p:txBody>
      </p:sp>
      <p:pic>
        <p:nvPicPr>
          <p:cNvPr id="1027" name="Picture 3" descr="C:\Users\kunal\Pictures\nmims.png"/>
          <p:cNvPicPr>
            <a:picLocks noChangeAspect="1" noChangeArrowheads="1"/>
          </p:cNvPicPr>
          <p:nvPr/>
        </p:nvPicPr>
        <p:blipFill>
          <a:blip r:embed="rId2" cstate="print"/>
          <a:srcRect/>
          <a:stretch>
            <a:fillRect/>
          </a:stretch>
        </p:blipFill>
        <p:spPr bwMode="auto">
          <a:xfrm>
            <a:off x="4043362" y="4628575"/>
            <a:ext cx="1057275" cy="1209675"/>
          </a:xfrm>
          <a:prstGeom prst="rect">
            <a:avLst/>
          </a:prstGeom>
          <a:noFill/>
        </p:spPr>
      </p:pic>
      <p:sp>
        <p:nvSpPr>
          <p:cNvPr id="6" name="TextBox 5"/>
          <p:cNvSpPr txBox="1"/>
          <p:nvPr/>
        </p:nvSpPr>
        <p:spPr>
          <a:xfrm>
            <a:off x="1447800" y="5677419"/>
            <a:ext cx="6248400" cy="954107"/>
          </a:xfrm>
          <a:prstGeom prst="rect">
            <a:avLst/>
          </a:prstGeom>
          <a:noFill/>
        </p:spPr>
        <p:txBody>
          <a:bodyPr wrap="square" rtlCol="0">
            <a:spAutoFit/>
          </a:bodyPr>
          <a:lstStyle/>
          <a:p>
            <a:pPr algn="ctr"/>
            <a:endParaRPr lang="en-IN" b="1" dirty="0">
              <a:latin typeface="Times New Roman" pitchFamily="18" charset="0"/>
              <a:cs typeface="Times New Roman" pitchFamily="18" charset="0"/>
            </a:endParaRPr>
          </a:p>
          <a:p>
            <a:pPr algn="ctr"/>
            <a:r>
              <a:rPr lang="en-IN" b="1" dirty="0">
                <a:latin typeface="Times New Roman" pitchFamily="18" charset="0"/>
                <a:cs typeface="Times New Roman" pitchFamily="18" charset="0"/>
              </a:rPr>
              <a:t>Department of Information Technology</a:t>
            </a:r>
          </a:p>
          <a:p>
            <a:pPr algn="ctr"/>
            <a:r>
              <a:rPr lang="en-IN" b="1" dirty="0">
                <a:latin typeface="Times New Roman" pitchFamily="18" charset="0"/>
                <a:cs typeface="Times New Roman" pitchFamily="18" charset="0"/>
              </a:rPr>
              <a:t>MPSTME, SVKMs NMIMS </a:t>
            </a:r>
            <a:r>
              <a:rPr lang="en-IN" b="1" dirty="0" err="1">
                <a:latin typeface="Times New Roman" panose="02020603050405020304" pitchFamily="18" charset="0"/>
                <a:cs typeface="Times New Roman" pitchFamily="18" charset="0"/>
              </a:rPr>
              <a:t>Shirpur</a:t>
            </a:r>
            <a:r>
              <a:rPr lang="en-IN" b="1" dirty="0">
                <a:latin typeface="Times New Roman" pitchFamily="18" charset="0"/>
                <a:cs typeface="Times New Roman" pitchFamily="18" charset="0"/>
              </a:rPr>
              <a:t> Campus</a:t>
            </a:r>
          </a:p>
          <a:p>
            <a:pPr algn="ctr"/>
            <a:r>
              <a:rPr lang="en-IN" b="1" dirty="0">
                <a:latin typeface="Times New Roman" pitchFamily="18" charset="0"/>
                <a:cs typeface="Times New Roman" pitchFamily="18" charset="0"/>
              </a:rPr>
              <a:t>2026-27</a:t>
            </a:r>
          </a:p>
        </p:txBody>
      </p:sp>
    </p:spTree>
    <p:extLst>
      <p:ext uri="{BB962C8B-B14F-4D97-AF65-F5344CB8AC3E}">
        <p14:creationId xmlns:p14="http://schemas.microsoft.com/office/powerpoint/2010/main" val="7537471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6905" y="1099692"/>
            <a:ext cx="6479309" cy="1143000"/>
          </a:xfrm>
        </p:spPr>
        <p:txBody>
          <a:bodyPr/>
          <a:lstStyle/>
          <a:p>
            <a:r>
              <a:rPr lang="en-IN" b="1" dirty="0">
                <a:latin typeface="Times New Roman" pitchFamily="18" charset="0"/>
                <a:cs typeface="Times New Roman" pitchFamily="18" charset="0"/>
              </a:rPr>
              <a:t>Outline</a:t>
            </a:r>
          </a:p>
        </p:txBody>
      </p:sp>
      <p:sp>
        <p:nvSpPr>
          <p:cNvPr id="3" name="Content Placeholder 2"/>
          <p:cNvSpPr>
            <a:spLocks noGrp="1"/>
          </p:cNvSpPr>
          <p:nvPr>
            <p:ph idx="1"/>
          </p:nvPr>
        </p:nvSpPr>
        <p:spPr>
          <a:xfrm>
            <a:off x="457200" y="1937327"/>
            <a:ext cx="8229600" cy="3704237"/>
          </a:xfrm>
        </p:spPr>
        <p:txBody>
          <a:bodyPr>
            <a:noAutofit/>
          </a:bodyPr>
          <a:lstStyle/>
          <a:p>
            <a:pPr marL="358775" lvl="1" indent="-358775">
              <a:lnSpc>
                <a:spcPct val="100000"/>
              </a:lnSpc>
              <a:buFont typeface="Arial" pitchFamily="34" charset="0"/>
              <a:buChar char="•"/>
            </a:pPr>
            <a:r>
              <a:rPr lang="en-IN" dirty="0">
                <a:latin typeface="Times New Roman" pitchFamily="18" charset="0"/>
                <a:cs typeface="Times New Roman" pitchFamily="18" charset="0"/>
              </a:rPr>
              <a:t>Introduction</a:t>
            </a:r>
          </a:p>
          <a:p>
            <a:pPr marL="358775" lvl="1" indent="-358775">
              <a:lnSpc>
                <a:spcPct val="100000"/>
              </a:lnSpc>
              <a:buFont typeface="Arial" pitchFamily="34" charset="0"/>
              <a:buChar char="•"/>
            </a:pPr>
            <a:r>
              <a:rPr lang="en-IN" dirty="0">
                <a:latin typeface="Times New Roman" pitchFamily="18" charset="0"/>
                <a:cs typeface="Times New Roman" pitchFamily="18" charset="0"/>
              </a:rPr>
              <a:t>Problem Statement</a:t>
            </a:r>
          </a:p>
          <a:p>
            <a:pPr marL="358775" lvl="1" indent="-358775">
              <a:lnSpc>
                <a:spcPct val="100000"/>
              </a:lnSpc>
              <a:buFont typeface="Arial" pitchFamily="34" charset="0"/>
              <a:buChar char="•"/>
            </a:pPr>
            <a:r>
              <a:rPr lang="en-IN" dirty="0">
                <a:latin typeface="Times New Roman" pitchFamily="18" charset="0"/>
                <a:cs typeface="Times New Roman" pitchFamily="18" charset="0"/>
              </a:rPr>
              <a:t>Motivation and Need of Project </a:t>
            </a:r>
          </a:p>
          <a:p>
            <a:pPr marL="358775" lvl="1" indent="-358775">
              <a:lnSpc>
                <a:spcPct val="100000"/>
              </a:lnSpc>
              <a:buFont typeface="Arial" pitchFamily="34" charset="0"/>
              <a:buChar char="•"/>
            </a:pPr>
            <a:r>
              <a:rPr lang="en-IN" dirty="0">
                <a:latin typeface="Times New Roman" pitchFamily="18" charset="0"/>
                <a:cs typeface="Times New Roman" pitchFamily="18" charset="0"/>
              </a:rPr>
              <a:t>Objective of Project</a:t>
            </a:r>
          </a:p>
          <a:p>
            <a:pPr marL="358775" lvl="1" indent="-358775">
              <a:lnSpc>
                <a:spcPct val="100000"/>
              </a:lnSpc>
              <a:buFont typeface="Arial" pitchFamily="34" charset="0"/>
              <a:buChar char="•"/>
            </a:pPr>
            <a:r>
              <a:rPr lang="en-IN" dirty="0">
                <a:latin typeface="Times New Roman" pitchFamily="18" charset="0"/>
                <a:cs typeface="Times New Roman" pitchFamily="18" charset="0"/>
              </a:rPr>
              <a:t>Scope of Project </a:t>
            </a:r>
          </a:p>
          <a:p>
            <a:pPr marL="358775" lvl="1" indent="-358775">
              <a:lnSpc>
                <a:spcPct val="100000"/>
              </a:lnSpc>
              <a:buFont typeface="Arial" pitchFamily="34" charset="0"/>
              <a:buChar char="•"/>
            </a:pPr>
            <a:r>
              <a:rPr lang="en-IN" dirty="0">
                <a:latin typeface="Times New Roman" pitchFamily="18" charset="0"/>
                <a:cs typeface="Times New Roman" pitchFamily="18" charset="0"/>
              </a:rPr>
              <a:t>Literature Review</a:t>
            </a:r>
          </a:p>
          <a:p>
            <a:pPr marL="358775" lvl="1" indent="-358775">
              <a:lnSpc>
                <a:spcPct val="100000"/>
              </a:lnSpc>
              <a:buFont typeface="Arial" pitchFamily="34" charset="0"/>
              <a:buChar char="•"/>
            </a:pPr>
            <a:r>
              <a:rPr lang="en-IN" dirty="0">
                <a:latin typeface="Times New Roman" pitchFamily="18" charset="0"/>
                <a:cs typeface="Times New Roman" pitchFamily="18" charset="0"/>
              </a:rPr>
              <a:t>Proposed Methodology</a:t>
            </a:r>
          </a:p>
          <a:p>
            <a:pPr marL="358775" lvl="1" indent="-358775">
              <a:lnSpc>
                <a:spcPct val="100000"/>
              </a:lnSpc>
              <a:buFont typeface="Arial" pitchFamily="34" charset="0"/>
              <a:buChar char="•"/>
            </a:pPr>
            <a:r>
              <a:rPr lang="en-IN" dirty="0">
                <a:latin typeface="Times New Roman" pitchFamily="18" charset="0"/>
                <a:cs typeface="Times New Roman" pitchFamily="18" charset="0"/>
              </a:rPr>
              <a:t>Tools, Technologies and Software</a:t>
            </a:r>
          </a:p>
          <a:p>
            <a:pPr marL="358775" lvl="1" indent="-358775">
              <a:lnSpc>
                <a:spcPct val="100000"/>
              </a:lnSpc>
              <a:buFont typeface="Arial" pitchFamily="34" charset="0"/>
              <a:buChar char="•"/>
            </a:pPr>
            <a:r>
              <a:rPr lang="en-IN" dirty="0">
                <a:latin typeface="Times New Roman" pitchFamily="18" charset="0"/>
                <a:cs typeface="Times New Roman" pitchFamily="18" charset="0"/>
              </a:rPr>
              <a:t>Feasibility Analysis</a:t>
            </a:r>
          </a:p>
          <a:p>
            <a:pPr marL="358775" lvl="1" indent="-358775">
              <a:lnSpc>
                <a:spcPct val="100000"/>
              </a:lnSpc>
              <a:buFont typeface="Arial" pitchFamily="34" charset="0"/>
              <a:buChar char="•"/>
            </a:pPr>
            <a:r>
              <a:rPr lang="en-IN" dirty="0">
                <a:latin typeface="Times New Roman" pitchFamily="18" charset="0"/>
                <a:cs typeface="Times New Roman" pitchFamily="18" charset="0"/>
              </a:rPr>
              <a:t>Expected Outcomes</a:t>
            </a:r>
          </a:p>
          <a:p>
            <a:pPr marL="358775" lvl="1" indent="-358775">
              <a:lnSpc>
                <a:spcPct val="100000"/>
              </a:lnSpc>
              <a:buFont typeface="Arial" pitchFamily="34" charset="0"/>
              <a:buChar char="•"/>
            </a:pPr>
            <a:r>
              <a:rPr lang="en-IN" dirty="0">
                <a:latin typeface="Times New Roman" pitchFamily="18" charset="0"/>
                <a:cs typeface="Times New Roman" pitchFamily="18" charset="0"/>
              </a:rPr>
              <a:t>Project Development Timeline (Gantt Chart)</a:t>
            </a:r>
          </a:p>
          <a:p>
            <a:pPr marL="358775" lvl="1" indent="-358775">
              <a:lnSpc>
                <a:spcPct val="100000"/>
              </a:lnSpc>
              <a:buFont typeface="Arial" pitchFamily="34" charset="0"/>
              <a:buChar char="•"/>
            </a:pPr>
            <a:r>
              <a:rPr lang="en-IN" dirty="0">
                <a:latin typeface="Times New Roman" pitchFamily="18" charset="0"/>
                <a:cs typeface="Times New Roman" pitchFamily="18" charset="0"/>
              </a:rPr>
              <a:t>References</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a:t>
            </a:fld>
            <a:endParaRPr lang="en-US"/>
          </a:p>
        </p:txBody>
      </p:sp>
    </p:spTree>
    <p:extLst>
      <p:ext uri="{BB962C8B-B14F-4D97-AF65-F5344CB8AC3E}">
        <p14:creationId xmlns:p14="http://schemas.microsoft.com/office/powerpoint/2010/main" val="1789140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854B4-2F0D-2432-874B-C1A16AB23949}"/>
            </a:ext>
          </a:extLst>
        </p:cNvPr>
        <p:cNvGrpSpPr/>
        <p:nvPr/>
      </p:nvGrpSpPr>
      <p:grpSpPr>
        <a:xfrm>
          <a:off x="0" y="0"/>
          <a:ext cx="0" cy="0"/>
          <a:chOff x="0" y="0"/>
          <a:chExt cx="0" cy="0"/>
        </a:xfrm>
      </p:grpSpPr>
      <p:sp>
        <p:nvSpPr>
          <p:cNvPr id="19" name="Text 3">
            <a:extLst>
              <a:ext uri="{FF2B5EF4-FFF2-40B4-BE49-F238E27FC236}">
                <a16:creationId xmlns:a16="http://schemas.microsoft.com/office/drawing/2014/main" id="{F4FA3AAC-3BB8-C6A4-1142-0B2AEF659401}"/>
              </a:ext>
            </a:extLst>
          </p:cNvPr>
          <p:cNvSpPr/>
          <p:nvPr/>
        </p:nvSpPr>
        <p:spPr>
          <a:xfrm>
            <a:off x="111030" y="1316549"/>
            <a:ext cx="9359542" cy="594360"/>
          </a:xfrm>
          <a:prstGeom prst="rect">
            <a:avLst/>
          </a:prstGeom>
          <a:noFill/>
          <a:ln/>
        </p:spPr>
        <p:txBody>
          <a:bodyPr wrap="square" lIns="0" tIns="0" rIns="0" bIns="0" rtlCol="0" anchor="ctr"/>
          <a:lstStyle/>
          <a:p>
            <a:pPr marL="0" indent="0" algn="l">
              <a:buNone/>
            </a:pPr>
            <a:r>
              <a:rPr lang="en-US" sz="2700" b="1" dirty="0">
                <a:solidFill>
                  <a:srgbClr val="BC312C"/>
                </a:solidFill>
                <a:latin typeface="Cambria" pitchFamily="34" charset="0"/>
                <a:ea typeface="Cambria" pitchFamily="34" charset="-122"/>
                <a:cs typeface="Cambria" pitchFamily="34" charset="-120"/>
              </a:rPr>
              <a:t>Introduction</a:t>
            </a:r>
            <a:endParaRPr lang="en-US" sz="2700" dirty="0"/>
          </a:p>
        </p:txBody>
      </p:sp>
      <p:sp>
        <p:nvSpPr>
          <p:cNvPr id="21" name="Shape 4">
            <a:extLst>
              <a:ext uri="{FF2B5EF4-FFF2-40B4-BE49-F238E27FC236}">
                <a16:creationId xmlns:a16="http://schemas.microsoft.com/office/drawing/2014/main" id="{6CEA9312-7C19-0691-0537-309A0467F3D9}"/>
              </a:ext>
            </a:extLst>
          </p:cNvPr>
          <p:cNvSpPr/>
          <p:nvPr/>
        </p:nvSpPr>
        <p:spPr>
          <a:xfrm flipV="1">
            <a:off x="111030" y="1917627"/>
            <a:ext cx="8781043" cy="11570"/>
          </a:xfrm>
          <a:prstGeom prst="line">
            <a:avLst/>
          </a:prstGeom>
          <a:noFill/>
          <a:ln w="12700">
            <a:solidFill>
              <a:srgbClr val="E0DAD8"/>
            </a:solidFill>
            <a:prstDash val="solid"/>
          </a:ln>
        </p:spPr>
      </p:sp>
      <p:sp>
        <p:nvSpPr>
          <p:cNvPr id="30" name="TextBox 29"/>
          <p:cNvSpPr txBox="1"/>
          <p:nvPr/>
        </p:nvSpPr>
        <p:spPr>
          <a:xfrm>
            <a:off x="111030" y="2050000"/>
            <a:ext cx="5581043" cy="884922"/>
          </a:xfrm>
          <a:prstGeom prst="rect">
            <a:avLst/>
          </a:prstGeom>
          <a:noFill/>
        </p:spPr>
        <p:txBody>
          <a:bodyPr wrap="square" lIns="0" tIns="0" rIns="0" bIns="0" anchor="t">
            <a:spAutoFit/>
          </a:bodyPr>
          <a:lstStyle/>
          <a:p>
            <a:pPr algn="l">
              <a:lnSpc>
                <a:spcPct val="115000"/>
              </a:lnSpc>
            </a:pPr>
            <a:r>
              <a:rPr sz="1700" b="0" i="1" dirty="0">
                <a:solidFill>
                  <a:srgbClr val="262626"/>
                </a:solidFill>
                <a:latin typeface="Calibri"/>
              </a:rPr>
              <a:t>Small food businesses lose money on both sides of the same problem: over-order and waste perishable stock, or under-order and lose sales with no forecasting tool built for their scale.</a:t>
            </a:r>
          </a:p>
        </p:txBody>
      </p:sp>
      <p:sp>
        <p:nvSpPr>
          <p:cNvPr id="31" name="TextBox 30"/>
          <p:cNvSpPr txBox="1"/>
          <p:nvPr/>
        </p:nvSpPr>
        <p:spPr>
          <a:xfrm>
            <a:off x="261030" y="3246485"/>
            <a:ext cx="5361043" cy="276999"/>
          </a:xfrm>
          <a:prstGeom prst="rect">
            <a:avLst/>
          </a:prstGeom>
          <a:noFill/>
        </p:spPr>
        <p:txBody>
          <a:bodyPr wrap="square" lIns="0" tIns="0" rIns="0" bIns="0">
            <a:spAutoFit/>
          </a:bodyPr>
          <a:lstStyle/>
          <a:p>
            <a:r>
              <a:rPr sz="1800" b="1" i="0" dirty="0">
                <a:solidFill>
                  <a:srgbClr val="BC312C"/>
                </a:solidFill>
                <a:latin typeface="Calibri"/>
              </a:rPr>
              <a:t>THE PROBLEM</a:t>
            </a:r>
          </a:p>
        </p:txBody>
      </p:sp>
      <p:sp>
        <p:nvSpPr>
          <p:cNvPr id="32" name="TextBox 31"/>
          <p:cNvSpPr txBox="1"/>
          <p:nvPr/>
        </p:nvSpPr>
        <p:spPr>
          <a:xfrm>
            <a:off x="261030" y="3546485"/>
            <a:ext cx="5361043" cy="487056"/>
          </a:xfrm>
          <a:prstGeom prst="rect">
            <a:avLst/>
          </a:prstGeom>
          <a:noFill/>
        </p:spPr>
        <p:txBody>
          <a:bodyPr wrap="square" lIns="0" tIns="0" rIns="0" bIns="0">
            <a:spAutoFit/>
          </a:bodyPr>
          <a:lstStyle/>
          <a:p>
            <a:pPr>
              <a:lnSpc>
                <a:spcPct val="108000"/>
              </a:lnSpc>
            </a:pPr>
            <a:r>
              <a:rPr sz="1500" b="0" i="0" dirty="0">
                <a:solidFill>
                  <a:srgbClr val="262626"/>
                </a:solidFill>
                <a:latin typeface="Calibri"/>
              </a:rPr>
              <a:t>Over- and under</a:t>
            </a:r>
            <a:r>
              <a:rPr lang="en-IN" sz="1500" b="0" i="0" dirty="0">
                <a:solidFill>
                  <a:srgbClr val="262626"/>
                </a:solidFill>
                <a:latin typeface="Calibri"/>
              </a:rPr>
              <a:t>-</a:t>
            </a:r>
            <a:r>
              <a:rPr sz="1500" b="0" i="0" dirty="0">
                <a:solidFill>
                  <a:srgbClr val="262626"/>
                </a:solidFill>
                <a:latin typeface="Calibri"/>
              </a:rPr>
              <a:t>ordering drives food waste and lost revenue for small operators, with no forecasting tool built for their scale.</a:t>
            </a:r>
          </a:p>
        </p:txBody>
      </p:sp>
      <p:sp>
        <p:nvSpPr>
          <p:cNvPr id="33" name="TextBox 32"/>
          <p:cNvSpPr txBox="1"/>
          <p:nvPr/>
        </p:nvSpPr>
        <p:spPr>
          <a:xfrm>
            <a:off x="261030" y="4246524"/>
            <a:ext cx="5361043" cy="276999"/>
          </a:xfrm>
          <a:prstGeom prst="rect">
            <a:avLst/>
          </a:prstGeom>
          <a:noFill/>
        </p:spPr>
        <p:txBody>
          <a:bodyPr wrap="square" lIns="0" tIns="0" rIns="0" bIns="0">
            <a:spAutoFit/>
          </a:bodyPr>
          <a:lstStyle/>
          <a:p>
            <a:r>
              <a:rPr sz="1800" b="1" i="0" dirty="0">
                <a:solidFill>
                  <a:srgbClr val="BC312C"/>
                </a:solidFill>
                <a:latin typeface="Calibri"/>
              </a:rPr>
              <a:t>WHY IT PERSISTS</a:t>
            </a:r>
          </a:p>
        </p:txBody>
      </p:sp>
      <p:sp>
        <p:nvSpPr>
          <p:cNvPr id="34" name="TextBox 33"/>
          <p:cNvSpPr txBox="1"/>
          <p:nvPr/>
        </p:nvSpPr>
        <p:spPr>
          <a:xfrm>
            <a:off x="261030" y="4546524"/>
            <a:ext cx="5361043" cy="487056"/>
          </a:xfrm>
          <a:prstGeom prst="rect">
            <a:avLst/>
          </a:prstGeom>
          <a:noFill/>
        </p:spPr>
        <p:txBody>
          <a:bodyPr wrap="square" lIns="0" tIns="0" rIns="0" bIns="0">
            <a:spAutoFit/>
          </a:bodyPr>
          <a:lstStyle/>
          <a:p>
            <a:pPr>
              <a:lnSpc>
                <a:spcPct val="108000"/>
              </a:lnSpc>
            </a:pPr>
            <a:r>
              <a:rPr sz="1500" b="0" i="0" dirty="0">
                <a:solidFill>
                  <a:srgbClr val="262626"/>
                </a:solidFill>
                <a:latin typeface="Calibri"/>
              </a:rPr>
              <a:t>AI-driven forecasting has matured for large retail chains, but remains inaccessible to small operators without dedicated IT or data teams.</a:t>
            </a:r>
          </a:p>
        </p:txBody>
      </p:sp>
      <p:sp>
        <p:nvSpPr>
          <p:cNvPr id="35" name="TextBox 34"/>
          <p:cNvSpPr txBox="1"/>
          <p:nvPr/>
        </p:nvSpPr>
        <p:spPr>
          <a:xfrm>
            <a:off x="261030" y="5255890"/>
            <a:ext cx="5361043" cy="276999"/>
          </a:xfrm>
          <a:prstGeom prst="rect">
            <a:avLst/>
          </a:prstGeom>
          <a:noFill/>
        </p:spPr>
        <p:txBody>
          <a:bodyPr wrap="square" lIns="0" tIns="0" rIns="0" bIns="0">
            <a:spAutoFit/>
          </a:bodyPr>
          <a:lstStyle/>
          <a:p>
            <a:r>
              <a:rPr sz="1800" b="1" i="0" dirty="0">
                <a:solidFill>
                  <a:srgbClr val="BC312C"/>
                </a:solidFill>
                <a:latin typeface="Calibri"/>
              </a:rPr>
              <a:t>THE </a:t>
            </a:r>
            <a:r>
              <a:rPr lang="en-IN" sz="1800" b="1" i="0" dirty="0">
                <a:solidFill>
                  <a:srgbClr val="BC312C"/>
                </a:solidFill>
                <a:latin typeface="Calibri"/>
              </a:rPr>
              <a:t>TRADITIONAL </a:t>
            </a:r>
            <a:r>
              <a:rPr sz="1800" b="1" i="0" dirty="0">
                <a:solidFill>
                  <a:srgbClr val="BC312C"/>
                </a:solidFill>
                <a:latin typeface="Calibri"/>
              </a:rPr>
              <a:t>APPROACH</a:t>
            </a:r>
          </a:p>
        </p:txBody>
      </p:sp>
      <p:sp>
        <p:nvSpPr>
          <p:cNvPr id="36" name="TextBox 35"/>
          <p:cNvSpPr txBox="1"/>
          <p:nvPr/>
        </p:nvSpPr>
        <p:spPr>
          <a:xfrm>
            <a:off x="261030" y="5555890"/>
            <a:ext cx="5361043" cy="1384995"/>
          </a:xfrm>
          <a:prstGeom prst="rect">
            <a:avLst/>
          </a:prstGeom>
          <a:noFill/>
        </p:spPr>
        <p:txBody>
          <a:bodyPr wrap="square" lIns="0" tIns="0" rIns="0" bIns="0">
            <a:spAutoFit/>
          </a:bodyPr>
          <a:lstStyle/>
          <a:p>
            <a:r>
              <a:rPr lang="en-US" sz="1500" dirty="0">
                <a:latin typeface="Calibri" panose="020F0502020204030204" pitchFamily="34" charset="0"/>
                <a:ea typeface="Calibri" panose="020F0502020204030204" pitchFamily="34" charset="0"/>
                <a:cs typeface="Calibri" panose="020F0502020204030204" pitchFamily="34" charset="0"/>
              </a:rPr>
              <a:t>Small operators currently rely on manual spreadsheets, simple moving averages, or pure gut-feel. These static methods completely fail to account for dynamic demand shocks like sudden weather changes or public holidays.</a:t>
            </a:r>
          </a:p>
          <a:p>
            <a:br>
              <a:rPr lang="en-US" sz="1500" dirty="0">
                <a:latin typeface="Calibri" panose="020F0502020204030204" pitchFamily="34" charset="0"/>
                <a:ea typeface="Calibri" panose="020F0502020204030204" pitchFamily="34" charset="0"/>
                <a:cs typeface="Calibri" panose="020F0502020204030204" pitchFamily="34" charset="0"/>
              </a:rPr>
            </a:br>
            <a:endParaRPr lang="en-US" sz="1500" b="0" i="0" dirty="0">
              <a:solidFill>
                <a:srgbClr val="262626"/>
              </a:solidFill>
              <a:latin typeface="Calibri" panose="020F0502020204030204" pitchFamily="34" charset="0"/>
              <a:ea typeface="Calibri" panose="020F0502020204030204" pitchFamily="34" charset="0"/>
              <a:cs typeface="Calibri" panose="020F0502020204030204" pitchFamily="34" charset="0"/>
            </a:endParaRPr>
          </a:p>
        </p:txBody>
      </p:sp>
      <p:pic>
        <p:nvPicPr>
          <p:cNvPr id="10" name="Picture 9">
            <a:extLst>
              <a:ext uri="{FF2B5EF4-FFF2-40B4-BE49-F238E27FC236}">
                <a16:creationId xmlns:a16="http://schemas.microsoft.com/office/drawing/2014/main" id="{C98ED734-D782-8BEA-2FA7-E4F0FBC299DE}"/>
              </a:ext>
            </a:extLst>
          </p:cNvPr>
          <p:cNvPicPr>
            <a:picLocks noChangeAspect="1"/>
          </p:cNvPicPr>
          <p:nvPr/>
        </p:nvPicPr>
        <p:blipFill>
          <a:blip r:embed="rId2"/>
          <a:stretch>
            <a:fillRect/>
          </a:stretch>
        </p:blipFill>
        <p:spPr>
          <a:xfrm>
            <a:off x="6055567" y="2783843"/>
            <a:ext cx="2908041" cy="1932889"/>
          </a:xfrm>
          <a:prstGeom prst="rect">
            <a:avLst/>
          </a:prstGeom>
        </p:spPr>
      </p:pic>
      <p:pic>
        <p:nvPicPr>
          <p:cNvPr id="12" name="Picture 11">
            <a:extLst>
              <a:ext uri="{FF2B5EF4-FFF2-40B4-BE49-F238E27FC236}">
                <a16:creationId xmlns:a16="http://schemas.microsoft.com/office/drawing/2014/main" id="{33C9BB5F-5AE4-5A10-2703-C8770B59C347}"/>
              </a:ext>
            </a:extLst>
          </p:cNvPr>
          <p:cNvPicPr>
            <a:picLocks noChangeAspect="1"/>
          </p:cNvPicPr>
          <p:nvPr/>
        </p:nvPicPr>
        <p:blipFill>
          <a:blip r:embed="rId3"/>
          <a:stretch>
            <a:fillRect/>
          </a:stretch>
        </p:blipFill>
        <p:spPr>
          <a:xfrm>
            <a:off x="6055567" y="4782774"/>
            <a:ext cx="2908040" cy="1938693"/>
          </a:xfrm>
          <a:prstGeom prst="rect">
            <a:avLst/>
          </a:prstGeom>
        </p:spPr>
      </p:pic>
      <p:pic>
        <p:nvPicPr>
          <p:cNvPr id="14" name="Picture 13">
            <a:extLst>
              <a:ext uri="{FF2B5EF4-FFF2-40B4-BE49-F238E27FC236}">
                <a16:creationId xmlns:a16="http://schemas.microsoft.com/office/drawing/2014/main" id="{8253094C-70EF-0E5C-73D5-B15A35540C3B}"/>
              </a:ext>
            </a:extLst>
          </p:cNvPr>
          <p:cNvPicPr>
            <a:picLocks noChangeAspect="1"/>
          </p:cNvPicPr>
          <p:nvPr/>
        </p:nvPicPr>
        <p:blipFill>
          <a:blip r:embed="rId4"/>
          <a:stretch>
            <a:fillRect/>
          </a:stretch>
        </p:blipFill>
        <p:spPr>
          <a:xfrm>
            <a:off x="6064898" y="787039"/>
            <a:ext cx="2908042" cy="1938694"/>
          </a:xfrm>
          <a:prstGeom prst="rect">
            <a:avLst/>
          </a:prstGeom>
        </p:spPr>
      </p:pic>
    </p:spTree>
    <p:extLst>
      <p:ext uri="{BB962C8B-B14F-4D97-AF65-F5344CB8AC3E}">
        <p14:creationId xmlns:p14="http://schemas.microsoft.com/office/powerpoint/2010/main" val="27739420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81643-3D2A-FF2F-479B-8F6D352C5590}"/>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8A60C88-3EE3-CC92-F031-B496EF46ED59}"/>
              </a:ext>
            </a:extLst>
          </p:cNvPr>
          <p:cNvSpPr>
            <a:spLocks noGrp="1"/>
          </p:cNvSpPr>
          <p:nvPr>
            <p:ph type="sldNum" sz="quarter" idx="12"/>
          </p:nvPr>
        </p:nvSpPr>
        <p:spPr>
          <a:xfrm>
            <a:off x="6507284" y="6421755"/>
            <a:ext cx="2133600" cy="365125"/>
          </a:xfrm>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4</a:t>
            </a:fld>
            <a:endParaRPr lang="en-US" dirty="0">
              <a:latin typeface="Times New Roman" panose="02020603050405020304" pitchFamily="18" charset="0"/>
              <a:cs typeface="Times New Roman" panose="02020603050405020304" pitchFamily="18" charset="0"/>
            </a:endParaRPr>
          </a:p>
        </p:txBody>
      </p:sp>
      <p:sp>
        <p:nvSpPr>
          <p:cNvPr id="10" name="Text 3">
            <a:extLst>
              <a:ext uri="{FF2B5EF4-FFF2-40B4-BE49-F238E27FC236}">
                <a16:creationId xmlns:a16="http://schemas.microsoft.com/office/drawing/2014/main" id="{0E55E4DC-D25B-3786-9DA5-A0870845C69F}"/>
              </a:ext>
            </a:extLst>
          </p:cNvPr>
          <p:cNvSpPr/>
          <p:nvPr/>
        </p:nvSpPr>
        <p:spPr>
          <a:xfrm>
            <a:off x="148958" y="1325880"/>
            <a:ext cx="11155680" cy="594360"/>
          </a:xfrm>
          <a:prstGeom prst="rect">
            <a:avLst/>
          </a:prstGeom>
          <a:noFill/>
          <a:ln/>
        </p:spPr>
        <p:txBody>
          <a:bodyPr wrap="square" lIns="0" tIns="0" rIns="0" bIns="0" rtlCol="0" anchor="ctr"/>
          <a:lstStyle/>
          <a:p>
            <a:pPr marL="0" indent="0" algn="l">
              <a:buNone/>
            </a:pPr>
            <a:r>
              <a:rPr lang="en-US" sz="2700" b="1" dirty="0">
                <a:solidFill>
                  <a:srgbClr val="BC312C"/>
                </a:solidFill>
                <a:latin typeface="Times New Roman" panose="02020603050405020304" pitchFamily="18" charset="0"/>
                <a:ea typeface="Cambria" pitchFamily="34" charset="-122"/>
                <a:cs typeface="Times New Roman" panose="02020603050405020304" pitchFamily="18" charset="0"/>
              </a:rPr>
              <a:t>Problem Statement</a:t>
            </a:r>
            <a:endParaRPr lang="en-US" sz="2700" dirty="0">
              <a:latin typeface="Times New Roman" panose="02020603050405020304" pitchFamily="18" charset="0"/>
              <a:cs typeface="Times New Roman" panose="02020603050405020304" pitchFamily="18" charset="0"/>
            </a:endParaRPr>
          </a:p>
        </p:txBody>
      </p:sp>
      <p:sp>
        <p:nvSpPr>
          <p:cNvPr id="12" name="Shape 4">
            <a:extLst>
              <a:ext uri="{FF2B5EF4-FFF2-40B4-BE49-F238E27FC236}">
                <a16:creationId xmlns:a16="http://schemas.microsoft.com/office/drawing/2014/main" id="{D076D9A2-4B91-A5B6-FEB6-6AA66CCE5145}"/>
              </a:ext>
            </a:extLst>
          </p:cNvPr>
          <p:cNvSpPr/>
          <p:nvPr/>
        </p:nvSpPr>
        <p:spPr>
          <a:xfrm flipV="1">
            <a:off x="148958" y="1920240"/>
            <a:ext cx="8709164" cy="18288"/>
          </a:xfrm>
          <a:prstGeom prst="line">
            <a:avLst/>
          </a:prstGeom>
          <a:noFill/>
          <a:ln w="12700">
            <a:solidFill>
              <a:srgbClr val="E0DAD8"/>
            </a:solidFill>
            <a:prstDash val="solid"/>
          </a:ln>
        </p:spPr>
        <p:txBody>
          <a:bodyPr/>
          <a:lstStyle/>
          <a:p>
            <a:endParaRPr lang="en-IN"/>
          </a:p>
        </p:txBody>
      </p:sp>
      <p:sp>
        <p:nvSpPr>
          <p:cNvPr id="14" name="Text 5">
            <a:extLst>
              <a:ext uri="{FF2B5EF4-FFF2-40B4-BE49-F238E27FC236}">
                <a16:creationId xmlns:a16="http://schemas.microsoft.com/office/drawing/2014/main" id="{6E2560AB-9C2D-0FD5-1C5D-EE67F4E0D0D8}"/>
              </a:ext>
            </a:extLst>
          </p:cNvPr>
          <p:cNvSpPr/>
          <p:nvPr/>
        </p:nvSpPr>
        <p:spPr>
          <a:xfrm>
            <a:off x="148958" y="2121408"/>
            <a:ext cx="8995042" cy="640080"/>
          </a:xfrm>
          <a:prstGeom prst="rect">
            <a:avLst/>
          </a:prstGeom>
          <a:noFill/>
          <a:ln/>
        </p:spPr>
        <p:txBody>
          <a:bodyPr wrap="square" lIns="0" tIns="0" rIns="0" bIns="0" rtlCol="0" anchor="ctr"/>
          <a:lstStyle/>
          <a:p>
            <a:pPr marL="0" indent="0">
              <a:lnSpc>
                <a:spcPct val="115000"/>
              </a:lnSpc>
              <a:buNone/>
            </a:pPr>
            <a:r>
              <a:rPr lang="en-US" sz="1800" dirty="0">
                <a:solidFill>
                  <a:srgbClr val="262626"/>
                </a:solidFill>
                <a:latin typeface="Times New Roman" panose="02020603050405020304" pitchFamily="18" charset="0"/>
                <a:ea typeface="Calibri" pitchFamily="34" charset="-122"/>
                <a:cs typeface="Times New Roman" panose="02020603050405020304" pitchFamily="18" charset="0"/>
              </a:rPr>
              <a:t>Small food businesses like cafes, bakeries, independent restaurants make daily purchasing decisions with no reliable way to predict tomorrow's demand.</a:t>
            </a:r>
            <a:endParaRPr lang="en-US" sz="1800" dirty="0">
              <a:latin typeface="Times New Roman" panose="02020603050405020304" pitchFamily="18" charset="0"/>
              <a:cs typeface="Times New Roman" panose="02020603050405020304" pitchFamily="18" charset="0"/>
            </a:endParaRPr>
          </a:p>
        </p:txBody>
      </p:sp>
      <p:sp>
        <p:nvSpPr>
          <p:cNvPr id="16" name="Shape 6">
            <a:extLst>
              <a:ext uri="{FF2B5EF4-FFF2-40B4-BE49-F238E27FC236}">
                <a16:creationId xmlns:a16="http://schemas.microsoft.com/office/drawing/2014/main" id="{A66D4BF0-8B70-F26F-44F2-04321F87D659}"/>
              </a:ext>
            </a:extLst>
          </p:cNvPr>
          <p:cNvSpPr/>
          <p:nvPr/>
        </p:nvSpPr>
        <p:spPr>
          <a:xfrm>
            <a:off x="148958" y="2880360"/>
            <a:ext cx="8778732" cy="1188720"/>
          </a:xfrm>
          <a:prstGeom prst="rect">
            <a:avLst/>
          </a:prstGeom>
          <a:solidFill>
            <a:srgbClr val="F7F5F4"/>
          </a:solidFill>
          <a:ln/>
        </p:spPr>
        <p:txBody>
          <a:bodyPr/>
          <a:lstStyle/>
          <a:p>
            <a:endParaRPr lang="en-IN" sz="1500"/>
          </a:p>
        </p:txBody>
      </p:sp>
      <p:sp>
        <p:nvSpPr>
          <p:cNvPr id="18" name="Text 7">
            <a:extLst>
              <a:ext uri="{FF2B5EF4-FFF2-40B4-BE49-F238E27FC236}">
                <a16:creationId xmlns:a16="http://schemas.microsoft.com/office/drawing/2014/main" id="{082AC8EF-EA7B-6519-C948-F5C9F62D8087}"/>
              </a:ext>
            </a:extLst>
          </p:cNvPr>
          <p:cNvSpPr/>
          <p:nvPr/>
        </p:nvSpPr>
        <p:spPr>
          <a:xfrm>
            <a:off x="396092" y="2985427"/>
            <a:ext cx="8284464" cy="777240"/>
          </a:xfrm>
          <a:prstGeom prst="rect">
            <a:avLst/>
          </a:prstGeom>
          <a:noFill/>
          <a:ln/>
        </p:spPr>
        <p:txBody>
          <a:bodyPr wrap="square" lIns="0" tIns="0" rIns="0" bIns="0" rtlCol="0" anchor="t"/>
          <a:lstStyle/>
          <a:p>
            <a:pPr marL="0" indent="0">
              <a:lnSpc>
                <a:spcPct val="115000"/>
              </a:lnSpc>
              <a:buNone/>
            </a:pPr>
            <a:r>
              <a:rPr lang="en-US" sz="1500" b="1" dirty="0">
                <a:solidFill>
                  <a:srgbClr val="BC312C"/>
                </a:solidFill>
                <a:latin typeface="Times New Roman" panose="02020603050405020304" pitchFamily="18" charset="0"/>
                <a:ea typeface="Calibri" pitchFamily="34" charset="-122"/>
                <a:cs typeface="Times New Roman" panose="02020603050405020304" pitchFamily="18" charset="0"/>
              </a:rPr>
              <a:t>The core disconnect: </a:t>
            </a:r>
            <a:r>
              <a:rPr lang="en-US" sz="1500" dirty="0">
                <a:solidFill>
                  <a:srgbClr val="262626"/>
                </a:solidFill>
                <a:latin typeface="Times New Roman" panose="02020603050405020304" pitchFamily="18" charset="0"/>
                <a:ea typeface="Calibri" pitchFamily="34" charset="-122"/>
                <a:cs typeface="Times New Roman" panose="02020603050405020304" pitchFamily="18" charset="0"/>
              </a:rPr>
              <a:t>a cafe owner does not think in RMSE or MAPE — they want to know exactly how many loaves of bread, croissants, or cups of coffee to order tomorrow or make. Across the forecasting literature we reviewed, most studies (Aqila et al., Jatte et al., Gartner et al., Susanto et al.) stop at computing an error metric and never take the final step of producing a purchase quantity.</a:t>
            </a:r>
            <a:endParaRPr lang="en-US" sz="1500" dirty="0">
              <a:latin typeface="Times New Roman" panose="02020603050405020304" pitchFamily="18" charset="0"/>
              <a:cs typeface="Times New Roman" panose="02020603050405020304" pitchFamily="18" charset="0"/>
            </a:endParaRPr>
          </a:p>
        </p:txBody>
      </p:sp>
      <p:sp>
        <p:nvSpPr>
          <p:cNvPr id="20" name="Shape 8">
            <a:extLst>
              <a:ext uri="{FF2B5EF4-FFF2-40B4-BE49-F238E27FC236}">
                <a16:creationId xmlns:a16="http://schemas.microsoft.com/office/drawing/2014/main" id="{10E7457A-F535-DAA2-C473-553D98753A76}"/>
              </a:ext>
            </a:extLst>
          </p:cNvPr>
          <p:cNvSpPr/>
          <p:nvPr/>
        </p:nvSpPr>
        <p:spPr>
          <a:xfrm>
            <a:off x="189561" y="4221479"/>
            <a:ext cx="1928020" cy="1984641"/>
          </a:xfrm>
          <a:prstGeom prst="roundRect">
            <a:avLst>
              <a:gd name="adj" fmla="val 4103"/>
            </a:avLst>
          </a:prstGeom>
          <a:solidFill>
            <a:srgbClr val="FFFFFF"/>
          </a:solidFill>
          <a:ln w="15875">
            <a:solidFill>
              <a:srgbClr val="BC312C"/>
            </a:solidFill>
            <a:prstDash val="solid"/>
          </a:ln>
        </p:spPr>
        <p:txBody>
          <a:bodyPr/>
          <a:lstStyle/>
          <a:p>
            <a:endParaRPr lang="en-IN"/>
          </a:p>
        </p:txBody>
      </p:sp>
      <p:sp>
        <p:nvSpPr>
          <p:cNvPr id="22" name="Shape 9">
            <a:extLst>
              <a:ext uri="{FF2B5EF4-FFF2-40B4-BE49-F238E27FC236}">
                <a16:creationId xmlns:a16="http://schemas.microsoft.com/office/drawing/2014/main" id="{8634A286-AED7-31A7-FA85-07071853E959}"/>
              </a:ext>
            </a:extLst>
          </p:cNvPr>
          <p:cNvSpPr/>
          <p:nvPr/>
        </p:nvSpPr>
        <p:spPr>
          <a:xfrm>
            <a:off x="189561" y="4221480"/>
            <a:ext cx="1928020" cy="457994"/>
          </a:xfrm>
          <a:prstGeom prst="rect">
            <a:avLst/>
          </a:prstGeom>
          <a:solidFill>
            <a:srgbClr val="BC312C"/>
          </a:solidFill>
          <a:ln/>
        </p:spPr>
        <p:txBody>
          <a:bodyPr/>
          <a:lstStyle/>
          <a:p>
            <a:endParaRPr lang="en-IN"/>
          </a:p>
        </p:txBody>
      </p:sp>
      <p:sp>
        <p:nvSpPr>
          <p:cNvPr id="24" name="Text 10">
            <a:extLst>
              <a:ext uri="{FF2B5EF4-FFF2-40B4-BE49-F238E27FC236}">
                <a16:creationId xmlns:a16="http://schemas.microsoft.com/office/drawing/2014/main" id="{E851901E-3BB7-9904-0F68-C7D7A5A74FA5}"/>
              </a:ext>
            </a:extLst>
          </p:cNvPr>
          <p:cNvSpPr/>
          <p:nvPr/>
        </p:nvSpPr>
        <p:spPr>
          <a:xfrm>
            <a:off x="267989" y="4221480"/>
            <a:ext cx="1928020" cy="457994"/>
          </a:xfrm>
          <a:prstGeom prst="rect">
            <a:avLst/>
          </a:prstGeom>
          <a:noFill/>
          <a:ln/>
        </p:spPr>
        <p:txBody>
          <a:bodyPr wrap="square" lIns="0" tIns="0" rIns="0" bIns="0" rtlCol="0" anchor="ctr"/>
          <a:lstStyle/>
          <a:p>
            <a:pPr marL="0" indent="0">
              <a:buNone/>
            </a:pPr>
            <a:r>
              <a:rPr lang="en-US" b="1" dirty="0">
                <a:solidFill>
                  <a:srgbClr val="FFFFFF"/>
                </a:solidFill>
                <a:latin typeface="Times New Roman" panose="02020603050405020304" pitchFamily="18" charset="0"/>
                <a:ea typeface="Calibri" pitchFamily="34" charset="-122"/>
                <a:cs typeface="Times New Roman" panose="02020603050405020304" pitchFamily="18" charset="0"/>
              </a:rPr>
              <a:t>Forecast-to-Action Gap</a:t>
            </a:r>
            <a:endParaRPr lang="en-US" dirty="0">
              <a:latin typeface="Times New Roman" panose="02020603050405020304" pitchFamily="18" charset="0"/>
              <a:cs typeface="Times New Roman" panose="02020603050405020304" pitchFamily="18" charset="0"/>
            </a:endParaRPr>
          </a:p>
        </p:txBody>
      </p:sp>
      <p:sp>
        <p:nvSpPr>
          <p:cNvPr id="26" name="Text 11">
            <a:extLst>
              <a:ext uri="{FF2B5EF4-FFF2-40B4-BE49-F238E27FC236}">
                <a16:creationId xmlns:a16="http://schemas.microsoft.com/office/drawing/2014/main" id="{AB038EBC-02BC-F40C-5FE2-6285FB0F204E}"/>
              </a:ext>
            </a:extLst>
          </p:cNvPr>
          <p:cNvSpPr/>
          <p:nvPr/>
        </p:nvSpPr>
        <p:spPr>
          <a:xfrm>
            <a:off x="287596" y="4724400"/>
            <a:ext cx="1731950" cy="1323094"/>
          </a:xfrm>
          <a:prstGeom prst="rect">
            <a:avLst/>
          </a:prstGeom>
          <a:noFill/>
          <a:ln/>
        </p:spPr>
        <p:txBody>
          <a:bodyPr wrap="square" lIns="0" tIns="0" rIns="0" bIns="0" rtlCol="0" anchor="t"/>
          <a:lstStyle/>
          <a:p>
            <a:pPr marL="0" indent="0">
              <a:lnSpc>
                <a:spcPct val="110000"/>
              </a:lnSpc>
              <a:buNone/>
            </a:pPr>
            <a:r>
              <a:rPr lang="en-US" sz="1600" dirty="0">
                <a:solidFill>
                  <a:srgbClr val="262626"/>
                </a:solidFill>
                <a:latin typeface="Times New Roman" panose="02020603050405020304" pitchFamily="18" charset="0"/>
                <a:ea typeface="Calibri" pitchFamily="34" charset="-122"/>
                <a:cs typeface="Times New Roman" panose="02020603050405020304" pitchFamily="18" charset="0"/>
              </a:rPr>
              <a:t>Predictions rarely convert into an operational restock quantity.</a:t>
            </a:r>
            <a:endParaRPr lang="en-US" sz="1600" dirty="0">
              <a:latin typeface="Times New Roman" panose="02020603050405020304" pitchFamily="18" charset="0"/>
              <a:cs typeface="Times New Roman" panose="02020603050405020304" pitchFamily="18" charset="0"/>
            </a:endParaRPr>
          </a:p>
        </p:txBody>
      </p:sp>
      <p:sp>
        <p:nvSpPr>
          <p:cNvPr id="28" name="Shape 12">
            <a:extLst>
              <a:ext uri="{FF2B5EF4-FFF2-40B4-BE49-F238E27FC236}">
                <a16:creationId xmlns:a16="http://schemas.microsoft.com/office/drawing/2014/main" id="{BA30F6C7-D1CD-09E7-DC0C-3FA3BB44E5B1}"/>
              </a:ext>
            </a:extLst>
          </p:cNvPr>
          <p:cNvSpPr/>
          <p:nvPr/>
        </p:nvSpPr>
        <p:spPr>
          <a:xfrm>
            <a:off x="2416665" y="4221479"/>
            <a:ext cx="1928020" cy="1984641"/>
          </a:xfrm>
          <a:prstGeom prst="roundRect">
            <a:avLst>
              <a:gd name="adj" fmla="val 4103"/>
            </a:avLst>
          </a:prstGeom>
          <a:solidFill>
            <a:srgbClr val="FFFFFF"/>
          </a:solidFill>
          <a:ln w="15875">
            <a:solidFill>
              <a:srgbClr val="BC312C"/>
            </a:solidFill>
            <a:prstDash val="solid"/>
          </a:ln>
        </p:spPr>
        <p:txBody>
          <a:bodyPr/>
          <a:lstStyle/>
          <a:p>
            <a:endParaRPr lang="en-IN"/>
          </a:p>
        </p:txBody>
      </p:sp>
      <p:sp>
        <p:nvSpPr>
          <p:cNvPr id="30" name="Shape 13">
            <a:extLst>
              <a:ext uri="{FF2B5EF4-FFF2-40B4-BE49-F238E27FC236}">
                <a16:creationId xmlns:a16="http://schemas.microsoft.com/office/drawing/2014/main" id="{659121F6-CEB7-DE54-A255-AE9DA69EC30D}"/>
              </a:ext>
            </a:extLst>
          </p:cNvPr>
          <p:cNvSpPr/>
          <p:nvPr/>
        </p:nvSpPr>
        <p:spPr>
          <a:xfrm>
            <a:off x="2416665" y="4221480"/>
            <a:ext cx="1928020" cy="457994"/>
          </a:xfrm>
          <a:prstGeom prst="rect">
            <a:avLst/>
          </a:prstGeom>
          <a:solidFill>
            <a:srgbClr val="BC312C"/>
          </a:solidFill>
          <a:ln/>
        </p:spPr>
        <p:txBody>
          <a:bodyPr/>
          <a:lstStyle/>
          <a:p>
            <a:endParaRPr lang="en-IN"/>
          </a:p>
        </p:txBody>
      </p:sp>
      <p:sp>
        <p:nvSpPr>
          <p:cNvPr id="32" name="Text 14">
            <a:extLst>
              <a:ext uri="{FF2B5EF4-FFF2-40B4-BE49-F238E27FC236}">
                <a16:creationId xmlns:a16="http://schemas.microsoft.com/office/drawing/2014/main" id="{CD166BC4-8E76-D893-25D9-28FEBE50B5FB}"/>
              </a:ext>
            </a:extLst>
          </p:cNvPr>
          <p:cNvSpPr/>
          <p:nvPr/>
        </p:nvSpPr>
        <p:spPr>
          <a:xfrm>
            <a:off x="2495093" y="4221480"/>
            <a:ext cx="1771164" cy="457994"/>
          </a:xfrm>
          <a:prstGeom prst="rect">
            <a:avLst/>
          </a:prstGeom>
          <a:noFill/>
          <a:ln/>
        </p:spPr>
        <p:txBody>
          <a:bodyPr wrap="square" lIns="0" tIns="0" rIns="0" bIns="0" rtlCol="0" anchor="ctr"/>
          <a:lstStyle/>
          <a:p>
            <a:pPr marL="0" indent="0">
              <a:buNone/>
            </a:pPr>
            <a:r>
              <a:rPr lang="en-US" b="1" dirty="0">
                <a:solidFill>
                  <a:srgbClr val="FFFFFF"/>
                </a:solidFill>
                <a:latin typeface="Times New Roman" panose="02020603050405020304" pitchFamily="18" charset="0"/>
                <a:ea typeface="Calibri" pitchFamily="34" charset="-122"/>
                <a:cs typeface="Times New Roman" panose="02020603050405020304" pitchFamily="18" charset="0"/>
              </a:rPr>
              <a:t>Accessibility Gap</a:t>
            </a:r>
            <a:endParaRPr lang="en-US" dirty="0">
              <a:latin typeface="Times New Roman" panose="02020603050405020304" pitchFamily="18" charset="0"/>
              <a:cs typeface="Times New Roman" panose="02020603050405020304" pitchFamily="18" charset="0"/>
            </a:endParaRPr>
          </a:p>
        </p:txBody>
      </p:sp>
      <p:sp>
        <p:nvSpPr>
          <p:cNvPr id="34" name="Text 15">
            <a:extLst>
              <a:ext uri="{FF2B5EF4-FFF2-40B4-BE49-F238E27FC236}">
                <a16:creationId xmlns:a16="http://schemas.microsoft.com/office/drawing/2014/main" id="{8A8B2574-71DC-184E-852E-34C76A28A809}"/>
              </a:ext>
            </a:extLst>
          </p:cNvPr>
          <p:cNvSpPr/>
          <p:nvPr/>
        </p:nvSpPr>
        <p:spPr>
          <a:xfrm>
            <a:off x="2514700" y="4724400"/>
            <a:ext cx="1731950" cy="1323094"/>
          </a:xfrm>
          <a:prstGeom prst="rect">
            <a:avLst/>
          </a:prstGeom>
          <a:noFill/>
          <a:ln/>
        </p:spPr>
        <p:txBody>
          <a:bodyPr wrap="square" lIns="0" tIns="0" rIns="0" bIns="0" rtlCol="0" anchor="t"/>
          <a:lstStyle/>
          <a:p>
            <a:pPr marL="0" indent="0">
              <a:lnSpc>
                <a:spcPct val="110000"/>
              </a:lnSpc>
              <a:buNone/>
            </a:pPr>
            <a:r>
              <a:rPr lang="en-US" sz="1600" dirty="0">
                <a:solidFill>
                  <a:srgbClr val="262626"/>
                </a:solidFill>
                <a:latin typeface="Times New Roman" panose="02020603050405020304" pitchFamily="18" charset="0"/>
                <a:ea typeface="Calibri" pitchFamily="34" charset="-122"/>
                <a:cs typeface="Times New Roman" panose="02020603050405020304" pitchFamily="18" charset="0"/>
              </a:rPr>
              <a:t>Accurate tools assume enterprise dashboards and IT staff.</a:t>
            </a:r>
            <a:endParaRPr lang="en-US" sz="1600" dirty="0">
              <a:latin typeface="Times New Roman" panose="02020603050405020304" pitchFamily="18" charset="0"/>
              <a:cs typeface="Times New Roman" panose="02020603050405020304" pitchFamily="18" charset="0"/>
            </a:endParaRPr>
          </a:p>
        </p:txBody>
      </p:sp>
      <p:sp>
        <p:nvSpPr>
          <p:cNvPr id="36" name="Shape 16">
            <a:extLst>
              <a:ext uri="{FF2B5EF4-FFF2-40B4-BE49-F238E27FC236}">
                <a16:creationId xmlns:a16="http://schemas.microsoft.com/office/drawing/2014/main" id="{45716A52-A863-1C69-D4D4-5343989ADD40}"/>
              </a:ext>
            </a:extLst>
          </p:cNvPr>
          <p:cNvSpPr/>
          <p:nvPr/>
        </p:nvSpPr>
        <p:spPr>
          <a:xfrm>
            <a:off x="4691928" y="4221479"/>
            <a:ext cx="1928020" cy="1984641"/>
          </a:xfrm>
          <a:prstGeom prst="roundRect">
            <a:avLst>
              <a:gd name="adj" fmla="val 4103"/>
            </a:avLst>
          </a:prstGeom>
          <a:solidFill>
            <a:srgbClr val="FFFFFF"/>
          </a:solidFill>
          <a:ln w="15875">
            <a:solidFill>
              <a:srgbClr val="BC312C"/>
            </a:solidFill>
            <a:prstDash val="solid"/>
          </a:ln>
        </p:spPr>
        <p:txBody>
          <a:bodyPr/>
          <a:lstStyle/>
          <a:p>
            <a:endParaRPr lang="en-IN"/>
          </a:p>
        </p:txBody>
      </p:sp>
      <p:sp>
        <p:nvSpPr>
          <p:cNvPr id="38" name="Shape 17">
            <a:extLst>
              <a:ext uri="{FF2B5EF4-FFF2-40B4-BE49-F238E27FC236}">
                <a16:creationId xmlns:a16="http://schemas.microsoft.com/office/drawing/2014/main" id="{3A7DF8C1-7E6F-B2EE-B4E1-584064FFCCE5}"/>
              </a:ext>
            </a:extLst>
          </p:cNvPr>
          <p:cNvSpPr/>
          <p:nvPr/>
        </p:nvSpPr>
        <p:spPr>
          <a:xfrm>
            <a:off x="4691928" y="4221480"/>
            <a:ext cx="1928020" cy="457994"/>
          </a:xfrm>
          <a:prstGeom prst="rect">
            <a:avLst/>
          </a:prstGeom>
          <a:solidFill>
            <a:srgbClr val="BC312C"/>
          </a:solidFill>
          <a:ln/>
        </p:spPr>
        <p:txBody>
          <a:bodyPr/>
          <a:lstStyle/>
          <a:p>
            <a:endParaRPr lang="en-IN"/>
          </a:p>
        </p:txBody>
      </p:sp>
      <p:sp>
        <p:nvSpPr>
          <p:cNvPr id="40" name="Text 18">
            <a:extLst>
              <a:ext uri="{FF2B5EF4-FFF2-40B4-BE49-F238E27FC236}">
                <a16:creationId xmlns:a16="http://schemas.microsoft.com/office/drawing/2014/main" id="{3E262C11-A5C5-A003-4C45-EF917CB8F4DF}"/>
              </a:ext>
            </a:extLst>
          </p:cNvPr>
          <p:cNvSpPr/>
          <p:nvPr/>
        </p:nvSpPr>
        <p:spPr>
          <a:xfrm>
            <a:off x="4770356" y="4221480"/>
            <a:ext cx="1771164" cy="457994"/>
          </a:xfrm>
          <a:prstGeom prst="rect">
            <a:avLst/>
          </a:prstGeom>
          <a:noFill/>
          <a:ln/>
        </p:spPr>
        <p:txBody>
          <a:bodyPr wrap="square" lIns="0" tIns="0" rIns="0" bIns="0" rtlCol="0" anchor="ctr"/>
          <a:lstStyle/>
          <a:p>
            <a:pPr marL="0" indent="0">
              <a:buNone/>
            </a:pPr>
            <a:r>
              <a:rPr lang="en-US" b="1" dirty="0">
                <a:solidFill>
                  <a:srgbClr val="FFFFFF"/>
                </a:solidFill>
                <a:latin typeface="Times New Roman" panose="02020603050405020304" pitchFamily="18" charset="0"/>
                <a:ea typeface="Calibri" pitchFamily="34" charset="-122"/>
                <a:cs typeface="Times New Roman" panose="02020603050405020304" pitchFamily="18" charset="0"/>
              </a:rPr>
              <a:t>Infrastructure Gap</a:t>
            </a:r>
            <a:endParaRPr lang="en-US" dirty="0">
              <a:latin typeface="Times New Roman" panose="02020603050405020304" pitchFamily="18" charset="0"/>
              <a:cs typeface="Times New Roman" panose="02020603050405020304" pitchFamily="18" charset="0"/>
            </a:endParaRPr>
          </a:p>
        </p:txBody>
      </p:sp>
      <p:sp>
        <p:nvSpPr>
          <p:cNvPr id="42" name="Text 19">
            <a:extLst>
              <a:ext uri="{FF2B5EF4-FFF2-40B4-BE49-F238E27FC236}">
                <a16:creationId xmlns:a16="http://schemas.microsoft.com/office/drawing/2014/main" id="{7AA3D709-F39B-6B3B-0FC3-36DB004D0A4C}"/>
              </a:ext>
            </a:extLst>
          </p:cNvPr>
          <p:cNvSpPr/>
          <p:nvPr/>
        </p:nvSpPr>
        <p:spPr>
          <a:xfrm>
            <a:off x="4789963" y="4724400"/>
            <a:ext cx="1731950" cy="1323094"/>
          </a:xfrm>
          <a:prstGeom prst="rect">
            <a:avLst/>
          </a:prstGeom>
          <a:noFill/>
          <a:ln/>
        </p:spPr>
        <p:txBody>
          <a:bodyPr wrap="square" lIns="0" tIns="0" rIns="0" bIns="0" rtlCol="0" anchor="t"/>
          <a:lstStyle/>
          <a:p>
            <a:pPr marL="0" indent="0">
              <a:lnSpc>
                <a:spcPct val="110000"/>
              </a:lnSpc>
              <a:buNone/>
            </a:pPr>
            <a:r>
              <a:rPr lang="en-US" sz="1600" dirty="0">
                <a:solidFill>
                  <a:srgbClr val="262626"/>
                </a:solidFill>
                <a:latin typeface="Times New Roman" panose="02020603050405020304" pitchFamily="18" charset="0"/>
                <a:ea typeface="Calibri" pitchFamily="34" charset="-122"/>
                <a:cs typeface="Times New Roman" panose="02020603050405020304" pitchFamily="18" charset="0"/>
              </a:rPr>
              <a:t>Best-performing systems assume IoT hardware or heavy compute.</a:t>
            </a:r>
            <a:endParaRPr lang="en-US" sz="1600" dirty="0">
              <a:latin typeface="Times New Roman" panose="02020603050405020304" pitchFamily="18" charset="0"/>
              <a:cs typeface="Times New Roman" panose="02020603050405020304" pitchFamily="18" charset="0"/>
            </a:endParaRPr>
          </a:p>
        </p:txBody>
      </p:sp>
      <p:sp>
        <p:nvSpPr>
          <p:cNvPr id="44" name="Shape 20">
            <a:extLst>
              <a:ext uri="{FF2B5EF4-FFF2-40B4-BE49-F238E27FC236}">
                <a16:creationId xmlns:a16="http://schemas.microsoft.com/office/drawing/2014/main" id="{35FCA3B8-5A23-DF8C-CF3F-590EF3CDC611}"/>
              </a:ext>
            </a:extLst>
          </p:cNvPr>
          <p:cNvSpPr/>
          <p:nvPr/>
        </p:nvSpPr>
        <p:spPr>
          <a:xfrm>
            <a:off x="7008529" y="4221479"/>
            <a:ext cx="1928020" cy="1984641"/>
          </a:xfrm>
          <a:prstGeom prst="roundRect">
            <a:avLst>
              <a:gd name="adj" fmla="val 4103"/>
            </a:avLst>
          </a:prstGeom>
          <a:solidFill>
            <a:srgbClr val="FFFFFF"/>
          </a:solidFill>
          <a:ln w="15875">
            <a:solidFill>
              <a:srgbClr val="BC312C"/>
            </a:solidFill>
            <a:prstDash val="solid"/>
          </a:ln>
        </p:spPr>
        <p:txBody>
          <a:bodyPr/>
          <a:lstStyle/>
          <a:p>
            <a:endParaRPr lang="en-IN"/>
          </a:p>
        </p:txBody>
      </p:sp>
      <p:sp>
        <p:nvSpPr>
          <p:cNvPr id="46" name="Shape 21">
            <a:extLst>
              <a:ext uri="{FF2B5EF4-FFF2-40B4-BE49-F238E27FC236}">
                <a16:creationId xmlns:a16="http://schemas.microsoft.com/office/drawing/2014/main" id="{6761D370-E2A6-1E2E-1EDA-1AA7601550B9}"/>
              </a:ext>
            </a:extLst>
          </p:cNvPr>
          <p:cNvSpPr/>
          <p:nvPr/>
        </p:nvSpPr>
        <p:spPr>
          <a:xfrm>
            <a:off x="7008529" y="4221480"/>
            <a:ext cx="1928020" cy="457994"/>
          </a:xfrm>
          <a:prstGeom prst="rect">
            <a:avLst/>
          </a:prstGeom>
          <a:solidFill>
            <a:srgbClr val="BC312C"/>
          </a:solidFill>
          <a:ln/>
        </p:spPr>
        <p:txBody>
          <a:bodyPr/>
          <a:lstStyle/>
          <a:p>
            <a:endParaRPr lang="en-IN"/>
          </a:p>
        </p:txBody>
      </p:sp>
      <p:sp>
        <p:nvSpPr>
          <p:cNvPr id="48" name="Text 22">
            <a:extLst>
              <a:ext uri="{FF2B5EF4-FFF2-40B4-BE49-F238E27FC236}">
                <a16:creationId xmlns:a16="http://schemas.microsoft.com/office/drawing/2014/main" id="{581ABA13-8C34-6FB9-1588-A0A4E58C4C0B}"/>
              </a:ext>
            </a:extLst>
          </p:cNvPr>
          <p:cNvSpPr/>
          <p:nvPr/>
        </p:nvSpPr>
        <p:spPr>
          <a:xfrm>
            <a:off x="7086957" y="4221480"/>
            <a:ext cx="1771164" cy="457994"/>
          </a:xfrm>
          <a:prstGeom prst="rect">
            <a:avLst/>
          </a:prstGeom>
          <a:noFill/>
          <a:ln/>
        </p:spPr>
        <p:txBody>
          <a:bodyPr wrap="square" lIns="0" tIns="0" rIns="0" bIns="0" rtlCol="0" anchor="ctr"/>
          <a:lstStyle/>
          <a:p>
            <a:pPr marL="0" indent="0">
              <a:buNone/>
            </a:pPr>
            <a:r>
              <a:rPr lang="en-US" b="1" dirty="0">
                <a:solidFill>
                  <a:srgbClr val="FFFFFF"/>
                </a:solidFill>
                <a:latin typeface="Times New Roman" panose="02020603050405020304" pitchFamily="18" charset="0"/>
                <a:ea typeface="Calibri" pitchFamily="34" charset="-122"/>
                <a:cs typeface="Times New Roman" panose="02020603050405020304" pitchFamily="18" charset="0"/>
              </a:rPr>
              <a:t>Cold-Start Gap</a:t>
            </a:r>
            <a:endParaRPr lang="en-US" dirty="0">
              <a:latin typeface="Times New Roman" panose="02020603050405020304" pitchFamily="18" charset="0"/>
              <a:cs typeface="Times New Roman" panose="02020603050405020304" pitchFamily="18" charset="0"/>
            </a:endParaRPr>
          </a:p>
        </p:txBody>
      </p:sp>
      <p:sp>
        <p:nvSpPr>
          <p:cNvPr id="50" name="Text 23">
            <a:extLst>
              <a:ext uri="{FF2B5EF4-FFF2-40B4-BE49-F238E27FC236}">
                <a16:creationId xmlns:a16="http://schemas.microsoft.com/office/drawing/2014/main" id="{3280EB6B-6391-A986-5E78-C42884FD60B6}"/>
              </a:ext>
            </a:extLst>
          </p:cNvPr>
          <p:cNvSpPr/>
          <p:nvPr/>
        </p:nvSpPr>
        <p:spPr>
          <a:xfrm>
            <a:off x="7106564" y="4724400"/>
            <a:ext cx="1731950" cy="1323094"/>
          </a:xfrm>
          <a:prstGeom prst="rect">
            <a:avLst/>
          </a:prstGeom>
          <a:noFill/>
          <a:ln/>
        </p:spPr>
        <p:txBody>
          <a:bodyPr wrap="square" lIns="0" tIns="0" rIns="0" bIns="0" rtlCol="0" anchor="t"/>
          <a:lstStyle/>
          <a:p>
            <a:pPr marL="0" indent="0">
              <a:lnSpc>
                <a:spcPct val="110000"/>
              </a:lnSpc>
              <a:buNone/>
            </a:pPr>
            <a:r>
              <a:rPr lang="en-US" sz="1600" dirty="0">
                <a:solidFill>
                  <a:srgbClr val="262626"/>
                </a:solidFill>
                <a:latin typeface="Times New Roman" panose="02020603050405020304" pitchFamily="18" charset="0"/>
                <a:ea typeface="Calibri" pitchFamily="34" charset="-122"/>
                <a:cs typeface="Times New Roman" panose="02020603050405020304" pitchFamily="18" charset="0"/>
              </a:rPr>
              <a:t>Deep learning models fail on the short, sparse histories real SMEs. have</a:t>
            </a: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080429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C70861-91F1-18CA-50B7-16591F11F7DB}"/>
            </a:ext>
          </a:extLst>
        </p:cNvPr>
        <p:cNvGrpSpPr/>
        <p:nvPr/>
      </p:nvGrpSpPr>
      <p:grpSpPr>
        <a:xfrm>
          <a:off x="0" y="0"/>
          <a:ext cx="0" cy="0"/>
          <a:chOff x="0" y="0"/>
          <a:chExt cx="0" cy="0"/>
        </a:xfrm>
      </p:grpSpPr>
      <p:sp>
        <p:nvSpPr>
          <p:cNvPr id="10" name="Text 3">
            <a:extLst>
              <a:ext uri="{FF2B5EF4-FFF2-40B4-BE49-F238E27FC236}">
                <a16:creationId xmlns:a16="http://schemas.microsoft.com/office/drawing/2014/main" id="{FD65550B-D908-8FB5-1E5F-DE77E99CC1A6}"/>
              </a:ext>
            </a:extLst>
          </p:cNvPr>
          <p:cNvSpPr/>
          <p:nvPr/>
        </p:nvSpPr>
        <p:spPr>
          <a:xfrm>
            <a:off x="188289" y="1325880"/>
            <a:ext cx="11155680" cy="594360"/>
          </a:xfrm>
          <a:prstGeom prst="rect">
            <a:avLst/>
          </a:prstGeom>
          <a:noFill/>
          <a:ln/>
        </p:spPr>
        <p:txBody>
          <a:bodyPr wrap="square" lIns="0" tIns="0" rIns="0" bIns="0" rtlCol="0" anchor="ctr"/>
          <a:lstStyle/>
          <a:p>
            <a:pPr marL="0" indent="0" algn="l">
              <a:buNone/>
            </a:pPr>
            <a:r>
              <a:rPr lang="en-US" sz="2700" b="1" dirty="0">
                <a:solidFill>
                  <a:srgbClr val="BC312C"/>
                </a:solidFill>
                <a:latin typeface="Cambria" pitchFamily="34" charset="0"/>
                <a:ea typeface="Cambria" pitchFamily="34" charset="-122"/>
                <a:cs typeface="Cambria" pitchFamily="34" charset="-120"/>
              </a:rPr>
              <a:t>Motivation and Need for the Project</a:t>
            </a:r>
            <a:endParaRPr lang="en-US" sz="2700" dirty="0"/>
          </a:p>
        </p:txBody>
      </p:sp>
      <p:sp>
        <p:nvSpPr>
          <p:cNvPr id="12" name="Shape 4">
            <a:extLst>
              <a:ext uri="{FF2B5EF4-FFF2-40B4-BE49-F238E27FC236}">
                <a16:creationId xmlns:a16="http://schemas.microsoft.com/office/drawing/2014/main" id="{19D7172F-56B1-EF39-79FF-63F027EBD26E}"/>
              </a:ext>
            </a:extLst>
          </p:cNvPr>
          <p:cNvSpPr/>
          <p:nvPr/>
        </p:nvSpPr>
        <p:spPr>
          <a:xfrm flipV="1">
            <a:off x="188289" y="1920240"/>
            <a:ext cx="8767422" cy="18288"/>
          </a:xfrm>
          <a:prstGeom prst="line">
            <a:avLst/>
          </a:prstGeom>
          <a:noFill/>
          <a:ln w="12700">
            <a:solidFill>
              <a:srgbClr val="E0DAD8"/>
            </a:solidFill>
            <a:prstDash val="solid"/>
          </a:ln>
        </p:spPr>
        <p:txBody>
          <a:bodyPr/>
          <a:lstStyle/>
          <a:p>
            <a:endParaRPr lang="en-IN"/>
          </a:p>
        </p:txBody>
      </p:sp>
      <p:sp>
        <p:nvSpPr>
          <p:cNvPr id="14" name="Shape 5">
            <a:extLst>
              <a:ext uri="{FF2B5EF4-FFF2-40B4-BE49-F238E27FC236}">
                <a16:creationId xmlns:a16="http://schemas.microsoft.com/office/drawing/2014/main" id="{8AEC6B70-B9FD-C30C-76A1-B00B440948DF}"/>
              </a:ext>
            </a:extLst>
          </p:cNvPr>
          <p:cNvSpPr/>
          <p:nvPr/>
        </p:nvSpPr>
        <p:spPr>
          <a:xfrm>
            <a:off x="129816" y="2121408"/>
            <a:ext cx="5370696" cy="4114800"/>
          </a:xfrm>
          <a:prstGeom prst="rect">
            <a:avLst/>
          </a:prstGeom>
          <a:solidFill>
            <a:srgbClr val="F7F5F4"/>
          </a:solidFill>
          <a:ln/>
        </p:spPr>
        <p:txBody>
          <a:bodyPr/>
          <a:lstStyle/>
          <a:p>
            <a:endParaRPr lang="en-IN" dirty="0"/>
          </a:p>
        </p:txBody>
      </p:sp>
      <p:sp>
        <p:nvSpPr>
          <p:cNvPr id="16" name="Shape 6">
            <a:extLst>
              <a:ext uri="{FF2B5EF4-FFF2-40B4-BE49-F238E27FC236}">
                <a16:creationId xmlns:a16="http://schemas.microsoft.com/office/drawing/2014/main" id="{D5CA470C-F5D3-C118-BA7E-A2987E5FA791}"/>
              </a:ext>
            </a:extLst>
          </p:cNvPr>
          <p:cNvSpPr/>
          <p:nvPr/>
        </p:nvSpPr>
        <p:spPr>
          <a:xfrm>
            <a:off x="327936" y="2395728"/>
            <a:ext cx="118520" cy="128016"/>
          </a:xfrm>
          <a:prstGeom prst="ellipse">
            <a:avLst/>
          </a:prstGeom>
          <a:solidFill>
            <a:srgbClr val="BC312C"/>
          </a:solidFill>
          <a:ln/>
        </p:spPr>
        <p:txBody>
          <a:bodyPr/>
          <a:lstStyle/>
          <a:p>
            <a:endParaRPr lang="en-IN"/>
          </a:p>
        </p:txBody>
      </p:sp>
      <p:sp>
        <p:nvSpPr>
          <p:cNvPr id="18" name="Text 7">
            <a:extLst>
              <a:ext uri="{FF2B5EF4-FFF2-40B4-BE49-F238E27FC236}">
                <a16:creationId xmlns:a16="http://schemas.microsoft.com/office/drawing/2014/main" id="{24A631A5-123A-34DA-4DE7-E2ED68C93CD8}"/>
              </a:ext>
            </a:extLst>
          </p:cNvPr>
          <p:cNvSpPr/>
          <p:nvPr/>
        </p:nvSpPr>
        <p:spPr>
          <a:xfrm>
            <a:off x="602256" y="2276856"/>
            <a:ext cx="4867776" cy="914400"/>
          </a:xfrm>
          <a:prstGeom prst="rect">
            <a:avLst/>
          </a:prstGeom>
          <a:noFill/>
          <a:ln/>
        </p:spPr>
        <p:txBody>
          <a:bodyPr wrap="square" lIns="0" tIns="0" rIns="0" bIns="0" rtlCol="0" anchor="t"/>
          <a:lstStyle/>
          <a:p>
            <a:pPr marL="0" indent="0">
              <a:lnSpc>
                <a:spcPct val="112000"/>
              </a:lnSpc>
              <a:buNone/>
            </a:pPr>
            <a:r>
              <a:rPr lang="en-US" sz="1600" dirty="0">
                <a:solidFill>
                  <a:srgbClr val="262626"/>
                </a:solidFill>
                <a:latin typeface="Calibri" pitchFamily="34" charset="0"/>
                <a:ea typeface="Calibri" pitchFamily="34" charset="-122"/>
                <a:cs typeface="Calibri" pitchFamily="34" charset="-120"/>
              </a:rPr>
              <a:t>Small food businesses operate on thin margins — a single bad week of over- or under-ordering has a direct, measurable financial impact.</a:t>
            </a:r>
            <a:endParaRPr lang="en-US" sz="1600" dirty="0"/>
          </a:p>
        </p:txBody>
      </p:sp>
      <p:sp>
        <p:nvSpPr>
          <p:cNvPr id="20" name="Shape 8">
            <a:extLst>
              <a:ext uri="{FF2B5EF4-FFF2-40B4-BE49-F238E27FC236}">
                <a16:creationId xmlns:a16="http://schemas.microsoft.com/office/drawing/2014/main" id="{F51FFC40-E37F-51CB-A8D0-20A84426C82E}"/>
              </a:ext>
            </a:extLst>
          </p:cNvPr>
          <p:cNvSpPr/>
          <p:nvPr/>
        </p:nvSpPr>
        <p:spPr>
          <a:xfrm>
            <a:off x="327936" y="3401568"/>
            <a:ext cx="118520" cy="128016"/>
          </a:xfrm>
          <a:prstGeom prst="ellipse">
            <a:avLst/>
          </a:prstGeom>
          <a:solidFill>
            <a:srgbClr val="BC312C"/>
          </a:solidFill>
          <a:ln/>
        </p:spPr>
        <p:txBody>
          <a:bodyPr/>
          <a:lstStyle/>
          <a:p>
            <a:endParaRPr lang="en-IN"/>
          </a:p>
        </p:txBody>
      </p:sp>
      <p:sp>
        <p:nvSpPr>
          <p:cNvPr id="22" name="Text 9">
            <a:extLst>
              <a:ext uri="{FF2B5EF4-FFF2-40B4-BE49-F238E27FC236}">
                <a16:creationId xmlns:a16="http://schemas.microsoft.com/office/drawing/2014/main" id="{1F952B43-9F7F-BFEC-F3F2-B07548D47436}"/>
              </a:ext>
            </a:extLst>
          </p:cNvPr>
          <p:cNvSpPr/>
          <p:nvPr/>
        </p:nvSpPr>
        <p:spPr>
          <a:xfrm>
            <a:off x="602256" y="3282696"/>
            <a:ext cx="4867776" cy="914400"/>
          </a:xfrm>
          <a:prstGeom prst="rect">
            <a:avLst/>
          </a:prstGeom>
          <a:noFill/>
          <a:ln/>
        </p:spPr>
        <p:txBody>
          <a:bodyPr wrap="square" lIns="0" tIns="0" rIns="0" bIns="0" rtlCol="0" anchor="t"/>
          <a:lstStyle/>
          <a:p>
            <a:pPr marL="0" indent="0">
              <a:lnSpc>
                <a:spcPct val="112000"/>
              </a:lnSpc>
              <a:buNone/>
            </a:pPr>
            <a:r>
              <a:rPr lang="en-US" sz="1600" dirty="0">
                <a:solidFill>
                  <a:srgbClr val="262626"/>
                </a:solidFill>
                <a:latin typeface="Calibri" pitchFamily="34" charset="0"/>
                <a:ea typeface="Calibri" pitchFamily="34" charset="-122"/>
                <a:cs typeface="Calibri" pitchFamily="34" charset="-120"/>
              </a:rPr>
              <a:t>Perishable inventory means forecasting errors translate directly into food waste and lost revenue, not just a missed KPI.</a:t>
            </a:r>
            <a:endParaRPr lang="en-US" sz="1600" dirty="0"/>
          </a:p>
        </p:txBody>
      </p:sp>
      <p:sp>
        <p:nvSpPr>
          <p:cNvPr id="24" name="Shape 10">
            <a:extLst>
              <a:ext uri="{FF2B5EF4-FFF2-40B4-BE49-F238E27FC236}">
                <a16:creationId xmlns:a16="http://schemas.microsoft.com/office/drawing/2014/main" id="{A8F10815-9660-CB7F-A024-2EE61C31753A}"/>
              </a:ext>
            </a:extLst>
          </p:cNvPr>
          <p:cNvSpPr/>
          <p:nvPr/>
        </p:nvSpPr>
        <p:spPr>
          <a:xfrm>
            <a:off x="327936" y="4305808"/>
            <a:ext cx="118520" cy="128016"/>
          </a:xfrm>
          <a:prstGeom prst="ellipse">
            <a:avLst/>
          </a:prstGeom>
          <a:solidFill>
            <a:srgbClr val="BC312C"/>
          </a:solidFill>
          <a:ln/>
        </p:spPr>
        <p:txBody>
          <a:bodyPr/>
          <a:lstStyle/>
          <a:p>
            <a:endParaRPr lang="en-IN"/>
          </a:p>
        </p:txBody>
      </p:sp>
      <p:sp>
        <p:nvSpPr>
          <p:cNvPr id="26" name="Text 11">
            <a:extLst>
              <a:ext uri="{FF2B5EF4-FFF2-40B4-BE49-F238E27FC236}">
                <a16:creationId xmlns:a16="http://schemas.microsoft.com/office/drawing/2014/main" id="{EEF3B63F-465F-FD31-DACA-D8216BC3A56E}"/>
              </a:ext>
            </a:extLst>
          </p:cNvPr>
          <p:cNvSpPr/>
          <p:nvPr/>
        </p:nvSpPr>
        <p:spPr>
          <a:xfrm>
            <a:off x="602256" y="4186936"/>
            <a:ext cx="4867776" cy="914400"/>
          </a:xfrm>
          <a:prstGeom prst="rect">
            <a:avLst/>
          </a:prstGeom>
          <a:noFill/>
          <a:ln/>
        </p:spPr>
        <p:txBody>
          <a:bodyPr wrap="square" lIns="0" tIns="0" rIns="0" bIns="0" rtlCol="0" anchor="t"/>
          <a:lstStyle/>
          <a:p>
            <a:pPr marL="0" indent="0">
              <a:lnSpc>
                <a:spcPct val="112000"/>
              </a:lnSpc>
              <a:buNone/>
            </a:pPr>
            <a:r>
              <a:rPr lang="en-US" sz="1600" dirty="0">
                <a:solidFill>
                  <a:srgbClr val="262626"/>
                </a:solidFill>
                <a:latin typeface="Calibri" pitchFamily="34" charset="0"/>
                <a:ea typeface="Calibri" pitchFamily="34" charset="-122"/>
                <a:cs typeface="Calibri" pitchFamily="34" charset="-120"/>
              </a:rPr>
              <a:t>Existing accessible tools (e.g., “Stock Easy”, Janchidfah et al. 2026) manage inventory manually but have no predictive capability at all.</a:t>
            </a:r>
            <a:endParaRPr lang="en-US" sz="1600" dirty="0"/>
          </a:p>
        </p:txBody>
      </p:sp>
      <p:sp>
        <p:nvSpPr>
          <p:cNvPr id="28" name="Shape 12">
            <a:extLst>
              <a:ext uri="{FF2B5EF4-FFF2-40B4-BE49-F238E27FC236}">
                <a16:creationId xmlns:a16="http://schemas.microsoft.com/office/drawing/2014/main" id="{BEDDEDE9-7998-B71F-F6BD-A55F127D6A61}"/>
              </a:ext>
            </a:extLst>
          </p:cNvPr>
          <p:cNvSpPr/>
          <p:nvPr/>
        </p:nvSpPr>
        <p:spPr>
          <a:xfrm>
            <a:off x="327936" y="5311648"/>
            <a:ext cx="118520" cy="128016"/>
          </a:xfrm>
          <a:prstGeom prst="ellipse">
            <a:avLst/>
          </a:prstGeom>
          <a:solidFill>
            <a:srgbClr val="BC312C"/>
          </a:solidFill>
          <a:ln/>
        </p:spPr>
        <p:txBody>
          <a:bodyPr/>
          <a:lstStyle/>
          <a:p>
            <a:endParaRPr lang="en-IN"/>
          </a:p>
        </p:txBody>
      </p:sp>
      <p:sp>
        <p:nvSpPr>
          <p:cNvPr id="30" name="Text 13">
            <a:extLst>
              <a:ext uri="{FF2B5EF4-FFF2-40B4-BE49-F238E27FC236}">
                <a16:creationId xmlns:a16="http://schemas.microsoft.com/office/drawing/2014/main" id="{33B1085A-B8FC-49A2-1EFF-D679AC7D7F2D}"/>
              </a:ext>
            </a:extLst>
          </p:cNvPr>
          <p:cNvSpPr/>
          <p:nvPr/>
        </p:nvSpPr>
        <p:spPr>
          <a:xfrm>
            <a:off x="602256" y="5192776"/>
            <a:ext cx="4867776" cy="914400"/>
          </a:xfrm>
          <a:prstGeom prst="rect">
            <a:avLst/>
          </a:prstGeom>
          <a:noFill/>
          <a:ln/>
        </p:spPr>
        <p:txBody>
          <a:bodyPr wrap="square" lIns="0" tIns="0" rIns="0" bIns="0" rtlCol="0" anchor="t"/>
          <a:lstStyle/>
          <a:p>
            <a:pPr marL="0" indent="0">
              <a:lnSpc>
                <a:spcPct val="112000"/>
              </a:lnSpc>
              <a:buNone/>
            </a:pPr>
            <a:r>
              <a:rPr lang="en-US" sz="1600" dirty="0">
                <a:solidFill>
                  <a:srgbClr val="262626"/>
                </a:solidFill>
                <a:latin typeface="Calibri" pitchFamily="34" charset="0"/>
                <a:ea typeface="Calibri" pitchFamily="34" charset="-122"/>
                <a:cs typeface="Calibri" pitchFamily="34" charset="-120"/>
              </a:rPr>
              <a:t>Enterprise-grade AI/ERP forecasting exists, but survey evidence shows SMEs cannot adopt it — not due to distrust, but due to cost and know-how.</a:t>
            </a:r>
            <a:endParaRPr lang="en-US" sz="1600" dirty="0"/>
          </a:p>
        </p:txBody>
      </p:sp>
      <p:sp>
        <p:nvSpPr>
          <p:cNvPr id="32" name="Shape 14">
            <a:extLst>
              <a:ext uri="{FF2B5EF4-FFF2-40B4-BE49-F238E27FC236}">
                <a16:creationId xmlns:a16="http://schemas.microsoft.com/office/drawing/2014/main" id="{04B92654-4900-724E-AA0B-1554257F2DF8}"/>
              </a:ext>
            </a:extLst>
          </p:cNvPr>
          <p:cNvSpPr/>
          <p:nvPr/>
        </p:nvSpPr>
        <p:spPr>
          <a:xfrm>
            <a:off x="5617341" y="3561167"/>
            <a:ext cx="3447851" cy="1396229"/>
          </a:xfrm>
          <a:prstGeom prst="roundRect">
            <a:avLst>
              <a:gd name="adj" fmla="val 4615"/>
            </a:avLst>
          </a:prstGeom>
          <a:solidFill>
            <a:srgbClr val="FFFFFF"/>
          </a:solidFill>
          <a:ln w="12700">
            <a:solidFill>
              <a:srgbClr val="BC312C"/>
            </a:solidFill>
            <a:prstDash val="solid"/>
          </a:ln>
        </p:spPr>
        <p:txBody>
          <a:bodyPr/>
          <a:lstStyle/>
          <a:p>
            <a:endParaRPr lang="en-IN" dirty="0"/>
          </a:p>
        </p:txBody>
      </p:sp>
      <p:sp>
        <p:nvSpPr>
          <p:cNvPr id="34" name="Text 15">
            <a:extLst>
              <a:ext uri="{FF2B5EF4-FFF2-40B4-BE49-F238E27FC236}">
                <a16:creationId xmlns:a16="http://schemas.microsoft.com/office/drawing/2014/main" id="{CE52F9FF-2DDC-BFCC-2CC7-8A80665FAAC1}"/>
              </a:ext>
            </a:extLst>
          </p:cNvPr>
          <p:cNvSpPr/>
          <p:nvPr/>
        </p:nvSpPr>
        <p:spPr>
          <a:xfrm>
            <a:off x="5652764" y="3673102"/>
            <a:ext cx="1239294" cy="1224386"/>
          </a:xfrm>
          <a:prstGeom prst="rect">
            <a:avLst/>
          </a:prstGeom>
          <a:noFill/>
          <a:ln/>
        </p:spPr>
        <p:txBody>
          <a:bodyPr wrap="square" lIns="0" tIns="0" rIns="0" bIns="0" rtlCol="0" anchor="ctr"/>
          <a:lstStyle/>
          <a:p>
            <a:pPr marL="0" indent="0" algn="ctr">
              <a:buNone/>
            </a:pPr>
            <a:r>
              <a:rPr lang="en-US" sz="2200" b="1" dirty="0">
                <a:solidFill>
                  <a:srgbClr val="BC312C"/>
                </a:solidFill>
                <a:latin typeface="Cambria" pitchFamily="34" charset="0"/>
                <a:ea typeface="Cambria" pitchFamily="34" charset="-122"/>
                <a:cs typeface="Cambria" pitchFamily="34" charset="-120"/>
              </a:rPr>
              <a:t>Adoption Barrier</a:t>
            </a:r>
            <a:endParaRPr lang="en-US" sz="2200" dirty="0"/>
          </a:p>
        </p:txBody>
      </p:sp>
      <p:sp>
        <p:nvSpPr>
          <p:cNvPr id="36" name="Text 16">
            <a:extLst>
              <a:ext uri="{FF2B5EF4-FFF2-40B4-BE49-F238E27FC236}">
                <a16:creationId xmlns:a16="http://schemas.microsoft.com/office/drawing/2014/main" id="{498BDCF6-AB29-A5BA-CD69-2752E6BCA00D}"/>
              </a:ext>
            </a:extLst>
          </p:cNvPr>
          <p:cNvSpPr/>
          <p:nvPr/>
        </p:nvSpPr>
        <p:spPr>
          <a:xfrm>
            <a:off x="6950472" y="3648905"/>
            <a:ext cx="2094489" cy="1224386"/>
          </a:xfrm>
          <a:prstGeom prst="rect">
            <a:avLst/>
          </a:prstGeom>
          <a:noFill/>
          <a:ln/>
        </p:spPr>
        <p:txBody>
          <a:bodyPr wrap="square" lIns="0" tIns="0" rIns="0" bIns="0" rtlCol="0" anchor="ctr"/>
          <a:lstStyle/>
          <a:p>
            <a:pPr marL="0" indent="0" algn="just">
              <a:lnSpc>
                <a:spcPct val="105000"/>
              </a:lnSpc>
              <a:buNone/>
            </a:pPr>
            <a:r>
              <a:rPr lang="en-US" sz="1400" dirty="0">
                <a:solidFill>
                  <a:srgbClr val="262626"/>
                </a:solidFill>
                <a:latin typeface="Calibri" pitchFamily="34" charset="0"/>
                <a:ea typeface="Calibri" pitchFamily="34" charset="-122"/>
                <a:cs typeface="Calibri" pitchFamily="34" charset="-120"/>
              </a:rPr>
              <a:t>Perceived ease of use is the top factor in whether SME owners adopt AI tools at all (Yuniarty et al., 2025)</a:t>
            </a:r>
            <a:endParaRPr lang="en-US" sz="1400" dirty="0"/>
          </a:p>
        </p:txBody>
      </p:sp>
      <p:sp>
        <p:nvSpPr>
          <p:cNvPr id="38" name="Shape 17">
            <a:extLst>
              <a:ext uri="{FF2B5EF4-FFF2-40B4-BE49-F238E27FC236}">
                <a16:creationId xmlns:a16="http://schemas.microsoft.com/office/drawing/2014/main" id="{86EA6D05-FE26-7827-15B8-BA34B184BF63}"/>
              </a:ext>
            </a:extLst>
          </p:cNvPr>
          <p:cNvSpPr/>
          <p:nvPr/>
        </p:nvSpPr>
        <p:spPr>
          <a:xfrm>
            <a:off x="5619017" y="5004566"/>
            <a:ext cx="3447851" cy="1396229"/>
          </a:xfrm>
          <a:prstGeom prst="roundRect">
            <a:avLst>
              <a:gd name="adj" fmla="val 4615"/>
            </a:avLst>
          </a:prstGeom>
          <a:solidFill>
            <a:srgbClr val="FFFFFF"/>
          </a:solidFill>
          <a:ln w="12700">
            <a:solidFill>
              <a:srgbClr val="BC312C"/>
            </a:solidFill>
            <a:prstDash val="solid"/>
          </a:ln>
        </p:spPr>
        <p:txBody>
          <a:bodyPr/>
          <a:lstStyle/>
          <a:p>
            <a:endParaRPr lang="en-IN"/>
          </a:p>
        </p:txBody>
      </p:sp>
      <p:sp>
        <p:nvSpPr>
          <p:cNvPr id="40" name="Text 18">
            <a:extLst>
              <a:ext uri="{FF2B5EF4-FFF2-40B4-BE49-F238E27FC236}">
                <a16:creationId xmlns:a16="http://schemas.microsoft.com/office/drawing/2014/main" id="{23D751DB-73BC-D75D-2768-FFC311435FCA}"/>
              </a:ext>
            </a:extLst>
          </p:cNvPr>
          <p:cNvSpPr/>
          <p:nvPr/>
        </p:nvSpPr>
        <p:spPr>
          <a:xfrm>
            <a:off x="5756177" y="5077718"/>
            <a:ext cx="1095579" cy="1224386"/>
          </a:xfrm>
          <a:prstGeom prst="rect">
            <a:avLst/>
          </a:prstGeom>
          <a:noFill/>
          <a:ln/>
        </p:spPr>
        <p:txBody>
          <a:bodyPr wrap="square" lIns="0" tIns="0" rIns="0" bIns="0" rtlCol="0" anchor="ctr"/>
          <a:lstStyle/>
          <a:p>
            <a:pPr marL="0" indent="0" algn="ctr">
              <a:buNone/>
            </a:pPr>
            <a:r>
              <a:rPr lang="en-US" sz="3000" b="1" dirty="0">
                <a:solidFill>
                  <a:srgbClr val="BC312C"/>
                </a:solidFill>
                <a:latin typeface="Cambria" pitchFamily="34" charset="0"/>
                <a:ea typeface="Cambria" pitchFamily="34" charset="-122"/>
                <a:cs typeface="Cambria" pitchFamily="34" charset="-120"/>
              </a:rPr>
              <a:t>0.76</a:t>
            </a:r>
            <a:endParaRPr lang="en-US" sz="3000" dirty="0"/>
          </a:p>
        </p:txBody>
      </p:sp>
      <p:sp>
        <p:nvSpPr>
          <p:cNvPr id="42" name="Text 19">
            <a:extLst>
              <a:ext uri="{FF2B5EF4-FFF2-40B4-BE49-F238E27FC236}">
                <a16:creationId xmlns:a16="http://schemas.microsoft.com/office/drawing/2014/main" id="{20DF5555-E377-A9FF-0D06-0D74990FC97E}"/>
              </a:ext>
            </a:extLst>
          </p:cNvPr>
          <p:cNvSpPr/>
          <p:nvPr/>
        </p:nvSpPr>
        <p:spPr>
          <a:xfrm>
            <a:off x="6838503" y="5093389"/>
            <a:ext cx="2094489" cy="1224386"/>
          </a:xfrm>
          <a:prstGeom prst="rect">
            <a:avLst/>
          </a:prstGeom>
          <a:noFill/>
          <a:ln/>
        </p:spPr>
        <p:txBody>
          <a:bodyPr wrap="square" lIns="0" tIns="0" rIns="0" bIns="0" rtlCol="0" anchor="ctr"/>
          <a:lstStyle/>
          <a:p>
            <a:pPr marL="0" indent="0" algn="just">
              <a:lnSpc>
                <a:spcPct val="105000"/>
              </a:lnSpc>
              <a:buNone/>
            </a:pPr>
            <a:r>
              <a:rPr lang="en-US" sz="1400" dirty="0">
                <a:solidFill>
                  <a:srgbClr val="262626"/>
                </a:solidFill>
                <a:latin typeface="Calibri" pitchFamily="34" charset="0"/>
                <a:ea typeface="Calibri" pitchFamily="34" charset="-122"/>
                <a:cs typeface="Calibri" pitchFamily="34" charset="-120"/>
              </a:rPr>
              <a:t>correlation (r) between user satisfaction and digital-transformation readiness among SME retail users (Janchidfah et al., 2026)</a:t>
            </a:r>
            <a:endParaRPr lang="en-US" sz="1400" dirty="0"/>
          </a:p>
        </p:txBody>
      </p:sp>
      <p:sp>
        <p:nvSpPr>
          <p:cNvPr id="3" name="Slide Number Placeholder 3">
            <a:extLst>
              <a:ext uri="{FF2B5EF4-FFF2-40B4-BE49-F238E27FC236}">
                <a16:creationId xmlns:a16="http://schemas.microsoft.com/office/drawing/2014/main" id="{305AFB04-24A6-2D3D-7E71-F1654F597FDE}"/>
              </a:ext>
            </a:extLst>
          </p:cNvPr>
          <p:cNvSpPr>
            <a:spLocks noGrp="1"/>
          </p:cNvSpPr>
          <p:nvPr>
            <p:ph type="sldNum" sz="quarter" idx="12"/>
          </p:nvPr>
        </p:nvSpPr>
        <p:spPr>
          <a:xfrm>
            <a:off x="6507284" y="6421755"/>
            <a:ext cx="2133600" cy="365125"/>
          </a:xfrm>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5</a:t>
            </a:fld>
            <a:endParaRPr lang="en-US" dirty="0">
              <a:latin typeface="Times New Roman" panose="02020603050405020304" pitchFamily="18" charset="0"/>
              <a:cs typeface="Times New Roman" panose="02020603050405020304" pitchFamily="18" charset="0"/>
            </a:endParaRPr>
          </a:p>
        </p:txBody>
      </p:sp>
      <p:sp>
        <p:nvSpPr>
          <p:cNvPr id="5" name="Shape 20">
            <a:extLst>
              <a:ext uri="{FF2B5EF4-FFF2-40B4-BE49-F238E27FC236}">
                <a16:creationId xmlns:a16="http://schemas.microsoft.com/office/drawing/2014/main" id="{2C034D9F-6755-CDA0-61B8-955ECA0504E7}"/>
              </a:ext>
            </a:extLst>
          </p:cNvPr>
          <p:cNvSpPr/>
          <p:nvPr/>
        </p:nvSpPr>
        <p:spPr>
          <a:xfrm>
            <a:off x="5609686" y="2121398"/>
            <a:ext cx="3447851" cy="1396229"/>
          </a:xfrm>
          <a:prstGeom prst="roundRect">
            <a:avLst>
              <a:gd name="adj" fmla="val 4615"/>
            </a:avLst>
          </a:prstGeom>
          <a:solidFill>
            <a:srgbClr val="FFFFFF"/>
          </a:solidFill>
          <a:ln w="12700">
            <a:solidFill>
              <a:srgbClr val="BC312C"/>
            </a:solidFill>
            <a:prstDash val="solid"/>
          </a:ln>
        </p:spPr>
        <p:txBody>
          <a:bodyPr/>
          <a:lstStyle/>
          <a:p>
            <a:endParaRPr lang="en-IN"/>
          </a:p>
        </p:txBody>
      </p:sp>
      <p:sp>
        <p:nvSpPr>
          <p:cNvPr id="7" name="Text 21">
            <a:extLst>
              <a:ext uri="{FF2B5EF4-FFF2-40B4-BE49-F238E27FC236}">
                <a16:creationId xmlns:a16="http://schemas.microsoft.com/office/drawing/2014/main" id="{056F7EA6-8416-997B-A6D0-47E88ED7C3CB}"/>
              </a:ext>
            </a:extLst>
          </p:cNvPr>
          <p:cNvSpPr/>
          <p:nvPr/>
        </p:nvSpPr>
        <p:spPr>
          <a:xfrm>
            <a:off x="5746846" y="2194550"/>
            <a:ext cx="1095579" cy="1224386"/>
          </a:xfrm>
          <a:prstGeom prst="rect">
            <a:avLst/>
          </a:prstGeom>
          <a:noFill/>
          <a:ln/>
        </p:spPr>
        <p:txBody>
          <a:bodyPr wrap="square" lIns="0" tIns="0" rIns="0" bIns="0" rtlCol="0" anchor="ctr"/>
          <a:lstStyle/>
          <a:p>
            <a:pPr marL="0" indent="0" algn="ctr">
              <a:buNone/>
            </a:pPr>
            <a:r>
              <a:rPr lang="en-US" sz="2400" b="1" dirty="0">
                <a:solidFill>
                  <a:srgbClr val="BC312C"/>
                </a:solidFill>
                <a:latin typeface="Cambria" pitchFamily="34" charset="0"/>
                <a:ea typeface="Cambria" pitchFamily="34" charset="-122"/>
                <a:cs typeface="Cambria" pitchFamily="34" charset="-120"/>
              </a:rPr>
              <a:t>30 to 40%</a:t>
            </a:r>
            <a:endParaRPr lang="en-US" sz="2400" dirty="0"/>
          </a:p>
        </p:txBody>
      </p:sp>
      <p:sp>
        <p:nvSpPr>
          <p:cNvPr id="9" name="Text 22">
            <a:extLst>
              <a:ext uri="{FF2B5EF4-FFF2-40B4-BE49-F238E27FC236}">
                <a16:creationId xmlns:a16="http://schemas.microsoft.com/office/drawing/2014/main" id="{96878901-FF2B-D1EA-9453-106FCA5624F1}"/>
              </a:ext>
            </a:extLst>
          </p:cNvPr>
          <p:cNvSpPr/>
          <p:nvPr/>
        </p:nvSpPr>
        <p:spPr>
          <a:xfrm>
            <a:off x="6851756" y="2246071"/>
            <a:ext cx="2094489" cy="1224386"/>
          </a:xfrm>
          <a:prstGeom prst="rect">
            <a:avLst/>
          </a:prstGeom>
          <a:noFill/>
          <a:ln/>
        </p:spPr>
        <p:txBody>
          <a:bodyPr wrap="square" lIns="0" tIns="0" rIns="0" bIns="0" rtlCol="0" anchor="ctr"/>
          <a:lstStyle/>
          <a:p>
            <a:pPr marL="0" indent="0" algn="just">
              <a:lnSpc>
                <a:spcPct val="105000"/>
              </a:lnSpc>
              <a:buNone/>
            </a:pPr>
            <a:r>
              <a:rPr lang="en-US" sz="1400" dirty="0">
                <a:solidFill>
                  <a:srgbClr val="262626"/>
                </a:solidFill>
                <a:latin typeface="Calibri" pitchFamily="34" charset="0"/>
                <a:ea typeface="Calibri" pitchFamily="34" charset="-122"/>
                <a:cs typeface="Calibri" pitchFamily="34" charset="-120"/>
              </a:rPr>
              <a:t>of predicted food-sector sales fail to materialize, due to various unaccounted factors (Jain et al., 2024)</a:t>
            </a:r>
            <a:endParaRPr lang="en-US" sz="1400" dirty="0"/>
          </a:p>
        </p:txBody>
      </p:sp>
    </p:spTree>
    <p:extLst>
      <p:ext uri="{BB962C8B-B14F-4D97-AF65-F5344CB8AC3E}">
        <p14:creationId xmlns:p14="http://schemas.microsoft.com/office/powerpoint/2010/main" val="40528653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B540DF-F3B7-2377-E3C4-E5B4AD6A63ED}"/>
            </a:ext>
          </a:extLst>
        </p:cNvPr>
        <p:cNvGrpSpPr/>
        <p:nvPr/>
      </p:nvGrpSpPr>
      <p:grpSpPr>
        <a:xfrm>
          <a:off x="0" y="0"/>
          <a:ext cx="0" cy="0"/>
          <a:chOff x="0" y="0"/>
          <a:chExt cx="0" cy="0"/>
        </a:xfrm>
      </p:grpSpPr>
      <p:sp>
        <p:nvSpPr>
          <p:cNvPr id="3" name="Text 3">
            <a:extLst>
              <a:ext uri="{FF2B5EF4-FFF2-40B4-BE49-F238E27FC236}">
                <a16:creationId xmlns:a16="http://schemas.microsoft.com/office/drawing/2014/main" id="{2D59B2F9-CB4E-3E9F-3CE2-9E8DE9D4F4BD}"/>
              </a:ext>
            </a:extLst>
          </p:cNvPr>
          <p:cNvSpPr/>
          <p:nvPr/>
        </p:nvSpPr>
        <p:spPr>
          <a:xfrm>
            <a:off x="185671" y="1325880"/>
            <a:ext cx="11155680" cy="594360"/>
          </a:xfrm>
          <a:prstGeom prst="rect">
            <a:avLst/>
          </a:prstGeom>
          <a:noFill/>
          <a:ln/>
        </p:spPr>
        <p:txBody>
          <a:bodyPr wrap="square" lIns="0" tIns="0" rIns="0" bIns="0" rtlCol="0" anchor="ctr"/>
          <a:lstStyle/>
          <a:p>
            <a:pPr marL="0" indent="0" algn="l">
              <a:buNone/>
            </a:pPr>
            <a:r>
              <a:rPr lang="en-US" sz="2700" b="1" dirty="0">
                <a:solidFill>
                  <a:srgbClr val="BC312C"/>
                </a:solidFill>
                <a:latin typeface="Cambria" pitchFamily="34" charset="0"/>
                <a:ea typeface="Cambria" pitchFamily="34" charset="-122"/>
                <a:cs typeface="Cambria" pitchFamily="34" charset="-120"/>
              </a:rPr>
              <a:t>Objectives of the Project</a:t>
            </a:r>
            <a:endParaRPr lang="en-US" sz="2700" dirty="0"/>
          </a:p>
        </p:txBody>
      </p:sp>
      <p:sp>
        <p:nvSpPr>
          <p:cNvPr id="5" name="Rectangle 4"/>
          <p:cNvSpPr/>
          <p:nvPr/>
        </p:nvSpPr>
        <p:spPr>
          <a:xfrm>
            <a:off x="325352" y="1986618"/>
            <a:ext cx="4022000" cy="2328047"/>
          </a:xfrm>
          <a:prstGeom prst="rect">
            <a:avLst/>
          </a:prstGeom>
          <a:solidFill>
            <a:srgbClr val="F7F5F4"/>
          </a:solidFill>
          <a:ln w="12700">
            <a:solidFill>
              <a:srgbClr val="E0DA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700"/>
          </a:p>
        </p:txBody>
      </p:sp>
      <p:sp>
        <p:nvSpPr>
          <p:cNvPr id="6" name="TextBox 5"/>
          <p:cNvSpPr txBox="1"/>
          <p:nvPr/>
        </p:nvSpPr>
        <p:spPr>
          <a:xfrm>
            <a:off x="475352" y="2086619"/>
            <a:ext cx="487313" cy="492443"/>
          </a:xfrm>
          <a:prstGeom prst="rect">
            <a:avLst/>
          </a:prstGeom>
          <a:noFill/>
        </p:spPr>
        <p:txBody>
          <a:bodyPr wrap="none" lIns="0" tIns="0" rIns="0" bIns="0">
            <a:spAutoFit/>
          </a:bodyPr>
          <a:lstStyle/>
          <a:p>
            <a:r>
              <a:rPr sz="3200" b="1">
                <a:solidFill>
                  <a:srgbClr val="BC312C"/>
                </a:solidFill>
                <a:latin typeface="Cambria"/>
              </a:rPr>
              <a:t>01</a:t>
            </a:r>
          </a:p>
        </p:txBody>
      </p:sp>
      <p:sp>
        <p:nvSpPr>
          <p:cNvPr id="7" name="TextBox 6"/>
          <p:cNvSpPr txBox="1"/>
          <p:nvPr/>
        </p:nvSpPr>
        <p:spPr>
          <a:xfrm>
            <a:off x="475352" y="2652066"/>
            <a:ext cx="3722000" cy="276999"/>
          </a:xfrm>
          <a:prstGeom prst="rect">
            <a:avLst/>
          </a:prstGeom>
          <a:noFill/>
        </p:spPr>
        <p:txBody>
          <a:bodyPr wrap="square" lIns="0" tIns="0" rIns="0" bIns="0">
            <a:spAutoFit/>
          </a:bodyPr>
          <a:lstStyle/>
          <a:p>
            <a:r>
              <a:rPr sz="1800" b="1" dirty="0">
                <a:solidFill>
                  <a:srgbClr val="2F3C7E"/>
                </a:solidFill>
                <a:latin typeface="Calibri"/>
              </a:rPr>
              <a:t>Build the Forecasting Model</a:t>
            </a:r>
          </a:p>
        </p:txBody>
      </p:sp>
      <p:sp>
        <p:nvSpPr>
          <p:cNvPr id="8" name="TextBox 7"/>
          <p:cNvSpPr txBox="1"/>
          <p:nvPr/>
        </p:nvSpPr>
        <p:spPr>
          <a:xfrm>
            <a:off x="475352" y="3006619"/>
            <a:ext cx="3872000" cy="1308050"/>
          </a:xfrm>
          <a:prstGeom prst="rect">
            <a:avLst/>
          </a:prstGeom>
          <a:noFill/>
        </p:spPr>
        <p:txBody>
          <a:bodyPr wrap="square" lIns="0" tIns="0" rIns="0" bIns="0">
            <a:spAutoFit/>
          </a:bodyPr>
          <a:lstStyle/>
          <a:p>
            <a:r>
              <a:rPr sz="1700" dirty="0">
                <a:solidFill>
                  <a:srgbClr val="333333"/>
                </a:solidFill>
                <a:latin typeface="Calibri"/>
              </a:rPr>
              <a:t>Design an adaptive Prophet + </a:t>
            </a:r>
            <a:r>
              <a:rPr sz="1700" dirty="0" err="1">
                <a:solidFill>
                  <a:srgbClr val="333333"/>
                </a:solidFill>
                <a:latin typeface="Calibri"/>
              </a:rPr>
              <a:t>XGBoost</a:t>
            </a:r>
            <a:r>
              <a:rPr sz="1700" dirty="0">
                <a:solidFill>
                  <a:srgbClr val="333333"/>
                </a:solidFill>
                <a:latin typeface="Calibri"/>
              </a:rPr>
              <a:t> hybrid — Prophet for trend/seasonality, </a:t>
            </a:r>
            <a:r>
              <a:rPr sz="1700" dirty="0" err="1">
                <a:solidFill>
                  <a:srgbClr val="333333"/>
                </a:solidFill>
                <a:latin typeface="Calibri"/>
              </a:rPr>
              <a:t>XGBoost</a:t>
            </a:r>
            <a:r>
              <a:rPr sz="1700" dirty="0">
                <a:solidFill>
                  <a:srgbClr val="333333"/>
                </a:solidFill>
                <a:latin typeface="Calibri"/>
              </a:rPr>
              <a:t> for residual correction — with regime-specific tuning for sparse and high-volume items.</a:t>
            </a:r>
          </a:p>
        </p:txBody>
      </p:sp>
      <p:sp>
        <p:nvSpPr>
          <p:cNvPr id="9" name="Rectangle 8"/>
          <p:cNvSpPr/>
          <p:nvPr/>
        </p:nvSpPr>
        <p:spPr>
          <a:xfrm>
            <a:off x="4647352" y="1986618"/>
            <a:ext cx="4022000" cy="2328045"/>
          </a:xfrm>
          <a:prstGeom prst="rect">
            <a:avLst/>
          </a:prstGeom>
          <a:solidFill>
            <a:srgbClr val="F7F5F4"/>
          </a:solidFill>
          <a:ln w="12700">
            <a:solidFill>
              <a:srgbClr val="E0DA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700"/>
          </a:p>
        </p:txBody>
      </p:sp>
      <p:sp>
        <p:nvSpPr>
          <p:cNvPr id="10" name="TextBox 9"/>
          <p:cNvSpPr txBox="1"/>
          <p:nvPr/>
        </p:nvSpPr>
        <p:spPr>
          <a:xfrm>
            <a:off x="4797352" y="2086619"/>
            <a:ext cx="487313" cy="492443"/>
          </a:xfrm>
          <a:prstGeom prst="rect">
            <a:avLst/>
          </a:prstGeom>
          <a:noFill/>
        </p:spPr>
        <p:txBody>
          <a:bodyPr wrap="none" lIns="0" tIns="0" rIns="0" bIns="0">
            <a:spAutoFit/>
          </a:bodyPr>
          <a:lstStyle/>
          <a:p>
            <a:r>
              <a:rPr sz="3200" b="1">
                <a:solidFill>
                  <a:srgbClr val="BC312C"/>
                </a:solidFill>
                <a:latin typeface="Cambria"/>
              </a:rPr>
              <a:t>02</a:t>
            </a:r>
          </a:p>
        </p:txBody>
      </p:sp>
      <p:sp>
        <p:nvSpPr>
          <p:cNvPr id="11" name="TextBox 10"/>
          <p:cNvSpPr txBox="1"/>
          <p:nvPr/>
        </p:nvSpPr>
        <p:spPr>
          <a:xfrm>
            <a:off x="4797352" y="2656084"/>
            <a:ext cx="3722000" cy="276999"/>
          </a:xfrm>
          <a:prstGeom prst="rect">
            <a:avLst/>
          </a:prstGeom>
          <a:noFill/>
        </p:spPr>
        <p:txBody>
          <a:bodyPr wrap="square" lIns="0" tIns="0" rIns="0" bIns="0">
            <a:spAutoFit/>
          </a:bodyPr>
          <a:lstStyle/>
          <a:p>
            <a:r>
              <a:rPr sz="1800" b="1" dirty="0">
                <a:solidFill>
                  <a:srgbClr val="2F3C7E"/>
                </a:solidFill>
                <a:latin typeface="Calibri"/>
              </a:rPr>
              <a:t>Generate Item-Level Forecasts</a:t>
            </a:r>
          </a:p>
        </p:txBody>
      </p:sp>
      <p:sp>
        <p:nvSpPr>
          <p:cNvPr id="12" name="TextBox 11"/>
          <p:cNvSpPr txBox="1"/>
          <p:nvPr/>
        </p:nvSpPr>
        <p:spPr>
          <a:xfrm>
            <a:off x="4797352" y="3006619"/>
            <a:ext cx="3871296" cy="1046440"/>
          </a:xfrm>
          <a:prstGeom prst="rect">
            <a:avLst/>
          </a:prstGeom>
          <a:noFill/>
        </p:spPr>
        <p:txBody>
          <a:bodyPr wrap="square" lIns="0" tIns="0" rIns="0" bIns="0">
            <a:spAutoFit/>
          </a:bodyPr>
          <a:lstStyle/>
          <a:p>
            <a:r>
              <a:rPr sz="1700" dirty="0">
                <a:solidFill>
                  <a:srgbClr val="333333"/>
                </a:solidFill>
                <a:latin typeface="Calibri"/>
              </a:rPr>
              <a:t>Produce daily, item-level demand predictions from the trained hybrid model, validated for consistency across sparse and high-volume item categories.</a:t>
            </a:r>
          </a:p>
        </p:txBody>
      </p:sp>
      <p:sp>
        <p:nvSpPr>
          <p:cNvPr id="13" name="Rectangle 12"/>
          <p:cNvSpPr/>
          <p:nvPr/>
        </p:nvSpPr>
        <p:spPr>
          <a:xfrm>
            <a:off x="325352" y="4402640"/>
            <a:ext cx="4022000" cy="2200000"/>
          </a:xfrm>
          <a:prstGeom prst="rect">
            <a:avLst/>
          </a:prstGeom>
          <a:solidFill>
            <a:srgbClr val="F7F5F4"/>
          </a:solidFill>
          <a:ln w="12700">
            <a:solidFill>
              <a:srgbClr val="E0DA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700"/>
          </a:p>
        </p:txBody>
      </p:sp>
      <p:sp>
        <p:nvSpPr>
          <p:cNvPr id="14" name="TextBox 13"/>
          <p:cNvSpPr txBox="1"/>
          <p:nvPr/>
        </p:nvSpPr>
        <p:spPr>
          <a:xfrm>
            <a:off x="475352" y="4502640"/>
            <a:ext cx="487313" cy="492443"/>
          </a:xfrm>
          <a:prstGeom prst="rect">
            <a:avLst/>
          </a:prstGeom>
          <a:noFill/>
        </p:spPr>
        <p:txBody>
          <a:bodyPr wrap="none" lIns="0" tIns="0" rIns="0" bIns="0">
            <a:spAutoFit/>
          </a:bodyPr>
          <a:lstStyle/>
          <a:p>
            <a:r>
              <a:rPr sz="3200" b="1">
                <a:solidFill>
                  <a:srgbClr val="BC312C"/>
                </a:solidFill>
                <a:latin typeface="Cambria"/>
              </a:rPr>
              <a:t>03</a:t>
            </a:r>
          </a:p>
        </p:txBody>
      </p:sp>
      <p:sp>
        <p:nvSpPr>
          <p:cNvPr id="15" name="TextBox 14"/>
          <p:cNvSpPr txBox="1"/>
          <p:nvPr/>
        </p:nvSpPr>
        <p:spPr>
          <a:xfrm>
            <a:off x="474648" y="5073055"/>
            <a:ext cx="3722000" cy="276999"/>
          </a:xfrm>
          <a:prstGeom prst="rect">
            <a:avLst/>
          </a:prstGeom>
          <a:noFill/>
        </p:spPr>
        <p:txBody>
          <a:bodyPr wrap="square" lIns="0" tIns="0" rIns="0" bIns="0">
            <a:spAutoFit/>
          </a:bodyPr>
          <a:lstStyle/>
          <a:p>
            <a:r>
              <a:rPr sz="1800" b="1" dirty="0">
                <a:solidFill>
                  <a:srgbClr val="2F3C7E"/>
                </a:solidFill>
                <a:latin typeface="Calibri"/>
              </a:rPr>
              <a:t>Recommend Restock Quantities</a:t>
            </a:r>
          </a:p>
        </p:txBody>
      </p:sp>
      <p:sp>
        <p:nvSpPr>
          <p:cNvPr id="16" name="TextBox 15"/>
          <p:cNvSpPr txBox="1"/>
          <p:nvPr/>
        </p:nvSpPr>
        <p:spPr>
          <a:xfrm>
            <a:off x="475352" y="5422640"/>
            <a:ext cx="3722000" cy="1046440"/>
          </a:xfrm>
          <a:prstGeom prst="rect">
            <a:avLst/>
          </a:prstGeom>
          <a:noFill/>
        </p:spPr>
        <p:txBody>
          <a:bodyPr wrap="square" lIns="0" tIns="0" rIns="0" bIns="0">
            <a:spAutoFit/>
          </a:bodyPr>
          <a:lstStyle/>
          <a:p>
            <a:r>
              <a:rPr sz="1700">
                <a:solidFill>
                  <a:srgbClr val="333333"/>
                </a:solidFill>
                <a:latin typeface="Calibri"/>
              </a:rPr>
              <a:t>Convert raw forecasts into actionable restock quantities using a configurable safety-stock buffer that accounts for current inventory levels.</a:t>
            </a:r>
          </a:p>
        </p:txBody>
      </p:sp>
      <p:sp>
        <p:nvSpPr>
          <p:cNvPr id="17" name="Rectangle 16"/>
          <p:cNvSpPr/>
          <p:nvPr/>
        </p:nvSpPr>
        <p:spPr>
          <a:xfrm>
            <a:off x="4647352" y="4402640"/>
            <a:ext cx="4022000" cy="2200000"/>
          </a:xfrm>
          <a:prstGeom prst="rect">
            <a:avLst/>
          </a:prstGeom>
          <a:solidFill>
            <a:srgbClr val="F7F5F4"/>
          </a:solidFill>
          <a:ln w="12700">
            <a:solidFill>
              <a:srgbClr val="E0DA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700"/>
          </a:p>
        </p:txBody>
      </p:sp>
      <p:sp>
        <p:nvSpPr>
          <p:cNvPr id="18" name="TextBox 17"/>
          <p:cNvSpPr txBox="1"/>
          <p:nvPr/>
        </p:nvSpPr>
        <p:spPr>
          <a:xfrm>
            <a:off x="4797352" y="4502640"/>
            <a:ext cx="487313" cy="492443"/>
          </a:xfrm>
          <a:prstGeom prst="rect">
            <a:avLst/>
          </a:prstGeom>
          <a:noFill/>
        </p:spPr>
        <p:txBody>
          <a:bodyPr wrap="none" lIns="0" tIns="0" rIns="0" bIns="0">
            <a:spAutoFit/>
          </a:bodyPr>
          <a:lstStyle/>
          <a:p>
            <a:r>
              <a:rPr sz="3200" b="1">
                <a:solidFill>
                  <a:srgbClr val="BC312C"/>
                </a:solidFill>
                <a:latin typeface="Cambria"/>
              </a:rPr>
              <a:t>04</a:t>
            </a:r>
          </a:p>
        </p:txBody>
      </p:sp>
      <p:sp>
        <p:nvSpPr>
          <p:cNvPr id="19" name="TextBox 18"/>
          <p:cNvSpPr txBox="1"/>
          <p:nvPr/>
        </p:nvSpPr>
        <p:spPr>
          <a:xfrm>
            <a:off x="4797352" y="5073527"/>
            <a:ext cx="3722000" cy="276999"/>
          </a:xfrm>
          <a:prstGeom prst="rect">
            <a:avLst/>
          </a:prstGeom>
          <a:noFill/>
        </p:spPr>
        <p:txBody>
          <a:bodyPr wrap="square" lIns="0" tIns="0" rIns="0" bIns="0">
            <a:spAutoFit/>
          </a:bodyPr>
          <a:lstStyle/>
          <a:p>
            <a:r>
              <a:rPr sz="1800" b="1" dirty="0">
                <a:solidFill>
                  <a:srgbClr val="2F3C7E"/>
                </a:solidFill>
                <a:latin typeface="Calibri"/>
              </a:rPr>
              <a:t>Explain via LLM Narrator</a:t>
            </a:r>
          </a:p>
        </p:txBody>
      </p:sp>
      <p:sp>
        <p:nvSpPr>
          <p:cNvPr id="20" name="TextBox 19"/>
          <p:cNvSpPr txBox="1"/>
          <p:nvPr/>
        </p:nvSpPr>
        <p:spPr>
          <a:xfrm>
            <a:off x="4797352" y="5422640"/>
            <a:ext cx="3722000" cy="1046440"/>
          </a:xfrm>
          <a:prstGeom prst="rect">
            <a:avLst/>
          </a:prstGeom>
          <a:noFill/>
        </p:spPr>
        <p:txBody>
          <a:bodyPr wrap="square" lIns="0" tIns="0" rIns="0" bIns="0">
            <a:spAutoFit/>
          </a:bodyPr>
          <a:lstStyle/>
          <a:p>
            <a:r>
              <a:rPr sz="1700">
                <a:solidFill>
                  <a:srgbClr val="333333"/>
                </a:solidFill>
                <a:latin typeface="Calibri"/>
              </a:rPr>
              <a:t>Integrate an LLM layer that translates the restock output into a plain-language recommendation — understandable without technical or data literacy.</a:t>
            </a:r>
          </a:p>
        </p:txBody>
      </p:sp>
      <p:sp>
        <p:nvSpPr>
          <p:cNvPr id="22" name="Shape 4">
            <a:extLst>
              <a:ext uri="{FF2B5EF4-FFF2-40B4-BE49-F238E27FC236}">
                <a16:creationId xmlns:a16="http://schemas.microsoft.com/office/drawing/2014/main" id="{202A3F67-8BE7-000E-E6EC-A0E263796A09}"/>
              </a:ext>
            </a:extLst>
          </p:cNvPr>
          <p:cNvSpPr/>
          <p:nvPr/>
        </p:nvSpPr>
        <p:spPr>
          <a:xfrm flipV="1">
            <a:off x="190907" y="1876413"/>
            <a:ext cx="8767422" cy="18288"/>
          </a:xfrm>
          <a:prstGeom prst="line">
            <a:avLst/>
          </a:prstGeom>
          <a:noFill/>
          <a:ln w="12700">
            <a:solidFill>
              <a:srgbClr val="E0DAD8"/>
            </a:solidFill>
            <a:prstDash val="solid"/>
          </a:ln>
        </p:spPr>
        <p:txBody>
          <a:bodyPr/>
          <a:lstStyle/>
          <a:p>
            <a:endParaRPr lang="en-IN"/>
          </a:p>
        </p:txBody>
      </p:sp>
    </p:spTree>
    <p:extLst>
      <p:ext uri="{BB962C8B-B14F-4D97-AF65-F5344CB8AC3E}">
        <p14:creationId xmlns:p14="http://schemas.microsoft.com/office/powerpoint/2010/main" val="10877844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7F6882-F524-CA0D-52C2-F7F4C0EFBCB0}"/>
            </a:ext>
          </a:extLst>
        </p:cNvPr>
        <p:cNvGrpSpPr/>
        <p:nvPr/>
      </p:nvGrpSpPr>
      <p:grpSpPr>
        <a:xfrm>
          <a:off x="0" y="0"/>
          <a:ext cx="0" cy="0"/>
          <a:chOff x="0" y="0"/>
          <a:chExt cx="0" cy="0"/>
        </a:xfrm>
      </p:grpSpPr>
      <p:sp>
        <p:nvSpPr>
          <p:cNvPr id="3" name="Text 3">
            <a:extLst>
              <a:ext uri="{FF2B5EF4-FFF2-40B4-BE49-F238E27FC236}">
                <a16:creationId xmlns:a16="http://schemas.microsoft.com/office/drawing/2014/main" id="{BDFCEF03-E019-F70F-64B8-1C9071FB3F23}"/>
              </a:ext>
            </a:extLst>
          </p:cNvPr>
          <p:cNvSpPr/>
          <p:nvPr/>
        </p:nvSpPr>
        <p:spPr>
          <a:xfrm>
            <a:off x="240962" y="1325880"/>
            <a:ext cx="9192111" cy="594360"/>
          </a:xfrm>
          <a:prstGeom prst="rect">
            <a:avLst/>
          </a:prstGeom>
          <a:noFill/>
          <a:ln/>
        </p:spPr>
        <p:txBody>
          <a:bodyPr wrap="square" lIns="0" tIns="0" rIns="0" bIns="0" rtlCol="0" anchor="ctr"/>
          <a:lstStyle/>
          <a:p>
            <a:pPr marL="0" indent="0" algn="l">
              <a:buNone/>
            </a:pPr>
            <a:r>
              <a:rPr lang="en-US" sz="2700" b="1" dirty="0">
                <a:solidFill>
                  <a:srgbClr val="BC312C"/>
                </a:solidFill>
                <a:latin typeface="Cambria" pitchFamily="34" charset="0"/>
                <a:ea typeface="Cambria" pitchFamily="34" charset="-122"/>
                <a:cs typeface="Cambria" pitchFamily="34" charset="-120"/>
              </a:rPr>
              <a:t>Scope of the Project</a:t>
            </a:r>
            <a:endParaRPr lang="en-US" sz="2700" dirty="0"/>
          </a:p>
        </p:txBody>
      </p:sp>
      <p:sp>
        <p:nvSpPr>
          <p:cNvPr id="5" name="Shape 4">
            <a:extLst>
              <a:ext uri="{FF2B5EF4-FFF2-40B4-BE49-F238E27FC236}">
                <a16:creationId xmlns:a16="http://schemas.microsoft.com/office/drawing/2014/main" id="{11186E34-1420-C9D9-F19F-2D9DA1EF957F}"/>
              </a:ext>
            </a:extLst>
          </p:cNvPr>
          <p:cNvSpPr/>
          <p:nvPr/>
        </p:nvSpPr>
        <p:spPr>
          <a:xfrm>
            <a:off x="240962" y="1938528"/>
            <a:ext cx="9192111" cy="0"/>
          </a:xfrm>
          <a:prstGeom prst="line">
            <a:avLst/>
          </a:prstGeom>
          <a:noFill/>
          <a:ln w="12700">
            <a:solidFill>
              <a:srgbClr val="E0DAD8"/>
            </a:solidFill>
            <a:prstDash val="solid"/>
          </a:ln>
        </p:spPr>
        <p:txBody>
          <a:bodyPr/>
          <a:lstStyle/>
          <a:p>
            <a:endParaRPr lang="en-IN"/>
          </a:p>
        </p:txBody>
      </p:sp>
      <p:sp>
        <p:nvSpPr>
          <p:cNvPr id="7" name="Text 5">
            <a:extLst>
              <a:ext uri="{FF2B5EF4-FFF2-40B4-BE49-F238E27FC236}">
                <a16:creationId xmlns:a16="http://schemas.microsoft.com/office/drawing/2014/main" id="{3AC13216-E833-945B-26AD-1751DBF481A1}"/>
              </a:ext>
            </a:extLst>
          </p:cNvPr>
          <p:cNvSpPr/>
          <p:nvPr/>
        </p:nvSpPr>
        <p:spPr>
          <a:xfrm>
            <a:off x="275171" y="2121408"/>
            <a:ext cx="4520710" cy="365760"/>
          </a:xfrm>
          <a:prstGeom prst="rect">
            <a:avLst/>
          </a:prstGeom>
          <a:noFill/>
          <a:ln/>
        </p:spPr>
        <p:txBody>
          <a:bodyPr wrap="square" lIns="0" tIns="0" rIns="0" bIns="0" rtlCol="0" anchor="ctr"/>
          <a:lstStyle/>
          <a:p>
            <a:pPr marL="0" indent="0">
              <a:buNone/>
            </a:pPr>
            <a:r>
              <a:rPr lang="en-US" sz="2400" b="1" dirty="0">
                <a:solidFill>
                  <a:srgbClr val="2F3C7E"/>
                </a:solidFill>
                <a:latin typeface="Calibri" pitchFamily="34" charset="0"/>
                <a:ea typeface="Calibri" pitchFamily="34" charset="-122"/>
                <a:cs typeface="Calibri" pitchFamily="34" charset="-120"/>
              </a:rPr>
              <a:t>In Scope (3 Months Build)</a:t>
            </a:r>
            <a:endParaRPr lang="en-US" sz="2400" dirty="0"/>
          </a:p>
        </p:txBody>
      </p:sp>
      <p:sp>
        <p:nvSpPr>
          <p:cNvPr id="9" name="Text 6">
            <a:extLst>
              <a:ext uri="{FF2B5EF4-FFF2-40B4-BE49-F238E27FC236}">
                <a16:creationId xmlns:a16="http://schemas.microsoft.com/office/drawing/2014/main" id="{D776297C-6C1F-3C91-F6A5-7E21799DAA5D}"/>
              </a:ext>
            </a:extLst>
          </p:cNvPr>
          <p:cNvSpPr/>
          <p:nvPr/>
        </p:nvSpPr>
        <p:spPr>
          <a:xfrm>
            <a:off x="5233239" y="2121408"/>
            <a:ext cx="4520710" cy="365760"/>
          </a:xfrm>
          <a:prstGeom prst="rect">
            <a:avLst/>
          </a:prstGeom>
          <a:noFill/>
          <a:ln/>
        </p:spPr>
        <p:txBody>
          <a:bodyPr wrap="square" lIns="0" tIns="0" rIns="0" bIns="0" rtlCol="0" anchor="ctr"/>
          <a:lstStyle/>
          <a:p>
            <a:pPr marL="0" indent="0">
              <a:buNone/>
            </a:pPr>
            <a:r>
              <a:rPr lang="en-US" sz="2400" b="1" dirty="0">
                <a:solidFill>
                  <a:schemeClr val="bg2"/>
                </a:solidFill>
                <a:latin typeface="Calibri" pitchFamily="34" charset="0"/>
                <a:ea typeface="Calibri" pitchFamily="34" charset="-122"/>
                <a:cs typeface="Calibri" pitchFamily="34" charset="-120"/>
              </a:rPr>
              <a:t>Out of Scope (This Phase)</a:t>
            </a:r>
            <a:endParaRPr lang="en-US" sz="2400" dirty="0">
              <a:solidFill>
                <a:schemeClr val="bg2"/>
              </a:solidFill>
            </a:endParaRPr>
          </a:p>
        </p:txBody>
      </p:sp>
      <p:sp>
        <p:nvSpPr>
          <p:cNvPr id="11" name="Shape 7">
            <a:extLst>
              <a:ext uri="{FF2B5EF4-FFF2-40B4-BE49-F238E27FC236}">
                <a16:creationId xmlns:a16="http://schemas.microsoft.com/office/drawing/2014/main" id="{DA90CEFB-5B91-8B5F-9CB0-8B7DCBBF4AA1}"/>
              </a:ext>
            </a:extLst>
          </p:cNvPr>
          <p:cNvSpPr/>
          <p:nvPr/>
        </p:nvSpPr>
        <p:spPr>
          <a:xfrm>
            <a:off x="132155" y="2651199"/>
            <a:ext cx="90414" cy="109728"/>
          </a:xfrm>
          <a:prstGeom prst="ellipse">
            <a:avLst/>
          </a:prstGeom>
          <a:solidFill>
            <a:srgbClr val="BC312C"/>
          </a:solidFill>
          <a:ln/>
        </p:spPr>
        <p:txBody>
          <a:bodyPr/>
          <a:lstStyle/>
          <a:p>
            <a:endParaRPr lang="en-IN"/>
          </a:p>
        </p:txBody>
      </p:sp>
      <p:sp>
        <p:nvSpPr>
          <p:cNvPr id="13" name="Text 8">
            <a:extLst>
              <a:ext uri="{FF2B5EF4-FFF2-40B4-BE49-F238E27FC236}">
                <a16:creationId xmlns:a16="http://schemas.microsoft.com/office/drawing/2014/main" id="{CC2D28A1-A155-3CF9-B7AF-A1C442037D9B}"/>
              </a:ext>
            </a:extLst>
          </p:cNvPr>
          <p:cNvSpPr/>
          <p:nvPr/>
        </p:nvSpPr>
        <p:spPr>
          <a:xfrm>
            <a:off x="535054" y="2569464"/>
            <a:ext cx="3990408" cy="530352"/>
          </a:xfrm>
          <a:prstGeom prst="rect">
            <a:avLst/>
          </a:prstGeom>
          <a:noFill/>
          <a:ln/>
        </p:spPr>
        <p:txBody>
          <a:bodyPr wrap="square" lIns="0" tIns="0" rIns="0" bIns="0" rtlCol="0" anchor="t"/>
          <a:lstStyle/>
          <a:p>
            <a:pPr marL="0" indent="0">
              <a:lnSpc>
                <a:spcPct val="108000"/>
              </a:lnSpc>
              <a:buNone/>
            </a:pPr>
            <a:r>
              <a:rPr lang="en-US" sz="1600" dirty="0">
                <a:solidFill>
                  <a:srgbClr val="262626"/>
                </a:solidFill>
                <a:latin typeface="Calibri" pitchFamily="34" charset="0"/>
                <a:ea typeface="Calibri" pitchFamily="34" charset="-122"/>
                <a:cs typeface="Calibri" pitchFamily="34" charset="-120"/>
              </a:rPr>
              <a:t>Single-location small food businesses (cafe / bakery / restaurant)</a:t>
            </a:r>
            <a:endParaRPr lang="en-US" sz="1600" dirty="0"/>
          </a:p>
        </p:txBody>
      </p:sp>
      <p:sp>
        <p:nvSpPr>
          <p:cNvPr id="15" name="Shape 9">
            <a:extLst>
              <a:ext uri="{FF2B5EF4-FFF2-40B4-BE49-F238E27FC236}">
                <a16:creationId xmlns:a16="http://schemas.microsoft.com/office/drawing/2014/main" id="{4BA02C49-B130-FF25-8E26-EE519C7DDB98}"/>
              </a:ext>
            </a:extLst>
          </p:cNvPr>
          <p:cNvSpPr/>
          <p:nvPr/>
        </p:nvSpPr>
        <p:spPr>
          <a:xfrm>
            <a:off x="132155" y="3292775"/>
            <a:ext cx="90414" cy="109728"/>
          </a:xfrm>
          <a:prstGeom prst="ellipse">
            <a:avLst/>
          </a:prstGeom>
          <a:solidFill>
            <a:srgbClr val="BC312C"/>
          </a:solidFill>
          <a:ln/>
        </p:spPr>
        <p:txBody>
          <a:bodyPr/>
          <a:lstStyle/>
          <a:p>
            <a:endParaRPr lang="en-IN"/>
          </a:p>
        </p:txBody>
      </p:sp>
      <p:sp>
        <p:nvSpPr>
          <p:cNvPr id="17" name="Text 10">
            <a:extLst>
              <a:ext uri="{FF2B5EF4-FFF2-40B4-BE49-F238E27FC236}">
                <a16:creationId xmlns:a16="http://schemas.microsoft.com/office/drawing/2014/main" id="{05583CBF-A46D-0050-80BE-A791EE859B53}"/>
              </a:ext>
            </a:extLst>
          </p:cNvPr>
          <p:cNvSpPr/>
          <p:nvPr/>
        </p:nvSpPr>
        <p:spPr>
          <a:xfrm>
            <a:off x="535054" y="3211040"/>
            <a:ext cx="3990408" cy="530352"/>
          </a:xfrm>
          <a:prstGeom prst="rect">
            <a:avLst/>
          </a:prstGeom>
          <a:noFill/>
          <a:ln/>
        </p:spPr>
        <p:txBody>
          <a:bodyPr wrap="square" lIns="0" tIns="0" rIns="0" bIns="0" rtlCol="0" anchor="t"/>
          <a:lstStyle/>
          <a:p>
            <a:pPr marL="0" indent="0">
              <a:lnSpc>
                <a:spcPct val="108000"/>
              </a:lnSpc>
              <a:buNone/>
            </a:pPr>
            <a:r>
              <a:rPr lang="en-US" sz="1600" dirty="0">
                <a:solidFill>
                  <a:srgbClr val="262626"/>
                </a:solidFill>
                <a:latin typeface="Calibri" pitchFamily="34" charset="0"/>
                <a:ea typeface="Calibri" pitchFamily="34" charset="-122"/>
                <a:cs typeface="Calibri" pitchFamily="34" charset="-120"/>
              </a:rPr>
              <a:t>Daily-level demand forecasting per menu item</a:t>
            </a:r>
            <a:endParaRPr lang="en-US" sz="1600" dirty="0"/>
          </a:p>
        </p:txBody>
      </p:sp>
      <p:sp>
        <p:nvSpPr>
          <p:cNvPr id="19" name="Shape 11">
            <a:extLst>
              <a:ext uri="{FF2B5EF4-FFF2-40B4-BE49-F238E27FC236}">
                <a16:creationId xmlns:a16="http://schemas.microsoft.com/office/drawing/2014/main" id="{73A6D0FF-3D89-26D1-A870-633B1ABAC005}"/>
              </a:ext>
            </a:extLst>
          </p:cNvPr>
          <p:cNvSpPr/>
          <p:nvPr/>
        </p:nvSpPr>
        <p:spPr>
          <a:xfrm>
            <a:off x="132155" y="3785055"/>
            <a:ext cx="90414" cy="109728"/>
          </a:xfrm>
          <a:prstGeom prst="ellipse">
            <a:avLst/>
          </a:prstGeom>
          <a:solidFill>
            <a:srgbClr val="BC312C"/>
          </a:solidFill>
          <a:ln/>
        </p:spPr>
        <p:txBody>
          <a:bodyPr/>
          <a:lstStyle/>
          <a:p>
            <a:endParaRPr lang="en-IN"/>
          </a:p>
        </p:txBody>
      </p:sp>
      <p:sp>
        <p:nvSpPr>
          <p:cNvPr id="21" name="Text 12">
            <a:extLst>
              <a:ext uri="{FF2B5EF4-FFF2-40B4-BE49-F238E27FC236}">
                <a16:creationId xmlns:a16="http://schemas.microsoft.com/office/drawing/2014/main" id="{E4DA7081-9A26-9A2D-A0B2-3AE10E54AFB0}"/>
              </a:ext>
            </a:extLst>
          </p:cNvPr>
          <p:cNvSpPr/>
          <p:nvPr/>
        </p:nvSpPr>
        <p:spPr>
          <a:xfrm>
            <a:off x="535054" y="3703320"/>
            <a:ext cx="3990408" cy="530352"/>
          </a:xfrm>
          <a:prstGeom prst="rect">
            <a:avLst/>
          </a:prstGeom>
          <a:noFill/>
          <a:ln/>
        </p:spPr>
        <p:txBody>
          <a:bodyPr wrap="square" lIns="0" tIns="0" rIns="0" bIns="0" rtlCol="0" anchor="t"/>
          <a:lstStyle/>
          <a:p>
            <a:pPr marL="0" indent="0">
              <a:lnSpc>
                <a:spcPct val="108000"/>
              </a:lnSpc>
              <a:buNone/>
            </a:pPr>
            <a:r>
              <a:rPr lang="en-US" sz="1600" dirty="0">
                <a:solidFill>
                  <a:srgbClr val="262626"/>
                </a:solidFill>
                <a:latin typeface="Calibri" pitchFamily="34" charset="0"/>
                <a:ea typeface="Calibri" pitchFamily="34" charset="-122"/>
                <a:cs typeface="Calibri" pitchFamily="34" charset="-120"/>
              </a:rPr>
              <a:t>Weather and public-holiday external regressors</a:t>
            </a:r>
            <a:endParaRPr lang="en-US" sz="1600" dirty="0"/>
          </a:p>
        </p:txBody>
      </p:sp>
      <p:sp>
        <p:nvSpPr>
          <p:cNvPr id="23" name="Shape 13">
            <a:extLst>
              <a:ext uri="{FF2B5EF4-FFF2-40B4-BE49-F238E27FC236}">
                <a16:creationId xmlns:a16="http://schemas.microsoft.com/office/drawing/2014/main" id="{EBC26AFF-6CFE-8B87-A56C-614BF08C3551}"/>
              </a:ext>
            </a:extLst>
          </p:cNvPr>
          <p:cNvSpPr/>
          <p:nvPr/>
        </p:nvSpPr>
        <p:spPr>
          <a:xfrm>
            <a:off x="132155" y="4314659"/>
            <a:ext cx="90414" cy="109728"/>
          </a:xfrm>
          <a:prstGeom prst="ellipse">
            <a:avLst/>
          </a:prstGeom>
          <a:solidFill>
            <a:srgbClr val="BC312C"/>
          </a:solidFill>
          <a:ln/>
        </p:spPr>
        <p:txBody>
          <a:bodyPr/>
          <a:lstStyle/>
          <a:p>
            <a:endParaRPr lang="en-IN"/>
          </a:p>
        </p:txBody>
      </p:sp>
      <p:sp>
        <p:nvSpPr>
          <p:cNvPr id="25" name="Text 14">
            <a:extLst>
              <a:ext uri="{FF2B5EF4-FFF2-40B4-BE49-F238E27FC236}">
                <a16:creationId xmlns:a16="http://schemas.microsoft.com/office/drawing/2014/main" id="{2D5BE1AE-0B76-199A-6C17-9461978D5222}"/>
              </a:ext>
            </a:extLst>
          </p:cNvPr>
          <p:cNvSpPr/>
          <p:nvPr/>
        </p:nvSpPr>
        <p:spPr>
          <a:xfrm>
            <a:off x="535054" y="4232924"/>
            <a:ext cx="3990408" cy="530352"/>
          </a:xfrm>
          <a:prstGeom prst="rect">
            <a:avLst/>
          </a:prstGeom>
          <a:noFill/>
          <a:ln/>
        </p:spPr>
        <p:txBody>
          <a:bodyPr wrap="square" lIns="0" tIns="0" rIns="0" bIns="0" rtlCol="0" anchor="t"/>
          <a:lstStyle/>
          <a:p>
            <a:pPr marL="0" indent="0">
              <a:lnSpc>
                <a:spcPct val="108000"/>
              </a:lnSpc>
              <a:buNone/>
            </a:pPr>
            <a:r>
              <a:rPr lang="en-US" sz="1600" dirty="0">
                <a:solidFill>
                  <a:srgbClr val="262626"/>
                </a:solidFill>
                <a:latin typeface="Calibri" pitchFamily="34" charset="0"/>
                <a:ea typeface="Calibri" pitchFamily="34" charset="-122"/>
                <a:cs typeface="Calibri" pitchFamily="34" charset="-120"/>
              </a:rPr>
              <a:t>Restock recommendation logic with safety-stock buffer</a:t>
            </a:r>
            <a:endParaRPr lang="en-US" sz="1600" dirty="0"/>
          </a:p>
        </p:txBody>
      </p:sp>
      <p:sp>
        <p:nvSpPr>
          <p:cNvPr id="27" name="Shape 15">
            <a:extLst>
              <a:ext uri="{FF2B5EF4-FFF2-40B4-BE49-F238E27FC236}">
                <a16:creationId xmlns:a16="http://schemas.microsoft.com/office/drawing/2014/main" id="{831DF2B3-D03A-D0AF-C394-61F4462FF6AE}"/>
              </a:ext>
            </a:extLst>
          </p:cNvPr>
          <p:cNvSpPr/>
          <p:nvPr/>
        </p:nvSpPr>
        <p:spPr>
          <a:xfrm>
            <a:off x="132155" y="4918911"/>
            <a:ext cx="90414" cy="109728"/>
          </a:xfrm>
          <a:prstGeom prst="ellipse">
            <a:avLst/>
          </a:prstGeom>
          <a:solidFill>
            <a:srgbClr val="BC312C"/>
          </a:solidFill>
          <a:ln/>
        </p:spPr>
        <p:txBody>
          <a:bodyPr/>
          <a:lstStyle/>
          <a:p>
            <a:endParaRPr lang="en-IN"/>
          </a:p>
        </p:txBody>
      </p:sp>
      <p:sp>
        <p:nvSpPr>
          <p:cNvPr id="29" name="Text 16">
            <a:extLst>
              <a:ext uri="{FF2B5EF4-FFF2-40B4-BE49-F238E27FC236}">
                <a16:creationId xmlns:a16="http://schemas.microsoft.com/office/drawing/2014/main" id="{3F587695-AB73-CBED-D5A2-37B83EE3A07A}"/>
              </a:ext>
            </a:extLst>
          </p:cNvPr>
          <p:cNvSpPr/>
          <p:nvPr/>
        </p:nvSpPr>
        <p:spPr>
          <a:xfrm>
            <a:off x="549490" y="4837176"/>
            <a:ext cx="4200427" cy="530352"/>
          </a:xfrm>
          <a:prstGeom prst="rect">
            <a:avLst/>
          </a:prstGeom>
          <a:noFill/>
          <a:ln/>
        </p:spPr>
        <p:txBody>
          <a:bodyPr wrap="square" lIns="0" tIns="0" rIns="0" bIns="0" rtlCol="0" anchor="t"/>
          <a:lstStyle/>
          <a:p>
            <a:pPr marL="0" indent="0">
              <a:lnSpc>
                <a:spcPct val="108000"/>
              </a:lnSpc>
              <a:buNone/>
            </a:pPr>
            <a:r>
              <a:rPr lang="en-US" sz="1600" dirty="0">
                <a:solidFill>
                  <a:srgbClr val="262626"/>
                </a:solidFill>
                <a:latin typeface="Calibri" pitchFamily="34" charset="0"/>
                <a:ea typeface="Calibri" pitchFamily="34" charset="-122"/>
                <a:cs typeface="Calibri" pitchFamily="34" charset="-120"/>
              </a:rPr>
              <a:t>Flutter mobile app for input and recommendation display</a:t>
            </a:r>
            <a:endParaRPr lang="en-US" sz="1600" dirty="0"/>
          </a:p>
        </p:txBody>
      </p:sp>
      <p:sp>
        <p:nvSpPr>
          <p:cNvPr id="31" name="Shape 17">
            <a:extLst>
              <a:ext uri="{FF2B5EF4-FFF2-40B4-BE49-F238E27FC236}">
                <a16:creationId xmlns:a16="http://schemas.microsoft.com/office/drawing/2014/main" id="{4395BCCD-B94C-9119-3039-31C8A2587D9F}"/>
              </a:ext>
            </a:extLst>
          </p:cNvPr>
          <p:cNvSpPr/>
          <p:nvPr/>
        </p:nvSpPr>
        <p:spPr>
          <a:xfrm>
            <a:off x="132155" y="5485839"/>
            <a:ext cx="90414" cy="109728"/>
          </a:xfrm>
          <a:prstGeom prst="ellipse">
            <a:avLst/>
          </a:prstGeom>
          <a:solidFill>
            <a:srgbClr val="BC312C"/>
          </a:solidFill>
          <a:ln/>
        </p:spPr>
        <p:txBody>
          <a:bodyPr/>
          <a:lstStyle/>
          <a:p>
            <a:endParaRPr lang="en-IN"/>
          </a:p>
        </p:txBody>
      </p:sp>
      <p:sp>
        <p:nvSpPr>
          <p:cNvPr id="33" name="Text 18">
            <a:extLst>
              <a:ext uri="{FF2B5EF4-FFF2-40B4-BE49-F238E27FC236}">
                <a16:creationId xmlns:a16="http://schemas.microsoft.com/office/drawing/2014/main" id="{1B47DFE6-1124-BE85-4E65-4617D179135B}"/>
              </a:ext>
            </a:extLst>
          </p:cNvPr>
          <p:cNvSpPr/>
          <p:nvPr/>
        </p:nvSpPr>
        <p:spPr>
          <a:xfrm>
            <a:off x="544571" y="5404104"/>
            <a:ext cx="4128866" cy="530352"/>
          </a:xfrm>
          <a:prstGeom prst="rect">
            <a:avLst/>
          </a:prstGeom>
          <a:noFill/>
          <a:ln/>
        </p:spPr>
        <p:txBody>
          <a:bodyPr wrap="square" lIns="0" tIns="0" rIns="0" bIns="0" rtlCol="0" anchor="t"/>
          <a:lstStyle/>
          <a:p>
            <a:pPr marL="0" indent="0">
              <a:lnSpc>
                <a:spcPct val="108000"/>
              </a:lnSpc>
              <a:buNone/>
            </a:pPr>
            <a:r>
              <a:rPr lang="en-US" sz="1600" dirty="0">
                <a:solidFill>
                  <a:srgbClr val="262626"/>
                </a:solidFill>
                <a:latin typeface="Calibri" pitchFamily="34" charset="0"/>
                <a:ea typeface="Calibri" pitchFamily="34" charset="-122"/>
                <a:cs typeface="Calibri" pitchFamily="34" charset="-120"/>
              </a:rPr>
              <a:t>Evaluation on public SME-representative datasets (French Bakery, Rossmann)</a:t>
            </a:r>
            <a:endParaRPr lang="en-US" sz="1600" dirty="0"/>
          </a:p>
        </p:txBody>
      </p:sp>
      <p:sp>
        <p:nvSpPr>
          <p:cNvPr id="35" name="Shape 19">
            <a:extLst>
              <a:ext uri="{FF2B5EF4-FFF2-40B4-BE49-F238E27FC236}">
                <a16:creationId xmlns:a16="http://schemas.microsoft.com/office/drawing/2014/main" id="{6084FC5E-9066-B78E-6A90-077F60C54014}"/>
              </a:ext>
            </a:extLst>
          </p:cNvPr>
          <p:cNvSpPr/>
          <p:nvPr/>
        </p:nvSpPr>
        <p:spPr>
          <a:xfrm>
            <a:off x="5070730" y="2660530"/>
            <a:ext cx="90414" cy="109728"/>
          </a:xfrm>
          <a:prstGeom prst="ellipse">
            <a:avLst/>
          </a:prstGeom>
          <a:solidFill>
            <a:srgbClr val="6B6B6B"/>
          </a:solidFill>
          <a:ln/>
        </p:spPr>
        <p:txBody>
          <a:bodyPr/>
          <a:lstStyle/>
          <a:p>
            <a:endParaRPr lang="en-IN"/>
          </a:p>
        </p:txBody>
      </p:sp>
      <p:sp>
        <p:nvSpPr>
          <p:cNvPr id="37" name="Text 20">
            <a:extLst>
              <a:ext uri="{FF2B5EF4-FFF2-40B4-BE49-F238E27FC236}">
                <a16:creationId xmlns:a16="http://schemas.microsoft.com/office/drawing/2014/main" id="{252610E4-D02F-45FA-B460-8CF32DE7BA8D}"/>
              </a:ext>
            </a:extLst>
          </p:cNvPr>
          <p:cNvSpPr/>
          <p:nvPr/>
        </p:nvSpPr>
        <p:spPr>
          <a:xfrm>
            <a:off x="5418476" y="2569464"/>
            <a:ext cx="4294675" cy="530352"/>
          </a:xfrm>
          <a:prstGeom prst="rect">
            <a:avLst/>
          </a:prstGeom>
          <a:noFill/>
          <a:ln/>
        </p:spPr>
        <p:txBody>
          <a:bodyPr wrap="square" lIns="0" tIns="0" rIns="0" bIns="0" rtlCol="0" anchor="t"/>
          <a:lstStyle/>
          <a:p>
            <a:pPr marL="0" indent="0">
              <a:lnSpc>
                <a:spcPct val="108000"/>
              </a:lnSpc>
              <a:buNone/>
            </a:pPr>
            <a:r>
              <a:rPr lang="en-US" sz="1600" dirty="0">
                <a:solidFill>
                  <a:srgbClr val="262626"/>
                </a:solidFill>
                <a:latin typeface="Calibri" pitchFamily="34" charset="0"/>
                <a:ea typeface="Calibri" pitchFamily="34" charset="-122"/>
                <a:cs typeface="Calibri" pitchFamily="34" charset="-120"/>
              </a:rPr>
              <a:t>Multi-outlet or chain-wide forecasting</a:t>
            </a:r>
            <a:endParaRPr lang="en-US" sz="1600" dirty="0"/>
          </a:p>
        </p:txBody>
      </p:sp>
      <p:sp>
        <p:nvSpPr>
          <p:cNvPr id="39" name="Shape 21">
            <a:extLst>
              <a:ext uri="{FF2B5EF4-FFF2-40B4-BE49-F238E27FC236}">
                <a16:creationId xmlns:a16="http://schemas.microsoft.com/office/drawing/2014/main" id="{B616014C-F32D-7004-DE87-804AD62B12E6}"/>
              </a:ext>
            </a:extLst>
          </p:cNvPr>
          <p:cNvSpPr/>
          <p:nvPr/>
        </p:nvSpPr>
        <p:spPr>
          <a:xfrm>
            <a:off x="5070730" y="3152810"/>
            <a:ext cx="90414" cy="109728"/>
          </a:xfrm>
          <a:prstGeom prst="ellipse">
            <a:avLst/>
          </a:prstGeom>
          <a:solidFill>
            <a:srgbClr val="6B6B6B"/>
          </a:solidFill>
          <a:ln/>
        </p:spPr>
        <p:txBody>
          <a:bodyPr/>
          <a:lstStyle/>
          <a:p>
            <a:endParaRPr lang="en-IN"/>
          </a:p>
        </p:txBody>
      </p:sp>
      <p:sp>
        <p:nvSpPr>
          <p:cNvPr id="41" name="Text 22">
            <a:extLst>
              <a:ext uri="{FF2B5EF4-FFF2-40B4-BE49-F238E27FC236}">
                <a16:creationId xmlns:a16="http://schemas.microsoft.com/office/drawing/2014/main" id="{F4CDE7E1-F90B-E302-49E4-B45CCF1F926E}"/>
              </a:ext>
            </a:extLst>
          </p:cNvPr>
          <p:cNvSpPr/>
          <p:nvPr/>
        </p:nvSpPr>
        <p:spPr>
          <a:xfrm>
            <a:off x="5418476" y="3080406"/>
            <a:ext cx="4294675" cy="530352"/>
          </a:xfrm>
          <a:prstGeom prst="rect">
            <a:avLst/>
          </a:prstGeom>
          <a:noFill/>
          <a:ln/>
        </p:spPr>
        <p:txBody>
          <a:bodyPr wrap="square" lIns="0" tIns="0" rIns="0" bIns="0" rtlCol="0" anchor="t"/>
          <a:lstStyle/>
          <a:p>
            <a:pPr marL="0" indent="0">
              <a:lnSpc>
                <a:spcPct val="108000"/>
              </a:lnSpc>
              <a:buNone/>
            </a:pPr>
            <a:r>
              <a:rPr lang="en-US" sz="1600" dirty="0">
                <a:solidFill>
                  <a:srgbClr val="262626"/>
                </a:solidFill>
                <a:latin typeface="Calibri" pitchFamily="34" charset="0"/>
                <a:ea typeface="Calibri" pitchFamily="34" charset="-122"/>
                <a:cs typeface="Calibri" pitchFamily="34" charset="-120"/>
              </a:rPr>
              <a:t>Live POS or IoT hardware integration</a:t>
            </a:r>
            <a:endParaRPr lang="en-US" sz="1600" dirty="0"/>
          </a:p>
        </p:txBody>
      </p:sp>
      <p:sp>
        <p:nvSpPr>
          <p:cNvPr id="43" name="Shape 23">
            <a:extLst>
              <a:ext uri="{FF2B5EF4-FFF2-40B4-BE49-F238E27FC236}">
                <a16:creationId xmlns:a16="http://schemas.microsoft.com/office/drawing/2014/main" id="{873478B6-32AF-E81E-86C3-10D0BB3363E1}"/>
              </a:ext>
            </a:extLst>
          </p:cNvPr>
          <p:cNvSpPr/>
          <p:nvPr/>
        </p:nvSpPr>
        <p:spPr>
          <a:xfrm>
            <a:off x="5070730" y="3710407"/>
            <a:ext cx="90414" cy="109728"/>
          </a:xfrm>
          <a:prstGeom prst="ellipse">
            <a:avLst/>
          </a:prstGeom>
          <a:solidFill>
            <a:srgbClr val="6B6B6B"/>
          </a:solidFill>
          <a:ln/>
        </p:spPr>
        <p:txBody>
          <a:bodyPr/>
          <a:lstStyle/>
          <a:p>
            <a:endParaRPr lang="en-IN"/>
          </a:p>
        </p:txBody>
      </p:sp>
      <p:sp>
        <p:nvSpPr>
          <p:cNvPr id="45" name="Text 24">
            <a:extLst>
              <a:ext uri="{FF2B5EF4-FFF2-40B4-BE49-F238E27FC236}">
                <a16:creationId xmlns:a16="http://schemas.microsoft.com/office/drawing/2014/main" id="{B7533885-321D-4CCD-E84C-0DBF4791DA2A}"/>
              </a:ext>
            </a:extLst>
          </p:cNvPr>
          <p:cNvSpPr/>
          <p:nvPr/>
        </p:nvSpPr>
        <p:spPr>
          <a:xfrm>
            <a:off x="5418476" y="3619341"/>
            <a:ext cx="3837489" cy="530352"/>
          </a:xfrm>
          <a:prstGeom prst="rect">
            <a:avLst/>
          </a:prstGeom>
          <a:noFill/>
          <a:ln/>
        </p:spPr>
        <p:txBody>
          <a:bodyPr wrap="square" lIns="0" tIns="0" rIns="0" bIns="0" rtlCol="0" anchor="t"/>
          <a:lstStyle/>
          <a:p>
            <a:pPr marL="0" indent="0">
              <a:lnSpc>
                <a:spcPct val="108000"/>
              </a:lnSpc>
              <a:buNone/>
            </a:pPr>
            <a:r>
              <a:rPr lang="en-US" sz="1600" dirty="0">
                <a:solidFill>
                  <a:srgbClr val="262626"/>
                </a:solidFill>
                <a:latin typeface="Calibri" pitchFamily="34" charset="0"/>
                <a:ea typeface="Calibri" pitchFamily="34" charset="-122"/>
                <a:cs typeface="Calibri" pitchFamily="34" charset="-120"/>
              </a:rPr>
              <a:t>Real-time deployment at an actual operating business</a:t>
            </a:r>
            <a:endParaRPr lang="en-US" sz="1600" dirty="0"/>
          </a:p>
        </p:txBody>
      </p:sp>
      <p:sp>
        <p:nvSpPr>
          <p:cNvPr id="47" name="Shape 25">
            <a:extLst>
              <a:ext uri="{FF2B5EF4-FFF2-40B4-BE49-F238E27FC236}">
                <a16:creationId xmlns:a16="http://schemas.microsoft.com/office/drawing/2014/main" id="{F35211C2-8A24-4EA4-E859-BF39FF1D1CBA}"/>
              </a:ext>
            </a:extLst>
          </p:cNvPr>
          <p:cNvSpPr/>
          <p:nvPr/>
        </p:nvSpPr>
        <p:spPr>
          <a:xfrm>
            <a:off x="5070730" y="4398638"/>
            <a:ext cx="90414" cy="109728"/>
          </a:xfrm>
          <a:prstGeom prst="ellipse">
            <a:avLst/>
          </a:prstGeom>
          <a:solidFill>
            <a:srgbClr val="6B6B6B"/>
          </a:solidFill>
          <a:ln/>
        </p:spPr>
        <p:txBody>
          <a:bodyPr/>
          <a:lstStyle/>
          <a:p>
            <a:endParaRPr lang="en-IN"/>
          </a:p>
        </p:txBody>
      </p:sp>
      <p:sp>
        <p:nvSpPr>
          <p:cNvPr id="49" name="Text 26">
            <a:extLst>
              <a:ext uri="{FF2B5EF4-FFF2-40B4-BE49-F238E27FC236}">
                <a16:creationId xmlns:a16="http://schemas.microsoft.com/office/drawing/2014/main" id="{A3B92275-7D2F-6D84-41CD-1ACE5BDFB954}"/>
              </a:ext>
            </a:extLst>
          </p:cNvPr>
          <p:cNvSpPr/>
          <p:nvPr/>
        </p:nvSpPr>
        <p:spPr>
          <a:xfrm>
            <a:off x="5418475" y="4321006"/>
            <a:ext cx="4294675" cy="530352"/>
          </a:xfrm>
          <a:prstGeom prst="rect">
            <a:avLst/>
          </a:prstGeom>
          <a:noFill/>
          <a:ln/>
        </p:spPr>
        <p:txBody>
          <a:bodyPr wrap="square" lIns="0" tIns="0" rIns="0" bIns="0" rtlCol="0" anchor="t"/>
          <a:lstStyle/>
          <a:p>
            <a:pPr marL="0" indent="0">
              <a:lnSpc>
                <a:spcPct val="108000"/>
              </a:lnSpc>
              <a:buNone/>
            </a:pPr>
            <a:r>
              <a:rPr lang="en-US" sz="1600" dirty="0">
                <a:solidFill>
                  <a:srgbClr val="262626"/>
                </a:solidFill>
                <a:latin typeface="Calibri" pitchFamily="34" charset="0"/>
                <a:ea typeface="Calibri" pitchFamily="34" charset="-122"/>
                <a:cs typeface="Calibri" pitchFamily="34" charset="-120"/>
              </a:rPr>
              <a:t>Hourly-granularity forecasting</a:t>
            </a:r>
            <a:endParaRPr lang="en-US" sz="1600" dirty="0"/>
          </a:p>
        </p:txBody>
      </p:sp>
      <p:sp>
        <p:nvSpPr>
          <p:cNvPr id="51" name="Shape 27">
            <a:extLst>
              <a:ext uri="{FF2B5EF4-FFF2-40B4-BE49-F238E27FC236}">
                <a16:creationId xmlns:a16="http://schemas.microsoft.com/office/drawing/2014/main" id="{767A8181-7684-1903-CB33-56695A8D1376}"/>
              </a:ext>
            </a:extLst>
          </p:cNvPr>
          <p:cNvSpPr/>
          <p:nvPr/>
        </p:nvSpPr>
        <p:spPr>
          <a:xfrm>
            <a:off x="5070730" y="4853594"/>
            <a:ext cx="90414" cy="109728"/>
          </a:xfrm>
          <a:prstGeom prst="ellipse">
            <a:avLst/>
          </a:prstGeom>
          <a:solidFill>
            <a:srgbClr val="6B6B6B"/>
          </a:solidFill>
          <a:ln/>
        </p:spPr>
        <p:txBody>
          <a:bodyPr/>
          <a:lstStyle/>
          <a:p>
            <a:endParaRPr lang="en-IN"/>
          </a:p>
        </p:txBody>
      </p:sp>
      <p:sp>
        <p:nvSpPr>
          <p:cNvPr id="53" name="Text 28">
            <a:extLst>
              <a:ext uri="{FF2B5EF4-FFF2-40B4-BE49-F238E27FC236}">
                <a16:creationId xmlns:a16="http://schemas.microsoft.com/office/drawing/2014/main" id="{4103CAFC-7DE9-9ABD-AF13-82F6EBE44B27}"/>
              </a:ext>
            </a:extLst>
          </p:cNvPr>
          <p:cNvSpPr/>
          <p:nvPr/>
        </p:nvSpPr>
        <p:spPr>
          <a:xfrm>
            <a:off x="5418477" y="4771859"/>
            <a:ext cx="3593368" cy="530352"/>
          </a:xfrm>
          <a:prstGeom prst="rect">
            <a:avLst/>
          </a:prstGeom>
          <a:noFill/>
          <a:ln/>
        </p:spPr>
        <p:txBody>
          <a:bodyPr wrap="square" lIns="0" tIns="0" rIns="0" bIns="0" rtlCol="0" anchor="t"/>
          <a:lstStyle/>
          <a:p>
            <a:pPr marL="0" indent="0">
              <a:lnSpc>
                <a:spcPct val="108000"/>
              </a:lnSpc>
              <a:buNone/>
            </a:pPr>
            <a:r>
              <a:rPr lang="en-IN" sz="1600" dirty="0">
                <a:latin typeface="Calibri" panose="020F0502020204030204" pitchFamily="34" charset="0"/>
                <a:ea typeface="Calibri" panose="020F0502020204030204" pitchFamily="34" charset="0"/>
                <a:cs typeface="Calibri" panose="020F0502020204030204" pitchFamily="34" charset="0"/>
              </a:rPr>
              <a:t>Interactive Generative-AI / back-and-forth chatbot (We are using a one-way LLM narrator, not a conversational bot)</a:t>
            </a:r>
            <a:endParaRPr lang="en-US" sz="1600" dirty="0">
              <a:latin typeface="Calibri" panose="020F0502020204030204" pitchFamily="34" charset="0"/>
              <a:ea typeface="Calibri" panose="020F0502020204030204" pitchFamily="34" charset="0"/>
              <a:cs typeface="Calibri" panose="020F0502020204030204" pitchFamily="34" charset="0"/>
            </a:endParaRPr>
          </a:p>
        </p:txBody>
      </p:sp>
      <p:sp>
        <p:nvSpPr>
          <p:cNvPr id="55" name="Shape 29">
            <a:extLst>
              <a:ext uri="{FF2B5EF4-FFF2-40B4-BE49-F238E27FC236}">
                <a16:creationId xmlns:a16="http://schemas.microsoft.com/office/drawing/2014/main" id="{AB95688A-7830-F207-0399-9B76E6E07AD9}"/>
              </a:ext>
            </a:extLst>
          </p:cNvPr>
          <p:cNvSpPr/>
          <p:nvPr/>
        </p:nvSpPr>
        <p:spPr>
          <a:xfrm>
            <a:off x="5070730" y="5784426"/>
            <a:ext cx="90414" cy="109728"/>
          </a:xfrm>
          <a:prstGeom prst="ellipse">
            <a:avLst/>
          </a:prstGeom>
          <a:solidFill>
            <a:srgbClr val="6B6B6B"/>
          </a:solidFill>
          <a:ln/>
        </p:spPr>
        <p:txBody>
          <a:bodyPr/>
          <a:lstStyle/>
          <a:p>
            <a:endParaRPr lang="en-IN"/>
          </a:p>
        </p:txBody>
      </p:sp>
      <p:sp>
        <p:nvSpPr>
          <p:cNvPr id="57" name="Text 30">
            <a:extLst>
              <a:ext uri="{FF2B5EF4-FFF2-40B4-BE49-F238E27FC236}">
                <a16:creationId xmlns:a16="http://schemas.microsoft.com/office/drawing/2014/main" id="{1C9CCA96-357B-3157-F854-BA931B98BEDA}"/>
              </a:ext>
            </a:extLst>
          </p:cNvPr>
          <p:cNvSpPr/>
          <p:nvPr/>
        </p:nvSpPr>
        <p:spPr>
          <a:xfrm>
            <a:off x="5418474" y="5751576"/>
            <a:ext cx="4294675" cy="530352"/>
          </a:xfrm>
          <a:prstGeom prst="rect">
            <a:avLst/>
          </a:prstGeom>
          <a:noFill/>
          <a:ln/>
        </p:spPr>
        <p:txBody>
          <a:bodyPr wrap="square" lIns="0" tIns="0" rIns="0" bIns="0" rtlCol="0" anchor="t"/>
          <a:lstStyle/>
          <a:p>
            <a:pPr marL="0" indent="0">
              <a:lnSpc>
                <a:spcPct val="108000"/>
              </a:lnSpc>
              <a:buNone/>
            </a:pPr>
            <a:r>
              <a:rPr lang="en-US" sz="1600" dirty="0">
                <a:solidFill>
                  <a:srgbClr val="262626"/>
                </a:solidFill>
                <a:latin typeface="Calibri" pitchFamily="34" charset="0"/>
                <a:ea typeface="Calibri" pitchFamily="34" charset="-122"/>
                <a:cs typeface="Calibri" pitchFamily="34" charset="-120"/>
              </a:rPr>
              <a:t>Promotion and pricing optimization</a:t>
            </a:r>
            <a:endParaRPr lang="en-US" sz="1600" dirty="0"/>
          </a:p>
        </p:txBody>
      </p:sp>
      <p:sp>
        <p:nvSpPr>
          <p:cNvPr id="59" name="Shape 31">
            <a:extLst>
              <a:ext uri="{FF2B5EF4-FFF2-40B4-BE49-F238E27FC236}">
                <a16:creationId xmlns:a16="http://schemas.microsoft.com/office/drawing/2014/main" id="{B62518DA-DCAA-95C5-D74F-D9AD667DAB01}"/>
              </a:ext>
            </a:extLst>
          </p:cNvPr>
          <p:cNvSpPr/>
          <p:nvPr/>
        </p:nvSpPr>
        <p:spPr>
          <a:xfrm>
            <a:off x="4798096" y="2121408"/>
            <a:ext cx="0" cy="4160520"/>
          </a:xfrm>
          <a:prstGeom prst="line">
            <a:avLst/>
          </a:prstGeom>
          <a:noFill/>
          <a:ln w="12700">
            <a:solidFill>
              <a:srgbClr val="E0DAD8"/>
            </a:solidFill>
            <a:prstDash val="solid"/>
          </a:ln>
        </p:spPr>
        <p:txBody>
          <a:bodyPr/>
          <a:lstStyle/>
          <a:p>
            <a:endParaRPr lang="en-IN"/>
          </a:p>
        </p:txBody>
      </p:sp>
      <p:sp>
        <p:nvSpPr>
          <p:cNvPr id="6" name="Slide Number Placeholder 3">
            <a:extLst>
              <a:ext uri="{FF2B5EF4-FFF2-40B4-BE49-F238E27FC236}">
                <a16:creationId xmlns:a16="http://schemas.microsoft.com/office/drawing/2014/main" id="{E5D206BD-E5A8-F38E-DF82-1393E0116020}"/>
              </a:ext>
            </a:extLst>
          </p:cNvPr>
          <p:cNvSpPr>
            <a:spLocks noGrp="1"/>
          </p:cNvSpPr>
          <p:nvPr>
            <p:ph type="sldNum" sz="quarter" idx="12"/>
          </p:nvPr>
        </p:nvSpPr>
        <p:spPr>
          <a:xfrm>
            <a:off x="6507284" y="6421755"/>
            <a:ext cx="2133600" cy="365125"/>
          </a:xfrm>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7</a:t>
            </a:fld>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493281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577F02-DF32-9401-6808-3FB8D71AC380}"/>
            </a:ext>
          </a:extLst>
        </p:cNvPr>
        <p:cNvGrpSpPr/>
        <p:nvPr/>
      </p:nvGrpSpPr>
      <p:grpSpPr>
        <a:xfrm>
          <a:off x="0" y="0"/>
          <a:ext cx="0" cy="0"/>
          <a:chOff x="0" y="0"/>
          <a:chExt cx="0" cy="0"/>
        </a:xfrm>
      </p:grpSpPr>
      <p:sp>
        <p:nvSpPr>
          <p:cNvPr id="3" name="Text 3">
            <a:extLst>
              <a:ext uri="{FF2B5EF4-FFF2-40B4-BE49-F238E27FC236}">
                <a16:creationId xmlns:a16="http://schemas.microsoft.com/office/drawing/2014/main" id="{99753E2D-95E1-4BA6-E426-B5B9682751C2}"/>
              </a:ext>
            </a:extLst>
          </p:cNvPr>
          <p:cNvSpPr/>
          <p:nvPr/>
        </p:nvSpPr>
        <p:spPr>
          <a:xfrm>
            <a:off x="120365" y="1325880"/>
            <a:ext cx="8939660" cy="594360"/>
          </a:xfrm>
          <a:prstGeom prst="rect">
            <a:avLst/>
          </a:prstGeom>
          <a:noFill/>
          <a:ln/>
        </p:spPr>
        <p:txBody>
          <a:bodyPr wrap="square" lIns="0" tIns="0" rIns="0" bIns="0" rtlCol="0" anchor="ctr"/>
          <a:lstStyle/>
          <a:p>
            <a:pPr marL="0" indent="0" algn="l">
              <a:buNone/>
            </a:pPr>
            <a:r>
              <a:rPr lang="en-US" sz="2700" b="1" dirty="0">
                <a:solidFill>
                  <a:srgbClr val="BC312C"/>
                </a:solidFill>
                <a:latin typeface="Cambria" pitchFamily="34" charset="0"/>
                <a:ea typeface="Cambria" pitchFamily="34" charset="-122"/>
                <a:cs typeface="Cambria" pitchFamily="34" charset="-120"/>
              </a:rPr>
              <a:t>Literature Review (Brief)</a:t>
            </a:r>
            <a:endParaRPr lang="en-US" sz="2700" dirty="0"/>
          </a:p>
        </p:txBody>
      </p:sp>
      <p:sp>
        <p:nvSpPr>
          <p:cNvPr id="5" name="Shape 4">
            <a:extLst>
              <a:ext uri="{FF2B5EF4-FFF2-40B4-BE49-F238E27FC236}">
                <a16:creationId xmlns:a16="http://schemas.microsoft.com/office/drawing/2014/main" id="{1DF34EA8-3E8F-C61F-F702-190E5EAED171}"/>
              </a:ext>
            </a:extLst>
          </p:cNvPr>
          <p:cNvSpPr/>
          <p:nvPr/>
        </p:nvSpPr>
        <p:spPr>
          <a:xfrm>
            <a:off x="120365" y="1938528"/>
            <a:ext cx="8939660" cy="0"/>
          </a:xfrm>
          <a:prstGeom prst="line">
            <a:avLst/>
          </a:prstGeom>
          <a:noFill/>
          <a:ln w="12700">
            <a:solidFill>
              <a:srgbClr val="E0DAD8"/>
            </a:solidFill>
            <a:prstDash val="solid"/>
          </a:ln>
        </p:spPr>
        <p:txBody>
          <a:bodyPr/>
          <a:lstStyle/>
          <a:p>
            <a:endParaRPr lang="en-IN"/>
          </a:p>
        </p:txBody>
      </p:sp>
      <p:sp>
        <p:nvSpPr>
          <p:cNvPr id="7" name="Text 5">
            <a:extLst>
              <a:ext uri="{FF2B5EF4-FFF2-40B4-BE49-F238E27FC236}">
                <a16:creationId xmlns:a16="http://schemas.microsoft.com/office/drawing/2014/main" id="{22ED6ADB-2986-B94A-4793-B625D15DE80D}"/>
              </a:ext>
            </a:extLst>
          </p:cNvPr>
          <p:cNvSpPr/>
          <p:nvPr/>
        </p:nvSpPr>
        <p:spPr>
          <a:xfrm>
            <a:off x="120365" y="2121408"/>
            <a:ext cx="8939660" cy="411480"/>
          </a:xfrm>
          <a:prstGeom prst="rect">
            <a:avLst/>
          </a:prstGeom>
          <a:noFill/>
          <a:ln/>
        </p:spPr>
        <p:txBody>
          <a:bodyPr wrap="square" lIns="0" tIns="0" rIns="0" bIns="0" rtlCol="0" anchor="ctr"/>
          <a:lstStyle/>
          <a:p>
            <a:pPr marL="0" indent="0">
              <a:buNone/>
            </a:pPr>
            <a:r>
              <a:rPr lang="en-US" sz="1400" dirty="0">
                <a:solidFill>
                  <a:srgbClr val="262626"/>
                </a:solidFill>
                <a:latin typeface="Calibri" pitchFamily="34" charset="0"/>
                <a:ea typeface="Calibri" pitchFamily="34" charset="-122"/>
                <a:cs typeface="Calibri" pitchFamily="34" charset="-120"/>
              </a:rPr>
              <a:t>25 papers reviewed (2023–2026) across five themes: forecasting methods, external regressors, SME data challenges, inventory-to-action, and technology adoption.</a:t>
            </a:r>
            <a:endParaRPr lang="en-US" sz="1400" dirty="0"/>
          </a:p>
        </p:txBody>
      </p:sp>
      <p:graphicFrame>
        <p:nvGraphicFramePr>
          <p:cNvPr id="9" name="Table 0">
            <a:extLst>
              <a:ext uri="{FF2B5EF4-FFF2-40B4-BE49-F238E27FC236}">
                <a16:creationId xmlns:a16="http://schemas.microsoft.com/office/drawing/2014/main" id="{804D658C-560A-897D-1423-0D568E49414B}"/>
              </a:ext>
            </a:extLst>
          </p:cNvPr>
          <p:cNvGraphicFramePr>
            <a:graphicFrameLocks noGrp="1"/>
          </p:cNvGraphicFramePr>
          <p:nvPr>
            <p:extLst>
              <p:ext uri="{D42A27DB-BD31-4B8C-83A1-F6EECF244321}">
                <p14:modId xmlns:p14="http://schemas.microsoft.com/office/powerpoint/2010/main" val="3923157017"/>
              </p:ext>
            </p:extLst>
          </p:nvPr>
        </p:nvGraphicFramePr>
        <p:xfrm>
          <a:off x="120365" y="2624328"/>
          <a:ext cx="8939659" cy="4148388"/>
        </p:xfrm>
        <a:graphic>
          <a:graphicData uri="http://schemas.openxmlformats.org/drawingml/2006/table">
            <a:tbl>
              <a:tblPr/>
              <a:tblGrid>
                <a:gridCol w="1905174">
                  <a:extLst>
                    <a:ext uri="{9D8B030D-6E8A-4147-A177-3AD203B41FA5}">
                      <a16:colId xmlns:a16="http://schemas.microsoft.com/office/drawing/2014/main" val="20000"/>
                    </a:ext>
                  </a:extLst>
                </a:gridCol>
                <a:gridCol w="1758621">
                  <a:extLst>
                    <a:ext uri="{9D8B030D-6E8A-4147-A177-3AD203B41FA5}">
                      <a16:colId xmlns:a16="http://schemas.microsoft.com/office/drawing/2014/main" val="20001"/>
                    </a:ext>
                  </a:extLst>
                </a:gridCol>
                <a:gridCol w="1685345">
                  <a:extLst>
                    <a:ext uri="{9D8B030D-6E8A-4147-A177-3AD203B41FA5}">
                      <a16:colId xmlns:a16="http://schemas.microsoft.com/office/drawing/2014/main" val="20002"/>
                    </a:ext>
                  </a:extLst>
                </a:gridCol>
                <a:gridCol w="1538794">
                  <a:extLst>
                    <a:ext uri="{9D8B030D-6E8A-4147-A177-3AD203B41FA5}">
                      <a16:colId xmlns:a16="http://schemas.microsoft.com/office/drawing/2014/main" val="20003"/>
                    </a:ext>
                  </a:extLst>
                </a:gridCol>
                <a:gridCol w="2051725">
                  <a:extLst>
                    <a:ext uri="{9D8B030D-6E8A-4147-A177-3AD203B41FA5}">
                      <a16:colId xmlns:a16="http://schemas.microsoft.com/office/drawing/2014/main" val="20004"/>
                    </a:ext>
                  </a:extLst>
                </a:gridCol>
              </a:tblGrid>
              <a:tr h="429828">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Study</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Model</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Context</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Best Metric</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Gap Left Open</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773690">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Aqila et al. (2026)</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SARIMA / Prophet / LSTM</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Coffee shop, hourly</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lvl="0"/>
                      <a:r>
                        <a:rPr lang="en-IN" sz="16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RMSE 0.15 (LSTM) / MAPE 25% (SARIMA)</a:t>
                      </a: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Forecast-only, no restock</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4449">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Janchidfah et al. (2026)</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TAM (no ML)</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Small retail, survey</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r = 0.76 satisfaction</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No predictive capability</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extLst>
                  <a:ext uri="{0D108BD9-81ED-4DB2-BD59-A6C34878D82A}">
                    <a16:rowId xmlns:a16="http://schemas.microsoft.com/office/drawing/2014/main" val="4174570514"/>
                  </a:ext>
                </a:extLst>
              </a:tr>
              <a:tr h="544449">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Susanto et al. (2026)</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XGBoost vs MA(7)</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SME pre-order, sparse</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IN" sz="16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MAPE 54.20% (MA7)</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Regression fails on sparse data</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44449">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Rahmatillah et al. (2026)</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Optimized LSTM</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SME ice cream</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IN" sz="16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MAPE 45.06% (LSTM)</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Needs ~1,000 days of history</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44449">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Kamboj et al. (2025)</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Prophet + XGBoost</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Drug retail, state-level (Germany)</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12–18% MAPE cut (hybrid)</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Retail-scale, not SME/food-specific</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extLst>
                  <a:ext uri="{0D108BD9-81ED-4DB2-BD59-A6C34878D82A}">
                    <a16:rowId xmlns:a16="http://schemas.microsoft.com/office/drawing/2014/main" val="2125893827"/>
                  </a:ext>
                </a:extLst>
              </a:tr>
              <a:tr h="544449">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Guler et al. (</a:t>
                      </a:r>
                      <a:r>
                        <a:rPr lang="en-IN" sz="1600" dirty="0">
                          <a:solidFill>
                            <a:srgbClr val="262626"/>
                          </a:solidFill>
                          <a:latin typeface="Calibri" panose="020F0502020204030204" pitchFamily="34" charset="0"/>
                          <a:ea typeface="Calibri" panose="020F0502020204030204" pitchFamily="34" charset="0"/>
                          <a:cs typeface="Calibri" panose="020F0502020204030204" pitchFamily="34" charset="0"/>
                        </a:rPr>
                        <a:t>2023</a:t>
                      </a: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Facebook Prophet</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Restaurant, daily</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MAE 0.76</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No restock, no mobile delivery</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extLst>
                  <a:ext uri="{0D108BD9-81ED-4DB2-BD59-A6C34878D82A}">
                    <a16:rowId xmlns:a16="http://schemas.microsoft.com/office/drawing/2014/main" val="2994890863"/>
                  </a:ext>
                </a:extLst>
              </a:tr>
            </a:tbl>
          </a:graphicData>
        </a:graphic>
      </p:graphicFrame>
      <p:sp>
        <p:nvSpPr>
          <p:cNvPr id="11" name="Shape 6">
            <a:extLst>
              <a:ext uri="{FF2B5EF4-FFF2-40B4-BE49-F238E27FC236}">
                <a16:creationId xmlns:a16="http://schemas.microsoft.com/office/drawing/2014/main" id="{A607F53D-B77C-6E57-8D97-979F142D24BC}"/>
              </a:ext>
            </a:extLst>
          </p:cNvPr>
          <p:cNvSpPr/>
          <p:nvPr/>
        </p:nvSpPr>
        <p:spPr>
          <a:xfrm>
            <a:off x="120365" y="2624328"/>
            <a:ext cx="8939660" cy="457200"/>
          </a:xfrm>
          <a:prstGeom prst="rect">
            <a:avLst/>
          </a:prstGeom>
          <a:solidFill>
            <a:srgbClr val="BC312C"/>
          </a:solidFill>
          <a:ln/>
        </p:spPr>
        <p:txBody>
          <a:bodyPr/>
          <a:lstStyle/>
          <a:p>
            <a:endParaRPr lang="en-IN" dirty="0"/>
          </a:p>
        </p:txBody>
      </p:sp>
      <p:sp>
        <p:nvSpPr>
          <p:cNvPr id="13" name="Text 7">
            <a:extLst>
              <a:ext uri="{FF2B5EF4-FFF2-40B4-BE49-F238E27FC236}">
                <a16:creationId xmlns:a16="http://schemas.microsoft.com/office/drawing/2014/main" id="{F119AF83-A1BF-D483-241C-C56DF9D2549D}"/>
              </a:ext>
            </a:extLst>
          </p:cNvPr>
          <p:cNvSpPr/>
          <p:nvPr/>
        </p:nvSpPr>
        <p:spPr>
          <a:xfrm>
            <a:off x="120366" y="2624328"/>
            <a:ext cx="1905174" cy="457200"/>
          </a:xfrm>
          <a:prstGeom prst="rect">
            <a:avLst/>
          </a:prstGeom>
          <a:noFill/>
          <a:ln/>
        </p:spPr>
        <p:txBody>
          <a:bodyPr wrap="square" lIns="0" tIns="5080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Study</a:t>
            </a:r>
            <a:endParaRPr lang="en-US" sz="2400" dirty="0"/>
          </a:p>
        </p:txBody>
      </p:sp>
      <p:sp>
        <p:nvSpPr>
          <p:cNvPr id="15" name="Text 8">
            <a:extLst>
              <a:ext uri="{FF2B5EF4-FFF2-40B4-BE49-F238E27FC236}">
                <a16:creationId xmlns:a16="http://schemas.microsoft.com/office/drawing/2014/main" id="{FD6F6694-C615-309C-FCD0-88F2EE5BBCE8}"/>
              </a:ext>
            </a:extLst>
          </p:cNvPr>
          <p:cNvSpPr/>
          <p:nvPr/>
        </p:nvSpPr>
        <p:spPr>
          <a:xfrm>
            <a:off x="2021942" y="2624328"/>
            <a:ext cx="1758621" cy="457200"/>
          </a:xfrm>
          <a:prstGeom prst="rect">
            <a:avLst/>
          </a:prstGeom>
          <a:noFill/>
          <a:ln/>
        </p:spPr>
        <p:txBody>
          <a:bodyPr wrap="square" lIns="0" tIns="5080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Model</a:t>
            </a:r>
            <a:endParaRPr lang="en-US" sz="2400" dirty="0"/>
          </a:p>
        </p:txBody>
      </p:sp>
      <p:sp>
        <p:nvSpPr>
          <p:cNvPr id="17" name="Text 9">
            <a:extLst>
              <a:ext uri="{FF2B5EF4-FFF2-40B4-BE49-F238E27FC236}">
                <a16:creationId xmlns:a16="http://schemas.microsoft.com/office/drawing/2014/main" id="{AA6E97BD-9DBA-91B1-7E31-E2F4BA0E08C2}"/>
              </a:ext>
            </a:extLst>
          </p:cNvPr>
          <p:cNvSpPr/>
          <p:nvPr/>
        </p:nvSpPr>
        <p:spPr>
          <a:xfrm>
            <a:off x="3768634" y="2624328"/>
            <a:ext cx="1685345" cy="457200"/>
          </a:xfrm>
          <a:prstGeom prst="rect">
            <a:avLst/>
          </a:prstGeom>
          <a:noFill/>
          <a:ln/>
        </p:spPr>
        <p:txBody>
          <a:bodyPr wrap="square" lIns="0" tIns="5080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Context</a:t>
            </a:r>
            <a:endParaRPr lang="en-US" sz="2400" dirty="0"/>
          </a:p>
        </p:txBody>
      </p:sp>
      <p:sp>
        <p:nvSpPr>
          <p:cNvPr id="19" name="Text 10">
            <a:extLst>
              <a:ext uri="{FF2B5EF4-FFF2-40B4-BE49-F238E27FC236}">
                <a16:creationId xmlns:a16="http://schemas.microsoft.com/office/drawing/2014/main" id="{485ED70B-7AB7-557E-7269-7E89B7B46399}"/>
              </a:ext>
            </a:extLst>
          </p:cNvPr>
          <p:cNvSpPr/>
          <p:nvPr/>
        </p:nvSpPr>
        <p:spPr>
          <a:xfrm>
            <a:off x="5492234" y="2624328"/>
            <a:ext cx="1538794" cy="457200"/>
          </a:xfrm>
          <a:prstGeom prst="rect">
            <a:avLst/>
          </a:prstGeom>
          <a:noFill/>
          <a:ln/>
        </p:spPr>
        <p:txBody>
          <a:bodyPr wrap="square" lIns="0" tIns="5080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Best Metric</a:t>
            </a:r>
            <a:endParaRPr lang="en-US" sz="2000" dirty="0"/>
          </a:p>
        </p:txBody>
      </p:sp>
      <p:sp>
        <p:nvSpPr>
          <p:cNvPr id="21" name="Text 11">
            <a:extLst>
              <a:ext uri="{FF2B5EF4-FFF2-40B4-BE49-F238E27FC236}">
                <a16:creationId xmlns:a16="http://schemas.microsoft.com/office/drawing/2014/main" id="{E3B1D580-AF32-C41E-EC2E-423AE9493739}"/>
              </a:ext>
            </a:extLst>
          </p:cNvPr>
          <p:cNvSpPr/>
          <p:nvPr/>
        </p:nvSpPr>
        <p:spPr>
          <a:xfrm>
            <a:off x="7059020" y="2624328"/>
            <a:ext cx="2051725" cy="457200"/>
          </a:xfrm>
          <a:prstGeom prst="rect">
            <a:avLst/>
          </a:prstGeom>
          <a:noFill/>
          <a:ln/>
        </p:spPr>
        <p:txBody>
          <a:bodyPr wrap="square" lIns="0" tIns="5080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Gap Left Open</a:t>
            </a:r>
            <a:endParaRPr lang="en-US" sz="2000" dirty="0"/>
          </a:p>
        </p:txBody>
      </p:sp>
    </p:spTree>
    <p:extLst>
      <p:ext uri="{BB962C8B-B14F-4D97-AF65-F5344CB8AC3E}">
        <p14:creationId xmlns:p14="http://schemas.microsoft.com/office/powerpoint/2010/main" val="23129011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563C01-CBFC-D70D-773D-B5F8CAA5C823}"/>
            </a:ext>
          </a:extLst>
        </p:cNvPr>
        <p:cNvGrpSpPr/>
        <p:nvPr/>
      </p:nvGrpSpPr>
      <p:grpSpPr>
        <a:xfrm>
          <a:off x="0" y="0"/>
          <a:ext cx="0" cy="0"/>
          <a:chOff x="0" y="0"/>
          <a:chExt cx="0" cy="0"/>
        </a:xfrm>
      </p:grpSpPr>
      <p:sp>
        <p:nvSpPr>
          <p:cNvPr id="23" name="Text 3">
            <a:extLst>
              <a:ext uri="{FF2B5EF4-FFF2-40B4-BE49-F238E27FC236}">
                <a16:creationId xmlns:a16="http://schemas.microsoft.com/office/drawing/2014/main" id="{60397D0A-632F-2062-1D38-7EA8ACB1B82F}"/>
              </a:ext>
            </a:extLst>
          </p:cNvPr>
          <p:cNvSpPr/>
          <p:nvPr/>
        </p:nvSpPr>
        <p:spPr>
          <a:xfrm>
            <a:off x="213673" y="1325880"/>
            <a:ext cx="9350207" cy="594360"/>
          </a:xfrm>
          <a:prstGeom prst="rect">
            <a:avLst/>
          </a:prstGeom>
          <a:noFill/>
          <a:ln/>
        </p:spPr>
        <p:txBody>
          <a:bodyPr wrap="square" lIns="0" tIns="0" rIns="0" bIns="0" rtlCol="0" anchor="ctr"/>
          <a:lstStyle/>
          <a:p>
            <a:pPr marL="0" indent="0" algn="l">
              <a:buNone/>
            </a:pPr>
            <a:r>
              <a:rPr lang="en-US" sz="2700" b="1" dirty="0">
                <a:solidFill>
                  <a:srgbClr val="BC312C"/>
                </a:solidFill>
                <a:latin typeface="Cambria" pitchFamily="34" charset="0"/>
                <a:ea typeface="Cambria" pitchFamily="34" charset="-122"/>
                <a:cs typeface="Cambria" pitchFamily="34" charset="-120"/>
              </a:rPr>
              <a:t>Proposed Methodology</a:t>
            </a:r>
            <a:endParaRPr lang="en-US" sz="2700" dirty="0"/>
          </a:p>
        </p:txBody>
      </p:sp>
      <p:sp>
        <p:nvSpPr>
          <p:cNvPr id="25" name="Shape 4">
            <a:extLst>
              <a:ext uri="{FF2B5EF4-FFF2-40B4-BE49-F238E27FC236}">
                <a16:creationId xmlns:a16="http://schemas.microsoft.com/office/drawing/2014/main" id="{DEB5C86E-11CF-6790-4F05-4BCFEED740E8}"/>
              </a:ext>
            </a:extLst>
          </p:cNvPr>
          <p:cNvSpPr/>
          <p:nvPr/>
        </p:nvSpPr>
        <p:spPr>
          <a:xfrm flipV="1">
            <a:off x="157688" y="1920240"/>
            <a:ext cx="8426475" cy="18288"/>
          </a:xfrm>
          <a:prstGeom prst="line">
            <a:avLst/>
          </a:prstGeom>
          <a:noFill/>
          <a:ln w="12700">
            <a:solidFill>
              <a:srgbClr val="E0DAD8"/>
            </a:solidFill>
            <a:prstDash val="solid"/>
          </a:ln>
        </p:spPr>
        <p:txBody>
          <a:bodyPr/>
          <a:lstStyle/>
          <a:p>
            <a:endParaRPr lang="en-IN"/>
          </a:p>
        </p:txBody>
      </p:sp>
      <p:sp>
        <p:nvSpPr>
          <p:cNvPr id="27" name="Shape 5">
            <a:extLst>
              <a:ext uri="{FF2B5EF4-FFF2-40B4-BE49-F238E27FC236}">
                <a16:creationId xmlns:a16="http://schemas.microsoft.com/office/drawing/2014/main" id="{A4CB69E9-6803-477B-0948-D5721B2633E8}"/>
              </a:ext>
            </a:extLst>
          </p:cNvPr>
          <p:cNvSpPr/>
          <p:nvPr/>
        </p:nvSpPr>
        <p:spPr>
          <a:xfrm>
            <a:off x="63883" y="2964428"/>
            <a:ext cx="1377686" cy="2130086"/>
          </a:xfrm>
          <a:prstGeom prst="roundRect">
            <a:avLst>
              <a:gd name="adj" fmla="val 3871"/>
            </a:avLst>
          </a:prstGeom>
          <a:solidFill>
            <a:srgbClr val="F7F5F4"/>
          </a:solidFill>
          <a:ln w="12700">
            <a:solidFill>
              <a:srgbClr val="E0DAD8"/>
            </a:solidFill>
            <a:prstDash val="solid"/>
          </a:ln>
        </p:spPr>
        <p:txBody>
          <a:bodyPr/>
          <a:lstStyle/>
          <a:p>
            <a:endParaRPr lang="en-IN" sz="1800"/>
          </a:p>
        </p:txBody>
      </p:sp>
      <p:sp>
        <p:nvSpPr>
          <p:cNvPr id="29" name="Text 6">
            <a:extLst>
              <a:ext uri="{FF2B5EF4-FFF2-40B4-BE49-F238E27FC236}">
                <a16:creationId xmlns:a16="http://schemas.microsoft.com/office/drawing/2014/main" id="{24772764-2E9F-3336-CC82-DFE060BA4DA9}"/>
              </a:ext>
            </a:extLst>
          </p:cNvPr>
          <p:cNvSpPr/>
          <p:nvPr/>
        </p:nvSpPr>
        <p:spPr>
          <a:xfrm>
            <a:off x="123883" y="3074156"/>
            <a:ext cx="1257686" cy="502920"/>
          </a:xfrm>
          <a:prstGeom prst="rect">
            <a:avLst/>
          </a:prstGeom>
          <a:noFill/>
          <a:ln/>
        </p:spPr>
        <p:txBody>
          <a:bodyPr wrap="square" lIns="0" tIns="0" rIns="0" bIns="0" rtlCol="0" anchor="t"/>
          <a:lstStyle/>
          <a:p>
            <a:pPr marL="0" indent="0" algn="ctr">
              <a:buNone/>
            </a:pPr>
            <a:r>
              <a:rPr lang="en-US" sz="1600" b="1" dirty="0">
                <a:solidFill>
                  <a:srgbClr val="2F3C7E"/>
                </a:solidFill>
                <a:latin typeface="Calibri" pitchFamily="34" charset="0"/>
                <a:ea typeface="Calibri" pitchFamily="34" charset="-122"/>
                <a:cs typeface="Calibri" pitchFamily="34" charset="-120"/>
              </a:rPr>
              <a:t>Historical Sales Data</a:t>
            </a:r>
            <a:endParaRPr lang="en-US" sz="2000" dirty="0"/>
          </a:p>
        </p:txBody>
      </p:sp>
      <p:sp>
        <p:nvSpPr>
          <p:cNvPr id="31" name="Text 7">
            <a:extLst>
              <a:ext uri="{FF2B5EF4-FFF2-40B4-BE49-F238E27FC236}">
                <a16:creationId xmlns:a16="http://schemas.microsoft.com/office/drawing/2014/main" id="{107FF6C7-AE88-5F46-87E4-45A19E17676E}"/>
              </a:ext>
            </a:extLst>
          </p:cNvPr>
          <p:cNvSpPr/>
          <p:nvPr/>
        </p:nvSpPr>
        <p:spPr>
          <a:xfrm>
            <a:off x="123883" y="3837063"/>
            <a:ext cx="1257686" cy="900000"/>
          </a:xfrm>
          <a:prstGeom prst="rect">
            <a:avLst/>
          </a:prstGeom>
          <a:noFill/>
          <a:ln/>
        </p:spPr>
        <p:txBody>
          <a:bodyPr wrap="square" lIns="0" tIns="0" rIns="0" bIns="0" rtlCol="0" anchor="t"/>
          <a:lstStyle/>
          <a:p>
            <a:pPr marL="0" indent="0" algn="ctr">
              <a:lnSpc>
                <a:spcPct val="105000"/>
              </a:lnSpc>
              <a:buNone/>
            </a:pPr>
            <a:r>
              <a:rPr lang="en-US" sz="1500" dirty="0">
                <a:solidFill>
                  <a:srgbClr val="262626"/>
                </a:solidFill>
                <a:latin typeface="Calibri" pitchFamily="34" charset="0"/>
                <a:ea typeface="Calibri" pitchFamily="34" charset="-122"/>
                <a:cs typeface="Calibri" pitchFamily="34" charset="-120"/>
              </a:rPr>
              <a:t>Daily item-level sales (public datasets)</a:t>
            </a:r>
            <a:endParaRPr lang="en-US" sz="1500" dirty="0"/>
          </a:p>
        </p:txBody>
      </p:sp>
      <p:sp>
        <p:nvSpPr>
          <p:cNvPr id="33" name="Shape 8">
            <a:extLst>
              <a:ext uri="{FF2B5EF4-FFF2-40B4-BE49-F238E27FC236}">
                <a16:creationId xmlns:a16="http://schemas.microsoft.com/office/drawing/2014/main" id="{4F382E42-E3D6-6F28-BE61-0672BAFF6CAD}"/>
              </a:ext>
            </a:extLst>
          </p:cNvPr>
          <p:cNvSpPr/>
          <p:nvPr/>
        </p:nvSpPr>
        <p:spPr>
          <a:xfrm>
            <a:off x="1441569" y="3871460"/>
            <a:ext cx="150000" cy="237744"/>
          </a:xfrm>
          <a:prstGeom prst="rightArrow">
            <a:avLst/>
          </a:prstGeom>
          <a:solidFill>
            <a:srgbClr val="6B6B6B"/>
          </a:solidFill>
          <a:ln/>
        </p:spPr>
        <p:txBody>
          <a:bodyPr/>
          <a:lstStyle/>
          <a:p>
            <a:endParaRPr lang="en-IN" sz="1500"/>
          </a:p>
        </p:txBody>
      </p:sp>
      <p:sp>
        <p:nvSpPr>
          <p:cNvPr id="35" name="Shape 9">
            <a:extLst>
              <a:ext uri="{FF2B5EF4-FFF2-40B4-BE49-F238E27FC236}">
                <a16:creationId xmlns:a16="http://schemas.microsoft.com/office/drawing/2014/main" id="{0E52C353-68B1-932E-6DB4-ACA825AE3EC3}"/>
              </a:ext>
            </a:extLst>
          </p:cNvPr>
          <p:cNvSpPr/>
          <p:nvPr/>
        </p:nvSpPr>
        <p:spPr>
          <a:xfrm>
            <a:off x="1591569" y="2964428"/>
            <a:ext cx="1377686" cy="2130086"/>
          </a:xfrm>
          <a:prstGeom prst="roundRect">
            <a:avLst>
              <a:gd name="adj" fmla="val 3871"/>
            </a:avLst>
          </a:prstGeom>
          <a:solidFill>
            <a:srgbClr val="F7F5F4"/>
          </a:solidFill>
          <a:ln w="12700">
            <a:solidFill>
              <a:srgbClr val="E0DAD8"/>
            </a:solidFill>
            <a:prstDash val="solid"/>
          </a:ln>
        </p:spPr>
        <p:txBody>
          <a:bodyPr/>
          <a:lstStyle/>
          <a:p>
            <a:endParaRPr lang="en-IN" sz="1800"/>
          </a:p>
        </p:txBody>
      </p:sp>
      <p:sp>
        <p:nvSpPr>
          <p:cNvPr id="37" name="Text 10">
            <a:extLst>
              <a:ext uri="{FF2B5EF4-FFF2-40B4-BE49-F238E27FC236}">
                <a16:creationId xmlns:a16="http://schemas.microsoft.com/office/drawing/2014/main" id="{354D6D7A-5A68-1019-96E1-B5C2A8C5B1F4}"/>
              </a:ext>
            </a:extLst>
          </p:cNvPr>
          <p:cNvSpPr/>
          <p:nvPr/>
        </p:nvSpPr>
        <p:spPr>
          <a:xfrm>
            <a:off x="1651569" y="3074156"/>
            <a:ext cx="1257686" cy="502920"/>
          </a:xfrm>
          <a:prstGeom prst="rect">
            <a:avLst/>
          </a:prstGeom>
          <a:noFill/>
          <a:ln/>
        </p:spPr>
        <p:txBody>
          <a:bodyPr wrap="square" lIns="0" tIns="0" rIns="0" bIns="0" rtlCol="0" anchor="t"/>
          <a:lstStyle/>
          <a:p>
            <a:pPr marL="0" indent="0" algn="ctr">
              <a:buNone/>
            </a:pPr>
            <a:r>
              <a:rPr lang="en-US" sz="1600" b="1" dirty="0">
                <a:solidFill>
                  <a:srgbClr val="2F3C7E"/>
                </a:solidFill>
                <a:latin typeface="Calibri" pitchFamily="34" charset="0"/>
                <a:ea typeface="Calibri" pitchFamily="34" charset="-122"/>
                <a:cs typeface="Calibri" pitchFamily="34" charset="-120"/>
              </a:rPr>
              <a:t>Prophet + XGBoost</a:t>
            </a:r>
            <a:endParaRPr lang="en-US" sz="2000" dirty="0"/>
          </a:p>
        </p:txBody>
      </p:sp>
      <p:sp>
        <p:nvSpPr>
          <p:cNvPr id="39" name="Text 11">
            <a:extLst>
              <a:ext uri="{FF2B5EF4-FFF2-40B4-BE49-F238E27FC236}">
                <a16:creationId xmlns:a16="http://schemas.microsoft.com/office/drawing/2014/main" id="{74F39C81-78D3-DF89-9EB4-3407B5E8E64B}"/>
              </a:ext>
            </a:extLst>
          </p:cNvPr>
          <p:cNvSpPr/>
          <p:nvPr/>
        </p:nvSpPr>
        <p:spPr>
          <a:xfrm>
            <a:off x="1636569" y="3610617"/>
            <a:ext cx="1257686" cy="900000"/>
          </a:xfrm>
          <a:prstGeom prst="rect">
            <a:avLst/>
          </a:prstGeom>
          <a:noFill/>
          <a:ln/>
        </p:spPr>
        <p:txBody>
          <a:bodyPr wrap="square" lIns="0" tIns="0" rIns="0" bIns="0" rtlCol="0" anchor="t"/>
          <a:lstStyle/>
          <a:p>
            <a:pPr marL="0" indent="0" algn="ctr">
              <a:lnSpc>
                <a:spcPct val="105000"/>
              </a:lnSpc>
              <a:buNone/>
            </a:pPr>
            <a:r>
              <a:rPr lang="en-US" sz="1500" dirty="0">
                <a:solidFill>
                  <a:srgbClr val="262626"/>
                </a:solidFill>
                <a:latin typeface="Calibri" pitchFamily="34" charset="0"/>
                <a:ea typeface="Calibri" pitchFamily="34" charset="-122"/>
                <a:cs typeface="Calibri" pitchFamily="34" charset="-120"/>
              </a:rPr>
              <a:t>Trend + seasonality (Prophet) + residual correction (XGBoost)</a:t>
            </a:r>
            <a:endParaRPr lang="en-US" sz="1500" dirty="0"/>
          </a:p>
        </p:txBody>
      </p:sp>
      <p:sp>
        <p:nvSpPr>
          <p:cNvPr id="41" name="Shape 12">
            <a:extLst>
              <a:ext uri="{FF2B5EF4-FFF2-40B4-BE49-F238E27FC236}">
                <a16:creationId xmlns:a16="http://schemas.microsoft.com/office/drawing/2014/main" id="{AB189900-0CDA-D360-F2F8-19B15EA8C435}"/>
              </a:ext>
            </a:extLst>
          </p:cNvPr>
          <p:cNvSpPr/>
          <p:nvPr/>
        </p:nvSpPr>
        <p:spPr>
          <a:xfrm>
            <a:off x="2969255" y="3871460"/>
            <a:ext cx="150000" cy="237744"/>
          </a:xfrm>
          <a:prstGeom prst="rightArrow">
            <a:avLst/>
          </a:prstGeom>
          <a:solidFill>
            <a:srgbClr val="6B6B6B"/>
          </a:solidFill>
          <a:ln/>
        </p:spPr>
        <p:txBody>
          <a:bodyPr/>
          <a:lstStyle/>
          <a:p>
            <a:endParaRPr lang="en-IN" sz="1500"/>
          </a:p>
        </p:txBody>
      </p:sp>
      <p:sp>
        <p:nvSpPr>
          <p:cNvPr id="43" name="Shape 13">
            <a:extLst>
              <a:ext uri="{FF2B5EF4-FFF2-40B4-BE49-F238E27FC236}">
                <a16:creationId xmlns:a16="http://schemas.microsoft.com/office/drawing/2014/main" id="{822DCAD3-C57A-617C-DD4F-94C3ADC12255}"/>
              </a:ext>
            </a:extLst>
          </p:cNvPr>
          <p:cNvSpPr/>
          <p:nvPr/>
        </p:nvSpPr>
        <p:spPr>
          <a:xfrm>
            <a:off x="3119255" y="2964428"/>
            <a:ext cx="1377686" cy="2130086"/>
          </a:xfrm>
          <a:prstGeom prst="roundRect">
            <a:avLst>
              <a:gd name="adj" fmla="val 3871"/>
            </a:avLst>
          </a:prstGeom>
          <a:solidFill>
            <a:srgbClr val="F7F5F4"/>
          </a:solidFill>
          <a:ln w="12700">
            <a:solidFill>
              <a:srgbClr val="E0DAD8"/>
            </a:solidFill>
            <a:prstDash val="solid"/>
          </a:ln>
        </p:spPr>
        <p:txBody>
          <a:bodyPr/>
          <a:lstStyle/>
          <a:p>
            <a:endParaRPr lang="en-IN" sz="1800"/>
          </a:p>
        </p:txBody>
      </p:sp>
      <p:sp>
        <p:nvSpPr>
          <p:cNvPr id="45" name="Text 14">
            <a:extLst>
              <a:ext uri="{FF2B5EF4-FFF2-40B4-BE49-F238E27FC236}">
                <a16:creationId xmlns:a16="http://schemas.microsoft.com/office/drawing/2014/main" id="{B3E956E9-3B1C-84F2-27A6-E790C848CF4D}"/>
              </a:ext>
            </a:extLst>
          </p:cNvPr>
          <p:cNvSpPr/>
          <p:nvPr/>
        </p:nvSpPr>
        <p:spPr>
          <a:xfrm>
            <a:off x="3179255" y="3074156"/>
            <a:ext cx="1257686" cy="502920"/>
          </a:xfrm>
          <a:prstGeom prst="rect">
            <a:avLst/>
          </a:prstGeom>
          <a:noFill/>
          <a:ln/>
        </p:spPr>
        <p:txBody>
          <a:bodyPr wrap="square" lIns="0" tIns="0" rIns="0" bIns="0" rtlCol="0" anchor="t"/>
          <a:lstStyle/>
          <a:p>
            <a:pPr marL="0" indent="0" algn="ctr">
              <a:buNone/>
            </a:pPr>
            <a:r>
              <a:rPr lang="en-US" sz="1600" b="1" dirty="0">
                <a:solidFill>
                  <a:srgbClr val="2F3C7E"/>
                </a:solidFill>
                <a:latin typeface="Calibri" pitchFamily="34" charset="0"/>
                <a:ea typeface="Calibri" pitchFamily="34" charset="-122"/>
                <a:cs typeface="Calibri" pitchFamily="34" charset="-120"/>
              </a:rPr>
              <a:t>Raw Forecast</a:t>
            </a:r>
            <a:endParaRPr lang="en-US" sz="2000" dirty="0"/>
          </a:p>
        </p:txBody>
      </p:sp>
      <p:sp>
        <p:nvSpPr>
          <p:cNvPr id="47" name="Text 15">
            <a:extLst>
              <a:ext uri="{FF2B5EF4-FFF2-40B4-BE49-F238E27FC236}">
                <a16:creationId xmlns:a16="http://schemas.microsoft.com/office/drawing/2014/main" id="{F5E16C3A-E214-FDC3-B29D-2880EBCFFF92}"/>
              </a:ext>
            </a:extLst>
          </p:cNvPr>
          <p:cNvSpPr/>
          <p:nvPr/>
        </p:nvSpPr>
        <p:spPr>
          <a:xfrm>
            <a:off x="3194255" y="3794391"/>
            <a:ext cx="1257686" cy="900000"/>
          </a:xfrm>
          <a:prstGeom prst="rect">
            <a:avLst/>
          </a:prstGeom>
          <a:noFill/>
          <a:ln/>
        </p:spPr>
        <p:txBody>
          <a:bodyPr wrap="square" lIns="0" tIns="0" rIns="0" bIns="0" rtlCol="0" anchor="t"/>
          <a:lstStyle/>
          <a:p>
            <a:pPr marL="0" indent="0" algn="ctr">
              <a:lnSpc>
                <a:spcPct val="105000"/>
              </a:lnSpc>
              <a:buNone/>
            </a:pPr>
            <a:r>
              <a:rPr lang="en-US" sz="1500" dirty="0">
                <a:solidFill>
                  <a:srgbClr val="262626"/>
                </a:solidFill>
                <a:latin typeface="Calibri" pitchFamily="34" charset="0"/>
                <a:ea typeface="Calibri" pitchFamily="34" charset="-122"/>
                <a:cs typeface="Calibri" pitchFamily="34" charset="-120"/>
              </a:rPr>
              <a:t>Point prediction per item, per day</a:t>
            </a:r>
            <a:endParaRPr lang="en-US" sz="1500" dirty="0"/>
          </a:p>
        </p:txBody>
      </p:sp>
      <p:sp>
        <p:nvSpPr>
          <p:cNvPr id="49" name="Shape 16">
            <a:extLst>
              <a:ext uri="{FF2B5EF4-FFF2-40B4-BE49-F238E27FC236}">
                <a16:creationId xmlns:a16="http://schemas.microsoft.com/office/drawing/2014/main" id="{173BD19B-3F5B-A0BA-DD28-1EE8E5182824}"/>
              </a:ext>
            </a:extLst>
          </p:cNvPr>
          <p:cNvSpPr/>
          <p:nvPr/>
        </p:nvSpPr>
        <p:spPr>
          <a:xfrm>
            <a:off x="4496941" y="3871460"/>
            <a:ext cx="150000" cy="237744"/>
          </a:xfrm>
          <a:prstGeom prst="rightArrow">
            <a:avLst/>
          </a:prstGeom>
          <a:solidFill>
            <a:srgbClr val="6B6B6B"/>
          </a:solidFill>
          <a:ln/>
        </p:spPr>
        <p:txBody>
          <a:bodyPr/>
          <a:lstStyle/>
          <a:p>
            <a:endParaRPr lang="en-IN" sz="1500"/>
          </a:p>
        </p:txBody>
      </p:sp>
      <p:sp>
        <p:nvSpPr>
          <p:cNvPr id="51" name="Shape 17">
            <a:extLst>
              <a:ext uri="{FF2B5EF4-FFF2-40B4-BE49-F238E27FC236}">
                <a16:creationId xmlns:a16="http://schemas.microsoft.com/office/drawing/2014/main" id="{65683C94-8E57-936C-E030-21B7882AF402}"/>
              </a:ext>
            </a:extLst>
          </p:cNvPr>
          <p:cNvSpPr/>
          <p:nvPr/>
        </p:nvSpPr>
        <p:spPr>
          <a:xfrm>
            <a:off x="4646941" y="2964428"/>
            <a:ext cx="1377686" cy="2130086"/>
          </a:xfrm>
          <a:prstGeom prst="roundRect">
            <a:avLst>
              <a:gd name="adj" fmla="val 3871"/>
            </a:avLst>
          </a:prstGeom>
          <a:solidFill>
            <a:srgbClr val="F7F5F4"/>
          </a:solidFill>
          <a:ln w="12700">
            <a:solidFill>
              <a:srgbClr val="E0DAD8"/>
            </a:solidFill>
            <a:prstDash val="solid"/>
          </a:ln>
        </p:spPr>
        <p:txBody>
          <a:bodyPr/>
          <a:lstStyle/>
          <a:p>
            <a:endParaRPr lang="en-IN" sz="1800"/>
          </a:p>
        </p:txBody>
      </p:sp>
      <p:sp>
        <p:nvSpPr>
          <p:cNvPr id="53" name="Text 18">
            <a:extLst>
              <a:ext uri="{FF2B5EF4-FFF2-40B4-BE49-F238E27FC236}">
                <a16:creationId xmlns:a16="http://schemas.microsoft.com/office/drawing/2014/main" id="{27B535E2-04E2-8B2D-DDC0-AFC9060FBC61}"/>
              </a:ext>
            </a:extLst>
          </p:cNvPr>
          <p:cNvSpPr/>
          <p:nvPr/>
        </p:nvSpPr>
        <p:spPr>
          <a:xfrm>
            <a:off x="4706941" y="3074156"/>
            <a:ext cx="1257686" cy="502920"/>
          </a:xfrm>
          <a:prstGeom prst="rect">
            <a:avLst/>
          </a:prstGeom>
          <a:noFill/>
          <a:ln/>
        </p:spPr>
        <p:txBody>
          <a:bodyPr wrap="square" lIns="0" tIns="0" rIns="0" bIns="0" rtlCol="0" anchor="t"/>
          <a:lstStyle/>
          <a:p>
            <a:pPr marL="0" indent="0" algn="ctr">
              <a:buNone/>
            </a:pPr>
            <a:r>
              <a:rPr lang="en-US" sz="1600" b="1" dirty="0">
                <a:solidFill>
                  <a:srgbClr val="2F3C7E"/>
                </a:solidFill>
                <a:latin typeface="Calibri" pitchFamily="34" charset="0"/>
                <a:ea typeface="Calibri" pitchFamily="34" charset="-122"/>
                <a:cs typeface="Calibri" pitchFamily="34" charset="-120"/>
              </a:rPr>
              <a:t>Restock Logic</a:t>
            </a:r>
            <a:endParaRPr lang="en-US" sz="2000" dirty="0"/>
          </a:p>
        </p:txBody>
      </p:sp>
      <p:sp>
        <p:nvSpPr>
          <p:cNvPr id="55" name="Text 19">
            <a:extLst>
              <a:ext uri="{FF2B5EF4-FFF2-40B4-BE49-F238E27FC236}">
                <a16:creationId xmlns:a16="http://schemas.microsoft.com/office/drawing/2014/main" id="{3F77A0CB-58FC-8A53-E6FC-FDC578230B86}"/>
              </a:ext>
            </a:extLst>
          </p:cNvPr>
          <p:cNvSpPr/>
          <p:nvPr/>
        </p:nvSpPr>
        <p:spPr>
          <a:xfrm>
            <a:off x="4706941" y="3794391"/>
            <a:ext cx="1257686" cy="900000"/>
          </a:xfrm>
          <a:prstGeom prst="rect">
            <a:avLst/>
          </a:prstGeom>
          <a:noFill/>
          <a:ln/>
        </p:spPr>
        <p:txBody>
          <a:bodyPr wrap="square" lIns="0" tIns="0" rIns="0" bIns="0" rtlCol="0" anchor="t"/>
          <a:lstStyle/>
          <a:p>
            <a:pPr marL="0" indent="0" algn="ctr">
              <a:lnSpc>
                <a:spcPct val="105000"/>
              </a:lnSpc>
              <a:buNone/>
            </a:pPr>
            <a:r>
              <a:rPr lang="en-US" sz="1500" dirty="0">
                <a:solidFill>
                  <a:srgbClr val="262626"/>
                </a:solidFill>
                <a:latin typeface="Calibri" pitchFamily="34" charset="0"/>
                <a:ea typeface="Calibri" pitchFamily="34" charset="-122"/>
                <a:cs typeface="Calibri" pitchFamily="34" charset="-120"/>
              </a:rPr>
              <a:t>Safety-stock buffer + current inventory</a:t>
            </a:r>
            <a:endParaRPr lang="en-US" sz="1500" dirty="0"/>
          </a:p>
        </p:txBody>
      </p:sp>
      <p:sp>
        <p:nvSpPr>
          <p:cNvPr id="57" name="Shape 20">
            <a:extLst>
              <a:ext uri="{FF2B5EF4-FFF2-40B4-BE49-F238E27FC236}">
                <a16:creationId xmlns:a16="http://schemas.microsoft.com/office/drawing/2014/main" id="{7320CB60-6225-E4C4-FAA5-900CD8E1ADC7}"/>
              </a:ext>
            </a:extLst>
          </p:cNvPr>
          <p:cNvSpPr/>
          <p:nvPr/>
        </p:nvSpPr>
        <p:spPr>
          <a:xfrm>
            <a:off x="6024627" y="3871460"/>
            <a:ext cx="150000" cy="237744"/>
          </a:xfrm>
          <a:prstGeom prst="rightArrow">
            <a:avLst/>
          </a:prstGeom>
          <a:solidFill>
            <a:srgbClr val="6B6B6B"/>
          </a:solidFill>
          <a:ln/>
        </p:spPr>
        <p:txBody>
          <a:bodyPr/>
          <a:lstStyle/>
          <a:p>
            <a:endParaRPr lang="en-IN" sz="1500"/>
          </a:p>
        </p:txBody>
      </p:sp>
      <p:sp>
        <p:nvSpPr>
          <p:cNvPr id="157" name="Shape 20">
            <a:extLst>
              <a:ext uri="{FF2B5EF4-FFF2-40B4-BE49-F238E27FC236}">
                <a16:creationId xmlns:a16="http://schemas.microsoft.com/office/drawing/2014/main" id="{7320CB60-6225-E4C4-FAA5-900CD8E1ADC7}"/>
              </a:ext>
            </a:extLst>
          </p:cNvPr>
          <p:cNvSpPr/>
          <p:nvPr/>
        </p:nvSpPr>
        <p:spPr>
          <a:xfrm>
            <a:off x="7552313" y="3871460"/>
            <a:ext cx="150000" cy="237744"/>
          </a:xfrm>
          <a:prstGeom prst="rightArrow">
            <a:avLst/>
          </a:prstGeom>
          <a:solidFill>
            <a:srgbClr val="6B6B6B"/>
          </a:solidFill>
          <a:ln/>
        </p:spPr>
        <p:txBody>
          <a:bodyPr/>
          <a:lstStyle/>
          <a:p>
            <a:endParaRPr lang="en-IN" sz="1500"/>
          </a:p>
        </p:txBody>
      </p:sp>
      <p:sp>
        <p:nvSpPr>
          <p:cNvPr id="59" name="Shape 21">
            <a:extLst>
              <a:ext uri="{FF2B5EF4-FFF2-40B4-BE49-F238E27FC236}">
                <a16:creationId xmlns:a16="http://schemas.microsoft.com/office/drawing/2014/main" id="{0CBD5CCE-70DA-8A41-86C0-669123192196}"/>
              </a:ext>
            </a:extLst>
          </p:cNvPr>
          <p:cNvSpPr/>
          <p:nvPr/>
        </p:nvSpPr>
        <p:spPr>
          <a:xfrm>
            <a:off x="6174627" y="2964428"/>
            <a:ext cx="1377686" cy="2130086"/>
          </a:xfrm>
          <a:prstGeom prst="roundRect">
            <a:avLst>
              <a:gd name="adj" fmla="val 3871"/>
            </a:avLst>
          </a:prstGeom>
          <a:solidFill>
            <a:srgbClr val="BC312C"/>
          </a:solidFill>
          <a:ln w="12700">
            <a:solidFill>
              <a:srgbClr val="BC312C"/>
            </a:solidFill>
            <a:prstDash val="solid"/>
          </a:ln>
        </p:spPr>
        <p:txBody>
          <a:bodyPr/>
          <a:lstStyle/>
          <a:p>
            <a:endParaRPr lang="en-IN" sz="1800"/>
          </a:p>
        </p:txBody>
      </p:sp>
      <p:sp>
        <p:nvSpPr>
          <p:cNvPr id="159" name="Shape 21">
            <a:extLst>
              <a:ext uri="{FF2B5EF4-FFF2-40B4-BE49-F238E27FC236}">
                <a16:creationId xmlns:a16="http://schemas.microsoft.com/office/drawing/2014/main" id="{0CBD5CCE-70DA-8A41-86C0-669123192196}"/>
              </a:ext>
            </a:extLst>
          </p:cNvPr>
          <p:cNvSpPr/>
          <p:nvPr/>
        </p:nvSpPr>
        <p:spPr>
          <a:xfrm>
            <a:off x="7702313" y="2964428"/>
            <a:ext cx="1377686" cy="2130086"/>
          </a:xfrm>
          <a:prstGeom prst="roundRect">
            <a:avLst>
              <a:gd name="adj" fmla="val 3871"/>
            </a:avLst>
          </a:prstGeom>
          <a:solidFill>
            <a:srgbClr val="BC312C"/>
          </a:solidFill>
          <a:ln w="12700">
            <a:solidFill>
              <a:srgbClr val="BC312C"/>
            </a:solidFill>
            <a:prstDash val="solid"/>
          </a:ln>
        </p:spPr>
        <p:txBody>
          <a:bodyPr/>
          <a:lstStyle/>
          <a:p>
            <a:endParaRPr lang="en-IN" sz="1800"/>
          </a:p>
        </p:txBody>
      </p:sp>
      <p:sp>
        <p:nvSpPr>
          <p:cNvPr id="61" name="Text 22">
            <a:extLst>
              <a:ext uri="{FF2B5EF4-FFF2-40B4-BE49-F238E27FC236}">
                <a16:creationId xmlns:a16="http://schemas.microsoft.com/office/drawing/2014/main" id="{66E2D2B2-7483-DB0B-054D-38FE1F0F85D4}"/>
              </a:ext>
            </a:extLst>
          </p:cNvPr>
          <p:cNvSpPr/>
          <p:nvPr/>
        </p:nvSpPr>
        <p:spPr>
          <a:xfrm>
            <a:off x="6234627" y="3084513"/>
            <a:ext cx="1257686" cy="502920"/>
          </a:xfrm>
          <a:prstGeom prst="rect">
            <a:avLst/>
          </a:prstGeom>
          <a:noFill/>
          <a:ln/>
        </p:spPr>
        <p:txBody>
          <a:bodyPr wrap="square" lIns="0" tIns="0" rIns="0" bIns="0" rtlCol="0" anchor="t"/>
          <a:lstStyle/>
          <a:p>
            <a:pPr marL="0" indent="0" algn="ctr">
              <a:buNone/>
            </a:pPr>
            <a:r>
              <a:rPr lang="en-US" sz="1600" b="1" dirty="0">
                <a:solidFill>
                  <a:srgbClr val="FFFFFF"/>
                </a:solidFill>
                <a:latin typeface="Calibri" pitchFamily="34" charset="0"/>
                <a:ea typeface="Calibri" pitchFamily="34" charset="-122"/>
                <a:cs typeface="Calibri" pitchFamily="34" charset="-120"/>
              </a:rPr>
              <a:t>Recommendation</a:t>
            </a:r>
            <a:endParaRPr lang="en-US" sz="2000" dirty="0"/>
          </a:p>
        </p:txBody>
      </p:sp>
      <p:sp>
        <p:nvSpPr>
          <p:cNvPr id="161" name="Text 22">
            <a:extLst>
              <a:ext uri="{FF2B5EF4-FFF2-40B4-BE49-F238E27FC236}">
                <a16:creationId xmlns:a16="http://schemas.microsoft.com/office/drawing/2014/main" id="{66E2D2B2-7483-DB0B-054D-38FE1F0F85D4}"/>
              </a:ext>
            </a:extLst>
          </p:cNvPr>
          <p:cNvSpPr/>
          <p:nvPr/>
        </p:nvSpPr>
        <p:spPr>
          <a:xfrm>
            <a:off x="7762313" y="3084513"/>
            <a:ext cx="1257686" cy="502920"/>
          </a:xfrm>
          <a:prstGeom prst="rect">
            <a:avLst/>
          </a:prstGeom>
          <a:noFill/>
          <a:ln/>
        </p:spPr>
        <p:txBody>
          <a:bodyPr wrap="square" lIns="0" tIns="0" rIns="0" bIns="0" rtlCol="0" anchor="t"/>
          <a:lstStyle/>
          <a:p>
            <a:pPr marL="0" indent="0" algn="ctr">
              <a:buNone/>
            </a:pPr>
            <a:r>
              <a:rPr lang="en-US" sz="1600" b="1" dirty="0">
                <a:solidFill>
                  <a:srgbClr val="FFFFFF"/>
                </a:solidFill>
                <a:latin typeface="Calibri" pitchFamily="34" charset="0"/>
                <a:ea typeface="Calibri" pitchFamily="34" charset="-122"/>
                <a:cs typeface="Calibri" pitchFamily="34" charset="-120"/>
              </a:rPr>
              <a:t>Forecast Narrator</a:t>
            </a:r>
            <a:endParaRPr lang="en-US" sz="2000" dirty="0"/>
          </a:p>
        </p:txBody>
      </p:sp>
      <p:sp>
        <p:nvSpPr>
          <p:cNvPr id="63" name="Text 23">
            <a:extLst>
              <a:ext uri="{FF2B5EF4-FFF2-40B4-BE49-F238E27FC236}">
                <a16:creationId xmlns:a16="http://schemas.microsoft.com/office/drawing/2014/main" id="{4F408E21-328C-28D9-00A2-6F701A2AD9ED}"/>
              </a:ext>
            </a:extLst>
          </p:cNvPr>
          <p:cNvSpPr/>
          <p:nvPr/>
        </p:nvSpPr>
        <p:spPr>
          <a:xfrm>
            <a:off x="6234627" y="3808128"/>
            <a:ext cx="1257686" cy="900000"/>
          </a:xfrm>
          <a:prstGeom prst="rect">
            <a:avLst/>
          </a:prstGeom>
          <a:noFill/>
          <a:ln/>
        </p:spPr>
        <p:txBody>
          <a:bodyPr wrap="square" lIns="0" tIns="0" rIns="0" bIns="0" rtlCol="0" anchor="t"/>
          <a:lstStyle/>
          <a:p>
            <a:pPr marL="0" indent="0" algn="ctr">
              <a:lnSpc>
                <a:spcPct val="105000"/>
              </a:lnSpc>
              <a:buNone/>
            </a:pPr>
            <a:r>
              <a:rPr lang="en-US" sz="1500" dirty="0">
                <a:solidFill>
                  <a:srgbClr val="FFFFFF"/>
                </a:solidFill>
                <a:latin typeface="Calibri" pitchFamily="34" charset="0"/>
                <a:ea typeface="Calibri" pitchFamily="34" charset="-122"/>
                <a:cs typeface="Calibri" pitchFamily="34" charset="-120"/>
              </a:rPr>
              <a:t>e.g. "Order 15 croissants"</a:t>
            </a:r>
            <a:endParaRPr lang="en-US" sz="1500" dirty="0"/>
          </a:p>
        </p:txBody>
      </p:sp>
      <p:sp>
        <p:nvSpPr>
          <p:cNvPr id="163" name="Text 23">
            <a:extLst>
              <a:ext uri="{FF2B5EF4-FFF2-40B4-BE49-F238E27FC236}">
                <a16:creationId xmlns:a16="http://schemas.microsoft.com/office/drawing/2014/main" id="{4F408E21-328C-28D9-00A2-6F701A2AD9ED}"/>
              </a:ext>
            </a:extLst>
          </p:cNvPr>
          <p:cNvSpPr/>
          <p:nvPr/>
        </p:nvSpPr>
        <p:spPr>
          <a:xfrm>
            <a:off x="7702313" y="3794391"/>
            <a:ext cx="1377685" cy="900000"/>
          </a:xfrm>
          <a:prstGeom prst="rect">
            <a:avLst/>
          </a:prstGeom>
          <a:noFill/>
          <a:ln/>
        </p:spPr>
        <p:txBody>
          <a:bodyPr wrap="square" lIns="0" tIns="0" rIns="0" bIns="0" rtlCol="0" anchor="t"/>
          <a:lstStyle/>
          <a:p>
            <a:pPr marL="0" indent="0" algn="ctr">
              <a:lnSpc>
                <a:spcPct val="105000"/>
              </a:lnSpc>
              <a:buNone/>
            </a:pPr>
            <a:r>
              <a:rPr lang="en-US" sz="1500" dirty="0">
                <a:solidFill>
                  <a:srgbClr val="FFFFFF"/>
                </a:solidFill>
                <a:latin typeface="Calibri" pitchFamily="34" charset="0"/>
                <a:ea typeface="Calibri" pitchFamily="34" charset="-122"/>
                <a:cs typeface="Calibri" pitchFamily="34" charset="-120"/>
              </a:rPr>
              <a:t>LLM explains the recommendation in plain language</a:t>
            </a:r>
            <a:endParaRPr lang="en-US" sz="1500" dirty="0"/>
          </a:p>
        </p:txBody>
      </p:sp>
      <p:sp>
        <p:nvSpPr>
          <p:cNvPr id="69" name="Text 26">
            <a:extLst>
              <a:ext uri="{FF2B5EF4-FFF2-40B4-BE49-F238E27FC236}">
                <a16:creationId xmlns:a16="http://schemas.microsoft.com/office/drawing/2014/main" id="{FD490F09-EC61-7209-D00D-FF0364D0D89C}"/>
              </a:ext>
            </a:extLst>
          </p:cNvPr>
          <p:cNvSpPr/>
          <p:nvPr/>
        </p:nvSpPr>
        <p:spPr>
          <a:xfrm>
            <a:off x="155323" y="5880244"/>
            <a:ext cx="8444609" cy="365760"/>
          </a:xfrm>
          <a:prstGeom prst="rect">
            <a:avLst/>
          </a:prstGeom>
          <a:noFill/>
          <a:ln/>
        </p:spPr>
        <p:txBody>
          <a:bodyPr wrap="square" lIns="0" tIns="0" rIns="0" bIns="0" rtlCol="0" anchor="ctr"/>
          <a:lstStyle/>
          <a:p>
            <a:pPr marL="0" indent="0" algn="just">
              <a:buNone/>
            </a:pPr>
            <a:r>
              <a:rPr lang="en-US" sz="1600" i="1" dirty="0">
                <a:solidFill>
                  <a:srgbClr val="6B6B6B"/>
                </a:solidFill>
                <a:latin typeface="Calibri" pitchFamily="34" charset="0"/>
                <a:ea typeface="Calibri" pitchFamily="34" charset="-122"/>
                <a:cs typeface="Calibri" pitchFamily="34" charset="-120"/>
              </a:rPr>
              <a:t>Metrics reported: RMSE, MAPE, and a qualitative check of restock-recommendation reasonableness against held-out data.</a:t>
            </a:r>
            <a:endParaRPr lang="en-US" sz="1600" dirty="0"/>
          </a:p>
        </p:txBody>
      </p:sp>
      <p:sp>
        <p:nvSpPr>
          <p:cNvPr id="70" name="TextBox 69"/>
          <p:cNvSpPr txBox="1"/>
          <p:nvPr/>
        </p:nvSpPr>
        <p:spPr>
          <a:xfrm>
            <a:off x="155323" y="2050000"/>
            <a:ext cx="8444609" cy="430887"/>
          </a:xfrm>
          <a:prstGeom prst="rect">
            <a:avLst/>
          </a:prstGeom>
          <a:noFill/>
        </p:spPr>
        <p:txBody>
          <a:bodyPr wrap="square" lIns="0" tIns="0" rIns="0" bIns="0">
            <a:spAutoFit/>
          </a:bodyPr>
          <a:lstStyle/>
          <a:p>
            <a:r>
              <a:rPr i="1" dirty="0">
                <a:solidFill>
                  <a:srgbClr val="2F3C7E"/>
                </a:solidFill>
                <a:latin typeface="Calibri"/>
              </a:rPr>
              <a:t>Item history depth routes the pipeline: sparse/new items use the cold-start blend (category priors → blended → full model); high-volume items go straight to the full hybrid model below.</a:t>
            </a:r>
          </a:p>
        </p:txBody>
      </p:sp>
      <p:sp>
        <p:nvSpPr>
          <p:cNvPr id="3" name="Slide Number Placeholder 3">
            <a:extLst>
              <a:ext uri="{FF2B5EF4-FFF2-40B4-BE49-F238E27FC236}">
                <a16:creationId xmlns:a16="http://schemas.microsoft.com/office/drawing/2014/main" id="{55884EA6-5E5B-C350-D7CB-32DC523F24FF}"/>
              </a:ext>
            </a:extLst>
          </p:cNvPr>
          <p:cNvSpPr>
            <a:spLocks noGrp="1"/>
          </p:cNvSpPr>
          <p:nvPr>
            <p:ph type="sldNum" sz="quarter" idx="12"/>
          </p:nvPr>
        </p:nvSpPr>
        <p:spPr>
          <a:xfrm>
            <a:off x="6507284" y="6421755"/>
            <a:ext cx="2133600" cy="365125"/>
          </a:xfrm>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9</a:t>
            </a:fld>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903461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47ADE-CA3C-8D5D-233B-877E1C92570F}"/>
            </a:ext>
          </a:extLst>
        </p:cNvPr>
        <p:cNvGrpSpPr/>
        <p:nvPr/>
      </p:nvGrpSpPr>
      <p:grpSpPr>
        <a:xfrm>
          <a:off x="0" y="0"/>
          <a:ext cx="0" cy="0"/>
          <a:chOff x="0" y="0"/>
          <a:chExt cx="0" cy="0"/>
        </a:xfrm>
      </p:grpSpPr>
      <p:sp>
        <p:nvSpPr>
          <p:cNvPr id="3" name="Text 3">
            <a:extLst>
              <a:ext uri="{FF2B5EF4-FFF2-40B4-BE49-F238E27FC236}">
                <a16:creationId xmlns:a16="http://schemas.microsoft.com/office/drawing/2014/main" id="{B98968F4-257C-C800-795C-14A54FEA402E}"/>
              </a:ext>
            </a:extLst>
          </p:cNvPr>
          <p:cNvSpPr/>
          <p:nvPr/>
        </p:nvSpPr>
        <p:spPr>
          <a:xfrm>
            <a:off x="157689" y="1325880"/>
            <a:ext cx="9010473" cy="594360"/>
          </a:xfrm>
          <a:prstGeom prst="rect">
            <a:avLst/>
          </a:prstGeom>
          <a:noFill/>
          <a:ln/>
        </p:spPr>
        <p:txBody>
          <a:bodyPr wrap="square" lIns="0" tIns="0" rIns="0" bIns="0" rtlCol="0" anchor="ctr"/>
          <a:lstStyle/>
          <a:p>
            <a:r>
              <a:rPr lang="en-US" sz="2700" b="1" dirty="0">
                <a:solidFill>
                  <a:srgbClr val="BC312C"/>
                </a:solidFill>
                <a:latin typeface="Cambria" pitchFamily="34" charset="0"/>
                <a:ea typeface="Cambria" pitchFamily="34" charset="-122"/>
                <a:cs typeface="Cambria" pitchFamily="34" charset="-120"/>
              </a:rPr>
              <a:t>Tools, Technologies and Software</a:t>
            </a:r>
            <a:endParaRPr lang="en-US" sz="2700" dirty="0"/>
          </a:p>
        </p:txBody>
      </p:sp>
      <p:sp>
        <p:nvSpPr>
          <p:cNvPr id="5" name="Shape 4">
            <a:extLst>
              <a:ext uri="{FF2B5EF4-FFF2-40B4-BE49-F238E27FC236}">
                <a16:creationId xmlns:a16="http://schemas.microsoft.com/office/drawing/2014/main" id="{A02016D6-A2CC-B778-1493-F47D4BA33759}"/>
              </a:ext>
            </a:extLst>
          </p:cNvPr>
          <p:cNvSpPr/>
          <p:nvPr/>
        </p:nvSpPr>
        <p:spPr>
          <a:xfrm>
            <a:off x="156751" y="1920240"/>
            <a:ext cx="8548419" cy="0"/>
          </a:xfrm>
          <a:prstGeom prst="line">
            <a:avLst/>
          </a:prstGeom>
          <a:noFill/>
          <a:ln w="12700">
            <a:solidFill>
              <a:srgbClr val="E0DAD8"/>
            </a:solidFill>
            <a:prstDash val="solid"/>
          </a:ln>
        </p:spPr>
        <p:txBody>
          <a:bodyPr/>
          <a:lstStyle/>
          <a:p>
            <a:endParaRPr lang="en-IN"/>
          </a:p>
        </p:txBody>
      </p:sp>
      <p:sp>
        <p:nvSpPr>
          <p:cNvPr id="7" name="Shape 5">
            <a:extLst>
              <a:ext uri="{FF2B5EF4-FFF2-40B4-BE49-F238E27FC236}">
                <a16:creationId xmlns:a16="http://schemas.microsoft.com/office/drawing/2014/main" id="{714DF212-91B4-C7F7-27FE-970B23767E2E}"/>
              </a:ext>
            </a:extLst>
          </p:cNvPr>
          <p:cNvSpPr/>
          <p:nvPr/>
        </p:nvSpPr>
        <p:spPr>
          <a:xfrm>
            <a:off x="111032" y="2268622"/>
            <a:ext cx="2082619" cy="1837778"/>
          </a:xfrm>
          <a:prstGeom prst="rect">
            <a:avLst/>
          </a:prstGeom>
          <a:solidFill>
            <a:srgbClr val="FFFFFF"/>
          </a:solidFill>
          <a:ln w="12700">
            <a:solidFill>
              <a:srgbClr val="BC312C"/>
            </a:solidFill>
            <a:prstDash val="solid"/>
          </a:ln>
        </p:spPr>
        <p:txBody>
          <a:bodyPr/>
          <a:lstStyle/>
          <a:p>
            <a:endParaRPr lang="en-IN"/>
          </a:p>
        </p:txBody>
      </p:sp>
      <p:sp>
        <p:nvSpPr>
          <p:cNvPr id="9" name="Shape 6">
            <a:extLst>
              <a:ext uri="{FF2B5EF4-FFF2-40B4-BE49-F238E27FC236}">
                <a16:creationId xmlns:a16="http://schemas.microsoft.com/office/drawing/2014/main" id="{3E9F1937-EC3F-C15A-93F9-341705030A4A}"/>
              </a:ext>
            </a:extLst>
          </p:cNvPr>
          <p:cNvSpPr/>
          <p:nvPr/>
        </p:nvSpPr>
        <p:spPr>
          <a:xfrm>
            <a:off x="111032" y="2268622"/>
            <a:ext cx="45719" cy="1837778"/>
          </a:xfrm>
          <a:prstGeom prst="rect">
            <a:avLst/>
          </a:prstGeom>
          <a:solidFill>
            <a:srgbClr val="BC312C"/>
          </a:solidFill>
          <a:ln/>
        </p:spPr>
        <p:txBody>
          <a:bodyPr/>
          <a:lstStyle/>
          <a:p>
            <a:endParaRPr lang="en-IN"/>
          </a:p>
        </p:txBody>
      </p:sp>
      <p:sp>
        <p:nvSpPr>
          <p:cNvPr id="11" name="Text 7">
            <a:extLst>
              <a:ext uri="{FF2B5EF4-FFF2-40B4-BE49-F238E27FC236}">
                <a16:creationId xmlns:a16="http://schemas.microsoft.com/office/drawing/2014/main" id="{F672568D-587D-33C2-1D1C-A3078EB87B68}"/>
              </a:ext>
            </a:extLst>
          </p:cNvPr>
          <p:cNvSpPr/>
          <p:nvPr/>
        </p:nvSpPr>
        <p:spPr>
          <a:xfrm>
            <a:off x="264987" y="2378350"/>
            <a:ext cx="1871721" cy="317886"/>
          </a:xfrm>
          <a:prstGeom prst="rect">
            <a:avLst/>
          </a:prstGeom>
          <a:noFill/>
          <a:ln/>
        </p:spPr>
        <p:txBody>
          <a:bodyPr wrap="square" lIns="0" tIns="0" rIns="0" bIns="0" rtlCol="0" anchor="ctr"/>
          <a:lstStyle/>
          <a:p>
            <a:pPr marL="0" indent="0">
              <a:buNone/>
            </a:pPr>
            <a:r>
              <a:rPr lang="en-US" sz="1800" b="1" dirty="0">
                <a:solidFill>
                  <a:srgbClr val="2F3C7E"/>
                </a:solidFill>
                <a:latin typeface="Calibri" pitchFamily="34" charset="0"/>
                <a:ea typeface="Calibri" pitchFamily="34" charset="-122"/>
                <a:cs typeface="Calibri" pitchFamily="34" charset="-120"/>
              </a:rPr>
              <a:t>Mobile Frontend</a:t>
            </a:r>
            <a:endParaRPr lang="en-US" sz="1800" dirty="0"/>
          </a:p>
        </p:txBody>
      </p:sp>
      <p:sp>
        <p:nvSpPr>
          <p:cNvPr id="13" name="Text 8">
            <a:extLst>
              <a:ext uri="{FF2B5EF4-FFF2-40B4-BE49-F238E27FC236}">
                <a16:creationId xmlns:a16="http://schemas.microsoft.com/office/drawing/2014/main" id="{24825D8E-7136-1231-FA48-1C50871349E5}"/>
              </a:ext>
            </a:extLst>
          </p:cNvPr>
          <p:cNvSpPr/>
          <p:nvPr/>
        </p:nvSpPr>
        <p:spPr>
          <a:xfrm>
            <a:off x="264987" y="2707533"/>
            <a:ext cx="1871721" cy="496697"/>
          </a:xfrm>
          <a:prstGeom prst="rect">
            <a:avLst/>
          </a:prstGeom>
          <a:noFill/>
          <a:ln/>
        </p:spPr>
        <p:txBody>
          <a:bodyPr wrap="square" lIns="0" tIns="0" rIns="0" bIns="0" rtlCol="0" anchor="ctr"/>
          <a:lstStyle/>
          <a:p>
            <a:pPr marL="0" indent="0">
              <a:lnSpc>
                <a:spcPct val="100000"/>
              </a:lnSpc>
              <a:buNone/>
            </a:pPr>
            <a:r>
              <a:rPr lang="en-US" b="1" dirty="0">
                <a:solidFill>
                  <a:srgbClr val="BC312C"/>
                </a:solidFill>
                <a:latin typeface="Calibri" pitchFamily="34" charset="0"/>
                <a:ea typeface="Calibri" pitchFamily="34" charset="-122"/>
                <a:cs typeface="Calibri" pitchFamily="34" charset="-120"/>
              </a:rPr>
              <a:t>Flutter (Dart)</a:t>
            </a:r>
            <a:endParaRPr lang="en-US" dirty="0"/>
          </a:p>
        </p:txBody>
      </p:sp>
      <p:sp>
        <p:nvSpPr>
          <p:cNvPr id="15" name="Text 9">
            <a:extLst>
              <a:ext uri="{FF2B5EF4-FFF2-40B4-BE49-F238E27FC236}">
                <a16:creationId xmlns:a16="http://schemas.microsoft.com/office/drawing/2014/main" id="{B85BC32F-C75C-B879-D333-1976CE274B51}"/>
              </a:ext>
            </a:extLst>
          </p:cNvPr>
          <p:cNvSpPr/>
          <p:nvPr/>
        </p:nvSpPr>
        <p:spPr>
          <a:xfrm>
            <a:off x="264987" y="3183021"/>
            <a:ext cx="1871721" cy="794715"/>
          </a:xfrm>
          <a:prstGeom prst="rect">
            <a:avLst/>
          </a:prstGeom>
          <a:noFill/>
          <a:ln/>
        </p:spPr>
        <p:txBody>
          <a:bodyPr wrap="square" lIns="0" tIns="0" rIns="0" bIns="0" rtlCol="0" anchor="t"/>
          <a:lstStyle/>
          <a:p>
            <a:pPr marL="0" indent="0">
              <a:lnSpc>
                <a:spcPct val="108000"/>
              </a:lnSpc>
              <a:buNone/>
            </a:pPr>
            <a:r>
              <a:rPr lang="en-US" sz="1300" dirty="0">
                <a:solidFill>
                  <a:srgbClr val="262626"/>
                </a:solidFill>
                <a:latin typeface="Calibri" pitchFamily="34" charset="0"/>
                <a:ea typeface="Calibri" pitchFamily="34" charset="-122"/>
                <a:cs typeface="Calibri" pitchFamily="34" charset="-120"/>
              </a:rPr>
              <a:t>Cross-platform app; zero-install-friction interface for non-technical owners</a:t>
            </a:r>
            <a:endParaRPr lang="en-US" sz="1300" dirty="0"/>
          </a:p>
        </p:txBody>
      </p:sp>
      <p:sp>
        <p:nvSpPr>
          <p:cNvPr id="17" name="Shape 10">
            <a:extLst>
              <a:ext uri="{FF2B5EF4-FFF2-40B4-BE49-F238E27FC236}">
                <a16:creationId xmlns:a16="http://schemas.microsoft.com/office/drawing/2014/main" id="{5961618A-F5EA-190F-9D9B-102E539F7F75}"/>
              </a:ext>
            </a:extLst>
          </p:cNvPr>
          <p:cNvSpPr/>
          <p:nvPr/>
        </p:nvSpPr>
        <p:spPr>
          <a:xfrm>
            <a:off x="2357835" y="2268622"/>
            <a:ext cx="2082619" cy="1837778"/>
          </a:xfrm>
          <a:prstGeom prst="rect">
            <a:avLst/>
          </a:prstGeom>
          <a:solidFill>
            <a:srgbClr val="FFFFFF"/>
          </a:solidFill>
          <a:ln w="12700">
            <a:solidFill>
              <a:srgbClr val="BC312C"/>
            </a:solidFill>
            <a:prstDash val="solid"/>
          </a:ln>
        </p:spPr>
        <p:txBody>
          <a:bodyPr/>
          <a:lstStyle/>
          <a:p>
            <a:endParaRPr lang="en-IN"/>
          </a:p>
        </p:txBody>
      </p:sp>
      <p:sp>
        <p:nvSpPr>
          <p:cNvPr id="19" name="Shape 11">
            <a:extLst>
              <a:ext uri="{FF2B5EF4-FFF2-40B4-BE49-F238E27FC236}">
                <a16:creationId xmlns:a16="http://schemas.microsoft.com/office/drawing/2014/main" id="{5AF82A47-D726-5CFD-3301-ABEFD10B8168}"/>
              </a:ext>
            </a:extLst>
          </p:cNvPr>
          <p:cNvSpPr/>
          <p:nvPr/>
        </p:nvSpPr>
        <p:spPr>
          <a:xfrm>
            <a:off x="2357835" y="2268622"/>
            <a:ext cx="45719" cy="1837778"/>
          </a:xfrm>
          <a:prstGeom prst="rect">
            <a:avLst/>
          </a:prstGeom>
          <a:solidFill>
            <a:srgbClr val="BC312C"/>
          </a:solidFill>
          <a:ln/>
        </p:spPr>
        <p:txBody>
          <a:bodyPr/>
          <a:lstStyle/>
          <a:p>
            <a:endParaRPr lang="en-IN"/>
          </a:p>
        </p:txBody>
      </p:sp>
      <p:sp>
        <p:nvSpPr>
          <p:cNvPr id="21" name="Text 12">
            <a:extLst>
              <a:ext uri="{FF2B5EF4-FFF2-40B4-BE49-F238E27FC236}">
                <a16:creationId xmlns:a16="http://schemas.microsoft.com/office/drawing/2014/main" id="{799EE405-63A2-F5FB-998F-C3700B00BA2C}"/>
              </a:ext>
            </a:extLst>
          </p:cNvPr>
          <p:cNvSpPr/>
          <p:nvPr/>
        </p:nvSpPr>
        <p:spPr>
          <a:xfrm>
            <a:off x="2511790" y="2378350"/>
            <a:ext cx="1871721" cy="317886"/>
          </a:xfrm>
          <a:prstGeom prst="rect">
            <a:avLst/>
          </a:prstGeom>
          <a:noFill/>
          <a:ln/>
        </p:spPr>
        <p:txBody>
          <a:bodyPr wrap="square" lIns="0" tIns="0" rIns="0" bIns="0" rtlCol="0" anchor="ctr"/>
          <a:lstStyle/>
          <a:p>
            <a:pPr marL="0" indent="0">
              <a:buNone/>
            </a:pPr>
            <a:r>
              <a:rPr lang="en-US" sz="1800" b="1" dirty="0">
                <a:solidFill>
                  <a:srgbClr val="2F3C7E"/>
                </a:solidFill>
                <a:latin typeface="Calibri" pitchFamily="34" charset="0"/>
                <a:ea typeface="Calibri" pitchFamily="34" charset="-122"/>
                <a:cs typeface="Calibri" pitchFamily="34" charset="-120"/>
              </a:rPr>
              <a:t>Forecasting Engine</a:t>
            </a:r>
            <a:endParaRPr lang="en-US" sz="1800" dirty="0"/>
          </a:p>
        </p:txBody>
      </p:sp>
      <p:sp>
        <p:nvSpPr>
          <p:cNvPr id="23" name="Text 13">
            <a:extLst>
              <a:ext uri="{FF2B5EF4-FFF2-40B4-BE49-F238E27FC236}">
                <a16:creationId xmlns:a16="http://schemas.microsoft.com/office/drawing/2014/main" id="{A9F9EACE-89A6-53BD-AB20-059638218341}"/>
              </a:ext>
            </a:extLst>
          </p:cNvPr>
          <p:cNvSpPr/>
          <p:nvPr/>
        </p:nvSpPr>
        <p:spPr>
          <a:xfrm>
            <a:off x="2511790" y="2707533"/>
            <a:ext cx="1871721" cy="496697"/>
          </a:xfrm>
          <a:prstGeom prst="rect">
            <a:avLst/>
          </a:prstGeom>
          <a:noFill/>
          <a:ln/>
        </p:spPr>
        <p:txBody>
          <a:bodyPr wrap="square" lIns="0" tIns="0" rIns="0" bIns="0" rtlCol="0" anchor="ctr"/>
          <a:lstStyle/>
          <a:p>
            <a:pPr marL="0" indent="0">
              <a:lnSpc>
                <a:spcPct val="100000"/>
              </a:lnSpc>
              <a:buNone/>
            </a:pPr>
            <a:r>
              <a:rPr lang="en-US" b="1" dirty="0">
                <a:solidFill>
                  <a:srgbClr val="BC312C"/>
                </a:solidFill>
                <a:latin typeface="Calibri" pitchFamily="34" charset="0"/>
                <a:ea typeface="Calibri" pitchFamily="34" charset="-122"/>
                <a:cs typeface="Calibri" pitchFamily="34" charset="-120"/>
              </a:rPr>
              <a:t>Facebook Prophet + XGBoost (Python)</a:t>
            </a:r>
            <a:endParaRPr lang="en-US" dirty="0"/>
          </a:p>
        </p:txBody>
      </p:sp>
      <p:sp>
        <p:nvSpPr>
          <p:cNvPr id="25" name="Text 14">
            <a:extLst>
              <a:ext uri="{FF2B5EF4-FFF2-40B4-BE49-F238E27FC236}">
                <a16:creationId xmlns:a16="http://schemas.microsoft.com/office/drawing/2014/main" id="{464E0A94-34ED-B2F1-F2D3-FE4CA1D7EE13}"/>
              </a:ext>
            </a:extLst>
          </p:cNvPr>
          <p:cNvSpPr/>
          <p:nvPr/>
        </p:nvSpPr>
        <p:spPr>
          <a:xfrm>
            <a:off x="2511790" y="3183021"/>
            <a:ext cx="1871721" cy="794715"/>
          </a:xfrm>
          <a:prstGeom prst="rect">
            <a:avLst/>
          </a:prstGeom>
          <a:noFill/>
          <a:ln/>
        </p:spPr>
        <p:txBody>
          <a:bodyPr wrap="square" lIns="0" tIns="0" rIns="0" bIns="0" rtlCol="0" anchor="t"/>
          <a:lstStyle/>
          <a:p>
            <a:pPr marL="0" indent="0">
              <a:lnSpc>
                <a:spcPct val="108000"/>
              </a:lnSpc>
              <a:buNone/>
            </a:pPr>
            <a:r>
              <a:rPr lang="en-US" sz="1300" dirty="0">
                <a:solidFill>
                  <a:srgbClr val="262626"/>
                </a:solidFill>
                <a:latin typeface="Calibri" pitchFamily="34" charset="0"/>
                <a:ea typeface="Calibri" pitchFamily="34" charset="-122"/>
                <a:cs typeface="Calibri" pitchFamily="34" charset="-120"/>
              </a:rPr>
              <a:t>Prophet handles trend/seasonality; XGBoost models the residuals — CPU-only, no GPU needed</a:t>
            </a:r>
            <a:endParaRPr lang="en-US" sz="1300" dirty="0"/>
          </a:p>
        </p:txBody>
      </p:sp>
      <p:sp>
        <p:nvSpPr>
          <p:cNvPr id="27" name="Shape 15">
            <a:extLst>
              <a:ext uri="{FF2B5EF4-FFF2-40B4-BE49-F238E27FC236}">
                <a16:creationId xmlns:a16="http://schemas.microsoft.com/office/drawing/2014/main" id="{2A44C553-CF07-EC89-D671-5AFEFBC51FFF}"/>
              </a:ext>
            </a:extLst>
          </p:cNvPr>
          <p:cNvSpPr/>
          <p:nvPr/>
        </p:nvSpPr>
        <p:spPr>
          <a:xfrm>
            <a:off x="4623301" y="2268622"/>
            <a:ext cx="2082619" cy="1837778"/>
          </a:xfrm>
          <a:prstGeom prst="rect">
            <a:avLst/>
          </a:prstGeom>
          <a:solidFill>
            <a:srgbClr val="FFFFFF"/>
          </a:solidFill>
          <a:ln w="12700">
            <a:solidFill>
              <a:srgbClr val="BC312C"/>
            </a:solidFill>
            <a:prstDash val="solid"/>
          </a:ln>
        </p:spPr>
        <p:txBody>
          <a:bodyPr/>
          <a:lstStyle/>
          <a:p>
            <a:endParaRPr lang="en-IN"/>
          </a:p>
        </p:txBody>
      </p:sp>
      <p:sp>
        <p:nvSpPr>
          <p:cNvPr id="29" name="Shape 16">
            <a:extLst>
              <a:ext uri="{FF2B5EF4-FFF2-40B4-BE49-F238E27FC236}">
                <a16:creationId xmlns:a16="http://schemas.microsoft.com/office/drawing/2014/main" id="{1F5D7A2A-B287-B018-0EEF-D30B6EB4F4C5}"/>
              </a:ext>
            </a:extLst>
          </p:cNvPr>
          <p:cNvSpPr/>
          <p:nvPr/>
        </p:nvSpPr>
        <p:spPr>
          <a:xfrm>
            <a:off x="4623301" y="2268622"/>
            <a:ext cx="45719" cy="1837778"/>
          </a:xfrm>
          <a:prstGeom prst="rect">
            <a:avLst/>
          </a:prstGeom>
          <a:solidFill>
            <a:srgbClr val="BC312C"/>
          </a:solidFill>
          <a:ln/>
        </p:spPr>
        <p:txBody>
          <a:bodyPr/>
          <a:lstStyle/>
          <a:p>
            <a:endParaRPr lang="en-IN"/>
          </a:p>
        </p:txBody>
      </p:sp>
      <p:sp>
        <p:nvSpPr>
          <p:cNvPr id="31" name="Text 17">
            <a:extLst>
              <a:ext uri="{FF2B5EF4-FFF2-40B4-BE49-F238E27FC236}">
                <a16:creationId xmlns:a16="http://schemas.microsoft.com/office/drawing/2014/main" id="{436B8A5E-D6B9-D26A-7DE6-045000451F77}"/>
              </a:ext>
            </a:extLst>
          </p:cNvPr>
          <p:cNvSpPr/>
          <p:nvPr/>
        </p:nvSpPr>
        <p:spPr>
          <a:xfrm>
            <a:off x="4777256" y="2378350"/>
            <a:ext cx="1871721" cy="317886"/>
          </a:xfrm>
          <a:prstGeom prst="rect">
            <a:avLst/>
          </a:prstGeom>
          <a:noFill/>
          <a:ln/>
        </p:spPr>
        <p:txBody>
          <a:bodyPr wrap="square" lIns="0" tIns="0" rIns="0" bIns="0" rtlCol="0" anchor="ctr"/>
          <a:lstStyle/>
          <a:p>
            <a:pPr marL="0" indent="0">
              <a:buNone/>
            </a:pPr>
            <a:r>
              <a:rPr lang="en-US" sz="1800" b="1" dirty="0">
                <a:solidFill>
                  <a:srgbClr val="2F3C7E"/>
                </a:solidFill>
                <a:latin typeface="Calibri" pitchFamily="34" charset="0"/>
                <a:ea typeface="Calibri" pitchFamily="34" charset="-122"/>
                <a:cs typeface="Calibri" pitchFamily="34" charset="-120"/>
              </a:rPr>
              <a:t>External Regressors</a:t>
            </a:r>
            <a:endParaRPr lang="en-US" sz="1800" dirty="0"/>
          </a:p>
        </p:txBody>
      </p:sp>
      <p:sp>
        <p:nvSpPr>
          <p:cNvPr id="33" name="Text 18">
            <a:extLst>
              <a:ext uri="{FF2B5EF4-FFF2-40B4-BE49-F238E27FC236}">
                <a16:creationId xmlns:a16="http://schemas.microsoft.com/office/drawing/2014/main" id="{4D2DBE44-3B9E-8CB7-40C7-30F715E332CC}"/>
              </a:ext>
            </a:extLst>
          </p:cNvPr>
          <p:cNvSpPr/>
          <p:nvPr/>
        </p:nvSpPr>
        <p:spPr>
          <a:xfrm>
            <a:off x="4777256" y="2707533"/>
            <a:ext cx="1871721" cy="496697"/>
          </a:xfrm>
          <a:prstGeom prst="rect">
            <a:avLst/>
          </a:prstGeom>
          <a:noFill/>
          <a:ln/>
        </p:spPr>
        <p:txBody>
          <a:bodyPr wrap="square" lIns="0" tIns="0" rIns="0" bIns="0" rtlCol="0" anchor="ctr"/>
          <a:lstStyle/>
          <a:p>
            <a:pPr marL="0" indent="0">
              <a:lnSpc>
                <a:spcPct val="100000"/>
              </a:lnSpc>
              <a:buNone/>
            </a:pPr>
            <a:r>
              <a:rPr lang="en-US" b="1" dirty="0" err="1">
                <a:solidFill>
                  <a:srgbClr val="BC312C"/>
                </a:solidFill>
                <a:latin typeface="Calibri" pitchFamily="34" charset="0"/>
                <a:ea typeface="Calibri" pitchFamily="34" charset="-122"/>
                <a:cs typeface="Calibri" pitchFamily="34" charset="-120"/>
              </a:rPr>
              <a:t>WeatherAPI</a:t>
            </a:r>
            <a:r>
              <a:rPr lang="en-US" b="1" dirty="0">
                <a:solidFill>
                  <a:srgbClr val="BC312C"/>
                </a:solidFill>
                <a:latin typeface="Calibri" pitchFamily="34" charset="0"/>
                <a:ea typeface="Calibri" pitchFamily="34" charset="-122"/>
                <a:cs typeface="Calibri" pitchFamily="34" charset="-120"/>
              </a:rPr>
              <a:t>, Python `holidays` library</a:t>
            </a:r>
            <a:endParaRPr lang="en-US" dirty="0"/>
          </a:p>
        </p:txBody>
      </p:sp>
      <p:sp>
        <p:nvSpPr>
          <p:cNvPr id="35" name="Text 19">
            <a:extLst>
              <a:ext uri="{FF2B5EF4-FFF2-40B4-BE49-F238E27FC236}">
                <a16:creationId xmlns:a16="http://schemas.microsoft.com/office/drawing/2014/main" id="{32915754-1979-CDA6-973B-F4034EA6318E}"/>
              </a:ext>
            </a:extLst>
          </p:cNvPr>
          <p:cNvSpPr/>
          <p:nvPr/>
        </p:nvSpPr>
        <p:spPr>
          <a:xfrm>
            <a:off x="4787179" y="3304911"/>
            <a:ext cx="1871721" cy="794715"/>
          </a:xfrm>
          <a:prstGeom prst="rect">
            <a:avLst/>
          </a:prstGeom>
          <a:noFill/>
          <a:ln/>
        </p:spPr>
        <p:txBody>
          <a:bodyPr wrap="square" lIns="0" tIns="0" rIns="0" bIns="0" rtlCol="0" anchor="t"/>
          <a:lstStyle/>
          <a:p>
            <a:pPr marL="0" indent="0">
              <a:lnSpc>
                <a:spcPct val="108000"/>
              </a:lnSpc>
              <a:buNone/>
            </a:pPr>
            <a:r>
              <a:rPr lang="en-US" sz="1300" dirty="0">
                <a:solidFill>
                  <a:srgbClr val="262626"/>
                </a:solidFill>
                <a:latin typeface="Calibri" pitchFamily="34" charset="0"/>
                <a:ea typeface="Calibri" pitchFamily="34" charset="-122"/>
                <a:cs typeface="Calibri" pitchFamily="34" charset="-120"/>
              </a:rPr>
              <a:t>Feeds weather and public-holiday signals into Prophet</a:t>
            </a:r>
            <a:endParaRPr lang="en-US" sz="1300" dirty="0"/>
          </a:p>
        </p:txBody>
      </p:sp>
      <p:sp>
        <p:nvSpPr>
          <p:cNvPr id="37" name="Shape 20">
            <a:extLst>
              <a:ext uri="{FF2B5EF4-FFF2-40B4-BE49-F238E27FC236}">
                <a16:creationId xmlns:a16="http://schemas.microsoft.com/office/drawing/2014/main" id="{CE4A2577-973D-AA56-2211-97042ECE48C0}"/>
              </a:ext>
            </a:extLst>
          </p:cNvPr>
          <p:cNvSpPr/>
          <p:nvPr/>
        </p:nvSpPr>
        <p:spPr>
          <a:xfrm>
            <a:off x="111032" y="4572352"/>
            <a:ext cx="2082619" cy="1837778"/>
          </a:xfrm>
          <a:prstGeom prst="rect">
            <a:avLst/>
          </a:prstGeom>
          <a:solidFill>
            <a:srgbClr val="FFFFFF"/>
          </a:solidFill>
          <a:ln w="12700">
            <a:solidFill>
              <a:srgbClr val="BC312C"/>
            </a:solidFill>
            <a:prstDash val="solid"/>
          </a:ln>
        </p:spPr>
        <p:txBody>
          <a:bodyPr/>
          <a:lstStyle/>
          <a:p>
            <a:endParaRPr lang="en-IN"/>
          </a:p>
        </p:txBody>
      </p:sp>
      <p:sp>
        <p:nvSpPr>
          <p:cNvPr id="39" name="Shape 21">
            <a:extLst>
              <a:ext uri="{FF2B5EF4-FFF2-40B4-BE49-F238E27FC236}">
                <a16:creationId xmlns:a16="http://schemas.microsoft.com/office/drawing/2014/main" id="{EB586E16-1273-7271-C98E-6430EA13B055}"/>
              </a:ext>
            </a:extLst>
          </p:cNvPr>
          <p:cNvSpPr/>
          <p:nvPr/>
        </p:nvSpPr>
        <p:spPr>
          <a:xfrm>
            <a:off x="111032" y="4572352"/>
            <a:ext cx="45719" cy="1837778"/>
          </a:xfrm>
          <a:prstGeom prst="rect">
            <a:avLst/>
          </a:prstGeom>
          <a:solidFill>
            <a:srgbClr val="BC312C"/>
          </a:solidFill>
          <a:ln/>
        </p:spPr>
        <p:txBody>
          <a:bodyPr/>
          <a:lstStyle/>
          <a:p>
            <a:endParaRPr lang="en-IN"/>
          </a:p>
        </p:txBody>
      </p:sp>
      <p:sp>
        <p:nvSpPr>
          <p:cNvPr id="41" name="Text 22">
            <a:extLst>
              <a:ext uri="{FF2B5EF4-FFF2-40B4-BE49-F238E27FC236}">
                <a16:creationId xmlns:a16="http://schemas.microsoft.com/office/drawing/2014/main" id="{ABBB4A37-DC96-E26F-C943-7F635BA1BE88}"/>
              </a:ext>
            </a:extLst>
          </p:cNvPr>
          <p:cNvSpPr/>
          <p:nvPr/>
        </p:nvSpPr>
        <p:spPr>
          <a:xfrm>
            <a:off x="246322" y="4682080"/>
            <a:ext cx="1871721" cy="317886"/>
          </a:xfrm>
          <a:prstGeom prst="rect">
            <a:avLst/>
          </a:prstGeom>
          <a:noFill/>
          <a:ln/>
        </p:spPr>
        <p:txBody>
          <a:bodyPr wrap="square" lIns="0" tIns="0" rIns="0" bIns="0" rtlCol="0" anchor="ctr"/>
          <a:lstStyle/>
          <a:p>
            <a:pPr marL="0" indent="0">
              <a:buNone/>
            </a:pPr>
            <a:r>
              <a:rPr lang="en-US" sz="1800" b="1" dirty="0">
                <a:solidFill>
                  <a:srgbClr val="2F3C7E"/>
                </a:solidFill>
                <a:latin typeface="Calibri" pitchFamily="34" charset="0"/>
                <a:ea typeface="Calibri" pitchFamily="34" charset="-122"/>
                <a:cs typeface="Calibri" pitchFamily="34" charset="-120"/>
              </a:rPr>
              <a:t>Restock Logic</a:t>
            </a:r>
            <a:endParaRPr lang="en-US" sz="1800" dirty="0"/>
          </a:p>
        </p:txBody>
      </p:sp>
      <p:sp>
        <p:nvSpPr>
          <p:cNvPr id="43" name="Text 23">
            <a:extLst>
              <a:ext uri="{FF2B5EF4-FFF2-40B4-BE49-F238E27FC236}">
                <a16:creationId xmlns:a16="http://schemas.microsoft.com/office/drawing/2014/main" id="{ABDED32A-893C-73EA-3D58-A0710AF40B11}"/>
              </a:ext>
            </a:extLst>
          </p:cNvPr>
          <p:cNvSpPr/>
          <p:nvPr/>
        </p:nvSpPr>
        <p:spPr>
          <a:xfrm>
            <a:off x="246322" y="5011263"/>
            <a:ext cx="1871721" cy="496697"/>
          </a:xfrm>
          <a:prstGeom prst="rect">
            <a:avLst/>
          </a:prstGeom>
          <a:noFill/>
          <a:ln/>
        </p:spPr>
        <p:txBody>
          <a:bodyPr wrap="square" lIns="0" tIns="0" rIns="0" bIns="0" rtlCol="0" anchor="ctr"/>
          <a:lstStyle/>
          <a:p>
            <a:pPr marL="0" indent="0">
              <a:lnSpc>
                <a:spcPct val="100000"/>
              </a:lnSpc>
              <a:buNone/>
            </a:pPr>
            <a:r>
              <a:rPr lang="en-US" b="1" dirty="0">
                <a:solidFill>
                  <a:srgbClr val="BC312C"/>
                </a:solidFill>
                <a:latin typeface="Calibri" pitchFamily="34" charset="0"/>
                <a:ea typeface="Calibri" pitchFamily="34" charset="-122"/>
                <a:cs typeface="Calibri" pitchFamily="34" charset="-120"/>
              </a:rPr>
              <a:t>Python (Pandas, NumPy)</a:t>
            </a:r>
            <a:endParaRPr lang="en-US" dirty="0"/>
          </a:p>
        </p:txBody>
      </p:sp>
      <p:sp>
        <p:nvSpPr>
          <p:cNvPr id="45" name="Text 24">
            <a:extLst>
              <a:ext uri="{FF2B5EF4-FFF2-40B4-BE49-F238E27FC236}">
                <a16:creationId xmlns:a16="http://schemas.microsoft.com/office/drawing/2014/main" id="{958AF938-4357-2182-F525-F6FE0745FA9F}"/>
              </a:ext>
            </a:extLst>
          </p:cNvPr>
          <p:cNvSpPr/>
          <p:nvPr/>
        </p:nvSpPr>
        <p:spPr>
          <a:xfrm>
            <a:off x="246322" y="5486751"/>
            <a:ext cx="1871721" cy="794715"/>
          </a:xfrm>
          <a:prstGeom prst="rect">
            <a:avLst/>
          </a:prstGeom>
          <a:noFill/>
          <a:ln/>
        </p:spPr>
        <p:txBody>
          <a:bodyPr wrap="square" lIns="0" tIns="0" rIns="0" bIns="0" rtlCol="0" anchor="t"/>
          <a:lstStyle/>
          <a:p>
            <a:pPr marL="0" indent="0">
              <a:lnSpc>
                <a:spcPct val="108000"/>
              </a:lnSpc>
              <a:buNone/>
            </a:pPr>
            <a:r>
              <a:rPr lang="en-US" sz="1300" dirty="0">
                <a:solidFill>
                  <a:srgbClr val="262626"/>
                </a:solidFill>
                <a:latin typeface="Calibri" pitchFamily="34" charset="0"/>
                <a:ea typeface="Calibri" pitchFamily="34" charset="-122"/>
                <a:cs typeface="Calibri" pitchFamily="34" charset="-120"/>
              </a:rPr>
              <a:t>Deterministic safety-stock buffer calculation — not a second ML model</a:t>
            </a:r>
            <a:endParaRPr lang="en-US" sz="1300" dirty="0"/>
          </a:p>
        </p:txBody>
      </p:sp>
      <p:sp>
        <p:nvSpPr>
          <p:cNvPr id="47" name="Shape 25">
            <a:extLst>
              <a:ext uri="{FF2B5EF4-FFF2-40B4-BE49-F238E27FC236}">
                <a16:creationId xmlns:a16="http://schemas.microsoft.com/office/drawing/2014/main" id="{D109E86A-90D9-A3BD-014B-21957907C8E8}"/>
              </a:ext>
            </a:extLst>
          </p:cNvPr>
          <p:cNvSpPr/>
          <p:nvPr/>
        </p:nvSpPr>
        <p:spPr>
          <a:xfrm>
            <a:off x="2357835" y="4572352"/>
            <a:ext cx="2082619" cy="1837778"/>
          </a:xfrm>
          <a:prstGeom prst="rect">
            <a:avLst/>
          </a:prstGeom>
          <a:solidFill>
            <a:srgbClr val="FFFFFF"/>
          </a:solidFill>
          <a:ln w="12700">
            <a:solidFill>
              <a:srgbClr val="BC312C"/>
            </a:solidFill>
            <a:prstDash val="solid"/>
          </a:ln>
        </p:spPr>
        <p:txBody>
          <a:bodyPr/>
          <a:lstStyle/>
          <a:p>
            <a:endParaRPr lang="en-IN"/>
          </a:p>
        </p:txBody>
      </p:sp>
      <p:sp>
        <p:nvSpPr>
          <p:cNvPr id="49" name="Shape 26">
            <a:extLst>
              <a:ext uri="{FF2B5EF4-FFF2-40B4-BE49-F238E27FC236}">
                <a16:creationId xmlns:a16="http://schemas.microsoft.com/office/drawing/2014/main" id="{FA426156-1175-731C-AFAF-71DCA67E3B83}"/>
              </a:ext>
            </a:extLst>
          </p:cNvPr>
          <p:cNvSpPr/>
          <p:nvPr/>
        </p:nvSpPr>
        <p:spPr>
          <a:xfrm>
            <a:off x="2357835" y="4572352"/>
            <a:ext cx="45719" cy="1837778"/>
          </a:xfrm>
          <a:prstGeom prst="rect">
            <a:avLst/>
          </a:prstGeom>
          <a:solidFill>
            <a:srgbClr val="BC312C"/>
          </a:solidFill>
          <a:ln/>
        </p:spPr>
        <p:txBody>
          <a:bodyPr/>
          <a:lstStyle/>
          <a:p>
            <a:endParaRPr lang="en-IN"/>
          </a:p>
        </p:txBody>
      </p:sp>
      <p:sp>
        <p:nvSpPr>
          <p:cNvPr id="51" name="Text 27">
            <a:extLst>
              <a:ext uri="{FF2B5EF4-FFF2-40B4-BE49-F238E27FC236}">
                <a16:creationId xmlns:a16="http://schemas.microsoft.com/office/drawing/2014/main" id="{DCBF2ADC-E528-78B9-2917-6AA7013D7944}"/>
              </a:ext>
            </a:extLst>
          </p:cNvPr>
          <p:cNvSpPr/>
          <p:nvPr/>
        </p:nvSpPr>
        <p:spPr>
          <a:xfrm>
            <a:off x="2493125" y="4682080"/>
            <a:ext cx="1871721" cy="317886"/>
          </a:xfrm>
          <a:prstGeom prst="rect">
            <a:avLst/>
          </a:prstGeom>
          <a:noFill/>
          <a:ln/>
        </p:spPr>
        <p:txBody>
          <a:bodyPr wrap="square" lIns="0" tIns="0" rIns="0" bIns="0" rtlCol="0" anchor="ctr"/>
          <a:lstStyle/>
          <a:p>
            <a:pPr marL="0" indent="0">
              <a:buNone/>
            </a:pPr>
            <a:r>
              <a:rPr lang="en-US" sz="1800" b="1" dirty="0">
                <a:solidFill>
                  <a:srgbClr val="2F3C7E"/>
                </a:solidFill>
                <a:latin typeface="Calibri" pitchFamily="34" charset="0"/>
                <a:ea typeface="Calibri" pitchFamily="34" charset="-122"/>
                <a:cs typeface="Calibri" pitchFamily="34" charset="-120"/>
              </a:rPr>
              <a:t>Backend API</a:t>
            </a:r>
            <a:endParaRPr lang="en-US" sz="1800" dirty="0"/>
          </a:p>
        </p:txBody>
      </p:sp>
      <p:sp>
        <p:nvSpPr>
          <p:cNvPr id="53" name="Text 28">
            <a:extLst>
              <a:ext uri="{FF2B5EF4-FFF2-40B4-BE49-F238E27FC236}">
                <a16:creationId xmlns:a16="http://schemas.microsoft.com/office/drawing/2014/main" id="{562E5B76-74E3-01BE-DDC6-398B2474960F}"/>
              </a:ext>
            </a:extLst>
          </p:cNvPr>
          <p:cNvSpPr/>
          <p:nvPr/>
        </p:nvSpPr>
        <p:spPr>
          <a:xfrm>
            <a:off x="2493125" y="5011263"/>
            <a:ext cx="1871721" cy="496697"/>
          </a:xfrm>
          <a:prstGeom prst="rect">
            <a:avLst/>
          </a:prstGeom>
          <a:noFill/>
          <a:ln/>
        </p:spPr>
        <p:txBody>
          <a:bodyPr wrap="square" lIns="0" tIns="0" rIns="0" bIns="0" rtlCol="0" anchor="ctr"/>
          <a:lstStyle/>
          <a:p>
            <a:pPr marL="0" indent="0">
              <a:lnSpc>
                <a:spcPct val="100000"/>
              </a:lnSpc>
              <a:buNone/>
            </a:pPr>
            <a:r>
              <a:rPr lang="en-US" b="1" dirty="0">
                <a:solidFill>
                  <a:srgbClr val="BC312C"/>
                </a:solidFill>
                <a:latin typeface="Calibri" pitchFamily="34" charset="0"/>
                <a:ea typeface="Calibri" pitchFamily="34" charset="-122"/>
                <a:cs typeface="Calibri" pitchFamily="34" charset="-120"/>
              </a:rPr>
              <a:t>FastAPI / Flask, hosted on Render / AWS / GCP</a:t>
            </a:r>
            <a:endParaRPr lang="en-US" dirty="0"/>
          </a:p>
        </p:txBody>
      </p:sp>
      <p:sp>
        <p:nvSpPr>
          <p:cNvPr id="55" name="Text 29">
            <a:extLst>
              <a:ext uri="{FF2B5EF4-FFF2-40B4-BE49-F238E27FC236}">
                <a16:creationId xmlns:a16="http://schemas.microsoft.com/office/drawing/2014/main" id="{2968C857-B1AF-8004-C04D-1AD32E4A14CC}"/>
              </a:ext>
            </a:extLst>
          </p:cNvPr>
          <p:cNvSpPr/>
          <p:nvPr/>
        </p:nvSpPr>
        <p:spPr>
          <a:xfrm>
            <a:off x="2493125" y="5486751"/>
            <a:ext cx="1871721" cy="794715"/>
          </a:xfrm>
          <a:prstGeom prst="rect">
            <a:avLst/>
          </a:prstGeom>
          <a:noFill/>
          <a:ln/>
        </p:spPr>
        <p:txBody>
          <a:bodyPr wrap="square" lIns="0" tIns="0" rIns="0" bIns="0" rtlCol="0" anchor="t"/>
          <a:lstStyle/>
          <a:p>
            <a:pPr marL="0" indent="0">
              <a:lnSpc>
                <a:spcPct val="108000"/>
              </a:lnSpc>
              <a:buNone/>
            </a:pPr>
            <a:r>
              <a:rPr lang="en-US" sz="1300" dirty="0">
                <a:solidFill>
                  <a:srgbClr val="262626"/>
                </a:solidFill>
                <a:latin typeface="Calibri" pitchFamily="34" charset="0"/>
                <a:ea typeface="Calibri" pitchFamily="34" charset="-122"/>
                <a:cs typeface="Calibri" pitchFamily="34" charset="-120"/>
              </a:rPr>
              <a:t>Connects Flutter app to the Python forecasting pipeline</a:t>
            </a:r>
            <a:endParaRPr lang="en-US" sz="1300" dirty="0"/>
          </a:p>
        </p:txBody>
      </p:sp>
      <p:sp>
        <p:nvSpPr>
          <p:cNvPr id="57" name="Shape 30">
            <a:extLst>
              <a:ext uri="{FF2B5EF4-FFF2-40B4-BE49-F238E27FC236}">
                <a16:creationId xmlns:a16="http://schemas.microsoft.com/office/drawing/2014/main" id="{194CCC77-60F7-C0A1-C25C-16AF8D8FA281}"/>
              </a:ext>
            </a:extLst>
          </p:cNvPr>
          <p:cNvSpPr/>
          <p:nvPr/>
        </p:nvSpPr>
        <p:spPr>
          <a:xfrm>
            <a:off x="4623301" y="4572352"/>
            <a:ext cx="2082619" cy="1837778"/>
          </a:xfrm>
          <a:prstGeom prst="rect">
            <a:avLst/>
          </a:prstGeom>
          <a:solidFill>
            <a:srgbClr val="FFFFFF"/>
          </a:solidFill>
          <a:ln w="12700">
            <a:solidFill>
              <a:srgbClr val="BC312C"/>
            </a:solidFill>
            <a:prstDash val="solid"/>
          </a:ln>
        </p:spPr>
        <p:txBody>
          <a:bodyPr/>
          <a:lstStyle/>
          <a:p>
            <a:endParaRPr lang="en-IN"/>
          </a:p>
        </p:txBody>
      </p:sp>
      <p:sp>
        <p:nvSpPr>
          <p:cNvPr id="59" name="Shape 31">
            <a:extLst>
              <a:ext uri="{FF2B5EF4-FFF2-40B4-BE49-F238E27FC236}">
                <a16:creationId xmlns:a16="http://schemas.microsoft.com/office/drawing/2014/main" id="{227BC298-6022-5A07-32AF-CBC5ECCBCFCD}"/>
              </a:ext>
            </a:extLst>
          </p:cNvPr>
          <p:cNvSpPr/>
          <p:nvPr/>
        </p:nvSpPr>
        <p:spPr>
          <a:xfrm>
            <a:off x="4623301" y="4572352"/>
            <a:ext cx="45719" cy="1837778"/>
          </a:xfrm>
          <a:prstGeom prst="rect">
            <a:avLst/>
          </a:prstGeom>
          <a:solidFill>
            <a:srgbClr val="BC312C"/>
          </a:solidFill>
          <a:ln/>
        </p:spPr>
        <p:txBody>
          <a:bodyPr/>
          <a:lstStyle/>
          <a:p>
            <a:endParaRPr lang="en-IN"/>
          </a:p>
        </p:txBody>
      </p:sp>
      <p:sp>
        <p:nvSpPr>
          <p:cNvPr id="61" name="Text 32">
            <a:extLst>
              <a:ext uri="{FF2B5EF4-FFF2-40B4-BE49-F238E27FC236}">
                <a16:creationId xmlns:a16="http://schemas.microsoft.com/office/drawing/2014/main" id="{853EE45E-98E0-D6B8-7CF2-C7647BE97725}"/>
              </a:ext>
            </a:extLst>
          </p:cNvPr>
          <p:cNvSpPr/>
          <p:nvPr/>
        </p:nvSpPr>
        <p:spPr>
          <a:xfrm>
            <a:off x="4758591" y="4682080"/>
            <a:ext cx="1871721" cy="317886"/>
          </a:xfrm>
          <a:prstGeom prst="rect">
            <a:avLst/>
          </a:prstGeom>
          <a:noFill/>
          <a:ln/>
        </p:spPr>
        <p:txBody>
          <a:bodyPr wrap="square" lIns="0" tIns="0" rIns="0" bIns="0" rtlCol="0" anchor="ctr"/>
          <a:lstStyle/>
          <a:p>
            <a:pPr marL="0" indent="0">
              <a:buNone/>
            </a:pPr>
            <a:r>
              <a:rPr lang="en-US" sz="1800" b="1" dirty="0">
                <a:solidFill>
                  <a:srgbClr val="2F3C7E"/>
                </a:solidFill>
                <a:latin typeface="Calibri" pitchFamily="34" charset="0"/>
                <a:ea typeface="Calibri" pitchFamily="34" charset="-122"/>
                <a:cs typeface="Calibri" pitchFamily="34" charset="-120"/>
              </a:rPr>
              <a:t>Database</a:t>
            </a:r>
            <a:endParaRPr lang="en-US" sz="1800" dirty="0"/>
          </a:p>
        </p:txBody>
      </p:sp>
      <p:sp>
        <p:nvSpPr>
          <p:cNvPr id="63" name="Text 33">
            <a:extLst>
              <a:ext uri="{FF2B5EF4-FFF2-40B4-BE49-F238E27FC236}">
                <a16:creationId xmlns:a16="http://schemas.microsoft.com/office/drawing/2014/main" id="{40020701-AD54-B905-E5FD-47FDBE1482A7}"/>
              </a:ext>
            </a:extLst>
          </p:cNvPr>
          <p:cNvSpPr/>
          <p:nvPr/>
        </p:nvSpPr>
        <p:spPr>
          <a:xfrm>
            <a:off x="4758591" y="5011263"/>
            <a:ext cx="1871721" cy="496697"/>
          </a:xfrm>
          <a:prstGeom prst="rect">
            <a:avLst/>
          </a:prstGeom>
          <a:noFill/>
          <a:ln/>
        </p:spPr>
        <p:txBody>
          <a:bodyPr wrap="square" lIns="0" tIns="0" rIns="0" bIns="0" rtlCol="0" anchor="ctr"/>
          <a:lstStyle/>
          <a:p>
            <a:pPr marL="0" indent="0">
              <a:lnSpc>
                <a:spcPct val="100000"/>
              </a:lnSpc>
              <a:buNone/>
            </a:pPr>
            <a:r>
              <a:rPr lang="en-US" b="1" dirty="0">
                <a:solidFill>
                  <a:srgbClr val="BC312C"/>
                </a:solidFill>
                <a:latin typeface="Calibri" pitchFamily="34" charset="0"/>
                <a:ea typeface="Calibri" pitchFamily="34" charset="-122"/>
                <a:cs typeface="Calibri" pitchFamily="34" charset="-120"/>
              </a:rPr>
              <a:t>Firebase / Supabase</a:t>
            </a:r>
            <a:endParaRPr lang="en-US" dirty="0"/>
          </a:p>
        </p:txBody>
      </p:sp>
      <p:sp>
        <p:nvSpPr>
          <p:cNvPr id="65" name="Text 34">
            <a:extLst>
              <a:ext uri="{FF2B5EF4-FFF2-40B4-BE49-F238E27FC236}">
                <a16:creationId xmlns:a16="http://schemas.microsoft.com/office/drawing/2014/main" id="{6DDF69FB-E0B7-4379-A44B-88F38091E848}"/>
              </a:ext>
            </a:extLst>
          </p:cNvPr>
          <p:cNvSpPr/>
          <p:nvPr/>
        </p:nvSpPr>
        <p:spPr>
          <a:xfrm>
            <a:off x="4758591" y="5486751"/>
            <a:ext cx="1871721" cy="794715"/>
          </a:xfrm>
          <a:prstGeom prst="rect">
            <a:avLst/>
          </a:prstGeom>
          <a:noFill/>
          <a:ln/>
        </p:spPr>
        <p:txBody>
          <a:bodyPr wrap="square" lIns="0" tIns="0" rIns="0" bIns="0" rtlCol="0" anchor="t"/>
          <a:lstStyle/>
          <a:p>
            <a:pPr marL="0" indent="0">
              <a:lnSpc>
                <a:spcPct val="108000"/>
              </a:lnSpc>
              <a:buNone/>
            </a:pPr>
            <a:r>
              <a:rPr lang="en-US" sz="1300" dirty="0">
                <a:solidFill>
                  <a:srgbClr val="262626"/>
                </a:solidFill>
                <a:latin typeface="Calibri" pitchFamily="34" charset="0"/>
                <a:ea typeface="Calibri" pitchFamily="34" charset="-122"/>
                <a:cs typeface="Calibri" pitchFamily="34" charset="-120"/>
              </a:rPr>
              <a:t>User auth, shop profiles, historical sales logs from CSVs</a:t>
            </a:r>
            <a:endParaRPr lang="en-US" sz="1300" dirty="0"/>
          </a:p>
        </p:txBody>
      </p:sp>
      <p:sp>
        <p:nvSpPr>
          <p:cNvPr id="8" name="Slide Number Placeholder 3">
            <a:extLst>
              <a:ext uri="{FF2B5EF4-FFF2-40B4-BE49-F238E27FC236}">
                <a16:creationId xmlns:a16="http://schemas.microsoft.com/office/drawing/2014/main" id="{467F0C2B-15E6-F38F-6799-DC749C1D3E8B}"/>
              </a:ext>
            </a:extLst>
          </p:cNvPr>
          <p:cNvSpPr>
            <a:spLocks noGrp="1"/>
          </p:cNvSpPr>
          <p:nvPr>
            <p:ph type="sldNum" sz="quarter" idx="12"/>
          </p:nvPr>
        </p:nvSpPr>
        <p:spPr>
          <a:xfrm>
            <a:off x="6507284" y="6421755"/>
            <a:ext cx="2133600" cy="365125"/>
          </a:xfrm>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10</a:t>
            </a:fld>
            <a:endParaRPr lang="en-US" dirty="0">
              <a:latin typeface="Times New Roman" panose="02020603050405020304" pitchFamily="18" charset="0"/>
              <a:cs typeface="Times New Roman" panose="02020603050405020304" pitchFamily="18" charset="0"/>
            </a:endParaRPr>
          </a:p>
        </p:txBody>
      </p:sp>
      <p:sp>
        <p:nvSpPr>
          <p:cNvPr id="46" name="Shape 15">
            <a:extLst>
              <a:ext uri="{FF2B5EF4-FFF2-40B4-BE49-F238E27FC236}">
                <a16:creationId xmlns:a16="http://schemas.microsoft.com/office/drawing/2014/main" id="{A00B6E05-4F1A-8E43-AC8D-C038F96E0C8D}"/>
              </a:ext>
            </a:extLst>
          </p:cNvPr>
          <p:cNvSpPr/>
          <p:nvPr/>
        </p:nvSpPr>
        <p:spPr>
          <a:xfrm>
            <a:off x="6929086" y="2268622"/>
            <a:ext cx="2082619" cy="1837778"/>
          </a:xfrm>
          <a:prstGeom prst="rect">
            <a:avLst/>
          </a:prstGeom>
          <a:solidFill>
            <a:srgbClr val="FFFFFF"/>
          </a:solidFill>
          <a:ln w="12700">
            <a:solidFill>
              <a:srgbClr val="BC312C"/>
            </a:solidFill>
            <a:prstDash val="solid"/>
          </a:ln>
        </p:spPr>
        <p:txBody>
          <a:bodyPr/>
          <a:lstStyle/>
          <a:p>
            <a:endParaRPr lang="en-IN"/>
          </a:p>
        </p:txBody>
      </p:sp>
      <p:sp>
        <p:nvSpPr>
          <p:cNvPr id="50" name="Shape 16">
            <a:extLst>
              <a:ext uri="{FF2B5EF4-FFF2-40B4-BE49-F238E27FC236}">
                <a16:creationId xmlns:a16="http://schemas.microsoft.com/office/drawing/2014/main" id="{D1A0D9C3-0EEB-9924-5132-EFEF91D111B7}"/>
              </a:ext>
            </a:extLst>
          </p:cNvPr>
          <p:cNvSpPr/>
          <p:nvPr/>
        </p:nvSpPr>
        <p:spPr>
          <a:xfrm>
            <a:off x="6929086" y="2268622"/>
            <a:ext cx="45719" cy="1837778"/>
          </a:xfrm>
          <a:prstGeom prst="rect">
            <a:avLst/>
          </a:prstGeom>
          <a:solidFill>
            <a:srgbClr val="BC312C"/>
          </a:solidFill>
          <a:ln/>
        </p:spPr>
        <p:txBody>
          <a:bodyPr/>
          <a:lstStyle/>
          <a:p>
            <a:endParaRPr lang="en-IN"/>
          </a:p>
        </p:txBody>
      </p:sp>
      <p:sp>
        <p:nvSpPr>
          <p:cNvPr id="66" name="Shape 30">
            <a:extLst>
              <a:ext uri="{FF2B5EF4-FFF2-40B4-BE49-F238E27FC236}">
                <a16:creationId xmlns:a16="http://schemas.microsoft.com/office/drawing/2014/main" id="{F7D409C0-AEEB-E2D1-4EFE-925D8246391D}"/>
              </a:ext>
            </a:extLst>
          </p:cNvPr>
          <p:cNvSpPr/>
          <p:nvPr/>
        </p:nvSpPr>
        <p:spPr>
          <a:xfrm>
            <a:off x="6929086" y="4572352"/>
            <a:ext cx="2082619" cy="1837778"/>
          </a:xfrm>
          <a:prstGeom prst="rect">
            <a:avLst/>
          </a:prstGeom>
          <a:solidFill>
            <a:srgbClr val="FFFFFF"/>
          </a:solidFill>
          <a:ln w="12700">
            <a:solidFill>
              <a:srgbClr val="BC312C"/>
            </a:solidFill>
            <a:prstDash val="solid"/>
          </a:ln>
        </p:spPr>
        <p:txBody>
          <a:bodyPr/>
          <a:lstStyle/>
          <a:p>
            <a:endParaRPr lang="en-IN"/>
          </a:p>
        </p:txBody>
      </p:sp>
      <p:sp>
        <p:nvSpPr>
          <p:cNvPr id="68" name="Shape 31">
            <a:extLst>
              <a:ext uri="{FF2B5EF4-FFF2-40B4-BE49-F238E27FC236}">
                <a16:creationId xmlns:a16="http://schemas.microsoft.com/office/drawing/2014/main" id="{5216A2F8-6D48-C29B-3FE7-38191AD781CB}"/>
              </a:ext>
            </a:extLst>
          </p:cNvPr>
          <p:cNvSpPr/>
          <p:nvPr/>
        </p:nvSpPr>
        <p:spPr>
          <a:xfrm>
            <a:off x="6929086" y="4572352"/>
            <a:ext cx="45719" cy="1837778"/>
          </a:xfrm>
          <a:prstGeom prst="rect">
            <a:avLst/>
          </a:prstGeom>
          <a:solidFill>
            <a:srgbClr val="BC312C"/>
          </a:solidFill>
          <a:ln/>
        </p:spPr>
        <p:txBody>
          <a:bodyPr/>
          <a:lstStyle/>
          <a:p>
            <a:endParaRPr lang="en-IN"/>
          </a:p>
        </p:txBody>
      </p:sp>
      <p:sp>
        <p:nvSpPr>
          <p:cNvPr id="76" name="TextBox 75">
            <a:extLst>
              <a:ext uri="{FF2B5EF4-FFF2-40B4-BE49-F238E27FC236}">
                <a16:creationId xmlns:a16="http://schemas.microsoft.com/office/drawing/2014/main" id="{801508E8-568D-E1DE-B9EF-E341D4E53E20}"/>
              </a:ext>
            </a:extLst>
          </p:cNvPr>
          <p:cNvSpPr txBox="1"/>
          <p:nvPr/>
        </p:nvSpPr>
        <p:spPr>
          <a:xfrm>
            <a:off x="6974805" y="2377394"/>
            <a:ext cx="2077757" cy="1641475"/>
          </a:xfrm>
          <a:prstGeom prst="rect">
            <a:avLst/>
          </a:prstGeom>
          <a:noFill/>
        </p:spPr>
        <p:txBody>
          <a:bodyPr wrap="square">
            <a:spAutoFit/>
          </a:bodyPr>
          <a:lstStyle/>
          <a:p>
            <a:r>
              <a:rPr sz="1800" b="1" dirty="0">
                <a:solidFill>
                  <a:srgbClr val="2F3C7E"/>
                </a:solidFill>
                <a:latin typeface="Calibri"/>
              </a:rPr>
              <a:t>Development Tools</a:t>
            </a:r>
          </a:p>
          <a:p>
            <a:pPr>
              <a:spcBef>
                <a:spcPts val="1000"/>
              </a:spcBef>
            </a:pPr>
            <a:r>
              <a:rPr b="1" dirty="0">
                <a:solidFill>
                  <a:srgbClr val="BC312C"/>
                </a:solidFill>
                <a:latin typeface="Calibri"/>
              </a:rPr>
              <a:t>Jupyter, VS Code, Git</a:t>
            </a:r>
          </a:p>
          <a:p>
            <a:pPr>
              <a:spcBef>
                <a:spcPts val="1000"/>
              </a:spcBef>
            </a:pPr>
            <a:r>
              <a:rPr sz="1300" dirty="0">
                <a:solidFill>
                  <a:srgbClr val="333333"/>
                </a:solidFill>
                <a:latin typeface="Calibri"/>
              </a:rPr>
              <a:t>Jupyter Notebook for EDA &amp; model training</a:t>
            </a:r>
            <a:r>
              <a:rPr lang="en-IN" sz="1300" dirty="0">
                <a:solidFill>
                  <a:srgbClr val="333333"/>
                </a:solidFill>
                <a:latin typeface="Calibri"/>
              </a:rPr>
              <a:t>,</a:t>
            </a:r>
            <a:r>
              <a:rPr sz="1300" dirty="0">
                <a:solidFill>
                  <a:srgbClr val="333333"/>
                </a:solidFill>
                <a:latin typeface="Calibri"/>
              </a:rPr>
              <a:t> VS Code</a:t>
            </a:r>
            <a:r>
              <a:rPr lang="en-IN" sz="1300" dirty="0">
                <a:solidFill>
                  <a:srgbClr val="333333"/>
                </a:solidFill>
                <a:latin typeface="Calibri"/>
              </a:rPr>
              <a:t> and Android Studio for development</a:t>
            </a:r>
            <a:r>
              <a:rPr sz="1300" dirty="0">
                <a:solidFill>
                  <a:srgbClr val="333333"/>
                </a:solidFill>
                <a:latin typeface="Calibri"/>
              </a:rPr>
              <a:t>.</a:t>
            </a:r>
          </a:p>
        </p:txBody>
      </p:sp>
      <p:sp>
        <p:nvSpPr>
          <p:cNvPr id="78" name="TextBox 77">
            <a:extLst>
              <a:ext uri="{FF2B5EF4-FFF2-40B4-BE49-F238E27FC236}">
                <a16:creationId xmlns:a16="http://schemas.microsoft.com/office/drawing/2014/main" id="{6E0382EC-3170-36A8-7DBF-2806398C6E81}"/>
              </a:ext>
            </a:extLst>
          </p:cNvPr>
          <p:cNvSpPr txBox="1"/>
          <p:nvPr/>
        </p:nvSpPr>
        <p:spPr>
          <a:xfrm>
            <a:off x="6906227" y="4682080"/>
            <a:ext cx="2082619" cy="1703030"/>
          </a:xfrm>
          <a:prstGeom prst="rect">
            <a:avLst/>
          </a:prstGeom>
          <a:noFill/>
        </p:spPr>
        <p:txBody>
          <a:bodyPr wrap="square">
            <a:spAutoFit/>
          </a:bodyPr>
          <a:lstStyle/>
          <a:p>
            <a:r>
              <a:rPr sz="1800" b="1" dirty="0">
                <a:solidFill>
                  <a:srgbClr val="2F3C7E"/>
                </a:solidFill>
                <a:latin typeface="Calibri"/>
              </a:rPr>
              <a:t>Hardware Specs</a:t>
            </a:r>
          </a:p>
          <a:p>
            <a:pPr>
              <a:spcBef>
                <a:spcPts val="1000"/>
              </a:spcBef>
            </a:pPr>
            <a:r>
              <a:rPr b="1" dirty="0">
                <a:solidFill>
                  <a:srgbClr val="BC312C"/>
                </a:solidFill>
                <a:latin typeface="Calibri"/>
              </a:rPr>
              <a:t>Standard CPU / 8GB RAM</a:t>
            </a:r>
          </a:p>
          <a:p>
            <a:pPr>
              <a:spcBef>
                <a:spcPts val="1000"/>
              </a:spcBef>
            </a:pPr>
            <a:r>
              <a:rPr sz="1300" dirty="0">
                <a:solidFill>
                  <a:srgbClr val="333333"/>
                </a:solidFill>
                <a:latin typeface="Calibri"/>
              </a:rPr>
              <a:t>No GPU required. Computationally lightweight, ensuring low cloud-inference costs.</a:t>
            </a:r>
          </a:p>
        </p:txBody>
      </p:sp>
    </p:spTree>
    <p:extLst>
      <p:ext uri="{BB962C8B-B14F-4D97-AF65-F5344CB8AC3E}">
        <p14:creationId xmlns:p14="http://schemas.microsoft.com/office/powerpoint/2010/main" val="10924234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854B4-2F0D-2432-874B-C1A16AB23949}"/>
            </a:ext>
          </a:extLst>
        </p:cNvPr>
        <p:cNvGrpSpPr/>
        <p:nvPr/>
      </p:nvGrpSpPr>
      <p:grpSpPr>
        <a:xfrm>
          <a:off x="0" y="0"/>
          <a:ext cx="0" cy="0"/>
          <a:chOff x="0" y="0"/>
          <a:chExt cx="0" cy="0"/>
        </a:xfrm>
      </p:grpSpPr>
      <p:sp>
        <p:nvSpPr>
          <p:cNvPr id="19" name="Text 3">
            <a:extLst>
              <a:ext uri="{FF2B5EF4-FFF2-40B4-BE49-F238E27FC236}">
                <a16:creationId xmlns:a16="http://schemas.microsoft.com/office/drawing/2014/main" id="{F4FA3AAC-3BB8-C6A4-1142-0B2AEF659401}"/>
              </a:ext>
            </a:extLst>
          </p:cNvPr>
          <p:cNvSpPr/>
          <p:nvPr/>
        </p:nvSpPr>
        <p:spPr>
          <a:xfrm>
            <a:off x="111030" y="1316549"/>
            <a:ext cx="9359542" cy="594360"/>
          </a:xfrm>
          <a:prstGeom prst="rect">
            <a:avLst/>
          </a:prstGeom>
          <a:noFill/>
          <a:ln/>
        </p:spPr>
        <p:txBody>
          <a:bodyPr wrap="square" lIns="0" tIns="0" rIns="0" bIns="0" rtlCol="0" anchor="ctr"/>
          <a:lstStyle/>
          <a:p>
            <a:pPr marL="0" indent="0" algn="l">
              <a:buNone/>
            </a:pPr>
            <a:r>
              <a:rPr lang="en-US" sz="2700" b="1" dirty="0">
                <a:solidFill>
                  <a:srgbClr val="BC312C"/>
                </a:solidFill>
                <a:latin typeface="Cambria" pitchFamily="34" charset="0"/>
                <a:ea typeface="Cambria" pitchFamily="34" charset="-122"/>
                <a:cs typeface="Cambria" pitchFamily="34" charset="-120"/>
              </a:rPr>
              <a:t>Expected Outcomes</a:t>
            </a:r>
            <a:endParaRPr lang="en-US" sz="2700" dirty="0"/>
          </a:p>
        </p:txBody>
      </p:sp>
      <p:sp>
        <p:nvSpPr>
          <p:cNvPr id="21" name="Shape 4">
            <a:extLst>
              <a:ext uri="{FF2B5EF4-FFF2-40B4-BE49-F238E27FC236}">
                <a16:creationId xmlns:a16="http://schemas.microsoft.com/office/drawing/2014/main" id="{6CEA9312-7C19-0691-0537-309A0467F3D9}"/>
              </a:ext>
            </a:extLst>
          </p:cNvPr>
          <p:cNvSpPr/>
          <p:nvPr/>
        </p:nvSpPr>
        <p:spPr>
          <a:xfrm flipV="1">
            <a:off x="111030" y="1917627"/>
            <a:ext cx="8781043" cy="11570"/>
          </a:xfrm>
          <a:prstGeom prst="line">
            <a:avLst/>
          </a:prstGeom>
          <a:noFill/>
          <a:ln w="12700">
            <a:solidFill>
              <a:srgbClr val="E0DAD8"/>
            </a:solidFill>
            <a:prstDash val="solid"/>
          </a:ln>
        </p:spPr>
      </p:sp>
      <p:sp>
        <p:nvSpPr>
          <p:cNvPr id="22" name="TextBox 21"/>
          <p:cNvSpPr txBox="1"/>
          <p:nvPr/>
        </p:nvSpPr>
        <p:spPr>
          <a:xfrm>
            <a:off x="111030" y="2020000"/>
            <a:ext cx="4215521" cy="307777"/>
          </a:xfrm>
          <a:prstGeom prst="rect">
            <a:avLst/>
          </a:prstGeom>
          <a:noFill/>
        </p:spPr>
        <p:txBody>
          <a:bodyPr wrap="square" lIns="0" tIns="0" rIns="0" bIns="0" anchor="t">
            <a:spAutoFit/>
          </a:bodyPr>
          <a:lstStyle/>
          <a:p>
            <a:pPr algn="l"/>
            <a:r>
              <a:rPr sz="2000" b="1" i="0" dirty="0">
                <a:solidFill>
                  <a:srgbClr val="2F3C7E"/>
                </a:solidFill>
                <a:latin typeface="Calibri"/>
              </a:rPr>
              <a:t>Technical Outcomes</a:t>
            </a:r>
          </a:p>
        </p:txBody>
      </p:sp>
      <p:sp>
        <p:nvSpPr>
          <p:cNvPr id="23" name="Rectangle 22"/>
          <p:cNvSpPr/>
          <p:nvPr/>
        </p:nvSpPr>
        <p:spPr>
          <a:xfrm>
            <a:off x="111030" y="2420000"/>
            <a:ext cx="4215521" cy="9525"/>
          </a:xfrm>
          <a:prstGeom prst="rect">
            <a:avLst/>
          </a:prstGeom>
          <a:solidFill>
            <a:srgbClr val="E0DA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4" name="Oval 23"/>
          <p:cNvSpPr/>
          <p:nvPr/>
        </p:nvSpPr>
        <p:spPr>
          <a:xfrm>
            <a:off x="121030" y="2670000"/>
            <a:ext cx="90000" cy="90000"/>
          </a:xfrm>
          <a:prstGeom prst="ellipse">
            <a:avLst/>
          </a:prstGeom>
          <a:solidFill>
            <a:srgbClr val="2F3C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5" name="TextBox 24"/>
          <p:cNvSpPr txBox="1"/>
          <p:nvPr/>
        </p:nvSpPr>
        <p:spPr>
          <a:xfrm>
            <a:off x="331030" y="2554748"/>
            <a:ext cx="3995521" cy="936923"/>
          </a:xfrm>
          <a:prstGeom prst="rect">
            <a:avLst/>
          </a:prstGeom>
          <a:noFill/>
        </p:spPr>
        <p:txBody>
          <a:bodyPr wrap="square" lIns="0" tIns="0" rIns="0" bIns="0" anchor="t">
            <a:spAutoFit/>
          </a:bodyPr>
          <a:lstStyle/>
          <a:p>
            <a:pPr algn="l">
              <a:lnSpc>
                <a:spcPct val="115000"/>
              </a:lnSpc>
            </a:pPr>
            <a:r>
              <a:rPr sz="1800" b="0" i="0" dirty="0">
                <a:solidFill>
                  <a:srgbClr val="262626"/>
                </a:solidFill>
                <a:latin typeface="Calibri"/>
              </a:rPr>
              <a:t>Hybrid expected to reduce forecast error over standalone Prophet, following the pattern Kamboj et al. found</a:t>
            </a:r>
          </a:p>
        </p:txBody>
      </p:sp>
      <p:sp>
        <p:nvSpPr>
          <p:cNvPr id="26" name="Oval 25"/>
          <p:cNvSpPr/>
          <p:nvPr/>
        </p:nvSpPr>
        <p:spPr>
          <a:xfrm>
            <a:off x="121030" y="3970000"/>
            <a:ext cx="90000" cy="90000"/>
          </a:xfrm>
          <a:prstGeom prst="ellipse">
            <a:avLst/>
          </a:prstGeom>
          <a:solidFill>
            <a:srgbClr val="2F3C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7" name="TextBox 26"/>
          <p:cNvSpPr txBox="1"/>
          <p:nvPr/>
        </p:nvSpPr>
        <p:spPr>
          <a:xfrm>
            <a:off x="331030" y="3854748"/>
            <a:ext cx="3995521" cy="936923"/>
          </a:xfrm>
          <a:prstGeom prst="rect">
            <a:avLst/>
          </a:prstGeom>
          <a:noFill/>
        </p:spPr>
        <p:txBody>
          <a:bodyPr wrap="square" lIns="0" tIns="0" rIns="0" bIns="0" anchor="t">
            <a:spAutoFit/>
          </a:bodyPr>
          <a:lstStyle/>
          <a:p>
            <a:pPr algn="l">
              <a:lnSpc>
                <a:spcPct val="115000"/>
              </a:lnSpc>
            </a:pPr>
            <a:r>
              <a:rPr sz="1800" b="0" i="0" dirty="0">
                <a:solidFill>
                  <a:srgbClr val="262626"/>
                </a:solidFill>
                <a:latin typeface="Calibri"/>
              </a:rPr>
              <a:t>Adaptive branching expected to hold across both sparse and high-volume items, in one pipeline</a:t>
            </a:r>
          </a:p>
        </p:txBody>
      </p:sp>
      <p:sp>
        <p:nvSpPr>
          <p:cNvPr id="28" name="Oval 27"/>
          <p:cNvSpPr/>
          <p:nvPr/>
        </p:nvSpPr>
        <p:spPr>
          <a:xfrm>
            <a:off x="121030" y="5270000"/>
            <a:ext cx="90000" cy="90000"/>
          </a:xfrm>
          <a:prstGeom prst="ellipse">
            <a:avLst/>
          </a:prstGeom>
          <a:solidFill>
            <a:srgbClr val="2F3C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9" name="TextBox 28"/>
          <p:cNvSpPr txBox="1"/>
          <p:nvPr/>
        </p:nvSpPr>
        <p:spPr>
          <a:xfrm>
            <a:off x="331030" y="5154748"/>
            <a:ext cx="3995521" cy="936923"/>
          </a:xfrm>
          <a:prstGeom prst="rect">
            <a:avLst/>
          </a:prstGeom>
          <a:noFill/>
        </p:spPr>
        <p:txBody>
          <a:bodyPr wrap="square" lIns="0" tIns="0" rIns="0" bIns="0" anchor="t">
            <a:spAutoFit/>
          </a:bodyPr>
          <a:lstStyle/>
          <a:p>
            <a:pPr algn="l">
              <a:lnSpc>
                <a:spcPct val="115000"/>
              </a:lnSpc>
            </a:pPr>
            <a:r>
              <a:rPr sz="1800" b="0" i="0" dirty="0">
                <a:solidFill>
                  <a:srgbClr val="262626"/>
                </a:solidFill>
                <a:latin typeface="Calibri"/>
              </a:rPr>
              <a:t>Every restock number expected to be directly usable — correct and actionable, not just accurate</a:t>
            </a:r>
          </a:p>
        </p:txBody>
      </p:sp>
      <p:sp>
        <p:nvSpPr>
          <p:cNvPr id="30" name="TextBox 29"/>
          <p:cNvSpPr txBox="1"/>
          <p:nvPr/>
        </p:nvSpPr>
        <p:spPr>
          <a:xfrm>
            <a:off x="4676551" y="2020000"/>
            <a:ext cx="4215521" cy="307777"/>
          </a:xfrm>
          <a:prstGeom prst="rect">
            <a:avLst/>
          </a:prstGeom>
          <a:noFill/>
        </p:spPr>
        <p:txBody>
          <a:bodyPr wrap="square" lIns="0" tIns="0" rIns="0" bIns="0" anchor="t">
            <a:spAutoFit/>
          </a:bodyPr>
          <a:lstStyle/>
          <a:p>
            <a:pPr algn="l"/>
            <a:r>
              <a:rPr sz="2000" b="1" i="0">
                <a:solidFill>
                  <a:srgbClr val="BC312C"/>
                </a:solidFill>
                <a:latin typeface="Calibri"/>
              </a:rPr>
              <a:t>Business Outcomes</a:t>
            </a:r>
          </a:p>
        </p:txBody>
      </p:sp>
      <p:sp>
        <p:nvSpPr>
          <p:cNvPr id="31" name="Rectangle 30"/>
          <p:cNvSpPr/>
          <p:nvPr/>
        </p:nvSpPr>
        <p:spPr>
          <a:xfrm>
            <a:off x="4676551" y="2420000"/>
            <a:ext cx="4215521" cy="9525"/>
          </a:xfrm>
          <a:prstGeom prst="rect">
            <a:avLst/>
          </a:prstGeom>
          <a:solidFill>
            <a:srgbClr val="E0DA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32" name="Oval 31"/>
          <p:cNvSpPr/>
          <p:nvPr/>
        </p:nvSpPr>
        <p:spPr>
          <a:xfrm>
            <a:off x="4686551" y="2670000"/>
            <a:ext cx="90000" cy="90000"/>
          </a:xfrm>
          <a:prstGeom prst="ellipse">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33" name="TextBox 32"/>
          <p:cNvSpPr txBox="1"/>
          <p:nvPr/>
        </p:nvSpPr>
        <p:spPr>
          <a:xfrm>
            <a:off x="4896551" y="2558615"/>
            <a:ext cx="3995521" cy="936923"/>
          </a:xfrm>
          <a:prstGeom prst="rect">
            <a:avLst/>
          </a:prstGeom>
          <a:noFill/>
        </p:spPr>
        <p:txBody>
          <a:bodyPr wrap="square" lIns="0" tIns="0" rIns="0" bIns="0" anchor="t">
            <a:spAutoFit/>
          </a:bodyPr>
          <a:lstStyle/>
          <a:p>
            <a:pPr algn="l">
              <a:lnSpc>
                <a:spcPct val="115000"/>
              </a:lnSpc>
            </a:pPr>
            <a:r>
              <a:rPr sz="1800" b="0" i="0" dirty="0">
                <a:solidFill>
                  <a:srgbClr val="262626"/>
                </a:solidFill>
                <a:latin typeface="Calibri"/>
              </a:rPr>
              <a:t>Fewer wasted units, fewer stockouts — the downstream effect of a safety-stock-adjusted number</a:t>
            </a:r>
          </a:p>
        </p:txBody>
      </p:sp>
      <p:sp>
        <p:nvSpPr>
          <p:cNvPr id="34" name="Oval 33"/>
          <p:cNvSpPr/>
          <p:nvPr/>
        </p:nvSpPr>
        <p:spPr>
          <a:xfrm>
            <a:off x="4686551" y="3970000"/>
            <a:ext cx="90000" cy="90000"/>
          </a:xfrm>
          <a:prstGeom prst="ellipse">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35" name="TextBox 34"/>
          <p:cNvSpPr txBox="1"/>
          <p:nvPr/>
        </p:nvSpPr>
        <p:spPr>
          <a:xfrm>
            <a:off x="4896551" y="3858615"/>
            <a:ext cx="3995521" cy="618374"/>
          </a:xfrm>
          <a:prstGeom prst="rect">
            <a:avLst/>
          </a:prstGeom>
          <a:noFill/>
        </p:spPr>
        <p:txBody>
          <a:bodyPr wrap="square" lIns="0" tIns="0" rIns="0" bIns="0" anchor="t">
            <a:spAutoFit/>
          </a:bodyPr>
          <a:lstStyle/>
          <a:p>
            <a:pPr algn="l">
              <a:lnSpc>
                <a:spcPct val="115000"/>
              </a:lnSpc>
            </a:pPr>
            <a:r>
              <a:rPr sz="1800" b="0" i="0" dirty="0">
                <a:solidFill>
                  <a:srgbClr val="262626"/>
                </a:solidFill>
                <a:latin typeface="Calibri"/>
              </a:rPr>
              <a:t>Ordering time drops from minutes of guessing to seconds of reading</a:t>
            </a:r>
          </a:p>
        </p:txBody>
      </p:sp>
      <p:sp>
        <p:nvSpPr>
          <p:cNvPr id="36" name="Oval 35"/>
          <p:cNvSpPr/>
          <p:nvPr/>
        </p:nvSpPr>
        <p:spPr>
          <a:xfrm>
            <a:off x="4686551" y="5270000"/>
            <a:ext cx="90000" cy="90000"/>
          </a:xfrm>
          <a:prstGeom prst="ellipse">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37" name="TextBox 36"/>
          <p:cNvSpPr txBox="1"/>
          <p:nvPr/>
        </p:nvSpPr>
        <p:spPr>
          <a:xfrm>
            <a:off x="4896551" y="5158615"/>
            <a:ext cx="3995521" cy="936923"/>
          </a:xfrm>
          <a:prstGeom prst="rect">
            <a:avLst/>
          </a:prstGeom>
          <a:noFill/>
        </p:spPr>
        <p:txBody>
          <a:bodyPr wrap="square" lIns="0" tIns="0" rIns="0" bIns="0" anchor="t">
            <a:spAutoFit/>
          </a:bodyPr>
          <a:lstStyle/>
          <a:p>
            <a:pPr algn="l">
              <a:lnSpc>
                <a:spcPct val="115000"/>
              </a:lnSpc>
            </a:pPr>
            <a:r>
              <a:rPr sz="1800" b="0" i="0" dirty="0">
                <a:solidFill>
                  <a:srgbClr val="262626"/>
                </a:solidFill>
                <a:latin typeface="Calibri"/>
              </a:rPr>
              <a:t>Daily real use, not just install ease of use is the strongest driver of SME adoption (</a:t>
            </a:r>
            <a:r>
              <a:rPr sz="1800" b="0" i="0" dirty="0" err="1">
                <a:solidFill>
                  <a:srgbClr val="262626"/>
                </a:solidFill>
                <a:latin typeface="Calibri"/>
              </a:rPr>
              <a:t>Yuniarty</a:t>
            </a:r>
            <a:r>
              <a:rPr sz="1800" b="0" i="0" dirty="0">
                <a:solidFill>
                  <a:srgbClr val="262626"/>
                </a:solidFill>
                <a:latin typeface="Calibri"/>
              </a:rPr>
              <a:t> et al.)</a:t>
            </a:r>
          </a:p>
        </p:txBody>
      </p:sp>
      <p:sp>
        <p:nvSpPr>
          <p:cNvPr id="2" name="Slide Number Placeholder 3">
            <a:extLst>
              <a:ext uri="{FF2B5EF4-FFF2-40B4-BE49-F238E27FC236}">
                <a16:creationId xmlns:a16="http://schemas.microsoft.com/office/drawing/2014/main" id="{D55E7586-4924-B51E-D751-ED21B4C4E098}"/>
              </a:ext>
            </a:extLst>
          </p:cNvPr>
          <p:cNvSpPr>
            <a:spLocks noGrp="1"/>
          </p:cNvSpPr>
          <p:nvPr>
            <p:ph type="sldNum" sz="quarter" idx="12"/>
          </p:nvPr>
        </p:nvSpPr>
        <p:spPr>
          <a:xfrm>
            <a:off x="6507284" y="6421755"/>
            <a:ext cx="2133600" cy="365125"/>
          </a:xfrm>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11</a:t>
            </a:fld>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287289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854B4-2F0D-2432-874B-C1A16AB23949}"/>
            </a:ext>
          </a:extLst>
        </p:cNvPr>
        <p:cNvGrpSpPr/>
        <p:nvPr/>
      </p:nvGrpSpPr>
      <p:grpSpPr>
        <a:xfrm>
          <a:off x="0" y="0"/>
          <a:ext cx="0" cy="0"/>
          <a:chOff x="0" y="0"/>
          <a:chExt cx="0" cy="0"/>
        </a:xfrm>
      </p:grpSpPr>
      <p:sp>
        <p:nvSpPr>
          <p:cNvPr id="19" name="Text 3">
            <a:extLst>
              <a:ext uri="{FF2B5EF4-FFF2-40B4-BE49-F238E27FC236}">
                <a16:creationId xmlns:a16="http://schemas.microsoft.com/office/drawing/2014/main" id="{F4FA3AAC-3BB8-C6A4-1142-0B2AEF659401}"/>
              </a:ext>
            </a:extLst>
          </p:cNvPr>
          <p:cNvSpPr/>
          <p:nvPr/>
        </p:nvSpPr>
        <p:spPr>
          <a:xfrm>
            <a:off x="111030" y="1316549"/>
            <a:ext cx="9359542" cy="594360"/>
          </a:xfrm>
          <a:prstGeom prst="rect">
            <a:avLst/>
          </a:prstGeom>
          <a:noFill/>
          <a:ln/>
        </p:spPr>
        <p:txBody>
          <a:bodyPr wrap="square" lIns="0" tIns="0" rIns="0" bIns="0" rtlCol="0" anchor="ctr"/>
          <a:lstStyle/>
          <a:p>
            <a:pPr marL="0" indent="0" algn="l">
              <a:buNone/>
            </a:pPr>
            <a:r>
              <a:rPr lang="en-US" sz="2700" b="1" dirty="0">
                <a:solidFill>
                  <a:srgbClr val="BC312C"/>
                </a:solidFill>
                <a:latin typeface="Cambria" pitchFamily="34" charset="0"/>
                <a:ea typeface="Cambria" pitchFamily="34" charset="-122"/>
                <a:cs typeface="Cambria" pitchFamily="34" charset="-120"/>
              </a:rPr>
              <a:t>Feasibility of Implementation</a:t>
            </a:r>
            <a:endParaRPr lang="en-US" sz="2700" dirty="0"/>
          </a:p>
        </p:txBody>
      </p:sp>
      <p:sp>
        <p:nvSpPr>
          <p:cNvPr id="21" name="Shape 4">
            <a:extLst>
              <a:ext uri="{FF2B5EF4-FFF2-40B4-BE49-F238E27FC236}">
                <a16:creationId xmlns:a16="http://schemas.microsoft.com/office/drawing/2014/main" id="{6CEA9312-7C19-0691-0537-309A0467F3D9}"/>
              </a:ext>
            </a:extLst>
          </p:cNvPr>
          <p:cNvSpPr/>
          <p:nvPr/>
        </p:nvSpPr>
        <p:spPr>
          <a:xfrm flipV="1">
            <a:off x="111030" y="1917627"/>
            <a:ext cx="8781043" cy="11570"/>
          </a:xfrm>
          <a:prstGeom prst="line">
            <a:avLst/>
          </a:prstGeom>
          <a:noFill/>
          <a:ln w="12700">
            <a:solidFill>
              <a:srgbClr val="E0DAD8"/>
            </a:solidFill>
            <a:prstDash val="solid"/>
          </a:ln>
        </p:spPr>
      </p:sp>
      <p:sp>
        <p:nvSpPr>
          <p:cNvPr id="22" name="Rectangle 21"/>
          <p:cNvSpPr/>
          <p:nvPr/>
        </p:nvSpPr>
        <p:spPr>
          <a:xfrm>
            <a:off x="103527" y="2020000"/>
            <a:ext cx="4300521" cy="2299088"/>
          </a:xfrm>
          <a:prstGeom prst="rect">
            <a:avLst/>
          </a:prstGeom>
          <a:solidFill>
            <a:srgbClr val="F7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800"/>
          </a:p>
        </p:txBody>
      </p:sp>
      <p:sp>
        <p:nvSpPr>
          <p:cNvPr id="23" name="TextBox 22"/>
          <p:cNvSpPr txBox="1"/>
          <p:nvPr/>
        </p:nvSpPr>
        <p:spPr>
          <a:xfrm>
            <a:off x="212826" y="2083439"/>
            <a:ext cx="3940521" cy="307777"/>
          </a:xfrm>
          <a:prstGeom prst="rect">
            <a:avLst/>
          </a:prstGeom>
          <a:noFill/>
        </p:spPr>
        <p:txBody>
          <a:bodyPr wrap="square" lIns="0" tIns="0" rIns="0" bIns="0" anchor="t">
            <a:spAutoFit/>
          </a:bodyPr>
          <a:lstStyle/>
          <a:p>
            <a:pPr algn="l"/>
            <a:r>
              <a:rPr sz="2000" b="1" i="0" dirty="0">
                <a:solidFill>
                  <a:srgbClr val="2F3C7E"/>
                </a:solidFill>
                <a:latin typeface="Calibri"/>
              </a:rPr>
              <a:t>Where the Approach Is Strong</a:t>
            </a:r>
          </a:p>
        </p:txBody>
      </p:sp>
      <p:sp>
        <p:nvSpPr>
          <p:cNvPr id="24" name="TextBox 23"/>
          <p:cNvSpPr txBox="1"/>
          <p:nvPr/>
        </p:nvSpPr>
        <p:spPr>
          <a:xfrm>
            <a:off x="212825" y="2433000"/>
            <a:ext cx="4238723" cy="1939442"/>
          </a:xfrm>
          <a:prstGeom prst="rect">
            <a:avLst/>
          </a:prstGeom>
          <a:noFill/>
        </p:spPr>
        <p:txBody>
          <a:bodyPr wrap="square" lIns="0" tIns="0" rIns="0" bIns="0" anchor="t">
            <a:spAutoFit/>
          </a:bodyPr>
          <a:lstStyle/>
          <a:p>
            <a:pPr algn="l">
              <a:lnSpc>
                <a:spcPct val="108000"/>
              </a:lnSpc>
              <a:spcAft>
                <a:spcPts val="400"/>
              </a:spcAft>
            </a:pPr>
            <a:r>
              <a:rPr sz="1150" b="0" i="0" dirty="0">
                <a:solidFill>
                  <a:srgbClr val="262626"/>
                </a:solidFill>
                <a:latin typeface="Calibri"/>
              </a:rPr>
              <a:t>•  Facebook Prophet: no GPU, minimal tuning, native seasonality &amp; holiday support — configuration, not custom code</a:t>
            </a:r>
          </a:p>
          <a:p>
            <a:pPr algn="l">
              <a:lnSpc>
                <a:spcPct val="108000"/>
              </a:lnSpc>
              <a:spcAft>
                <a:spcPts val="400"/>
              </a:spcAft>
            </a:pPr>
            <a:r>
              <a:rPr sz="1150" b="0" i="0" dirty="0">
                <a:solidFill>
                  <a:srgbClr val="262626"/>
                </a:solidFill>
                <a:latin typeface="Calibri"/>
              </a:rPr>
              <a:t>•  LSTM considered, not chosen — needs 1,000+ days of history we don't have</a:t>
            </a:r>
          </a:p>
          <a:p>
            <a:pPr algn="l">
              <a:lnSpc>
                <a:spcPct val="108000"/>
              </a:lnSpc>
              <a:spcAft>
                <a:spcPts val="400"/>
              </a:spcAft>
            </a:pPr>
            <a:r>
              <a:rPr sz="1150" b="0" i="0" dirty="0">
                <a:solidFill>
                  <a:srgbClr val="262626"/>
                </a:solidFill>
                <a:latin typeface="Calibri"/>
              </a:rPr>
              <a:t>•  XGBoost alone was ruled out weak on sparse SME data (Susanto et al.); as a Prophet residual-corrector it's proven (Kamboj et al., 12–18% MAPE gain)  this is what we use</a:t>
            </a:r>
          </a:p>
          <a:p>
            <a:pPr algn="l">
              <a:lnSpc>
                <a:spcPct val="108000"/>
              </a:lnSpc>
              <a:spcAft>
                <a:spcPts val="400"/>
              </a:spcAft>
            </a:pPr>
            <a:r>
              <a:rPr sz="1150" b="0" i="0" dirty="0">
                <a:solidFill>
                  <a:srgbClr val="262626"/>
                </a:solidFill>
                <a:latin typeface="Calibri"/>
              </a:rPr>
              <a:t>•  Restock logic is deterministic Pandas/NumPy — engineering work, not a research problem</a:t>
            </a:r>
          </a:p>
        </p:txBody>
      </p:sp>
      <p:sp>
        <p:nvSpPr>
          <p:cNvPr id="25" name="Rectangle 24"/>
          <p:cNvSpPr/>
          <p:nvPr/>
        </p:nvSpPr>
        <p:spPr>
          <a:xfrm>
            <a:off x="4630653" y="1991420"/>
            <a:ext cx="4300521" cy="2310658"/>
          </a:xfrm>
          <a:prstGeom prst="rect">
            <a:avLst/>
          </a:prstGeom>
          <a:solidFill>
            <a:srgbClr val="F7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800"/>
          </a:p>
        </p:txBody>
      </p:sp>
      <p:sp>
        <p:nvSpPr>
          <p:cNvPr id="26" name="TextBox 25"/>
          <p:cNvSpPr txBox="1"/>
          <p:nvPr/>
        </p:nvSpPr>
        <p:spPr>
          <a:xfrm>
            <a:off x="4811549" y="2083439"/>
            <a:ext cx="3940521" cy="307777"/>
          </a:xfrm>
          <a:prstGeom prst="rect">
            <a:avLst/>
          </a:prstGeom>
          <a:noFill/>
        </p:spPr>
        <p:txBody>
          <a:bodyPr wrap="square" lIns="0" tIns="0" rIns="0" bIns="0" anchor="t">
            <a:spAutoFit/>
          </a:bodyPr>
          <a:lstStyle/>
          <a:p>
            <a:pPr algn="l"/>
            <a:r>
              <a:rPr sz="2000" b="1" i="0" dirty="0">
                <a:solidFill>
                  <a:srgbClr val="2F3C7E"/>
                </a:solidFill>
                <a:latin typeface="Calibri"/>
              </a:rPr>
              <a:t>Where This Creates an Opening</a:t>
            </a:r>
          </a:p>
        </p:txBody>
      </p:sp>
      <p:sp>
        <p:nvSpPr>
          <p:cNvPr id="27" name="TextBox 26"/>
          <p:cNvSpPr txBox="1"/>
          <p:nvPr/>
        </p:nvSpPr>
        <p:spPr>
          <a:xfrm>
            <a:off x="4811549" y="2419615"/>
            <a:ext cx="3940521" cy="1238609"/>
          </a:xfrm>
          <a:prstGeom prst="rect">
            <a:avLst/>
          </a:prstGeom>
          <a:noFill/>
        </p:spPr>
        <p:txBody>
          <a:bodyPr wrap="square" lIns="0" tIns="0" rIns="0" bIns="0" anchor="t">
            <a:spAutoFit/>
          </a:bodyPr>
          <a:lstStyle/>
          <a:p>
            <a:pPr algn="l">
              <a:lnSpc>
                <a:spcPct val="108000"/>
              </a:lnSpc>
              <a:spcAft>
                <a:spcPts val="400"/>
              </a:spcAft>
            </a:pPr>
            <a:r>
              <a:rPr sz="1200" b="0" i="0" dirty="0">
                <a:solidFill>
                  <a:srgbClr val="262626"/>
                </a:solidFill>
                <a:latin typeface="Calibri"/>
              </a:rPr>
              <a:t>•  No reviewed study combines a Prophet</a:t>
            </a:r>
            <a:r>
              <a:rPr lang="en-IN" sz="1200" b="0" i="0" dirty="0">
                <a:solidFill>
                  <a:srgbClr val="262626"/>
                </a:solidFill>
                <a:latin typeface="Calibri"/>
              </a:rPr>
              <a:t> </a:t>
            </a:r>
            <a:r>
              <a:rPr sz="1200" b="0" i="0" dirty="0">
                <a:solidFill>
                  <a:srgbClr val="262626"/>
                </a:solidFill>
                <a:latin typeface="Calibri"/>
              </a:rPr>
              <a:t>+</a:t>
            </a:r>
            <a:r>
              <a:rPr lang="en-IN" sz="1200" b="0" i="0" dirty="0">
                <a:solidFill>
                  <a:srgbClr val="262626"/>
                </a:solidFill>
                <a:latin typeface="Calibri"/>
              </a:rPr>
              <a:t> </a:t>
            </a:r>
            <a:r>
              <a:rPr sz="1200" b="0" i="0" dirty="0" err="1">
                <a:solidFill>
                  <a:srgbClr val="262626"/>
                </a:solidFill>
                <a:latin typeface="Calibri"/>
              </a:rPr>
              <a:t>XGBoost</a:t>
            </a:r>
            <a:r>
              <a:rPr sz="1200" b="0" i="0" dirty="0">
                <a:solidFill>
                  <a:srgbClr val="262626"/>
                </a:solidFill>
                <a:latin typeface="Calibri"/>
              </a:rPr>
              <a:t> hybrid, adaptive density-based model selection, restock-quantity conversion, and a zero-setup mobile interface with plain-language explanation in one system</a:t>
            </a:r>
          </a:p>
          <a:p>
            <a:pPr algn="l">
              <a:lnSpc>
                <a:spcPct val="108000"/>
              </a:lnSpc>
              <a:spcAft>
                <a:spcPts val="400"/>
              </a:spcAft>
            </a:pPr>
            <a:r>
              <a:rPr sz="1200" b="0" i="0" dirty="0">
                <a:solidFill>
                  <a:srgbClr val="262626"/>
                </a:solidFill>
                <a:latin typeface="Calibri"/>
              </a:rPr>
              <a:t>•  </a:t>
            </a:r>
            <a:r>
              <a:rPr lang="en-IN" sz="1200" b="0" i="0" dirty="0">
                <a:solidFill>
                  <a:srgbClr val="262626"/>
                </a:solidFill>
                <a:latin typeface="Calibri"/>
              </a:rPr>
              <a:t>It</a:t>
            </a:r>
            <a:r>
              <a:rPr sz="1200" b="0" i="0" dirty="0">
                <a:solidFill>
                  <a:srgbClr val="262626"/>
                </a:solidFill>
                <a:latin typeface="Calibri"/>
              </a:rPr>
              <a:t> is positioned to fill that specific combined gap for small food businesses</a:t>
            </a:r>
          </a:p>
        </p:txBody>
      </p:sp>
      <p:sp>
        <p:nvSpPr>
          <p:cNvPr id="28" name="Rectangle 27"/>
          <p:cNvSpPr/>
          <p:nvPr/>
        </p:nvSpPr>
        <p:spPr>
          <a:xfrm>
            <a:off x="111030" y="4425000"/>
            <a:ext cx="4300521" cy="2225000"/>
          </a:xfrm>
          <a:prstGeom prst="rect">
            <a:avLst/>
          </a:prstGeom>
          <a:solidFill>
            <a:srgbClr val="FBEE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50"/>
          </a:p>
        </p:txBody>
      </p:sp>
      <p:sp>
        <p:nvSpPr>
          <p:cNvPr id="29" name="TextBox 28"/>
          <p:cNvSpPr txBox="1"/>
          <p:nvPr/>
        </p:nvSpPr>
        <p:spPr>
          <a:xfrm>
            <a:off x="212825" y="4562814"/>
            <a:ext cx="3940521" cy="307777"/>
          </a:xfrm>
          <a:prstGeom prst="rect">
            <a:avLst/>
          </a:prstGeom>
          <a:noFill/>
        </p:spPr>
        <p:txBody>
          <a:bodyPr wrap="square" lIns="0" tIns="0" rIns="0" bIns="0" anchor="t">
            <a:spAutoFit/>
          </a:bodyPr>
          <a:lstStyle/>
          <a:p>
            <a:pPr algn="l"/>
            <a:r>
              <a:rPr sz="2000" b="1" i="0" dirty="0">
                <a:solidFill>
                  <a:srgbClr val="BC312C"/>
                </a:solidFill>
                <a:latin typeface="Calibri"/>
              </a:rPr>
              <a:t>Where We're Stretched Thin</a:t>
            </a:r>
          </a:p>
        </p:txBody>
      </p:sp>
      <p:sp>
        <p:nvSpPr>
          <p:cNvPr id="30" name="TextBox 29"/>
          <p:cNvSpPr txBox="1"/>
          <p:nvPr/>
        </p:nvSpPr>
        <p:spPr>
          <a:xfrm>
            <a:off x="212825" y="4937000"/>
            <a:ext cx="3940521" cy="1289905"/>
          </a:xfrm>
          <a:prstGeom prst="rect">
            <a:avLst/>
          </a:prstGeom>
          <a:noFill/>
        </p:spPr>
        <p:txBody>
          <a:bodyPr wrap="square" lIns="0" tIns="0" rIns="0" bIns="0" anchor="t">
            <a:spAutoFit/>
          </a:bodyPr>
          <a:lstStyle/>
          <a:p>
            <a:pPr algn="l">
              <a:lnSpc>
                <a:spcPct val="108000"/>
              </a:lnSpc>
              <a:spcAft>
                <a:spcPts val="400"/>
              </a:spcAft>
            </a:pPr>
            <a:r>
              <a:rPr sz="1200" b="0" i="0" dirty="0">
                <a:solidFill>
                  <a:srgbClr val="262626"/>
                </a:solidFill>
                <a:latin typeface="Calibri"/>
              </a:rPr>
              <a:t>•  No real business data yet  public datasets (French Bakery, Rossmann) used as proxies</a:t>
            </a:r>
          </a:p>
          <a:p>
            <a:pPr algn="l">
              <a:lnSpc>
                <a:spcPct val="108000"/>
              </a:lnSpc>
              <a:spcAft>
                <a:spcPts val="400"/>
              </a:spcAft>
            </a:pPr>
            <a:r>
              <a:rPr sz="1200" b="0" i="0" dirty="0">
                <a:solidFill>
                  <a:srgbClr val="262626"/>
                </a:solidFill>
                <a:latin typeface="Calibri"/>
              </a:rPr>
              <a:t>•  </a:t>
            </a:r>
            <a:r>
              <a:rPr lang="en-IN" sz="1200" b="0" i="0" dirty="0">
                <a:solidFill>
                  <a:srgbClr val="262626"/>
                </a:solidFill>
                <a:latin typeface="Calibri"/>
              </a:rPr>
              <a:t>1</a:t>
            </a:r>
            <a:r>
              <a:rPr lang="en-IN" sz="1200" dirty="0">
                <a:solidFill>
                  <a:srgbClr val="262626"/>
                </a:solidFill>
                <a:latin typeface="Calibri"/>
              </a:rPr>
              <a:t>1</a:t>
            </a:r>
            <a:r>
              <a:rPr sz="1200" b="0" i="0" dirty="0">
                <a:solidFill>
                  <a:srgbClr val="262626"/>
                </a:solidFill>
                <a:latin typeface="Calibri"/>
              </a:rPr>
              <a:t>-week technical build compressed across 3 people running parallel workstreams</a:t>
            </a:r>
          </a:p>
          <a:p>
            <a:pPr algn="l">
              <a:lnSpc>
                <a:spcPct val="108000"/>
              </a:lnSpc>
              <a:spcAft>
                <a:spcPts val="400"/>
              </a:spcAft>
            </a:pPr>
            <a:r>
              <a:rPr sz="1200" b="0" i="0" dirty="0">
                <a:solidFill>
                  <a:srgbClr val="262626"/>
                </a:solidFill>
                <a:latin typeface="Calibri"/>
              </a:rPr>
              <a:t>•  The weather regressor is the one genuinely custom integration in the pipeline</a:t>
            </a:r>
          </a:p>
        </p:txBody>
      </p:sp>
      <p:sp>
        <p:nvSpPr>
          <p:cNvPr id="31" name="Rectangle 30"/>
          <p:cNvSpPr/>
          <p:nvPr/>
        </p:nvSpPr>
        <p:spPr>
          <a:xfrm>
            <a:off x="4591551" y="4425000"/>
            <a:ext cx="4300521" cy="2225000"/>
          </a:xfrm>
          <a:prstGeom prst="rect">
            <a:avLst/>
          </a:prstGeom>
          <a:solidFill>
            <a:srgbClr val="FBEE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50"/>
          </a:p>
        </p:txBody>
      </p:sp>
      <p:sp>
        <p:nvSpPr>
          <p:cNvPr id="32" name="TextBox 31"/>
          <p:cNvSpPr txBox="1"/>
          <p:nvPr/>
        </p:nvSpPr>
        <p:spPr>
          <a:xfrm>
            <a:off x="4811549" y="4562814"/>
            <a:ext cx="3940521" cy="307777"/>
          </a:xfrm>
          <a:prstGeom prst="rect">
            <a:avLst/>
          </a:prstGeom>
          <a:noFill/>
        </p:spPr>
        <p:txBody>
          <a:bodyPr wrap="square" lIns="0" tIns="0" rIns="0" bIns="0" anchor="t">
            <a:spAutoFit/>
          </a:bodyPr>
          <a:lstStyle/>
          <a:p>
            <a:pPr algn="l"/>
            <a:r>
              <a:rPr sz="2000" b="1" i="0" dirty="0">
                <a:solidFill>
                  <a:srgbClr val="BC312C"/>
                </a:solidFill>
                <a:latin typeface="Calibri"/>
              </a:rPr>
              <a:t>What Could Work Against Us</a:t>
            </a:r>
          </a:p>
        </p:txBody>
      </p:sp>
      <p:sp>
        <p:nvSpPr>
          <p:cNvPr id="33" name="TextBox 32"/>
          <p:cNvSpPr txBox="1"/>
          <p:nvPr/>
        </p:nvSpPr>
        <p:spPr>
          <a:xfrm>
            <a:off x="4811549" y="4932814"/>
            <a:ext cx="3940521" cy="1039195"/>
          </a:xfrm>
          <a:prstGeom prst="rect">
            <a:avLst/>
          </a:prstGeom>
          <a:noFill/>
        </p:spPr>
        <p:txBody>
          <a:bodyPr wrap="square" lIns="0" tIns="0" rIns="0" bIns="0" anchor="t">
            <a:spAutoFit/>
          </a:bodyPr>
          <a:lstStyle/>
          <a:p>
            <a:pPr algn="l">
              <a:lnSpc>
                <a:spcPct val="108000"/>
              </a:lnSpc>
              <a:spcAft>
                <a:spcPts val="400"/>
              </a:spcAft>
            </a:pPr>
            <a:r>
              <a:rPr sz="1200" b="0" i="0" dirty="0">
                <a:solidFill>
                  <a:srgbClr val="262626"/>
                </a:solidFill>
                <a:latin typeface="Calibri"/>
              </a:rPr>
              <a:t>•  Weather API rate limits on the free tier could reduce regressor reliability at scale</a:t>
            </a:r>
          </a:p>
          <a:p>
            <a:pPr algn="l">
              <a:lnSpc>
                <a:spcPct val="108000"/>
              </a:lnSpc>
              <a:spcAft>
                <a:spcPts val="400"/>
              </a:spcAft>
            </a:pPr>
            <a:r>
              <a:rPr sz="1200" b="0" i="0" dirty="0">
                <a:solidFill>
                  <a:srgbClr val="262626"/>
                </a:solidFill>
                <a:latin typeface="Calibri"/>
              </a:rPr>
              <a:t>•  Public-dataset proxies may not fully represent a real cafe/bakery's demand pattern accuracy may not transfer 1:1 to live deployment</a:t>
            </a:r>
          </a:p>
        </p:txBody>
      </p:sp>
    </p:spTree>
    <p:extLst>
      <p:ext uri="{BB962C8B-B14F-4D97-AF65-F5344CB8AC3E}">
        <p14:creationId xmlns:p14="http://schemas.microsoft.com/office/powerpoint/2010/main" val="4163198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854B4-2F0D-2432-874B-C1A16AB23949}"/>
            </a:ext>
          </a:extLst>
        </p:cNvPr>
        <p:cNvGrpSpPr/>
        <p:nvPr/>
      </p:nvGrpSpPr>
      <p:grpSpPr>
        <a:xfrm>
          <a:off x="0" y="0"/>
          <a:ext cx="0" cy="0"/>
          <a:chOff x="0" y="0"/>
          <a:chExt cx="0" cy="0"/>
        </a:xfrm>
      </p:grpSpPr>
      <p:sp>
        <p:nvSpPr>
          <p:cNvPr id="19" name="Text 3">
            <a:extLst>
              <a:ext uri="{FF2B5EF4-FFF2-40B4-BE49-F238E27FC236}">
                <a16:creationId xmlns:a16="http://schemas.microsoft.com/office/drawing/2014/main" id="{F4FA3AAC-3BB8-C6A4-1142-0B2AEF659401}"/>
              </a:ext>
            </a:extLst>
          </p:cNvPr>
          <p:cNvSpPr/>
          <p:nvPr/>
        </p:nvSpPr>
        <p:spPr>
          <a:xfrm>
            <a:off x="111030" y="1316549"/>
            <a:ext cx="9359542" cy="594360"/>
          </a:xfrm>
          <a:prstGeom prst="rect">
            <a:avLst/>
          </a:prstGeom>
          <a:noFill/>
          <a:ln/>
        </p:spPr>
        <p:txBody>
          <a:bodyPr wrap="square" lIns="0" tIns="0" rIns="0" bIns="0" rtlCol="0" anchor="ctr"/>
          <a:lstStyle/>
          <a:p>
            <a:pPr marL="0" indent="0" algn="l">
              <a:buNone/>
            </a:pPr>
            <a:r>
              <a:rPr lang="en-US" sz="2800" b="1" dirty="0">
                <a:solidFill>
                  <a:srgbClr val="BC312C"/>
                </a:solidFill>
                <a:latin typeface="Cambria" pitchFamily="34" charset="0"/>
                <a:ea typeface="Cambria" pitchFamily="34" charset="-122"/>
                <a:cs typeface="Cambria" pitchFamily="34" charset="-120"/>
              </a:rPr>
              <a:t>Project Development Timeline (Gantt Chart)</a:t>
            </a:r>
            <a:endParaRPr lang="en-US" sz="2800" dirty="0"/>
          </a:p>
        </p:txBody>
      </p:sp>
      <p:sp>
        <p:nvSpPr>
          <p:cNvPr id="21" name="Shape 4">
            <a:extLst>
              <a:ext uri="{FF2B5EF4-FFF2-40B4-BE49-F238E27FC236}">
                <a16:creationId xmlns:a16="http://schemas.microsoft.com/office/drawing/2014/main" id="{6CEA9312-7C19-0691-0537-309A0467F3D9}"/>
              </a:ext>
            </a:extLst>
          </p:cNvPr>
          <p:cNvSpPr/>
          <p:nvPr/>
        </p:nvSpPr>
        <p:spPr>
          <a:xfrm flipV="1">
            <a:off x="111030" y="1917627"/>
            <a:ext cx="8781043" cy="11570"/>
          </a:xfrm>
          <a:prstGeom prst="line">
            <a:avLst/>
          </a:prstGeom>
          <a:noFill/>
          <a:ln w="12700">
            <a:solidFill>
              <a:srgbClr val="E0DAD8"/>
            </a:solidFill>
            <a:prstDash val="solid"/>
          </a:ln>
        </p:spPr>
      </p:sp>
      <p:sp>
        <p:nvSpPr>
          <p:cNvPr id="22" name="Rectangle 21"/>
          <p:cNvSpPr/>
          <p:nvPr/>
        </p:nvSpPr>
        <p:spPr>
          <a:xfrm>
            <a:off x="2461030" y="2000000"/>
            <a:ext cx="2134156" cy="195000"/>
          </a:xfrm>
          <a:prstGeom prst="rect">
            <a:avLst/>
          </a:prstGeom>
          <a:solidFill>
            <a:srgbClr val="F7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3" name="TextBox 22"/>
          <p:cNvSpPr txBox="1"/>
          <p:nvPr/>
        </p:nvSpPr>
        <p:spPr>
          <a:xfrm>
            <a:off x="2461030" y="2012862"/>
            <a:ext cx="2134156" cy="169277"/>
          </a:xfrm>
          <a:prstGeom prst="rect">
            <a:avLst/>
          </a:prstGeom>
          <a:noFill/>
        </p:spPr>
        <p:txBody>
          <a:bodyPr wrap="square" lIns="0" tIns="0" rIns="0" bIns="0" anchor="ctr">
            <a:spAutoFit/>
          </a:bodyPr>
          <a:lstStyle/>
          <a:p>
            <a:pPr algn="ctr"/>
            <a:r>
              <a:rPr sz="1100" b="1" i="0" dirty="0">
                <a:solidFill>
                  <a:srgbClr val="BC312C"/>
                </a:solidFill>
                <a:latin typeface="Calibri"/>
              </a:rPr>
              <a:t>Month 1  ·  Weeks 1-5</a:t>
            </a:r>
          </a:p>
        </p:txBody>
      </p:sp>
      <p:sp>
        <p:nvSpPr>
          <p:cNvPr id="24" name="Rectangle 23"/>
          <p:cNvSpPr/>
          <p:nvPr/>
        </p:nvSpPr>
        <p:spPr>
          <a:xfrm>
            <a:off x="4604711" y="2000000"/>
            <a:ext cx="2134156" cy="195000"/>
          </a:xfrm>
          <a:prstGeom prst="rect">
            <a:avLst/>
          </a:prstGeom>
          <a:solidFill>
            <a:srgbClr val="F7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5" name="TextBox 24"/>
          <p:cNvSpPr txBox="1"/>
          <p:nvPr/>
        </p:nvSpPr>
        <p:spPr>
          <a:xfrm>
            <a:off x="4604711" y="2012862"/>
            <a:ext cx="2134156" cy="169277"/>
          </a:xfrm>
          <a:prstGeom prst="rect">
            <a:avLst/>
          </a:prstGeom>
          <a:noFill/>
        </p:spPr>
        <p:txBody>
          <a:bodyPr wrap="square" lIns="0" tIns="0" rIns="0" bIns="0" anchor="ctr">
            <a:spAutoFit/>
          </a:bodyPr>
          <a:lstStyle/>
          <a:p>
            <a:pPr algn="ctr"/>
            <a:r>
              <a:rPr sz="1100" b="1" i="0" dirty="0">
                <a:solidFill>
                  <a:srgbClr val="BC312C"/>
                </a:solidFill>
                <a:latin typeface="Calibri"/>
              </a:rPr>
              <a:t>Month 2  ·  Weeks 6-10</a:t>
            </a:r>
          </a:p>
        </p:txBody>
      </p:sp>
      <p:sp>
        <p:nvSpPr>
          <p:cNvPr id="26" name="Rectangle 25"/>
          <p:cNvSpPr/>
          <p:nvPr/>
        </p:nvSpPr>
        <p:spPr>
          <a:xfrm>
            <a:off x="6748392" y="2000000"/>
            <a:ext cx="2134156" cy="195000"/>
          </a:xfrm>
          <a:prstGeom prst="rect">
            <a:avLst/>
          </a:prstGeom>
          <a:solidFill>
            <a:srgbClr val="F7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7" name="TextBox 26"/>
          <p:cNvSpPr txBox="1"/>
          <p:nvPr/>
        </p:nvSpPr>
        <p:spPr>
          <a:xfrm>
            <a:off x="6748392" y="2012862"/>
            <a:ext cx="2134156" cy="169277"/>
          </a:xfrm>
          <a:prstGeom prst="rect">
            <a:avLst/>
          </a:prstGeom>
          <a:noFill/>
        </p:spPr>
        <p:txBody>
          <a:bodyPr wrap="square" lIns="0" tIns="0" rIns="0" bIns="0" anchor="ctr">
            <a:spAutoFit/>
          </a:bodyPr>
          <a:lstStyle/>
          <a:p>
            <a:pPr algn="ctr"/>
            <a:r>
              <a:rPr sz="1100" b="1" i="0">
                <a:solidFill>
                  <a:srgbClr val="BC312C"/>
                </a:solidFill>
                <a:latin typeface="Calibri"/>
              </a:rPr>
              <a:t>Month 3  ·  Weeks 11-15</a:t>
            </a:r>
          </a:p>
        </p:txBody>
      </p:sp>
      <p:sp>
        <p:nvSpPr>
          <p:cNvPr id="28" name="TextBox 27"/>
          <p:cNvSpPr txBox="1"/>
          <p:nvPr/>
        </p:nvSpPr>
        <p:spPr>
          <a:xfrm>
            <a:off x="2461030" y="2196709"/>
            <a:ext cx="428736" cy="161583"/>
          </a:xfrm>
          <a:prstGeom prst="rect">
            <a:avLst/>
          </a:prstGeom>
          <a:noFill/>
        </p:spPr>
        <p:txBody>
          <a:bodyPr wrap="square" lIns="0" tIns="0" rIns="0" bIns="0" anchor="ctr">
            <a:spAutoFit/>
          </a:bodyPr>
          <a:lstStyle/>
          <a:p>
            <a:pPr algn="ctr"/>
            <a:r>
              <a:rPr sz="1050" b="0" i="0">
                <a:solidFill>
                  <a:srgbClr val="6B6B6B"/>
                </a:solidFill>
                <a:latin typeface="Calibri"/>
              </a:rPr>
              <a:t>1</a:t>
            </a:r>
          </a:p>
        </p:txBody>
      </p:sp>
      <p:sp>
        <p:nvSpPr>
          <p:cNvPr id="29" name="TextBox 28"/>
          <p:cNvSpPr txBox="1"/>
          <p:nvPr/>
        </p:nvSpPr>
        <p:spPr>
          <a:xfrm>
            <a:off x="2889766" y="2196709"/>
            <a:ext cx="428736" cy="161583"/>
          </a:xfrm>
          <a:prstGeom prst="rect">
            <a:avLst/>
          </a:prstGeom>
          <a:noFill/>
        </p:spPr>
        <p:txBody>
          <a:bodyPr wrap="square" lIns="0" tIns="0" rIns="0" bIns="0" anchor="ctr">
            <a:spAutoFit/>
          </a:bodyPr>
          <a:lstStyle/>
          <a:p>
            <a:pPr algn="ctr"/>
            <a:r>
              <a:rPr sz="1050" b="0" i="0">
                <a:solidFill>
                  <a:srgbClr val="6B6B6B"/>
                </a:solidFill>
                <a:latin typeface="Calibri"/>
              </a:rPr>
              <a:t>2</a:t>
            </a:r>
          </a:p>
        </p:txBody>
      </p:sp>
      <p:sp>
        <p:nvSpPr>
          <p:cNvPr id="30" name="TextBox 29"/>
          <p:cNvSpPr txBox="1"/>
          <p:nvPr/>
        </p:nvSpPr>
        <p:spPr>
          <a:xfrm>
            <a:off x="3318502" y="2196709"/>
            <a:ext cx="428736" cy="161583"/>
          </a:xfrm>
          <a:prstGeom prst="rect">
            <a:avLst/>
          </a:prstGeom>
          <a:noFill/>
        </p:spPr>
        <p:txBody>
          <a:bodyPr wrap="square" lIns="0" tIns="0" rIns="0" bIns="0" anchor="ctr">
            <a:spAutoFit/>
          </a:bodyPr>
          <a:lstStyle/>
          <a:p>
            <a:pPr algn="ctr"/>
            <a:r>
              <a:rPr sz="1050" b="0" i="0">
                <a:solidFill>
                  <a:srgbClr val="6B6B6B"/>
                </a:solidFill>
                <a:latin typeface="Calibri"/>
              </a:rPr>
              <a:t>3</a:t>
            </a:r>
          </a:p>
        </p:txBody>
      </p:sp>
      <p:sp>
        <p:nvSpPr>
          <p:cNvPr id="31" name="TextBox 30"/>
          <p:cNvSpPr txBox="1"/>
          <p:nvPr/>
        </p:nvSpPr>
        <p:spPr>
          <a:xfrm>
            <a:off x="3747238" y="2196709"/>
            <a:ext cx="428736" cy="161583"/>
          </a:xfrm>
          <a:prstGeom prst="rect">
            <a:avLst/>
          </a:prstGeom>
          <a:noFill/>
        </p:spPr>
        <p:txBody>
          <a:bodyPr wrap="square" lIns="0" tIns="0" rIns="0" bIns="0" anchor="ctr">
            <a:spAutoFit/>
          </a:bodyPr>
          <a:lstStyle/>
          <a:p>
            <a:pPr algn="ctr"/>
            <a:r>
              <a:rPr sz="1050" b="0" i="0">
                <a:solidFill>
                  <a:srgbClr val="6B6B6B"/>
                </a:solidFill>
                <a:latin typeface="Calibri"/>
              </a:rPr>
              <a:t>4</a:t>
            </a:r>
          </a:p>
        </p:txBody>
      </p:sp>
      <p:sp>
        <p:nvSpPr>
          <p:cNvPr id="32" name="TextBox 31"/>
          <p:cNvSpPr txBox="1"/>
          <p:nvPr/>
        </p:nvSpPr>
        <p:spPr>
          <a:xfrm>
            <a:off x="4175974" y="2196709"/>
            <a:ext cx="428736" cy="161583"/>
          </a:xfrm>
          <a:prstGeom prst="rect">
            <a:avLst/>
          </a:prstGeom>
          <a:noFill/>
        </p:spPr>
        <p:txBody>
          <a:bodyPr wrap="square" lIns="0" tIns="0" rIns="0" bIns="0" anchor="ctr">
            <a:spAutoFit/>
          </a:bodyPr>
          <a:lstStyle/>
          <a:p>
            <a:pPr algn="ctr"/>
            <a:r>
              <a:rPr sz="1050" b="0" i="0">
                <a:solidFill>
                  <a:srgbClr val="6B6B6B"/>
                </a:solidFill>
                <a:latin typeface="Calibri"/>
              </a:rPr>
              <a:t>5</a:t>
            </a:r>
          </a:p>
        </p:txBody>
      </p:sp>
      <p:sp>
        <p:nvSpPr>
          <p:cNvPr id="33" name="TextBox 32"/>
          <p:cNvSpPr txBox="1"/>
          <p:nvPr/>
        </p:nvSpPr>
        <p:spPr>
          <a:xfrm>
            <a:off x="4604711" y="2196709"/>
            <a:ext cx="428736" cy="161583"/>
          </a:xfrm>
          <a:prstGeom prst="rect">
            <a:avLst/>
          </a:prstGeom>
          <a:noFill/>
        </p:spPr>
        <p:txBody>
          <a:bodyPr wrap="square" lIns="0" tIns="0" rIns="0" bIns="0" anchor="ctr">
            <a:spAutoFit/>
          </a:bodyPr>
          <a:lstStyle/>
          <a:p>
            <a:pPr algn="ctr"/>
            <a:r>
              <a:rPr sz="1050" b="0" i="0">
                <a:solidFill>
                  <a:srgbClr val="6B6B6B"/>
                </a:solidFill>
                <a:latin typeface="Calibri"/>
              </a:rPr>
              <a:t>6</a:t>
            </a:r>
          </a:p>
        </p:txBody>
      </p:sp>
      <p:sp>
        <p:nvSpPr>
          <p:cNvPr id="34" name="TextBox 33"/>
          <p:cNvSpPr txBox="1"/>
          <p:nvPr/>
        </p:nvSpPr>
        <p:spPr>
          <a:xfrm>
            <a:off x="5033447" y="2196709"/>
            <a:ext cx="428736" cy="161583"/>
          </a:xfrm>
          <a:prstGeom prst="rect">
            <a:avLst/>
          </a:prstGeom>
          <a:noFill/>
        </p:spPr>
        <p:txBody>
          <a:bodyPr wrap="square" lIns="0" tIns="0" rIns="0" bIns="0" anchor="ctr">
            <a:spAutoFit/>
          </a:bodyPr>
          <a:lstStyle/>
          <a:p>
            <a:pPr algn="ctr"/>
            <a:r>
              <a:rPr sz="1050" b="0" i="0">
                <a:solidFill>
                  <a:srgbClr val="6B6B6B"/>
                </a:solidFill>
                <a:latin typeface="Calibri"/>
              </a:rPr>
              <a:t>7</a:t>
            </a:r>
          </a:p>
        </p:txBody>
      </p:sp>
      <p:sp>
        <p:nvSpPr>
          <p:cNvPr id="35" name="TextBox 34"/>
          <p:cNvSpPr txBox="1"/>
          <p:nvPr/>
        </p:nvSpPr>
        <p:spPr>
          <a:xfrm>
            <a:off x="5462183" y="2196709"/>
            <a:ext cx="428736" cy="161583"/>
          </a:xfrm>
          <a:prstGeom prst="rect">
            <a:avLst/>
          </a:prstGeom>
          <a:noFill/>
        </p:spPr>
        <p:txBody>
          <a:bodyPr wrap="square" lIns="0" tIns="0" rIns="0" bIns="0" anchor="ctr">
            <a:spAutoFit/>
          </a:bodyPr>
          <a:lstStyle/>
          <a:p>
            <a:pPr algn="ctr"/>
            <a:r>
              <a:rPr sz="1050" b="0" i="0" dirty="0">
                <a:solidFill>
                  <a:srgbClr val="6B6B6B"/>
                </a:solidFill>
                <a:latin typeface="Calibri"/>
              </a:rPr>
              <a:t>8</a:t>
            </a:r>
          </a:p>
        </p:txBody>
      </p:sp>
      <p:sp>
        <p:nvSpPr>
          <p:cNvPr id="36" name="TextBox 35"/>
          <p:cNvSpPr txBox="1"/>
          <p:nvPr/>
        </p:nvSpPr>
        <p:spPr>
          <a:xfrm>
            <a:off x="5890919" y="2196709"/>
            <a:ext cx="428736" cy="161583"/>
          </a:xfrm>
          <a:prstGeom prst="rect">
            <a:avLst/>
          </a:prstGeom>
          <a:noFill/>
        </p:spPr>
        <p:txBody>
          <a:bodyPr wrap="square" lIns="0" tIns="0" rIns="0" bIns="0" anchor="ctr">
            <a:spAutoFit/>
          </a:bodyPr>
          <a:lstStyle/>
          <a:p>
            <a:pPr algn="ctr"/>
            <a:r>
              <a:rPr sz="1050" b="0" i="0">
                <a:solidFill>
                  <a:srgbClr val="6B6B6B"/>
                </a:solidFill>
                <a:latin typeface="Calibri"/>
              </a:rPr>
              <a:t>9</a:t>
            </a:r>
          </a:p>
        </p:txBody>
      </p:sp>
      <p:sp>
        <p:nvSpPr>
          <p:cNvPr id="37" name="TextBox 36"/>
          <p:cNvSpPr txBox="1"/>
          <p:nvPr/>
        </p:nvSpPr>
        <p:spPr>
          <a:xfrm>
            <a:off x="6319655" y="2196709"/>
            <a:ext cx="428736" cy="161583"/>
          </a:xfrm>
          <a:prstGeom prst="rect">
            <a:avLst/>
          </a:prstGeom>
          <a:noFill/>
        </p:spPr>
        <p:txBody>
          <a:bodyPr wrap="square" lIns="0" tIns="0" rIns="0" bIns="0" anchor="ctr">
            <a:spAutoFit/>
          </a:bodyPr>
          <a:lstStyle/>
          <a:p>
            <a:pPr algn="ctr"/>
            <a:r>
              <a:rPr sz="1050" b="0" i="0">
                <a:solidFill>
                  <a:srgbClr val="6B6B6B"/>
                </a:solidFill>
                <a:latin typeface="Calibri"/>
              </a:rPr>
              <a:t>10</a:t>
            </a:r>
          </a:p>
        </p:txBody>
      </p:sp>
      <p:sp>
        <p:nvSpPr>
          <p:cNvPr id="38" name="TextBox 37"/>
          <p:cNvSpPr txBox="1"/>
          <p:nvPr/>
        </p:nvSpPr>
        <p:spPr>
          <a:xfrm>
            <a:off x="6748392" y="2196709"/>
            <a:ext cx="428736" cy="161583"/>
          </a:xfrm>
          <a:prstGeom prst="rect">
            <a:avLst/>
          </a:prstGeom>
          <a:noFill/>
        </p:spPr>
        <p:txBody>
          <a:bodyPr wrap="square" lIns="0" tIns="0" rIns="0" bIns="0" anchor="ctr">
            <a:spAutoFit/>
          </a:bodyPr>
          <a:lstStyle/>
          <a:p>
            <a:pPr algn="ctr"/>
            <a:r>
              <a:rPr sz="1050" b="0" i="0">
                <a:solidFill>
                  <a:srgbClr val="6B6B6B"/>
                </a:solidFill>
                <a:latin typeface="Calibri"/>
              </a:rPr>
              <a:t>11</a:t>
            </a:r>
          </a:p>
        </p:txBody>
      </p:sp>
      <p:sp>
        <p:nvSpPr>
          <p:cNvPr id="39" name="TextBox 38"/>
          <p:cNvSpPr txBox="1"/>
          <p:nvPr/>
        </p:nvSpPr>
        <p:spPr>
          <a:xfrm>
            <a:off x="7177128" y="2196709"/>
            <a:ext cx="428736" cy="161583"/>
          </a:xfrm>
          <a:prstGeom prst="rect">
            <a:avLst/>
          </a:prstGeom>
          <a:noFill/>
        </p:spPr>
        <p:txBody>
          <a:bodyPr wrap="square" lIns="0" tIns="0" rIns="0" bIns="0" anchor="ctr">
            <a:spAutoFit/>
          </a:bodyPr>
          <a:lstStyle/>
          <a:p>
            <a:pPr algn="ctr"/>
            <a:r>
              <a:rPr sz="1050" b="0" i="0">
                <a:solidFill>
                  <a:srgbClr val="6B6B6B"/>
                </a:solidFill>
                <a:latin typeface="Calibri"/>
              </a:rPr>
              <a:t>12</a:t>
            </a:r>
          </a:p>
        </p:txBody>
      </p:sp>
      <p:sp>
        <p:nvSpPr>
          <p:cNvPr id="40" name="TextBox 39"/>
          <p:cNvSpPr txBox="1"/>
          <p:nvPr/>
        </p:nvSpPr>
        <p:spPr>
          <a:xfrm>
            <a:off x="7605864" y="2196709"/>
            <a:ext cx="428736" cy="161583"/>
          </a:xfrm>
          <a:prstGeom prst="rect">
            <a:avLst/>
          </a:prstGeom>
          <a:noFill/>
        </p:spPr>
        <p:txBody>
          <a:bodyPr wrap="square" lIns="0" tIns="0" rIns="0" bIns="0" anchor="ctr">
            <a:spAutoFit/>
          </a:bodyPr>
          <a:lstStyle/>
          <a:p>
            <a:pPr algn="ctr"/>
            <a:r>
              <a:rPr sz="1050" b="0" i="0" dirty="0">
                <a:solidFill>
                  <a:srgbClr val="6B6B6B"/>
                </a:solidFill>
                <a:latin typeface="Calibri"/>
              </a:rPr>
              <a:t>13</a:t>
            </a:r>
          </a:p>
        </p:txBody>
      </p:sp>
      <p:sp>
        <p:nvSpPr>
          <p:cNvPr id="41" name="TextBox 40"/>
          <p:cNvSpPr txBox="1"/>
          <p:nvPr/>
        </p:nvSpPr>
        <p:spPr>
          <a:xfrm>
            <a:off x="8034600" y="2196709"/>
            <a:ext cx="428736" cy="161583"/>
          </a:xfrm>
          <a:prstGeom prst="rect">
            <a:avLst/>
          </a:prstGeom>
          <a:noFill/>
        </p:spPr>
        <p:txBody>
          <a:bodyPr wrap="square" lIns="0" tIns="0" rIns="0" bIns="0" anchor="ctr">
            <a:spAutoFit/>
          </a:bodyPr>
          <a:lstStyle/>
          <a:p>
            <a:pPr algn="ctr"/>
            <a:r>
              <a:rPr sz="1050" b="0" i="0">
                <a:solidFill>
                  <a:srgbClr val="6B6B6B"/>
                </a:solidFill>
                <a:latin typeface="Calibri"/>
              </a:rPr>
              <a:t>14</a:t>
            </a:r>
          </a:p>
        </p:txBody>
      </p:sp>
      <p:sp>
        <p:nvSpPr>
          <p:cNvPr id="42" name="TextBox 41"/>
          <p:cNvSpPr txBox="1"/>
          <p:nvPr/>
        </p:nvSpPr>
        <p:spPr>
          <a:xfrm>
            <a:off x="8463336" y="2196709"/>
            <a:ext cx="428736" cy="161583"/>
          </a:xfrm>
          <a:prstGeom prst="rect">
            <a:avLst/>
          </a:prstGeom>
          <a:noFill/>
        </p:spPr>
        <p:txBody>
          <a:bodyPr wrap="square" lIns="0" tIns="0" rIns="0" bIns="0" anchor="ctr">
            <a:spAutoFit/>
          </a:bodyPr>
          <a:lstStyle/>
          <a:p>
            <a:pPr algn="ctr"/>
            <a:r>
              <a:rPr sz="1050" b="0" i="0">
                <a:solidFill>
                  <a:srgbClr val="6B6B6B"/>
                </a:solidFill>
                <a:latin typeface="Calibri"/>
              </a:rPr>
              <a:t>15</a:t>
            </a:r>
          </a:p>
        </p:txBody>
      </p:sp>
      <p:sp>
        <p:nvSpPr>
          <p:cNvPr id="43" name="Rectangle 42"/>
          <p:cNvSpPr/>
          <p:nvPr/>
        </p:nvSpPr>
        <p:spPr>
          <a:xfrm>
            <a:off x="111030" y="2360000"/>
            <a:ext cx="8781043" cy="430000"/>
          </a:xfrm>
          <a:prstGeom prst="rect">
            <a:avLst/>
          </a:prstGeom>
          <a:solidFill>
            <a:srgbClr val="F7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44" name="Rectangle 43"/>
          <p:cNvSpPr/>
          <p:nvPr/>
        </p:nvSpPr>
        <p:spPr>
          <a:xfrm>
            <a:off x="111030" y="2785238"/>
            <a:ext cx="8781043" cy="9525"/>
          </a:xfrm>
          <a:prstGeom prst="rect">
            <a:avLst/>
          </a:prstGeom>
          <a:solidFill>
            <a:srgbClr val="E0DA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45" name="TextBox 44"/>
          <p:cNvSpPr txBox="1"/>
          <p:nvPr/>
        </p:nvSpPr>
        <p:spPr>
          <a:xfrm>
            <a:off x="201030" y="2390334"/>
            <a:ext cx="2250000" cy="369332"/>
          </a:xfrm>
          <a:prstGeom prst="rect">
            <a:avLst/>
          </a:prstGeom>
          <a:noFill/>
        </p:spPr>
        <p:txBody>
          <a:bodyPr wrap="square" lIns="0" tIns="0" rIns="0" bIns="0" anchor="ctr">
            <a:spAutoFit/>
          </a:bodyPr>
          <a:lstStyle/>
          <a:p>
            <a:pPr algn="l"/>
            <a:r>
              <a:rPr sz="1200" b="0" i="0" dirty="0">
                <a:solidFill>
                  <a:srgbClr val="262626"/>
                </a:solidFill>
                <a:latin typeface="Calibri"/>
              </a:rPr>
              <a:t>Literature Review &amp; Requirement Finalization</a:t>
            </a:r>
          </a:p>
        </p:txBody>
      </p:sp>
      <p:sp>
        <p:nvSpPr>
          <p:cNvPr id="46" name="Rounded Rectangle 45"/>
          <p:cNvSpPr/>
          <p:nvPr/>
        </p:nvSpPr>
        <p:spPr>
          <a:xfrm>
            <a:off x="2481030" y="2450280"/>
            <a:ext cx="1058407" cy="242970"/>
          </a:xfrm>
          <a:prstGeom prst="roundRect">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47" name="Rectangle 46"/>
          <p:cNvSpPr/>
          <p:nvPr/>
        </p:nvSpPr>
        <p:spPr>
          <a:xfrm>
            <a:off x="111030" y="3215238"/>
            <a:ext cx="8781043" cy="9525"/>
          </a:xfrm>
          <a:prstGeom prst="rect">
            <a:avLst/>
          </a:prstGeom>
          <a:solidFill>
            <a:srgbClr val="E0DA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48" name="TextBox 47"/>
          <p:cNvSpPr txBox="1"/>
          <p:nvPr/>
        </p:nvSpPr>
        <p:spPr>
          <a:xfrm>
            <a:off x="201030" y="2912667"/>
            <a:ext cx="2250000" cy="184666"/>
          </a:xfrm>
          <a:prstGeom prst="rect">
            <a:avLst/>
          </a:prstGeom>
          <a:noFill/>
        </p:spPr>
        <p:txBody>
          <a:bodyPr wrap="square" lIns="0" tIns="0" rIns="0" bIns="0" anchor="ctr">
            <a:spAutoFit/>
          </a:bodyPr>
          <a:lstStyle/>
          <a:p>
            <a:pPr algn="l"/>
            <a:r>
              <a:rPr sz="1200" b="0" i="0">
                <a:solidFill>
                  <a:srgbClr val="262626"/>
                </a:solidFill>
                <a:latin typeface="Calibri"/>
              </a:rPr>
              <a:t>Dataset Collection &amp; Verification</a:t>
            </a:r>
          </a:p>
        </p:txBody>
      </p:sp>
      <p:sp>
        <p:nvSpPr>
          <p:cNvPr id="49" name="Rounded Rectangle 48"/>
          <p:cNvSpPr/>
          <p:nvPr/>
        </p:nvSpPr>
        <p:spPr>
          <a:xfrm>
            <a:off x="2909766" y="2850599"/>
            <a:ext cx="1539142" cy="308802"/>
          </a:xfrm>
          <a:prstGeom prst="round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solidFill>
                <a:srgbClr val="FF0000"/>
              </a:solidFill>
            </a:endParaRPr>
          </a:p>
        </p:txBody>
      </p:sp>
      <p:sp>
        <p:nvSpPr>
          <p:cNvPr id="50" name="Rectangle 49"/>
          <p:cNvSpPr/>
          <p:nvPr/>
        </p:nvSpPr>
        <p:spPr>
          <a:xfrm>
            <a:off x="111030" y="3220000"/>
            <a:ext cx="8781043" cy="430000"/>
          </a:xfrm>
          <a:prstGeom prst="rect">
            <a:avLst/>
          </a:prstGeom>
          <a:solidFill>
            <a:srgbClr val="F7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51" name="Rectangle 50"/>
          <p:cNvSpPr/>
          <p:nvPr/>
        </p:nvSpPr>
        <p:spPr>
          <a:xfrm>
            <a:off x="111030" y="3645238"/>
            <a:ext cx="8781043" cy="9525"/>
          </a:xfrm>
          <a:prstGeom prst="rect">
            <a:avLst/>
          </a:prstGeom>
          <a:solidFill>
            <a:srgbClr val="E0DA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52" name="TextBox 51"/>
          <p:cNvSpPr txBox="1"/>
          <p:nvPr/>
        </p:nvSpPr>
        <p:spPr>
          <a:xfrm>
            <a:off x="201030" y="3250335"/>
            <a:ext cx="2250000" cy="369332"/>
          </a:xfrm>
          <a:prstGeom prst="rect">
            <a:avLst/>
          </a:prstGeom>
          <a:noFill/>
        </p:spPr>
        <p:txBody>
          <a:bodyPr wrap="square" lIns="0" tIns="0" rIns="0" bIns="0" anchor="ctr">
            <a:spAutoFit/>
          </a:bodyPr>
          <a:lstStyle/>
          <a:p>
            <a:pPr algn="l"/>
            <a:r>
              <a:rPr sz="1200" b="0" i="0" dirty="0">
                <a:solidFill>
                  <a:srgbClr val="262626"/>
                </a:solidFill>
                <a:latin typeface="Calibri"/>
              </a:rPr>
              <a:t>Model Training (Prophet+XGBoost, Adaptive </a:t>
            </a:r>
            <a:r>
              <a:rPr lang="en-IN" sz="1200" b="0" i="0" dirty="0">
                <a:solidFill>
                  <a:srgbClr val="262626"/>
                </a:solidFill>
                <a:latin typeface="Calibri"/>
              </a:rPr>
              <a:t>Branching</a:t>
            </a:r>
            <a:r>
              <a:rPr sz="1200" b="0" i="0" dirty="0">
                <a:solidFill>
                  <a:srgbClr val="262626"/>
                </a:solidFill>
                <a:latin typeface="Calibri"/>
              </a:rPr>
              <a:t>)</a:t>
            </a:r>
          </a:p>
        </p:txBody>
      </p:sp>
      <p:sp>
        <p:nvSpPr>
          <p:cNvPr id="53" name="Rounded Rectangle 52"/>
          <p:cNvSpPr/>
          <p:nvPr/>
        </p:nvSpPr>
        <p:spPr>
          <a:xfrm>
            <a:off x="4280477" y="3297649"/>
            <a:ext cx="1741944" cy="294638"/>
          </a:xfrm>
          <a:prstGeom prst="roundRect">
            <a:avLst>
              <a:gd name="adj" fmla="val 15795"/>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54" name="Rectangle 53"/>
          <p:cNvSpPr/>
          <p:nvPr/>
        </p:nvSpPr>
        <p:spPr>
          <a:xfrm>
            <a:off x="111030" y="4075238"/>
            <a:ext cx="8781043" cy="9525"/>
          </a:xfrm>
          <a:prstGeom prst="rect">
            <a:avLst/>
          </a:prstGeom>
          <a:solidFill>
            <a:srgbClr val="E0DA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55" name="TextBox 54"/>
          <p:cNvSpPr txBox="1"/>
          <p:nvPr/>
        </p:nvSpPr>
        <p:spPr>
          <a:xfrm>
            <a:off x="201030" y="3772667"/>
            <a:ext cx="2250000" cy="184666"/>
          </a:xfrm>
          <a:prstGeom prst="rect">
            <a:avLst/>
          </a:prstGeom>
          <a:noFill/>
        </p:spPr>
        <p:txBody>
          <a:bodyPr wrap="square" lIns="0" tIns="0" rIns="0" bIns="0" anchor="ctr">
            <a:spAutoFit/>
          </a:bodyPr>
          <a:lstStyle/>
          <a:p>
            <a:pPr algn="l"/>
            <a:r>
              <a:rPr sz="1200" b="0" i="0">
                <a:solidFill>
                  <a:srgbClr val="262626"/>
                </a:solidFill>
                <a:latin typeface="Calibri"/>
              </a:rPr>
              <a:t>Flutter App Development Setup</a:t>
            </a:r>
          </a:p>
        </p:txBody>
      </p:sp>
      <p:sp>
        <p:nvSpPr>
          <p:cNvPr id="57" name="Rectangle 56"/>
          <p:cNvSpPr/>
          <p:nvPr/>
        </p:nvSpPr>
        <p:spPr>
          <a:xfrm>
            <a:off x="111030" y="4080000"/>
            <a:ext cx="8781043" cy="430000"/>
          </a:xfrm>
          <a:prstGeom prst="rect">
            <a:avLst/>
          </a:prstGeom>
          <a:solidFill>
            <a:srgbClr val="F7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58" name="Rectangle 57"/>
          <p:cNvSpPr/>
          <p:nvPr/>
        </p:nvSpPr>
        <p:spPr>
          <a:xfrm>
            <a:off x="111030" y="4505238"/>
            <a:ext cx="8781043" cy="9525"/>
          </a:xfrm>
          <a:prstGeom prst="rect">
            <a:avLst/>
          </a:prstGeom>
          <a:solidFill>
            <a:srgbClr val="E0DA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59" name="TextBox 58"/>
          <p:cNvSpPr txBox="1"/>
          <p:nvPr/>
        </p:nvSpPr>
        <p:spPr>
          <a:xfrm>
            <a:off x="201030" y="4110334"/>
            <a:ext cx="2250000" cy="369332"/>
          </a:xfrm>
          <a:prstGeom prst="rect">
            <a:avLst/>
          </a:prstGeom>
          <a:noFill/>
        </p:spPr>
        <p:txBody>
          <a:bodyPr wrap="square" lIns="0" tIns="0" rIns="0" bIns="0" anchor="ctr">
            <a:spAutoFit/>
          </a:bodyPr>
          <a:lstStyle/>
          <a:p>
            <a:pPr algn="l"/>
            <a:r>
              <a:rPr sz="1200" b="0" i="0" dirty="0">
                <a:solidFill>
                  <a:srgbClr val="262626"/>
                </a:solidFill>
                <a:latin typeface="Calibri"/>
              </a:rPr>
              <a:t>Backend API </a:t>
            </a:r>
            <a:r>
              <a:rPr lang="en-IN" sz="1200" b="0" i="0" dirty="0">
                <a:solidFill>
                  <a:srgbClr val="262626"/>
                </a:solidFill>
                <a:latin typeface="Calibri"/>
              </a:rPr>
              <a:t>,</a:t>
            </a:r>
            <a:r>
              <a:rPr sz="1200" b="0" i="0" dirty="0">
                <a:solidFill>
                  <a:srgbClr val="262626"/>
                </a:solidFill>
                <a:latin typeface="Calibri"/>
              </a:rPr>
              <a:t> Restock Logic</a:t>
            </a:r>
            <a:r>
              <a:rPr lang="en-IN" sz="1200" b="0" i="0" dirty="0">
                <a:solidFill>
                  <a:srgbClr val="262626"/>
                </a:solidFill>
                <a:latin typeface="Calibri"/>
              </a:rPr>
              <a:t> and LLM narrator</a:t>
            </a:r>
            <a:endParaRPr sz="1200" b="0" i="0" dirty="0">
              <a:solidFill>
                <a:srgbClr val="262626"/>
              </a:solidFill>
              <a:latin typeface="Calibri"/>
            </a:endParaRPr>
          </a:p>
        </p:txBody>
      </p:sp>
      <p:sp>
        <p:nvSpPr>
          <p:cNvPr id="60" name="Rounded Rectangle 59"/>
          <p:cNvSpPr/>
          <p:nvPr/>
        </p:nvSpPr>
        <p:spPr>
          <a:xfrm>
            <a:off x="5053447" y="4176750"/>
            <a:ext cx="1246208" cy="236500"/>
          </a:xfrm>
          <a:prstGeom prst="roundRect">
            <a:avLst/>
          </a:prstGeom>
          <a:solidFill>
            <a:srgbClr val="F3D9D8"/>
          </a:solidFill>
          <a:ln w="12700">
            <a:solidFill>
              <a:srgbClr val="BC31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61" name="Rectangle 60"/>
          <p:cNvSpPr/>
          <p:nvPr/>
        </p:nvSpPr>
        <p:spPr>
          <a:xfrm>
            <a:off x="111030" y="4935238"/>
            <a:ext cx="8781043" cy="9525"/>
          </a:xfrm>
          <a:prstGeom prst="rect">
            <a:avLst/>
          </a:prstGeom>
          <a:solidFill>
            <a:srgbClr val="E0DA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62" name="TextBox 61"/>
          <p:cNvSpPr txBox="1"/>
          <p:nvPr/>
        </p:nvSpPr>
        <p:spPr>
          <a:xfrm>
            <a:off x="201030" y="4540334"/>
            <a:ext cx="2250000" cy="369332"/>
          </a:xfrm>
          <a:prstGeom prst="rect">
            <a:avLst/>
          </a:prstGeom>
          <a:noFill/>
        </p:spPr>
        <p:txBody>
          <a:bodyPr wrap="square" lIns="0" tIns="0" rIns="0" bIns="0" anchor="ctr">
            <a:spAutoFit/>
          </a:bodyPr>
          <a:lstStyle/>
          <a:p>
            <a:pPr algn="l"/>
            <a:r>
              <a:rPr sz="1200" b="0" i="0">
                <a:solidFill>
                  <a:srgbClr val="262626"/>
                </a:solidFill>
                <a:latin typeface="Calibri"/>
              </a:rPr>
              <a:t>System Integration (Model + App + Backend)</a:t>
            </a:r>
          </a:p>
        </p:txBody>
      </p:sp>
      <p:sp>
        <p:nvSpPr>
          <p:cNvPr id="63" name="Rounded Rectangle 62"/>
          <p:cNvSpPr/>
          <p:nvPr/>
        </p:nvSpPr>
        <p:spPr>
          <a:xfrm>
            <a:off x="5910919" y="4606750"/>
            <a:ext cx="1246208" cy="236500"/>
          </a:xfrm>
          <a:prstGeom prst="roundRect">
            <a:avLst/>
          </a:prstGeom>
          <a:solidFill>
            <a:srgbClr val="F3D9D8"/>
          </a:solidFill>
          <a:ln w="12700">
            <a:solidFill>
              <a:srgbClr val="BC31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64" name="Rectangle 63"/>
          <p:cNvSpPr/>
          <p:nvPr/>
        </p:nvSpPr>
        <p:spPr>
          <a:xfrm>
            <a:off x="111030" y="4940000"/>
            <a:ext cx="8781043" cy="430000"/>
          </a:xfrm>
          <a:prstGeom prst="rect">
            <a:avLst/>
          </a:prstGeom>
          <a:solidFill>
            <a:srgbClr val="F7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65" name="Rectangle 64"/>
          <p:cNvSpPr/>
          <p:nvPr/>
        </p:nvSpPr>
        <p:spPr>
          <a:xfrm>
            <a:off x="111030" y="5365238"/>
            <a:ext cx="8781043" cy="9525"/>
          </a:xfrm>
          <a:prstGeom prst="rect">
            <a:avLst/>
          </a:prstGeom>
          <a:solidFill>
            <a:srgbClr val="E0DA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66" name="TextBox 65"/>
          <p:cNvSpPr txBox="1"/>
          <p:nvPr/>
        </p:nvSpPr>
        <p:spPr>
          <a:xfrm>
            <a:off x="201030" y="4970334"/>
            <a:ext cx="2250000" cy="369332"/>
          </a:xfrm>
          <a:prstGeom prst="rect">
            <a:avLst/>
          </a:prstGeom>
          <a:noFill/>
        </p:spPr>
        <p:txBody>
          <a:bodyPr wrap="square" lIns="0" tIns="0" rIns="0" bIns="0" anchor="ctr">
            <a:spAutoFit/>
          </a:bodyPr>
          <a:lstStyle/>
          <a:p>
            <a:pPr algn="l"/>
            <a:r>
              <a:rPr sz="1200" b="0" i="0" dirty="0">
                <a:solidFill>
                  <a:srgbClr val="262626"/>
                </a:solidFill>
                <a:latin typeface="Calibri"/>
              </a:rPr>
              <a:t>Testing &amp; Evaluation (RMSE / MAPE)</a:t>
            </a:r>
          </a:p>
        </p:txBody>
      </p:sp>
      <p:sp>
        <p:nvSpPr>
          <p:cNvPr id="67" name="Rounded Rectangle 66"/>
          <p:cNvSpPr/>
          <p:nvPr/>
        </p:nvSpPr>
        <p:spPr>
          <a:xfrm>
            <a:off x="6768392" y="5036750"/>
            <a:ext cx="1246208" cy="236500"/>
          </a:xfrm>
          <a:prstGeom prst="roundRect">
            <a:avLst/>
          </a:prstGeom>
          <a:solidFill>
            <a:srgbClr val="F3D9D8"/>
          </a:solidFill>
          <a:ln w="12700">
            <a:solidFill>
              <a:srgbClr val="BC31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68" name="Rectangle 67"/>
          <p:cNvSpPr/>
          <p:nvPr/>
        </p:nvSpPr>
        <p:spPr>
          <a:xfrm>
            <a:off x="111030" y="5795238"/>
            <a:ext cx="8781043" cy="9525"/>
          </a:xfrm>
          <a:prstGeom prst="rect">
            <a:avLst/>
          </a:prstGeom>
          <a:solidFill>
            <a:srgbClr val="E0DA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69" name="TextBox 68"/>
          <p:cNvSpPr txBox="1"/>
          <p:nvPr/>
        </p:nvSpPr>
        <p:spPr>
          <a:xfrm>
            <a:off x="201030" y="5492667"/>
            <a:ext cx="2250000" cy="184666"/>
          </a:xfrm>
          <a:prstGeom prst="rect">
            <a:avLst/>
          </a:prstGeom>
          <a:noFill/>
        </p:spPr>
        <p:txBody>
          <a:bodyPr wrap="square" lIns="0" tIns="0" rIns="0" bIns="0" anchor="ctr">
            <a:spAutoFit/>
          </a:bodyPr>
          <a:lstStyle/>
          <a:p>
            <a:pPr algn="l"/>
            <a:r>
              <a:rPr sz="1200" b="0" i="0">
                <a:solidFill>
                  <a:srgbClr val="262626"/>
                </a:solidFill>
                <a:latin typeface="Calibri"/>
              </a:rPr>
              <a:t>Documentation &amp; Report Writing</a:t>
            </a:r>
          </a:p>
        </p:txBody>
      </p:sp>
      <p:sp>
        <p:nvSpPr>
          <p:cNvPr id="70" name="Rounded Rectangle 69"/>
          <p:cNvSpPr/>
          <p:nvPr/>
        </p:nvSpPr>
        <p:spPr>
          <a:xfrm>
            <a:off x="7197128" y="5466750"/>
            <a:ext cx="1246208" cy="236500"/>
          </a:xfrm>
          <a:prstGeom prst="roundRect">
            <a:avLst/>
          </a:prstGeom>
          <a:solidFill>
            <a:srgbClr val="F3D9D8"/>
          </a:solidFill>
          <a:ln w="12700">
            <a:solidFill>
              <a:srgbClr val="BC31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71" name="Rectangle 70"/>
          <p:cNvSpPr/>
          <p:nvPr/>
        </p:nvSpPr>
        <p:spPr>
          <a:xfrm>
            <a:off x="111030" y="5800000"/>
            <a:ext cx="8781043" cy="430000"/>
          </a:xfrm>
          <a:prstGeom prst="rect">
            <a:avLst/>
          </a:prstGeom>
          <a:solidFill>
            <a:srgbClr val="F7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72" name="Rectangle 71"/>
          <p:cNvSpPr/>
          <p:nvPr/>
        </p:nvSpPr>
        <p:spPr>
          <a:xfrm>
            <a:off x="111030" y="6225238"/>
            <a:ext cx="8781043" cy="9525"/>
          </a:xfrm>
          <a:prstGeom prst="rect">
            <a:avLst/>
          </a:prstGeom>
          <a:solidFill>
            <a:srgbClr val="E0DA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73" name="TextBox 72"/>
          <p:cNvSpPr txBox="1"/>
          <p:nvPr/>
        </p:nvSpPr>
        <p:spPr>
          <a:xfrm>
            <a:off x="201030" y="5830334"/>
            <a:ext cx="2250000" cy="369332"/>
          </a:xfrm>
          <a:prstGeom prst="rect">
            <a:avLst/>
          </a:prstGeom>
          <a:noFill/>
        </p:spPr>
        <p:txBody>
          <a:bodyPr wrap="square" lIns="0" tIns="0" rIns="0" bIns="0" anchor="ctr">
            <a:spAutoFit/>
          </a:bodyPr>
          <a:lstStyle/>
          <a:p>
            <a:pPr algn="l"/>
            <a:r>
              <a:rPr sz="1200" b="0" i="0">
                <a:solidFill>
                  <a:srgbClr val="262626"/>
                </a:solidFill>
                <a:latin typeface="Calibri"/>
              </a:rPr>
              <a:t>Buffer, Review Prep &amp; Final Presentation</a:t>
            </a:r>
          </a:p>
        </p:txBody>
      </p:sp>
      <p:sp>
        <p:nvSpPr>
          <p:cNvPr id="74" name="Rounded Rectangle 73"/>
          <p:cNvSpPr/>
          <p:nvPr/>
        </p:nvSpPr>
        <p:spPr>
          <a:xfrm>
            <a:off x="8054600" y="5896750"/>
            <a:ext cx="817472" cy="236500"/>
          </a:xfrm>
          <a:prstGeom prst="roundRect">
            <a:avLst/>
          </a:prstGeom>
          <a:solidFill>
            <a:srgbClr val="F3D9D8"/>
          </a:solidFill>
          <a:ln w="12700">
            <a:solidFill>
              <a:srgbClr val="BC31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75" name="Rectangle 74"/>
          <p:cNvSpPr/>
          <p:nvPr/>
        </p:nvSpPr>
        <p:spPr>
          <a:xfrm>
            <a:off x="4299142" y="2000000"/>
            <a:ext cx="12700" cy="4230000"/>
          </a:xfrm>
          <a:prstGeom prst="rect">
            <a:avLst/>
          </a:prstGeom>
          <a:solidFill>
            <a:srgbClr val="2F3C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76" name="TextBox 75"/>
          <p:cNvSpPr txBox="1"/>
          <p:nvPr/>
        </p:nvSpPr>
        <p:spPr>
          <a:xfrm>
            <a:off x="4028496" y="1834209"/>
            <a:ext cx="294953" cy="161583"/>
          </a:xfrm>
          <a:prstGeom prst="rect">
            <a:avLst/>
          </a:prstGeom>
          <a:noFill/>
        </p:spPr>
        <p:txBody>
          <a:bodyPr wrap="none" lIns="0" tIns="0" rIns="0" bIns="0" anchor="ctr">
            <a:spAutoFit/>
          </a:bodyPr>
          <a:lstStyle/>
          <a:p>
            <a:pPr algn="ctr"/>
            <a:r>
              <a:rPr sz="1050" b="1" i="0" dirty="0">
                <a:solidFill>
                  <a:srgbClr val="2F3C7E"/>
                </a:solidFill>
                <a:latin typeface="Calibri"/>
              </a:rPr>
              <a:t>WK 4</a:t>
            </a:r>
          </a:p>
        </p:txBody>
      </p:sp>
      <p:sp>
        <p:nvSpPr>
          <p:cNvPr id="77" name="Rectangle 76"/>
          <p:cNvSpPr/>
          <p:nvPr/>
        </p:nvSpPr>
        <p:spPr>
          <a:xfrm>
            <a:off x="8885723" y="2000000"/>
            <a:ext cx="12700" cy="4230000"/>
          </a:xfrm>
          <a:prstGeom prst="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78" name="Rounded Rectangle 77"/>
          <p:cNvSpPr/>
          <p:nvPr/>
        </p:nvSpPr>
        <p:spPr>
          <a:xfrm>
            <a:off x="111030" y="6310000"/>
            <a:ext cx="220000" cy="140000"/>
          </a:xfrm>
          <a:prstGeom prst="roundRect">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79" name="TextBox 78"/>
          <p:cNvSpPr txBox="1"/>
          <p:nvPr/>
        </p:nvSpPr>
        <p:spPr>
          <a:xfrm>
            <a:off x="371030" y="6295362"/>
            <a:ext cx="1150000" cy="169277"/>
          </a:xfrm>
          <a:prstGeom prst="rect">
            <a:avLst/>
          </a:prstGeom>
          <a:noFill/>
        </p:spPr>
        <p:txBody>
          <a:bodyPr wrap="square" lIns="0" tIns="0" rIns="0" bIns="0" anchor="ctr">
            <a:spAutoFit/>
          </a:bodyPr>
          <a:lstStyle/>
          <a:p>
            <a:pPr algn="l"/>
            <a:r>
              <a:rPr sz="1100" b="0" i="0">
                <a:solidFill>
                  <a:srgbClr val="262626"/>
                </a:solidFill>
                <a:latin typeface="Calibri"/>
              </a:rPr>
              <a:t>Completed</a:t>
            </a:r>
          </a:p>
        </p:txBody>
      </p:sp>
      <p:sp>
        <p:nvSpPr>
          <p:cNvPr id="80" name="Rounded Rectangle 79"/>
          <p:cNvSpPr/>
          <p:nvPr/>
        </p:nvSpPr>
        <p:spPr>
          <a:xfrm>
            <a:off x="1611030" y="6310000"/>
            <a:ext cx="220000" cy="140000"/>
          </a:xfrm>
          <a:prstGeom prst="round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81" name="TextBox 80"/>
          <p:cNvSpPr txBox="1"/>
          <p:nvPr/>
        </p:nvSpPr>
        <p:spPr>
          <a:xfrm>
            <a:off x="1871030" y="6295362"/>
            <a:ext cx="1150000" cy="169277"/>
          </a:xfrm>
          <a:prstGeom prst="rect">
            <a:avLst/>
          </a:prstGeom>
          <a:noFill/>
        </p:spPr>
        <p:txBody>
          <a:bodyPr wrap="square" lIns="0" tIns="0" rIns="0" bIns="0" anchor="ctr">
            <a:spAutoFit/>
          </a:bodyPr>
          <a:lstStyle/>
          <a:p>
            <a:pPr algn="l"/>
            <a:r>
              <a:rPr sz="1100" b="0" i="0">
                <a:solidFill>
                  <a:srgbClr val="262626"/>
                </a:solidFill>
                <a:latin typeface="Calibri"/>
              </a:rPr>
              <a:t>In Progress</a:t>
            </a:r>
          </a:p>
        </p:txBody>
      </p:sp>
      <p:sp>
        <p:nvSpPr>
          <p:cNvPr id="82" name="Rounded Rectangle 81"/>
          <p:cNvSpPr/>
          <p:nvPr/>
        </p:nvSpPr>
        <p:spPr>
          <a:xfrm>
            <a:off x="3111030" y="6310000"/>
            <a:ext cx="220000" cy="140000"/>
          </a:xfrm>
          <a:prstGeom prst="roundRect">
            <a:avLst/>
          </a:prstGeom>
          <a:solidFill>
            <a:srgbClr val="F3D9D8"/>
          </a:solidFill>
          <a:ln w="9525">
            <a:solidFill>
              <a:srgbClr val="BC31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83" name="TextBox 82"/>
          <p:cNvSpPr txBox="1"/>
          <p:nvPr/>
        </p:nvSpPr>
        <p:spPr>
          <a:xfrm>
            <a:off x="3371030" y="6295362"/>
            <a:ext cx="1150000" cy="169277"/>
          </a:xfrm>
          <a:prstGeom prst="rect">
            <a:avLst/>
          </a:prstGeom>
          <a:noFill/>
        </p:spPr>
        <p:txBody>
          <a:bodyPr wrap="square" lIns="0" tIns="0" rIns="0" bIns="0" anchor="ctr">
            <a:spAutoFit/>
          </a:bodyPr>
          <a:lstStyle/>
          <a:p>
            <a:pPr algn="l"/>
            <a:r>
              <a:rPr sz="1100" b="0" i="0">
                <a:solidFill>
                  <a:srgbClr val="262626"/>
                </a:solidFill>
                <a:latin typeface="Calibri"/>
              </a:rPr>
              <a:t>Upcoming</a:t>
            </a:r>
          </a:p>
        </p:txBody>
      </p:sp>
      <p:sp>
        <p:nvSpPr>
          <p:cNvPr id="84" name="TextBox 83"/>
          <p:cNvSpPr txBox="1"/>
          <p:nvPr/>
        </p:nvSpPr>
        <p:spPr>
          <a:xfrm>
            <a:off x="7103960" y="6365361"/>
            <a:ext cx="1768112" cy="169277"/>
          </a:xfrm>
          <a:prstGeom prst="rect">
            <a:avLst/>
          </a:prstGeom>
          <a:noFill/>
        </p:spPr>
        <p:txBody>
          <a:bodyPr wrap="none" lIns="0" tIns="0" rIns="0" bIns="0" anchor="ctr">
            <a:spAutoFit/>
          </a:bodyPr>
          <a:lstStyle/>
          <a:p>
            <a:pPr algn="r"/>
            <a:r>
              <a:rPr sz="1100" b="1" i="0" dirty="0">
                <a:solidFill>
                  <a:srgbClr val="BC312C"/>
                </a:solidFill>
                <a:latin typeface="Calibri"/>
              </a:rPr>
              <a:t>Final Presentation — Week 15</a:t>
            </a:r>
          </a:p>
        </p:txBody>
      </p:sp>
      <p:sp>
        <p:nvSpPr>
          <p:cNvPr id="6" name="Rectangle 5">
            <a:extLst>
              <a:ext uri="{FF2B5EF4-FFF2-40B4-BE49-F238E27FC236}">
                <a16:creationId xmlns:a16="http://schemas.microsoft.com/office/drawing/2014/main" id="{A656641B-5A29-0108-D3F9-4A7357463743}"/>
              </a:ext>
            </a:extLst>
          </p:cNvPr>
          <p:cNvSpPr/>
          <p:nvPr/>
        </p:nvSpPr>
        <p:spPr>
          <a:xfrm>
            <a:off x="2402980" y="2004634"/>
            <a:ext cx="12700" cy="4230000"/>
          </a:xfrm>
          <a:prstGeom prst="rect">
            <a:avLst/>
          </a:prstGeom>
          <a:solidFill>
            <a:srgbClr val="BC31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85" name="Rounded Rectangle 84"/>
          <p:cNvSpPr/>
          <p:nvPr/>
        </p:nvSpPr>
        <p:spPr>
          <a:xfrm>
            <a:off x="4393994" y="3741987"/>
            <a:ext cx="1755960" cy="272652"/>
          </a:xfrm>
          <a:prstGeom prst="roundRect">
            <a:avLst/>
          </a:prstGeom>
          <a:solidFill>
            <a:srgbClr val="F3D9D8"/>
          </a:solidFill>
          <a:ln w="12700">
            <a:solidFill>
              <a:srgbClr val="BC31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Tree>
    <p:extLst>
      <p:ext uri="{BB962C8B-B14F-4D97-AF65-F5344CB8AC3E}">
        <p14:creationId xmlns:p14="http://schemas.microsoft.com/office/powerpoint/2010/main" val="3431905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854B4-2F0D-2432-874B-C1A16AB23949}"/>
            </a:ext>
          </a:extLst>
        </p:cNvPr>
        <p:cNvGrpSpPr/>
        <p:nvPr/>
      </p:nvGrpSpPr>
      <p:grpSpPr>
        <a:xfrm>
          <a:off x="0" y="0"/>
          <a:ext cx="0" cy="0"/>
          <a:chOff x="0" y="0"/>
          <a:chExt cx="0" cy="0"/>
        </a:xfrm>
      </p:grpSpPr>
      <p:sp>
        <p:nvSpPr>
          <p:cNvPr id="19" name="Text 3">
            <a:extLst>
              <a:ext uri="{FF2B5EF4-FFF2-40B4-BE49-F238E27FC236}">
                <a16:creationId xmlns:a16="http://schemas.microsoft.com/office/drawing/2014/main" id="{F4FA3AAC-3BB8-C6A4-1142-0B2AEF659401}"/>
              </a:ext>
            </a:extLst>
          </p:cNvPr>
          <p:cNvSpPr/>
          <p:nvPr/>
        </p:nvSpPr>
        <p:spPr>
          <a:xfrm>
            <a:off x="111030" y="1316549"/>
            <a:ext cx="9359542" cy="594360"/>
          </a:xfrm>
          <a:prstGeom prst="rect">
            <a:avLst/>
          </a:prstGeom>
          <a:noFill/>
          <a:ln/>
        </p:spPr>
        <p:txBody>
          <a:bodyPr wrap="square" lIns="0" tIns="0" rIns="0" bIns="0" rtlCol="0" anchor="ctr"/>
          <a:lstStyle/>
          <a:p>
            <a:pPr marL="0" indent="0" algn="l">
              <a:buNone/>
            </a:pPr>
            <a:r>
              <a:rPr lang="en-US" sz="2700" b="1" dirty="0">
                <a:solidFill>
                  <a:srgbClr val="BC312C"/>
                </a:solidFill>
                <a:latin typeface="Cambria" pitchFamily="34" charset="0"/>
                <a:ea typeface="Cambria" pitchFamily="34" charset="-122"/>
                <a:cs typeface="Cambria" pitchFamily="34" charset="-120"/>
              </a:rPr>
              <a:t>References (1/2)</a:t>
            </a:r>
            <a:endParaRPr lang="en-US" sz="2700" dirty="0"/>
          </a:p>
        </p:txBody>
      </p:sp>
      <p:sp>
        <p:nvSpPr>
          <p:cNvPr id="21" name="Shape 4">
            <a:extLst>
              <a:ext uri="{FF2B5EF4-FFF2-40B4-BE49-F238E27FC236}">
                <a16:creationId xmlns:a16="http://schemas.microsoft.com/office/drawing/2014/main" id="{6CEA9312-7C19-0691-0537-309A0467F3D9}"/>
              </a:ext>
            </a:extLst>
          </p:cNvPr>
          <p:cNvSpPr/>
          <p:nvPr/>
        </p:nvSpPr>
        <p:spPr>
          <a:xfrm flipV="1">
            <a:off x="111030" y="1917627"/>
            <a:ext cx="8781043" cy="11570"/>
          </a:xfrm>
          <a:prstGeom prst="line">
            <a:avLst/>
          </a:prstGeom>
          <a:noFill/>
          <a:ln w="12700">
            <a:solidFill>
              <a:srgbClr val="E0DAD8"/>
            </a:solidFill>
            <a:prstDash val="solid"/>
          </a:ln>
        </p:spPr>
      </p:sp>
      <p:sp>
        <p:nvSpPr>
          <p:cNvPr id="22" name="TextBox 21"/>
          <p:cNvSpPr txBox="1"/>
          <p:nvPr/>
        </p:nvSpPr>
        <p:spPr>
          <a:xfrm>
            <a:off x="111030" y="2020000"/>
            <a:ext cx="4240521" cy="4465005"/>
          </a:xfrm>
          <a:prstGeom prst="rect">
            <a:avLst/>
          </a:prstGeom>
          <a:noFill/>
        </p:spPr>
        <p:txBody>
          <a:bodyPr wrap="square" lIns="0" tIns="0" rIns="0" bIns="0">
            <a:spAutoFit/>
          </a:bodyPr>
          <a:lstStyle/>
          <a:p>
            <a:pPr>
              <a:lnSpc>
                <a:spcPct val="105000"/>
              </a:lnSpc>
              <a:spcAft>
                <a:spcPts val="900"/>
              </a:spcAft>
            </a:pPr>
            <a:r>
              <a:rPr sz="1300" dirty="0">
                <a:solidFill>
                  <a:srgbClr val="262626"/>
                </a:solidFill>
                <a:latin typeface="Calibri"/>
              </a:rPr>
              <a:t>[1] K. S. Aqila et al., “Comparative Evaluation of SARIMA, FB Prophet, and LSTM for Hourly Demand Forecasting in </a:t>
            </a:r>
            <a:r>
              <a:rPr sz="1300" dirty="0" err="1">
                <a:solidFill>
                  <a:srgbClr val="262626"/>
                </a:solidFill>
                <a:latin typeface="Calibri"/>
              </a:rPr>
              <a:t>Saudagar</a:t>
            </a:r>
            <a:r>
              <a:rPr sz="1300" dirty="0">
                <a:solidFill>
                  <a:srgbClr val="262626"/>
                </a:solidFill>
                <a:latin typeface="Calibri"/>
              </a:rPr>
              <a:t> Kopi,” 2026.</a:t>
            </a:r>
          </a:p>
          <a:p>
            <a:pPr>
              <a:lnSpc>
                <a:spcPct val="105000"/>
              </a:lnSpc>
              <a:spcAft>
                <a:spcPts val="900"/>
              </a:spcAft>
            </a:pPr>
            <a:r>
              <a:rPr sz="1300" dirty="0">
                <a:solidFill>
                  <a:srgbClr val="262626"/>
                </a:solidFill>
                <a:latin typeface="Calibri"/>
              </a:rPr>
              <a:t>[2] Sandeep V et al., “Smart Sales Forecasting Machine Learning Models for Demand Prediction in Retail,” 2025.</a:t>
            </a:r>
          </a:p>
          <a:p>
            <a:pPr>
              <a:lnSpc>
                <a:spcPct val="105000"/>
              </a:lnSpc>
              <a:spcAft>
                <a:spcPts val="900"/>
              </a:spcAft>
            </a:pPr>
            <a:r>
              <a:rPr sz="1300" dirty="0">
                <a:solidFill>
                  <a:srgbClr val="262626"/>
                </a:solidFill>
                <a:latin typeface="Calibri"/>
              </a:rPr>
              <a:t>[3] M. Kamboj et al., “State-Level Drug Retail Sales Forecasting Using </a:t>
            </a:r>
            <a:r>
              <a:rPr sz="1300" dirty="0" err="1">
                <a:solidFill>
                  <a:srgbClr val="262626"/>
                </a:solidFill>
                <a:latin typeface="Calibri"/>
              </a:rPr>
              <a:t>XGBoost</a:t>
            </a:r>
            <a:r>
              <a:rPr sz="1300" dirty="0">
                <a:solidFill>
                  <a:srgbClr val="262626"/>
                </a:solidFill>
                <a:latin typeface="Calibri"/>
              </a:rPr>
              <a:t> and Facebook Prophet,” 2025.</a:t>
            </a:r>
          </a:p>
          <a:p>
            <a:pPr>
              <a:lnSpc>
                <a:spcPct val="105000"/>
              </a:lnSpc>
              <a:spcAft>
                <a:spcPts val="900"/>
              </a:spcAft>
            </a:pPr>
            <a:r>
              <a:rPr sz="1300" dirty="0">
                <a:solidFill>
                  <a:srgbClr val="262626"/>
                </a:solidFill>
                <a:latin typeface="Calibri"/>
              </a:rPr>
              <a:t>[4] T. Gärtner, C. Lippert, and S. </a:t>
            </a:r>
            <a:r>
              <a:rPr sz="1300" dirty="0" err="1">
                <a:solidFill>
                  <a:srgbClr val="262626"/>
                </a:solidFill>
                <a:latin typeface="Calibri"/>
              </a:rPr>
              <a:t>Konigorski</a:t>
            </a:r>
            <a:r>
              <a:rPr sz="1300" dirty="0">
                <a:solidFill>
                  <a:srgbClr val="262626"/>
                </a:solidFill>
                <a:latin typeface="Calibri"/>
              </a:rPr>
              <a:t>, “Automated Demand Forecasting in Small to Medium-Sized Enterprises,” 2024.</a:t>
            </a:r>
          </a:p>
          <a:p>
            <a:pPr>
              <a:lnSpc>
                <a:spcPct val="105000"/>
              </a:lnSpc>
              <a:spcAft>
                <a:spcPts val="900"/>
              </a:spcAft>
            </a:pPr>
            <a:r>
              <a:rPr sz="1300" dirty="0">
                <a:solidFill>
                  <a:srgbClr val="262626"/>
                </a:solidFill>
                <a:latin typeface="Calibri"/>
              </a:rPr>
              <a:t>[5] P. Ganguly and I. Mukherjee, “Enhancing Retail Sales Forecasting with Optimized Machine Learning Models,” 2024.</a:t>
            </a:r>
          </a:p>
          <a:p>
            <a:pPr>
              <a:lnSpc>
                <a:spcPct val="105000"/>
              </a:lnSpc>
              <a:spcAft>
                <a:spcPts val="900"/>
              </a:spcAft>
            </a:pPr>
            <a:r>
              <a:rPr sz="1300" dirty="0">
                <a:solidFill>
                  <a:srgbClr val="262626"/>
                </a:solidFill>
                <a:latin typeface="Calibri"/>
              </a:rPr>
              <a:t>[6] H. </a:t>
            </a:r>
            <a:r>
              <a:rPr sz="1300" dirty="0" err="1">
                <a:solidFill>
                  <a:srgbClr val="262626"/>
                </a:solidFill>
                <a:latin typeface="Calibri"/>
              </a:rPr>
              <a:t>Jatte</a:t>
            </a:r>
            <a:r>
              <a:rPr sz="1300" dirty="0">
                <a:solidFill>
                  <a:srgbClr val="262626"/>
                </a:solidFill>
                <a:latin typeface="Calibri"/>
              </a:rPr>
              <a:t> et al., “Optimization of Forecasting Performance in the Retail Sector Using Artificial Intelligence,” 2025.</a:t>
            </a:r>
          </a:p>
          <a:p>
            <a:pPr>
              <a:lnSpc>
                <a:spcPct val="105000"/>
              </a:lnSpc>
              <a:spcAft>
                <a:spcPts val="900"/>
              </a:spcAft>
            </a:pPr>
            <a:r>
              <a:rPr sz="1300" dirty="0">
                <a:solidFill>
                  <a:srgbClr val="262626"/>
                </a:solidFill>
                <a:latin typeface="Calibri"/>
              </a:rPr>
              <a:t>[7] N. Groene and S. Zakharov, “Introduction of AI-based sales forecasting: how to drive digital transformation in food and beverage outlets,” Discover Artificial Intelligence, vol. 4, no. 1, 2024.</a:t>
            </a:r>
          </a:p>
        </p:txBody>
      </p:sp>
      <p:sp>
        <p:nvSpPr>
          <p:cNvPr id="23" name="TextBox 22"/>
          <p:cNvSpPr txBox="1"/>
          <p:nvPr/>
        </p:nvSpPr>
        <p:spPr>
          <a:xfrm>
            <a:off x="4651551" y="2020000"/>
            <a:ext cx="4240521" cy="4139531"/>
          </a:xfrm>
          <a:prstGeom prst="rect">
            <a:avLst/>
          </a:prstGeom>
          <a:noFill/>
        </p:spPr>
        <p:txBody>
          <a:bodyPr wrap="square" lIns="0" tIns="0" rIns="0" bIns="0">
            <a:spAutoFit/>
          </a:bodyPr>
          <a:lstStyle/>
          <a:p>
            <a:pPr>
              <a:lnSpc>
                <a:spcPct val="105000"/>
              </a:lnSpc>
              <a:spcAft>
                <a:spcPts val="900"/>
              </a:spcAft>
            </a:pPr>
            <a:r>
              <a:rPr sz="1300" dirty="0">
                <a:solidFill>
                  <a:srgbClr val="262626"/>
                </a:solidFill>
                <a:latin typeface="Calibri"/>
              </a:rPr>
              <a:t>[8] A. K. Güler et al., “Forecasting Restaurant Sales with the Sensitivity of Weather Conditions and Special Days Using Facebook Prophet,” Journal of Data Applications, 2023.</a:t>
            </a:r>
          </a:p>
          <a:p>
            <a:pPr>
              <a:lnSpc>
                <a:spcPct val="105000"/>
              </a:lnSpc>
              <a:spcAft>
                <a:spcPts val="900"/>
              </a:spcAft>
            </a:pPr>
            <a:r>
              <a:rPr sz="1300" dirty="0">
                <a:solidFill>
                  <a:srgbClr val="262626"/>
                </a:solidFill>
                <a:latin typeface="Calibri"/>
              </a:rPr>
              <a:t>[9] J. C. Susanto et al., “Performance Analysis of Time Series Models to Predict Sales Activity of SMEs,” 2026.</a:t>
            </a:r>
          </a:p>
          <a:p>
            <a:pPr>
              <a:lnSpc>
                <a:spcPct val="105000"/>
              </a:lnSpc>
              <a:spcAft>
                <a:spcPts val="900"/>
              </a:spcAft>
            </a:pPr>
            <a:r>
              <a:rPr sz="1300" dirty="0">
                <a:solidFill>
                  <a:srgbClr val="262626"/>
                </a:solidFill>
                <a:latin typeface="Calibri"/>
              </a:rPr>
              <a:t>[10] M. A. Munawar and I. D. Sudirman, “LSTM-Based Hourly Sales Forecasting in SME Food and Beverage Retail,” 2026.</a:t>
            </a:r>
          </a:p>
          <a:p>
            <a:pPr>
              <a:lnSpc>
                <a:spcPct val="105000"/>
              </a:lnSpc>
              <a:spcAft>
                <a:spcPts val="900"/>
              </a:spcAft>
            </a:pPr>
            <a:r>
              <a:rPr sz="1300" dirty="0">
                <a:solidFill>
                  <a:srgbClr val="262626"/>
                </a:solidFill>
                <a:latin typeface="Calibri"/>
              </a:rPr>
              <a:t>[11] S. </a:t>
            </a:r>
            <a:r>
              <a:rPr sz="1300" dirty="0" err="1">
                <a:solidFill>
                  <a:srgbClr val="262626"/>
                </a:solidFill>
                <a:latin typeface="Calibri"/>
              </a:rPr>
              <a:t>Vyakarnam</a:t>
            </a:r>
            <a:r>
              <a:rPr sz="1300" dirty="0">
                <a:solidFill>
                  <a:srgbClr val="262626"/>
                </a:solidFill>
                <a:latin typeface="Calibri"/>
              </a:rPr>
              <a:t> et al., “Optimizing Supply Chain Management for Small and Medium-Sized Businesses Using AI: A Comparative Analysis of GPT-4.5, Grok 3, Gemini 2.0, and DeepSeek R-1,” SERA 2025, 2025.</a:t>
            </a:r>
          </a:p>
          <a:p>
            <a:pPr>
              <a:lnSpc>
                <a:spcPct val="105000"/>
              </a:lnSpc>
              <a:spcAft>
                <a:spcPts val="900"/>
              </a:spcAft>
            </a:pPr>
            <a:r>
              <a:rPr sz="1300" dirty="0">
                <a:solidFill>
                  <a:srgbClr val="262626"/>
                </a:solidFill>
                <a:latin typeface="Calibri"/>
              </a:rPr>
              <a:t>[12] </a:t>
            </a:r>
            <a:r>
              <a:rPr sz="1300" dirty="0" err="1">
                <a:solidFill>
                  <a:srgbClr val="262626"/>
                </a:solidFill>
                <a:latin typeface="Calibri"/>
              </a:rPr>
              <a:t>Yuniarty</a:t>
            </a:r>
            <a:r>
              <a:rPr sz="1300" dirty="0">
                <a:solidFill>
                  <a:srgbClr val="262626"/>
                </a:solidFill>
                <a:latin typeface="Calibri"/>
              </a:rPr>
              <a:t> et al., “Technology Acceptance and Security Influences on AI Adoption among Small and Medium Enterprises,” 2025.</a:t>
            </a:r>
          </a:p>
          <a:p>
            <a:pPr>
              <a:lnSpc>
                <a:spcPct val="105000"/>
              </a:lnSpc>
              <a:spcAft>
                <a:spcPts val="900"/>
              </a:spcAft>
            </a:pPr>
            <a:r>
              <a:rPr sz="1300" dirty="0">
                <a:solidFill>
                  <a:srgbClr val="262626"/>
                </a:solidFill>
                <a:latin typeface="Calibri"/>
              </a:rPr>
              <a:t>[13] T. Aree and P. </a:t>
            </a:r>
            <a:r>
              <a:rPr sz="1300" dirty="0" err="1">
                <a:solidFill>
                  <a:srgbClr val="262626"/>
                </a:solidFill>
                <a:latin typeface="Calibri"/>
              </a:rPr>
              <a:t>Ueasangkomsate</a:t>
            </a:r>
            <a:r>
              <a:rPr sz="1300" dirty="0">
                <a:solidFill>
                  <a:srgbClr val="262626"/>
                </a:solidFill>
                <a:latin typeface="Calibri"/>
              </a:rPr>
              <a:t>, “Technology Adoption of MSMEs in Food Supply Chain: The Role of AI in Traceability and Transparency,” 2025.</a:t>
            </a:r>
          </a:p>
        </p:txBody>
      </p:sp>
      <p:sp>
        <p:nvSpPr>
          <p:cNvPr id="3" name="Slide Number Placeholder 3">
            <a:extLst>
              <a:ext uri="{FF2B5EF4-FFF2-40B4-BE49-F238E27FC236}">
                <a16:creationId xmlns:a16="http://schemas.microsoft.com/office/drawing/2014/main" id="{6EB4E5E5-E128-1171-B451-0A9B29813521}"/>
              </a:ext>
            </a:extLst>
          </p:cNvPr>
          <p:cNvSpPr>
            <a:spLocks noGrp="1"/>
          </p:cNvSpPr>
          <p:nvPr>
            <p:ph type="sldNum" sz="quarter" idx="12"/>
          </p:nvPr>
        </p:nvSpPr>
        <p:spPr>
          <a:xfrm>
            <a:off x="6507284" y="6421755"/>
            <a:ext cx="2133600" cy="365125"/>
          </a:xfrm>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14</a:t>
            </a:fld>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293788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854B4-2F0D-2432-874B-C1A16AB23949}"/>
            </a:ext>
          </a:extLst>
        </p:cNvPr>
        <p:cNvGrpSpPr/>
        <p:nvPr/>
      </p:nvGrpSpPr>
      <p:grpSpPr>
        <a:xfrm>
          <a:off x="0" y="0"/>
          <a:ext cx="0" cy="0"/>
          <a:chOff x="0" y="0"/>
          <a:chExt cx="0" cy="0"/>
        </a:xfrm>
      </p:grpSpPr>
      <p:sp>
        <p:nvSpPr>
          <p:cNvPr id="19" name="Text 3">
            <a:extLst>
              <a:ext uri="{FF2B5EF4-FFF2-40B4-BE49-F238E27FC236}">
                <a16:creationId xmlns:a16="http://schemas.microsoft.com/office/drawing/2014/main" id="{F4FA3AAC-3BB8-C6A4-1142-0B2AEF659401}"/>
              </a:ext>
            </a:extLst>
          </p:cNvPr>
          <p:cNvSpPr/>
          <p:nvPr/>
        </p:nvSpPr>
        <p:spPr>
          <a:xfrm>
            <a:off x="111030" y="1316549"/>
            <a:ext cx="9359542" cy="594360"/>
          </a:xfrm>
          <a:prstGeom prst="rect">
            <a:avLst/>
          </a:prstGeom>
          <a:noFill/>
          <a:ln/>
        </p:spPr>
        <p:txBody>
          <a:bodyPr wrap="square" lIns="0" tIns="0" rIns="0" bIns="0" rtlCol="0" anchor="ctr"/>
          <a:lstStyle/>
          <a:p>
            <a:pPr marL="0" indent="0" algn="l">
              <a:buNone/>
            </a:pPr>
            <a:r>
              <a:rPr lang="en-US" sz="2700" b="1" dirty="0">
                <a:solidFill>
                  <a:srgbClr val="BC312C"/>
                </a:solidFill>
                <a:latin typeface="Cambria" pitchFamily="34" charset="0"/>
                <a:ea typeface="Cambria" pitchFamily="34" charset="-122"/>
                <a:cs typeface="Cambria" pitchFamily="34" charset="-120"/>
              </a:rPr>
              <a:t>References (2/2)</a:t>
            </a:r>
            <a:endParaRPr lang="en-US" sz="2700" dirty="0"/>
          </a:p>
        </p:txBody>
      </p:sp>
      <p:sp>
        <p:nvSpPr>
          <p:cNvPr id="21" name="Shape 4">
            <a:extLst>
              <a:ext uri="{FF2B5EF4-FFF2-40B4-BE49-F238E27FC236}">
                <a16:creationId xmlns:a16="http://schemas.microsoft.com/office/drawing/2014/main" id="{6CEA9312-7C19-0691-0537-309A0467F3D9}"/>
              </a:ext>
            </a:extLst>
          </p:cNvPr>
          <p:cNvSpPr/>
          <p:nvPr/>
        </p:nvSpPr>
        <p:spPr>
          <a:xfrm flipV="1">
            <a:off x="111030" y="1917627"/>
            <a:ext cx="8781043" cy="11570"/>
          </a:xfrm>
          <a:prstGeom prst="line">
            <a:avLst/>
          </a:prstGeom>
          <a:noFill/>
          <a:ln w="12700">
            <a:solidFill>
              <a:srgbClr val="E0DAD8"/>
            </a:solidFill>
            <a:prstDash val="solid"/>
          </a:ln>
        </p:spPr>
      </p:sp>
      <p:sp>
        <p:nvSpPr>
          <p:cNvPr id="22" name="TextBox 21"/>
          <p:cNvSpPr txBox="1"/>
          <p:nvPr/>
        </p:nvSpPr>
        <p:spPr>
          <a:xfrm>
            <a:off x="111030" y="2020000"/>
            <a:ext cx="4240521" cy="4139531"/>
          </a:xfrm>
          <a:prstGeom prst="rect">
            <a:avLst/>
          </a:prstGeom>
          <a:noFill/>
        </p:spPr>
        <p:txBody>
          <a:bodyPr wrap="square" lIns="0" tIns="0" rIns="0" bIns="0">
            <a:spAutoFit/>
          </a:bodyPr>
          <a:lstStyle/>
          <a:p>
            <a:pPr>
              <a:lnSpc>
                <a:spcPct val="105000"/>
              </a:lnSpc>
              <a:spcAft>
                <a:spcPts val="900"/>
              </a:spcAft>
            </a:pPr>
            <a:r>
              <a:rPr sz="1300" dirty="0">
                <a:solidFill>
                  <a:srgbClr val="262626"/>
                </a:solidFill>
                <a:latin typeface="Calibri"/>
              </a:rPr>
              <a:t>[14] K. </a:t>
            </a:r>
            <a:r>
              <a:rPr sz="1300" dirty="0" err="1">
                <a:solidFill>
                  <a:srgbClr val="262626"/>
                </a:solidFill>
                <a:latin typeface="Calibri"/>
              </a:rPr>
              <a:t>Somjaipeng</a:t>
            </a:r>
            <a:r>
              <a:rPr sz="1300" dirty="0">
                <a:solidFill>
                  <a:srgbClr val="262626"/>
                </a:solidFill>
                <a:latin typeface="Calibri"/>
              </a:rPr>
              <a:t> and W. </a:t>
            </a:r>
            <a:r>
              <a:rPr sz="1300" dirty="0" err="1">
                <a:solidFill>
                  <a:srgbClr val="262626"/>
                </a:solidFill>
                <a:latin typeface="Calibri"/>
              </a:rPr>
              <a:t>Jitsakul</a:t>
            </a:r>
            <a:r>
              <a:rPr sz="1300" dirty="0">
                <a:solidFill>
                  <a:srgbClr val="262626"/>
                </a:solidFill>
                <a:latin typeface="Calibri"/>
              </a:rPr>
              <a:t>, “Factors influencing audit quality through the acceptance and use of AI by auditors in Thailand affiliated with SMEs audit firms,” 2026.</a:t>
            </a:r>
          </a:p>
          <a:p>
            <a:pPr>
              <a:lnSpc>
                <a:spcPct val="105000"/>
              </a:lnSpc>
              <a:spcAft>
                <a:spcPts val="900"/>
              </a:spcAft>
            </a:pPr>
            <a:r>
              <a:rPr sz="1300" dirty="0">
                <a:solidFill>
                  <a:srgbClr val="262626"/>
                </a:solidFill>
                <a:latin typeface="Calibri"/>
              </a:rPr>
              <a:t>[15] S. Srivastava et al., “Predictive Marketing and Sales Analytics Using Machine Learning for Small and Medium E-Commerce Enterprises,” 2026.</a:t>
            </a:r>
          </a:p>
          <a:p>
            <a:pPr>
              <a:lnSpc>
                <a:spcPct val="105000"/>
              </a:lnSpc>
              <a:spcAft>
                <a:spcPts val="900"/>
              </a:spcAft>
            </a:pPr>
            <a:r>
              <a:rPr sz="1300" dirty="0">
                <a:solidFill>
                  <a:srgbClr val="262626"/>
                </a:solidFill>
                <a:latin typeface="Calibri"/>
              </a:rPr>
              <a:t>[16] Lalitha R et al., “Enhanced Sales Forecasting of Perishable and Non-Perishable Goods Using Weather Data with Insights on Imports and Price Sensitivity,” 2025.</a:t>
            </a:r>
          </a:p>
          <a:p>
            <a:pPr>
              <a:lnSpc>
                <a:spcPct val="105000"/>
              </a:lnSpc>
              <a:spcAft>
                <a:spcPts val="900"/>
              </a:spcAft>
            </a:pPr>
            <a:r>
              <a:rPr sz="1300" dirty="0">
                <a:solidFill>
                  <a:srgbClr val="262626"/>
                </a:solidFill>
                <a:latin typeface="Calibri"/>
              </a:rPr>
              <a:t>[17] N. Jain et al., “Weather-Integrated Recommendations for Food Choices with SHAP Explanation,” 2024.</a:t>
            </a:r>
          </a:p>
          <a:p>
            <a:pPr>
              <a:lnSpc>
                <a:spcPct val="105000"/>
              </a:lnSpc>
              <a:spcAft>
                <a:spcPts val="900"/>
              </a:spcAft>
            </a:pPr>
            <a:r>
              <a:rPr sz="1300" dirty="0">
                <a:solidFill>
                  <a:srgbClr val="262626"/>
                </a:solidFill>
                <a:latin typeface="Calibri"/>
              </a:rPr>
              <a:t>[18] N. U. H. Qureshi et al., “Demand Forecasting in Supply Chain Management for Rossmann Stores using Weather Enhanced Deep Learning Model,” 2024.</a:t>
            </a:r>
          </a:p>
          <a:p>
            <a:pPr>
              <a:lnSpc>
                <a:spcPct val="105000"/>
              </a:lnSpc>
              <a:spcAft>
                <a:spcPts val="900"/>
              </a:spcAft>
            </a:pPr>
            <a:r>
              <a:rPr sz="1300" dirty="0">
                <a:solidFill>
                  <a:srgbClr val="262626"/>
                </a:solidFill>
                <a:latin typeface="Calibri"/>
              </a:rPr>
              <a:t>[19] I. </a:t>
            </a:r>
            <a:r>
              <a:rPr sz="1300" dirty="0" err="1">
                <a:solidFill>
                  <a:srgbClr val="262626"/>
                </a:solidFill>
                <a:latin typeface="Calibri"/>
              </a:rPr>
              <a:t>Rahmatillah</a:t>
            </a:r>
            <a:r>
              <a:rPr sz="1300" dirty="0">
                <a:solidFill>
                  <a:srgbClr val="262626"/>
                </a:solidFill>
                <a:latin typeface="Calibri"/>
              </a:rPr>
              <a:t>, </a:t>
            </a:r>
            <a:r>
              <a:rPr sz="1300" dirty="0" err="1">
                <a:solidFill>
                  <a:srgbClr val="262626"/>
                </a:solidFill>
                <a:latin typeface="Calibri"/>
              </a:rPr>
              <a:t>Herwanto</a:t>
            </a:r>
            <a:r>
              <a:rPr sz="1300" dirty="0">
                <a:solidFill>
                  <a:srgbClr val="262626"/>
                </a:solidFill>
                <a:latin typeface="Calibri"/>
              </a:rPr>
              <a:t>, and Sudirman, “Evaluation of Optimized LSTM and Moving Average in SME Inventory Forecasting and Simulation,” 2026.</a:t>
            </a:r>
          </a:p>
        </p:txBody>
      </p:sp>
      <p:sp>
        <p:nvSpPr>
          <p:cNvPr id="23" name="TextBox 22"/>
          <p:cNvSpPr txBox="1"/>
          <p:nvPr/>
        </p:nvSpPr>
        <p:spPr>
          <a:xfrm>
            <a:off x="4651551" y="2020000"/>
            <a:ext cx="4240521" cy="4349589"/>
          </a:xfrm>
          <a:prstGeom prst="rect">
            <a:avLst/>
          </a:prstGeom>
          <a:noFill/>
        </p:spPr>
        <p:txBody>
          <a:bodyPr wrap="square" lIns="0" tIns="0" rIns="0" bIns="0">
            <a:spAutoFit/>
          </a:bodyPr>
          <a:lstStyle/>
          <a:p>
            <a:pPr>
              <a:lnSpc>
                <a:spcPct val="105000"/>
              </a:lnSpc>
              <a:spcAft>
                <a:spcPts val="900"/>
              </a:spcAft>
            </a:pPr>
            <a:r>
              <a:rPr sz="1300" dirty="0">
                <a:solidFill>
                  <a:srgbClr val="262626"/>
                </a:solidFill>
                <a:latin typeface="Calibri"/>
              </a:rPr>
              <a:t>[20] M. Cherian et al., “Demand Forecasting System for Small Business Optimization,” 5th International Conference on Intelligent Technologies, 2025.</a:t>
            </a:r>
          </a:p>
          <a:p>
            <a:pPr>
              <a:lnSpc>
                <a:spcPct val="105000"/>
              </a:lnSpc>
              <a:spcAft>
                <a:spcPts val="900"/>
              </a:spcAft>
            </a:pPr>
            <a:r>
              <a:rPr sz="1300" dirty="0">
                <a:solidFill>
                  <a:srgbClr val="262626"/>
                </a:solidFill>
                <a:latin typeface="Calibri"/>
              </a:rPr>
              <a:t>[21] M. Padmavathy et al., “AI-Driven Predictive Analytics for Sustainable Restaurant Operations and Waste Minimization,” 2025.</a:t>
            </a:r>
          </a:p>
          <a:p>
            <a:pPr>
              <a:lnSpc>
                <a:spcPct val="105000"/>
              </a:lnSpc>
              <a:spcAft>
                <a:spcPts val="900"/>
              </a:spcAft>
            </a:pPr>
            <a:r>
              <a:rPr sz="1300" dirty="0">
                <a:solidFill>
                  <a:srgbClr val="262626"/>
                </a:solidFill>
                <a:latin typeface="Calibri"/>
              </a:rPr>
              <a:t>[22] K. </a:t>
            </a:r>
            <a:r>
              <a:rPr sz="1300" dirty="0" err="1">
                <a:solidFill>
                  <a:srgbClr val="262626"/>
                </a:solidFill>
                <a:latin typeface="Calibri"/>
              </a:rPr>
              <a:t>Avuduri</a:t>
            </a:r>
            <a:r>
              <a:rPr sz="1300" dirty="0">
                <a:solidFill>
                  <a:srgbClr val="262626"/>
                </a:solidFill>
                <a:latin typeface="Calibri"/>
              </a:rPr>
              <a:t> and M. L. V, “Smart Stock: Automating Inventory Management for Small Warehouses with Real-Time Intelligence,” 2025.</a:t>
            </a:r>
          </a:p>
          <a:p>
            <a:pPr>
              <a:lnSpc>
                <a:spcPct val="105000"/>
              </a:lnSpc>
              <a:spcAft>
                <a:spcPts val="900"/>
              </a:spcAft>
            </a:pPr>
            <a:r>
              <a:rPr sz="1300" dirty="0">
                <a:solidFill>
                  <a:srgbClr val="262626"/>
                </a:solidFill>
                <a:latin typeface="Calibri"/>
              </a:rPr>
              <a:t>[23] S. Chowdhury, S. Swetha, and P. Prasad, “Predictive Analytics in Food Supply Chain and Waste Management,” 2025.</a:t>
            </a:r>
          </a:p>
          <a:p>
            <a:pPr>
              <a:lnSpc>
                <a:spcPct val="105000"/>
              </a:lnSpc>
              <a:spcAft>
                <a:spcPts val="900"/>
              </a:spcAft>
            </a:pPr>
            <a:r>
              <a:rPr sz="1300" dirty="0">
                <a:solidFill>
                  <a:srgbClr val="262626"/>
                </a:solidFill>
                <a:latin typeface="Calibri"/>
              </a:rPr>
              <a:t>[24] G. Sakuda, J. Leon, and R. Rojas, “Mobile Application for the Intelligent Management of Small Shops Using the GPT-4 Model,” 2024.</a:t>
            </a:r>
          </a:p>
          <a:p>
            <a:pPr>
              <a:lnSpc>
                <a:spcPct val="105000"/>
              </a:lnSpc>
              <a:spcAft>
                <a:spcPts val="900"/>
              </a:spcAft>
            </a:pPr>
            <a:r>
              <a:rPr sz="1300" dirty="0">
                <a:solidFill>
                  <a:srgbClr val="262626"/>
                </a:solidFill>
                <a:latin typeface="Calibri"/>
              </a:rPr>
              <a:t>[25] T. </a:t>
            </a:r>
            <a:r>
              <a:rPr sz="1300" dirty="0" err="1">
                <a:solidFill>
                  <a:srgbClr val="262626"/>
                </a:solidFill>
                <a:latin typeface="Calibri"/>
              </a:rPr>
              <a:t>Janchidfah</a:t>
            </a:r>
            <a:r>
              <a:rPr sz="1300" dirty="0">
                <a:solidFill>
                  <a:srgbClr val="262626"/>
                </a:solidFill>
                <a:latin typeface="Calibri"/>
              </a:rPr>
              <a:t> et al., “A Mobile Application for Inventory Management to Support Digital Transformation in Small Retail Businesses,” 2026.</a:t>
            </a:r>
          </a:p>
        </p:txBody>
      </p:sp>
      <p:sp>
        <p:nvSpPr>
          <p:cNvPr id="3" name="Slide Number Placeholder 3">
            <a:extLst>
              <a:ext uri="{FF2B5EF4-FFF2-40B4-BE49-F238E27FC236}">
                <a16:creationId xmlns:a16="http://schemas.microsoft.com/office/drawing/2014/main" id="{BF8E05E2-288D-A7A1-DE71-CF777A352399}"/>
              </a:ext>
            </a:extLst>
          </p:cNvPr>
          <p:cNvSpPr>
            <a:spLocks noGrp="1"/>
          </p:cNvSpPr>
          <p:nvPr>
            <p:ph type="sldNum" sz="quarter" idx="12"/>
          </p:nvPr>
        </p:nvSpPr>
        <p:spPr>
          <a:xfrm>
            <a:off x="6507284" y="6421755"/>
            <a:ext cx="2133600" cy="365125"/>
          </a:xfrm>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15</a:t>
            </a:fld>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293788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g22f13355470_0_53"/>
          <p:cNvSpPr txBox="1">
            <a:spLocks noGrp="1"/>
          </p:cNvSpPr>
          <p:nvPr>
            <p:ph type="title"/>
          </p:nvPr>
        </p:nvSpPr>
        <p:spPr>
          <a:xfrm flipH="1">
            <a:off x="457200" y="1604818"/>
            <a:ext cx="8229600" cy="3648364"/>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IN" dirty="0">
                <a:latin typeface="Times New Roman" panose="02020603050405020304" pitchFamily="18" charset="0"/>
                <a:cs typeface="Times New Roman" panose="02020603050405020304" pitchFamily="18" charset="0"/>
              </a:rPr>
              <a:t>THANK YOU</a:t>
            </a:r>
            <a:endParaRPr dirty="0">
              <a:latin typeface="Times New Roman" panose="02020603050405020304" pitchFamily="18" charset="0"/>
              <a:cs typeface="Times New Roman" panose="02020603050405020304" pitchFamily="18" charset="0"/>
            </a:endParaRPr>
          </a:p>
        </p:txBody>
      </p:sp>
      <p:sp>
        <p:nvSpPr>
          <p:cNvPr id="204" name="Google Shape;204;g22f13355470_0_53"/>
          <p:cNvSpPr txBox="1">
            <a:spLocks noGrp="1"/>
          </p:cNvSpPr>
          <p:nvPr>
            <p:ph type="sldNum" idx="12"/>
          </p:nvPr>
        </p:nvSpPr>
        <p:spPr>
          <a:xfrm>
            <a:off x="6553200" y="6373546"/>
            <a:ext cx="21336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050"/>
              <a:buFont typeface="Arial"/>
              <a:buNone/>
            </a:pPr>
            <a:fld id="{00000000-1234-1234-1234-123412341234}" type="slidenum">
              <a:rPr lang="en-IN"/>
              <a:t>16</a:t>
            </a:fld>
            <a:endParaRPr/>
          </a:p>
        </p:txBody>
      </p:sp>
    </p:spTree>
  </p:cSld>
  <p:clrMapOvr>
    <a:masterClrMapping/>
  </p:clrMapOvr>
</p:sld>
</file>

<file path=ppt/theme/theme1.xml><?xml version="1.0" encoding="utf-8"?>
<a:theme xmlns:a="http://schemas.openxmlformats.org/drawingml/2006/main" name="MPST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581</TotalTime>
  <Words>2451</Words>
  <Application>Microsoft Office PowerPoint</Application>
  <PresentationFormat>On-screen Show (4:3)</PresentationFormat>
  <Paragraphs>257</Paragraphs>
  <Slides>16</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Noto Sans Symbols</vt:lpstr>
      <vt:lpstr>Cambria</vt:lpstr>
      <vt:lpstr>Calibri</vt:lpstr>
      <vt:lpstr>Times New Roman</vt:lpstr>
      <vt:lpstr>Arial</vt:lpstr>
      <vt:lpstr>MPSTME</vt:lpstr>
      <vt:lpstr>   Project Review-I Presentation on Demand Forecasting and Inventory Recommendation  for Small Food Retailers  By (G1) 1. Yatin Patil 70012300043 2. Chinmay Patil 70012300123 3. Soumy Raghuvanshi 70012300116  Under the Guidance of Dr. Srikanth Pulipeti </vt:lpstr>
      <vt:lpstr>Outline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Presentation on “TITLE OF PROJECT/DOMAIN”  By Name of Student   Under the Guidance of Name of Guide </dc:title>
  <dc:creator>Dhirendra Mishra</dc:creator>
  <cp:lastModifiedBy>YATIN PATIL</cp:lastModifiedBy>
  <cp:revision>31</cp:revision>
  <dcterms:created xsi:type="dcterms:W3CDTF">2017-04-11T09:48:28Z</dcterms:created>
  <dcterms:modified xsi:type="dcterms:W3CDTF">2026-08-07T16:53:36Z</dcterms:modified>
</cp:coreProperties>
</file>