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handoutMasterIdLst>
    <p:handoutMasterId r:id="rId23"/>
  </p:handoutMasterIdLst>
  <p:sldIdLst>
    <p:sldId id="256" r:id="rId2"/>
    <p:sldId id="271" r:id="rId3"/>
    <p:sldId id="272" r:id="rId4"/>
    <p:sldId id="273" r:id="rId5"/>
    <p:sldId id="285" r:id="rId6"/>
    <p:sldId id="286" r:id="rId7"/>
    <p:sldId id="293" r:id="rId8"/>
    <p:sldId id="296" r:id="rId9"/>
    <p:sldId id="297" r:id="rId10"/>
    <p:sldId id="298" r:id="rId11"/>
    <p:sldId id="299" r:id="rId12"/>
    <p:sldId id="302" r:id="rId13"/>
    <p:sldId id="300" r:id="rId14"/>
    <p:sldId id="301" r:id="rId15"/>
    <p:sldId id="303" r:id="rId16"/>
    <p:sldId id="308" r:id="rId17"/>
    <p:sldId id="294" r:id="rId18"/>
    <p:sldId id="291" r:id="rId19"/>
    <p:sldId id="292" r:id="rId20"/>
    <p:sldId id="295" r:id="rId21"/>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53E"/>
    <a:srgbClr val="245B8A"/>
    <a:srgbClr val="F3DA6B"/>
    <a:srgbClr val="FCFDFC"/>
    <a:srgbClr val="FEFEFC"/>
    <a:srgbClr val="C62829"/>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3169B5-15AE-DBDD-9604-384BF60A2E0A}" v="2" dt="2026-08-07T17:27:04.825"/>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82" d="100"/>
          <a:sy n="82" d="100"/>
        </p:scale>
        <p:origin x="1277"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C83169B5-15AE-DBDD-9604-384BF60A2E0A}"/>
    <pc:docChg chg="modSld">
      <pc:chgData name="" userId="" providerId="" clId="Web-{C83169B5-15AE-DBDD-9604-384BF60A2E0A}" dt="2026-08-07T17:27:04.825" v="1" actId="1076"/>
      <pc:docMkLst>
        <pc:docMk/>
      </pc:docMkLst>
      <pc:sldChg chg="modSp">
        <pc:chgData name="" userId="" providerId="" clId="Web-{C83169B5-15AE-DBDD-9604-384BF60A2E0A}" dt="2026-08-07T17:27:04.825" v="1" actId="1076"/>
        <pc:sldMkLst>
          <pc:docMk/>
          <pc:sldMk cId="3564950406" sldId="256"/>
        </pc:sldMkLst>
        <pc:picChg chg="mod">
          <ac:chgData name="" userId="" providerId="" clId="Web-{C83169B5-15AE-DBDD-9604-384BF60A2E0A}" dt="2026-08-07T17:27:04.825" v="1" actId="1076"/>
          <ac:picMkLst>
            <pc:docMk/>
            <pc:sldMk cId="3564950406" sldId="256"/>
            <ac:picMk id="6"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ED0C86-FBDC-4F4B-868F-AD75546791C9}" type="datetimeFigureOut">
              <a:rPr lang="en-IN" smtClean="0"/>
              <a:t>11-09-2026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DDF0C8-312A-47D5-B2F4-EC84B28678E7}" type="slidenum">
              <a:rPr lang="en-IN" smtClean="0"/>
              <a:t>‹#›</a:t>
            </a:fld>
            <a:endParaRPr lang="en-IN"/>
          </a:p>
        </p:txBody>
      </p:sp>
    </p:spTree>
    <p:extLst>
      <p:ext uri="{BB962C8B-B14F-4D97-AF65-F5344CB8AC3E}">
        <p14:creationId xmlns:p14="http://schemas.microsoft.com/office/powerpoint/2010/main" val="37535770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A20C9C-43E4-4A05-8258-078FAE48E1C5}" type="datetimeFigureOut">
              <a:rPr lang="en-US" smtClean="0"/>
              <a:t>9/11/2026</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ADD2F5-B3BE-4FC0-9A06-F4EF821376E0}" type="slidenum">
              <a:rPr lang="en-US" smtClean="0"/>
              <a:t>‹#›</a:t>
            </a:fld>
            <a:endParaRPr lang="en-US"/>
          </a:p>
        </p:txBody>
      </p:sp>
    </p:spTree>
    <p:extLst>
      <p:ext uri="{BB962C8B-B14F-4D97-AF65-F5344CB8AC3E}">
        <p14:creationId xmlns:p14="http://schemas.microsoft.com/office/powerpoint/2010/main" val="2113519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E27762-CF53-41B2-8332-42AC258A58BE}" type="datetime1">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066221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0EA483-BB4B-4DBC-931E-3BF85FAE6A67}" type="datetime1">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2594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27A45-7C51-4151-9B1B-1CA80AE62BB7}" type="datetime1">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97444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AF275D-B4B9-451C-BE93-8DB98955D399}" type="datetime1">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193755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11117E-90CC-4F18-B8A4-D8D0F9191E86}" type="datetime1">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416460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6B89A9-0E18-486C-9BBB-0139AC9D6E2D}" type="datetime1">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184622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0A26EB-BB09-4DA4-BAE7-6CB857A6EABB}" type="datetime1">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571015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DCCE52-B654-4B38-8F99-60DF87FDAE55}" type="datetime1">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4031667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CEAC99-A21A-4B2B-8209-0F0DB40DCF77}" type="datetime1">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902496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E31EE7-D61B-4A5B-B5F8-D5F455DA5289}" type="datetime1">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831266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E01C69-65C3-4313-BFA7-3AF5EC40E60E}" type="datetime1">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89502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7E52B1-AF3C-45C7-8AB3-BD36D09248C9}" type="datetime1">
              <a:rPr lang="en-US" smtClean="0"/>
              <a:t>9/11/2026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C013F7-6D70-4318-BA41-212A9B59413B}" type="slidenum">
              <a:rPr lang="en-US" smtClean="0"/>
              <a:t>‹#›</a:t>
            </a:fld>
            <a:endParaRPr lang="en-US"/>
          </a:p>
        </p:txBody>
      </p:sp>
    </p:spTree>
    <p:extLst>
      <p:ext uri="{BB962C8B-B14F-4D97-AF65-F5344CB8AC3E}">
        <p14:creationId xmlns:p14="http://schemas.microsoft.com/office/powerpoint/2010/main" val="27891049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b="6633"/>
          <a:stretch/>
        </p:blipFill>
        <p:spPr>
          <a:xfrm>
            <a:off x="0" y="0"/>
            <a:ext cx="3927231" cy="939765"/>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20" name="Slide Number Placeholder 19"/>
          <p:cNvSpPr>
            <a:spLocks noGrp="1"/>
          </p:cNvSpPr>
          <p:nvPr>
            <p:ph type="sldNum" sz="quarter" idx="12"/>
          </p:nvPr>
        </p:nvSpPr>
        <p:spPr/>
        <p:txBody>
          <a:bodyPr/>
          <a:lstStyle/>
          <a:p>
            <a:fld id="{9DC013F7-6D70-4318-BA41-212A9B59413B}" type="slidenum">
              <a:rPr lang="en-US" smtClean="0"/>
              <a:t>1</a:t>
            </a:fld>
            <a:endParaRPr lang="en-US"/>
          </a:p>
        </p:txBody>
      </p:sp>
      <p:sp>
        <p:nvSpPr>
          <p:cNvPr id="10" name="Rectangle 9"/>
          <p:cNvSpPr/>
          <p:nvPr/>
        </p:nvSpPr>
        <p:spPr>
          <a:xfrm>
            <a:off x="0" y="541718"/>
            <a:ext cx="9905999" cy="4124206"/>
          </a:xfrm>
          <a:prstGeom prst="rect">
            <a:avLst/>
          </a:prstGeom>
        </p:spPr>
        <p:txBody>
          <a:bodyPr wrap="square">
            <a:spAutoFit/>
          </a:bodyPr>
          <a:lstStyle/>
          <a:p>
            <a:pPr algn="ctr"/>
            <a:r>
              <a:rPr lang="en-IN" sz="2200" b="1" dirty="0">
                <a:latin typeface="Times New Roman" pitchFamily="18" charset="0"/>
                <a:cs typeface="Times New Roman" pitchFamily="18" charset="0"/>
              </a:rPr>
              <a:t>Presentation (Review-I)</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on</a:t>
            </a:r>
            <a:br>
              <a:rPr lang="en-IN" sz="2200" b="1" dirty="0">
                <a:latin typeface="Times New Roman" pitchFamily="18" charset="0"/>
                <a:cs typeface="Times New Roman" pitchFamily="18" charset="0"/>
              </a:rPr>
            </a:br>
            <a:r>
              <a:rPr lang="en-IN" sz="2200" b="1" dirty="0">
                <a:solidFill>
                  <a:srgbClr val="C00000"/>
                </a:solidFill>
                <a:latin typeface="Times New Roman" panose="02020603050405020304" pitchFamily="18" charset="0"/>
                <a:cs typeface="Times New Roman" panose="02020603050405020304" pitchFamily="18" charset="0"/>
              </a:rPr>
              <a:t>Demand Forecasting and Inventory Recommendation</a:t>
            </a:r>
            <a:br>
              <a:rPr lang="en-IN" sz="2200" b="1" dirty="0">
                <a:solidFill>
                  <a:srgbClr val="C00000"/>
                </a:solidFill>
                <a:latin typeface="Times New Roman" panose="02020603050405020304" pitchFamily="18" charset="0"/>
                <a:cs typeface="Times New Roman" panose="02020603050405020304" pitchFamily="18" charset="0"/>
              </a:rPr>
            </a:br>
            <a:r>
              <a:rPr lang="en-IN" sz="2200" b="1" dirty="0">
                <a:solidFill>
                  <a:srgbClr val="C00000"/>
                </a:solidFill>
                <a:latin typeface="Times New Roman" panose="02020603050405020304" pitchFamily="18" charset="0"/>
                <a:cs typeface="Times New Roman" panose="02020603050405020304" pitchFamily="18" charset="0"/>
              </a:rPr>
              <a:t> for Small Food Retailers</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By</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1. Yatin Patil 70012300043</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2. Chinmay Patil 70012300123</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3.</a:t>
            </a:r>
            <a:r>
              <a:rPr lang="en-IN" sz="2200" dirty="0">
                <a:latin typeface="Times New Roman" panose="02020603050405020304" pitchFamily="18" charset="0"/>
                <a:cs typeface="Times New Roman" pitchFamily="18" charset="0"/>
              </a:rPr>
              <a:t> </a:t>
            </a:r>
            <a:r>
              <a:rPr lang="en-IN" sz="2200" b="1" dirty="0">
                <a:latin typeface="Times New Roman" panose="02020603050405020304" pitchFamily="18" charset="0"/>
                <a:cs typeface="Times New Roman" pitchFamily="18" charset="0"/>
              </a:rPr>
              <a:t>Soumy Raghuvanshi 70012300116</a:t>
            </a:r>
          </a:p>
          <a:p>
            <a:pPr algn="ctr"/>
            <a:br>
              <a:rPr lang="en-IN" sz="2000" b="1" dirty="0">
                <a:latin typeface="Times New Roman" pitchFamily="18" charset="0"/>
                <a:cs typeface="Times New Roman" pitchFamily="18" charset="0"/>
              </a:rPr>
            </a:br>
            <a:r>
              <a:rPr lang="en-IN" sz="2200" b="1" dirty="0">
                <a:latin typeface="Times New Roman" pitchFamily="18" charset="0"/>
                <a:cs typeface="Times New Roman" pitchFamily="18" charset="0"/>
              </a:rPr>
              <a:t>Under the Guidance of</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Dr. Srikanth </a:t>
            </a:r>
            <a:r>
              <a:rPr lang="en-IN" sz="2200" b="1" dirty="0" err="1">
                <a:latin typeface="Times New Roman" panose="02020603050405020304" pitchFamily="18" charset="0"/>
                <a:cs typeface="Times New Roman" panose="02020603050405020304" pitchFamily="18" charset="0"/>
              </a:rPr>
              <a:t>Pulipeti</a:t>
            </a:r>
            <a:br>
              <a:rPr lang="en-IN" sz="2200" b="1" dirty="0">
                <a:latin typeface="Times New Roman" pitchFamily="18" charset="0"/>
                <a:cs typeface="Times New Roman" pitchFamily="18" charset="0"/>
              </a:rPr>
            </a:br>
            <a:endParaRPr lang="en-IN" sz="2200" b="1" dirty="0">
              <a:solidFill>
                <a:srgbClr val="C00000"/>
              </a:solidFill>
              <a:latin typeface="Book Antiqua" panose="02040602050305030304" pitchFamily="18" charset="0"/>
            </a:endParaRPr>
          </a:p>
        </p:txBody>
      </p:sp>
      <p:pic>
        <p:nvPicPr>
          <p:cNvPr id="5" name="Picture 3" descr="C:\Users\kunal\Pictures\nmims.png">
            <a:extLst>
              <a:ext uri="{FF2B5EF4-FFF2-40B4-BE49-F238E27FC236}">
                <a16:creationId xmlns:a16="http://schemas.microsoft.com/office/drawing/2014/main" id="{FE81BFD6-F0E8-E702-50DC-E3D9C80ADC50}"/>
              </a:ext>
            </a:extLst>
          </p:cNvPr>
          <p:cNvPicPr>
            <a:picLocks noChangeAspect="1" noChangeArrowheads="1"/>
          </p:cNvPicPr>
          <p:nvPr/>
        </p:nvPicPr>
        <p:blipFill>
          <a:blip r:embed="rId4" cstate="print"/>
          <a:srcRect/>
          <a:stretch>
            <a:fillRect/>
          </a:stretch>
        </p:blipFill>
        <p:spPr bwMode="auto">
          <a:xfrm>
            <a:off x="4424360" y="4405909"/>
            <a:ext cx="1057275" cy="1209675"/>
          </a:xfrm>
          <a:prstGeom prst="rect">
            <a:avLst/>
          </a:prstGeom>
          <a:noFill/>
        </p:spPr>
      </p:pic>
      <p:sp>
        <p:nvSpPr>
          <p:cNvPr id="9" name="TextBox 8">
            <a:extLst>
              <a:ext uri="{FF2B5EF4-FFF2-40B4-BE49-F238E27FC236}">
                <a16:creationId xmlns:a16="http://schemas.microsoft.com/office/drawing/2014/main" id="{0DC18BAC-5389-9ED2-C8BF-91014DDABE86}"/>
              </a:ext>
            </a:extLst>
          </p:cNvPr>
          <p:cNvSpPr txBox="1"/>
          <p:nvPr/>
        </p:nvSpPr>
        <p:spPr>
          <a:xfrm>
            <a:off x="2475410" y="5615584"/>
            <a:ext cx="4955176" cy="923330"/>
          </a:xfrm>
          <a:prstGeom prst="rect">
            <a:avLst/>
          </a:prstGeom>
          <a:noFill/>
        </p:spPr>
        <p:txBody>
          <a:bodyPr wrap="square">
            <a:spAutoFit/>
          </a:bodyPr>
          <a:lstStyle/>
          <a:p>
            <a:pPr algn="ctr"/>
            <a:r>
              <a:rPr lang="en-IN" b="1" dirty="0">
                <a:latin typeface="Times New Roman" pitchFamily="18" charset="0"/>
                <a:cs typeface="Times New Roman" pitchFamily="18" charset="0"/>
              </a:rPr>
              <a:t>Information Technology Department</a:t>
            </a:r>
          </a:p>
          <a:p>
            <a:pPr algn="ctr"/>
            <a:r>
              <a:rPr lang="en-IN" b="1" dirty="0">
                <a:latin typeface="Times New Roman" pitchFamily="18" charset="0"/>
                <a:cs typeface="Times New Roman" pitchFamily="18" charset="0"/>
              </a:rPr>
              <a:t>MPSTME, </a:t>
            </a:r>
            <a:r>
              <a:rPr lang="en-IN" b="1" dirty="0" err="1">
                <a:latin typeface="Times New Roman" pitchFamily="18" charset="0"/>
                <a:cs typeface="Times New Roman" pitchFamily="18" charset="0"/>
              </a:rPr>
              <a:t>Shirpur</a:t>
            </a:r>
            <a:endParaRPr lang="en-IN" b="1" dirty="0">
              <a:latin typeface="Times New Roman" pitchFamily="18" charset="0"/>
              <a:cs typeface="Times New Roman" pitchFamily="18" charset="0"/>
            </a:endParaRPr>
          </a:p>
          <a:p>
            <a:pPr algn="ctr"/>
            <a:r>
              <a:rPr lang="en-IN" b="1" dirty="0">
                <a:latin typeface="Times New Roman" pitchFamily="18" charset="0"/>
                <a:cs typeface="Times New Roman" pitchFamily="18" charset="0"/>
              </a:rPr>
              <a:t>Academic Year: 2026-27</a:t>
            </a:r>
          </a:p>
        </p:txBody>
      </p:sp>
      <p:pic>
        <p:nvPicPr>
          <p:cNvPr id="3" name="Picture 2">
            <a:extLst>
              <a:ext uri="{FF2B5EF4-FFF2-40B4-BE49-F238E27FC236}">
                <a16:creationId xmlns:a16="http://schemas.microsoft.com/office/drawing/2014/main" id="{17F5967D-2205-CF31-36CA-F4D859E460E6}"/>
              </a:ext>
            </a:extLst>
          </p:cNvPr>
          <p:cNvPicPr>
            <a:picLocks noChangeAspect="1"/>
          </p:cNvPicPr>
          <p:nvPr/>
        </p:nvPicPr>
        <p:blipFill rotWithShape="1">
          <a:blip r:embed="rId3">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spTree>
    <p:extLst>
      <p:ext uri="{BB962C8B-B14F-4D97-AF65-F5344CB8AC3E}">
        <p14:creationId xmlns:p14="http://schemas.microsoft.com/office/powerpoint/2010/main" val="3564950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B26A2A5-A7CB-EE34-8A22-D91C1BC4FF8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p:cNvPicPr>
            <a:picLocks noChangeAspect="1"/>
          </p:cNvPicPr>
          <p:nvPr/>
        </p:nvPicPr>
        <p:blipFill rotWithShape="1">
          <a:blip r:embed="rId3"/>
          <a:srcRect b="6633"/>
          <a:stretch/>
        </p:blipFill>
        <p:spPr>
          <a:xfrm>
            <a:off x="0" y="0"/>
            <a:ext cx="3927231" cy="939765"/>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12" name="Rectangle 11"/>
          <p:cNvSpPr/>
          <p:nvPr/>
        </p:nvSpPr>
        <p:spPr>
          <a:xfrm>
            <a:off x="0" y="1130694"/>
            <a:ext cx="9905998" cy="646331"/>
          </a:xfrm>
          <a:prstGeom prst="rect">
            <a:avLst/>
          </a:prstGeom>
        </p:spPr>
        <p:txBody>
          <a:bodyPr wrap="square">
            <a:spAutoFit/>
          </a:bodyPr>
          <a:lstStyle/>
          <a:p>
            <a:pPr algn="ctr"/>
            <a:r>
              <a:rPr lang="en-IN" sz="3600" b="1" dirty="0">
                <a:latin typeface="Times New Roman" panose="02020603050405020304" pitchFamily="18" charset="0"/>
                <a:cs typeface="Times New Roman" panose="02020603050405020304" pitchFamily="18" charset="0"/>
              </a:rPr>
              <a:t>Outline</a:t>
            </a:r>
            <a:endParaRPr lang="en-US" sz="3600" b="1" dirty="0">
              <a:latin typeface="Teko SemiBold" panose="02000000000000000000" pitchFamily="2" charset="0"/>
              <a:cs typeface="Teko SemiBold" panose="02000000000000000000" pitchFamily="2" charset="0"/>
            </a:endParaRPr>
          </a:p>
        </p:txBody>
      </p:sp>
      <p:sp>
        <p:nvSpPr>
          <p:cNvPr id="3" name="Slide Number Placeholder 2"/>
          <p:cNvSpPr>
            <a:spLocks noGrp="1"/>
          </p:cNvSpPr>
          <p:nvPr>
            <p:ph type="sldNum" sz="quarter" idx="12"/>
          </p:nvPr>
        </p:nvSpPr>
        <p:spPr/>
        <p:txBody>
          <a:bodyPr/>
          <a:lstStyle/>
          <a:p>
            <a:fld id="{9DC013F7-6D70-4318-BA41-212A9B59413B}" type="slidenum">
              <a:rPr lang="en-US" smtClean="0"/>
              <a:t>2</a:t>
            </a:fld>
            <a:endParaRPr lang="en-US" dirty="0"/>
          </a:p>
        </p:txBody>
      </p:sp>
      <p:sp>
        <p:nvSpPr>
          <p:cNvPr id="2" name="AutoShape 4" descr="Neural Networks Hyperparameter tuning in tensorflow 2.0 | by SiDdhartha |  ML Book | Mediu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62E40E59-48AE-8C99-565C-32E7E845E1DC}"/>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10" name="TextBox 9">
            <a:extLst>
              <a:ext uri="{FF2B5EF4-FFF2-40B4-BE49-F238E27FC236}">
                <a16:creationId xmlns:a16="http://schemas.microsoft.com/office/drawing/2014/main" id="{CD4E6C65-2211-2949-EE6B-796C5DE2AF5E}"/>
              </a:ext>
            </a:extLst>
          </p:cNvPr>
          <p:cNvSpPr txBox="1"/>
          <p:nvPr/>
        </p:nvSpPr>
        <p:spPr>
          <a:xfrm>
            <a:off x="404949" y="1838342"/>
            <a:ext cx="9096102" cy="4524315"/>
          </a:xfrm>
          <a:prstGeom prst="rect">
            <a:avLst/>
          </a:prstGeom>
          <a:noFill/>
        </p:spPr>
        <p:txBody>
          <a:bodyPr wrap="square">
            <a:spAutoFit/>
          </a:bodyPr>
          <a:lstStyle/>
          <a:p>
            <a:pPr marL="358775" lvl="1" indent="-358775">
              <a:lnSpc>
                <a:spcPct val="100000"/>
              </a:lnSpc>
              <a:buFont typeface="Arial" pitchFamily="34" charset="0"/>
              <a:buChar char="•"/>
            </a:pPr>
            <a:r>
              <a:rPr lang="en-IN" sz="2400" dirty="0">
                <a:latin typeface="Times New Roman" pitchFamily="18" charset="0"/>
                <a:cs typeface="Times New Roman" pitchFamily="18" charset="0"/>
              </a:rPr>
              <a:t>Introduction</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Problem Statement</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Motivation and Need of Project </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Objective of Project</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Scope of Project </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Literature Review</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Proposed Methodology</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Tools, Technologies and Software</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Feasibility Analysis</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Expected Outcomes</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Project Development Timeline (Gantt Chart)</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References</a:t>
            </a:r>
          </a:p>
        </p:txBody>
      </p:sp>
    </p:spTree>
    <p:extLst>
      <p:ext uri="{BB962C8B-B14F-4D97-AF65-F5344CB8AC3E}">
        <p14:creationId xmlns:p14="http://schemas.microsoft.com/office/powerpoint/2010/main" val="2541579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EDDBC-4DAE-00CE-DE8B-792A94E2DB5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FE982AE2-5ADA-EACC-6CE3-21BC520A884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AFB5C2D6-C041-1D95-458A-3A135F774CED}"/>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19396A03-91C2-46F1-87D9-4B7FBA12141D}"/>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6C51ED1A-8A3D-15E6-3113-86DDD9777F78}"/>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1AA209EF-DA92-90F4-E3A1-941AF4F0A15C}"/>
              </a:ext>
            </a:extLst>
          </p:cNvPr>
          <p:cNvSpPr>
            <a:spLocks noGrp="1"/>
          </p:cNvSpPr>
          <p:nvPr>
            <p:ph type="sldNum" sz="quarter" idx="12"/>
          </p:nvPr>
        </p:nvSpPr>
        <p:spPr/>
        <p:txBody>
          <a:bodyPr/>
          <a:lstStyle/>
          <a:p>
            <a:fld id="{9DC013F7-6D70-4318-BA41-212A9B59413B}" type="slidenum">
              <a:rPr lang="en-US" smtClean="0"/>
              <a:t>3</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5BD6D88-B46A-BE43-3F56-436ECFB5FB22}"/>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 3">
            <a:extLst>
              <a:ext uri="{FF2B5EF4-FFF2-40B4-BE49-F238E27FC236}">
                <a16:creationId xmlns:a16="http://schemas.microsoft.com/office/drawing/2014/main" id="{E790F35C-D77F-020C-CC5D-E6EBB87CCB64}"/>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Introduction</a:t>
            </a:r>
            <a:endParaRPr lang="en-US" sz="2700" dirty="0"/>
          </a:p>
        </p:txBody>
      </p:sp>
      <p:sp>
        <p:nvSpPr>
          <p:cNvPr id="14" name="Shape 4">
            <a:extLst>
              <a:ext uri="{FF2B5EF4-FFF2-40B4-BE49-F238E27FC236}">
                <a16:creationId xmlns:a16="http://schemas.microsoft.com/office/drawing/2014/main" id="{2875DDFD-8DAB-9C95-CBB4-93DBEFDF9FFE}"/>
              </a:ext>
            </a:extLst>
          </p:cNvPr>
          <p:cNvSpPr/>
          <p:nvPr/>
        </p:nvSpPr>
        <p:spPr>
          <a:xfrm flipV="1">
            <a:off x="111030" y="1917627"/>
            <a:ext cx="8781043" cy="11570"/>
          </a:xfrm>
          <a:prstGeom prst="line">
            <a:avLst/>
          </a:prstGeom>
          <a:noFill/>
          <a:ln w="12700">
            <a:solidFill>
              <a:srgbClr val="E0DAD8"/>
            </a:solidFill>
            <a:prstDash val="solid"/>
          </a:ln>
        </p:spPr>
      </p:sp>
      <p:sp>
        <p:nvSpPr>
          <p:cNvPr id="16" name="TextBox 15">
            <a:extLst>
              <a:ext uri="{FF2B5EF4-FFF2-40B4-BE49-F238E27FC236}">
                <a16:creationId xmlns:a16="http://schemas.microsoft.com/office/drawing/2014/main" id="{7AEC69B8-81F0-E781-6582-145802711C51}"/>
              </a:ext>
            </a:extLst>
          </p:cNvPr>
          <p:cNvSpPr txBox="1"/>
          <p:nvPr/>
        </p:nvSpPr>
        <p:spPr>
          <a:xfrm>
            <a:off x="111030" y="2050000"/>
            <a:ext cx="5581043" cy="884922"/>
          </a:xfrm>
          <a:prstGeom prst="rect">
            <a:avLst/>
          </a:prstGeom>
          <a:noFill/>
        </p:spPr>
        <p:txBody>
          <a:bodyPr wrap="square" lIns="0" tIns="0" rIns="0" bIns="0" anchor="t">
            <a:spAutoFit/>
          </a:bodyPr>
          <a:lstStyle/>
          <a:p>
            <a:pPr algn="l">
              <a:lnSpc>
                <a:spcPct val="115000"/>
              </a:lnSpc>
            </a:pPr>
            <a:r>
              <a:rPr sz="1700" b="0" i="1" dirty="0">
                <a:solidFill>
                  <a:srgbClr val="262626"/>
                </a:solidFill>
                <a:latin typeface="Calibri"/>
              </a:rPr>
              <a:t>Small food businesses lose money on both sides of the same problem: over-order and waste perishable stock, or under-order and lose sales with no forecasting tool built for their scale.</a:t>
            </a:r>
          </a:p>
        </p:txBody>
      </p:sp>
      <p:sp>
        <p:nvSpPr>
          <p:cNvPr id="18" name="TextBox 17">
            <a:extLst>
              <a:ext uri="{FF2B5EF4-FFF2-40B4-BE49-F238E27FC236}">
                <a16:creationId xmlns:a16="http://schemas.microsoft.com/office/drawing/2014/main" id="{E01249A8-EA95-1521-E0CC-F02D4687E867}"/>
              </a:ext>
            </a:extLst>
          </p:cNvPr>
          <p:cNvSpPr txBox="1"/>
          <p:nvPr/>
        </p:nvSpPr>
        <p:spPr>
          <a:xfrm>
            <a:off x="261030" y="3246485"/>
            <a:ext cx="5361043" cy="276999"/>
          </a:xfrm>
          <a:prstGeom prst="rect">
            <a:avLst/>
          </a:prstGeom>
          <a:noFill/>
        </p:spPr>
        <p:txBody>
          <a:bodyPr wrap="square" lIns="0" tIns="0" rIns="0" bIns="0">
            <a:spAutoFit/>
          </a:bodyPr>
          <a:lstStyle/>
          <a:p>
            <a:r>
              <a:rPr sz="1800" b="1" i="0" dirty="0">
                <a:solidFill>
                  <a:srgbClr val="BC312C"/>
                </a:solidFill>
                <a:latin typeface="Calibri"/>
              </a:rPr>
              <a:t>THE PROBLEM</a:t>
            </a:r>
          </a:p>
        </p:txBody>
      </p:sp>
      <p:sp>
        <p:nvSpPr>
          <p:cNvPr id="20" name="TextBox 19">
            <a:extLst>
              <a:ext uri="{FF2B5EF4-FFF2-40B4-BE49-F238E27FC236}">
                <a16:creationId xmlns:a16="http://schemas.microsoft.com/office/drawing/2014/main" id="{307D2AE9-7BAA-D667-5232-F0185BA86769}"/>
              </a:ext>
            </a:extLst>
          </p:cNvPr>
          <p:cNvSpPr txBox="1"/>
          <p:nvPr/>
        </p:nvSpPr>
        <p:spPr>
          <a:xfrm>
            <a:off x="261030" y="3546485"/>
            <a:ext cx="5361043" cy="487056"/>
          </a:xfrm>
          <a:prstGeom prst="rect">
            <a:avLst/>
          </a:prstGeom>
          <a:noFill/>
        </p:spPr>
        <p:txBody>
          <a:bodyPr wrap="square" lIns="0" tIns="0" rIns="0" bIns="0">
            <a:spAutoFit/>
          </a:bodyPr>
          <a:lstStyle/>
          <a:p>
            <a:pPr>
              <a:lnSpc>
                <a:spcPct val="108000"/>
              </a:lnSpc>
            </a:pPr>
            <a:r>
              <a:rPr sz="1500" b="0" i="0" dirty="0">
                <a:solidFill>
                  <a:srgbClr val="262626"/>
                </a:solidFill>
                <a:latin typeface="Calibri"/>
              </a:rPr>
              <a:t>Over- and under</a:t>
            </a:r>
            <a:r>
              <a:rPr lang="en-IN" sz="1500" b="0" i="0" dirty="0">
                <a:solidFill>
                  <a:srgbClr val="262626"/>
                </a:solidFill>
                <a:latin typeface="Calibri"/>
              </a:rPr>
              <a:t>-</a:t>
            </a:r>
            <a:r>
              <a:rPr sz="1500" b="0" i="0" dirty="0">
                <a:solidFill>
                  <a:srgbClr val="262626"/>
                </a:solidFill>
                <a:latin typeface="Calibri"/>
              </a:rPr>
              <a:t>ordering drives food waste and lost revenue for small operators, with no forecasting tool built for their scale.</a:t>
            </a:r>
          </a:p>
        </p:txBody>
      </p:sp>
      <p:sp>
        <p:nvSpPr>
          <p:cNvPr id="22" name="TextBox 21">
            <a:extLst>
              <a:ext uri="{FF2B5EF4-FFF2-40B4-BE49-F238E27FC236}">
                <a16:creationId xmlns:a16="http://schemas.microsoft.com/office/drawing/2014/main" id="{CB34F092-6E45-F7F1-A74C-324059CA7C06}"/>
              </a:ext>
            </a:extLst>
          </p:cNvPr>
          <p:cNvSpPr txBox="1"/>
          <p:nvPr/>
        </p:nvSpPr>
        <p:spPr>
          <a:xfrm>
            <a:off x="261030" y="4246524"/>
            <a:ext cx="5361043" cy="276999"/>
          </a:xfrm>
          <a:prstGeom prst="rect">
            <a:avLst/>
          </a:prstGeom>
          <a:noFill/>
        </p:spPr>
        <p:txBody>
          <a:bodyPr wrap="square" lIns="0" tIns="0" rIns="0" bIns="0">
            <a:spAutoFit/>
          </a:bodyPr>
          <a:lstStyle/>
          <a:p>
            <a:r>
              <a:rPr sz="1800" b="1" i="0" dirty="0">
                <a:solidFill>
                  <a:srgbClr val="BC312C"/>
                </a:solidFill>
                <a:latin typeface="Calibri"/>
              </a:rPr>
              <a:t>WHY IT PERSISTS</a:t>
            </a:r>
          </a:p>
        </p:txBody>
      </p:sp>
      <p:sp>
        <p:nvSpPr>
          <p:cNvPr id="24" name="TextBox 23">
            <a:extLst>
              <a:ext uri="{FF2B5EF4-FFF2-40B4-BE49-F238E27FC236}">
                <a16:creationId xmlns:a16="http://schemas.microsoft.com/office/drawing/2014/main" id="{39B56F18-2E0F-3EA2-CBFD-D0A7667BB6AE}"/>
              </a:ext>
            </a:extLst>
          </p:cNvPr>
          <p:cNvSpPr txBox="1"/>
          <p:nvPr/>
        </p:nvSpPr>
        <p:spPr>
          <a:xfrm>
            <a:off x="261030" y="4546524"/>
            <a:ext cx="5361043" cy="487056"/>
          </a:xfrm>
          <a:prstGeom prst="rect">
            <a:avLst/>
          </a:prstGeom>
          <a:noFill/>
        </p:spPr>
        <p:txBody>
          <a:bodyPr wrap="square" lIns="0" tIns="0" rIns="0" bIns="0">
            <a:spAutoFit/>
          </a:bodyPr>
          <a:lstStyle/>
          <a:p>
            <a:pPr>
              <a:lnSpc>
                <a:spcPct val="108000"/>
              </a:lnSpc>
            </a:pPr>
            <a:r>
              <a:rPr sz="1500" b="0" i="0" dirty="0">
                <a:solidFill>
                  <a:srgbClr val="262626"/>
                </a:solidFill>
                <a:latin typeface="Calibri"/>
              </a:rPr>
              <a:t>AI-driven forecasting has matured for large retail chains, but remains inaccessible to small operators without dedicated IT or data teams.</a:t>
            </a:r>
          </a:p>
        </p:txBody>
      </p:sp>
      <p:sp>
        <p:nvSpPr>
          <p:cNvPr id="26" name="TextBox 25">
            <a:extLst>
              <a:ext uri="{FF2B5EF4-FFF2-40B4-BE49-F238E27FC236}">
                <a16:creationId xmlns:a16="http://schemas.microsoft.com/office/drawing/2014/main" id="{A74085B5-481A-F7D3-64E8-B69D9D43BF46}"/>
              </a:ext>
            </a:extLst>
          </p:cNvPr>
          <p:cNvSpPr txBox="1"/>
          <p:nvPr/>
        </p:nvSpPr>
        <p:spPr>
          <a:xfrm>
            <a:off x="261030" y="5255890"/>
            <a:ext cx="5361043" cy="276999"/>
          </a:xfrm>
          <a:prstGeom prst="rect">
            <a:avLst/>
          </a:prstGeom>
          <a:noFill/>
        </p:spPr>
        <p:txBody>
          <a:bodyPr wrap="square" lIns="0" tIns="0" rIns="0" bIns="0">
            <a:spAutoFit/>
          </a:bodyPr>
          <a:lstStyle/>
          <a:p>
            <a:r>
              <a:rPr sz="1800" b="1" i="0" dirty="0">
                <a:solidFill>
                  <a:srgbClr val="BC312C"/>
                </a:solidFill>
                <a:latin typeface="Calibri"/>
              </a:rPr>
              <a:t>THE </a:t>
            </a:r>
            <a:r>
              <a:rPr lang="en-IN" sz="1800" b="1" i="0" dirty="0">
                <a:solidFill>
                  <a:srgbClr val="BC312C"/>
                </a:solidFill>
                <a:latin typeface="Calibri"/>
              </a:rPr>
              <a:t>TRADITIONAL </a:t>
            </a:r>
            <a:r>
              <a:rPr sz="1800" b="1" i="0" dirty="0">
                <a:solidFill>
                  <a:srgbClr val="BC312C"/>
                </a:solidFill>
                <a:latin typeface="Calibri"/>
              </a:rPr>
              <a:t>APPROACH</a:t>
            </a:r>
          </a:p>
        </p:txBody>
      </p:sp>
      <p:sp>
        <p:nvSpPr>
          <p:cNvPr id="28" name="TextBox 27">
            <a:extLst>
              <a:ext uri="{FF2B5EF4-FFF2-40B4-BE49-F238E27FC236}">
                <a16:creationId xmlns:a16="http://schemas.microsoft.com/office/drawing/2014/main" id="{9F3816B8-F646-B496-5BD2-B0CA554267E1}"/>
              </a:ext>
            </a:extLst>
          </p:cNvPr>
          <p:cNvSpPr txBox="1"/>
          <p:nvPr/>
        </p:nvSpPr>
        <p:spPr>
          <a:xfrm>
            <a:off x="261030" y="5555890"/>
            <a:ext cx="5361043" cy="1384995"/>
          </a:xfrm>
          <a:prstGeom prst="rect">
            <a:avLst/>
          </a:prstGeom>
          <a:noFill/>
        </p:spPr>
        <p:txBody>
          <a:bodyPr wrap="square" lIns="0" tIns="0" rIns="0" bIns="0">
            <a:spAutoFit/>
          </a:bodyPr>
          <a:lstStyle/>
          <a:p>
            <a:r>
              <a:rPr lang="en-US" sz="1500" dirty="0">
                <a:latin typeface="Calibri" panose="020F0502020204030204" pitchFamily="34" charset="0"/>
                <a:ea typeface="Calibri" panose="020F0502020204030204" pitchFamily="34" charset="0"/>
                <a:cs typeface="Calibri" panose="020F0502020204030204" pitchFamily="34" charset="0"/>
              </a:rPr>
              <a:t>Small operators currently rely on manual spreadsheets, simple moving averages, or pure gut-feel. These static methods completely fail to account for dynamic demand shocks like sudden weather changes or public holidays.</a:t>
            </a:r>
          </a:p>
          <a:p>
            <a:br>
              <a:rPr lang="en-US" sz="1500" dirty="0">
                <a:latin typeface="Calibri" panose="020F0502020204030204" pitchFamily="34" charset="0"/>
                <a:ea typeface="Calibri" panose="020F0502020204030204" pitchFamily="34" charset="0"/>
                <a:cs typeface="Calibri" panose="020F0502020204030204" pitchFamily="34" charset="0"/>
              </a:rPr>
            </a:br>
            <a:endParaRPr lang="en-US" sz="1500" b="0" i="0" dirty="0">
              <a:solidFill>
                <a:srgbClr val="262626"/>
              </a:solidFill>
              <a:latin typeface="Calibri" panose="020F0502020204030204" pitchFamily="34" charset="0"/>
              <a:ea typeface="Calibri" panose="020F0502020204030204" pitchFamily="34" charset="0"/>
              <a:cs typeface="Calibri" panose="020F0502020204030204" pitchFamily="34" charset="0"/>
            </a:endParaRPr>
          </a:p>
        </p:txBody>
      </p:sp>
      <p:pic>
        <p:nvPicPr>
          <p:cNvPr id="30" name="Picture 29">
            <a:extLst>
              <a:ext uri="{FF2B5EF4-FFF2-40B4-BE49-F238E27FC236}">
                <a16:creationId xmlns:a16="http://schemas.microsoft.com/office/drawing/2014/main" id="{512AACF7-D710-9861-34C0-0330063FB7F9}"/>
              </a:ext>
            </a:extLst>
          </p:cNvPr>
          <p:cNvPicPr>
            <a:picLocks noChangeAspect="1"/>
          </p:cNvPicPr>
          <p:nvPr/>
        </p:nvPicPr>
        <p:blipFill>
          <a:blip r:embed="rId4"/>
          <a:stretch>
            <a:fillRect/>
          </a:stretch>
        </p:blipFill>
        <p:spPr>
          <a:xfrm>
            <a:off x="6055567" y="2783843"/>
            <a:ext cx="2908041" cy="1932889"/>
          </a:xfrm>
          <a:prstGeom prst="rect">
            <a:avLst/>
          </a:prstGeom>
        </p:spPr>
      </p:pic>
      <p:pic>
        <p:nvPicPr>
          <p:cNvPr id="32" name="Picture 31">
            <a:extLst>
              <a:ext uri="{FF2B5EF4-FFF2-40B4-BE49-F238E27FC236}">
                <a16:creationId xmlns:a16="http://schemas.microsoft.com/office/drawing/2014/main" id="{C73D1605-8BD0-C0C6-CBDD-968F2C006760}"/>
              </a:ext>
            </a:extLst>
          </p:cNvPr>
          <p:cNvPicPr>
            <a:picLocks noChangeAspect="1"/>
          </p:cNvPicPr>
          <p:nvPr/>
        </p:nvPicPr>
        <p:blipFill>
          <a:blip r:embed="rId5"/>
          <a:stretch>
            <a:fillRect/>
          </a:stretch>
        </p:blipFill>
        <p:spPr>
          <a:xfrm>
            <a:off x="6055567" y="4782774"/>
            <a:ext cx="2908040" cy="1938693"/>
          </a:xfrm>
          <a:prstGeom prst="rect">
            <a:avLst/>
          </a:prstGeom>
        </p:spPr>
      </p:pic>
      <p:pic>
        <p:nvPicPr>
          <p:cNvPr id="34" name="Picture 33">
            <a:extLst>
              <a:ext uri="{FF2B5EF4-FFF2-40B4-BE49-F238E27FC236}">
                <a16:creationId xmlns:a16="http://schemas.microsoft.com/office/drawing/2014/main" id="{B4947CF9-0800-4A96-F007-1A4D27622437}"/>
              </a:ext>
            </a:extLst>
          </p:cNvPr>
          <p:cNvPicPr>
            <a:picLocks noChangeAspect="1"/>
          </p:cNvPicPr>
          <p:nvPr/>
        </p:nvPicPr>
        <p:blipFill>
          <a:blip r:embed="rId6"/>
          <a:stretch>
            <a:fillRect/>
          </a:stretch>
        </p:blipFill>
        <p:spPr>
          <a:xfrm>
            <a:off x="6064898" y="787039"/>
            <a:ext cx="2908042" cy="1938694"/>
          </a:xfrm>
          <a:prstGeom prst="rect">
            <a:avLst/>
          </a:prstGeom>
        </p:spPr>
      </p:pic>
    </p:spTree>
    <p:extLst>
      <p:ext uri="{BB962C8B-B14F-4D97-AF65-F5344CB8AC3E}">
        <p14:creationId xmlns:p14="http://schemas.microsoft.com/office/powerpoint/2010/main" val="420611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7A5E8-CDBB-FFC1-BAC6-65DC397CAD2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A2DBE7B-582B-34A1-9614-579124E9F2D5}"/>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785F62C8-64C8-C5E7-0EBB-14C2A5A4DD35}"/>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0F361BBF-8ABD-CF3A-CDBA-C0A2325E658A}"/>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EC04C029-B346-0996-B6CB-F706FCE5BBA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3EA9C35F-F3CE-3ECF-53E2-3F32F512022C}"/>
              </a:ext>
            </a:extLst>
          </p:cNvPr>
          <p:cNvSpPr>
            <a:spLocks noGrp="1"/>
          </p:cNvSpPr>
          <p:nvPr>
            <p:ph type="sldNum" sz="quarter" idx="12"/>
          </p:nvPr>
        </p:nvSpPr>
        <p:spPr/>
        <p:txBody>
          <a:bodyPr/>
          <a:lstStyle/>
          <a:p>
            <a:fld id="{9DC013F7-6D70-4318-BA41-212A9B59413B}" type="slidenum">
              <a:rPr lang="en-US" smtClean="0"/>
              <a:t>4</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3146348-8366-C50C-F3DC-886E52566089}"/>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40493026-3C60-FF79-4552-5D4F2BF5A5B8}"/>
              </a:ext>
            </a:extLst>
          </p:cNvPr>
          <p:cNvSpPr/>
          <p:nvPr/>
        </p:nvSpPr>
        <p:spPr>
          <a:xfrm>
            <a:off x="465284"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B4977E8B-34BD-F46B-D9D5-FB06F2D2DBEE}"/>
              </a:ext>
            </a:extLst>
          </p:cNvPr>
          <p:cNvSpPr/>
          <p:nvPr/>
        </p:nvSpPr>
        <p:spPr>
          <a:xfrm>
            <a:off x="148958" y="1260563"/>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Times New Roman" panose="02020603050405020304" pitchFamily="18" charset="0"/>
                <a:ea typeface="Cambria" pitchFamily="34" charset="-122"/>
                <a:cs typeface="Times New Roman" panose="02020603050405020304" pitchFamily="18" charset="0"/>
              </a:rPr>
              <a:t>Problem Statement</a:t>
            </a:r>
            <a:endParaRPr lang="en-US" sz="2700" dirty="0">
              <a:latin typeface="Times New Roman" panose="02020603050405020304" pitchFamily="18" charset="0"/>
              <a:cs typeface="Times New Roman" panose="02020603050405020304" pitchFamily="18" charset="0"/>
            </a:endParaRPr>
          </a:p>
        </p:txBody>
      </p:sp>
      <p:sp>
        <p:nvSpPr>
          <p:cNvPr id="14" name="Shape 4">
            <a:extLst>
              <a:ext uri="{FF2B5EF4-FFF2-40B4-BE49-F238E27FC236}">
                <a16:creationId xmlns:a16="http://schemas.microsoft.com/office/drawing/2014/main" id="{6641322A-A277-ACED-BBA4-31E26207618B}"/>
              </a:ext>
            </a:extLst>
          </p:cNvPr>
          <p:cNvSpPr/>
          <p:nvPr/>
        </p:nvSpPr>
        <p:spPr>
          <a:xfrm flipV="1">
            <a:off x="531511" y="1854923"/>
            <a:ext cx="8709164" cy="18288"/>
          </a:xfrm>
          <a:prstGeom prst="line">
            <a:avLst/>
          </a:prstGeom>
          <a:noFill/>
          <a:ln w="12700">
            <a:solidFill>
              <a:srgbClr val="E0DAD8"/>
            </a:solidFill>
            <a:prstDash val="solid"/>
          </a:ln>
        </p:spPr>
        <p:txBody>
          <a:bodyPr/>
          <a:lstStyle/>
          <a:p>
            <a:endParaRPr lang="en-IN"/>
          </a:p>
        </p:txBody>
      </p:sp>
      <p:sp>
        <p:nvSpPr>
          <p:cNvPr id="16" name="Text 5">
            <a:extLst>
              <a:ext uri="{FF2B5EF4-FFF2-40B4-BE49-F238E27FC236}">
                <a16:creationId xmlns:a16="http://schemas.microsoft.com/office/drawing/2014/main" id="{845C03B6-916D-5502-50A0-3C6E63AAABE2}"/>
              </a:ext>
            </a:extLst>
          </p:cNvPr>
          <p:cNvSpPr/>
          <p:nvPr/>
        </p:nvSpPr>
        <p:spPr>
          <a:xfrm>
            <a:off x="531511" y="2121408"/>
            <a:ext cx="8995042" cy="640080"/>
          </a:xfrm>
          <a:prstGeom prst="rect">
            <a:avLst/>
          </a:prstGeom>
          <a:noFill/>
          <a:ln/>
        </p:spPr>
        <p:txBody>
          <a:bodyPr wrap="square" lIns="0" tIns="0" rIns="0" bIns="0" rtlCol="0" anchor="ctr"/>
          <a:lstStyle/>
          <a:p>
            <a:pPr marL="0" indent="0">
              <a:lnSpc>
                <a:spcPct val="115000"/>
              </a:lnSpc>
              <a:buNone/>
            </a:pPr>
            <a:r>
              <a:rPr lang="en-US" sz="1800" dirty="0">
                <a:solidFill>
                  <a:srgbClr val="262626"/>
                </a:solidFill>
                <a:latin typeface="Times New Roman" panose="02020603050405020304" pitchFamily="18" charset="0"/>
                <a:ea typeface="Calibri" pitchFamily="34" charset="-122"/>
                <a:cs typeface="Times New Roman" panose="02020603050405020304" pitchFamily="18" charset="0"/>
              </a:rPr>
              <a:t>Small food businesses like cafes, bakeries, independent restaurants make daily purchasing decisions with no reliable way to predict tomorrow's demand.</a:t>
            </a:r>
            <a:endParaRPr lang="en-US" sz="1800" dirty="0">
              <a:latin typeface="Times New Roman" panose="02020603050405020304" pitchFamily="18" charset="0"/>
              <a:cs typeface="Times New Roman" panose="02020603050405020304" pitchFamily="18" charset="0"/>
            </a:endParaRPr>
          </a:p>
        </p:txBody>
      </p:sp>
      <p:sp>
        <p:nvSpPr>
          <p:cNvPr id="18" name="Shape 6">
            <a:extLst>
              <a:ext uri="{FF2B5EF4-FFF2-40B4-BE49-F238E27FC236}">
                <a16:creationId xmlns:a16="http://schemas.microsoft.com/office/drawing/2014/main" id="{E42DFE1E-63F0-B663-F880-4A8231176C2B}"/>
              </a:ext>
            </a:extLst>
          </p:cNvPr>
          <p:cNvSpPr/>
          <p:nvPr/>
        </p:nvSpPr>
        <p:spPr>
          <a:xfrm>
            <a:off x="531511" y="2880360"/>
            <a:ext cx="8778732" cy="1188720"/>
          </a:xfrm>
          <a:prstGeom prst="rect">
            <a:avLst/>
          </a:prstGeom>
          <a:solidFill>
            <a:srgbClr val="F7F5F4"/>
          </a:solidFill>
          <a:ln/>
        </p:spPr>
        <p:txBody>
          <a:bodyPr/>
          <a:lstStyle/>
          <a:p>
            <a:endParaRPr lang="en-IN" sz="1500"/>
          </a:p>
        </p:txBody>
      </p:sp>
      <p:sp>
        <p:nvSpPr>
          <p:cNvPr id="20" name="Text 7">
            <a:extLst>
              <a:ext uri="{FF2B5EF4-FFF2-40B4-BE49-F238E27FC236}">
                <a16:creationId xmlns:a16="http://schemas.microsoft.com/office/drawing/2014/main" id="{08A38051-F361-4B19-387B-D676770D18E9}"/>
              </a:ext>
            </a:extLst>
          </p:cNvPr>
          <p:cNvSpPr/>
          <p:nvPr/>
        </p:nvSpPr>
        <p:spPr>
          <a:xfrm>
            <a:off x="778645" y="2985427"/>
            <a:ext cx="8284464" cy="777240"/>
          </a:xfrm>
          <a:prstGeom prst="rect">
            <a:avLst/>
          </a:prstGeom>
          <a:noFill/>
          <a:ln/>
        </p:spPr>
        <p:txBody>
          <a:bodyPr wrap="square" lIns="0" tIns="0" rIns="0" bIns="0" rtlCol="0" anchor="t"/>
          <a:lstStyle/>
          <a:p>
            <a:pPr marL="0" indent="0">
              <a:lnSpc>
                <a:spcPct val="115000"/>
              </a:lnSpc>
              <a:buNone/>
            </a:pPr>
            <a:r>
              <a:rPr lang="en-US" sz="1500" b="1" dirty="0">
                <a:solidFill>
                  <a:srgbClr val="BC312C"/>
                </a:solidFill>
                <a:latin typeface="Times New Roman" panose="02020603050405020304" pitchFamily="18" charset="0"/>
                <a:ea typeface="Calibri" pitchFamily="34" charset="-122"/>
                <a:cs typeface="Times New Roman" panose="02020603050405020304" pitchFamily="18" charset="0"/>
              </a:rPr>
              <a:t>The core disconnect: </a:t>
            </a:r>
            <a:r>
              <a:rPr lang="en-US" sz="1500" dirty="0">
                <a:solidFill>
                  <a:srgbClr val="262626"/>
                </a:solidFill>
                <a:latin typeface="Times New Roman" panose="02020603050405020304" pitchFamily="18" charset="0"/>
                <a:ea typeface="Calibri" pitchFamily="34" charset="-122"/>
                <a:cs typeface="Times New Roman" panose="02020603050405020304" pitchFamily="18" charset="0"/>
              </a:rPr>
              <a:t>a cafe owner does not think in RMSE or MAPE — they want to know exactly how many loaves of bread, croissants, or cups of coffee to order tomorrow or make. Across the forecasting literature we reviewed, most studies (Aqila et al., Jatte et al., Gartner et al., Susanto et al.) stop at computing an error metric and never take the final step of producing a purchase quantity.</a:t>
            </a:r>
            <a:endParaRPr lang="en-US" sz="1500" dirty="0">
              <a:latin typeface="Times New Roman" panose="02020603050405020304" pitchFamily="18" charset="0"/>
              <a:cs typeface="Times New Roman" panose="02020603050405020304" pitchFamily="18" charset="0"/>
            </a:endParaRPr>
          </a:p>
        </p:txBody>
      </p:sp>
      <p:sp>
        <p:nvSpPr>
          <p:cNvPr id="22" name="Shape 8">
            <a:extLst>
              <a:ext uri="{FF2B5EF4-FFF2-40B4-BE49-F238E27FC236}">
                <a16:creationId xmlns:a16="http://schemas.microsoft.com/office/drawing/2014/main" id="{85E035F8-C61B-7AE2-DE85-A72C50D6F009}"/>
              </a:ext>
            </a:extLst>
          </p:cNvPr>
          <p:cNvSpPr/>
          <p:nvPr/>
        </p:nvSpPr>
        <p:spPr>
          <a:xfrm>
            <a:off x="572114"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24" name="Shape 9">
            <a:extLst>
              <a:ext uri="{FF2B5EF4-FFF2-40B4-BE49-F238E27FC236}">
                <a16:creationId xmlns:a16="http://schemas.microsoft.com/office/drawing/2014/main" id="{D79A823A-75D2-0CE3-FD23-B541F41FFBAC}"/>
              </a:ext>
            </a:extLst>
          </p:cNvPr>
          <p:cNvSpPr/>
          <p:nvPr/>
        </p:nvSpPr>
        <p:spPr>
          <a:xfrm>
            <a:off x="572114" y="4221480"/>
            <a:ext cx="1928020" cy="457994"/>
          </a:xfrm>
          <a:prstGeom prst="rect">
            <a:avLst/>
          </a:prstGeom>
          <a:solidFill>
            <a:srgbClr val="BC312C"/>
          </a:solidFill>
          <a:ln/>
        </p:spPr>
        <p:txBody>
          <a:bodyPr/>
          <a:lstStyle/>
          <a:p>
            <a:endParaRPr lang="en-IN"/>
          </a:p>
        </p:txBody>
      </p:sp>
      <p:sp>
        <p:nvSpPr>
          <p:cNvPr id="26" name="Text 10">
            <a:extLst>
              <a:ext uri="{FF2B5EF4-FFF2-40B4-BE49-F238E27FC236}">
                <a16:creationId xmlns:a16="http://schemas.microsoft.com/office/drawing/2014/main" id="{94CC21EB-081C-698E-11E3-8E610288CD30}"/>
              </a:ext>
            </a:extLst>
          </p:cNvPr>
          <p:cNvSpPr/>
          <p:nvPr/>
        </p:nvSpPr>
        <p:spPr>
          <a:xfrm>
            <a:off x="650542" y="4221480"/>
            <a:ext cx="1928020"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Forecast-to-Action Gap</a:t>
            </a:r>
            <a:endParaRPr lang="en-US" sz="1400" dirty="0">
              <a:latin typeface="Times New Roman" panose="02020603050405020304" pitchFamily="18" charset="0"/>
              <a:cs typeface="Times New Roman" panose="02020603050405020304" pitchFamily="18" charset="0"/>
            </a:endParaRPr>
          </a:p>
        </p:txBody>
      </p:sp>
      <p:sp>
        <p:nvSpPr>
          <p:cNvPr id="28" name="Text 11">
            <a:extLst>
              <a:ext uri="{FF2B5EF4-FFF2-40B4-BE49-F238E27FC236}">
                <a16:creationId xmlns:a16="http://schemas.microsoft.com/office/drawing/2014/main" id="{05BEA8FE-B93E-5277-8401-222FA0E978F0}"/>
              </a:ext>
            </a:extLst>
          </p:cNvPr>
          <p:cNvSpPr/>
          <p:nvPr/>
        </p:nvSpPr>
        <p:spPr>
          <a:xfrm>
            <a:off x="670149"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Predictions rarely convert into an operational restock quantity.</a:t>
            </a:r>
            <a:endParaRPr lang="en-US" sz="1600" dirty="0">
              <a:latin typeface="Times New Roman" panose="02020603050405020304" pitchFamily="18" charset="0"/>
              <a:cs typeface="Times New Roman" panose="02020603050405020304" pitchFamily="18" charset="0"/>
            </a:endParaRPr>
          </a:p>
        </p:txBody>
      </p:sp>
      <p:sp>
        <p:nvSpPr>
          <p:cNvPr id="30" name="Shape 12">
            <a:extLst>
              <a:ext uri="{FF2B5EF4-FFF2-40B4-BE49-F238E27FC236}">
                <a16:creationId xmlns:a16="http://schemas.microsoft.com/office/drawing/2014/main" id="{17CD5A46-D604-FD02-0B1D-59F7A9278354}"/>
              </a:ext>
            </a:extLst>
          </p:cNvPr>
          <p:cNvSpPr/>
          <p:nvPr/>
        </p:nvSpPr>
        <p:spPr>
          <a:xfrm>
            <a:off x="2799218"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32" name="Shape 13">
            <a:extLst>
              <a:ext uri="{FF2B5EF4-FFF2-40B4-BE49-F238E27FC236}">
                <a16:creationId xmlns:a16="http://schemas.microsoft.com/office/drawing/2014/main" id="{63B18C03-9CCE-EB94-7AEA-EAA4D9CF11E8}"/>
              </a:ext>
            </a:extLst>
          </p:cNvPr>
          <p:cNvSpPr/>
          <p:nvPr/>
        </p:nvSpPr>
        <p:spPr>
          <a:xfrm>
            <a:off x="2799218" y="4221480"/>
            <a:ext cx="1928020" cy="457994"/>
          </a:xfrm>
          <a:prstGeom prst="rect">
            <a:avLst/>
          </a:prstGeom>
          <a:solidFill>
            <a:srgbClr val="BC312C"/>
          </a:solidFill>
          <a:ln/>
        </p:spPr>
        <p:txBody>
          <a:bodyPr/>
          <a:lstStyle/>
          <a:p>
            <a:endParaRPr lang="en-IN"/>
          </a:p>
        </p:txBody>
      </p:sp>
      <p:sp>
        <p:nvSpPr>
          <p:cNvPr id="34" name="Text 14">
            <a:extLst>
              <a:ext uri="{FF2B5EF4-FFF2-40B4-BE49-F238E27FC236}">
                <a16:creationId xmlns:a16="http://schemas.microsoft.com/office/drawing/2014/main" id="{FCD2AE15-605D-3DAE-E2E4-ADD4F2F03A2D}"/>
              </a:ext>
            </a:extLst>
          </p:cNvPr>
          <p:cNvSpPr/>
          <p:nvPr/>
        </p:nvSpPr>
        <p:spPr>
          <a:xfrm>
            <a:off x="2877646"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Accessibility Gap</a:t>
            </a:r>
            <a:endParaRPr lang="en-US" sz="1400" dirty="0">
              <a:latin typeface="Times New Roman" panose="02020603050405020304" pitchFamily="18" charset="0"/>
              <a:cs typeface="Times New Roman" panose="02020603050405020304" pitchFamily="18" charset="0"/>
            </a:endParaRPr>
          </a:p>
        </p:txBody>
      </p:sp>
      <p:sp>
        <p:nvSpPr>
          <p:cNvPr id="36" name="Text 15">
            <a:extLst>
              <a:ext uri="{FF2B5EF4-FFF2-40B4-BE49-F238E27FC236}">
                <a16:creationId xmlns:a16="http://schemas.microsoft.com/office/drawing/2014/main" id="{ECE66CA8-4D0B-57F9-77C1-2BA329DF40E1}"/>
              </a:ext>
            </a:extLst>
          </p:cNvPr>
          <p:cNvSpPr/>
          <p:nvPr/>
        </p:nvSpPr>
        <p:spPr>
          <a:xfrm>
            <a:off x="2897253"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Accurate tools assume enterprise dashboards and IT staff.</a:t>
            </a:r>
            <a:endParaRPr lang="en-US" sz="1600" dirty="0">
              <a:latin typeface="Times New Roman" panose="02020603050405020304" pitchFamily="18" charset="0"/>
              <a:cs typeface="Times New Roman" panose="02020603050405020304" pitchFamily="18" charset="0"/>
            </a:endParaRPr>
          </a:p>
        </p:txBody>
      </p:sp>
      <p:sp>
        <p:nvSpPr>
          <p:cNvPr id="38" name="Shape 16">
            <a:extLst>
              <a:ext uri="{FF2B5EF4-FFF2-40B4-BE49-F238E27FC236}">
                <a16:creationId xmlns:a16="http://schemas.microsoft.com/office/drawing/2014/main" id="{B5A749D2-F325-E38C-EC8C-DFE1D6125E5E}"/>
              </a:ext>
            </a:extLst>
          </p:cNvPr>
          <p:cNvSpPr/>
          <p:nvPr/>
        </p:nvSpPr>
        <p:spPr>
          <a:xfrm>
            <a:off x="5074481"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0" name="Shape 17">
            <a:extLst>
              <a:ext uri="{FF2B5EF4-FFF2-40B4-BE49-F238E27FC236}">
                <a16:creationId xmlns:a16="http://schemas.microsoft.com/office/drawing/2014/main" id="{223210BB-5FDB-C8F1-DDEF-80DD6E421395}"/>
              </a:ext>
            </a:extLst>
          </p:cNvPr>
          <p:cNvSpPr/>
          <p:nvPr/>
        </p:nvSpPr>
        <p:spPr>
          <a:xfrm>
            <a:off x="5074481" y="4221480"/>
            <a:ext cx="1928020" cy="457994"/>
          </a:xfrm>
          <a:prstGeom prst="rect">
            <a:avLst/>
          </a:prstGeom>
          <a:solidFill>
            <a:srgbClr val="BC312C"/>
          </a:solidFill>
          <a:ln/>
        </p:spPr>
        <p:txBody>
          <a:bodyPr/>
          <a:lstStyle/>
          <a:p>
            <a:endParaRPr lang="en-IN"/>
          </a:p>
        </p:txBody>
      </p:sp>
      <p:sp>
        <p:nvSpPr>
          <p:cNvPr id="42" name="Text 18">
            <a:extLst>
              <a:ext uri="{FF2B5EF4-FFF2-40B4-BE49-F238E27FC236}">
                <a16:creationId xmlns:a16="http://schemas.microsoft.com/office/drawing/2014/main" id="{A8B4FF82-78D6-94FD-105F-13C969F37BE9}"/>
              </a:ext>
            </a:extLst>
          </p:cNvPr>
          <p:cNvSpPr/>
          <p:nvPr/>
        </p:nvSpPr>
        <p:spPr>
          <a:xfrm>
            <a:off x="5152909"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Infrastructure Gap</a:t>
            </a:r>
            <a:endParaRPr lang="en-US" sz="1400" dirty="0">
              <a:latin typeface="Times New Roman" panose="02020603050405020304" pitchFamily="18" charset="0"/>
              <a:cs typeface="Times New Roman" panose="02020603050405020304" pitchFamily="18" charset="0"/>
            </a:endParaRPr>
          </a:p>
        </p:txBody>
      </p:sp>
      <p:sp>
        <p:nvSpPr>
          <p:cNvPr id="44" name="Text 19">
            <a:extLst>
              <a:ext uri="{FF2B5EF4-FFF2-40B4-BE49-F238E27FC236}">
                <a16:creationId xmlns:a16="http://schemas.microsoft.com/office/drawing/2014/main" id="{20FAE579-7D08-554C-860B-CE9F51C55B47}"/>
              </a:ext>
            </a:extLst>
          </p:cNvPr>
          <p:cNvSpPr/>
          <p:nvPr/>
        </p:nvSpPr>
        <p:spPr>
          <a:xfrm>
            <a:off x="5172516"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Best-performing systems assume IoT hardware or heavy compute.</a:t>
            </a:r>
            <a:endParaRPr lang="en-US" sz="1600" dirty="0">
              <a:latin typeface="Times New Roman" panose="02020603050405020304" pitchFamily="18" charset="0"/>
              <a:cs typeface="Times New Roman" panose="02020603050405020304" pitchFamily="18" charset="0"/>
            </a:endParaRPr>
          </a:p>
        </p:txBody>
      </p:sp>
      <p:sp>
        <p:nvSpPr>
          <p:cNvPr id="46" name="Shape 20">
            <a:extLst>
              <a:ext uri="{FF2B5EF4-FFF2-40B4-BE49-F238E27FC236}">
                <a16:creationId xmlns:a16="http://schemas.microsoft.com/office/drawing/2014/main" id="{7161F564-B837-37F7-9925-8908C73B2E15}"/>
              </a:ext>
            </a:extLst>
          </p:cNvPr>
          <p:cNvSpPr/>
          <p:nvPr/>
        </p:nvSpPr>
        <p:spPr>
          <a:xfrm>
            <a:off x="7391082"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8" name="Shape 21">
            <a:extLst>
              <a:ext uri="{FF2B5EF4-FFF2-40B4-BE49-F238E27FC236}">
                <a16:creationId xmlns:a16="http://schemas.microsoft.com/office/drawing/2014/main" id="{3BF03896-D2E2-E2A9-F79B-1F3202679A38}"/>
              </a:ext>
            </a:extLst>
          </p:cNvPr>
          <p:cNvSpPr/>
          <p:nvPr/>
        </p:nvSpPr>
        <p:spPr>
          <a:xfrm>
            <a:off x="7391082" y="4221480"/>
            <a:ext cx="1928020" cy="457994"/>
          </a:xfrm>
          <a:prstGeom prst="rect">
            <a:avLst/>
          </a:prstGeom>
          <a:solidFill>
            <a:srgbClr val="BC312C"/>
          </a:solidFill>
          <a:ln/>
        </p:spPr>
        <p:txBody>
          <a:bodyPr/>
          <a:lstStyle/>
          <a:p>
            <a:endParaRPr lang="en-IN"/>
          </a:p>
        </p:txBody>
      </p:sp>
      <p:sp>
        <p:nvSpPr>
          <p:cNvPr id="50" name="Text 22">
            <a:extLst>
              <a:ext uri="{FF2B5EF4-FFF2-40B4-BE49-F238E27FC236}">
                <a16:creationId xmlns:a16="http://schemas.microsoft.com/office/drawing/2014/main" id="{959181A3-580B-83B2-40FD-BB3705CA389F}"/>
              </a:ext>
            </a:extLst>
          </p:cNvPr>
          <p:cNvSpPr/>
          <p:nvPr/>
        </p:nvSpPr>
        <p:spPr>
          <a:xfrm>
            <a:off x="7469510"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Cold-Start Gap</a:t>
            </a:r>
            <a:endParaRPr lang="en-US" sz="1400" dirty="0">
              <a:latin typeface="Times New Roman" panose="02020603050405020304" pitchFamily="18" charset="0"/>
              <a:cs typeface="Times New Roman" panose="02020603050405020304" pitchFamily="18" charset="0"/>
            </a:endParaRPr>
          </a:p>
        </p:txBody>
      </p:sp>
      <p:sp>
        <p:nvSpPr>
          <p:cNvPr id="52" name="Text 23">
            <a:extLst>
              <a:ext uri="{FF2B5EF4-FFF2-40B4-BE49-F238E27FC236}">
                <a16:creationId xmlns:a16="http://schemas.microsoft.com/office/drawing/2014/main" id="{6300D305-542B-FC46-AFF2-91D214B60418}"/>
              </a:ext>
            </a:extLst>
          </p:cNvPr>
          <p:cNvSpPr/>
          <p:nvPr/>
        </p:nvSpPr>
        <p:spPr>
          <a:xfrm>
            <a:off x="7489117"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Deep learning models fail on the short, sparse histories real SMEs.</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0250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D39A5-B164-C187-87B4-77BDB92A93D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8FA9D51-D16A-B0AE-045B-A390168F3FE5}"/>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39828D41-49B8-ACCD-7914-083C12CD9B18}"/>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7311459A-85E6-FC40-6186-7472698C18EE}"/>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DD981F05-DCA4-73F9-1FDC-E8EF54217F5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ACCE0146-E531-9D44-6013-7B65565B6189}"/>
              </a:ext>
            </a:extLst>
          </p:cNvPr>
          <p:cNvSpPr>
            <a:spLocks noGrp="1"/>
          </p:cNvSpPr>
          <p:nvPr>
            <p:ph type="sldNum" sz="quarter" idx="12"/>
          </p:nvPr>
        </p:nvSpPr>
        <p:spPr/>
        <p:txBody>
          <a:bodyPr/>
          <a:lstStyle/>
          <a:p>
            <a:fld id="{9DC013F7-6D70-4318-BA41-212A9B59413B}" type="slidenum">
              <a:rPr lang="en-US" smtClean="0"/>
              <a:t>5</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183D9E79-9CD9-246C-2AFC-1002D69CDF5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E6E0332E-C9FB-AED3-0DCD-29078A742C25}"/>
              </a:ext>
            </a:extLst>
          </p:cNvPr>
          <p:cNvSpPr/>
          <p:nvPr/>
        </p:nvSpPr>
        <p:spPr>
          <a:xfrm>
            <a:off x="-85226" y="1155959"/>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EB9F7392-7C7C-4A66-7285-CF9045B40850}"/>
              </a:ext>
            </a:extLst>
          </p:cNvPr>
          <p:cNvSpPr/>
          <p:nvPr/>
        </p:nvSpPr>
        <p:spPr>
          <a:xfrm>
            <a:off x="316306" y="1148594"/>
            <a:ext cx="893966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Literature Review (Brief)</a:t>
            </a:r>
            <a:endParaRPr lang="en-US" sz="2700" dirty="0"/>
          </a:p>
        </p:txBody>
      </p:sp>
      <p:sp>
        <p:nvSpPr>
          <p:cNvPr id="12" name="Shape 4">
            <a:extLst>
              <a:ext uri="{FF2B5EF4-FFF2-40B4-BE49-F238E27FC236}">
                <a16:creationId xmlns:a16="http://schemas.microsoft.com/office/drawing/2014/main" id="{6F6CE02E-0790-B411-6C41-516F55366C8E}"/>
              </a:ext>
            </a:extLst>
          </p:cNvPr>
          <p:cNvSpPr/>
          <p:nvPr/>
        </p:nvSpPr>
        <p:spPr>
          <a:xfrm>
            <a:off x="316306" y="1761242"/>
            <a:ext cx="8939660" cy="0"/>
          </a:xfrm>
          <a:prstGeom prst="line">
            <a:avLst/>
          </a:prstGeom>
          <a:noFill/>
          <a:ln w="12700">
            <a:solidFill>
              <a:srgbClr val="E0DAD8"/>
            </a:solidFill>
            <a:prstDash val="solid"/>
          </a:ln>
        </p:spPr>
        <p:txBody>
          <a:bodyPr/>
          <a:lstStyle/>
          <a:p>
            <a:endParaRPr lang="en-IN"/>
          </a:p>
        </p:txBody>
      </p:sp>
      <p:sp>
        <p:nvSpPr>
          <p:cNvPr id="14" name="Text 5">
            <a:extLst>
              <a:ext uri="{FF2B5EF4-FFF2-40B4-BE49-F238E27FC236}">
                <a16:creationId xmlns:a16="http://schemas.microsoft.com/office/drawing/2014/main" id="{ABFEA0C2-D3DD-56F4-E4F9-C3A95F9244CA}"/>
              </a:ext>
            </a:extLst>
          </p:cNvPr>
          <p:cNvSpPr/>
          <p:nvPr/>
        </p:nvSpPr>
        <p:spPr>
          <a:xfrm>
            <a:off x="505374" y="1928177"/>
            <a:ext cx="8939660" cy="411480"/>
          </a:xfrm>
          <a:prstGeom prst="rect">
            <a:avLst/>
          </a:prstGeom>
          <a:noFill/>
          <a:ln/>
        </p:spPr>
        <p:txBody>
          <a:bodyPr wrap="square" lIns="0" tIns="0" rIns="0" bIns="0" rtlCol="0" anchor="ctr"/>
          <a:lstStyle/>
          <a:p>
            <a:pPr marL="0" indent="0">
              <a:buNone/>
            </a:pPr>
            <a:r>
              <a:rPr lang="en-US" sz="1400" dirty="0">
                <a:solidFill>
                  <a:srgbClr val="262626"/>
                </a:solidFill>
                <a:latin typeface="Calibri" pitchFamily="34" charset="0"/>
                <a:ea typeface="Calibri" pitchFamily="34" charset="-122"/>
                <a:cs typeface="Calibri" pitchFamily="34" charset="-120"/>
              </a:rPr>
              <a:t>25 papers reviewed (2024–2026) across five themes: forecasting methods, external regressors, SME data challenges, inventory-to-action, and technology adoption.</a:t>
            </a:r>
            <a:endParaRPr lang="en-US" sz="1400" dirty="0"/>
          </a:p>
        </p:txBody>
      </p:sp>
      <p:graphicFrame>
        <p:nvGraphicFramePr>
          <p:cNvPr id="16" name="Table 0">
            <a:extLst>
              <a:ext uri="{FF2B5EF4-FFF2-40B4-BE49-F238E27FC236}">
                <a16:creationId xmlns:a16="http://schemas.microsoft.com/office/drawing/2014/main" id="{A38DB46D-5B1C-A3FC-92C6-3261734D6EFE}"/>
              </a:ext>
            </a:extLst>
          </p:cNvPr>
          <p:cNvGraphicFramePr>
            <a:graphicFrameLocks noGrp="1"/>
          </p:cNvGraphicFramePr>
          <p:nvPr>
            <p:extLst>
              <p:ext uri="{D42A27DB-BD31-4B8C-83A1-F6EECF244321}">
                <p14:modId xmlns:p14="http://schemas.microsoft.com/office/powerpoint/2010/main" val="2698227140"/>
              </p:ext>
            </p:extLst>
          </p:nvPr>
        </p:nvGraphicFramePr>
        <p:xfrm>
          <a:off x="484263" y="2456373"/>
          <a:ext cx="8939659" cy="4148388"/>
        </p:xfrm>
        <a:graphic>
          <a:graphicData uri="http://schemas.openxmlformats.org/drawingml/2006/table">
            <a:tbl>
              <a:tblPr/>
              <a:tblGrid>
                <a:gridCol w="1905174">
                  <a:extLst>
                    <a:ext uri="{9D8B030D-6E8A-4147-A177-3AD203B41FA5}">
                      <a16:colId xmlns:a16="http://schemas.microsoft.com/office/drawing/2014/main" val="20000"/>
                    </a:ext>
                  </a:extLst>
                </a:gridCol>
                <a:gridCol w="1758621">
                  <a:extLst>
                    <a:ext uri="{9D8B030D-6E8A-4147-A177-3AD203B41FA5}">
                      <a16:colId xmlns:a16="http://schemas.microsoft.com/office/drawing/2014/main" val="20001"/>
                    </a:ext>
                  </a:extLst>
                </a:gridCol>
                <a:gridCol w="1685345">
                  <a:extLst>
                    <a:ext uri="{9D8B030D-6E8A-4147-A177-3AD203B41FA5}">
                      <a16:colId xmlns:a16="http://schemas.microsoft.com/office/drawing/2014/main" val="20002"/>
                    </a:ext>
                  </a:extLst>
                </a:gridCol>
                <a:gridCol w="1538794">
                  <a:extLst>
                    <a:ext uri="{9D8B030D-6E8A-4147-A177-3AD203B41FA5}">
                      <a16:colId xmlns:a16="http://schemas.microsoft.com/office/drawing/2014/main" val="20003"/>
                    </a:ext>
                  </a:extLst>
                </a:gridCol>
                <a:gridCol w="2051725">
                  <a:extLst>
                    <a:ext uri="{9D8B030D-6E8A-4147-A177-3AD203B41FA5}">
                      <a16:colId xmlns:a16="http://schemas.microsoft.com/office/drawing/2014/main" val="20004"/>
                    </a:ext>
                  </a:extLst>
                </a:gridCol>
              </a:tblGrid>
              <a:tr h="429828">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Study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Model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Context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Best Metric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Gap Left Open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5456">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Susanto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XGBoost vs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pre-order, sparse</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54.20%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Regression fails on sparse data</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834516399"/>
                  </a:ext>
                </a:extLst>
              </a:tr>
              <a:tr h="575456">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Rahmatillah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Optimized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ice cream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45.06%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Needs ~1,000 days of history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3162092361"/>
                  </a:ext>
                </a:extLst>
              </a:tr>
              <a:tr h="773690">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Aqila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SARIMA / Prophet /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Coffee shop, hourly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lvl="0"/>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RMSE 0.15 (LSTM) / MAPE 25% (SARIMA)</a:t>
                      </a: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Forecast-only, no restock</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Janchidfah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TAM (no ML)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Small retail, survey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 = 0.76 satisfaction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predictive capability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4174570514"/>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Kamboj et al. (2025)</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Prophet + XGBoost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Drug retail, state-level (Germany)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12–18% MAPE cut (hybrid)</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Retail-scale, not SME/food-specific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125893827"/>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Guler et al. (</a:t>
                      </a:r>
                      <a:r>
                        <a:rPr lang="en-IN" sz="1600" dirty="0">
                          <a:solidFill>
                            <a:srgbClr val="262626"/>
                          </a:solidFill>
                          <a:latin typeface="Calibri" panose="020F0502020204030204" pitchFamily="34" charset="0"/>
                          <a:ea typeface="Calibri" panose="020F0502020204030204" pitchFamily="34" charset="0"/>
                          <a:cs typeface="Calibri" panose="020F0502020204030204" pitchFamily="34" charset="0"/>
                        </a:rPr>
                        <a:t>2024</a:t>
                      </a: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Facebook Prophet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Restaurant, daily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MAE 0.76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restock, no mobile delivery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994890863"/>
                  </a:ext>
                </a:extLst>
              </a:tr>
            </a:tbl>
          </a:graphicData>
        </a:graphic>
      </p:graphicFrame>
      <p:sp>
        <p:nvSpPr>
          <p:cNvPr id="18" name="Shape 6">
            <a:extLst>
              <a:ext uri="{FF2B5EF4-FFF2-40B4-BE49-F238E27FC236}">
                <a16:creationId xmlns:a16="http://schemas.microsoft.com/office/drawing/2014/main" id="{955A0026-2DEF-3F8D-262F-7D6F3BC9ACE9}"/>
              </a:ext>
            </a:extLst>
          </p:cNvPr>
          <p:cNvSpPr/>
          <p:nvPr/>
        </p:nvSpPr>
        <p:spPr>
          <a:xfrm>
            <a:off x="484263" y="2456373"/>
            <a:ext cx="8939660" cy="457200"/>
          </a:xfrm>
          <a:prstGeom prst="rect">
            <a:avLst/>
          </a:prstGeom>
          <a:solidFill>
            <a:srgbClr val="BC312C"/>
          </a:solidFill>
          <a:ln/>
        </p:spPr>
        <p:txBody>
          <a:bodyPr/>
          <a:lstStyle/>
          <a:p>
            <a:endParaRPr lang="en-IN" dirty="0"/>
          </a:p>
        </p:txBody>
      </p:sp>
      <p:sp>
        <p:nvSpPr>
          <p:cNvPr id="20" name="Text 7">
            <a:extLst>
              <a:ext uri="{FF2B5EF4-FFF2-40B4-BE49-F238E27FC236}">
                <a16:creationId xmlns:a16="http://schemas.microsoft.com/office/drawing/2014/main" id="{1D7803C5-D076-3245-778C-3C1DC91E9BD8}"/>
              </a:ext>
            </a:extLst>
          </p:cNvPr>
          <p:cNvSpPr/>
          <p:nvPr/>
        </p:nvSpPr>
        <p:spPr>
          <a:xfrm>
            <a:off x="484264" y="2456373"/>
            <a:ext cx="190517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Study</a:t>
            </a:r>
            <a:endParaRPr lang="en-US" sz="2400" dirty="0"/>
          </a:p>
        </p:txBody>
      </p:sp>
      <p:sp>
        <p:nvSpPr>
          <p:cNvPr id="22" name="Text 8">
            <a:extLst>
              <a:ext uri="{FF2B5EF4-FFF2-40B4-BE49-F238E27FC236}">
                <a16:creationId xmlns:a16="http://schemas.microsoft.com/office/drawing/2014/main" id="{377570CA-6929-B52C-65E8-7A6BC04E6272}"/>
              </a:ext>
            </a:extLst>
          </p:cNvPr>
          <p:cNvSpPr/>
          <p:nvPr/>
        </p:nvSpPr>
        <p:spPr>
          <a:xfrm>
            <a:off x="2385840" y="2456373"/>
            <a:ext cx="1758621"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Model</a:t>
            </a:r>
            <a:endParaRPr lang="en-US" sz="2400" dirty="0"/>
          </a:p>
        </p:txBody>
      </p:sp>
      <p:sp>
        <p:nvSpPr>
          <p:cNvPr id="24" name="Text 9">
            <a:extLst>
              <a:ext uri="{FF2B5EF4-FFF2-40B4-BE49-F238E27FC236}">
                <a16:creationId xmlns:a16="http://schemas.microsoft.com/office/drawing/2014/main" id="{9FCB9C98-9C1B-6EEB-8145-7557C510FF06}"/>
              </a:ext>
            </a:extLst>
          </p:cNvPr>
          <p:cNvSpPr/>
          <p:nvPr/>
        </p:nvSpPr>
        <p:spPr>
          <a:xfrm>
            <a:off x="4132532" y="2456373"/>
            <a:ext cx="168534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Context</a:t>
            </a:r>
            <a:endParaRPr lang="en-US" sz="2400" dirty="0"/>
          </a:p>
        </p:txBody>
      </p:sp>
      <p:sp>
        <p:nvSpPr>
          <p:cNvPr id="26" name="Text 10">
            <a:extLst>
              <a:ext uri="{FF2B5EF4-FFF2-40B4-BE49-F238E27FC236}">
                <a16:creationId xmlns:a16="http://schemas.microsoft.com/office/drawing/2014/main" id="{6D1DE0B1-E685-106A-17BB-7AA11266160D}"/>
              </a:ext>
            </a:extLst>
          </p:cNvPr>
          <p:cNvSpPr/>
          <p:nvPr/>
        </p:nvSpPr>
        <p:spPr>
          <a:xfrm>
            <a:off x="5856132" y="2456373"/>
            <a:ext cx="153879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Best Metric</a:t>
            </a:r>
            <a:endParaRPr lang="en-US" sz="2000" dirty="0"/>
          </a:p>
        </p:txBody>
      </p:sp>
      <p:sp>
        <p:nvSpPr>
          <p:cNvPr id="28" name="Text 11">
            <a:extLst>
              <a:ext uri="{FF2B5EF4-FFF2-40B4-BE49-F238E27FC236}">
                <a16:creationId xmlns:a16="http://schemas.microsoft.com/office/drawing/2014/main" id="{67339973-CE03-AEB9-AE28-8B4C1A2FBACA}"/>
              </a:ext>
            </a:extLst>
          </p:cNvPr>
          <p:cNvSpPr/>
          <p:nvPr/>
        </p:nvSpPr>
        <p:spPr>
          <a:xfrm>
            <a:off x="7422918" y="2456373"/>
            <a:ext cx="205172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Gap Left Open</a:t>
            </a:r>
            <a:endParaRPr lang="en-US" sz="2000" dirty="0"/>
          </a:p>
        </p:txBody>
      </p:sp>
    </p:spTree>
    <p:extLst>
      <p:ext uri="{BB962C8B-B14F-4D97-AF65-F5344CB8AC3E}">
        <p14:creationId xmlns:p14="http://schemas.microsoft.com/office/powerpoint/2010/main" val="2162376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1034F-E46D-92BD-739C-8F411EC59BA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B20CE97-F067-29E7-E8CF-EF2C6834B336}"/>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07D32B60-698B-2D28-A1DA-5D93577AB770}"/>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CBD9C920-902F-CA9A-26FC-D63C57977912}"/>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1292D09C-32B9-B0B1-850A-C054022A2267}"/>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E0928891-608A-48D9-379E-F13332EAF81B}"/>
              </a:ext>
            </a:extLst>
          </p:cNvPr>
          <p:cNvSpPr>
            <a:spLocks noGrp="1"/>
          </p:cNvSpPr>
          <p:nvPr>
            <p:ph type="sldNum" sz="quarter" idx="12"/>
          </p:nvPr>
        </p:nvSpPr>
        <p:spPr/>
        <p:txBody>
          <a:bodyPr/>
          <a:lstStyle/>
          <a:p>
            <a:fld id="{9DC013F7-6D70-4318-BA41-212A9B59413B}" type="slidenum">
              <a:rPr lang="en-US" smtClean="0"/>
              <a:t>6</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3E44EB45-2A49-E6E2-0268-2B6B0DFF13A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C74EDA66-9DE9-F8A7-CBB9-E459E7DFBDD6}"/>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10" name="Text 4">
            <a:extLst>
              <a:ext uri="{FF2B5EF4-FFF2-40B4-BE49-F238E27FC236}">
                <a16:creationId xmlns:a16="http://schemas.microsoft.com/office/drawing/2014/main" id="{E5ADF7F8-BC7B-D57C-445C-93AEA18082F5}"/>
              </a:ext>
            </a:extLst>
          </p:cNvPr>
          <p:cNvSpPr txBox="1"/>
          <p:nvPr/>
        </p:nvSpPr>
        <p:spPr>
          <a:xfrm>
            <a:off x="274320" y="841248"/>
            <a:ext cx="6858000" cy="457200"/>
          </a:xfrm>
          <a:prstGeom prst="rect">
            <a:avLst/>
          </a:prstGeom>
          <a:noFill/>
          <a:ln/>
        </p:spPr>
        <p:txBody>
          <a:bodyPr wrap="square" lIns="0" tIns="0" rIns="0" bIns="0" rtlCol="0" anchor="ctr"/>
          <a:lstStyle/>
          <a:p>
            <a:pPr marL="0" indent="0">
              <a:buNone/>
            </a:pPr>
            <a:r>
              <a:rPr lang="en-US" sz="2500" b="1" dirty="0">
                <a:solidFill>
                  <a:srgbClr val="BB302C"/>
                </a:solidFill>
                <a:latin typeface="Georgia" pitchFamily="34" charset="0"/>
                <a:ea typeface="Georgia" pitchFamily="34" charset="-122"/>
                <a:cs typeface="Georgia" pitchFamily="34" charset="-120"/>
              </a:rPr>
              <a:t>Proposed Methodology</a:t>
            </a:r>
            <a:endParaRPr lang="en-US" sz="2500" dirty="0"/>
          </a:p>
        </p:txBody>
      </p:sp>
      <p:sp>
        <p:nvSpPr>
          <p:cNvPr id="15" name="Shape 5">
            <a:extLst>
              <a:ext uri="{FF2B5EF4-FFF2-40B4-BE49-F238E27FC236}">
                <a16:creationId xmlns:a16="http://schemas.microsoft.com/office/drawing/2014/main" id="{978B341C-1E09-8871-1260-1C7F846558F0}"/>
              </a:ext>
            </a:extLst>
          </p:cNvPr>
          <p:cNvSpPr/>
          <p:nvPr/>
        </p:nvSpPr>
        <p:spPr>
          <a:xfrm>
            <a:off x="292608" y="1335024"/>
            <a:ext cx="9326880" cy="0"/>
          </a:xfrm>
          <a:prstGeom prst="line">
            <a:avLst/>
          </a:prstGeom>
          <a:noFill/>
          <a:ln w="12700">
            <a:solidFill>
              <a:srgbClr val="D9D9D9"/>
            </a:solidFill>
            <a:prstDash val="solid"/>
          </a:ln>
        </p:spPr>
      </p:sp>
      <p:sp>
        <p:nvSpPr>
          <p:cNvPr id="19" name="Text 6">
            <a:extLst>
              <a:ext uri="{FF2B5EF4-FFF2-40B4-BE49-F238E27FC236}">
                <a16:creationId xmlns:a16="http://schemas.microsoft.com/office/drawing/2014/main" id="{16FC2CD5-4476-760A-2F8E-9657F5AEF147}"/>
              </a:ext>
            </a:extLst>
          </p:cNvPr>
          <p:cNvSpPr txBox="1"/>
          <p:nvPr/>
        </p:nvSpPr>
        <p:spPr>
          <a:xfrm>
            <a:off x="292608" y="1399032"/>
            <a:ext cx="9326880" cy="384048"/>
          </a:xfrm>
          <a:prstGeom prst="rect">
            <a:avLst/>
          </a:prstGeom>
          <a:noFill/>
          <a:ln/>
        </p:spPr>
        <p:txBody>
          <a:bodyPr wrap="square" lIns="0" tIns="0" rIns="0" bIns="0" rtlCol="0" anchor="ctr"/>
          <a:lstStyle/>
          <a:p>
            <a:pPr marL="0" indent="0">
              <a:buNone/>
            </a:pPr>
            <a:r>
              <a:rPr lang="en-US" sz="1350" i="1" dirty="0">
                <a:solidFill>
                  <a:srgbClr val="2E3B7D"/>
                </a:solidFill>
                <a:latin typeface="Georgia" pitchFamily="34" charset="0"/>
                <a:ea typeface="Georgia" pitchFamily="34" charset="-122"/>
                <a:cs typeface="Georgia" pitchFamily="34" charset="-120"/>
              </a:rPr>
              <a:t>An end-to-end architecture that turns raw sales data into both a restock quantity and a waste-reduction action, explained in plain language.</a:t>
            </a:r>
            <a:endParaRPr lang="en-US" sz="1350" dirty="0"/>
          </a:p>
        </p:txBody>
      </p:sp>
      <p:sp>
        <p:nvSpPr>
          <p:cNvPr id="23" name="Shape 7">
            <a:extLst>
              <a:ext uri="{FF2B5EF4-FFF2-40B4-BE49-F238E27FC236}">
                <a16:creationId xmlns:a16="http://schemas.microsoft.com/office/drawing/2014/main" id="{51D4EA04-AACD-BC79-C158-72E6E7E58347}"/>
              </a:ext>
            </a:extLst>
          </p:cNvPr>
          <p:cNvSpPr/>
          <p:nvPr/>
        </p:nvSpPr>
        <p:spPr>
          <a:xfrm>
            <a:off x="274320" y="1965960"/>
            <a:ext cx="1371600" cy="1463040"/>
          </a:xfrm>
          <a:prstGeom prst="rect">
            <a:avLst/>
          </a:prstGeom>
          <a:solidFill>
            <a:srgbClr val="F7F5F4"/>
          </a:solidFill>
          <a:ln/>
          <a:effectLst>
            <a:outerShdw blurRad="50800" dist="25400" dir="5400000" algn="bl" rotWithShape="0">
              <a:srgbClr val="888888">
                <a:alpha val="22000"/>
              </a:srgbClr>
            </a:outerShdw>
          </a:effectLst>
        </p:spPr>
      </p:sp>
      <p:sp>
        <p:nvSpPr>
          <p:cNvPr id="27" name="Text 8">
            <a:extLst>
              <a:ext uri="{FF2B5EF4-FFF2-40B4-BE49-F238E27FC236}">
                <a16:creationId xmlns:a16="http://schemas.microsoft.com/office/drawing/2014/main" id="{59EC9221-5D42-2CAE-9EAA-1C877BF1C4AB}"/>
              </a:ext>
            </a:extLst>
          </p:cNvPr>
          <p:cNvSpPr txBox="1"/>
          <p:nvPr/>
        </p:nvSpPr>
        <p:spPr>
          <a:xfrm>
            <a:off x="356616" y="2029968"/>
            <a:ext cx="1207008" cy="475488"/>
          </a:xfrm>
          <a:prstGeom prst="rect">
            <a:avLst/>
          </a:prstGeom>
          <a:noFill/>
          <a:ln/>
        </p:spPr>
        <p:txBody>
          <a:bodyPr wrap="square" lIns="0" tIns="0" rIns="0" bIns="0" rtlCol="0" anchor="t"/>
          <a:lstStyle/>
          <a:p>
            <a:pPr marL="0" indent="0" algn="l">
              <a:lnSpc>
                <a:spcPct val="100000"/>
              </a:lnSpc>
              <a:buNone/>
            </a:pPr>
            <a:r>
              <a:rPr lang="en-US" sz="1100" b="1" dirty="0">
                <a:solidFill>
                  <a:srgbClr val="2E3B7D"/>
                </a:solidFill>
                <a:latin typeface="Georgia" pitchFamily="34" charset="0"/>
                <a:ea typeface="Georgia" pitchFamily="34" charset="-122"/>
                <a:cs typeface="Georgia" pitchFamily="34" charset="-120"/>
              </a:rPr>
              <a:t>Historical Sales Data</a:t>
            </a:r>
            <a:endParaRPr lang="en-US" sz="1100" dirty="0"/>
          </a:p>
        </p:txBody>
      </p:sp>
      <p:sp>
        <p:nvSpPr>
          <p:cNvPr id="31" name="Text 9">
            <a:extLst>
              <a:ext uri="{FF2B5EF4-FFF2-40B4-BE49-F238E27FC236}">
                <a16:creationId xmlns:a16="http://schemas.microsoft.com/office/drawing/2014/main" id="{5A642A16-FCFD-D383-16A1-848473F79994}"/>
              </a:ext>
            </a:extLst>
          </p:cNvPr>
          <p:cNvSpPr txBox="1"/>
          <p:nvPr/>
        </p:nvSpPr>
        <p:spPr>
          <a:xfrm>
            <a:off x="356616" y="25146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Daily item-level sales (bakery dataset)</a:t>
            </a:r>
            <a:endParaRPr lang="en-US" sz="1100" dirty="0"/>
          </a:p>
        </p:txBody>
      </p:sp>
      <p:sp>
        <p:nvSpPr>
          <p:cNvPr id="35" name="Shape 10">
            <a:extLst>
              <a:ext uri="{FF2B5EF4-FFF2-40B4-BE49-F238E27FC236}">
                <a16:creationId xmlns:a16="http://schemas.microsoft.com/office/drawing/2014/main" id="{D91493A9-D439-FA1B-9680-6FF1931D662B}"/>
              </a:ext>
            </a:extLst>
          </p:cNvPr>
          <p:cNvSpPr/>
          <p:nvPr/>
        </p:nvSpPr>
        <p:spPr>
          <a:xfrm>
            <a:off x="1664208" y="2624328"/>
            <a:ext cx="146304" cy="146304"/>
          </a:xfrm>
          <a:prstGeom prst="rightArrow">
            <a:avLst/>
          </a:prstGeom>
          <a:solidFill>
            <a:srgbClr val="9A9A9A"/>
          </a:solidFill>
          <a:ln/>
        </p:spPr>
      </p:sp>
      <p:sp>
        <p:nvSpPr>
          <p:cNvPr id="39" name="Shape 11">
            <a:extLst>
              <a:ext uri="{FF2B5EF4-FFF2-40B4-BE49-F238E27FC236}">
                <a16:creationId xmlns:a16="http://schemas.microsoft.com/office/drawing/2014/main" id="{12A13960-F4D6-6C3A-1051-FA7CE1C1C29D}"/>
              </a:ext>
            </a:extLst>
          </p:cNvPr>
          <p:cNvSpPr/>
          <p:nvPr/>
        </p:nvSpPr>
        <p:spPr>
          <a:xfrm>
            <a:off x="1828800" y="1965960"/>
            <a:ext cx="1371600" cy="1463040"/>
          </a:xfrm>
          <a:prstGeom prst="rect">
            <a:avLst/>
          </a:prstGeom>
          <a:solidFill>
            <a:srgbClr val="F7F5F4"/>
          </a:solidFill>
          <a:ln/>
          <a:effectLst>
            <a:outerShdw blurRad="50800" dist="25400" dir="5400000" algn="bl" rotWithShape="0">
              <a:srgbClr val="888888">
                <a:alpha val="22000"/>
              </a:srgbClr>
            </a:outerShdw>
          </a:effectLst>
        </p:spPr>
      </p:sp>
      <p:sp>
        <p:nvSpPr>
          <p:cNvPr id="43" name="Text 12">
            <a:extLst>
              <a:ext uri="{FF2B5EF4-FFF2-40B4-BE49-F238E27FC236}">
                <a16:creationId xmlns:a16="http://schemas.microsoft.com/office/drawing/2014/main" id="{2757A7C8-F956-3022-2E58-17F03D523662}"/>
              </a:ext>
            </a:extLst>
          </p:cNvPr>
          <p:cNvSpPr txBox="1"/>
          <p:nvPr/>
        </p:nvSpPr>
        <p:spPr>
          <a:xfrm>
            <a:off x="1911096" y="2029968"/>
            <a:ext cx="1207008" cy="475488"/>
          </a:xfrm>
          <a:prstGeom prst="rect">
            <a:avLst/>
          </a:prstGeom>
          <a:noFill/>
          <a:ln/>
        </p:spPr>
        <p:txBody>
          <a:bodyPr wrap="square" lIns="0" tIns="0" rIns="0" bIns="0" rtlCol="0" anchor="t"/>
          <a:lstStyle/>
          <a:p>
            <a:pPr marL="0" indent="0" algn="l">
              <a:lnSpc>
                <a:spcPct val="100000"/>
              </a:lnSpc>
              <a:buNone/>
            </a:pPr>
            <a:r>
              <a:rPr lang="en-US" sz="1100" b="1" dirty="0">
                <a:solidFill>
                  <a:srgbClr val="2E3B7D"/>
                </a:solidFill>
                <a:latin typeface="Georgia" pitchFamily="34" charset="0"/>
                <a:ea typeface="Georgia" pitchFamily="34" charset="-122"/>
                <a:cs typeface="Georgia" pitchFamily="34" charset="-120"/>
              </a:rPr>
              <a:t>Cold-Start Handling</a:t>
            </a:r>
            <a:endParaRPr lang="en-US" sz="1100" dirty="0"/>
          </a:p>
        </p:txBody>
      </p:sp>
      <p:sp>
        <p:nvSpPr>
          <p:cNvPr id="47" name="Text 13">
            <a:extLst>
              <a:ext uri="{FF2B5EF4-FFF2-40B4-BE49-F238E27FC236}">
                <a16:creationId xmlns:a16="http://schemas.microsoft.com/office/drawing/2014/main" id="{1E6E94B2-8980-C24D-C6E4-A69D31C68761}"/>
              </a:ext>
            </a:extLst>
          </p:cNvPr>
          <p:cNvSpPr txBox="1"/>
          <p:nvPr/>
        </p:nvSpPr>
        <p:spPr>
          <a:xfrm>
            <a:off x="1911096" y="25146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Day 1–13: category priors</a:t>
            </a:r>
            <a:endParaRPr lang="en-US" sz="1100" dirty="0"/>
          </a:p>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Day 14–30: blended</a:t>
            </a:r>
            <a:endParaRPr lang="en-US" sz="1100" dirty="0"/>
          </a:p>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Day 30+: personal model</a:t>
            </a:r>
            <a:endParaRPr lang="en-US" sz="1100" dirty="0"/>
          </a:p>
        </p:txBody>
      </p:sp>
      <p:sp>
        <p:nvSpPr>
          <p:cNvPr id="51" name="Shape 14">
            <a:extLst>
              <a:ext uri="{FF2B5EF4-FFF2-40B4-BE49-F238E27FC236}">
                <a16:creationId xmlns:a16="http://schemas.microsoft.com/office/drawing/2014/main" id="{94165CB7-F5FC-5F2B-25C5-6BD55DEF9A83}"/>
              </a:ext>
            </a:extLst>
          </p:cNvPr>
          <p:cNvSpPr/>
          <p:nvPr/>
        </p:nvSpPr>
        <p:spPr>
          <a:xfrm>
            <a:off x="2688336" y="1828800"/>
            <a:ext cx="512064" cy="219456"/>
          </a:xfrm>
          <a:prstGeom prst="roundRect">
            <a:avLst>
              <a:gd name="adj" fmla="val 20833"/>
            </a:avLst>
          </a:prstGeom>
          <a:solidFill>
            <a:srgbClr val="BB302C"/>
          </a:solidFill>
          <a:ln/>
        </p:spPr>
      </p:sp>
      <p:sp>
        <p:nvSpPr>
          <p:cNvPr id="55" name="Text 15">
            <a:extLst>
              <a:ext uri="{FF2B5EF4-FFF2-40B4-BE49-F238E27FC236}">
                <a16:creationId xmlns:a16="http://schemas.microsoft.com/office/drawing/2014/main" id="{3C54FEAF-592A-0A9C-CB89-476F69D47D98}"/>
              </a:ext>
            </a:extLst>
          </p:cNvPr>
          <p:cNvSpPr txBox="1"/>
          <p:nvPr/>
        </p:nvSpPr>
        <p:spPr>
          <a:xfrm>
            <a:off x="2688336" y="1819656"/>
            <a:ext cx="512064" cy="219456"/>
          </a:xfrm>
          <a:prstGeom prst="rect">
            <a:avLst/>
          </a:prstGeom>
          <a:noFill/>
          <a:ln/>
        </p:spPr>
        <p:txBody>
          <a:bodyPr wrap="square" lIns="0" tIns="0" rIns="0" bIns="0" rtlCol="0" anchor="ctr"/>
          <a:lstStyle/>
          <a:p>
            <a:pPr marL="0" indent="0" algn="ctr">
              <a:buNone/>
            </a:pPr>
            <a:r>
              <a:rPr lang="en-US" sz="1050" b="1" dirty="0">
                <a:solidFill>
                  <a:srgbClr val="FFFFFF"/>
                </a:solidFill>
                <a:latin typeface="Georgia" pitchFamily="34" charset="0"/>
                <a:ea typeface="Georgia" pitchFamily="34" charset="-122"/>
                <a:cs typeface="Georgia" pitchFamily="34" charset="-120"/>
              </a:rPr>
              <a:t>NEW</a:t>
            </a:r>
            <a:endParaRPr lang="en-US" sz="1050" dirty="0"/>
          </a:p>
        </p:txBody>
      </p:sp>
      <p:sp>
        <p:nvSpPr>
          <p:cNvPr id="59" name="Shape 16">
            <a:extLst>
              <a:ext uri="{FF2B5EF4-FFF2-40B4-BE49-F238E27FC236}">
                <a16:creationId xmlns:a16="http://schemas.microsoft.com/office/drawing/2014/main" id="{4E1F89F6-D7BF-CCC5-EC10-A3F4090E6553}"/>
              </a:ext>
            </a:extLst>
          </p:cNvPr>
          <p:cNvSpPr/>
          <p:nvPr/>
        </p:nvSpPr>
        <p:spPr>
          <a:xfrm>
            <a:off x="3218688" y="2624328"/>
            <a:ext cx="146304" cy="146304"/>
          </a:xfrm>
          <a:prstGeom prst="rightArrow">
            <a:avLst/>
          </a:prstGeom>
          <a:solidFill>
            <a:srgbClr val="9A9A9A"/>
          </a:solidFill>
          <a:ln/>
        </p:spPr>
      </p:sp>
      <p:sp>
        <p:nvSpPr>
          <p:cNvPr id="61" name="Shape 17">
            <a:extLst>
              <a:ext uri="{FF2B5EF4-FFF2-40B4-BE49-F238E27FC236}">
                <a16:creationId xmlns:a16="http://schemas.microsoft.com/office/drawing/2014/main" id="{65E04CFE-84D6-949D-F65D-EEEDFE74DC18}"/>
              </a:ext>
            </a:extLst>
          </p:cNvPr>
          <p:cNvSpPr/>
          <p:nvPr/>
        </p:nvSpPr>
        <p:spPr>
          <a:xfrm>
            <a:off x="3383280" y="1965960"/>
            <a:ext cx="1371600" cy="1463040"/>
          </a:xfrm>
          <a:prstGeom prst="rect">
            <a:avLst/>
          </a:prstGeom>
          <a:solidFill>
            <a:srgbClr val="F7F5F4"/>
          </a:solidFill>
          <a:ln/>
          <a:effectLst>
            <a:outerShdw blurRad="50800" dist="25400" dir="5400000" algn="bl" rotWithShape="0">
              <a:srgbClr val="888888">
                <a:alpha val="22000"/>
              </a:srgbClr>
            </a:outerShdw>
          </a:effectLst>
        </p:spPr>
      </p:sp>
      <p:sp>
        <p:nvSpPr>
          <p:cNvPr id="64" name="Text 18">
            <a:extLst>
              <a:ext uri="{FF2B5EF4-FFF2-40B4-BE49-F238E27FC236}">
                <a16:creationId xmlns:a16="http://schemas.microsoft.com/office/drawing/2014/main" id="{4C690B21-3DA3-AD66-1371-300EDDA8EAF2}"/>
              </a:ext>
            </a:extLst>
          </p:cNvPr>
          <p:cNvSpPr txBox="1"/>
          <p:nvPr/>
        </p:nvSpPr>
        <p:spPr>
          <a:xfrm>
            <a:off x="3465576" y="2029968"/>
            <a:ext cx="1207008" cy="475488"/>
          </a:xfrm>
          <a:prstGeom prst="rect">
            <a:avLst/>
          </a:prstGeom>
          <a:noFill/>
          <a:ln/>
        </p:spPr>
        <p:txBody>
          <a:bodyPr wrap="square" lIns="0" tIns="0" rIns="0" bIns="0" rtlCol="0" anchor="t"/>
          <a:lstStyle/>
          <a:p>
            <a:pPr marL="0" indent="0" algn="l">
              <a:lnSpc>
                <a:spcPct val="100000"/>
              </a:lnSpc>
              <a:buNone/>
            </a:pPr>
            <a:r>
              <a:rPr lang="en-US" sz="1100" b="1" dirty="0">
                <a:solidFill>
                  <a:srgbClr val="2E3B7D"/>
                </a:solidFill>
                <a:latin typeface="Georgia" pitchFamily="34" charset="0"/>
                <a:ea typeface="Georgia" pitchFamily="34" charset="-122"/>
                <a:cs typeface="Georgia" pitchFamily="34" charset="-120"/>
              </a:rPr>
              <a:t>Prophet + XGBoost</a:t>
            </a:r>
            <a:endParaRPr lang="en-US" sz="1100" dirty="0"/>
          </a:p>
        </p:txBody>
      </p:sp>
      <p:sp>
        <p:nvSpPr>
          <p:cNvPr id="66" name="Text 19">
            <a:extLst>
              <a:ext uri="{FF2B5EF4-FFF2-40B4-BE49-F238E27FC236}">
                <a16:creationId xmlns:a16="http://schemas.microsoft.com/office/drawing/2014/main" id="{A640BBE8-2552-CE59-F85A-D43CE8BC54FE}"/>
              </a:ext>
            </a:extLst>
          </p:cNvPr>
          <p:cNvSpPr txBox="1"/>
          <p:nvPr/>
        </p:nvSpPr>
        <p:spPr>
          <a:xfrm>
            <a:off x="3465576" y="25146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Prophet: trend + seasonality</a:t>
            </a:r>
            <a:endParaRPr lang="en-US" sz="1100" dirty="0"/>
          </a:p>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XGBoost: residual correction only</a:t>
            </a:r>
            <a:endParaRPr lang="en-US" sz="1100" dirty="0"/>
          </a:p>
        </p:txBody>
      </p:sp>
      <p:sp>
        <p:nvSpPr>
          <p:cNvPr id="68" name="Shape 20">
            <a:extLst>
              <a:ext uri="{FF2B5EF4-FFF2-40B4-BE49-F238E27FC236}">
                <a16:creationId xmlns:a16="http://schemas.microsoft.com/office/drawing/2014/main" id="{73389D26-95A7-45C9-E852-C69916CED9C4}"/>
              </a:ext>
            </a:extLst>
          </p:cNvPr>
          <p:cNvSpPr/>
          <p:nvPr/>
        </p:nvSpPr>
        <p:spPr>
          <a:xfrm>
            <a:off x="4773168" y="2624328"/>
            <a:ext cx="146304" cy="146304"/>
          </a:xfrm>
          <a:prstGeom prst="rightArrow">
            <a:avLst/>
          </a:prstGeom>
          <a:solidFill>
            <a:srgbClr val="9A9A9A"/>
          </a:solidFill>
          <a:ln/>
        </p:spPr>
      </p:sp>
      <p:sp>
        <p:nvSpPr>
          <p:cNvPr id="70" name="Shape 21">
            <a:extLst>
              <a:ext uri="{FF2B5EF4-FFF2-40B4-BE49-F238E27FC236}">
                <a16:creationId xmlns:a16="http://schemas.microsoft.com/office/drawing/2014/main" id="{A88B4914-2723-A935-EC72-B0A5643ACF7E}"/>
              </a:ext>
            </a:extLst>
          </p:cNvPr>
          <p:cNvSpPr/>
          <p:nvPr/>
        </p:nvSpPr>
        <p:spPr>
          <a:xfrm>
            <a:off x="4937760" y="1965960"/>
            <a:ext cx="1371600" cy="1463040"/>
          </a:xfrm>
          <a:prstGeom prst="rect">
            <a:avLst/>
          </a:prstGeom>
          <a:solidFill>
            <a:srgbClr val="F7F5F4"/>
          </a:solidFill>
          <a:ln/>
          <a:effectLst>
            <a:outerShdw blurRad="50800" dist="25400" dir="5400000" algn="bl" rotWithShape="0">
              <a:srgbClr val="888888">
                <a:alpha val="22000"/>
              </a:srgbClr>
            </a:outerShdw>
          </a:effectLst>
        </p:spPr>
      </p:sp>
      <p:sp>
        <p:nvSpPr>
          <p:cNvPr id="72" name="Text 22">
            <a:extLst>
              <a:ext uri="{FF2B5EF4-FFF2-40B4-BE49-F238E27FC236}">
                <a16:creationId xmlns:a16="http://schemas.microsoft.com/office/drawing/2014/main" id="{8C65A9E8-969E-EC24-AC36-E95D1888149F}"/>
              </a:ext>
            </a:extLst>
          </p:cNvPr>
          <p:cNvSpPr txBox="1"/>
          <p:nvPr/>
        </p:nvSpPr>
        <p:spPr>
          <a:xfrm>
            <a:off x="5020056" y="2029968"/>
            <a:ext cx="1207008" cy="475488"/>
          </a:xfrm>
          <a:prstGeom prst="rect">
            <a:avLst/>
          </a:prstGeom>
          <a:noFill/>
          <a:ln/>
        </p:spPr>
        <p:txBody>
          <a:bodyPr wrap="square" lIns="0" tIns="0" rIns="0" bIns="0" rtlCol="0" anchor="t"/>
          <a:lstStyle/>
          <a:p>
            <a:pPr marL="0" indent="0" algn="l">
              <a:lnSpc>
                <a:spcPct val="100000"/>
              </a:lnSpc>
              <a:buNone/>
            </a:pPr>
            <a:r>
              <a:rPr lang="en-US" sz="1100" b="1" dirty="0">
                <a:solidFill>
                  <a:srgbClr val="2E3B7D"/>
                </a:solidFill>
                <a:latin typeface="Georgia" pitchFamily="34" charset="0"/>
                <a:ea typeface="Georgia" pitchFamily="34" charset="-122"/>
                <a:cs typeface="Georgia" pitchFamily="34" charset="-120"/>
              </a:rPr>
              <a:t>Hybrid Forecast</a:t>
            </a:r>
            <a:endParaRPr lang="en-US" sz="1100" dirty="0"/>
          </a:p>
        </p:txBody>
      </p:sp>
      <p:sp>
        <p:nvSpPr>
          <p:cNvPr id="74" name="Text 23">
            <a:extLst>
              <a:ext uri="{FF2B5EF4-FFF2-40B4-BE49-F238E27FC236}">
                <a16:creationId xmlns:a16="http://schemas.microsoft.com/office/drawing/2014/main" id="{A3E7FA24-7356-E950-9C57-AF2FB8DD4B78}"/>
              </a:ext>
            </a:extLst>
          </p:cNvPr>
          <p:cNvSpPr txBox="1"/>
          <p:nvPr/>
        </p:nvSpPr>
        <p:spPr>
          <a:xfrm>
            <a:off x="5020056" y="25146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Corrected point prediction, per item, per day</a:t>
            </a:r>
            <a:endParaRPr lang="en-US" sz="1100" dirty="0"/>
          </a:p>
        </p:txBody>
      </p:sp>
      <p:sp>
        <p:nvSpPr>
          <p:cNvPr id="76" name="Shape 24">
            <a:extLst>
              <a:ext uri="{FF2B5EF4-FFF2-40B4-BE49-F238E27FC236}">
                <a16:creationId xmlns:a16="http://schemas.microsoft.com/office/drawing/2014/main" id="{B3E5D2CB-335E-603F-6F21-D52A8B95BFF5}"/>
              </a:ext>
            </a:extLst>
          </p:cNvPr>
          <p:cNvSpPr/>
          <p:nvPr/>
        </p:nvSpPr>
        <p:spPr>
          <a:xfrm>
            <a:off x="6327648" y="2624328"/>
            <a:ext cx="146304" cy="146304"/>
          </a:xfrm>
          <a:prstGeom prst="rightArrow">
            <a:avLst/>
          </a:prstGeom>
          <a:solidFill>
            <a:srgbClr val="9A9A9A"/>
          </a:solidFill>
          <a:ln/>
        </p:spPr>
      </p:sp>
      <p:sp>
        <p:nvSpPr>
          <p:cNvPr id="78" name="Shape 25">
            <a:extLst>
              <a:ext uri="{FF2B5EF4-FFF2-40B4-BE49-F238E27FC236}">
                <a16:creationId xmlns:a16="http://schemas.microsoft.com/office/drawing/2014/main" id="{6FAACCC9-788C-1A85-FF53-DD4C649D7840}"/>
              </a:ext>
            </a:extLst>
          </p:cNvPr>
          <p:cNvSpPr/>
          <p:nvPr/>
        </p:nvSpPr>
        <p:spPr>
          <a:xfrm>
            <a:off x="6492240" y="1965960"/>
            <a:ext cx="1371600" cy="1463040"/>
          </a:xfrm>
          <a:prstGeom prst="rect">
            <a:avLst/>
          </a:prstGeom>
          <a:solidFill>
            <a:srgbClr val="F7F5F4"/>
          </a:solidFill>
          <a:ln/>
          <a:effectLst>
            <a:outerShdw blurRad="50800" dist="25400" dir="5400000" algn="bl" rotWithShape="0">
              <a:srgbClr val="888888">
                <a:alpha val="22000"/>
              </a:srgbClr>
            </a:outerShdw>
          </a:effectLst>
        </p:spPr>
      </p:sp>
      <p:sp>
        <p:nvSpPr>
          <p:cNvPr id="80" name="Text 26">
            <a:extLst>
              <a:ext uri="{FF2B5EF4-FFF2-40B4-BE49-F238E27FC236}">
                <a16:creationId xmlns:a16="http://schemas.microsoft.com/office/drawing/2014/main" id="{E7CF237C-ED06-AEFD-6961-7FC174D50209}"/>
              </a:ext>
            </a:extLst>
          </p:cNvPr>
          <p:cNvSpPr txBox="1"/>
          <p:nvPr/>
        </p:nvSpPr>
        <p:spPr>
          <a:xfrm>
            <a:off x="6574536" y="2029968"/>
            <a:ext cx="1207008" cy="475488"/>
          </a:xfrm>
          <a:prstGeom prst="rect">
            <a:avLst/>
          </a:prstGeom>
          <a:noFill/>
          <a:ln/>
        </p:spPr>
        <p:txBody>
          <a:bodyPr wrap="square" lIns="0" tIns="0" rIns="0" bIns="0" rtlCol="0" anchor="t"/>
          <a:lstStyle/>
          <a:p>
            <a:pPr marL="0" indent="0" algn="l">
              <a:lnSpc>
                <a:spcPct val="100000"/>
              </a:lnSpc>
              <a:buNone/>
            </a:pPr>
            <a:r>
              <a:rPr lang="en-US" sz="1100" b="1" dirty="0">
                <a:solidFill>
                  <a:srgbClr val="2E3B7D"/>
                </a:solidFill>
                <a:latin typeface="Georgia" pitchFamily="34" charset="0"/>
                <a:ea typeface="Georgia" pitchFamily="34" charset="-122"/>
                <a:cs typeface="Georgia" pitchFamily="34" charset="-120"/>
              </a:rPr>
              <a:t>Restock Logic</a:t>
            </a:r>
            <a:endParaRPr lang="en-US" sz="1100" dirty="0"/>
          </a:p>
        </p:txBody>
      </p:sp>
      <p:sp>
        <p:nvSpPr>
          <p:cNvPr id="82" name="Text 27">
            <a:extLst>
              <a:ext uri="{FF2B5EF4-FFF2-40B4-BE49-F238E27FC236}">
                <a16:creationId xmlns:a16="http://schemas.microsoft.com/office/drawing/2014/main" id="{09F56F86-F492-144A-B5E6-9961CC832156}"/>
              </a:ext>
            </a:extLst>
          </p:cNvPr>
          <p:cNvSpPr txBox="1"/>
          <p:nvPr/>
        </p:nvSpPr>
        <p:spPr>
          <a:xfrm>
            <a:off x="6574536" y="25146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Safety-stock buffer + current inventory</a:t>
            </a:r>
            <a:endParaRPr lang="en-US" sz="1100" dirty="0"/>
          </a:p>
        </p:txBody>
      </p:sp>
      <p:sp>
        <p:nvSpPr>
          <p:cNvPr id="84" name="Shape 28">
            <a:extLst>
              <a:ext uri="{FF2B5EF4-FFF2-40B4-BE49-F238E27FC236}">
                <a16:creationId xmlns:a16="http://schemas.microsoft.com/office/drawing/2014/main" id="{E5C7F250-B6C2-E3FB-E6F0-07432CB68CFB}"/>
              </a:ext>
            </a:extLst>
          </p:cNvPr>
          <p:cNvSpPr/>
          <p:nvPr/>
        </p:nvSpPr>
        <p:spPr>
          <a:xfrm>
            <a:off x="7882128" y="2624328"/>
            <a:ext cx="146304" cy="146304"/>
          </a:xfrm>
          <a:prstGeom prst="rightArrow">
            <a:avLst/>
          </a:prstGeom>
          <a:solidFill>
            <a:srgbClr val="9A9A9A"/>
          </a:solidFill>
          <a:ln/>
        </p:spPr>
      </p:sp>
      <p:sp>
        <p:nvSpPr>
          <p:cNvPr id="86" name="Shape 29">
            <a:extLst>
              <a:ext uri="{FF2B5EF4-FFF2-40B4-BE49-F238E27FC236}">
                <a16:creationId xmlns:a16="http://schemas.microsoft.com/office/drawing/2014/main" id="{0812798B-D9D6-84A4-9F2B-7F6D908FCEA9}"/>
              </a:ext>
            </a:extLst>
          </p:cNvPr>
          <p:cNvSpPr/>
          <p:nvPr/>
        </p:nvSpPr>
        <p:spPr>
          <a:xfrm>
            <a:off x="8046720" y="1965960"/>
            <a:ext cx="1371600" cy="1463040"/>
          </a:xfrm>
          <a:prstGeom prst="rect">
            <a:avLst/>
          </a:prstGeom>
          <a:solidFill>
            <a:srgbClr val="BB302C"/>
          </a:solidFill>
          <a:ln/>
          <a:effectLst>
            <a:outerShdw blurRad="50800" dist="25400" dir="5400000" algn="bl" rotWithShape="0">
              <a:srgbClr val="888888">
                <a:alpha val="22000"/>
              </a:srgbClr>
            </a:outerShdw>
          </a:effectLst>
        </p:spPr>
      </p:sp>
      <p:sp>
        <p:nvSpPr>
          <p:cNvPr id="88" name="Text 30">
            <a:extLst>
              <a:ext uri="{FF2B5EF4-FFF2-40B4-BE49-F238E27FC236}">
                <a16:creationId xmlns:a16="http://schemas.microsoft.com/office/drawing/2014/main" id="{3DC96A07-2520-48D9-6E2A-5F9496DC01DE}"/>
              </a:ext>
            </a:extLst>
          </p:cNvPr>
          <p:cNvSpPr txBox="1"/>
          <p:nvPr/>
        </p:nvSpPr>
        <p:spPr>
          <a:xfrm>
            <a:off x="8129016" y="2029968"/>
            <a:ext cx="1301466" cy="475488"/>
          </a:xfrm>
          <a:prstGeom prst="rect">
            <a:avLst/>
          </a:prstGeom>
          <a:noFill/>
          <a:ln/>
        </p:spPr>
        <p:txBody>
          <a:bodyPr wrap="square" lIns="0" tIns="0" rIns="0" bIns="0" rtlCol="0" anchor="t"/>
          <a:lstStyle/>
          <a:p>
            <a:pPr marL="0" indent="0" algn="l">
              <a:lnSpc>
                <a:spcPct val="100000"/>
              </a:lnSpc>
              <a:buNone/>
            </a:pPr>
            <a:r>
              <a:rPr lang="en-US" sz="1100" b="1" dirty="0">
                <a:solidFill>
                  <a:srgbClr val="FFFFFF"/>
                </a:solidFill>
                <a:latin typeface="Georgia" pitchFamily="34" charset="0"/>
                <a:ea typeface="Georgia" pitchFamily="34" charset="-122"/>
                <a:cs typeface="Georgia" pitchFamily="34" charset="-120"/>
              </a:rPr>
              <a:t>Recommendation</a:t>
            </a:r>
            <a:endParaRPr lang="en-US" sz="1100" dirty="0"/>
          </a:p>
        </p:txBody>
      </p:sp>
      <p:sp>
        <p:nvSpPr>
          <p:cNvPr id="90" name="Text 31">
            <a:extLst>
              <a:ext uri="{FF2B5EF4-FFF2-40B4-BE49-F238E27FC236}">
                <a16:creationId xmlns:a16="http://schemas.microsoft.com/office/drawing/2014/main" id="{4FCC0F8E-CF3D-E5C2-7450-8D9CFA4C5A76}"/>
              </a:ext>
            </a:extLst>
          </p:cNvPr>
          <p:cNvSpPr txBox="1"/>
          <p:nvPr/>
        </p:nvSpPr>
        <p:spPr>
          <a:xfrm>
            <a:off x="8129016" y="25146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FFEDEC"/>
                </a:solidFill>
                <a:latin typeface="Georgia" pitchFamily="34" charset="0"/>
                <a:ea typeface="Georgia" pitchFamily="34" charset="-122"/>
                <a:cs typeface="Georgia" pitchFamily="34" charset="-120"/>
              </a:rPr>
              <a:t>e.g. “Order 15 croissants”</a:t>
            </a:r>
            <a:endParaRPr lang="en-US" sz="1100" dirty="0"/>
          </a:p>
        </p:txBody>
      </p:sp>
      <p:sp>
        <p:nvSpPr>
          <p:cNvPr id="92" name="Shape 32">
            <a:extLst>
              <a:ext uri="{FF2B5EF4-FFF2-40B4-BE49-F238E27FC236}">
                <a16:creationId xmlns:a16="http://schemas.microsoft.com/office/drawing/2014/main" id="{4601B186-9331-C3CE-7197-651601DF6970}"/>
              </a:ext>
            </a:extLst>
          </p:cNvPr>
          <p:cNvSpPr/>
          <p:nvPr/>
        </p:nvSpPr>
        <p:spPr>
          <a:xfrm>
            <a:off x="3383280" y="3794760"/>
            <a:ext cx="1371600" cy="1463040"/>
          </a:xfrm>
          <a:prstGeom prst="rect">
            <a:avLst/>
          </a:prstGeom>
          <a:solidFill>
            <a:srgbClr val="F7F5F4"/>
          </a:solidFill>
          <a:ln/>
          <a:effectLst>
            <a:outerShdw blurRad="50800" dist="25400" dir="5400000" algn="bl" rotWithShape="0">
              <a:srgbClr val="888888">
                <a:alpha val="22000"/>
              </a:srgbClr>
            </a:outerShdw>
          </a:effectLst>
        </p:spPr>
      </p:sp>
      <p:sp>
        <p:nvSpPr>
          <p:cNvPr id="94" name="Text 33">
            <a:extLst>
              <a:ext uri="{FF2B5EF4-FFF2-40B4-BE49-F238E27FC236}">
                <a16:creationId xmlns:a16="http://schemas.microsoft.com/office/drawing/2014/main" id="{6140CBBB-9641-6B91-5916-B1F3F96F0641}"/>
              </a:ext>
            </a:extLst>
          </p:cNvPr>
          <p:cNvSpPr txBox="1"/>
          <p:nvPr/>
        </p:nvSpPr>
        <p:spPr>
          <a:xfrm>
            <a:off x="3465576" y="3858768"/>
            <a:ext cx="1207008" cy="475488"/>
          </a:xfrm>
          <a:prstGeom prst="rect">
            <a:avLst/>
          </a:prstGeom>
          <a:noFill/>
          <a:ln/>
        </p:spPr>
        <p:txBody>
          <a:bodyPr wrap="square" lIns="0" tIns="0" rIns="0" bIns="0" rtlCol="0" anchor="t"/>
          <a:lstStyle/>
          <a:p>
            <a:pPr marL="0" indent="0" algn="l">
              <a:lnSpc>
                <a:spcPct val="100000"/>
              </a:lnSpc>
              <a:buNone/>
            </a:pPr>
            <a:r>
              <a:rPr lang="en-US" sz="1100" b="1" dirty="0">
                <a:solidFill>
                  <a:srgbClr val="2E3B7D"/>
                </a:solidFill>
                <a:latin typeface="Georgia" pitchFamily="34" charset="0"/>
                <a:ea typeface="Georgia" pitchFamily="34" charset="-122"/>
                <a:cs typeface="Georgia" pitchFamily="34" charset="-120"/>
              </a:rPr>
              <a:t>Inventory Aging Check</a:t>
            </a:r>
            <a:endParaRPr lang="en-US" sz="1100" dirty="0"/>
          </a:p>
        </p:txBody>
      </p:sp>
      <p:sp>
        <p:nvSpPr>
          <p:cNvPr id="96" name="Text 34">
            <a:extLst>
              <a:ext uri="{FF2B5EF4-FFF2-40B4-BE49-F238E27FC236}">
                <a16:creationId xmlns:a16="http://schemas.microsoft.com/office/drawing/2014/main" id="{D01B6B34-DD54-30D8-FAAC-A9137D32B619}"/>
              </a:ext>
            </a:extLst>
          </p:cNvPr>
          <p:cNvSpPr txBox="1"/>
          <p:nvPr/>
        </p:nvSpPr>
        <p:spPr>
          <a:xfrm>
            <a:off x="3465576" y="43434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Flags stock nearing sell-by or low turnover</a:t>
            </a:r>
            <a:endParaRPr lang="en-US" sz="1100" dirty="0"/>
          </a:p>
        </p:txBody>
      </p:sp>
      <p:sp>
        <p:nvSpPr>
          <p:cNvPr id="98" name="Shape 35">
            <a:extLst>
              <a:ext uri="{FF2B5EF4-FFF2-40B4-BE49-F238E27FC236}">
                <a16:creationId xmlns:a16="http://schemas.microsoft.com/office/drawing/2014/main" id="{D43EC5D9-67BF-4AC8-5554-FF38D697FF98}"/>
              </a:ext>
            </a:extLst>
          </p:cNvPr>
          <p:cNvSpPr/>
          <p:nvPr/>
        </p:nvSpPr>
        <p:spPr>
          <a:xfrm>
            <a:off x="4773168" y="4453128"/>
            <a:ext cx="146304" cy="146304"/>
          </a:xfrm>
          <a:prstGeom prst="rightArrow">
            <a:avLst/>
          </a:prstGeom>
          <a:solidFill>
            <a:srgbClr val="9A9A9A"/>
          </a:solidFill>
          <a:ln/>
        </p:spPr>
      </p:sp>
      <p:sp>
        <p:nvSpPr>
          <p:cNvPr id="100" name="Shape 36">
            <a:extLst>
              <a:ext uri="{FF2B5EF4-FFF2-40B4-BE49-F238E27FC236}">
                <a16:creationId xmlns:a16="http://schemas.microsoft.com/office/drawing/2014/main" id="{B40FA1B5-5BAF-EB08-6DA8-F5AB82EBF708}"/>
              </a:ext>
            </a:extLst>
          </p:cNvPr>
          <p:cNvSpPr/>
          <p:nvPr/>
        </p:nvSpPr>
        <p:spPr>
          <a:xfrm>
            <a:off x="4937760" y="3794760"/>
            <a:ext cx="1371600" cy="1463040"/>
          </a:xfrm>
          <a:prstGeom prst="rect">
            <a:avLst/>
          </a:prstGeom>
          <a:solidFill>
            <a:srgbClr val="F7F5F4"/>
          </a:solidFill>
          <a:ln/>
          <a:effectLst>
            <a:outerShdw blurRad="50800" dist="25400" dir="5400000" algn="bl" rotWithShape="0">
              <a:srgbClr val="888888">
                <a:alpha val="22000"/>
              </a:srgbClr>
            </a:outerShdw>
          </a:effectLst>
        </p:spPr>
      </p:sp>
      <p:sp>
        <p:nvSpPr>
          <p:cNvPr id="102" name="Text 37">
            <a:extLst>
              <a:ext uri="{FF2B5EF4-FFF2-40B4-BE49-F238E27FC236}">
                <a16:creationId xmlns:a16="http://schemas.microsoft.com/office/drawing/2014/main" id="{D27524A6-BDC1-40FE-AA3B-C451E273C668}"/>
              </a:ext>
            </a:extLst>
          </p:cNvPr>
          <p:cNvSpPr txBox="1"/>
          <p:nvPr/>
        </p:nvSpPr>
        <p:spPr>
          <a:xfrm>
            <a:off x="5020056" y="3858768"/>
            <a:ext cx="1207008" cy="475488"/>
          </a:xfrm>
          <a:prstGeom prst="rect">
            <a:avLst/>
          </a:prstGeom>
          <a:noFill/>
          <a:ln/>
        </p:spPr>
        <p:txBody>
          <a:bodyPr wrap="square" lIns="0" tIns="0" rIns="0" bIns="0" rtlCol="0" anchor="t"/>
          <a:lstStyle/>
          <a:p>
            <a:pPr marL="0" indent="0" algn="l">
              <a:lnSpc>
                <a:spcPct val="100000"/>
              </a:lnSpc>
              <a:buNone/>
            </a:pPr>
            <a:r>
              <a:rPr lang="en-US" sz="1100" b="1" dirty="0">
                <a:solidFill>
                  <a:srgbClr val="2E3B7D"/>
                </a:solidFill>
                <a:latin typeface="Georgia" pitchFamily="34" charset="0"/>
                <a:ea typeface="Georgia" pitchFamily="34" charset="-122"/>
                <a:cs typeface="Georgia" pitchFamily="34" charset="-120"/>
              </a:rPr>
              <a:t>Waste Action Engine</a:t>
            </a:r>
            <a:endParaRPr lang="en-US" sz="1100" dirty="0"/>
          </a:p>
        </p:txBody>
      </p:sp>
      <p:sp>
        <p:nvSpPr>
          <p:cNvPr id="104" name="Text 38">
            <a:extLst>
              <a:ext uri="{FF2B5EF4-FFF2-40B4-BE49-F238E27FC236}">
                <a16:creationId xmlns:a16="http://schemas.microsoft.com/office/drawing/2014/main" id="{980DA04C-7CEF-D530-7A08-F79FCEE15401}"/>
              </a:ext>
            </a:extLst>
          </p:cNvPr>
          <p:cNvSpPr txBox="1"/>
          <p:nvPr/>
        </p:nvSpPr>
        <p:spPr>
          <a:xfrm>
            <a:off x="5020056" y="43434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Uses price-elasticity data to size the discount</a:t>
            </a:r>
            <a:endParaRPr lang="en-US" sz="1100" dirty="0"/>
          </a:p>
        </p:txBody>
      </p:sp>
      <p:sp>
        <p:nvSpPr>
          <p:cNvPr id="106" name="Shape 39">
            <a:extLst>
              <a:ext uri="{FF2B5EF4-FFF2-40B4-BE49-F238E27FC236}">
                <a16:creationId xmlns:a16="http://schemas.microsoft.com/office/drawing/2014/main" id="{15BF11B7-844F-B6F3-68A8-A1B40662BC07}"/>
              </a:ext>
            </a:extLst>
          </p:cNvPr>
          <p:cNvSpPr/>
          <p:nvPr/>
        </p:nvSpPr>
        <p:spPr>
          <a:xfrm>
            <a:off x="6327648" y="4453128"/>
            <a:ext cx="146304" cy="146304"/>
          </a:xfrm>
          <a:prstGeom prst="rightArrow">
            <a:avLst/>
          </a:prstGeom>
          <a:solidFill>
            <a:srgbClr val="9A9A9A"/>
          </a:solidFill>
          <a:ln/>
        </p:spPr>
      </p:sp>
      <p:sp>
        <p:nvSpPr>
          <p:cNvPr id="108" name="Shape 40">
            <a:extLst>
              <a:ext uri="{FF2B5EF4-FFF2-40B4-BE49-F238E27FC236}">
                <a16:creationId xmlns:a16="http://schemas.microsoft.com/office/drawing/2014/main" id="{F66776AA-187F-3407-A075-3AB97EF654BB}"/>
              </a:ext>
            </a:extLst>
          </p:cNvPr>
          <p:cNvSpPr/>
          <p:nvPr/>
        </p:nvSpPr>
        <p:spPr>
          <a:xfrm>
            <a:off x="6492240" y="3794760"/>
            <a:ext cx="1371600" cy="1463040"/>
          </a:xfrm>
          <a:prstGeom prst="rect">
            <a:avLst/>
          </a:prstGeom>
          <a:solidFill>
            <a:srgbClr val="BB302C"/>
          </a:solidFill>
          <a:ln/>
          <a:effectLst>
            <a:outerShdw blurRad="50800" dist="25400" dir="5400000" algn="bl" rotWithShape="0">
              <a:srgbClr val="888888">
                <a:alpha val="22000"/>
              </a:srgbClr>
            </a:outerShdw>
          </a:effectLst>
        </p:spPr>
      </p:sp>
      <p:sp>
        <p:nvSpPr>
          <p:cNvPr id="110" name="Text 41">
            <a:extLst>
              <a:ext uri="{FF2B5EF4-FFF2-40B4-BE49-F238E27FC236}">
                <a16:creationId xmlns:a16="http://schemas.microsoft.com/office/drawing/2014/main" id="{79A47FD7-4425-3BE0-D384-6B3DFB697E52}"/>
              </a:ext>
            </a:extLst>
          </p:cNvPr>
          <p:cNvSpPr txBox="1"/>
          <p:nvPr/>
        </p:nvSpPr>
        <p:spPr>
          <a:xfrm>
            <a:off x="6574536" y="3858768"/>
            <a:ext cx="1207008" cy="475488"/>
          </a:xfrm>
          <a:prstGeom prst="rect">
            <a:avLst/>
          </a:prstGeom>
          <a:noFill/>
          <a:ln/>
        </p:spPr>
        <p:txBody>
          <a:bodyPr wrap="square" lIns="0" tIns="0" rIns="0" bIns="0" rtlCol="0" anchor="t"/>
          <a:lstStyle/>
          <a:p>
            <a:pPr marL="0" indent="0" algn="l">
              <a:lnSpc>
                <a:spcPct val="100000"/>
              </a:lnSpc>
              <a:buNone/>
            </a:pPr>
            <a:r>
              <a:rPr lang="en-US" sz="1100" b="1" dirty="0">
                <a:solidFill>
                  <a:srgbClr val="FFFFFF"/>
                </a:solidFill>
                <a:latin typeface="Georgia" pitchFamily="34" charset="0"/>
                <a:ea typeface="Georgia" pitchFamily="34" charset="-122"/>
                <a:cs typeface="Georgia" pitchFamily="34" charset="-120"/>
              </a:rPr>
              <a:t>Waste Action</a:t>
            </a:r>
            <a:endParaRPr lang="en-US" sz="1100" dirty="0"/>
          </a:p>
        </p:txBody>
      </p:sp>
      <p:sp>
        <p:nvSpPr>
          <p:cNvPr id="112" name="Text 42">
            <a:extLst>
              <a:ext uri="{FF2B5EF4-FFF2-40B4-BE49-F238E27FC236}">
                <a16:creationId xmlns:a16="http://schemas.microsoft.com/office/drawing/2014/main" id="{A2132B71-808E-0948-C18B-E0806CE14653}"/>
              </a:ext>
            </a:extLst>
          </p:cNvPr>
          <p:cNvSpPr txBox="1"/>
          <p:nvPr/>
        </p:nvSpPr>
        <p:spPr>
          <a:xfrm>
            <a:off x="6574536" y="43434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FFEDEC"/>
                </a:solidFill>
                <a:latin typeface="Georgia" pitchFamily="34" charset="0"/>
                <a:ea typeface="Georgia" pitchFamily="34" charset="-122"/>
                <a:cs typeface="Georgia" pitchFamily="34" charset="-120"/>
              </a:rPr>
              <a:t>e.g. “Mark down 8 croissants 30% today”</a:t>
            </a:r>
            <a:endParaRPr lang="en-US" sz="1100" dirty="0"/>
          </a:p>
        </p:txBody>
      </p:sp>
      <p:sp>
        <p:nvSpPr>
          <p:cNvPr id="114" name="Shape 43">
            <a:extLst>
              <a:ext uri="{FF2B5EF4-FFF2-40B4-BE49-F238E27FC236}">
                <a16:creationId xmlns:a16="http://schemas.microsoft.com/office/drawing/2014/main" id="{EA7ACB55-B1EC-6201-6DC7-A1773AED248C}"/>
              </a:ext>
            </a:extLst>
          </p:cNvPr>
          <p:cNvSpPr/>
          <p:nvPr/>
        </p:nvSpPr>
        <p:spPr>
          <a:xfrm>
            <a:off x="5550408" y="3474720"/>
            <a:ext cx="146304" cy="256032"/>
          </a:xfrm>
          <a:prstGeom prst="downArrow">
            <a:avLst/>
          </a:prstGeom>
          <a:solidFill>
            <a:srgbClr val="9A9A9A"/>
          </a:solidFill>
          <a:ln/>
        </p:spPr>
      </p:sp>
      <p:sp>
        <p:nvSpPr>
          <p:cNvPr id="116" name="Shape 44">
            <a:extLst>
              <a:ext uri="{FF2B5EF4-FFF2-40B4-BE49-F238E27FC236}">
                <a16:creationId xmlns:a16="http://schemas.microsoft.com/office/drawing/2014/main" id="{025C99CE-8C0D-E3AA-DF80-E7A82E8A7B43}"/>
              </a:ext>
            </a:extLst>
          </p:cNvPr>
          <p:cNvSpPr/>
          <p:nvPr/>
        </p:nvSpPr>
        <p:spPr>
          <a:xfrm>
            <a:off x="4846320" y="3456432"/>
            <a:ext cx="1554480" cy="219456"/>
          </a:xfrm>
          <a:prstGeom prst="roundRect">
            <a:avLst>
              <a:gd name="adj" fmla="val 20833"/>
            </a:avLst>
          </a:prstGeom>
          <a:solidFill>
            <a:srgbClr val="BB302C"/>
          </a:solidFill>
          <a:ln/>
        </p:spPr>
      </p:sp>
      <p:sp>
        <p:nvSpPr>
          <p:cNvPr id="118" name="Text 45">
            <a:extLst>
              <a:ext uri="{FF2B5EF4-FFF2-40B4-BE49-F238E27FC236}">
                <a16:creationId xmlns:a16="http://schemas.microsoft.com/office/drawing/2014/main" id="{B05A4C98-4FDF-8500-240F-0BEEBFF76DAD}"/>
              </a:ext>
            </a:extLst>
          </p:cNvPr>
          <p:cNvSpPr txBox="1"/>
          <p:nvPr/>
        </p:nvSpPr>
        <p:spPr>
          <a:xfrm>
            <a:off x="4846320" y="3447288"/>
            <a:ext cx="1554480" cy="219456"/>
          </a:xfrm>
          <a:prstGeom prst="rect">
            <a:avLst/>
          </a:prstGeom>
          <a:noFill/>
          <a:ln/>
        </p:spPr>
        <p:txBody>
          <a:bodyPr wrap="square" lIns="0" tIns="0" rIns="0" bIns="0" rtlCol="0" anchor="ctr"/>
          <a:lstStyle/>
          <a:p>
            <a:pPr marL="0" indent="0" algn="ctr">
              <a:buNone/>
            </a:pPr>
            <a:r>
              <a:rPr lang="en-US" sz="1050" b="1" dirty="0">
                <a:solidFill>
                  <a:srgbClr val="FFFFFF"/>
                </a:solidFill>
                <a:latin typeface="Georgia" pitchFamily="34" charset="0"/>
                <a:ea typeface="Georgia" pitchFamily="34" charset="-122"/>
                <a:cs typeface="Georgia" pitchFamily="34" charset="-120"/>
              </a:rPr>
              <a:t>NEW — WASTE PATH</a:t>
            </a:r>
            <a:endParaRPr lang="en-US" sz="1050" dirty="0"/>
          </a:p>
        </p:txBody>
      </p:sp>
      <p:sp>
        <p:nvSpPr>
          <p:cNvPr id="120" name="Shape 46">
            <a:extLst>
              <a:ext uri="{FF2B5EF4-FFF2-40B4-BE49-F238E27FC236}">
                <a16:creationId xmlns:a16="http://schemas.microsoft.com/office/drawing/2014/main" id="{4A970EE6-65C1-F470-B065-A7CE2B402BE2}"/>
              </a:ext>
            </a:extLst>
          </p:cNvPr>
          <p:cNvSpPr/>
          <p:nvPr/>
        </p:nvSpPr>
        <p:spPr>
          <a:xfrm>
            <a:off x="274320" y="5477256"/>
            <a:ext cx="9357330" cy="713232"/>
          </a:xfrm>
          <a:prstGeom prst="rect">
            <a:avLst/>
          </a:prstGeom>
          <a:solidFill>
            <a:srgbClr val="2E3B7D"/>
          </a:solidFill>
          <a:ln/>
          <a:effectLst>
            <a:outerShdw blurRad="50800" dist="25400" dir="5400000" algn="bl" rotWithShape="0">
              <a:srgbClr val="888888">
                <a:alpha val="25000"/>
              </a:srgbClr>
            </a:outerShdw>
          </a:effectLst>
        </p:spPr>
      </p:sp>
      <p:sp>
        <p:nvSpPr>
          <p:cNvPr id="122" name="Text 47">
            <a:extLst>
              <a:ext uri="{FF2B5EF4-FFF2-40B4-BE49-F238E27FC236}">
                <a16:creationId xmlns:a16="http://schemas.microsoft.com/office/drawing/2014/main" id="{729FDD5E-27F6-416A-77D8-14CAD96BDAAE}"/>
              </a:ext>
            </a:extLst>
          </p:cNvPr>
          <p:cNvSpPr txBox="1"/>
          <p:nvPr/>
        </p:nvSpPr>
        <p:spPr>
          <a:xfrm>
            <a:off x="475488" y="5477256"/>
            <a:ext cx="8954994" cy="713232"/>
          </a:xfrm>
          <a:prstGeom prst="rect">
            <a:avLst/>
          </a:prstGeom>
          <a:noFill/>
          <a:ln/>
        </p:spPr>
        <p:txBody>
          <a:bodyPr wrap="square" lIns="0" tIns="0" rIns="0" bIns="0" rtlCol="0" anchor="ctr"/>
          <a:lstStyle/>
          <a:p>
            <a:pPr marL="0" indent="0" algn="l">
              <a:lnSpc>
                <a:spcPct val="110000"/>
              </a:lnSpc>
              <a:buNone/>
            </a:pPr>
            <a:r>
              <a:rPr lang="en-US" sz="1250" b="1" dirty="0">
                <a:solidFill>
                  <a:srgbClr val="FFFFFF"/>
                </a:solidFill>
                <a:latin typeface="Georgia" pitchFamily="34" charset="0"/>
                <a:ea typeface="Georgia" pitchFamily="34" charset="-122"/>
                <a:cs typeface="Georgia" pitchFamily="34" charset="-120"/>
              </a:rPr>
              <a:t>Forecast Narrator (LLM)   </a:t>
            </a:r>
            <a:r>
              <a:rPr lang="en-US" sz="1050" dirty="0">
                <a:solidFill>
                  <a:srgbClr val="E4E8F5"/>
                </a:solidFill>
                <a:latin typeface="Georgia" pitchFamily="34" charset="0"/>
                <a:ea typeface="Georgia" pitchFamily="34" charset="-122"/>
                <a:cs typeface="Georgia" pitchFamily="34" charset="-120"/>
              </a:rPr>
              <a:t>Translates the restock quantity and the waste action into plain-language advice for a non-technical owner — narration only, never touches the forecasting math.</a:t>
            </a:r>
            <a:endParaRPr lang="en-US" sz="1250" dirty="0"/>
          </a:p>
        </p:txBody>
      </p:sp>
      <p:sp>
        <p:nvSpPr>
          <p:cNvPr id="124" name="Shape 48">
            <a:extLst>
              <a:ext uri="{FF2B5EF4-FFF2-40B4-BE49-F238E27FC236}">
                <a16:creationId xmlns:a16="http://schemas.microsoft.com/office/drawing/2014/main" id="{B4C79E3C-4BD7-F1B2-1ACF-2102E2A5E48D}"/>
              </a:ext>
            </a:extLst>
          </p:cNvPr>
          <p:cNvSpPr/>
          <p:nvPr/>
        </p:nvSpPr>
        <p:spPr>
          <a:xfrm>
            <a:off x="8659368" y="3474720"/>
            <a:ext cx="146304" cy="1993392"/>
          </a:xfrm>
          <a:prstGeom prst="downArrow">
            <a:avLst/>
          </a:prstGeom>
          <a:solidFill>
            <a:srgbClr val="9A9A9A"/>
          </a:solidFill>
          <a:ln/>
        </p:spPr>
      </p:sp>
      <p:sp>
        <p:nvSpPr>
          <p:cNvPr id="126" name="Shape 49">
            <a:extLst>
              <a:ext uri="{FF2B5EF4-FFF2-40B4-BE49-F238E27FC236}">
                <a16:creationId xmlns:a16="http://schemas.microsoft.com/office/drawing/2014/main" id="{B9BE8EAE-2700-8660-35D0-09E65ECBDFFD}"/>
              </a:ext>
            </a:extLst>
          </p:cNvPr>
          <p:cNvSpPr/>
          <p:nvPr/>
        </p:nvSpPr>
        <p:spPr>
          <a:xfrm>
            <a:off x="7104888" y="5303520"/>
            <a:ext cx="146304" cy="164592"/>
          </a:xfrm>
          <a:prstGeom prst="downArrow">
            <a:avLst/>
          </a:prstGeom>
          <a:solidFill>
            <a:srgbClr val="9A9A9A"/>
          </a:solidFill>
          <a:ln/>
        </p:spPr>
      </p:sp>
    </p:spTree>
    <p:extLst>
      <p:ext uri="{BB962C8B-B14F-4D97-AF65-F5344CB8AC3E}">
        <p14:creationId xmlns:p14="http://schemas.microsoft.com/office/powerpoint/2010/main" val="206626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7</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p:cNvSpPr txBox="1"/>
          <p:nvPr/>
        </p:nvSpPr>
        <p:spPr>
          <a:xfrm>
            <a:off x="155575" y="1389184"/>
            <a:ext cx="2212401" cy="369332"/>
          </a:xfrm>
          <a:prstGeom prst="rect">
            <a:avLst/>
          </a:prstGeom>
          <a:noFill/>
        </p:spPr>
        <p:txBody>
          <a:bodyPr wrap="none" rtlCol="0">
            <a:spAutoFit/>
          </a:bodyPr>
          <a:lstStyle/>
          <a:p>
            <a:r>
              <a:rPr lang="en-US" dirty="0"/>
              <a:t>Requirement Analysis</a:t>
            </a:r>
          </a:p>
        </p:txBody>
      </p:sp>
      <p:sp>
        <p:nvSpPr>
          <p:cNvPr id="12" name="TextBox 11"/>
          <p:cNvSpPr txBox="1"/>
          <p:nvPr/>
        </p:nvSpPr>
        <p:spPr>
          <a:xfrm>
            <a:off x="3279207" y="574510"/>
            <a:ext cx="2511906" cy="369332"/>
          </a:xfrm>
          <a:prstGeom prst="rect">
            <a:avLst/>
          </a:prstGeom>
          <a:noFill/>
        </p:spPr>
        <p:txBody>
          <a:bodyPr wrap="none" rtlCol="0">
            <a:spAutoFit/>
          </a:bodyPr>
          <a:lstStyle/>
          <a:p>
            <a:r>
              <a:rPr lang="en-US" dirty="0"/>
              <a:t>Object-Oriented Analysis</a:t>
            </a:r>
          </a:p>
        </p:txBody>
      </p:sp>
      <p:sp>
        <p:nvSpPr>
          <p:cNvPr id="5" name="TextBox 4"/>
          <p:cNvSpPr txBox="1"/>
          <p:nvPr/>
        </p:nvSpPr>
        <p:spPr>
          <a:xfrm>
            <a:off x="155575" y="1684901"/>
            <a:ext cx="6160597" cy="4247317"/>
          </a:xfrm>
          <a:prstGeom prst="rect">
            <a:avLst/>
          </a:prstGeom>
          <a:noFill/>
        </p:spPr>
        <p:txBody>
          <a:bodyPr wrap="none" rtlCol="0">
            <a:spAutoFit/>
          </a:bodyPr>
          <a:lstStyle/>
          <a:p>
            <a:r>
              <a:rPr lang="en-US" b="1" dirty="0"/>
              <a:t>User Requirement</a:t>
            </a:r>
          </a:p>
          <a:p>
            <a:r>
              <a:rPr lang="en-US" dirty="0"/>
              <a:t>The system should allow a small food-business owner to:</a:t>
            </a:r>
          </a:p>
          <a:p>
            <a:pPr marL="285750" indent="-285750">
              <a:buFont typeface="Arial" panose="020B0604020202020204" pitchFamily="34" charset="0"/>
              <a:buChar char="•"/>
            </a:pPr>
            <a:r>
              <a:rPr lang="en-US" dirty="0"/>
              <a:t>Register/login. </a:t>
            </a:r>
          </a:p>
          <a:p>
            <a:pPr marL="285750" indent="-285750">
              <a:buFont typeface="Arial" panose="020B0604020202020204" pitchFamily="34" charset="0"/>
              <a:buChar char="•"/>
            </a:pPr>
            <a:r>
              <a:rPr lang="en-US" dirty="0"/>
              <a:t>Create/manage shop information. </a:t>
            </a:r>
          </a:p>
          <a:p>
            <a:pPr marL="285750" indent="-285750">
              <a:buFont typeface="Arial" panose="020B0604020202020204" pitchFamily="34" charset="0"/>
              <a:buChar char="•"/>
            </a:pPr>
            <a:r>
              <a:rPr lang="en-US" dirty="0"/>
              <a:t>Upload or enter historical sales data. </a:t>
            </a:r>
          </a:p>
          <a:p>
            <a:pPr marL="285750" indent="-285750">
              <a:buFont typeface="Arial" panose="020B0604020202020204" pitchFamily="34" charset="0"/>
              <a:buChar char="•"/>
            </a:pPr>
            <a:r>
              <a:rPr lang="en-US" dirty="0"/>
              <a:t>Maintain current inventory. </a:t>
            </a:r>
          </a:p>
          <a:p>
            <a:pPr marL="285750" indent="-285750">
              <a:buFont typeface="Arial" panose="020B0604020202020204" pitchFamily="34" charset="0"/>
              <a:buChar char="•"/>
            </a:pPr>
            <a:r>
              <a:rPr lang="en-US" dirty="0"/>
              <a:t>Select food items. </a:t>
            </a:r>
          </a:p>
          <a:p>
            <a:pPr marL="285750" indent="-285750">
              <a:buFont typeface="Arial" panose="020B0604020202020204" pitchFamily="34" charset="0"/>
              <a:buChar char="•"/>
            </a:pPr>
            <a:r>
              <a:rPr lang="en-US" dirty="0"/>
              <a:t>Generate demand forecasts. </a:t>
            </a:r>
          </a:p>
          <a:p>
            <a:pPr marL="285750" indent="-285750">
              <a:buFont typeface="Arial" panose="020B0604020202020204" pitchFamily="34" charset="0"/>
              <a:buChar char="•"/>
            </a:pPr>
            <a:r>
              <a:rPr lang="en-US" dirty="0"/>
              <a:t>View predicted demand. </a:t>
            </a:r>
          </a:p>
          <a:p>
            <a:pPr marL="285750" indent="-285750">
              <a:buFont typeface="Arial" panose="020B0604020202020204" pitchFamily="34" charset="0"/>
              <a:buChar char="•"/>
            </a:pPr>
            <a:r>
              <a:rPr lang="en-US" dirty="0"/>
              <a:t>Receive restock recommendations. </a:t>
            </a:r>
          </a:p>
          <a:p>
            <a:pPr marL="285750" indent="-285750">
              <a:buFont typeface="Arial" panose="020B0604020202020204" pitchFamily="34" charset="0"/>
              <a:buChar char="•"/>
            </a:pPr>
            <a:r>
              <a:rPr lang="en-US" dirty="0"/>
              <a:t>Understand recommendations through simple explanations. </a:t>
            </a:r>
          </a:p>
          <a:p>
            <a:pPr marL="285750" indent="-285750">
              <a:buFont typeface="Arial" panose="020B0604020202020204" pitchFamily="34" charset="0"/>
              <a:buChar char="•"/>
            </a:pPr>
            <a:r>
              <a:rPr lang="en-US" dirty="0"/>
              <a:t>View historical forecasting/inventory information. </a:t>
            </a:r>
          </a:p>
          <a:p>
            <a:r>
              <a:rPr lang="en-US" b="1" dirty="0"/>
              <a:t>Main User</a:t>
            </a:r>
          </a:p>
          <a:p>
            <a:r>
              <a:rPr lang="en-US" dirty="0"/>
              <a:t>Business Owner</a:t>
            </a:r>
          </a:p>
          <a:p>
            <a:endParaRPr lang="en-US" dirty="0"/>
          </a:p>
        </p:txBody>
      </p:sp>
    </p:spTree>
    <p:extLst>
      <p:ext uri="{BB962C8B-B14F-4D97-AF65-F5344CB8AC3E}">
        <p14:creationId xmlns:p14="http://schemas.microsoft.com/office/powerpoint/2010/main" val="617264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8</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5" name="Table 4"/>
          <p:cNvGraphicFramePr>
            <a:graphicFrameLocks noGrp="1"/>
          </p:cNvGraphicFramePr>
          <p:nvPr>
            <p:extLst>
              <p:ext uri="{D42A27DB-BD31-4B8C-83A1-F6EECF244321}">
                <p14:modId xmlns:p14="http://schemas.microsoft.com/office/powerpoint/2010/main" val="1944539046"/>
              </p:ext>
            </p:extLst>
          </p:nvPr>
        </p:nvGraphicFramePr>
        <p:xfrm>
          <a:off x="527538" y="1046798"/>
          <a:ext cx="8554916" cy="5395137"/>
        </p:xfrm>
        <a:graphic>
          <a:graphicData uri="http://schemas.openxmlformats.org/drawingml/2006/table">
            <a:tbl>
              <a:tblPr/>
              <a:tblGrid>
                <a:gridCol w="4277458">
                  <a:extLst>
                    <a:ext uri="{9D8B030D-6E8A-4147-A177-3AD203B41FA5}">
                      <a16:colId xmlns:a16="http://schemas.microsoft.com/office/drawing/2014/main" val="2912522111"/>
                    </a:ext>
                  </a:extLst>
                </a:gridCol>
                <a:gridCol w="4277458">
                  <a:extLst>
                    <a:ext uri="{9D8B030D-6E8A-4147-A177-3AD203B41FA5}">
                      <a16:colId xmlns:a16="http://schemas.microsoft.com/office/drawing/2014/main" val="1025232568"/>
                    </a:ext>
                  </a:extLst>
                </a:gridCol>
              </a:tblGrid>
              <a:tr h="298144">
                <a:tc>
                  <a:txBody>
                    <a:bodyPr/>
                    <a:lstStyle/>
                    <a:p>
                      <a:r>
                        <a:rPr lang="en-US" sz="1600" b="1" dirty="0"/>
                        <a:t>Functional Requirements</a:t>
                      </a:r>
                      <a:endParaRPr lang="en-US" sz="1600" dirty="0"/>
                    </a:p>
                  </a:txBody>
                  <a:tcPr marL="63063" marR="63063" marT="31531" marB="31531" anchor="ctr">
                    <a:lnL>
                      <a:noFill/>
                    </a:lnL>
                    <a:lnR>
                      <a:noFill/>
                    </a:lnR>
                    <a:lnT>
                      <a:noFill/>
                    </a:lnT>
                    <a:lnB>
                      <a:noFill/>
                    </a:lnB>
                  </a:tcPr>
                </a:tc>
                <a:tc>
                  <a:txBody>
                    <a:bodyPr/>
                    <a:lstStyle/>
                    <a:p>
                      <a:r>
                        <a:rPr lang="en-US" sz="1600" b="1" dirty="0"/>
                        <a:t>Non-Functional Requirements</a:t>
                      </a:r>
                      <a:endParaRPr lang="en-US" sz="1600" dirty="0"/>
                    </a:p>
                  </a:txBody>
                  <a:tcPr marL="63063" marR="63063" marT="31531" marB="31531" anchor="ctr">
                    <a:lnL>
                      <a:noFill/>
                    </a:lnL>
                    <a:lnR>
                      <a:noFill/>
                    </a:lnR>
                    <a:lnT>
                      <a:noFill/>
                    </a:lnT>
                    <a:lnB>
                      <a:noFill/>
                    </a:lnB>
                  </a:tcPr>
                </a:tc>
                <a:extLst>
                  <a:ext uri="{0D108BD9-81ED-4DB2-BD59-A6C34878D82A}">
                    <a16:rowId xmlns:a16="http://schemas.microsoft.com/office/drawing/2014/main" val="2778337682"/>
                  </a:ext>
                </a:extLst>
              </a:tr>
              <a:tr h="745361">
                <a:tc>
                  <a:txBody>
                    <a:bodyPr/>
                    <a:lstStyle/>
                    <a:p>
                      <a:r>
                        <a:rPr lang="en-US" sz="1600" b="1" dirty="0"/>
                        <a:t>FR1 – User Authentication:</a:t>
                      </a:r>
                      <a:r>
                        <a:rPr lang="en-US" sz="1600" dirty="0"/>
                        <a:t> Register and securely log in.</a:t>
                      </a:r>
                    </a:p>
                  </a:txBody>
                  <a:tcPr marL="63063" marR="63063" marT="31531" marB="31531" anchor="ctr">
                    <a:lnL>
                      <a:noFill/>
                    </a:lnL>
                    <a:lnR>
                      <a:noFill/>
                    </a:lnR>
                    <a:lnT>
                      <a:noFill/>
                    </a:lnT>
                    <a:lnB>
                      <a:noFill/>
                    </a:lnB>
                  </a:tcPr>
                </a:tc>
                <a:tc>
                  <a:txBody>
                    <a:bodyPr/>
                    <a:lstStyle/>
                    <a:p>
                      <a:r>
                        <a:rPr lang="en-US" sz="1600" b="1" dirty="0"/>
                        <a:t>Performance:</a:t>
                      </a:r>
                      <a:r>
                        <a:rPr lang="en-US" sz="1600" dirty="0"/>
                        <a:t> Forecast generation should complete within a reasonable response time.</a:t>
                      </a:r>
                    </a:p>
                  </a:txBody>
                  <a:tcPr marL="63063" marR="63063" marT="31531" marB="31531" anchor="ctr">
                    <a:lnL>
                      <a:noFill/>
                    </a:lnL>
                    <a:lnR>
                      <a:noFill/>
                    </a:lnR>
                    <a:lnT>
                      <a:noFill/>
                    </a:lnT>
                    <a:lnB>
                      <a:noFill/>
                    </a:lnB>
                  </a:tcPr>
                </a:tc>
                <a:extLst>
                  <a:ext uri="{0D108BD9-81ED-4DB2-BD59-A6C34878D82A}">
                    <a16:rowId xmlns:a16="http://schemas.microsoft.com/office/drawing/2014/main" val="3628053370"/>
                  </a:ext>
                </a:extLst>
              </a:tr>
              <a:tr h="521752">
                <a:tc>
                  <a:txBody>
                    <a:bodyPr/>
                    <a:lstStyle/>
                    <a:p>
                      <a:r>
                        <a:rPr lang="en-US" sz="1600" b="1" dirty="0"/>
                        <a:t>FR2 – Shop Management:</a:t>
                      </a:r>
                      <a:r>
                        <a:rPr lang="en-US" sz="1600" dirty="0"/>
                        <a:t> Create and manage shop information.</a:t>
                      </a:r>
                    </a:p>
                  </a:txBody>
                  <a:tcPr marL="63063" marR="63063" marT="31531" marB="31531" anchor="ctr">
                    <a:lnL>
                      <a:noFill/>
                    </a:lnL>
                    <a:lnR>
                      <a:noFill/>
                    </a:lnR>
                    <a:lnT>
                      <a:noFill/>
                    </a:lnT>
                    <a:lnB>
                      <a:noFill/>
                    </a:lnB>
                  </a:tcPr>
                </a:tc>
                <a:tc>
                  <a:txBody>
                    <a:bodyPr/>
                    <a:lstStyle/>
                    <a:p>
                      <a:r>
                        <a:rPr lang="en-US" sz="1600" b="1"/>
                        <a:t>Usability:</a:t>
                      </a:r>
                      <a:r>
                        <a:rPr lang="en-US" sz="1600"/>
                        <a:t> Simple and easy to use for non-technical business owners.</a:t>
                      </a:r>
                    </a:p>
                  </a:txBody>
                  <a:tcPr marL="63063" marR="63063" marT="31531" marB="31531" anchor="ctr">
                    <a:lnL>
                      <a:noFill/>
                    </a:lnL>
                    <a:lnR>
                      <a:noFill/>
                    </a:lnR>
                    <a:lnT>
                      <a:noFill/>
                    </a:lnT>
                    <a:lnB>
                      <a:noFill/>
                    </a:lnB>
                  </a:tcPr>
                </a:tc>
                <a:extLst>
                  <a:ext uri="{0D108BD9-81ED-4DB2-BD59-A6C34878D82A}">
                    <a16:rowId xmlns:a16="http://schemas.microsoft.com/office/drawing/2014/main" val="3631664730"/>
                  </a:ext>
                </a:extLst>
              </a:tr>
              <a:tr h="521752">
                <a:tc>
                  <a:txBody>
                    <a:bodyPr/>
                    <a:lstStyle/>
                    <a:p>
                      <a:r>
                        <a:rPr lang="en-US" sz="1600" b="1" dirty="0"/>
                        <a:t>FR3 – Sales Data Management:</a:t>
                      </a:r>
                      <a:r>
                        <a:rPr lang="en-US" sz="1600" dirty="0"/>
                        <a:t> Upload or enter historical item-level sales data.</a:t>
                      </a:r>
                    </a:p>
                  </a:txBody>
                  <a:tcPr marL="63063" marR="63063" marT="31531" marB="31531" anchor="ctr">
                    <a:lnL>
                      <a:noFill/>
                    </a:lnL>
                    <a:lnR>
                      <a:noFill/>
                    </a:lnR>
                    <a:lnT>
                      <a:noFill/>
                    </a:lnT>
                    <a:lnB>
                      <a:noFill/>
                    </a:lnB>
                  </a:tcPr>
                </a:tc>
                <a:tc>
                  <a:txBody>
                    <a:bodyPr/>
                    <a:lstStyle/>
                    <a:p>
                      <a:r>
                        <a:rPr lang="en-US" sz="1600" b="1"/>
                        <a:t>Scalability:</a:t>
                      </a:r>
                      <a:r>
                        <a:rPr lang="en-US" sz="1600"/>
                        <a:t> Support multiple food items for a single business.</a:t>
                      </a:r>
                    </a:p>
                  </a:txBody>
                  <a:tcPr marL="63063" marR="63063" marT="31531" marB="31531" anchor="ctr">
                    <a:lnL>
                      <a:noFill/>
                    </a:lnL>
                    <a:lnR>
                      <a:noFill/>
                    </a:lnR>
                    <a:lnT>
                      <a:noFill/>
                    </a:lnT>
                    <a:lnB>
                      <a:noFill/>
                    </a:lnB>
                  </a:tcPr>
                </a:tc>
                <a:extLst>
                  <a:ext uri="{0D108BD9-81ED-4DB2-BD59-A6C34878D82A}">
                    <a16:rowId xmlns:a16="http://schemas.microsoft.com/office/drawing/2014/main" val="14117579"/>
                  </a:ext>
                </a:extLst>
              </a:tr>
              <a:tr h="521752">
                <a:tc>
                  <a:txBody>
                    <a:bodyPr/>
                    <a:lstStyle/>
                    <a:p>
                      <a:r>
                        <a:rPr lang="en-US" sz="1600" b="1" dirty="0"/>
                        <a:t>FR4 – Inventory Management:</a:t>
                      </a:r>
                      <a:r>
                        <a:rPr lang="en-US" sz="1600" dirty="0"/>
                        <a:t> Provide and manage current inventory information.</a:t>
                      </a:r>
                    </a:p>
                  </a:txBody>
                  <a:tcPr marL="63063" marR="63063" marT="31531" marB="31531" anchor="ctr">
                    <a:lnL>
                      <a:noFill/>
                    </a:lnL>
                    <a:lnR>
                      <a:noFill/>
                    </a:lnR>
                    <a:lnT>
                      <a:noFill/>
                    </a:lnT>
                    <a:lnB>
                      <a:noFill/>
                    </a:lnB>
                  </a:tcPr>
                </a:tc>
                <a:tc>
                  <a:txBody>
                    <a:bodyPr/>
                    <a:lstStyle/>
                    <a:p>
                      <a:r>
                        <a:rPr lang="en-US" sz="1600" b="1" dirty="0"/>
                        <a:t>Reliability:</a:t>
                      </a:r>
                      <a:r>
                        <a:rPr lang="en-US" sz="1600" dirty="0"/>
                        <a:t> Provide consistent results for valid inputs.</a:t>
                      </a:r>
                    </a:p>
                  </a:txBody>
                  <a:tcPr marL="63063" marR="63063" marT="31531" marB="31531" anchor="ctr">
                    <a:lnL>
                      <a:noFill/>
                    </a:lnL>
                    <a:lnR>
                      <a:noFill/>
                    </a:lnR>
                    <a:lnT>
                      <a:noFill/>
                    </a:lnT>
                    <a:lnB>
                      <a:noFill/>
                    </a:lnB>
                  </a:tcPr>
                </a:tc>
                <a:extLst>
                  <a:ext uri="{0D108BD9-81ED-4DB2-BD59-A6C34878D82A}">
                    <a16:rowId xmlns:a16="http://schemas.microsoft.com/office/drawing/2014/main" val="600826531"/>
                  </a:ext>
                </a:extLst>
              </a:tr>
              <a:tr h="521752">
                <a:tc>
                  <a:txBody>
                    <a:bodyPr/>
                    <a:lstStyle/>
                    <a:p>
                      <a:r>
                        <a:rPr lang="en-US" sz="1600" b="1"/>
                        <a:t>FR5 – Forecast Generation:</a:t>
                      </a:r>
                      <a:r>
                        <a:rPr lang="en-US" sz="1600"/>
                        <a:t> Generate item-level daily demand forecasts.</a:t>
                      </a:r>
                    </a:p>
                  </a:txBody>
                  <a:tcPr marL="63063" marR="63063" marT="31531" marB="31531" anchor="ctr">
                    <a:lnL>
                      <a:noFill/>
                    </a:lnL>
                    <a:lnR>
                      <a:noFill/>
                    </a:lnR>
                    <a:lnT>
                      <a:noFill/>
                    </a:lnT>
                    <a:lnB>
                      <a:noFill/>
                    </a:lnB>
                  </a:tcPr>
                </a:tc>
                <a:tc>
                  <a:txBody>
                    <a:bodyPr/>
                    <a:lstStyle/>
                    <a:p>
                      <a:r>
                        <a:rPr lang="en-US" sz="1600" b="1" dirty="0"/>
                        <a:t>Security:</a:t>
                      </a:r>
                      <a:r>
                        <a:rPr lang="en-US" sz="1600" dirty="0"/>
                        <a:t> Protect user authentication and business data.</a:t>
                      </a:r>
                    </a:p>
                  </a:txBody>
                  <a:tcPr marL="63063" marR="63063" marT="31531" marB="31531" anchor="ctr">
                    <a:lnL>
                      <a:noFill/>
                    </a:lnL>
                    <a:lnR>
                      <a:noFill/>
                    </a:lnR>
                    <a:lnT>
                      <a:noFill/>
                    </a:lnT>
                    <a:lnB>
                      <a:noFill/>
                    </a:lnB>
                  </a:tcPr>
                </a:tc>
                <a:extLst>
                  <a:ext uri="{0D108BD9-81ED-4DB2-BD59-A6C34878D82A}">
                    <a16:rowId xmlns:a16="http://schemas.microsoft.com/office/drawing/2014/main" val="1964019559"/>
                  </a:ext>
                </a:extLst>
              </a:tr>
              <a:tr h="745361">
                <a:tc>
                  <a:txBody>
                    <a:bodyPr/>
                    <a:lstStyle/>
                    <a:p>
                      <a:r>
                        <a:rPr lang="en-US" sz="1600" b="1"/>
                        <a:t>FR6 – External Data Integration:</a:t>
                      </a:r>
                      <a:r>
                        <a:rPr lang="en-US" sz="1600"/>
                        <a:t> Use weather and public-holiday information as external factors.</a:t>
                      </a:r>
                    </a:p>
                  </a:txBody>
                  <a:tcPr marL="63063" marR="63063" marT="31531" marB="31531" anchor="ctr">
                    <a:lnL>
                      <a:noFill/>
                    </a:lnL>
                    <a:lnR>
                      <a:noFill/>
                    </a:lnR>
                    <a:lnT>
                      <a:noFill/>
                    </a:lnT>
                    <a:lnB>
                      <a:noFill/>
                    </a:lnB>
                  </a:tcPr>
                </a:tc>
                <a:tc>
                  <a:txBody>
                    <a:bodyPr/>
                    <a:lstStyle/>
                    <a:p>
                      <a:r>
                        <a:rPr lang="en-US" sz="1600" b="1" dirty="0"/>
                        <a:t>Maintainability:</a:t>
                      </a:r>
                      <a:r>
                        <a:rPr lang="en-US" sz="1600" dirty="0"/>
                        <a:t> Use modular components for independent maintenance of forecasting, API, and mobile layers.</a:t>
                      </a:r>
                    </a:p>
                  </a:txBody>
                  <a:tcPr marL="63063" marR="63063" marT="31531" marB="31531" anchor="ctr">
                    <a:lnL>
                      <a:noFill/>
                    </a:lnL>
                    <a:lnR>
                      <a:noFill/>
                    </a:lnR>
                    <a:lnT>
                      <a:noFill/>
                    </a:lnT>
                    <a:lnB>
                      <a:noFill/>
                    </a:lnB>
                  </a:tcPr>
                </a:tc>
                <a:extLst>
                  <a:ext uri="{0D108BD9-81ED-4DB2-BD59-A6C34878D82A}">
                    <a16:rowId xmlns:a16="http://schemas.microsoft.com/office/drawing/2014/main" val="1679177131"/>
                  </a:ext>
                </a:extLst>
              </a:tr>
              <a:tr h="745361">
                <a:tc>
                  <a:txBody>
                    <a:bodyPr/>
                    <a:lstStyle/>
                    <a:p>
                      <a:r>
                        <a:rPr lang="en-US" sz="1600" b="1"/>
                        <a:t>FR7 – Restock Recommendation:</a:t>
                      </a:r>
                      <a:r>
                        <a:rPr lang="en-US" sz="1600"/>
                        <a:t> Calculate restock quantity using forecasted demand, current stock, and safety stock.</a:t>
                      </a:r>
                    </a:p>
                  </a:txBody>
                  <a:tcPr marL="63063" marR="63063" marT="31531" marB="31531" anchor="ctr">
                    <a:lnL>
                      <a:noFill/>
                    </a:lnL>
                    <a:lnR>
                      <a:noFill/>
                    </a:lnR>
                    <a:lnT>
                      <a:noFill/>
                    </a:lnT>
                    <a:lnB>
                      <a:noFill/>
                    </a:lnB>
                  </a:tcPr>
                </a:tc>
                <a:tc>
                  <a:txBody>
                    <a:bodyPr/>
                    <a:lstStyle/>
                    <a:p>
                      <a:r>
                        <a:rPr lang="en-US" sz="1600" b="1" dirty="0"/>
                        <a:t>Portability:</a:t>
                      </a:r>
                      <a:r>
                        <a:rPr lang="en-US" sz="1600" dirty="0"/>
                        <a:t> Support cross-platform deployment using Flutter.</a:t>
                      </a:r>
                    </a:p>
                  </a:txBody>
                  <a:tcPr marL="63063" marR="63063" marT="31531" marB="31531" anchor="ctr">
                    <a:lnL>
                      <a:noFill/>
                    </a:lnL>
                    <a:lnR>
                      <a:noFill/>
                    </a:lnR>
                    <a:lnT>
                      <a:noFill/>
                    </a:lnT>
                    <a:lnB>
                      <a:noFill/>
                    </a:lnB>
                  </a:tcPr>
                </a:tc>
                <a:extLst>
                  <a:ext uri="{0D108BD9-81ED-4DB2-BD59-A6C34878D82A}">
                    <a16:rowId xmlns:a16="http://schemas.microsoft.com/office/drawing/2014/main" val="1790462666"/>
                  </a:ext>
                </a:extLst>
              </a:tr>
              <a:tr h="521752">
                <a:tc>
                  <a:txBody>
                    <a:bodyPr/>
                    <a:lstStyle/>
                    <a:p>
                      <a:r>
                        <a:rPr lang="en-US" sz="1600" b="1"/>
                        <a:t>FR8 – Explanation:</a:t>
                      </a:r>
                      <a:r>
                        <a:rPr lang="en-US" sz="1600"/>
                        <a:t> Provide a plain-language explanation of the recommendation.</a:t>
                      </a:r>
                    </a:p>
                  </a:txBody>
                  <a:tcPr marL="63063" marR="63063" marT="31531" marB="31531" anchor="ctr">
                    <a:lnL>
                      <a:noFill/>
                    </a:lnL>
                    <a:lnR>
                      <a:noFill/>
                    </a:lnR>
                    <a:lnT>
                      <a:noFill/>
                    </a:lnT>
                    <a:lnB>
                      <a:noFill/>
                    </a:lnB>
                  </a:tcPr>
                </a:tc>
                <a:tc>
                  <a:txBody>
                    <a:bodyPr/>
                    <a:lstStyle/>
                    <a:p>
                      <a:endParaRPr lang="en-US" sz="1600" dirty="0"/>
                    </a:p>
                  </a:txBody>
                  <a:tcPr marL="63063" marR="63063" marT="31531" marB="31531" anchor="ctr">
                    <a:lnL>
                      <a:noFill/>
                    </a:lnL>
                    <a:lnR>
                      <a:noFill/>
                    </a:lnR>
                    <a:lnT>
                      <a:noFill/>
                    </a:lnT>
                    <a:lnB>
                      <a:noFill/>
                    </a:lnB>
                  </a:tcPr>
                </a:tc>
                <a:extLst>
                  <a:ext uri="{0D108BD9-81ED-4DB2-BD59-A6C34878D82A}">
                    <a16:rowId xmlns:a16="http://schemas.microsoft.com/office/drawing/2014/main" val="3048478109"/>
                  </a:ext>
                </a:extLst>
              </a:tr>
            </a:tbl>
          </a:graphicData>
        </a:graphic>
      </p:graphicFrame>
    </p:spTree>
    <p:extLst>
      <p:ext uri="{BB962C8B-B14F-4D97-AF65-F5344CB8AC3E}">
        <p14:creationId xmlns:p14="http://schemas.microsoft.com/office/powerpoint/2010/main" val="2823715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9</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p:cNvSpPr txBox="1"/>
          <p:nvPr/>
        </p:nvSpPr>
        <p:spPr>
          <a:xfrm>
            <a:off x="155575" y="1466103"/>
            <a:ext cx="2666756" cy="5078313"/>
          </a:xfrm>
          <a:prstGeom prst="rect">
            <a:avLst/>
          </a:prstGeom>
          <a:noFill/>
        </p:spPr>
        <p:txBody>
          <a:bodyPr wrap="square" rtlCol="0">
            <a:spAutoFit/>
          </a:bodyPr>
          <a:lstStyle/>
          <a:p>
            <a:r>
              <a:rPr lang="en-US" b="1" dirty="0"/>
              <a:t>Primary Actor</a:t>
            </a:r>
          </a:p>
          <a:p>
            <a:pPr marL="285750" indent="-285750">
              <a:buFont typeface="Arial" panose="020B0604020202020204" pitchFamily="34" charset="0"/>
              <a:buChar char="•"/>
            </a:pPr>
            <a:r>
              <a:rPr lang="en-US" dirty="0"/>
              <a:t>Business Owner</a:t>
            </a:r>
          </a:p>
          <a:p>
            <a:r>
              <a:rPr lang="en-US" b="1" dirty="0"/>
              <a:t>Functionalities:</a:t>
            </a:r>
          </a:p>
          <a:p>
            <a:pPr marL="285750" indent="-285750">
              <a:buFont typeface="Arial" panose="020B0604020202020204" pitchFamily="34" charset="0"/>
              <a:buChar char="•"/>
            </a:pPr>
            <a:r>
              <a:rPr lang="en-US" dirty="0"/>
              <a:t>Register/Login </a:t>
            </a:r>
          </a:p>
          <a:p>
            <a:pPr marL="285750" indent="-285750">
              <a:buFont typeface="Arial" panose="020B0604020202020204" pitchFamily="34" charset="0"/>
              <a:buChar char="•"/>
            </a:pPr>
            <a:r>
              <a:rPr lang="en-US" dirty="0"/>
              <a:t>Manage Shop </a:t>
            </a:r>
          </a:p>
          <a:p>
            <a:pPr marL="285750" indent="-285750">
              <a:buFont typeface="Arial" panose="020B0604020202020204" pitchFamily="34" charset="0"/>
              <a:buChar char="•"/>
            </a:pPr>
            <a:r>
              <a:rPr lang="en-US" dirty="0"/>
              <a:t>Upload Sales Data </a:t>
            </a:r>
          </a:p>
          <a:p>
            <a:pPr marL="285750" indent="-285750">
              <a:buFont typeface="Arial" panose="020B0604020202020204" pitchFamily="34" charset="0"/>
              <a:buChar char="•"/>
            </a:pPr>
            <a:r>
              <a:rPr lang="en-US" dirty="0"/>
              <a:t>Manage Inventory </a:t>
            </a:r>
          </a:p>
          <a:p>
            <a:pPr marL="285750" indent="-285750">
              <a:buFont typeface="Arial" panose="020B0604020202020204" pitchFamily="34" charset="0"/>
              <a:buChar char="•"/>
            </a:pPr>
            <a:r>
              <a:rPr lang="en-US" dirty="0"/>
              <a:t>Generate Forecast </a:t>
            </a:r>
          </a:p>
          <a:p>
            <a:pPr marL="285750" indent="-285750">
              <a:buFont typeface="Arial" panose="020B0604020202020204" pitchFamily="34" charset="0"/>
              <a:buChar char="•"/>
            </a:pPr>
            <a:r>
              <a:rPr lang="en-US" dirty="0"/>
              <a:t>View Forecast </a:t>
            </a:r>
          </a:p>
          <a:p>
            <a:pPr marL="285750" indent="-285750">
              <a:buFont typeface="Arial" panose="020B0604020202020204" pitchFamily="34" charset="0"/>
              <a:buChar char="•"/>
            </a:pPr>
            <a:r>
              <a:rPr lang="en-US" dirty="0"/>
              <a:t>View Restock Recommendation </a:t>
            </a:r>
          </a:p>
          <a:p>
            <a:pPr marL="285750" indent="-285750">
              <a:buFont typeface="Arial" panose="020B0604020202020204" pitchFamily="34" charset="0"/>
              <a:buChar char="•"/>
            </a:pPr>
            <a:r>
              <a:rPr lang="en-US" dirty="0"/>
              <a:t>View Explanation </a:t>
            </a:r>
          </a:p>
          <a:p>
            <a:r>
              <a:rPr lang="en-US" b="1" dirty="0"/>
              <a:t>Supporting Systems</a:t>
            </a:r>
          </a:p>
          <a:p>
            <a:pPr marL="285750" indent="-285750">
              <a:buFont typeface="Arial" panose="020B0604020202020204" pitchFamily="34" charset="0"/>
              <a:buChar char="•"/>
            </a:pPr>
            <a:r>
              <a:rPr lang="en-US" dirty="0"/>
              <a:t>Weather API </a:t>
            </a:r>
          </a:p>
          <a:p>
            <a:pPr marL="285750" indent="-285750">
              <a:buFont typeface="Arial" panose="020B0604020202020204" pitchFamily="34" charset="0"/>
              <a:buChar char="•"/>
            </a:pPr>
            <a:r>
              <a:rPr lang="en-US" dirty="0"/>
              <a:t>Forecasting Engine </a:t>
            </a:r>
          </a:p>
          <a:p>
            <a:pPr marL="285750" indent="-285750">
              <a:buFont typeface="Arial" panose="020B0604020202020204" pitchFamily="34" charset="0"/>
              <a:buChar char="•"/>
            </a:pPr>
            <a:r>
              <a:rPr lang="en-US" dirty="0"/>
              <a:t>Database </a:t>
            </a:r>
          </a:p>
          <a:p>
            <a:pPr marL="285750" indent="-285750">
              <a:buFont typeface="Arial" panose="020B0604020202020204" pitchFamily="34" charset="0"/>
              <a:buChar char="•"/>
            </a:pPr>
            <a:r>
              <a:rPr lang="en-US" dirty="0"/>
              <a:t>LLM Narrator</a:t>
            </a:r>
          </a:p>
          <a:p>
            <a:endParaRPr lang="en-US" dirty="0"/>
          </a:p>
        </p:txBody>
      </p:sp>
      <p:sp>
        <p:nvSpPr>
          <p:cNvPr id="5" name="TextBox 4"/>
          <p:cNvSpPr txBox="1"/>
          <p:nvPr/>
        </p:nvSpPr>
        <p:spPr>
          <a:xfrm>
            <a:off x="2428184" y="592759"/>
            <a:ext cx="5049632" cy="369332"/>
          </a:xfrm>
          <a:prstGeom prst="rect">
            <a:avLst/>
          </a:prstGeom>
          <a:noFill/>
        </p:spPr>
        <p:txBody>
          <a:bodyPr wrap="square" rtlCol="0">
            <a:spAutoFit/>
          </a:bodyPr>
          <a:lstStyle/>
          <a:p>
            <a:r>
              <a:rPr lang="en-US" b="1" dirty="0"/>
              <a:t>Actors , Functionalities and Use Case Diagram</a:t>
            </a:r>
          </a:p>
        </p:txBody>
      </p:sp>
      <p:sp>
        <p:nvSpPr>
          <p:cNvPr id="8" name="AutoShape 2" descr="Mobile App Demand Forecasting UML Diagram"/>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a:extLst>
              <a:ext uri="{FF2B5EF4-FFF2-40B4-BE49-F238E27FC236}">
                <a16:creationId xmlns:a16="http://schemas.microsoft.com/office/drawing/2014/main" id="{9957CEC3-AEC1-4A0D-A467-E808FFED255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8225"/>
          <a:stretch/>
        </p:blipFill>
        <p:spPr bwMode="auto">
          <a:xfrm>
            <a:off x="2419224" y="1259550"/>
            <a:ext cx="7486774" cy="4886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6622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10</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p:cNvSpPr txBox="1"/>
          <p:nvPr/>
        </p:nvSpPr>
        <p:spPr>
          <a:xfrm>
            <a:off x="3499339" y="667660"/>
            <a:ext cx="3185231" cy="461665"/>
          </a:xfrm>
          <a:prstGeom prst="rect">
            <a:avLst/>
          </a:prstGeom>
          <a:noFill/>
        </p:spPr>
        <p:txBody>
          <a:bodyPr wrap="none" rtlCol="0">
            <a:spAutoFit/>
          </a:bodyPr>
          <a:lstStyle/>
          <a:p>
            <a:r>
              <a:rPr lang="en-US" sz="2400" b="1" dirty="0"/>
              <a:t>Object-Oriented Design</a:t>
            </a:r>
          </a:p>
        </p:txBody>
      </p:sp>
      <p:sp>
        <p:nvSpPr>
          <p:cNvPr id="5" name="TextBox 4"/>
          <p:cNvSpPr txBox="1"/>
          <p:nvPr/>
        </p:nvSpPr>
        <p:spPr>
          <a:xfrm>
            <a:off x="155575" y="1129325"/>
            <a:ext cx="2748381" cy="461665"/>
          </a:xfrm>
          <a:prstGeom prst="rect">
            <a:avLst/>
          </a:prstGeom>
          <a:noFill/>
        </p:spPr>
        <p:txBody>
          <a:bodyPr wrap="none" rtlCol="0">
            <a:spAutoFit/>
          </a:bodyPr>
          <a:lstStyle/>
          <a:p>
            <a:r>
              <a:rPr lang="en-US" sz="2400" b="1" dirty="0"/>
              <a:t>System Architecture</a:t>
            </a:r>
          </a:p>
        </p:txBody>
      </p:sp>
      <p:pic>
        <p:nvPicPr>
          <p:cNvPr id="2050" name="Picture 2">
            <a:extLst>
              <a:ext uri="{FF2B5EF4-FFF2-40B4-BE49-F238E27FC236}">
                <a16:creationId xmlns:a16="http://schemas.microsoft.com/office/drawing/2014/main" id="{ABFFC7AF-806E-4B48-B14E-223811158F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0401"/>
          <a:stretch/>
        </p:blipFill>
        <p:spPr bwMode="auto">
          <a:xfrm>
            <a:off x="55441" y="1590989"/>
            <a:ext cx="9753600" cy="4876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8169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11</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p:cNvSpPr txBox="1"/>
          <p:nvPr/>
        </p:nvSpPr>
        <p:spPr>
          <a:xfrm>
            <a:off x="155575" y="969257"/>
            <a:ext cx="1963679" cy="461665"/>
          </a:xfrm>
          <a:prstGeom prst="rect">
            <a:avLst/>
          </a:prstGeom>
          <a:noFill/>
        </p:spPr>
        <p:txBody>
          <a:bodyPr wrap="none" rtlCol="0">
            <a:spAutoFit/>
          </a:bodyPr>
          <a:lstStyle/>
          <a:p>
            <a:r>
              <a:rPr lang="en-US" sz="2400" b="1" dirty="0"/>
              <a:t>Class Diagram</a:t>
            </a:r>
          </a:p>
        </p:txBody>
      </p:sp>
    </p:spTree>
    <p:extLst>
      <p:ext uri="{BB962C8B-B14F-4D97-AF65-F5344CB8AC3E}">
        <p14:creationId xmlns:p14="http://schemas.microsoft.com/office/powerpoint/2010/main" val="249592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12</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74" name="Picture 2">
            <a:extLst>
              <a:ext uri="{FF2B5EF4-FFF2-40B4-BE49-F238E27FC236}">
                <a16:creationId xmlns:a16="http://schemas.microsoft.com/office/drawing/2014/main" id="{0BE44234-0EB7-4F83-B3EA-05DC0EE5C9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575" y="1031877"/>
            <a:ext cx="9753600" cy="532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005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13</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Rectangle 3"/>
          <p:cNvSpPr/>
          <p:nvPr/>
        </p:nvSpPr>
        <p:spPr>
          <a:xfrm>
            <a:off x="155575" y="969257"/>
            <a:ext cx="2561599" cy="461665"/>
          </a:xfrm>
          <a:prstGeom prst="rect">
            <a:avLst/>
          </a:prstGeom>
        </p:spPr>
        <p:txBody>
          <a:bodyPr wrap="none">
            <a:spAutoFit/>
          </a:bodyPr>
          <a:lstStyle/>
          <a:p>
            <a:r>
              <a:rPr lang="en-US" sz="2400" b="1" dirty="0"/>
              <a:t>Sequence Diagram</a:t>
            </a:r>
          </a:p>
        </p:txBody>
      </p:sp>
      <p:pic>
        <p:nvPicPr>
          <p:cNvPr id="4098" name="Picture 2">
            <a:extLst>
              <a:ext uri="{FF2B5EF4-FFF2-40B4-BE49-F238E27FC236}">
                <a16:creationId xmlns:a16="http://schemas.microsoft.com/office/drawing/2014/main" id="{1CA2EB8B-419A-4E30-B9F5-2DABBEA542E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260"/>
          <a:stretch/>
        </p:blipFill>
        <p:spPr bwMode="auto">
          <a:xfrm>
            <a:off x="76200" y="1332830"/>
            <a:ext cx="9753600" cy="5044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6413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14</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Rectangle 3"/>
          <p:cNvSpPr/>
          <p:nvPr/>
        </p:nvSpPr>
        <p:spPr>
          <a:xfrm>
            <a:off x="155575" y="969257"/>
            <a:ext cx="2297104" cy="461665"/>
          </a:xfrm>
          <a:prstGeom prst="rect">
            <a:avLst/>
          </a:prstGeom>
        </p:spPr>
        <p:txBody>
          <a:bodyPr wrap="none">
            <a:spAutoFit/>
          </a:bodyPr>
          <a:lstStyle/>
          <a:p>
            <a:r>
              <a:rPr lang="en-US" sz="2400" b="1" dirty="0"/>
              <a:t>Activity Diagram</a:t>
            </a:r>
          </a:p>
        </p:txBody>
      </p:sp>
      <p:pic>
        <p:nvPicPr>
          <p:cNvPr id="5122" name="Picture 2">
            <a:extLst>
              <a:ext uri="{FF2B5EF4-FFF2-40B4-BE49-F238E27FC236}">
                <a16:creationId xmlns:a16="http://schemas.microsoft.com/office/drawing/2014/main" id="{7FA83DAB-CCD3-4EDD-B0F9-12D0CD84850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1029"/>
          <a:stretch/>
        </p:blipFill>
        <p:spPr bwMode="auto">
          <a:xfrm>
            <a:off x="0" y="1537011"/>
            <a:ext cx="9753600" cy="4737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1190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15</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p:cNvSpPr txBox="1"/>
          <p:nvPr/>
        </p:nvSpPr>
        <p:spPr>
          <a:xfrm>
            <a:off x="155575" y="1046796"/>
            <a:ext cx="1649491" cy="461665"/>
          </a:xfrm>
          <a:prstGeom prst="rect">
            <a:avLst/>
          </a:prstGeom>
          <a:noFill/>
        </p:spPr>
        <p:txBody>
          <a:bodyPr wrap="none" rtlCol="0">
            <a:spAutoFit/>
          </a:bodyPr>
          <a:lstStyle/>
          <a:p>
            <a:r>
              <a:rPr lang="en-US" sz="2400" b="1" dirty="0"/>
              <a:t>ER Diagram</a:t>
            </a:r>
          </a:p>
        </p:txBody>
      </p:sp>
      <p:pic>
        <p:nvPicPr>
          <p:cNvPr id="6146" name="Picture 2">
            <a:extLst>
              <a:ext uri="{FF2B5EF4-FFF2-40B4-BE49-F238E27FC236}">
                <a16:creationId xmlns:a16="http://schemas.microsoft.com/office/drawing/2014/main" id="{143F242B-4436-4D05-913B-E3BDF650B7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1508461"/>
            <a:ext cx="9753600" cy="4832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7677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A14F4-1DA5-3A14-695D-65199F9BB25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BFC3007-2971-043E-2BE3-3C53B61CA10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E7555D82-4538-145B-E280-8315A9597B0E}"/>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77BBB5B2-1C0F-718D-7919-9CAA31C0145E}"/>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A7E9CFB4-0160-D836-B277-EDE02129A5A9}"/>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DA83F21E-5495-5CE8-71D0-F72DD05C62B3}"/>
              </a:ext>
            </a:extLst>
          </p:cNvPr>
          <p:cNvSpPr>
            <a:spLocks noGrp="1"/>
          </p:cNvSpPr>
          <p:nvPr>
            <p:ph type="sldNum" sz="quarter" idx="12"/>
          </p:nvPr>
        </p:nvSpPr>
        <p:spPr/>
        <p:txBody>
          <a:bodyPr/>
          <a:lstStyle/>
          <a:p>
            <a:fld id="{9DC013F7-6D70-4318-BA41-212A9B59413B}" type="slidenum">
              <a:rPr lang="en-US" smtClean="0"/>
              <a:t>16</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485CD39B-8E62-A894-894E-AC9A3CBBC00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B7A6876A-FCAD-77C9-E31A-89D15EF39D48}"/>
              </a:ext>
            </a:extLst>
          </p:cNvPr>
          <p:cNvSpPr/>
          <p:nvPr/>
        </p:nvSpPr>
        <p:spPr>
          <a:xfrm>
            <a:off x="-178529" y="1174621"/>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FFAA5FB4-2353-B853-D731-B4F79BCA2EDD}"/>
              </a:ext>
            </a:extLst>
          </p:cNvPr>
          <p:cNvSpPr/>
          <p:nvPr/>
        </p:nvSpPr>
        <p:spPr>
          <a:xfrm>
            <a:off x="306971" y="1241904"/>
            <a:ext cx="9010473" cy="594360"/>
          </a:xfrm>
          <a:prstGeom prst="rect">
            <a:avLst/>
          </a:prstGeom>
          <a:noFill/>
          <a:ln/>
        </p:spPr>
        <p:txBody>
          <a:bodyPr wrap="square" lIns="0" tIns="0" rIns="0" bIns="0" rtlCol="0" anchor="ctr"/>
          <a:lstStyle/>
          <a:p>
            <a:r>
              <a:rPr lang="en-US" sz="2700" b="1" dirty="0">
                <a:solidFill>
                  <a:srgbClr val="BC312C"/>
                </a:solidFill>
                <a:latin typeface="Cambria" pitchFamily="34" charset="0"/>
                <a:ea typeface="Cambria" pitchFamily="34" charset="-122"/>
                <a:cs typeface="Cambria" pitchFamily="34" charset="-120"/>
              </a:rPr>
              <a:t>Tools, Technologies and Software</a:t>
            </a:r>
            <a:endParaRPr lang="en-US" sz="2700" dirty="0"/>
          </a:p>
        </p:txBody>
      </p:sp>
      <p:sp>
        <p:nvSpPr>
          <p:cNvPr id="12" name="Shape 4">
            <a:extLst>
              <a:ext uri="{FF2B5EF4-FFF2-40B4-BE49-F238E27FC236}">
                <a16:creationId xmlns:a16="http://schemas.microsoft.com/office/drawing/2014/main" id="{F254803E-9B27-839E-D398-582A9CFF3C9E}"/>
              </a:ext>
            </a:extLst>
          </p:cNvPr>
          <p:cNvSpPr/>
          <p:nvPr/>
        </p:nvSpPr>
        <p:spPr>
          <a:xfrm>
            <a:off x="306033" y="1836264"/>
            <a:ext cx="8548419" cy="0"/>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C1645358-FEC7-8FAD-CD1A-51370C6F5D6A}"/>
              </a:ext>
            </a:extLst>
          </p:cNvPr>
          <p:cNvSpPr/>
          <p:nvPr/>
        </p:nvSpPr>
        <p:spPr>
          <a:xfrm>
            <a:off x="521574"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16" name="Shape 6">
            <a:extLst>
              <a:ext uri="{FF2B5EF4-FFF2-40B4-BE49-F238E27FC236}">
                <a16:creationId xmlns:a16="http://schemas.microsoft.com/office/drawing/2014/main" id="{A00F0501-417C-F55E-B88C-56DB610B7899}"/>
              </a:ext>
            </a:extLst>
          </p:cNvPr>
          <p:cNvSpPr/>
          <p:nvPr/>
        </p:nvSpPr>
        <p:spPr>
          <a:xfrm>
            <a:off x="521574" y="2175315"/>
            <a:ext cx="45719" cy="1837778"/>
          </a:xfrm>
          <a:prstGeom prst="rect">
            <a:avLst/>
          </a:prstGeom>
          <a:solidFill>
            <a:srgbClr val="BC312C"/>
          </a:solidFill>
          <a:ln/>
        </p:spPr>
        <p:txBody>
          <a:bodyPr/>
          <a:lstStyle/>
          <a:p>
            <a:endParaRPr lang="en-IN"/>
          </a:p>
        </p:txBody>
      </p:sp>
      <p:sp>
        <p:nvSpPr>
          <p:cNvPr id="18" name="Text 7">
            <a:extLst>
              <a:ext uri="{FF2B5EF4-FFF2-40B4-BE49-F238E27FC236}">
                <a16:creationId xmlns:a16="http://schemas.microsoft.com/office/drawing/2014/main" id="{C8102C8D-0BE3-E4A1-1551-BA2CE71DDE93}"/>
              </a:ext>
            </a:extLst>
          </p:cNvPr>
          <p:cNvSpPr/>
          <p:nvPr/>
        </p:nvSpPr>
        <p:spPr>
          <a:xfrm>
            <a:off x="675529" y="228504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Mobile Frontend</a:t>
            </a:r>
            <a:endParaRPr lang="en-US" dirty="0"/>
          </a:p>
        </p:txBody>
      </p:sp>
      <p:sp>
        <p:nvSpPr>
          <p:cNvPr id="20" name="Text 8">
            <a:extLst>
              <a:ext uri="{FF2B5EF4-FFF2-40B4-BE49-F238E27FC236}">
                <a16:creationId xmlns:a16="http://schemas.microsoft.com/office/drawing/2014/main" id="{9D0F70B9-4DF2-A683-ED1B-AF8C18D950E0}"/>
              </a:ext>
            </a:extLst>
          </p:cNvPr>
          <p:cNvSpPr/>
          <p:nvPr/>
        </p:nvSpPr>
        <p:spPr>
          <a:xfrm>
            <a:off x="675529" y="261422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Flutter (Dart)</a:t>
            </a:r>
            <a:endParaRPr lang="en-US" sz="1400" dirty="0"/>
          </a:p>
        </p:txBody>
      </p:sp>
      <p:sp>
        <p:nvSpPr>
          <p:cNvPr id="22" name="Text 9">
            <a:extLst>
              <a:ext uri="{FF2B5EF4-FFF2-40B4-BE49-F238E27FC236}">
                <a16:creationId xmlns:a16="http://schemas.microsoft.com/office/drawing/2014/main" id="{FB1BD70B-B35C-63C6-CFEF-ED487030449C}"/>
              </a:ext>
            </a:extLst>
          </p:cNvPr>
          <p:cNvSpPr/>
          <p:nvPr/>
        </p:nvSpPr>
        <p:spPr>
          <a:xfrm>
            <a:off x="675529" y="308971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Cross-platform app so zero-install friction interface for non-technical owners</a:t>
            </a:r>
            <a:endParaRPr lang="en-US" sz="1200" dirty="0"/>
          </a:p>
        </p:txBody>
      </p:sp>
      <p:sp>
        <p:nvSpPr>
          <p:cNvPr id="24" name="Shape 10">
            <a:extLst>
              <a:ext uri="{FF2B5EF4-FFF2-40B4-BE49-F238E27FC236}">
                <a16:creationId xmlns:a16="http://schemas.microsoft.com/office/drawing/2014/main" id="{248982C2-7596-4B3F-AA81-312E21D4EF5B}"/>
              </a:ext>
            </a:extLst>
          </p:cNvPr>
          <p:cNvSpPr/>
          <p:nvPr/>
        </p:nvSpPr>
        <p:spPr>
          <a:xfrm>
            <a:off x="2768377"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26" name="Shape 11">
            <a:extLst>
              <a:ext uri="{FF2B5EF4-FFF2-40B4-BE49-F238E27FC236}">
                <a16:creationId xmlns:a16="http://schemas.microsoft.com/office/drawing/2014/main" id="{841AAD53-A0FA-7174-9F95-B9E5014D48B1}"/>
              </a:ext>
            </a:extLst>
          </p:cNvPr>
          <p:cNvSpPr/>
          <p:nvPr/>
        </p:nvSpPr>
        <p:spPr>
          <a:xfrm>
            <a:off x="2768377" y="2175315"/>
            <a:ext cx="45719" cy="1837778"/>
          </a:xfrm>
          <a:prstGeom prst="rect">
            <a:avLst/>
          </a:prstGeom>
          <a:solidFill>
            <a:srgbClr val="BC312C"/>
          </a:solidFill>
          <a:ln/>
        </p:spPr>
        <p:txBody>
          <a:bodyPr/>
          <a:lstStyle/>
          <a:p>
            <a:endParaRPr lang="en-IN"/>
          </a:p>
        </p:txBody>
      </p:sp>
      <p:sp>
        <p:nvSpPr>
          <p:cNvPr id="28" name="Text 12">
            <a:extLst>
              <a:ext uri="{FF2B5EF4-FFF2-40B4-BE49-F238E27FC236}">
                <a16:creationId xmlns:a16="http://schemas.microsoft.com/office/drawing/2014/main" id="{FA90CEB9-E861-75D8-056C-9C67438A0766}"/>
              </a:ext>
            </a:extLst>
          </p:cNvPr>
          <p:cNvSpPr/>
          <p:nvPr/>
        </p:nvSpPr>
        <p:spPr>
          <a:xfrm>
            <a:off x="2922332" y="228504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Forecasting Engine</a:t>
            </a:r>
            <a:endParaRPr lang="en-US" dirty="0"/>
          </a:p>
        </p:txBody>
      </p:sp>
      <p:sp>
        <p:nvSpPr>
          <p:cNvPr id="30" name="Text 13">
            <a:extLst>
              <a:ext uri="{FF2B5EF4-FFF2-40B4-BE49-F238E27FC236}">
                <a16:creationId xmlns:a16="http://schemas.microsoft.com/office/drawing/2014/main" id="{985DAB09-0710-B3D5-6C2F-2E7732ED2872}"/>
              </a:ext>
            </a:extLst>
          </p:cNvPr>
          <p:cNvSpPr/>
          <p:nvPr/>
        </p:nvSpPr>
        <p:spPr>
          <a:xfrm>
            <a:off x="2922332" y="261422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Facebook Prophet + XGBoost (Python)</a:t>
            </a:r>
            <a:endParaRPr lang="en-US" sz="1400" dirty="0"/>
          </a:p>
        </p:txBody>
      </p:sp>
      <p:sp>
        <p:nvSpPr>
          <p:cNvPr id="32" name="Text 14">
            <a:extLst>
              <a:ext uri="{FF2B5EF4-FFF2-40B4-BE49-F238E27FC236}">
                <a16:creationId xmlns:a16="http://schemas.microsoft.com/office/drawing/2014/main" id="{FB1DA546-E63F-5717-02D9-BD17CED9DA42}"/>
              </a:ext>
            </a:extLst>
          </p:cNvPr>
          <p:cNvSpPr/>
          <p:nvPr/>
        </p:nvSpPr>
        <p:spPr>
          <a:xfrm>
            <a:off x="2922332" y="308971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Prophet handles trend/seasonality; XGBoost models the residuals — CPU only, no GPU needed</a:t>
            </a:r>
            <a:endParaRPr lang="en-US" sz="1200" dirty="0"/>
          </a:p>
        </p:txBody>
      </p:sp>
      <p:sp>
        <p:nvSpPr>
          <p:cNvPr id="34" name="Shape 15">
            <a:extLst>
              <a:ext uri="{FF2B5EF4-FFF2-40B4-BE49-F238E27FC236}">
                <a16:creationId xmlns:a16="http://schemas.microsoft.com/office/drawing/2014/main" id="{3E3A93E5-0CE7-EFD6-17A1-679F53FE8FAF}"/>
              </a:ext>
            </a:extLst>
          </p:cNvPr>
          <p:cNvSpPr/>
          <p:nvPr/>
        </p:nvSpPr>
        <p:spPr>
          <a:xfrm>
            <a:off x="5033843"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36" name="Shape 16">
            <a:extLst>
              <a:ext uri="{FF2B5EF4-FFF2-40B4-BE49-F238E27FC236}">
                <a16:creationId xmlns:a16="http://schemas.microsoft.com/office/drawing/2014/main" id="{B813A8D5-73FF-2D6C-DD04-E8E5DAE00DE0}"/>
              </a:ext>
            </a:extLst>
          </p:cNvPr>
          <p:cNvSpPr/>
          <p:nvPr/>
        </p:nvSpPr>
        <p:spPr>
          <a:xfrm>
            <a:off x="5033843" y="2175315"/>
            <a:ext cx="45719" cy="1837778"/>
          </a:xfrm>
          <a:prstGeom prst="rect">
            <a:avLst/>
          </a:prstGeom>
          <a:solidFill>
            <a:srgbClr val="BC312C"/>
          </a:solidFill>
          <a:ln/>
        </p:spPr>
        <p:txBody>
          <a:bodyPr/>
          <a:lstStyle/>
          <a:p>
            <a:endParaRPr lang="en-IN"/>
          </a:p>
        </p:txBody>
      </p:sp>
      <p:sp>
        <p:nvSpPr>
          <p:cNvPr id="38" name="Text 17">
            <a:extLst>
              <a:ext uri="{FF2B5EF4-FFF2-40B4-BE49-F238E27FC236}">
                <a16:creationId xmlns:a16="http://schemas.microsoft.com/office/drawing/2014/main" id="{972C71A3-4126-1B03-1975-0583164AE7EF}"/>
              </a:ext>
            </a:extLst>
          </p:cNvPr>
          <p:cNvSpPr/>
          <p:nvPr/>
        </p:nvSpPr>
        <p:spPr>
          <a:xfrm>
            <a:off x="5187798" y="228504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External Regressors</a:t>
            </a:r>
            <a:endParaRPr lang="en-US" dirty="0"/>
          </a:p>
        </p:txBody>
      </p:sp>
      <p:sp>
        <p:nvSpPr>
          <p:cNvPr id="40" name="Text 18">
            <a:extLst>
              <a:ext uri="{FF2B5EF4-FFF2-40B4-BE49-F238E27FC236}">
                <a16:creationId xmlns:a16="http://schemas.microsoft.com/office/drawing/2014/main" id="{9089B26B-281F-EBA2-C5C5-B5469033F2D1}"/>
              </a:ext>
            </a:extLst>
          </p:cNvPr>
          <p:cNvSpPr/>
          <p:nvPr/>
        </p:nvSpPr>
        <p:spPr>
          <a:xfrm>
            <a:off x="5187798" y="2614226"/>
            <a:ext cx="1871721" cy="496697"/>
          </a:xfrm>
          <a:prstGeom prst="rect">
            <a:avLst/>
          </a:prstGeom>
          <a:noFill/>
          <a:ln/>
        </p:spPr>
        <p:txBody>
          <a:bodyPr wrap="square" lIns="0" tIns="0" rIns="0" bIns="0" rtlCol="0" anchor="ctr"/>
          <a:lstStyle/>
          <a:p>
            <a:pPr marL="0" indent="0">
              <a:lnSpc>
                <a:spcPct val="100000"/>
              </a:lnSpc>
              <a:buNone/>
            </a:pPr>
            <a:r>
              <a:rPr lang="en-US" sz="1400" b="1" dirty="0" err="1">
                <a:solidFill>
                  <a:srgbClr val="BC312C"/>
                </a:solidFill>
                <a:latin typeface="Calibri" pitchFamily="34" charset="0"/>
                <a:ea typeface="Calibri" pitchFamily="34" charset="-122"/>
                <a:cs typeface="Calibri" pitchFamily="34" charset="-120"/>
              </a:rPr>
              <a:t>WeatherAPI</a:t>
            </a:r>
            <a:r>
              <a:rPr lang="en-US" sz="1400" b="1" dirty="0">
                <a:solidFill>
                  <a:srgbClr val="BC312C"/>
                </a:solidFill>
                <a:latin typeface="Calibri" pitchFamily="34" charset="0"/>
                <a:ea typeface="Calibri" pitchFamily="34" charset="-122"/>
                <a:cs typeface="Calibri" pitchFamily="34" charset="-120"/>
              </a:rPr>
              <a:t>, Python `holidays` library</a:t>
            </a:r>
            <a:endParaRPr lang="en-US" sz="1400" dirty="0"/>
          </a:p>
        </p:txBody>
      </p:sp>
      <p:sp>
        <p:nvSpPr>
          <p:cNvPr id="42" name="Text 19">
            <a:extLst>
              <a:ext uri="{FF2B5EF4-FFF2-40B4-BE49-F238E27FC236}">
                <a16:creationId xmlns:a16="http://schemas.microsoft.com/office/drawing/2014/main" id="{D760D88C-514E-E222-2E37-53AEF8EF6B61}"/>
              </a:ext>
            </a:extLst>
          </p:cNvPr>
          <p:cNvSpPr/>
          <p:nvPr/>
        </p:nvSpPr>
        <p:spPr>
          <a:xfrm>
            <a:off x="5197721" y="321160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Feeds weather and public-holiday signals into Prophet</a:t>
            </a:r>
            <a:endParaRPr lang="en-US" sz="1200" dirty="0"/>
          </a:p>
        </p:txBody>
      </p:sp>
      <p:sp>
        <p:nvSpPr>
          <p:cNvPr id="44" name="Shape 20">
            <a:extLst>
              <a:ext uri="{FF2B5EF4-FFF2-40B4-BE49-F238E27FC236}">
                <a16:creationId xmlns:a16="http://schemas.microsoft.com/office/drawing/2014/main" id="{E1AC1F50-7FB8-2967-7D66-ACBFA1E4E51A}"/>
              </a:ext>
            </a:extLst>
          </p:cNvPr>
          <p:cNvSpPr/>
          <p:nvPr/>
        </p:nvSpPr>
        <p:spPr>
          <a:xfrm>
            <a:off x="521574"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46" name="Shape 21">
            <a:extLst>
              <a:ext uri="{FF2B5EF4-FFF2-40B4-BE49-F238E27FC236}">
                <a16:creationId xmlns:a16="http://schemas.microsoft.com/office/drawing/2014/main" id="{052DB586-A6E5-78A8-CD3C-B034A29017D8}"/>
              </a:ext>
            </a:extLst>
          </p:cNvPr>
          <p:cNvSpPr/>
          <p:nvPr/>
        </p:nvSpPr>
        <p:spPr>
          <a:xfrm>
            <a:off x="521574" y="4479045"/>
            <a:ext cx="45719" cy="1837778"/>
          </a:xfrm>
          <a:prstGeom prst="rect">
            <a:avLst/>
          </a:prstGeom>
          <a:solidFill>
            <a:srgbClr val="BC312C"/>
          </a:solidFill>
          <a:ln/>
        </p:spPr>
        <p:txBody>
          <a:bodyPr/>
          <a:lstStyle/>
          <a:p>
            <a:endParaRPr lang="en-IN"/>
          </a:p>
        </p:txBody>
      </p:sp>
      <p:sp>
        <p:nvSpPr>
          <p:cNvPr id="48" name="Text 22">
            <a:extLst>
              <a:ext uri="{FF2B5EF4-FFF2-40B4-BE49-F238E27FC236}">
                <a16:creationId xmlns:a16="http://schemas.microsoft.com/office/drawing/2014/main" id="{86A10AC1-B586-05DC-ECB8-42C5F07D11B6}"/>
              </a:ext>
            </a:extLst>
          </p:cNvPr>
          <p:cNvSpPr/>
          <p:nvPr/>
        </p:nvSpPr>
        <p:spPr>
          <a:xfrm>
            <a:off x="656864" y="458877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Restock Logic</a:t>
            </a:r>
            <a:endParaRPr lang="en-US" dirty="0"/>
          </a:p>
        </p:txBody>
      </p:sp>
      <p:sp>
        <p:nvSpPr>
          <p:cNvPr id="50" name="Text 23">
            <a:extLst>
              <a:ext uri="{FF2B5EF4-FFF2-40B4-BE49-F238E27FC236}">
                <a16:creationId xmlns:a16="http://schemas.microsoft.com/office/drawing/2014/main" id="{83E4F515-F7F5-2D28-BB7E-00D837798C3C}"/>
              </a:ext>
            </a:extLst>
          </p:cNvPr>
          <p:cNvSpPr/>
          <p:nvPr/>
        </p:nvSpPr>
        <p:spPr>
          <a:xfrm>
            <a:off x="656864"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Python (Pandas, NumPy)</a:t>
            </a:r>
            <a:endParaRPr lang="en-US" sz="1400" dirty="0"/>
          </a:p>
        </p:txBody>
      </p:sp>
      <p:sp>
        <p:nvSpPr>
          <p:cNvPr id="52" name="Text 24">
            <a:extLst>
              <a:ext uri="{FF2B5EF4-FFF2-40B4-BE49-F238E27FC236}">
                <a16:creationId xmlns:a16="http://schemas.microsoft.com/office/drawing/2014/main" id="{25415EF8-2E89-93FE-F2CA-C55B5E2420A7}"/>
              </a:ext>
            </a:extLst>
          </p:cNvPr>
          <p:cNvSpPr/>
          <p:nvPr/>
        </p:nvSpPr>
        <p:spPr>
          <a:xfrm>
            <a:off x="656864" y="539344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Deterministic safety-stock buffer calculation — not a second ML model</a:t>
            </a:r>
            <a:endParaRPr lang="en-US" sz="1200" dirty="0"/>
          </a:p>
        </p:txBody>
      </p:sp>
      <p:sp>
        <p:nvSpPr>
          <p:cNvPr id="54" name="Shape 25">
            <a:extLst>
              <a:ext uri="{FF2B5EF4-FFF2-40B4-BE49-F238E27FC236}">
                <a16:creationId xmlns:a16="http://schemas.microsoft.com/office/drawing/2014/main" id="{CA62526B-AD31-B787-0E54-5FCA69E0D2F9}"/>
              </a:ext>
            </a:extLst>
          </p:cNvPr>
          <p:cNvSpPr/>
          <p:nvPr/>
        </p:nvSpPr>
        <p:spPr>
          <a:xfrm>
            <a:off x="2768377"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56" name="Shape 26">
            <a:extLst>
              <a:ext uri="{FF2B5EF4-FFF2-40B4-BE49-F238E27FC236}">
                <a16:creationId xmlns:a16="http://schemas.microsoft.com/office/drawing/2014/main" id="{B34D5FE2-452F-8374-3DD2-8E0F16FB854D}"/>
              </a:ext>
            </a:extLst>
          </p:cNvPr>
          <p:cNvSpPr/>
          <p:nvPr/>
        </p:nvSpPr>
        <p:spPr>
          <a:xfrm>
            <a:off x="2768377" y="4479045"/>
            <a:ext cx="45719" cy="1837778"/>
          </a:xfrm>
          <a:prstGeom prst="rect">
            <a:avLst/>
          </a:prstGeom>
          <a:solidFill>
            <a:srgbClr val="BC312C"/>
          </a:solidFill>
          <a:ln/>
        </p:spPr>
        <p:txBody>
          <a:bodyPr/>
          <a:lstStyle/>
          <a:p>
            <a:endParaRPr lang="en-IN"/>
          </a:p>
        </p:txBody>
      </p:sp>
      <p:sp>
        <p:nvSpPr>
          <p:cNvPr id="58" name="Text 27">
            <a:extLst>
              <a:ext uri="{FF2B5EF4-FFF2-40B4-BE49-F238E27FC236}">
                <a16:creationId xmlns:a16="http://schemas.microsoft.com/office/drawing/2014/main" id="{54E53DBD-C56A-E417-92A3-2F1F0ACBFD16}"/>
              </a:ext>
            </a:extLst>
          </p:cNvPr>
          <p:cNvSpPr/>
          <p:nvPr/>
        </p:nvSpPr>
        <p:spPr>
          <a:xfrm>
            <a:off x="2903667" y="458877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Backend API</a:t>
            </a:r>
            <a:endParaRPr lang="en-US" dirty="0"/>
          </a:p>
        </p:txBody>
      </p:sp>
      <p:sp>
        <p:nvSpPr>
          <p:cNvPr id="60" name="Text 28">
            <a:extLst>
              <a:ext uri="{FF2B5EF4-FFF2-40B4-BE49-F238E27FC236}">
                <a16:creationId xmlns:a16="http://schemas.microsoft.com/office/drawing/2014/main" id="{AA496FB8-9F88-C677-7D4B-2C9C674BAA4D}"/>
              </a:ext>
            </a:extLst>
          </p:cNvPr>
          <p:cNvSpPr/>
          <p:nvPr/>
        </p:nvSpPr>
        <p:spPr>
          <a:xfrm>
            <a:off x="2903667"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FastAPI / Flask, hosted on Render / AWS </a:t>
            </a:r>
            <a:endParaRPr lang="en-US" sz="1400" dirty="0"/>
          </a:p>
        </p:txBody>
      </p:sp>
      <p:sp>
        <p:nvSpPr>
          <p:cNvPr id="62" name="Text 29">
            <a:extLst>
              <a:ext uri="{FF2B5EF4-FFF2-40B4-BE49-F238E27FC236}">
                <a16:creationId xmlns:a16="http://schemas.microsoft.com/office/drawing/2014/main" id="{52131326-FD29-3973-DB36-90D650AAE1AD}"/>
              </a:ext>
            </a:extLst>
          </p:cNvPr>
          <p:cNvSpPr/>
          <p:nvPr/>
        </p:nvSpPr>
        <p:spPr>
          <a:xfrm>
            <a:off x="2903667" y="539344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Connects Flutter app to the Python forecasting pipeline</a:t>
            </a:r>
            <a:endParaRPr lang="en-US" sz="1200" dirty="0"/>
          </a:p>
        </p:txBody>
      </p:sp>
      <p:sp>
        <p:nvSpPr>
          <p:cNvPr id="64" name="Shape 30">
            <a:extLst>
              <a:ext uri="{FF2B5EF4-FFF2-40B4-BE49-F238E27FC236}">
                <a16:creationId xmlns:a16="http://schemas.microsoft.com/office/drawing/2014/main" id="{D5479092-5CF1-EBFF-43AF-8C25986DF4BB}"/>
              </a:ext>
            </a:extLst>
          </p:cNvPr>
          <p:cNvSpPr/>
          <p:nvPr/>
        </p:nvSpPr>
        <p:spPr>
          <a:xfrm>
            <a:off x="5033843"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66" name="Shape 31">
            <a:extLst>
              <a:ext uri="{FF2B5EF4-FFF2-40B4-BE49-F238E27FC236}">
                <a16:creationId xmlns:a16="http://schemas.microsoft.com/office/drawing/2014/main" id="{7A3AB7C8-427D-73CB-8861-586056133888}"/>
              </a:ext>
            </a:extLst>
          </p:cNvPr>
          <p:cNvSpPr/>
          <p:nvPr/>
        </p:nvSpPr>
        <p:spPr>
          <a:xfrm>
            <a:off x="5033843" y="4479045"/>
            <a:ext cx="45719" cy="1837778"/>
          </a:xfrm>
          <a:prstGeom prst="rect">
            <a:avLst/>
          </a:prstGeom>
          <a:solidFill>
            <a:srgbClr val="BC312C"/>
          </a:solidFill>
          <a:ln/>
        </p:spPr>
        <p:txBody>
          <a:bodyPr/>
          <a:lstStyle/>
          <a:p>
            <a:endParaRPr lang="en-IN"/>
          </a:p>
        </p:txBody>
      </p:sp>
      <p:sp>
        <p:nvSpPr>
          <p:cNvPr id="68" name="Text 32">
            <a:extLst>
              <a:ext uri="{FF2B5EF4-FFF2-40B4-BE49-F238E27FC236}">
                <a16:creationId xmlns:a16="http://schemas.microsoft.com/office/drawing/2014/main" id="{2DE12F82-4A24-56F7-F8E5-8CACE9D542BA}"/>
              </a:ext>
            </a:extLst>
          </p:cNvPr>
          <p:cNvSpPr/>
          <p:nvPr/>
        </p:nvSpPr>
        <p:spPr>
          <a:xfrm>
            <a:off x="5169133" y="458877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Database</a:t>
            </a:r>
            <a:endParaRPr lang="en-US" dirty="0"/>
          </a:p>
        </p:txBody>
      </p:sp>
      <p:sp>
        <p:nvSpPr>
          <p:cNvPr id="70" name="Text 33">
            <a:extLst>
              <a:ext uri="{FF2B5EF4-FFF2-40B4-BE49-F238E27FC236}">
                <a16:creationId xmlns:a16="http://schemas.microsoft.com/office/drawing/2014/main" id="{FB5688B8-40C6-756C-9014-13DE832A2D7E}"/>
              </a:ext>
            </a:extLst>
          </p:cNvPr>
          <p:cNvSpPr/>
          <p:nvPr/>
        </p:nvSpPr>
        <p:spPr>
          <a:xfrm>
            <a:off x="5169133"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Firebase / Supabase</a:t>
            </a:r>
            <a:endParaRPr lang="en-US" sz="1400" dirty="0"/>
          </a:p>
        </p:txBody>
      </p:sp>
      <p:sp>
        <p:nvSpPr>
          <p:cNvPr id="72" name="Text 34">
            <a:extLst>
              <a:ext uri="{FF2B5EF4-FFF2-40B4-BE49-F238E27FC236}">
                <a16:creationId xmlns:a16="http://schemas.microsoft.com/office/drawing/2014/main" id="{1BDCC6E1-16B0-DB80-116A-8F9470E135BB}"/>
              </a:ext>
            </a:extLst>
          </p:cNvPr>
          <p:cNvSpPr/>
          <p:nvPr/>
        </p:nvSpPr>
        <p:spPr>
          <a:xfrm>
            <a:off x="5169133" y="539344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User auth, shop profiles, historical sales logs from CSVs</a:t>
            </a:r>
            <a:endParaRPr lang="en-US" sz="1200" dirty="0"/>
          </a:p>
        </p:txBody>
      </p:sp>
      <p:sp>
        <p:nvSpPr>
          <p:cNvPr id="74" name="Shape 15">
            <a:extLst>
              <a:ext uri="{FF2B5EF4-FFF2-40B4-BE49-F238E27FC236}">
                <a16:creationId xmlns:a16="http://schemas.microsoft.com/office/drawing/2014/main" id="{D11F1F65-C232-0CA0-AEF3-69BE454F3BD9}"/>
              </a:ext>
            </a:extLst>
          </p:cNvPr>
          <p:cNvSpPr/>
          <p:nvPr/>
        </p:nvSpPr>
        <p:spPr>
          <a:xfrm>
            <a:off x="7339628"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76" name="Shape 16">
            <a:extLst>
              <a:ext uri="{FF2B5EF4-FFF2-40B4-BE49-F238E27FC236}">
                <a16:creationId xmlns:a16="http://schemas.microsoft.com/office/drawing/2014/main" id="{141D9C26-2A5D-EE7D-9D63-4B9EE9AE4490}"/>
              </a:ext>
            </a:extLst>
          </p:cNvPr>
          <p:cNvSpPr/>
          <p:nvPr/>
        </p:nvSpPr>
        <p:spPr>
          <a:xfrm>
            <a:off x="7339628" y="2175315"/>
            <a:ext cx="45719" cy="1837778"/>
          </a:xfrm>
          <a:prstGeom prst="rect">
            <a:avLst/>
          </a:prstGeom>
          <a:solidFill>
            <a:srgbClr val="BC312C"/>
          </a:solidFill>
          <a:ln/>
        </p:spPr>
        <p:txBody>
          <a:bodyPr/>
          <a:lstStyle/>
          <a:p>
            <a:endParaRPr lang="en-IN"/>
          </a:p>
        </p:txBody>
      </p:sp>
      <p:sp>
        <p:nvSpPr>
          <p:cNvPr id="78" name="Shape 30">
            <a:extLst>
              <a:ext uri="{FF2B5EF4-FFF2-40B4-BE49-F238E27FC236}">
                <a16:creationId xmlns:a16="http://schemas.microsoft.com/office/drawing/2014/main" id="{01F3E1CD-023D-2EC1-C8DA-BC9DBD6530E1}"/>
              </a:ext>
            </a:extLst>
          </p:cNvPr>
          <p:cNvSpPr/>
          <p:nvPr/>
        </p:nvSpPr>
        <p:spPr>
          <a:xfrm>
            <a:off x="7339628"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80" name="Shape 31">
            <a:extLst>
              <a:ext uri="{FF2B5EF4-FFF2-40B4-BE49-F238E27FC236}">
                <a16:creationId xmlns:a16="http://schemas.microsoft.com/office/drawing/2014/main" id="{9E9C16EE-A3CD-DC35-8B87-FAE679234721}"/>
              </a:ext>
            </a:extLst>
          </p:cNvPr>
          <p:cNvSpPr/>
          <p:nvPr/>
        </p:nvSpPr>
        <p:spPr>
          <a:xfrm>
            <a:off x="7339628" y="4479045"/>
            <a:ext cx="45719" cy="1837778"/>
          </a:xfrm>
          <a:prstGeom prst="rect">
            <a:avLst/>
          </a:prstGeom>
          <a:solidFill>
            <a:srgbClr val="BC312C"/>
          </a:solidFill>
          <a:ln/>
        </p:spPr>
        <p:txBody>
          <a:bodyPr/>
          <a:lstStyle/>
          <a:p>
            <a:endParaRPr lang="en-IN"/>
          </a:p>
        </p:txBody>
      </p:sp>
      <p:sp>
        <p:nvSpPr>
          <p:cNvPr id="82" name="TextBox 81">
            <a:extLst>
              <a:ext uri="{FF2B5EF4-FFF2-40B4-BE49-F238E27FC236}">
                <a16:creationId xmlns:a16="http://schemas.microsoft.com/office/drawing/2014/main" id="{E684D31E-256B-5778-1EAB-ACC1D3E32176}"/>
              </a:ext>
            </a:extLst>
          </p:cNvPr>
          <p:cNvSpPr txBox="1"/>
          <p:nvPr/>
        </p:nvSpPr>
        <p:spPr>
          <a:xfrm>
            <a:off x="7380485" y="2253587"/>
            <a:ext cx="2077757" cy="1579920"/>
          </a:xfrm>
          <a:prstGeom prst="rect">
            <a:avLst/>
          </a:prstGeom>
          <a:noFill/>
        </p:spPr>
        <p:txBody>
          <a:bodyPr wrap="square">
            <a:spAutoFit/>
          </a:bodyPr>
          <a:lstStyle/>
          <a:p>
            <a:r>
              <a:rPr b="1" dirty="0">
                <a:solidFill>
                  <a:srgbClr val="2F3C7E"/>
                </a:solidFill>
                <a:latin typeface="Calibri"/>
              </a:rPr>
              <a:t>Development Tools</a:t>
            </a:r>
          </a:p>
          <a:p>
            <a:pPr>
              <a:spcBef>
                <a:spcPts val="1000"/>
              </a:spcBef>
            </a:pPr>
            <a:r>
              <a:rPr sz="1400" b="1" dirty="0">
                <a:solidFill>
                  <a:srgbClr val="BC312C"/>
                </a:solidFill>
                <a:latin typeface="Calibri"/>
              </a:rPr>
              <a:t>Jupyter, VS Code, Git</a:t>
            </a:r>
          </a:p>
          <a:p>
            <a:pPr>
              <a:spcBef>
                <a:spcPts val="1000"/>
              </a:spcBef>
            </a:pPr>
            <a:r>
              <a:rPr sz="1200" dirty="0">
                <a:solidFill>
                  <a:srgbClr val="333333"/>
                </a:solidFill>
                <a:latin typeface="Calibri"/>
              </a:rPr>
              <a:t>Jupyter Notebook for EDA &amp; model training</a:t>
            </a:r>
            <a:r>
              <a:rPr lang="en-IN" sz="1200" dirty="0">
                <a:solidFill>
                  <a:srgbClr val="333333"/>
                </a:solidFill>
                <a:latin typeface="Calibri"/>
              </a:rPr>
              <a:t>,</a:t>
            </a:r>
            <a:r>
              <a:rPr sz="1200" dirty="0">
                <a:solidFill>
                  <a:srgbClr val="333333"/>
                </a:solidFill>
                <a:latin typeface="Calibri"/>
              </a:rPr>
              <a:t> VS Code</a:t>
            </a:r>
            <a:r>
              <a:rPr lang="en-IN" sz="1200" dirty="0">
                <a:solidFill>
                  <a:srgbClr val="333333"/>
                </a:solidFill>
                <a:latin typeface="Calibri"/>
              </a:rPr>
              <a:t> and Android Studio for development</a:t>
            </a:r>
            <a:r>
              <a:rPr sz="1200" dirty="0">
                <a:solidFill>
                  <a:srgbClr val="333333"/>
                </a:solidFill>
                <a:latin typeface="Calibri"/>
              </a:rPr>
              <a:t>.</a:t>
            </a:r>
          </a:p>
        </p:txBody>
      </p:sp>
      <p:sp>
        <p:nvSpPr>
          <p:cNvPr id="84" name="TextBox 83">
            <a:extLst>
              <a:ext uri="{FF2B5EF4-FFF2-40B4-BE49-F238E27FC236}">
                <a16:creationId xmlns:a16="http://schemas.microsoft.com/office/drawing/2014/main" id="{C5B818F2-33E6-C154-2668-9FAB57D97A8E}"/>
              </a:ext>
            </a:extLst>
          </p:cNvPr>
          <p:cNvSpPr txBox="1"/>
          <p:nvPr/>
        </p:nvSpPr>
        <p:spPr>
          <a:xfrm>
            <a:off x="7362487" y="4576453"/>
            <a:ext cx="2228850" cy="1579920"/>
          </a:xfrm>
          <a:prstGeom prst="rect">
            <a:avLst/>
          </a:prstGeom>
          <a:noFill/>
        </p:spPr>
        <p:txBody>
          <a:bodyPr wrap="square">
            <a:spAutoFit/>
          </a:bodyPr>
          <a:lstStyle/>
          <a:p>
            <a:r>
              <a:rPr b="1" dirty="0">
                <a:solidFill>
                  <a:srgbClr val="2F3C7E"/>
                </a:solidFill>
                <a:latin typeface="Calibri"/>
              </a:rPr>
              <a:t>Hardware Specs</a:t>
            </a:r>
          </a:p>
          <a:p>
            <a:pPr>
              <a:spcBef>
                <a:spcPts val="1000"/>
              </a:spcBef>
            </a:pPr>
            <a:r>
              <a:rPr sz="1400" b="1" dirty="0">
                <a:solidFill>
                  <a:srgbClr val="BC312C"/>
                </a:solidFill>
                <a:latin typeface="Calibri"/>
              </a:rPr>
              <a:t>Standard CPU / 8GB RAM</a:t>
            </a:r>
          </a:p>
          <a:p>
            <a:pPr>
              <a:spcBef>
                <a:spcPts val="1000"/>
              </a:spcBef>
            </a:pPr>
            <a:r>
              <a:rPr sz="1200" dirty="0">
                <a:solidFill>
                  <a:srgbClr val="333333"/>
                </a:solidFill>
                <a:latin typeface="Calibri"/>
              </a:rPr>
              <a:t>No GPU required. Computationally lightweight, ensuring low cloud-inference costs.</a:t>
            </a:r>
          </a:p>
        </p:txBody>
      </p:sp>
    </p:spTree>
    <p:extLst>
      <p:ext uri="{BB962C8B-B14F-4D97-AF65-F5344CB8AC3E}">
        <p14:creationId xmlns:p14="http://schemas.microsoft.com/office/powerpoint/2010/main" val="460191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17</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329595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85783-801C-8175-636A-6C18153D9B9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7B6D058-215A-5F02-9D58-174CB5830AA9}"/>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02DF58CA-7E59-01C7-772B-00F5A01484D8}"/>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0EE1D4AF-F88E-E8B9-67B9-D0A3905DFF5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3243168D-3CC4-85FA-ACAC-CF3663EF9B98}"/>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71103C5-9D29-29DD-D818-CB402D81C27E}"/>
              </a:ext>
            </a:extLst>
          </p:cNvPr>
          <p:cNvSpPr>
            <a:spLocks noGrp="1"/>
          </p:cNvSpPr>
          <p:nvPr>
            <p:ph type="sldNum" sz="quarter" idx="12"/>
          </p:nvPr>
        </p:nvSpPr>
        <p:spPr/>
        <p:txBody>
          <a:bodyPr/>
          <a:lstStyle/>
          <a:p>
            <a:fld id="{9DC013F7-6D70-4318-BA41-212A9B59413B}" type="slidenum">
              <a:rPr lang="en-US" smtClean="0"/>
              <a:t>18</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51372748-D24B-EB39-761C-B66E509A886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8705B893-234A-69FF-C100-049393CC2B63}"/>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523B55B9-E290-A45C-844E-82414C2C8FB1}"/>
              </a:ext>
            </a:extLst>
          </p:cNvPr>
          <p:cNvSpPr/>
          <p:nvPr/>
        </p:nvSpPr>
        <p:spPr>
          <a:xfrm>
            <a:off x="311639" y="1187896"/>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(1/2)</a:t>
            </a:r>
            <a:endParaRPr lang="en-US" sz="2700" dirty="0"/>
          </a:p>
        </p:txBody>
      </p:sp>
      <p:sp>
        <p:nvSpPr>
          <p:cNvPr id="12" name="Shape 4">
            <a:extLst>
              <a:ext uri="{FF2B5EF4-FFF2-40B4-BE49-F238E27FC236}">
                <a16:creationId xmlns:a16="http://schemas.microsoft.com/office/drawing/2014/main" id="{288E3F41-028A-0327-3C64-A881C898F0C7}"/>
              </a:ext>
            </a:extLst>
          </p:cNvPr>
          <p:cNvSpPr/>
          <p:nvPr/>
        </p:nvSpPr>
        <p:spPr>
          <a:xfrm flipV="1">
            <a:off x="311639" y="1788974"/>
            <a:ext cx="8781043" cy="11570"/>
          </a:xfrm>
          <a:prstGeom prst="line">
            <a:avLst/>
          </a:prstGeom>
          <a:noFill/>
          <a:ln w="12700">
            <a:solidFill>
              <a:srgbClr val="E0DAD8"/>
            </a:solidFill>
            <a:prstDash val="solid"/>
          </a:ln>
        </p:spPr>
      </p:sp>
      <p:sp>
        <p:nvSpPr>
          <p:cNvPr id="14" name="TextBox 13">
            <a:extLst>
              <a:ext uri="{FF2B5EF4-FFF2-40B4-BE49-F238E27FC236}">
                <a16:creationId xmlns:a16="http://schemas.microsoft.com/office/drawing/2014/main" id="{2F76CC29-DF59-0BA0-E68F-2DB3CFED1BAB}"/>
              </a:ext>
            </a:extLst>
          </p:cNvPr>
          <p:cNvSpPr txBox="1"/>
          <p:nvPr/>
        </p:nvSpPr>
        <p:spPr>
          <a:xfrm>
            <a:off x="311639" y="1891347"/>
            <a:ext cx="4474965" cy="4254947"/>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 K. S. Aqila et al., “Comparative Evaluation of SARIMA, FB Prophet, and LSTM for Hourly Demand Forecasting in </a:t>
            </a:r>
            <a:r>
              <a:rPr sz="1300" dirty="0" err="1">
                <a:solidFill>
                  <a:srgbClr val="262626"/>
                </a:solidFill>
                <a:latin typeface="Calibri"/>
              </a:rPr>
              <a:t>Saudagar</a:t>
            </a:r>
            <a:r>
              <a:rPr sz="1300" dirty="0">
                <a:solidFill>
                  <a:srgbClr val="262626"/>
                </a:solidFill>
                <a:latin typeface="Calibri"/>
              </a:rPr>
              <a:t> Kopi,” 2026.</a:t>
            </a:r>
          </a:p>
          <a:p>
            <a:pPr>
              <a:lnSpc>
                <a:spcPct val="105000"/>
              </a:lnSpc>
              <a:spcAft>
                <a:spcPts val="900"/>
              </a:spcAft>
            </a:pPr>
            <a:r>
              <a:rPr sz="1300" dirty="0">
                <a:solidFill>
                  <a:srgbClr val="262626"/>
                </a:solidFill>
                <a:latin typeface="Calibri"/>
              </a:rPr>
              <a:t>[2] Sandeep V et al., “Smart Sales Forecasting Machine Learning Models for Demand Prediction in Retail,” 2025.</a:t>
            </a:r>
          </a:p>
          <a:p>
            <a:pPr>
              <a:lnSpc>
                <a:spcPct val="105000"/>
              </a:lnSpc>
              <a:spcAft>
                <a:spcPts val="900"/>
              </a:spcAft>
            </a:pPr>
            <a:r>
              <a:rPr sz="1300" dirty="0">
                <a:solidFill>
                  <a:srgbClr val="262626"/>
                </a:solidFill>
                <a:latin typeface="Calibri"/>
              </a:rPr>
              <a:t>[3] M. Kamboj et al., “State-Level Drug Retail Sales Forecasting Using </a:t>
            </a:r>
            <a:r>
              <a:rPr sz="1300" dirty="0" err="1">
                <a:solidFill>
                  <a:srgbClr val="262626"/>
                </a:solidFill>
                <a:latin typeface="Calibri"/>
              </a:rPr>
              <a:t>XGBoost</a:t>
            </a:r>
            <a:r>
              <a:rPr sz="1300" dirty="0">
                <a:solidFill>
                  <a:srgbClr val="262626"/>
                </a:solidFill>
                <a:latin typeface="Calibri"/>
              </a:rPr>
              <a:t> and Facebook Prophet,” 2025.</a:t>
            </a:r>
          </a:p>
          <a:p>
            <a:pPr>
              <a:lnSpc>
                <a:spcPct val="105000"/>
              </a:lnSpc>
              <a:spcAft>
                <a:spcPts val="900"/>
              </a:spcAft>
            </a:pPr>
            <a:r>
              <a:rPr sz="1300" dirty="0">
                <a:solidFill>
                  <a:srgbClr val="262626"/>
                </a:solidFill>
                <a:latin typeface="Calibri"/>
              </a:rPr>
              <a:t>[4] T. Gärtner, C. Lippert, and S. </a:t>
            </a:r>
            <a:r>
              <a:rPr sz="1300" dirty="0" err="1">
                <a:solidFill>
                  <a:srgbClr val="262626"/>
                </a:solidFill>
                <a:latin typeface="Calibri"/>
              </a:rPr>
              <a:t>Konigorski</a:t>
            </a:r>
            <a:r>
              <a:rPr sz="1300" dirty="0">
                <a:solidFill>
                  <a:srgbClr val="262626"/>
                </a:solidFill>
                <a:latin typeface="Calibri"/>
              </a:rPr>
              <a:t>, “Automated Demand Forecasting in Small to Medium-Sized Enterprises,” 2024.</a:t>
            </a:r>
          </a:p>
          <a:p>
            <a:pPr>
              <a:lnSpc>
                <a:spcPct val="105000"/>
              </a:lnSpc>
              <a:spcAft>
                <a:spcPts val="900"/>
              </a:spcAft>
            </a:pPr>
            <a:r>
              <a:rPr sz="1300" dirty="0">
                <a:solidFill>
                  <a:srgbClr val="262626"/>
                </a:solidFill>
                <a:latin typeface="Calibri"/>
              </a:rPr>
              <a:t>[5] P. Ganguly and I. Mukherjee, “Enhancing Retail Sales Forecasting with Optimized Machine Learning Models,” 2024.</a:t>
            </a:r>
          </a:p>
          <a:p>
            <a:pPr>
              <a:lnSpc>
                <a:spcPct val="105000"/>
              </a:lnSpc>
              <a:spcAft>
                <a:spcPts val="900"/>
              </a:spcAft>
            </a:pPr>
            <a:r>
              <a:rPr sz="1300" dirty="0">
                <a:solidFill>
                  <a:srgbClr val="262626"/>
                </a:solidFill>
                <a:latin typeface="Calibri"/>
              </a:rPr>
              <a:t>[6] H. </a:t>
            </a:r>
            <a:r>
              <a:rPr sz="1300" dirty="0" err="1">
                <a:solidFill>
                  <a:srgbClr val="262626"/>
                </a:solidFill>
                <a:latin typeface="Calibri"/>
              </a:rPr>
              <a:t>Jatte</a:t>
            </a:r>
            <a:r>
              <a:rPr sz="1300" dirty="0">
                <a:solidFill>
                  <a:srgbClr val="262626"/>
                </a:solidFill>
                <a:latin typeface="Calibri"/>
              </a:rPr>
              <a:t> et al., “Optimization of Forecasting Performance in the Retail Sector Using Artificial Intelligence,” 2025.</a:t>
            </a:r>
          </a:p>
          <a:p>
            <a:pPr>
              <a:lnSpc>
                <a:spcPct val="105000"/>
              </a:lnSpc>
              <a:spcAft>
                <a:spcPts val="900"/>
              </a:spcAft>
            </a:pPr>
            <a:r>
              <a:rPr sz="1300" dirty="0">
                <a:solidFill>
                  <a:srgbClr val="262626"/>
                </a:solidFill>
                <a:latin typeface="Calibri"/>
              </a:rPr>
              <a:t>[7] N. Groene and S. Zakharov, “Introduction of AI-based sales forecasting: how to drive digital transformation in food and beverage outlets,” Discover Artificial Intelligence, vol. 4, no. 1, 2024.</a:t>
            </a:r>
          </a:p>
        </p:txBody>
      </p:sp>
      <p:sp>
        <p:nvSpPr>
          <p:cNvPr id="16" name="TextBox 15">
            <a:extLst>
              <a:ext uri="{FF2B5EF4-FFF2-40B4-BE49-F238E27FC236}">
                <a16:creationId xmlns:a16="http://schemas.microsoft.com/office/drawing/2014/main" id="{61873B2A-8B7E-9B9D-78E2-EB3A73903874}"/>
              </a:ext>
            </a:extLst>
          </p:cNvPr>
          <p:cNvSpPr txBox="1"/>
          <p:nvPr/>
        </p:nvSpPr>
        <p:spPr>
          <a:xfrm>
            <a:off x="5119398" y="1914035"/>
            <a:ext cx="4474964"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[8] A. K. Güler et al., “Forecasting Restaurant Sales with the Sensitivity of Weather Conditions and Special Days Using Facebook Prophet,” Journal of Data Applications, 2023.</a:t>
            </a:r>
          </a:p>
          <a:p>
            <a:pPr>
              <a:lnSpc>
                <a:spcPct val="105000"/>
              </a:lnSpc>
              <a:spcAft>
                <a:spcPts val="900"/>
              </a:spcAft>
            </a:pPr>
            <a:r>
              <a:rPr sz="1300" dirty="0">
                <a:solidFill>
                  <a:srgbClr val="262626"/>
                </a:solidFill>
                <a:latin typeface="Calibri"/>
              </a:rPr>
              <a:t>[9] J. C. Susanto et al., “Performance Analysis of Time Series Models to Predict Sales Activity of SMEs,” 2026.</a:t>
            </a:r>
          </a:p>
          <a:p>
            <a:pPr>
              <a:lnSpc>
                <a:spcPct val="105000"/>
              </a:lnSpc>
              <a:spcAft>
                <a:spcPts val="900"/>
              </a:spcAft>
            </a:pPr>
            <a:r>
              <a:rPr sz="1300" dirty="0">
                <a:solidFill>
                  <a:srgbClr val="262626"/>
                </a:solidFill>
                <a:latin typeface="Calibri"/>
              </a:rPr>
              <a:t>[10] M. A. Munawar and I. D. Sudirman, “LSTM-Based Hourly Sales Forecasting in SME Food and Beverage Retail,” 2026.</a:t>
            </a:r>
          </a:p>
          <a:p>
            <a:pPr>
              <a:lnSpc>
                <a:spcPct val="105000"/>
              </a:lnSpc>
              <a:spcAft>
                <a:spcPts val="900"/>
              </a:spcAft>
            </a:pPr>
            <a:r>
              <a:rPr sz="1300" dirty="0">
                <a:solidFill>
                  <a:srgbClr val="262626"/>
                </a:solidFill>
                <a:latin typeface="Calibri"/>
              </a:rPr>
              <a:t>[11] S. </a:t>
            </a:r>
            <a:r>
              <a:rPr sz="1300" dirty="0" err="1">
                <a:solidFill>
                  <a:srgbClr val="262626"/>
                </a:solidFill>
                <a:latin typeface="Calibri"/>
              </a:rPr>
              <a:t>Vyakarnam</a:t>
            </a:r>
            <a:r>
              <a:rPr sz="1300" dirty="0">
                <a:solidFill>
                  <a:srgbClr val="262626"/>
                </a:solidFill>
                <a:latin typeface="Calibri"/>
              </a:rPr>
              <a:t> et al., “Optimizing Supply Chain Management for Small and Medium-Sized Businesses Using AI: A Comparative Analysis of GPT-4.5, Grok 3, Gemini 2.0, and DeepSeek R-1,” SERA 2025, 2025.</a:t>
            </a:r>
          </a:p>
          <a:p>
            <a:pPr>
              <a:lnSpc>
                <a:spcPct val="105000"/>
              </a:lnSpc>
              <a:spcAft>
                <a:spcPts val="900"/>
              </a:spcAft>
            </a:pPr>
            <a:r>
              <a:rPr sz="1300" dirty="0">
                <a:solidFill>
                  <a:srgbClr val="262626"/>
                </a:solidFill>
                <a:latin typeface="Calibri"/>
              </a:rPr>
              <a:t>[12] </a:t>
            </a:r>
            <a:r>
              <a:rPr sz="1300" dirty="0" err="1">
                <a:solidFill>
                  <a:srgbClr val="262626"/>
                </a:solidFill>
                <a:latin typeface="Calibri"/>
              </a:rPr>
              <a:t>Yuniarty</a:t>
            </a:r>
            <a:r>
              <a:rPr sz="1300" dirty="0">
                <a:solidFill>
                  <a:srgbClr val="262626"/>
                </a:solidFill>
                <a:latin typeface="Calibri"/>
              </a:rPr>
              <a:t> et al., “Technology Acceptance and Security Influences on AI Adoption among Small and Medium Enterprises,” 2025.</a:t>
            </a:r>
          </a:p>
          <a:p>
            <a:pPr>
              <a:lnSpc>
                <a:spcPct val="105000"/>
              </a:lnSpc>
              <a:spcAft>
                <a:spcPts val="900"/>
              </a:spcAft>
            </a:pPr>
            <a:r>
              <a:rPr sz="1300" dirty="0">
                <a:solidFill>
                  <a:srgbClr val="262626"/>
                </a:solidFill>
                <a:latin typeface="Calibri"/>
              </a:rPr>
              <a:t>[13] T. Aree and P. </a:t>
            </a:r>
            <a:r>
              <a:rPr sz="1300" dirty="0" err="1">
                <a:solidFill>
                  <a:srgbClr val="262626"/>
                </a:solidFill>
                <a:latin typeface="Calibri"/>
              </a:rPr>
              <a:t>Ueasangkomsate</a:t>
            </a:r>
            <a:r>
              <a:rPr sz="1300" dirty="0">
                <a:solidFill>
                  <a:srgbClr val="262626"/>
                </a:solidFill>
                <a:latin typeface="Calibri"/>
              </a:rPr>
              <a:t>, “Technology Adoption of MSMEs in Food Supply Chain: The Role of AI in Traceability and Transparency,” 2025.</a:t>
            </a:r>
          </a:p>
        </p:txBody>
      </p:sp>
    </p:spTree>
    <p:extLst>
      <p:ext uri="{BB962C8B-B14F-4D97-AF65-F5344CB8AC3E}">
        <p14:creationId xmlns:p14="http://schemas.microsoft.com/office/powerpoint/2010/main" val="3624634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09487-A311-520D-D565-A7D57124452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6745D7B-C00A-35A9-0466-A7B294905FAF}"/>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6230B179-0DB1-4586-4842-CD278946AE09}"/>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92C2F7DD-D9D9-08D4-06B5-CAAFF56556E0}"/>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E797B42B-420F-D5D4-8EF9-B67EB2A8A65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815C31CB-105C-C228-28EE-3B0DA9C42A5B}"/>
              </a:ext>
            </a:extLst>
          </p:cNvPr>
          <p:cNvSpPr>
            <a:spLocks noGrp="1"/>
          </p:cNvSpPr>
          <p:nvPr>
            <p:ph type="sldNum" sz="quarter" idx="12"/>
          </p:nvPr>
        </p:nvSpPr>
        <p:spPr/>
        <p:txBody>
          <a:bodyPr/>
          <a:lstStyle/>
          <a:p>
            <a:fld id="{9DC013F7-6D70-4318-BA41-212A9B59413B}" type="slidenum">
              <a:rPr lang="en-US" smtClean="0"/>
              <a:t>19</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A5B0FEC-A4BD-1856-BC44-B0605F4DBED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8995DAD4-C416-C5AB-DAB5-2B56D0D8166D}"/>
              </a:ext>
            </a:extLst>
          </p:cNvPr>
          <p:cNvSpPr/>
          <p:nvPr/>
        </p:nvSpPr>
        <p:spPr>
          <a:xfrm>
            <a:off x="222696" y="1193283"/>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F932BC5E-4777-C55C-CE76-65A834624D5C}"/>
              </a:ext>
            </a:extLst>
          </p:cNvPr>
          <p:cNvSpPr/>
          <p:nvPr/>
        </p:nvSpPr>
        <p:spPr>
          <a:xfrm>
            <a:off x="222696" y="1193283"/>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(2/2)</a:t>
            </a:r>
            <a:endParaRPr lang="en-US" sz="2700" dirty="0"/>
          </a:p>
        </p:txBody>
      </p:sp>
      <p:sp>
        <p:nvSpPr>
          <p:cNvPr id="12" name="Shape 4">
            <a:extLst>
              <a:ext uri="{FF2B5EF4-FFF2-40B4-BE49-F238E27FC236}">
                <a16:creationId xmlns:a16="http://schemas.microsoft.com/office/drawing/2014/main" id="{C99C8616-AD1C-5FB0-2DC7-EA0F781717E9}"/>
              </a:ext>
            </a:extLst>
          </p:cNvPr>
          <p:cNvSpPr/>
          <p:nvPr/>
        </p:nvSpPr>
        <p:spPr>
          <a:xfrm flipV="1">
            <a:off x="157685" y="1759006"/>
            <a:ext cx="8781043" cy="11570"/>
          </a:xfrm>
          <a:prstGeom prst="line">
            <a:avLst/>
          </a:prstGeom>
          <a:noFill/>
          <a:ln w="12700">
            <a:solidFill>
              <a:srgbClr val="E0DAD8"/>
            </a:solidFill>
            <a:prstDash val="solid"/>
          </a:ln>
        </p:spPr>
      </p:sp>
      <p:sp>
        <p:nvSpPr>
          <p:cNvPr id="14" name="TextBox 13">
            <a:extLst>
              <a:ext uri="{FF2B5EF4-FFF2-40B4-BE49-F238E27FC236}">
                <a16:creationId xmlns:a16="http://schemas.microsoft.com/office/drawing/2014/main" id="{97BECDD1-200D-99FF-4276-3EA774324097}"/>
              </a:ext>
            </a:extLst>
          </p:cNvPr>
          <p:cNvSpPr txBox="1"/>
          <p:nvPr/>
        </p:nvSpPr>
        <p:spPr>
          <a:xfrm>
            <a:off x="222696" y="1896734"/>
            <a:ext cx="4506374"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[14] K. </a:t>
            </a:r>
            <a:r>
              <a:rPr sz="1300" dirty="0" err="1">
                <a:solidFill>
                  <a:srgbClr val="262626"/>
                </a:solidFill>
                <a:latin typeface="Calibri"/>
              </a:rPr>
              <a:t>Somjaipeng</a:t>
            </a:r>
            <a:r>
              <a:rPr sz="1300" dirty="0">
                <a:solidFill>
                  <a:srgbClr val="262626"/>
                </a:solidFill>
                <a:latin typeface="Calibri"/>
              </a:rPr>
              <a:t> and W. </a:t>
            </a:r>
            <a:r>
              <a:rPr sz="1300" dirty="0" err="1">
                <a:solidFill>
                  <a:srgbClr val="262626"/>
                </a:solidFill>
                <a:latin typeface="Calibri"/>
              </a:rPr>
              <a:t>Jitsakul</a:t>
            </a:r>
            <a:r>
              <a:rPr sz="1300" dirty="0">
                <a:solidFill>
                  <a:srgbClr val="262626"/>
                </a:solidFill>
                <a:latin typeface="Calibri"/>
              </a:rPr>
              <a:t>, “Factors influencing audit quality through the acceptance and use of AI by auditors in Thailand affiliated with SMEs audit firms,” 2026.</a:t>
            </a:r>
          </a:p>
          <a:p>
            <a:pPr>
              <a:lnSpc>
                <a:spcPct val="105000"/>
              </a:lnSpc>
              <a:spcAft>
                <a:spcPts val="900"/>
              </a:spcAft>
            </a:pPr>
            <a:r>
              <a:rPr sz="1300" dirty="0">
                <a:solidFill>
                  <a:srgbClr val="262626"/>
                </a:solidFill>
                <a:latin typeface="Calibri"/>
              </a:rPr>
              <a:t>[15] S. Srivastava et al., “Predictive Marketing and Sales Analytics Using Machine Learning for Small and Medium E-Commerce Enterprises,” 2026.</a:t>
            </a:r>
          </a:p>
          <a:p>
            <a:pPr>
              <a:lnSpc>
                <a:spcPct val="105000"/>
              </a:lnSpc>
              <a:spcAft>
                <a:spcPts val="900"/>
              </a:spcAft>
            </a:pPr>
            <a:r>
              <a:rPr sz="1300" dirty="0">
                <a:solidFill>
                  <a:srgbClr val="262626"/>
                </a:solidFill>
                <a:latin typeface="Calibri"/>
              </a:rPr>
              <a:t>[16] Lalitha R et al., “Enhanced Sales Forecasting of Perishable and Non-Perishable Goods Using Weather Data with Insights on Imports and Price Sensitivity,” 2025.</a:t>
            </a:r>
          </a:p>
          <a:p>
            <a:pPr>
              <a:lnSpc>
                <a:spcPct val="105000"/>
              </a:lnSpc>
              <a:spcAft>
                <a:spcPts val="900"/>
              </a:spcAft>
            </a:pPr>
            <a:r>
              <a:rPr sz="1300" dirty="0">
                <a:solidFill>
                  <a:srgbClr val="262626"/>
                </a:solidFill>
                <a:latin typeface="Calibri"/>
              </a:rPr>
              <a:t>[17] N. Jain et al., “Weather-Integrated Recommendations for Food Choices with SHAP Explanation,” 2024.</a:t>
            </a:r>
          </a:p>
          <a:p>
            <a:pPr>
              <a:lnSpc>
                <a:spcPct val="105000"/>
              </a:lnSpc>
              <a:spcAft>
                <a:spcPts val="900"/>
              </a:spcAft>
            </a:pPr>
            <a:r>
              <a:rPr sz="1300" dirty="0">
                <a:solidFill>
                  <a:srgbClr val="262626"/>
                </a:solidFill>
                <a:latin typeface="Calibri"/>
              </a:rPr>
              <a:t>[18] N. U. H. Qureshi et al., “Demand Forecasting in Supply Chain Management for Rossmann Stores using Weather Enhanced Deep Learning Model,” 2024.</a:t>
            </a:r>
          </a:p>
          <a:p>
            <a:pPr>
              <a:lnSpc>
                <a:spcPct val="105000"/>
              </a:lnSpc>
              <a:spcAft>
                <a:spcPts val="900"/>
              </a:spcAft>
            </a:pPr>
            <a:r>
              <a:rPr sz="1300" dirty="0">
                <a:solidFill>
                  <a:srgbClr val="262626"/>
                </a:solidFill>
                <a:latin typeface="Calibri"/>
              </a:rPr>
              <a:t>[19] I. </a:t>
            </a:r>
            <a:r>
              <a:rPr sz="1300" dirty="0" err="1">
                <a:solidFill>
                  <a:srgbClr val="262626"/>
                </a:solidFill>
                <a:latin typeface="Calibri"/>
              </a:rPr>
              <a:t>Rahmatillah</a:t>
            </a:r>
            <a:r>
              <a:rPr sz="1300" dirty="0">
                <a:solidFill>
                  <a:srgbClr val="262626"/>
                </a:solidFill>
                <a:latin typeface="Calibri"/>
              </a:rPr>
              <a:t>, </a:t>
            </a:r>
            <a:r>
              <a:rPr sz="1300" dirty="0" err="1">
                <a:solidFill>
                  <a:srgbClr val="262626"/>
                </a:solidFill>
                <a:latin typeface="Calibri"/>
              </a:rPr>
              <a:t>Herwanto</a:t>
            </a:r>
            <a:r>
              <a:rPr sz="1300" dirty="0">
                <a:solidFill>
                  <a:srgbClr val="262626"/>
                </a:solidFill>
                <a:latin typeface="Calibri"/>
              </a:rPr>
              <a:t>, and Sudirman, “Evaluation of Optimized LSTM and Moving Average in SME Inventory Forecasting and Simulation,” 2026.</a:t>
            </a:r>
          </a:p>
        </p:txBody>
      </p:sp>
      <p:sp>
        <p:nvSpPr>
          <p:cNvPr id="16" name="TextBox 15">
            <a:extLst>
              <a:ext uri="{FF2B5EF4-FFF2-40B4-BE49-F238E27FC236}">
                <a16:creationId xmlns:a16="http://schemas.microsoft.com/office/drawing/2014/main" id="{446562A5-FDB0-D14B-BEC4-1623355CF2AB}"/>
              </a:ext>
            </a:extLst>
          </p:cNvPr>
          <p:cNvSpPr txBox="1"/>
          <p:nvPr/>
        </p:nvSpPr>
        <p:spPr>
          <a:xfrm>
            <a:off x="5207795" y="1819352"/>
            <a:ext cx="4433221"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[20] M. Cherian et al., “Demand Forecasting System for Small Business Optimization,” 5th International Conference on Intelligent Technologies, 2025.</a:t>
            </a:r>
          </a:p>
          <a:p>
            <a:pPr>
              <a:lnSpc>
                <a:spcPct val="105000"/>
              </a:lnSpc>
              <a:spcAft>
                <a:spcPts val="900"/>
              </a:spcAft>
            </a:pPr>
            <a:r>
              <a:rPr sz="1300" dirty="0">
                <a:solidFill>
                  <a:srgbClr val="262626"/>
                </a:solidFill>
                <a:latin typeface="Calibri"/>
              </a:rPr>
              <a:t>[21] M. Padmavathy et al., “AI-Driven Predictive Analytics for Sustainable Restaurant Operations and Waste Minimization,” 2025.</a:t>
            </a:r>
          </a:p>
          <a:p>
            <a:pPr>
              <a:lnSpc>
                <a:spcPct val="105000"/>
              </a:lnSpc>
              <a:spcAft>
                <a:spcPts val="900"/>
              </a:spcAft>
            </a:pPr>
            <a:r>
              <a:rPr sz="1300" dirty="0">
                <a:solidFill>
                  <a:srgbClr val="262626"/>
                </a:solidFill>
                <a:latin typeface="Calibri"/>
              </a:rPr>
              <a:t>[22] K. </a:t>
            </a:r>
            <a:r>
              <a:rPr sz="1300" dirty="0" err="1">
                <a:solidFill>
                  <a:srgbClr val="262626"/>
                </a:solidFill>
                <a:latin typeface="Calibri"/>
              </a:rPr>
              <a:t>Avuduri</a:t>
            </a:r>
            <a:r>
              <a:rPr sz="1300" dirty="0">
                <a:solidFill>
                  <a:srgbClr val="262626"/>
                </a:solidFill>
                <a:latin typeface="Calibri"/>
              </a:rPr>
              <a:t> and M. L. V, “Smart Stock: Automating Inventory Management for Small Warehouses with Real-Time Intelligence,” 2025.</a:t>
            </a:r>
          </a:p>
          <a:p>
            <a:pPr>
              <a:lnSpc>
                <a:spcPct val="105000"/>
              </a:lnSpc>
              <a:spcAft>
                <a:spcPts val="900"/>
              </a:spcAft>
            </a:pPr>
            <a:r>
              <a:rPr sz="1300" dirty="0">
                <a:solidFill>
                  <a:srgbClr val="262626"/>
                </a:solidFill>
                <a:latin typeface="Calibri"/>
              </a:rPr>
              <a:t>[23] S. Chowdhury, S. Swetha, and P. Prasad, “Predictive Analytics in Food Supply Chain and Waste Management,” 2025.</a:t>
            </a:r>
          </a:p>
          <a:p>
            <a:pPr>
              <a:lnSpc>
                <a:spcPct val="105000"/>
              </a:lnSpc>
              <a:spcAft>
                <a:spcPts val="900"/>
              </a:spcAft>
            </a:pPr>
            <a:r>
              <a:rPr sz="1300" dirty="0">
                <a:solidFill>
                  <a:srgbClr val="262626"/>
                </a:solidFill>
                <a:latin typeface="Calibri"/>
              </a:rPr>
              <a:t>[24] G. Sakuda, J. Leon, and R. Rojas, “Mobile Application for the Intelligent Management of Small Shops Using the GPT-4 Model,” 2024.</a:t>
            </a:r>
          </a:p>
          <a:p>
            <a:pPr>
              <a:lnSpc>
                <a:spcPct val="105000"/>
              </a:lnSpc>
              <a:spcAft>
                <a:spcPts val="900"/>
              </a:spcAft>
            </a:pPr>
            <a:r>
              <a:rPr sz="1300" dirty="0">
                <a:solidFill>
                  <a:srgbClr val="262626"/>
                </a:solidFill>
                <a:latin typeface="Calibri"/>
              </a:rPr>
              <a:t>[25] T. </a:t>
            </a:r>
            <a:r>
              <a:rPr sz="1300" dirty="0" err="1">
                <a:solidFill>
                  <a:srgbClr val="262626"/>
                </a:solidFill>
                <a:latin typeface="Calibri"/>
              </a:rPr>
              <a:t>Janchidfah</a:t>
            </a:r>
            <a:r>
              <a:rPr sz="1300" dirty="0">
                <a:solidFill>
                  <a:srgbClr val="262626"/>
                </a:solidFill>
                <a:latin typeface="Calibri"/>
              </a:rPr>
              <a:t> et al., “A Mobile Application for Inventory Management to Support Digital Transformation in Small Retail Businesses,” 2026.</a:t>
            </a:r>
          </a:p>
        </p:txBody>
      </p:sp>
    </p:spTree>
    <p:extLst>
      <p:ext uri="{BB962C8B-B14F-4D97-AF65-F5344CB8AC3E}">
        <p14:creationId xmlns:p14="http://schemas.microsoft.com/office/powerpoint/2010/main" val="3910174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20</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BB9D12C0-2B1D-DD79-C784-6E764CA48022}"/>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10" name="Google Shape;203;g22f13355470_0_53">
            <a:extLst>
              <a:ext uri="{FF2B5EF4-FFF2-40B4-BE49-F238E27FC236}">
                <a16:creationId xmlns:a16="http://schemas.microsoft.com/office/drawing/2014/main" id="{8A9D94C2-3C6F-8E28-5CB9-B8C332048D91}"/>
              </a:ext>
            </a:extLst>
          </p:cNvPr>
          <p:cNvSpPr txBox="1">
            <a:spLocks/>
          </p:cNvSpPr>
          <p:nvPr/>
        </p:nvSpPr>
        <p:spPr>
          <a:xfrm flipH="1">
            <a:off x="770401" y="1646812"/>
            <a:ext cx="8229600" cy="3648364"/>
          </a:xfrm>
          <a:prstGeom prst="rect">
            <a:avLst/>
          </a:prstGeom>
        </p:spPr>
        <p:txBody>
          <a:bodyPr spcFirstLastPara="1" vert="horz" wrap="square" lIns="91425" tIns="45700" rIns="91425" bIns="45700" rtlCol="0" anchor="ctr"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IN" sz="44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01657313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1942</TotalTime>
  <Words>2166</Words>
  <Application>Microsoft Office PowerPoint</Application>
  <PresentationFormat>A4 Paper (210x297 mm)</PresentationFormat>
  <Paragraphs>255</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Book Antiqua</vt:lpstr>
      <vt:lpstr>Calibri</vt:lpstr>
      <vt:lpstr>Calibri Light</vt:lpstr>
      <vt:lpstr>Cambria</vt:lpstr>
      <vt:lpstr>Georgia</vt:lpstr>
      <vt:lpstr>Teko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Harshal Kotwal</dc:creator>
  <cp:lastModifiedBy>YATIN PATIL</cp:lastModifiedBy>
  <cp:revision>300</cp:revision>
  <cp:lastPrinted>2021-08-30T13:16:05Z</cp:lastPrinted>
  <dcterms:created xsi:type="dcterms:W3CDTF">2021-01-07T05:11:47Z</dcterms:created>
  <dcterms:modified xsi:type="dcterms:W3CDTF">2026-09-11T14:27:02Z</dcterms:modified>
</cp:coreProperties>
</file>