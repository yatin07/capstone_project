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775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80644"/>
          </a:xfrm>
          <a:prstGeom prst="rect">
            <a:avLst/>
          </a:prstGeom>
          <a:solidFill>
            <a:srgbClr val="BC312C"/>
          </a:solidFill>
          <a:ln/>
        </p:spPr>
      </p:sp>
      <p:sp>
        <p:nvSpPr>
          <p:cNvPr id="3" name="Shape 1"/>
          <p:cNvSpPr/>
          <p:nvPr/>
        </p:nvSpPr>
        <p:spPr>
          <a:xfrm>
            <a:off x="0" y="6565392"/>
            <a:ext cx="12191695" cy="292608"/>
          </a:xfrm>
          <a:prstGeom prst="rect">
            <a:avLst/>
          </a:prstGeom>
          <a:solidFill>
            <a:srgbClr val="BC312C"/>
          </a:solidFill>
          <a:ln/>
        </p:spPr>
      </p:sp>
      <p:pic>
        <p:nvPicPr>
          <p:cNvPr id="4" name="Image 0" descr="/home/claude/pptx/assets/left_logo.png"/>
          <p:cNvPicPr>
            <a:picLocks noChangeAspect="1"/>
          </p:cNvPicPr>
          <p:nvPr/>
        </p:nvPicPr>
        <p:blipFill>
          <a:blip r:embed="rId3"/>
          <a:stretch>
            <a:fillRect/>
          </a:stretch>
        </p:blipFill>
        <p:spPr>
          <a:xfrm>
            <a:off x="0" y="45720"/>
            <a:ext cx="3246120" cy="1152144"/>
          </a:xfrm>
          <a:prstGeom prst="rect">
            <a:avLst/>
          </a:prstGeom>
        </p:spPr>
      </p:pic>
      <p:pic>
        <p:nvPicPr>
          <p:cNvPr id="5" name="Image 1" descr="/home/claude/pptx/assets/right_logo.png"/>
          <p:cNvPicPr>
            <a:picLocks noChangeAspect="1"/>
          </p:cNvPicPr>
          <p:nvPr/>
        </p:nvPicPr>
        <p:blipFill>
          <a:blip r:embed="rId4"/>
          <a:stretch>
            <a:fillRect/>
          </a:stretch>
        </p:blipFill>
        <p:spPr>
          <a:xfrm>
            <a:off x="10744200" y="13716"/>
            <a:ext cx="1417320" cy="580644"/>
          </a:xfrm>
          <a:prstGeom prst="rect">
            <a:avLst/>
          </a:prstGeom>
        </p:spPr>
      </p:pic>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1</a:t>
            </a:r>
            <a:endParaRPr lang="en-US" sz="1100" dirty="0"/>
          </a:p>
        </p:txBody>
      </p:sp>
      <p:sp>
        <p:nvSpPr>
          <p:cNvPr id="7" name="Shape 3"/>
          <p:cNvSpPr/>
          <p:nvPr/>
        </p:nvSpPr>
        <p:spPr>
          <a:xfrm>
            <a:off x="822960" y="1691631"/>
            <a:ext cx="82296" cy="1920240"/>
          </a:xfrm>
          <a:prstGeom prst="rect">
            <a:avLst/>
          </a:prstGeom>
          <a:solidFill>
            <a:srgbClr val="BC312C"/>
          </a:solidFill>
          <a:ln/>
        </p:spPr>
      </p:sp>
      <p:sp>
        <p:nvSpPr>
          <p:cNvPr id="8" name="Text 4"/>
          <p:cNvSpPr/>
          <p:nvPr/>
        </p:nvSpPr>
        <p:spPr>
          <a:xfrm>
            <a:off x="1143000" y="1508751"/>
            <a:ext cx="9875520" cy="502920"/>
          </a:xfrm>
          <a:prstGeom prst="rect">
            <a:avLst/>
          </a:prstGeom>
          <a:noFill/>
          <a:ln/>
        </p:spPr>
        <p:txBody>
          <a:bodyPr wrap="square" lIns="0" tIns="0" rIns="0" bIns="0" rtlCol="0" anchor="ctr"/>
          <a:lstStyle/>
          <a:p>
            <a:endParaRPr lang="en-US" sz="2200" b="1" dirty="0">
              <a:solidFill>
                <a:srgbClr val="002060"/>
              </a:solidFill>
              <a:latin typeface="Cambria" panose="02040503050406030204" pitchFamily="18" charset="0"/>
              <a:ea typeface="Cambria" panose="02040503050406030204" pitchFamily="18" charset="0"/>
            </a:endParaRPr>
          </a:p>
        </p:txBody>
      </p:sp>
      <p:sp>
        <p:nvSpPr>
          <p:cNvPr id="9" name="Text 5"/>
          <p:cNvSpPr/>
          <p:nvPr/>
        </p:nvSpPr>
        <p:spPr>
          <a:xfrm>
            <a:off x="1143000" y="2011671"/>
            <a:ext cx="10058400" cy="1371600"/>
          </a:xfrm>
          <a:prstGeom prst="rect">
            <a:avLst/>
          </a:prstGeom>
          <a:noFill/>
          <a:ln/>
        </p:spPr>
        <p:txBody>
          <a:bodyPr wrap="square" lIns="0" tIns="0" rIns="0" bIns="0" rtlCol="0" anchor="ctr"/>
          <a:lstStyle/>
          <a:p>
            <a:pPr>
              <a:lnSpc>
                <a:spcPct val="115000"/>
              </a:lnSpc>
            </a:pPr>
            <a:r>
              <a:rPr lang="en-IN" sz="3200" b="1" dirty="0">
                <a:solidFill>
                  <a:srgbClr val="C00000"/>
                </a:solidFill>
                <a:latin typeface="Times New Roman" panose="02020603050405020304" pitchFamily="18" charset="0"/>
                <a:cs typeface="Times New Roman" panose="02020603050405020304" pitchFamily="18" charset="0"/>
              </a:rPr>
              <a:t>Demand Forecasting and Inventory Recommendation for Small Food Retailers</a:t>
            </a:r>
            <a:endParaRPr lang="en-US" sz="3000" b="1" dirty="0">
              <a:solidFill>
                <a:srgbClr val="C00000"/>
              </a:solidFill>
              <a:latin typeface="Times New Roman" panose="02020603050405020304" pitchFamily="18" charset="0"/>
              <a:cs typeface="Times New Roman" panose="02020603050405020304" pitchFamily="18" charset="0"/>
            </a:endParaRPr>
          </a:p>
        </p:txBody>
      </p:sp>
      <p:sp>
        <p:nvSpPr>
          <p:cNvPr id="11" name="Shape 7"/>
          <p:cNvSpPr/>
          <p:nvPr/>
        </p:nvSpPr>
        <p:spPr>
          <a:xfrm>
            <a:off x="1143000" y="4160511"/>
            <a:ext cx="10058400" cy="1708067"/>
          </a:xfrm>
          <a:prstGeom prst="rect">
            <a:avLst/>
          </a:prstGeom>
          <a:solidFill>
            <a:srgbClr val="F7F5F4"/>
          </a:solidFill>
          <a:ln w="12700">
            <a:solidFill>
              <a:srgbClr val="E0DAD8"/>
            </a:solidFill>
            <a:prstDash val="solid"/>
          </a:ln>
        </p:spPr>
      </p:sp>
      <p:sp>
        <p:nvSpPr>
          <p:cNvPr id="12" name="Text 8"/>
          <p:cNvSpPr/>
          <p:nvPr/>
        </p:nvSpPr>
        <p:spPr>
          <a:xfrm>
            <a:off x="1557281" y="5382831"/>
            <a:ext cx="2926080" cy="365760"/>
          </a:xfrm>
          <a:prstGeom prst="rect">
            <a:avLst/>
          </a:prstGeom>
          <a:noFill/>
          <a:ln/>
        </p:spPr>
        <p:txBody>
          <a:bodyPr wrap="square" lIns="0" tIns="0" rIns="0" bIns="0" rtlCol="0" anchor="ctr"/>
          <a:lstStyle/>
          <a:p>
            <a:pPr marL="0" indent="0">
              <a:buNone/>
            </a:pPr>
            <a:r>
              <a:rPr lang="en-US" sz="2000" b="1" dirty="0"/>
              <a:t>Yatin Patil</a:t>
            </a:r>
          </a:p>
        </p:txBody>
      </p:sp>
      <p:sp>
        <p:nvSpPr>
          <p:cNvPr id="14" name="Text 10"/>
          <p:cNvSpPr/>
          <p:nvPr/>
        </p:nvSpPr>
        <p:spPr>
          <a:xfrm>
            <a:off x="1557281" y="4708215"/>
            <a:ext cx="2926080" cy="365760"/>
          </a:xfrm>
          <a:prstGeom prst="rect">
            <a:avLst/>
          </a:prstGeom>
          <a:noFill/>
          <a:ln/>
        </p:spPr>
        <p:txBody>
          <a:bodyPr wrap="square" lIns="0" tIns="0" rIns="0" bIns="0" rtlCol="0" anchor="ctr"/>
          <a:lstStyle/>
          <a:p>
            <a:pPr marL="0" indent="0">
              <a:buNone/>
            </a:pPr>
            <a:r>
              <a:rPr lang="en-US" sz="2000" b="1" dirty="0">
                <a:solidFill>
                  <a:srgbClr val="262626"/>
                </a:solidFill>
                <a:latin typeface="Calibri" pitchFamily="34" charset="0"/>
                <a:ea typeface="Calibri" pitchFamily="34" charset="-122"/>
                <a:cs typeface="Calibri" pitchFamily="34" charset="-120"/>
              </a:rPr>
              <a:t>Chinmay Patil</a:t>
            </a:r>
            <a:endParaRPr lang="en-US" sz="2000" dirty="0"/>
          </a:p>
        </p:txBody>
      </p:sp>
      <p:sp>
        <p:nvSpPr>
          <p:cNvPr id="15" name="Text 11"/>
          <p:cNvSpPr/>
          <p:nvPr/>
        </p:nvSpPr>
        <p:spPr>
          <a:xfrm>
            <a:off x="4663440" y="4709151"/>
            <a:ext cx="2926080" cy="320040"/>
          </a:xfrm>
          <a:prstGeom prst="rect">
            <a:avLst/>
          </a:prstGeom>
          <a:noFill/>
          <a:ln/>
        </p:spPr>
        <p:txBody>
          <a:bodyPr wrap="square" lIns="0" tIns="0" rIns="0" bIns="0" rtlCol="0" anchor="ctr"/>
          <a:lstStyle/>
          <a:p>
            <a:pPr marL="0" indent="0">
              <a:buNone/>
            </a:pPr>
            <a:endParaRPr lang="en-US" sz="1200" dirty="0"/>
          </a:p>
        </p:txBody>
      </p:sp>
      <p:sp>
        <p:nvSpPr>
          <p:cNvPr id="16" name="Text 12"/>
          <p:cNvSpPr/>
          <p:nvPr/>
        </p:nvSpPr>
        <p:spPr>
          <a:xfrm>
            <a:off x="7863840" y="4343391"/>
            <a:ext cx="2926080" cy="365760"/>
          </a:xfrm>
          <a:prstGeom prst="rect">
            <a:avLst/>
          </a:prstGeom>
          <a:noFill/>
          <a:ln/>
        </p:spPr>
        <p:txBody>
          <a:bodyPr wrap="square" lIns="0" tIns="0" rIns="0" bIns="0" rtlCol="0" anchor="ctr"/>
          <a:lstStyle/>
          <a:p>
            <a:pPr marL="0" indent="0">
              <a:buNone/>
            </a:pPr>
            <a:endParaRPr lang="en-US" sz="1600" dirty="0"/>
          </a:p>
        </p:txBody>
      </p:sp>
      <p:sp>
        <p:nvSpPr>
          <p:cNvPr id="17" name="Text 13"/>
          <p:cNvSpPr/>
          <p:nvPr/>
        </p:nvSpPr>
        <p:spPr>
          <a:xfrm>
            <a:off x="7863840" y="4709151"/>
            <a:ext cx="2926080" cy="320040"/>
          </a:xfrm>
          <a:prstGeom prst="rect">
            <a:avLst/>
          </a:prstGeom>
          <a:noFill/>
          <a:ln/>
        </p:spPr>
        <p:txBody>
          <a:bodyPr wrap="square" lIns="0" tIns="0" rIns="0" bIns="0" rtlCol="0" anchor="ctr"/>
          <a:lstStyle/>
          <a:p>
            <a:pPr marL="0" indent="0">
              <a:buNone/>
            </a:pPr>
            <a:endParaRPr lang="en-US" sz="1200" dirty="0"/>
          </a:p>
        </p:txBody>
      </p:sp>
      <p:sp>
        <p:nvSpPr>
          <p:cNvPr id="18" name="Text 14"/>
          <p:cNvSpPr/>
          <p:nvPr/>
        </p:nvSpPr>
        <p:spPr>
          <a:xfrm>
            <a:off x="275253" y="6075148"/>
            <a:ext cx="9692640" cy="320040"/>
          </a:xfrm>
          <a:prstGeom prst="rect">
            <a:avLst/>
          </a:prstGeom>
          <a:noFill/>
          <a:ln/>
        </p:spPr>
        <p:txBody>
          <a:bodyPr wrap="square" lIns="0" tIns="0" rIns="0" bIns="0" rtlCol="0" anchor="ctr"/>
          <a:lstStyle/>
          <a:p>
            <a:r>
              <a:rPr lang="en-US" sz="1200" dirty="0">
                <a:latin typeface="Calibri" pitchFamily="34" charset="0"/>
                <a:ea typeface="Calibri" pitchFamily="34" charset="-122"/>
                <a:cs typeface="Calibri" pitchFamily="34" charset="-120"/>
              </a:rPr>
              <a:t>• Department of Information Technology • MPSTME, NMIMS</a:t>
            </a:r>
            <a:endParaRPr lang="en-US" sz="1200" dirty="0"/>
          </a:p>
        </p:txBody>
      </p:sp>
      <p:sp>
        <p:nvSpPr>
          <p:cNvPr id="19" name="Text 12">
            <a:extLst>
              <a:ext uri="{FF2B5EF4-FFF2-40B4-BE49-F238E27FC236}">
                <a16:creationId xmlns:a16="http://schemas.microsoft.com/office/drawing/2014/main" id="{23203B24-0525-94BD-9F97-EC93A2F5B7F1}"/>
              </a:ext>
            </a:extLst>
          </p:cNvPr>
          <p:cNvSpPr/>
          <p:nvPr/>
        </p:nvSpPr>
        <p:spPr>
          <a:xfrm>
            <a:off x="1557281" y="5043824"/>
            <a:ext cx="2526108" cy="365760"/>
          </a:xfrm>
          <a:prstGeom prst="rect">
            <a:avLst/>
          </a:prstGeom>
          <a:noFill/>
          <a:ln/>
        </p:spPr>
        <p:txBody>
          <a:bodyPr wrap="square" lIns="0" tIns="0" rIns="0" bIns="0" rtlCol="0" anchor="ctr"/>
          <a:lstStyle/>
          <a:p>
            <a:pPr marL="0" indent="0">
              <a:buNone/>
            </a:pPr>
            <a:r>
              <a:rPr lang="en-US" sz="2000" b="1" dirty="0">
                <a:solidFill>
                  <a:srgbClr val="262626"/>
                </a:solidFill>
                <a:latin typeface="Calibri" pitchFamily="34" charset="0"/>
                <a:ea typeface="Calibri" pitchFamily="34" charset="-122"/>
                <a:cs typeface="Calibri" pitchFamily="34" charset="-120"/>
              </a:rPr>
              <a:t>Soumy Raghuvanshi</a:t>
            </a:r>
            <a:endParaRPr lang="en-US" sz="2000" dirty="0"/>
          </a:p>
        </p:txBody>
      </p:sp>
      <p:sp>
        <p:nvSpPr>
          <p:cNvPr id="23" name="TextBox 22">
            <a:extLst>
              <a:ext uri="{FF2B5EF4-FFF2-40B4-BE49-F238E27FC236}">
                <a16:creationId xmlns:a16="http://schemas.microsoft.com/office/drawing/2014/main" id="{5C317172-1CC7-4ED7-C2D3-07AE9D86557A}"/>
              </a:ext>
            </a:extLst>
          </p:cNvPr>
          <p:cNvSpPr txBox="1"/>
          <p:nvPr/>
        </p:nvSpPr>
        <p:spPr>
          <a:xfrm>
            <a:off x="1156996" y="3544483"/>
            <a:ext cx="6097554" cy="369332"/>
          </a:xfrm>
          <a:prstGeom prst="rect">
            <a:avLst/>
          </a:prstGeom>
          <a:noFill/>
        </p:spPr>
        <p:txBody>
          <a:bodyPr wrap="square">
            <a:spAutoFit/>
          </a:bodyPr>
          <a:lstStyle/>
          <a:p>
            <a:r>
              <a:rPr lang="en-US" dirty="0">
                <a:latin typeface="Calibri" pitchFamily="34" charset="0"/>
                <a:ea typeface="Calibri" pitchFamily="34" charset="-122"/>
                <a:cs typeface="Calibri" pitchFamily="34" charset="-120"/>
              </a:rPr>
              <a:t>Mentor: </a:t>
            </a:r>
            <a:r>
              <a:rPr lang="en-IN" dirty="0"/>
              <a:t>Dr. Srikanth </a:t>
            </a:r>
            <a:r>
              <a:rPr lang="en-IN" dirty="0" err="1"/>
              <a:t>Pulipeti</a:t>
            </a:r>
            <a:r>
              <a:rPr lang="en-US" dirty="0">
                <a:latin typeface="Calibri" pitchFamily="34" charset="0"/>
                <a:ea typeface="Calibri" pitchFamily="34" charset="-122"/>
                <a:cs typeface="Calibri" pitchFamily="34" charset="-120"/>
              </a:rPr>
              <a:t> </a:t>
            </a:r>
            <a:endParaRPr lang="en-IN" sz="2800" dirty="0"/>
          </a:p>
        </p:txBody>
      </p:sp>
      <p:sp>
        <p:nvSpPr>
          <p:cNvPr id="24" name="TextBox 23">
            <a:extLst>
              <a:ext uri="{FF2B5EF4-FFF2-40B4-BE49-F238E27FC236}">
                <a16:creationId xmlns:a16="http://schemas.microsoft.com/office/drawing/2014/main" id="{0710F538-D3F1-729E-8F2E-DB2866969158}"/>
              </a:ext>
            </a:extLst>
          </p:cNvPr>
          <p:cNvSpPr txBox="1"/>
          <p:nvPr/>
        </p:nvSpPr>
        <p:spPr>
          <a:xfrm>
            <a:off x="1308307" y="4333122"/>
            <a:ext cx="2725472" cy="400110"/>
          </a:xfrm>
          <a:prstGeom prst="rect">
            <a:avLst/>
          </a:prstGeom>
          <a:noFill/>
        </p:spPr>
        <p:txBody>
          <a:bodyPr wrap="square" rtlCol="0">
            <a:spAutoFit/>
          </a:bodyPr>
          <a:lstStyle/>
          <a:p>
            <a:r>
              <a:rPr lang="en-IN" sz="2000" b="1" dirty="0"/>
              <a:t>Team Members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Problem Statement</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Text 5"/>
          <p:cNvSpPr/>
          <p:nvPr/>
        </p:nvSpPr>
        <p:spPr>
          <a:xfrm>
            <a:off x="502920" y="2121408"/>
            <a:ext cx="11155680" cy="640080"/>
          </a:xfrm>
          <a:prstGeom prst="rect">
            <a:avLst/>
          </a:prstGeom>
          <a:noFill/>
          <a:ln/>
        </p:spPr>
        <p:txBody>
          <a:bodyPr wrap="square" lIns="0" tIns="0" rIns="0" bIns="0" rtlCol="0" anchor="ctr"/>
          <a:lstStyle/>
          <a:p>
            <a:pPr marL="0" indent="0">
              <a:lnSpc>
                <a:spcPct val="115000"/>
              </a:lnSpc>
              <a:buNone/>
            </a:pPr>
            <a:r>
              <a:rPr lang="en-US" sz="1600" dirty="0">
                <a:solidFill>
                  <a:srgbClr val="262626"/>
                </a:solidFill>
                <a:latin typeface="Calibri" pitchFamily="34" charset="0"/>
                <a:ea typeface="Calibri" pitchFamily="34" charset="-122"/>
                <a:cs typeface="Calibri" pitchFamily="34" charset="-120"/>
              </a:rPr>
              <a:t>Small food businesses — cafes, bakeries, independent restaurants — make daily purchasing decisions with no reliable way to predict tomorrow's demand.</a:t>
            </a:r>
            <a:endParaRPr lang="en-US" sz="1600" dirty="0"/>
          </a:p>
        </p:txBody>
      </p:sp>
      <p:sp>
        <p:nvSpPr>
          <p:cNvPr id="10" name="Shape 6"/>
          <p:cNvSpPr/>
          <p:nvPr/>
        </p:nvSpPr>
        <p:spPr>
          <a:xfrm>
            <a:off x="502920" y="2880360"/>
            <a:ext cx="11155680" cy="1051560"/>
          </a:xfrm>
          <a:prstGeom prst="rect">
            <a:avLst/>
          </a:prstGeom>
          <a:solidFill>
            <a:srgbClr val="F7F5F4"/>
          </a:solidFill>
          <a:ln/>
        </p:spPr>
      </p:sp>
      <p:sp>
        <p:nvSpPr>
          <p:cNvPr id="11" name="Text 7"/>
          <p:cNvSpPr/>
          <p:nvPr/>
        </p:nvSpPr>
        <p:spPr>
          <a:xfrm>
            <a:off x="777240" y="3035808"/>
            <a:ext cx="10607040" cy="777240"/>
          </a:xfrm>
          <a:prstGeom prst="rect">
            <a:avLst/>
          </a:prstGeom>
          <a:noFill/>
          <a:ln/>
        </p:spPr>
        <p:txBody>
          <a:bodyPr wrap="square" lIns="0" tIns="0" rIns="0" bIns="0" rtlCol="0" anchor="t"/>
          <a:lstStyle/>
          <a:p>
            <a:pPr marL="0" indent="0">
              <a:lnSpc>
                <a:spcPct val="115000"/>
              </a:lnSpc>
              <a:buNone/>
            </a:pPr>
            <a:r>
              <a:rPr lang="en-US" sz="1350" b="1" dirty="0">
                <a:solidFill>
                  <a:srgbClr val="BC312C"/>
                </a:solidFill>
                <a:latin typeface="Calibri" pitchFamily="34" charset="0"/>
                <a:ea typeface="Calibri" pitchFamily="34" charset="-122"/>
                <a:cs typeface="Calibri" pitchFamily="34" charset="-120"/>
              </a:rPr>
              <a:t>The core disconnect: </a:t>
            </a:r>
            <a:r>
              <a:rPr lang="en-US" sz="1350" dirty="0">
                <a:solidFill>
                  <a:srgbClr val="262626"/>
                </a:solidFill>
                <a:latin typeface="Calibri" pitchFamily="34" charset="0"/>
                <a:ea typeface="Calibri" pitchFamily="34" charset="-122"/>
                <a:cs typeface="Calibri" pitchFamily="34" charset="-120"/>
              </a:rPr>
              <a:t>a cafe owner does not think in RMSE or MAPE — they want to know exactly how many loaves of bread, croissants, or cups of coffee to order tomorrow. Across the forecasting literature we reviewed, most studies (Aqila et al., Jatte et al., Gartner et al., Susanto et al.) stop at computing an error metric and never take the final step of producing a purchase quantity.</a:t>
            </a:r>
            <a:endParaRPr lang="en-US" sz="1350" dirty="0"/>
          </a:p>
        </p:txBody>
      </p:sp>
      <p:sp>
        <p:nvSpPr>
          <p:cNvPr id="12" name="Shape 8"/>
          <p:cNvSpPr/>
          <p:nvPr/>
        </p:nvSpPr>
        <p:spPr>
          <a:xfrm>
            <a:off x="502920" y="4160520"/>
            <a:ext cx="2697480" cy="1783080"/>
          </a:xfrm>
          <a:prstGeom prst="roundRect">
            <a:avLst>
              <a:gd name="adj" fmla="val 4103"/>
            </a:avLst>
          </a:prstGeom>
          <a:solidFill>
            <a:srgbClr val="FFFFFF"/>
          </a:solidFill>
          <a:ln w="15875">
            <a:solidFill>
              <a:srgbClr val="BC312C"/>
            </a:solidFill>
            <a:prstDash val="solid"/>
          </a:ln>
        </p:spPr>
      </p:sp>
      <p:sp>
        <p:nvSpPr>
          <p:cNvPr id="13" name="Shape 9"/>
          <p:cNvSpPr/>
          <p:nvPr/>
        </p:nvSpPr>
        <p:spPr>
          <a:xfrm>
            <a:off x="502920" y="4160520"/>
            <a:ext cx="2697480" cy="411480"/>
          </a:xfrm>
          <a:prstGeom prst="rect">
            <a:avLst/>
          </a:prstGeom>
          <a:solidFill>
            <a:srgbClr val="BC312C"/>
          </a:solidFill>
          <a:ln/>
        </p:spPr>
      </p:sp>
      <p:sp>
        <p:nvSpPr>
          <p:cNvPr id="14" name="Text 10"/>
          <p:cNvSpPr/>
          <p:nvPr/>
        </p:nvSpPr>
        <p:spPr>
          <a:xfrm>
            <a:off x="612648" y="4160520"/>
            <a:ext cx="2478024" cy="41148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Forecast-to-Action Gap</a:t>
            </a:r>
            <a:endParaRPr lang="en-US" dirty="0"/>
          </a:p>
        </p:txBody>
      </p:sp>
      <p:sp>
        <p:nvSpPr>
          <p:cNvPr id="15" name="Text 11"/>
          <p:cNvSpPr/>
          <p:nvPr/>
        </p:nvSpPr>
        <p:spPr>
          <a:xfrm>
            <a:off x="640080" y="4663440"/>
            <a:ext cx="2423160" cy="1188720"/>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Calibri" pitchFamily="34" charset="0"/>
                <a:ea typeface="Calibri" pitchFamily="34" charset="-122"/>
                <a:cs typeface="Calibri" pitchFamily="34" charset="-120"/>
              </a:rPr>
              <a:t>Predictions rarely convert into an operational restock quantity</a:t>
            </a:r>
            <a:endParaRPr lang="en-US" sz="1600" dirty="0"/>
          </a:p>
        </p:txBody>
      </p:sp>
      <p:sp>
        <p:nvSpPr>
          <p:cNvPr id="16" name="Shape 12"/>
          <p:cNvSpPr/>
          <p:nvPr/>
        </p:nvSpPr>
        <p:spPr>
          <a:xfrm>
            <a:off x="3310128" y="4160520"/>
            <a:ext cx="2697480" cy="1783080"/>
          </a:xfrm>
          <a:prstGeom prst="roundRect">
            <a:avLst>
              <a:gd name="adj" fmla="val 4103"/>
            </a:avLst>
          </a:prstGeom>
          <a:solidFill>
            <a:srgbClr val="FFFFFF"/>
          </a:solidFill>
          <a:ln w="15875">
            <a:solidFill>
              <a:srgbClr val="BC312C"/>
            </a:solidFill>
            <a:prstDash val="solid"/>
          </a:ln>
        </p:spPr>
      </p:sp>
      <p:sp>
        <p:nvSpPr>
          <p:cNvPr id="17" name="Shape 13"/>
          <p:cNvSpPr/>
          <p:nvPr/>
        </p:nvSpPr>
        <p:spPr>
          <a:xfrm>
            <a:off x="3310128" y="4160520"/>
            <a:ext cx="2697480" cy="411480"/>
          </a:xfrm>
          <a:prstGeom prst="rect">
            <a:avLst/>
          </a:prstGeom>
          <a:solidFill>
            <a:srgbClr val="BC312C"/>
          </a:solidFill>
          <a:ln/>
        </p:spPr>
      </p:sp>
      <p:sp>
        <p:nvSpPr>
          <p:cNvPr id="18" name="Text 14"/>
          <p:cNvSpPr/>
          <p:nvPr/>
        </p:nvSpPr>
        <p:spPr>
          <a:xfrm>
            <a:off x="3419856" y="4160520"/>
            <a:ext cx="2478024" cy="41148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Accessibility Gap</a:t>
            </a:r>
            <a:endParaRPr lang="en-US" dirty="0"/>
          </a:p>
        </p:txBody>
      </p:sp>
      <p:sp>
        <p:nvSpPr>
          <p:cNvPr id="19" name="Text 15"/>
          <p:cNvSpPr/>
          <p:nvPr/>
        </p:nvSpPr>
        <p:spPr>
          <a:xfrm>
            <a:off x="3447288" y="4663440"/>
            <a:ext cx="2423160" cy="1188720"/>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Calibri" pitchFamily="34" charset="0"/>
                <a:ea typeface="Calibri" pitchFamily="34" charset="-122"/>
                <a:cs typeface="Calibri" pitchFamily="34" charset="-120"/>
              </a:rPr>
              <a:t>Accurate tools assume enterprise dashboards and IT staff</a:t>
            </a:r>
            <a:endParaRPr lang="en-US" sz="1600" dirty="0"/>
          </a:p>
        </p:txBody>
      </p:sp>
      <p:sp>
        <p:nvSpPr>
          <p:cNvPr id="20" name="Shape 16"/>
          <p:cNvSpPr/>
          <p:nvPr/>
        </p:nvSpPr>
        <p:spPr>
          <a:xfrm>
            <a:off x="6117336" y="4160520"/>
            <a:ext cx="2697480" cy="1783080"/>
          </a:xfrm>
          <a:prstGeom prst="roundRect">
            <a:avLst>
              <a:gd name="adj" fmla="val 4103"/>
            </a:avLst>
          </a:prstGeom>
          <a:solidFill>
            <a:srgbClr val="FFFFFF"/>
          </a:solidFill>
          <a:ln w="15875">
            <a:solidFill>
              <a:srgbClr val="BC312C"/>
            </a:solidFill>
            <a:prstDash val="solid"/>
          </a:ln>
        </p:spPr>
      </p:sp>
      <p:sp>
        <p:nvSpPr>
          <p:cNvPr id="21" name="Shape 17"/>
          <p:cNvSpPr/>
          <p:nvPr/>
        </p:nvSpPr>
        <p:spPr>
          <a:xfrm>
            <a:off x="6117336" y="4160520"/>
            <a:ext cx="2697480" cy="411480"/>
          </a:xfrm>
          <a:prstGeom prst="rect">
            <a:avLst/>
          </a:prstGeom>
          <a:solidFill>
            <a:srgbClr val="BC312C"/>
          </a:solidFill>
          <a:ln/>
        </p:spPr>
      </p:sp>
      <p:sp>
        <p:nvSpPr>
          <p:cNvPr id="22" name="Text 18"/>
          <p:cNvSpPr/>
          <p:nvPr/>
        </p:nvSpPr>
        <p:spPr>
          <a:xfrm>
            <a:off x="6227064" y="4160520"/>
            <a:ext cx="2478024" cy="41148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Cold-Start Gap</a:t>
            </a:r>
            <a:endParaRPr lang="en-US" dirty="0"/>
          </a:p>
        </p:txBody>
      </p:sp>
      <p:sp>
        <p:nvSpPr>
          <p:cNvPr id="23" name="Text 19"/>
          <p:cNvSpPr/>
          <p:nvPr/>
        </p:nvSpPr>
        <p:spPr>
          <a:xfrm>
            <a:off x="6254496" y="4663440"/>
            <a:ext cx="2423160" cy="1188720"/>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Calibri" pitchFamily="34" charset="0"/>
                <a:ea typeface="Calibri" pitchFamily="34" charset="-122"/>
                <a:cs typeface="Calibri" pitchFamily="34" charset="-120"/>
              </a:rPr>
              <a:t>Deep learning models fail on the short, sparse histories real SMEs have</a:t>
            </a:r>
            <a:endParaRPr lang="en-US" sz="1600" dirty="0"/>
          </a:p>
        </p:txBody>
      </p:sp>
      <p:sp>
        <p:nvSpPr>
          <p:cNvPr id="24" name="Shape 20"/>
          <p:cNvSpPr/>
          <p:nvPr/>
        </p:nvSpPr>
        <p:spPr>
          <a:xfrm>
            <a:off x="8924544" y="4160520"/>
            <a:ext cx="2697480" cy="1783080"/>
          </a:xfrm>
          <a:prstGeom prst="roundRect">
            <a:avLst>
              <a:gd name="adj" fmla="val 4103"/>
            </a:avLst>
          </a:prstGeom>
          <a:solidFill>
            <a:srgbClr val="FFFFFF"/>
          </a:solidFill>
          <a:ln w="15875">
            <a:solidFill>
              <a:srgbClr val="BC312C"/>
            </a:solidFill>
            <a:prstDash val="solid"/>
          </a:ln>
        </p:spPr>
      </p:sp>
      <p:sp>
        <p:nvSpPr>
          <p:cNvPr id="25" name="Shape 21"/>
          <p:cNvSpPr/>
          <p:nvPr/>
        </p:nvSpPr>
        <p:spPr>
          <a:xfrm>
            <a:off x="8924544" y="4160520"/>
            <a:ext cx="2697480" cy="411480"/>
          </a:xfrm>
          <a:prstGeom prst="rect">
            <a:avLst/>
          </a:prstGeom>
          <a:solidFill>
            <a:srgbClr val="BC312C"/>
          </a:solidFill>
          <a:ln/>
        </p:spPr>
      </p:sp>
      <p:sp>
        <p:nvSpPr>
          <p:cNvPr id="26" name="Text 22"/>
          <p:cNvSpPr/>
          <p:nvPr/>
        </p:nvSpPr>
        <p:spPr>
          <a:xfrm>
            <a:off x="9034272" y="4160520"/>
            <a:ext cx="2478024" cy="41148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Infrastructure Gap</a:t>
            </a:r>
            <a:endParaRPr lang="en-US" dirty="0"/>
          </a:p>
        </p:txBody>
      </p:sp>
      <p:sp>
        <p:nvSpPr>
          <p:cNvPr id="27" name="Text 23"/>
          <p:cNvSpPr/>
          <p:nvPr/>
        </p:nvSpPr>
        <p:spPr>
          <a:xfrm>
            <a:off x="9061704" y="4663440"/>
            <a:ext cx="2423160" cy="1188720"/>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Calibri" pitchFamily="34" charset="0"/>
                <a:ea typeface="Calibri" pitchFamily="34" charset="-122"/>
                <a:cs typeface="Calibri" pitchFamily="34" charset="-120"/>
              </a:rPr>
              <a:t>Best-performing systems assume IoT hardware or heavy compute</a:t>
            </a:r>
            <a:endParaRPr lang="en-US" sz="1600" dirty="0"/>
          </a:p>
        </p:txBody>
      </p:sp>
      <p:sp>
        <p:nvSpPr>
          <p:cNvPr id="28" name="Text 24"/>
          <p:cNvSpPr/>
          <p:nvPr/>
        </p:nvSpPr>
        <p:spPr>
          <a:xfrm>
            <a:off x="228600" y="6519672"/>
            <a:ext cx="11155680" cy="365760"/>
          </a:xfrm>
          <a:prstGeom prst="rect">
            <a:avLst/>
          </a:prstGeom>
          <a:noFill/>
          <a:ln/>
        </p:spPr>
        <p:txBody>
          <a:bodyPr wrap="square" lIns="0" tIns="0" rIns="0" bIns="0" rtlCol="0" anchor="ctr"/>
          <a:lstStyle/>
          <a:p>
            <a:pPr marL="0" indent="0">
              <a:buNone/>
            </a:pPr>
            <a:endParaRPr lang="en-US" sz="1250" dirty="0"/>
          </a:p>
        </p:txBody>
      </p:sp>
      <p:sp>
        <p:nvSpPr>
          <p:cNvPr id="34" name="Shape 0">
            <a:extLst>
              <a:ext uri="{FF2B5EF4-FFF2-40B4-BE49-F238E27FC236}">
                <a16:creationId xmlns:a16="http://schemas.microsoft.com/office/drawing/2014/main" id="{1365C3C6-B8EA-C182-C3DE-B2B324D16567}"/>
              </a:ext>
            </a:extLst>
          </p:cNvPr>
          <p:cNvSpPr/>
          <p:nvPr/>
        </p:nvSpPr>
        <p:spPr>
          <a:xfrm>
            <a:off x="0" y="0"/>
            <a:ext cx="12191695" cy="580644"/>
          </a:xfrm>
          <a:prstGeom prst="rect">
            <a:avLst/>
          </a:prstGeom>
          <a:solidFill>
            <a:srgbClr val="BC312C"/>
          </a:solidFill>
          <a:ln/>
        </p:spPr>
      </p:sp>
      <p:pic>
        <p:nvPicPr>
          <p:cNvPr id="36" name="Image 0" descr="/home/claude/pptx/assets/left_logo.png">
            <a:extLst>
              <a:ext uri="{FF2B5EF4-FFF2-40B4-BE49-F238E27FC236}">
                <a16:creationId xmlns:a16="http://schemas.microsoft.com/office/drawing/2014/main" id="{9DD000F2-7C98-30F1-3345-C4D436DB563A}"/>
              </a:ext>
            </a:extLst>
          </p:cNvPr>
          <p:cNvPicPr>
            <a:picLocks noChangeAspect="1"/>
          </p:cNvPicPr>
          <p:nvPr/>
        </p:nvPicPr>
        <p:blipFill>
          <a:blip r:embed="rId3"/>
          <a:stretch>
            <a:fillRect/>
          </a:stretch>
        </p:blipFill>
        <p:spPr>
          <a:xfrm>
            <a:off x="0" y="45720"/>
            <a:ext cx="3246120" cy="1152144"/>
          </a:xfrm>
          <a:prstGeom prst="rect">
            <a:avLst/>
          </a:prstGeom>
        </p:spPr>
      </p:pic>
      <p:pic>
        <p:nvPicPr>
          <p:cNvPr id="38" name="Image 1" descr="/home/claude/pptx/assets/right_logo.png">
            <a:extLst>
              <a:ext uri="{FF2B5EF4-FFF2-40B4-BE49-F238E27FC236}">
                <a16:creationId xmlns:a16="http://schemas.microsoft.com/office/drawing/2014/main" id="{B43BBC63-717A-9EE6-6C34-0F3D9833C49D}"/>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3</a:t>
            </a:r>
            <a:endParaRPr lang="en-US" sz="1100"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Motivation and Need for the Project</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Shape 5"/>
          <p:cNvSpPr/>
          <p:nvPr/>
        </p:nvSpPr>
        <p:spPr>
          <a:xfrm>
            <a:off x="502920" y="2121408"/>
            <a:ext cx="6035040" cy="4114800"/>
          </a:xfrm>
          <a:prstGeom prst="rect">
            <a:avLst/>
          </a:prstGeom>
          <a:solidFill>
            <a:srgbClr val="F7F5F4"/>
          </a:solidFill>
          <a:ln/>
        </p:spPr>
        <p:txBody>
          <a:bodyPr/>
          <a:lstStyle/>
          <a:p>
            <a:endParaRPr lang="en-IN" dirty="0"/>
          </a:p>
        </p:txBody>
      </p:sp>
      <p:sp>
        <p:nvSpPr>
          <p:cNvPr id="10" name="Shape 6"/>
          <p:cNvSpPr/>
          <p:nvPr/>
        </p:nvSpPr>
        <p:spPr>
          <a:xfrm>
            <a:off x="731520" y="2395728"/>
            <a:ext cx="128016" cy="128016"/>
          </a:xfrm>
          <a:prstGeom prst="ellipse">
            <a:avLst/>
          </a:prstGeom>
          <a:solidFill>
            <a:srgbClr val="BC312C"/>
          </a:solidFill>
          <a:ln/>
        </p:spPr>
      </p:sp>
      <p:sp>
        <p:nvSpPr>
          <p:cNvPr id="11" name="Text 7"/>
          <p:cNvSpPr/>
          <p:nvPr/>
        </p:nvSpPr>
        <p:spPr>
          <a:xfrm>
            <a:off x="1005840" y="2276856"/>
            <a:ext cx="5257800"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Small food businesses operate on thin margins — a single bad week of over- or under-ordering has a direct, measurable financial impact.</a:t>
            </a:r>
            <a:endParaRPr lang="en-US" sz="1600" dirty="0"/>
          </a:p>
        </p:txBody>
      </p:sp>
      <p:sp>
        <p:nvSpPr>
          <p:cNvPr id="12" name="Shape 8"/>
          <p:cNvSpPr/>
          <p:nvPr/>
        </p:nvSpPr>
        <p:spPr>
          <a:xfrm>
            <a:off x="731520" y="3401568"/>
            <a:ext cx="128016" cy="128016"/>
          </a:xfrm>
          <a:prstGeom prst="ellipse">
            <a:avLst/>
          </a:prstGeom>
          <a:solidFill>
            <a:srgbClr val="BC312C"/>
          </a:solidFill>
          <a:ln/>
        </p:spPr>
      </p:sp>
      <p:sp>
        <p:nvSpPr>
          <p:cNvPr id="13" name="Text 9"/>
          <p:cNvSpPr/>
          <p:nvPr/>
        </p:nvSpPr>
        <p:spPr>
          <a:xfrm>
            <a:off x="1005840" y="3282696"/>
            <a:ext cx="5257800"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Perishable inventory means forecasting errors translate directly into food waste and lost revenue, not just a missed KPI.</a:t>
            </a:r>
            <a:endParaRPr lang="en-US" sz="1600" dirty="0"/>
          </a:p>
        </p:txBody>
      </p:sp>
      <p:sp>
        <p:nvSpPr>
          <p:cNvPr id="14" name="Shape 10"/>
          <p:cNvSpPr/>
          <p:nvPr/>
        </p:nvSpPr>
        <p:spPr>
          <a:xfrm>
            <a:off x="731520" y="4305808"/>
            <a:ext cx="128016" cy="128016"/>
          </a:xfrm>
          <a:prstGeom prst="ellipse">
            <a:avLst/>
          </a:prstGeom>
          <a:solidFill>
            <a:srgbClr val="BC312C"/>
          </a:solidFill>
          <a:ln/>
        </p:spPr>
      </p:sp>
      <p:sp>
        <p:nvSpPr>
          <p:cNvPr id="15" name="Text 11"/>
          <p:cNvSpPr/>
          <p:nvPr/>
        </p:nvSpPr>
        <p:spPr>
          <a:xfrm>
            <a:off x="1005840" y="4186936"/>
            <a:ext cx="5257800"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Existing accessible tools (e.g., “Stock Easy”, Janchidfah et al. 2026) manage inventory manually but have no predictive capability at all.</a:t>
            </a:r>
            <a:endParaRPr lang="en-US" sz="1600" dirty="0"/>
          </a:p>
        </p:txBody>
      </p:sp>
      <p:sp>
        <p:nvSpPr>
          <p:cNvPr id="16" name="Shape 12"/>
          <p:cNvSpPr/>
          <p:nvPr/>
        </p:nvSpPr>
        <p:spPr>
          <a:xfrm>
            <a:off x="731520" y="5311648"/>
            <a:ext cx="128016" cy="128016"/>
          </a:xfrm>
          <a:prstGeom prst="ellipse">
            <a:avLst/>
          </a:prstGeom>
          <a:solidFill>
            <a:srgbClr val="BC312C"/>
          </a:solidFill>
          <a:ln/>
        </p:spPr>
      </p:sp>
      <p:sp>
        <p:nvSpPr>
          <p:cNvPr id="17" name="Text 13"/>
          <p:cNvSpPr/>
          <p:nvPr/>
        </p:nvSpPr>
        <p:spPr>
          <a:xfrm>
            <a:off x="1005840" y="5192776"/>
            <a:ext cx="5257800"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Enterprise-grade AI/ERP forecasting exists, but survey evidence shows SMEs cannot adopt it — not due to distrust, but due to cost and know-how.</a:t>
            </a:r>
            <a:endParaRPr lang="en-US" sz="1600" dirty="0"/>
          </a:p>
        </p:txBody>
      </p:sp>
      <p:sp>
        <p:nvSpPr>
          <p:cNvPr id="18" name="Shape 14"/>
          <p:cNvSpPr/>
          <p:nvPr/>
        </p:nvSpPr>
        <p:spPr>
          <a:xfrm>
            <a:off x="6766560" y="2121408"/>
            <a:ext cx="4892040" cy="1188720"/>
          </a:xfrm>
          <a:prstGeom prst="roundRect">
            <a:avLst>
              <a:gd name="adj" fmla="val 4615"/>
            </a:avLst>
          </a:prstGeom>
          <a:solidFill>
            <a:srgbClr val="FFFFFF"/>
          </a:solidFill>
          <a:ln w="12700">
            <a:solidFill>
              <a:srgbClr val="BC312C"/>
            </a:solidFill>
            <a:prstDash val="solid"/>
          </a:ln>
        </p:spPr>
      </p:sp>
      <p:sp>
        <p:nvSpPr>
          <p:cNvPr id="19" name="Text 15"/>
          <p:cNvSpPr/>
          <p:nvPr/>
        </p:nvSpPr>
        <p:spPr>
          <a:xfrm>
            <a:off x="6903720" y="2194560"/>
            <a:ext cx="1554480" cy="104241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92</a:t>
            </a:r>
            <a:endParaRPr lang="en-US" sz="3000" dirty="0"/>
          </a:p>
        </p:txBody>
      </p:sp>
      <p:sp>
        <p:nvSpPr>
          <p:cNvPr id="20" name="Text 16"/>
          <p:cNvSpPr/>
          <p:nvPr/>
        </p:nvSpPr>
        <p:spPr>
          <a:xfrm>
            <a:off x="8549640" y="2194560"/>
            <a:ext cx="2971800" cy="104241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MSMEs surveyed by Aree &amp; Ueasangkomsate (2025) confirmed budget and know-how are the top barriers to AI adoption in food supply chains</a:t>
            </a:r>
            <a:endParaRPr lang="en-US" sz="1400" dirty="0"/>
          </a:p>
        </p:txBody>
      </p:sp>
      <p:sp>
        <p:nvSpPr>
          <p:cNvPr id="21" name="Shape 17"/>
          <p:cNvSpPr/>
          <p:nvPr/>
        </p:nvSpPr>
        <p:spPr>
          <a:xfrm>
            <a:off x="6766560" y="3493008"/>
            <a:ext cx="4892040" cy="1188720"/>
          </a:xfrm>
          <a:prstGeom prst="roundRect">
            <a:avLst>
              <a:gd name="adj" fmla="val 4615"/>
            </a:avLst>
          </a:prstGeom>
          <a:solidFill>
            <a:srgbClr val="FFFFFF"/>
          </a:solidFill>
          <a:ln w="12700">
            <a:solidFill>
              <a:srgbClr val="BC312C"/>
            </a:solidFill>
            <a:prstDash val="solid"/>
          </a:ln>
        </p:spPr>
      </p:sp>
      <p:sp>
        <p:nvSpPr>
          <p:cNvPr id="22" name="Text 18"/>
          <p:cNvSpPr/>
          <p:nvPr/>
        </p:nvSpPr>
        <p:spPr>
          <a:xfrm>
            <a:off x="6903720" y="3566160"/>
            <a:ext cx="1554480" cy="104241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0.76</a:t>
            </a:r>
            <a:endParaRPr lang="en-US" sz="3000" dirty="0"/>
          </a:p>
        </p:txBody>
      </p:sp>
      <p:sp>
        <p:nvSpPr>
          <p:cNvPr id="23" name="Text 19"/>
          <p:cNvSpPr/>
          <p:nvPr/>
        </p:nvSpPr>
        <p:spPr>
          <a:xfrm>
            <a:off x="8549640" y="3566160"/>
            <a:ext cx="2971800" cy="104241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correlation (r) between perceived ease of use and digital-transformation readiness among 132 SME retail users (Janchidfah et al., 2026)</a:t>
            </a:r>
            <a:endParaRPr lang="en-US" sz="1400" dirty="0"/>
          </a:p>
        </p:txBody>
      </p:sp>
      <p:sp>
        <p:nvSpPr>
          <p:cNvPr id="24" name="Shape 20"/>
          <p:cNvSpPr/>
          <p:nvPr/>
        </p:nvSpPr>
        <p:spPr>
          <a:xfrm>
            <a:off x="6766560" y="4864608"/>
            <a:ext cx="4892040" cy="1188720"/>
          </a:xfrm>
          <a:prstGeom prst="roundRect">
            <a:avLst>
              <a:gd name="adj" fmla="val 4615"/>
            </a:avLst>
          </a:prstGeom>
          <a:solidFill>
            <a:srgbClr val="FFFFFF"/>
          </a:solidFill>
          <a:ln w="12700">
            <a:solidFill>
              <a:srgbClr val="BC312C"/>
            </a:solidFill>
            <a:prstDash val="solid"/>
          </a:ln>
        </p:spPr>
      </p:sp>
      <p:sp>
        <p:nvSpPr>
          <p:cNvPr id="25" name="Text 21"/>
          <p:cNvSpPr/>
          <p:nvPr/>
        </p:nvSpPr>
        <p:spPr>
          <a:xfrm>
            <a:off x="6903720" y="4937760"/>
            <a:ext cx="1554480" cy="104241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30–40%</a:t>
            </a:r>
            <a:endParaRPr lang="en-US" sz="3000" dirty="0"/>
          </a:p>
        </p:txBody>
      </p:sp>
      <p:sp>
        <p:nvSpPr>
          <p:cNvPr id="26" name="Text 22"/>
          <p:cNvSpPr/>
          <p:nvPr/>
        </p:nvSpPr>
        <p:spPr>
          <a:xfrm>
            <a:off x="8549640" y="4937760"/>
            <a:ext cx="2971800" cy="104241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of predicted food-sector sales fail to materialize due to unaccounted weather effects (Jain et al., 2024)</a:t>
            </a:r>
            <a:endParaRPr lang="en-US" sz="1400" dirty="0"/>
          </a:p>
        </p:txBody>
      </p:sp>
      <p:sp>
        <p:nvSpPr>
          <p:cNvPr id="32" name="Shape 0">
            <a:extLst>
              <a:ext uri="{FF2B5EF4-FFF2-40B4-BE49-F238E27FC236}">
                <a16:creationId xmlns:a16="http://schemas.microsoft.com/office/drawing/2014/main" id="{B0E0D33C-60AE-9396-E8FD-C88DF9928E79}"/>
              </a:ext>
            </a:extLst>
          </p:cNvPr>
          <p:cNvSpPr/>
          <p:nvPr/>
        </p:nvSpPr>
        <p:spPr>
          <a:xfrm>
            <a:off x="0" y="0"/>
            <a:ext cx="12191695" cy="580644"/>
          </a:xfrm>
          <a:prstGeom prst="rect">
            <a:avLst/>
          </a:prstGeom>
          <a:solidFill>
            <a:srgbClr val="BC312C"/>
          </a:solidFill>
          <a:ln/>
        </p:spPr>
      </p:sp>
      <p:pic>
        <p:nvPicPr>
          <p:cNvPr id="34" name="Image 0" descr="/home/claude/pptx/assets/left_logo.png">
            <a:extLst>
              <a:ext uri="{FF2B5EF4-FFF2-40B4-BE49-F238E27FC236}">
                <a16:creationId xmlns:a16="http://schemas.microsoft.com/office/drawing/2014/main" id="{76843889-2B56-9C44-610E-B252E9E5946F}"/>
              </a:ext>
            </a:extLst>
          </p:cNvPr>
          <p:cNvPicPr>
            <a:picLocks noChangeAspect="1"/>
          </p:cNvPicPr>
          <p:nvPr/>
        </p:nvPicPr>
        <p:blipFill>
          <a:blip r:embed="rId3"/>
          <a:stretch>
            <a:fillRect/>
          </a:stretch>
        </p:blipFill>
        <p:spPr>
          <a:xfrm>
            <a:off x="0" y="45720"/>
            <a:ext cx="3246120" cy="1152144"/>
          </a:xfrm>
          <a:prstGeom prst="rect">
            <a:avLst/>
          </a:prstGeom>
        </p:spPr>
      </p:pic>
      <p:pic>
        <p:nvPicPr>
          <p:cNvPr id="36" name="Image 1" descr="/home/claude/pptx/assets/right_logo.png">
            <a:extLst>
              <a:ext uri="{FF2B5EF4-FFF2-40B4-BE49-F238E27FC236}">
                <a16:creationId xmlns:a16="http://schemas.microsoft.com/office/drawing/2014/main" id="{E0EF708D-322C-56A3-793F-A9316C565585}"/>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Objectives of the Project</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Shape 5"/>
          <p:cNvSpPr/>
          <p:nvPr/>
        </p:nvSpPr>
        <p:spPr>
          <a:xfrm>
            <a:off x="502920" y="2121408"/>
            <a:ext cx="2697480" cy="3977640"/>
          </a:xfrm>
          <a:prstGeom prst="rect">
            <a:avLst/>
          </a:prstGeom>
          <a:solidFill>
            <a:srgbClr val="F7F5F4"/>
          </a:solidFill>
          <a:ln w="12700">
            <a:solidFill>
              <a:srgbClr val="E0DAD8"/>
            </a:solidFill>
            <a:prstDash val="solid"/>
          </a:ln>
        </p:spPr>
      </p:sp>
      <p:sp>
        <p:nvSpPr>
          <p:cNvPr id="10" name="Text 6"/>
          <p:cNvSpPr/>
          <p:nvPr/>
        </p:nvSpPr>
        <p:spPr>
          <a:xfrm>
            <a:off x="640080" y="2258568"/>
            <a:ext cx="1280160"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01</a:t>
            </a:r>
            <a:endParaRPr lang="en-US" sz="3400" dirty="0"/>
          </a:p>
        </p:txBody>
      </p:sp>
      <p:sp>
        <p:nvSpPr>
          <p:cNvPr id="11" name="Text 7"/>
          <p:cNvSpPr/>
          <p:nvPr/>
        </p:nvSpPr>
        <p:spPr>
          <a:xfrm>
            <a:off x="624840" y="2911857"/>
            <a:ext cx="2423160"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Forecast Daily Demand</a:t>
            </a:r>
            <a:endParaRPr lang="en-US" sz="2000" dirty="0"/>
          </a:p>
        </p:txBody>
      </p:sp>
      <p:sp>
        <p:nvSpPr>
          <p:cNvPr id="12" name="Text 8"/>
          <p:cNvSpPr/>
          <p:nvPr/>
        </p:nvSpPr>
        <p:spPr>
          <a:xfrm>
            <a:off x="640080" y="4006088"/>
            <a:ext cx="2423160" cy="2103120"/>
          </a:xfrm>
          <a:prstGeom prst="rect">
            <a:avLst/>
          </a:prstGeom>
          <a:noFill/>
          <a:ln/>
        </p:spPr>
        <p:txBody>
          <a:bodyPr wrap="square" lIns="0" tIns="0" rIns="0" bIns="0" rtlCol="0" anchor="t"/>
          <a:lstStyle/>
          <a:p>
            <a:pPr marL="0" indent="0">
              <a:lnSpc>
                <a:spcPct val="115000"/>
              </a:lnSpc>
              <a:buNone/>
            </a:pPr>
            <a:r>
              <a:rPr lang="en-US" sz="1600" dirty="0">
                <a:solidFill>
                  <a:srgbClr val="262626"/>
                </a:solidFill>
                <a:latin typeface="Calibri" pitchFamily="34" charset="0"/>
                <a:ea typeface="Calibri" pitchFamily="34" charset="-122"/>
                <a:cs typeface="Calibri" pitchFamily="34" charset="-120"/>
              </a:rPr>
              <a:t>Build a Prophet-based model that forecasts daily item-level sales using weather and public-holiday regressors.</a:t>
            </a:r>
            <a:endParaRPr lang="en-US" sz="1600" dirty="0"/>
          </a:p>
        </p:txBody>
      </p:sp>
      <p:sp>
        <p:nvSpPr>
          <p:cNvPr id="13" name="Shape 9"/>
          <p:cNvSpPr/>
          <p:nvPr/>
        </p:nvSpPr>
        <p:spPr>
          <a:xfrm>
            <a:off x="3337560" y="2121408"/>
            <a:ext cx="2697480" cy="3977640"/>
          </a:xfrm>
          <a:prstGeom prst="rect">
            <a:avLst/>
          </a:prstGeom>
          <a:solidFill>
            <a:srgbClr val="FFFFFF"/>
          </a:solidFill>
          <a:ln w="12700">
            <a:solidFill>
              <a:srgbClr val="E0DAD8"/>
            </a:solidFill>
            <a:prstDash val="solid"/>
          </a:ln>
        </p:spPr>
      </p:sp>
      <p:sp>
        <p:nvSpPr>
          <p:cNvPr id="14" name="Text 10"/>
          <p:cNvSpPr/>
          <p:nvPr/>
        </p:nvSpPr>
        <p:spPr>
          <a:xfrm>
            <a:off x="3474720" y="2258568"/>
            <a:ext cx="1280160"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02</a:t>
            </a:r>
            <a:endParaRPr lang="en-US" sz="3400" dirty="0"/>
          </a:p>
        </p:txBody>
      </p:sp>
      <p:sp>
        <p:nvSpPr>
          <p:cNvPr id="15" name="Text 11"/>
          <p:cNvSpPr/>
          <p:nvPr/>
        </p:nvSpPr>
        <p:spPr>
          <a:xfrm>
            <a:off x="3474720" y="3081528"/>
            <a:ext cx="2834640"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Translate Forecasts into Action</a:t>
            </a:r>
            <a:endParaRPr lang="en-US" sz="2000" dirty="0"/>
          </a:p>
        </p:txBody>
      </p:sp>
      <p:sp>
        <p:nvSpPr>
          <p:cNvPr id="16" name="Text 12"/>
          <p:cNvSpPr/>
          <p:nvPr/>
        </p:nvSpPr>
        <p:spPr>
          <a:xfrm>
            <a:off x="3474720" y="4006088"/>
            <a:ext cx="2423160" cy="2103120"/>
          </a:xfrm>
          <a:prstGeom prst="rect">
            <a:avLst/>
          </a:prstGeom>
          <a:noFill/>
          <a:ln/>
        </p:spPr>
        <p:txBody>
          <a:bodyPr wrap="square" lIns="0" tIns="0" rIns="0" bIns="0" rtlCol="0" anchor="t"/>
          <a:lstStyle/>
          <a:p>
            <a:pPr marL="0" indent="0">
              <a:lnSpc>
                <a:spcPct val="115000"/>
              </a:lnSpc>
              <a:buNone/>
            </a:pPr>
            <a:r>
              <a:rPr lang="en-US" sz="1600" dirty="0">
                <a:solidFill>
                  <a:srgbClr val="262626"/>
                </a:solidFill>
                <a:latin typeface="Calibri" pitchFamily="34" charset="0"/>
                <a:ea typeface="Calibri" pitchFamily="34" charset="-122"/>
                <a:cs typeface="Calibri" pitchFamily="34" charset="-120"/>
              </a:rPr>
              <a:t>Convert point forecasts into concrete restock quantities via a configurable safety-stock buffer layer.</a:t>
            </a:r>
            <a:endParaRPr lang="en-US" sz="1600" dirty="0"/>
          </a:p>
        </p:txBody>
      </p:sp>
      <p:sp>
        <p:nvSpPr>
          <p:cNvPr id="17" name="Shape 13"/>
          <p:cNvSpPr/>
          <p:nvPr/>
        </p:nvSpPr>
        <p:spPr>
          <a:xfrm>
            <a:off x="6172200" y="2121408"/>
            <a:ext cx="2697480" cy="3977640"/>
          </a:xfrm>
          <a:prstGeom prst="rect">
            <a:avLst/>
          </a:prstGeom>
          <a:solidFill>
            <a:srgbClr val="F7F5F4"/>
          </a:solidFill>
          <a:ln w="12700">
            <a:solidFill>
              <a:srgbClr val="E0DAD8"/>
            </a:solidFill>
            <a:prstDash val="solid"/>
          </a:ln>
        </p:spPr>
      </p:sp>
      <p:sp>
        <p:nvSpPr>
          <p:cNvPr id="18" name="Text 14"/>
          <p:cNvSpPr/>
          <p:nvPr/>
        </p:nvSpPr>
        <p:spPr>
          <a:xfrm>
            <a:off x="6309360" y="2258568"/>
            <a:ext cx="1280160"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03</a:t>
            </a:r>
            <a:endParaRPr lang="en-US" sz="3400" dirty="0"/>
          </a:p>
        </p:txBody>
      </p:sp>
      <p:sp>
        <p:nvSpPr>
          <p:cNvPr id="19" name="Text 15"/>
          <p:cNvSpPr/>
          <p:nvPr/>
        </p:nvSpPr>
        <p:spPr>
          <a:xfrm>
            <a:off x="6309360" y="3081528"/>
            <a:ext cx="2423160"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Deliver Through an Accessible Interface</a:t>
            </a:r>
            <a:endParaRPr lang="en-US" sz="2000" dirty="0"/>
          </a:p>
        </p:txBody>
      </p:sp>
      <p:sp>
        <p:nvSpPr>
          <p:cNvPr id="20" name="Text 16"/>
          <p:cNvSpPr/>
          <p:nvPr/>
        </p:nvSpPr>
        <p:spPr>
          <a:xfrm>
            <a:off x="6309360" y="4006088"/>
            <a:ext cx="2423160" cy="2103120"/>
          </a:xfrm>
          <a:prstGeom prst="rect">
            <a:avLst/>
          </a:prstGeom>
          <a:noFill/>
          <a:ln/>
        </p:spPr>
        <p:txBody>
          <a:bodyPr wrap="square" lIns="0" tIns="0" rIns="0" bIns="0" rtlCol="0" anchor="t"/>
          <a:lstStyle/>
          <a:p>
            <a:pPr marL="0" indent="0">
              <a:lnSpc>
                <a:spcPct val="115000"/>
              </a:lnSpc>
              <a:buNone/>
            </a:pPr>
            <a:r>
              <a:rPr lang="en-US" sz="1600" dirty="0">
                <a:solidFill>
                  <a:srgbClr val="262626"/>
                </a:solidFill>
                <a:latin typeface="Calibri" pitchFamily="34" charset="0"/>
                <a:ea typeface="Calibri" pitchFamily="34" charset="-122"/>
                <a:cs typeface="Calibri" pitchFamily="34" charset="-120"/>
              </a:rPr>
              <a:t>Package the system as a Flutter mobile app requiring no technical setup or IT support from the business owner.</a:t>
            </a:r>
            <a:endParaRPr lang="en-US" sz="1600" dirty="0"/>
          </a:p>
        </p:txBody>
      </p:sp>
      <p:sp>
        <p:nvSpPr>
          <p:cNvPr id="21" name="Shape 17"/>
          <p:cNvSpPr/>
          <p:nvPr/>
        </p:nvSpPr>
        <p:spPr>
          <a:xfrm>
            <a:off x="9006840" y="2121408"/>
            <a:ext cx="3017520" cy="3977640"/>
          </a:xfrm>
          <a:prstGeom prst="rect">
            <a:avLst/>
          </a:prstGeom>
          <a:solidFill>
            <a:srgbClr val="FFFFFF"/>
          </a:solidFill>
          <a:ln w="12700">
            <a:solidFill>
              <a:srgbClr val="E0DAD8"/>
            </a:solidFill>
            <a:prstDash val="solid"/>
          </a:ln>
        </p:spPr>
      </p:sp>
      <p:sp>
        <p:nvSpPr>
          <p:cNvPr id="22" name="Text 18"/>
          <p:cNvSpPr/>
          <p:nvPr/>
        </p:nvSpPr>
        <p:spPr>
          <a:xfrm>
            <a:off x="9144000" y="2258568"/>
            <a:ext cx="1280160"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04</a:t>
            </a:r>
            <a:endParaRPr lang="en-US" sz="3400" dirty="0"/>
          </a:p>
        </p:txBody>
      </p:sp>
      <p:sp>
        <p:nvSpPr>
          <p:cNvPr id="23" name="Text 19"/>
          <p:cNvSpPr/>
          <p:nvPr/>
        </p:nvSpPr>
        <p:spPr>
          <a:xfrm>
            <a:off x="9144000" y="3081528"/>
            <a:ext cx="2880360"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Validate Against Evidence-Backed Baselines</a:t>
            </a:r>
            <a:endParaRPr lang="en-US" sz="2000" dirty="0"/>
          </a:p>
        </p:txBody>
      </p:sp>
      <p:sp>
        <p:nvSpPr>
          <p:cNvPr id="24" name="Text 20"/>
          <p:cNvSpPr/>
          <p:nvPr/>
        </p:nvSpPr>
        <p:spPr>
          <a:xfrm>
            <a:off x="9144000" y="4006088"/>
            <a:ext cx="2423160" cy="2103120"/>
          </a:xfrm>
          <a:prstGeom prst="rect">
            <a:avLst/>
          </a:prstGeom>
          <a:noFill/>
          <a:ln/>
        </p:spPr>
        <p:txBody>
          <a:bodyPr wrap="square" lIns="0" tIns="0" rIns="0" bIns="0" rtlCol="0" anchor="t"/>
          <a:lstStyle/>
          <a:p>
            <a:pPr marL="0" indent="0">
              <a:lnSpc>
                <a:spcPct val="115000"/>
              </a:lnSpc>
              <a:buNone/>
            </a:pPr>
            <a:r>
              <a:rPr lang="en-US" sz="1600" dirty="0">
                <a:solidFill>
                  <a:srgbClr val="262626"/>
                </a:solidFill>
                <a:latin typeface="Calibri" pitchFamily="34" charset="0"/>
                <a:ea typeface="Calibri" pitchFamily="34" charset="-122"/>
                <a:cs typeface="Calibri" pitchFamily="34" charset="-120"/>
              </a:rPr>
              <a:t>Benchmark Prophet against a Random Forest baseline on public SME-representative datasets to report accuracy honestly.</a:t>
            </a:r>
            <a:endParaRPr lang="en-US" sz="1600" dirty="0"/>
          </a:p>
        </p:txBody>
      </p:sp>
      <p:sp>
        <p:nvSpPr>
          <p:cNvPr id="32" name="Shape 0">
            <a:extLst>
              <a:ext uri="{FF2B5EF4-FFF2-40B4-BE49-F238E27FC236}">
                <a16:creationId xmlns:a16="http://schemas.microsoft.com/office/drawing/2014/main" id="{B2A5F52B-FAC6-CF50-7BE2-4D4E136C95C8}"/>
              </a:ext>
            </a:extLst>
          </p:cNvPr>
          <p:cNvSpPr/>
          <p:nvPr/>
        </p:nvSpPr>
        <p:spPr>
          <a:xfrm>
            <a:off x="0" y="0"/>
            <a:ext cx="12191695" cy="580644"/>
          </a:xfrm>
          <a:prstGeom prst="rect">
            <a:avLst/>
          </a:prstGeom>
          <a:solidFill>
            <a:srgbClr val="BC312C"/>
          </a:solidFill>
          <a:ln/>
        </p:spPr>
      </p:sp>
      <p:pic>
        <p:nvPicPr>
          <p:cNvPr id="34" name="Image 0" descr="/home/claude/pptx/assets/left_logo.png">
            <a:extLst>
              <a:ext uri="{FF2B5EF4-FFF2-40B4-BE49-F238E27FC236}">
                <a16:creationId xmlns:a16="http://schemas.microsoft.com/office/drawing/2014/main" id="{AACA3366-DC15-6A61-F0B8-7CBC210B3013}"/>
              </a:ext>
            </a:extLst>
          </p:cNvPr>
          <p:cNvPicPr>
            <a:picLocks noChangeAspect="1"/>
          </p:cNvPicPr>
          <p:nvPr/>
        </p:nvPicPr>
        <p:blipFill>
          <a:blip r:embed="rId3"/>
          <a:stretch>
            <a:fillRect/>
          </a:stretch>
        </p:blipFill>
        <p:spPr>
          <a:xfrm>
            <a:off x="0" y="45720"/>
            <a:ext cx="3246120" cy="1152144"/>
          </a:xfrm>
          <a:prstGeom prst="rect">
            <a:avLst/>
          </a:prstGeom>
        </p:spPr>
      </p:pic>
      <p:pic>
        <p:nvPicPr>
          <p:cNvPr id="36" name="Image 1" descr="/home/claude/pptx/assets/right_logo.png">
            <a:extLst>
              <a:ext uri="{FF2B5EF4-FFF2-40B4-BE49-F238E27FC236}">
                <a16:creationId xmlns:a16="http://schemas.microsoft.com/office/drawing/2014/main" id="{B3B5A07F-5559-926A-09CA-E7806B3605C3}"/>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516360" y="6565392"/>
            <a:ext cx="548640" cy="292608"/>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5</a:t>
            </a:r>
            <a:endParaRPr lang="en-US" sz="1600"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Scope of the Project</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Text 5"/>
          <p:cNvSpPr/>
          <p:nvPr/>
        </p:nvSpPr>
        <p:spPr>
          <a:xfrm>
            <a:off x="462280" y="2121408"/>
            <a:ext cx="5486400" cy="365760"/>
          </a:xfrm>
          <a:prstGeom prst="rect">
            <a:avLst/>
          </a:prstGeom>
          <a:noFill/>
          <a:ln/>
        </p:spPr>
        <p:txBody>
          <a:bodyPr wrap="square" lIns="0" tIns="0" rIns="0" bIns="0" rtlCol="0" anchor="ctr"/>
          <a:lstStyle/>
          <a:p>
            <a:pPr marL="0" indent="0">
              <a:buNone/>
            </a:pPr>
            <a:r>
              <a:rPr lang="en-US" sz="2400" b="1" dirty="0">
                <a:solidFill>
                  <a:srgbClr val="2F3C7E"/>
                </a:solidFill>
                <a:latin typeface="Calibri" pitchFamily="34" charset="0"/>
                <a:ea typeface="Calibri" pitchFamily="34" charset="-122"/>
                <a:cs typeface="Calibri" pitchFamily="34" charset="-120"/>
              </a:rPr>
              <a:t>In Scope (8-Week Build)</a:t>
            </a:r>
            <a:endParaRPr lang="en-US" sz="2400" dirty="0"/>
          </a:p>
        </p:txBody>
      </p:sp>
      <p:sp>
        <p:nvSpPr>
          <p:cNvPr id="10" name="Text 6"/>
          <p:cNvSpPr/>
          <p:nvPr/>
        </p:nvSpPr>
        <p:spPr>
          <a:xfrm>
            <a:off x="6334760" y="2121408"/>
            <a:ext cx="5486400" cy="365760"/>
          </a:xfrm>
          <a:prstGeom prst="rect">
            <a:avLst/>
          </a:prstGeom>
          <a:noFill/>
          <a:ln/>
        </p:spPr>
        <p:txBody>
          <a:bodyPr wrap="square" lIns="0" tIns="0" rIns="0" bIns="0" rtlCol="0" anchor="ctr"/>
          <a:lstStyle/>
          <a:p>
            <a:pPr marL="0" indent="0">
              <a:buNone/>
            </a:pPr>
            <a:r>
              <a:rPr lang="en-US" sz="2400" b="1" dirty="0">
                <a:solidFill>
                  <a:srgbClr val="6B6B6B"/>
                </a:solidFill>
                <a:latin typeface="Calibri" pitchFamily="34" charset="0"/>
                <a:ea typeface="Calibri" pitchFamily="34" charset="-122"/>
                <a:cs typeface="Calibri" pitchFamily="34" charset="-120"/>
              </a:rPr>
              <a:t>Out of Scope (This Phase)</a:t>
            </a:r>
            <a:endParaRPr lang="en-US" sz="2400" dirty="0"/>
          </a:p>
        </p:txBody>
      </p:sp>
      <p:sp>
        <p:nvSpPr>
          <p:cNvPr id="11" name="Shape 7"/>
          <p:cNvSpPr/>
          <p:nvPr/>
        </p:nvSpPr>
        <p:spPr>
          <a:xfrm>
            <a:off x="462280" y="2679192"/>
            <a:ext cx="109728" cy="109728"/>
          </a:xfrm>
          <a:prstGeom prst="ellipse">
            <a:avLst/>
          </a:prstGeom>
          <a:solidFill>
            <a:srgbClr val="BC312C"/>
          </a:solidFill>
          <a:ln/>
        </p:spPr>
      </p:sp>
      <p:sp>
        <p:nvSpPr>
          <p:cNvPr id="12" name="Text 8"/>
          <p:cNvSpPr/>
          <p:nvPr/>
        </p:nvSpPr>
        <p:spPr>
          <a:xfrm>
            <a:off x="736600" y="2569464"/>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Single-location small food businesses (cafe / bakery / restaurant)</a:t>
            </a:r>
            <a:endParaRPr lang="en-US" dirty="0"/>
          </a:p>
        </p:txBody>
      </p:sp>
      <p:sp>
        <p:nvSpPr>
          <p:cNvPr id="13" name="Shape 9"/>
          <p:cNvSpPr/>
          <p:nvPr/>
        </p:nvSpPr>
        <p:spPr>
          <a:xfrm>
            <a:off x="462280" y="3246120"/>
            <a:ext cx="109728" cy="109728"/>
          </a:xfrm>
          <a:prstGeom prst="ellipse">
            <a:avLst/>
          </a:prstGeom>
          <a:solidFill>
            <a:srgbClr val="BC312C"/>
          </a:solidFill>
          <a:ln/>
        </p:spPr>
      </p:sp>
      <p:sp>
        <p:nvSpPr>
          <p:cNvPr id="14" name="Text 10"/>
          <p:cNvSpPr/>
          <p:nvPr/>
        </p:nvSpPr>
        <p:spPr>
          <a:xfrm>
            <a:off x="736600" y="3136392"/>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Daily-level demand forecasting per menu item</a:t>
            </a:r>
            <a:endParaRPr lang="en-US" dirty="0"/>
          </a:p>
        </p:txBody>
      </p:sp>
      <p:sp>
        <p:nvSpPr>
          <p:cNvPr id="15" name="Shape 11"/>
          <p:cNvSpPr/>
          <p:nvPr/>
        </p:nvSpPr>
        <p:spPr>
          <a:xfrm>
            <a:off x="462280" y="3813048"/>
            <a:ext cx="109728" cy="109728"/>
          </a:xfrm>
          <a:prstGeom prst="ellipse">
            <a:avLst/>
          </a:prstGeom>
          <a:solidFill>
            <a:srgbClr val="BC312C"/>
          </a:solidFill>
          <a:ln/>
        </p:spPr>
      </p:sp>
      <p:sp>
        <p:nvSpPr>
          <p:cNvPr id="16" name="Text 12"/>
          <p:cNvSpPr/>
          <p:nvPr/>
        </p:nvSpPr>
        <p:spPr>
          <a:xfrm>
            <a:off x="736600" y="3703320"/>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Weather and public-holiday external regressors</a:t>
            </a:r>
            <a:endParaRPr lang="en-US" dirty="0"/>
          </a:p>
        </p:txBody>
      </p:sp>
      <p:sp>
        <p:nvSpPr>
          <p:cNvPr id="17" name="Shape 13"/>
          <p:cNvSpPr/>
          <p:nvPr/>
        </p:nvSpPr>
        <p:spPr>
          <a:xfrm>
            <a:off x="462280" y="4379976"/>
            <a:ext cx="109728" cy="109728"/>
          </a:xfrm>
          <a:prstGeom prst="ellipse">
            <a:avLst/>
          </a:prstGeom>
          <a:solidFill>
            <a:srgbClr val="BC312C"/>
          </a:solidFill>
          <a:ln/>
        </p:spPr>
      </p:sp>
      <p:sp>
        <p:nvSpPr>
          <p:cNvPr id="18" name="Text 14"/>
          <p:cNvSpPr/>
          <p:nvPr/>
        </p:nvSpPr>
        <p:spPr>
          <a:xfrm>
            <a:off x="736600" y="4270248"/>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Restock recommendation logic with safety-stock buffer</a:t>
            </a:r>
            <a:endParaRPr lang="en-US" dirty="0"/>
          </a:p>
        </p:txBody>
      </p:sp>
      <p:sp>
        <p:nvSpPr>
          <p:cNvPr id="19" name="Shape 15"/>
          <p:cNvSpPr/>
          <p:nvPr/>
        </p:nvSpPr>
        <p:spPr>
          <a:xfrm>
            <a:off x="462280" y="4946904"/>
            <a:ext cx="109728" cy="109728"/>
          </a:xfrm>
          <a:prstGeom prst="ellipse">
            <a:avLst/>
          </a:prstGeom>
          <a:solidFill>
            <a:srgbClr val="BC312C"/>
          </a:solidFill>
          <a:ln/>
        </p:spPr>
      </p:sp>
      <p:sp>
        <p:nvSpPr>
          <p:cNvPr id="20" name="Text 16"/>
          <p:cNvSpPr/>
          <p:nvPr/>
        </p:nvSpPr>
        <p:spPr>
          <a:xfrm>
            <a:off x="736599" y="4837176"/>
            <a:ext cx="5486397"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Flutter mobile app for input and recommendation display</a:t>
            </a:r>
            <a:endParaRPr lang="en-US" dirty="0"/>
          </a:p>
        </p:txBody>
      </p:sp>
      <p:sp>
        <p:nvSpPr>
          <p:cNvPr id="21" name="Shape 17"/>
          <p:cNvSpPr/>
          <p:nvPr/>
        </p:nvSpPr>
        <p:spPr>
          <a:xfrm>
            <a:off x="462280" y="5513832"/>
            <a:ext cx="109728" cy="109728"/>
          </a:xfrm>
          <a:prstGeom prst="ellipse">
            <a:avLst/>
          </a:prstGeom>
          <a:solidFill>
            <a:srgbClr val="BC312C"/>
          </a:solidFill>
          <a:ln/>
        </p:spPr>
      </p:sp>
      <p:sp>
        <p:nvSpPr>
          <p:cNvPr id="22" name="Text 18"/>
          <p:cNvSpPr/>
          <p:nvPr/>
        </p:nvSpPr>
        <p:spPr>
          <a:xfrm>
            <a:off x="736599" y="5404104"/>
            <a:ext cx="5392925"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Evaluation on public SME-representative datasets (French Bakery, Rossmann)</a:t>
            </a:r>
            <a:endParaRPr lang="en-US" dirty="0"/>
          </a:p>
        </p:txBody>
      </p:sp>
      <p:sp>
        <p:nvSpPr>
          <p:cNvPr id="23" name="Shape 19"/>
          <p:cNvSpPr/>
          <p:nvPr/>
        </p:nvSpPr>
        <p:spPr>
          <a:xfrm>
            <a:off x="6324600" y="2679192"/>
            <a:ext cx="109728" cy="109728"/>
          </a:xfrm>
          <a:prstGeom prst="ellipse">
            <a:avLst/>
          </a:prstGeom>
          <a:solidFill>
            <a:srgbClr val="6B6B6B"/>
          </a:solidFill>
          <a:ln/>
        </p:spPr>
      </p:sp>
      <p:sp>
        <p:nvSpPr>
          <p:cNvPr id="24" name="Text 20"/>
          <p:cNvSpPr/>
          <p:nvPr/>
        </p:nvSpPr>
        <p:spPr>
          <a:xfrm>
            <a:off x="6609080" y="2569464"/>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Multi-outlet or chain-wide forecasting</a:t>
            </a:r>
            <a:endParaRPr lang="en-US" dirty="0"/>
          </a:p>
        </p:txBody>
      </p:sp>
      <p:sp>
        <p:nvSpPr>
          <p:cNvPr id="25" name="Shape 21"/>
          <p:cNvSpPr/>
          <p:nvPr/>
        </p:nvSpPr>
        <p:spPr>
          <a:xfrm>
            <a:off x="6324600" y="3246120"/>
            <a:ext cx="109728" cy="109728"/>
          </a:xfrm>
          <a:prstGeom prst="ellipse">
            <a:avLst/>
          </a:prstGeom>
          <a:solidFill>
            <a:srgbClr val="6B6B6B"/>
          </a:solidFill>
          <a:ln/>
        </p:spPr>
      </p:sp>
      <p:sp>
        <p:nvSpPr>
          <p:cNvPr id="26" name="Text 22"/>
          <p:cNvSpPr/>
          <p:nvPr/>
        </p:nvSpPr>
        <p:spPr>
          <a:xfrm>
            <a:off x="6609080" y="3136392"/>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Live POS or IoT hardware integration</a:t>
            </a:r>
            <a:endParaRPr lang="en-US" dirty="0"/>
          </a:p>
        </p:txBody>
      </p:sp>
      <p:sp>
        <p:nvSpPr>
          <p:cNvPr id="27" name="Shape 23"/>
          <p:cNvSpPr/>
          <p:nvPr/>
        </p:nvSpPr>
        <p:spPr>
          <a:xfrm>
            <a:off x="6324600" y="3813048"/>
            <a:ext cx="109728" cy="109728"/>
          </a:xfrm>
          <a:prstGeom prst="ellipse">
            <a:avLst/>
          </a:prstGeom>
          <a:solidFill>
            <a:srgbClr val="6B6B6B"/>
          </a:solidFill>
          <a:ln/>
        </p:spPr>
      </p:sp>
      <p:sp>
        <p:nvSpPr>
          <p:cNvPr id="28" name="Text 24"/>
          <p:cNvSpPr/>
          <p:nvPr/>
        </p:nvSpPr>
        <p:spPr>
          <a:xfrm>
            <a:off x="6609080" y="3703320"/>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Real-time deployment at an actual operating business</a:t>
            </a:r>
            <a:endParaRPr lang="en-US" dirty="0"/>
          </a:p>
        </p:txBody>
      </p:sp>
      <p:sp>
        <p:nvSpPr>
          <p:cNvPr id="29" name="Shape 25"/>
          <p:cNvSpPr/>
          <p:nvPr/>
        </p:nvSpPr>
        <p:spPr>
          <a:xfrm>
            <a:off x="6324600" y="4379976"/>
            <a:ext cx="109728" cy="109728"/>
          </a:xfrm>
          <a:prstGeom prst="ellipse">
            <a:avLst/>
          </a:prstGeom>
          <a:solidFill>
            <a:srgbClr val="6B6B6B"/>
          </a:solidFill>
          <a:ln/>
        </p:spPr>
      </p:sp>
      <p:sp>
        <p:nvSpPr>
          <p:cNvPr id="30" name="Text 26"/>
          <p:cNvSpPr/>
          <p:nvPr/>
        </p:nvSpPr>
        <p:spPr>
          <a:xfrm>
            <a:off x="6609080" y="4270248"/>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Hourly-granularity forecasting</a:t>
            </a:r>
            <a:endParaRPr lang="en-US" dirty="0"/>
          </a:p>
        </p:txBody>
      </p:sp>
      <p:sp>
        <p:nvSpPr>
          <p:cNvPr id="31" name="Shape 27"/>
          <p:cNvSpPr/>
          <p:nvPr/>
        </p:nvSpPr>
        <p:spPr>
          <a:xfrm>
            <a:off x="6324600" y="4946904"/>
            <a:ext cx="109728" cy="109728"/>
          </a:xfrm>
          <a:prstGeom prst="ellipse">
            <a:avLst/>
          </a:prstGeom>
          <a:solidFill>
            <a:srgbClr val="6B6B6B"/>
          </a:solidFill>
          <a:ln/>
        </p:spPr>
      </p:sp>
      <p:sp>
        <p:nvSpPr>
          <p:cNvPr id="32" name="Text 28"/>
          <p:cNvSpPr/>
          <p:nvPr/>
        </p:nvSpPr>
        <p:spPr>
          <a:xfrm>
            <a:off x="6609080" y="4837176"/>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Generative-AI / chatbot assistant features</a:t>
            </a:r>
            <a:endParaRPr lang="en-US" dirty="0"/>
          </a:p>
        </p:txBody>
      </p:sp>
      <p:sp>
        <p:nvSpPr>
          <p:cNvPr id="33" name="Shape 29"/>
          <p:cNvSpPr/>
          <p:nvPr/>
        </p:nvSpPr>
        <p:spPr>
          <a:xfrm>
            <a:off x="6324600" y="5513832"/>
            <a:ext cx="109728" cy="109728"/>
          </a:xfrm>
          <a:prstGeom prst="ellipse">
            <a:avLst/>
          </a:prstGeom>
          <a:solidFill>
            <a:srgbClr val="6B6B6B"/>
          </a:solidFill>
          <a:ln/>
        </p:spPr>
      </p:sp>
      <p:sp>
        <p:nvSpPr>
          <p:cNvPr id="34" name="Text 30"/>
          <p:cNvSpPr/>
          <p:nvPr/>
        </p:nvSpPr>
        <p:spPr>
          <a:xfrm>
            <a:off x="6609080" y="5404104"/>
            <a:ext cx="5212080" cy="530352"/>
          </a:xfrm>
          <a:prstGeom prst="rect">
            <a:avLst/>
          </a:prstGeom>
          <a:noFill/>
          <a:ln/>
        </p:spPr>
        <p:txBody>
          <a:bodyPr wrap="square" lIns="0" tIns="0" rIns="0" bIns="0" rtlCol="0" anchor="t"/>
          <a:lstStyle/>
          <a:p>
            <a:pPr marL="0" indent="0">
              <a:lnSpc>
                <a:spcPct val="108000"/>
              </a:lnSpc>
              <a:buNone/>
            </a:pPr>
            <a:r>
              <a:rPr lang="en-US" dirty="0">
                <a:solidFill>
                  <a:srgbClr val="262626"/>
                </a:solidFill>
                <a:latin typeface="Calibri" pitchFamily="34" charset="0"/>
                <a:ea typeface="Calibri" pitchFamily="34" charset="-122"/>
                <a:cs typeface="Calibri" pitchFamily="34" charset="-120"/>
              </a:rPr>
              <a:t>Promotion and pricing optimization</a:t>
            </a:r>
            <a:endParaRPr lang="en-US" dirty="0"/>
          </a:p>
        </p:txBody>
      </p:sp>
      <p:sp>
        <p:nvSpPr>
          <p:cNvPr id="35" name="Shape 31"/>
          <p:cNvSpPr/>
          <p:nvPr/>
        </p:nvSpPr>
        <p:spPr>
          <a:xfrm>
            <a:off x="6141720" y="2121408"/>
            <a:ext cx="0" cy="4160520"/>
          </a:xfrm>
          <a:prstGeom prst="line">
            <a:avLst/>
          </a:prstGeom>
          <a:noFill/>
          <a:ln w="12700">
            <a:solidFill>
              <a:srgbClr val="E0DAD8"/>
            </a:solidFill>
            <a:prstDash val="solid"/>
          </a:ln>
        </p:spPr>
      </p:sp>
      <p:sp>
        <p:nvSpPr>
          <p:cNvPr id="37" name="Shape 0">
            <a:extLst>
              <a:ext uri="{FF2B5EF4-FFF2-40B4-BE49-F238E27FC236}">
                <a16:creationId xmlns:a16="http://schemas.microsoft.com/office/drawing/2014/main" id="{EC4D3CF8-FA2B-756D-80E3-071004353EDD}"/>
              </a:ext>
            </a:extLst>
          </p:cNvPr>
          <p:cNvSpPr/>
          <p:nvPr/>
        </p:nvSpPr>
        <p:spPr>
          <a:xfrm>
            <a:off x="0" y="0"/>
            <a:ext cx="12191695" cy="580644"/>
          </a:xfrm>
          <a:prstGeom prst="rect">
            <a:avLst/>
          </a:prstGeom>
          <a:solidFill>
            <a:srgbClr val="BC312C"/>
          </a:solidFill>
          <a:ln/>
        </p:spPr>
      </p:sp>
      <p:pic>
        <p:nvPicPr>
          <p:cNvPr id="39" name="Image 0" descr="/home/claude/pptx/assets/left_logo.png">
            <a:extLst>
              <a:ext uri="{FF2B5EF4-FFF2-40B4-BE49-F238E27FC236}">
                <a16:creationId xmlns:a16="http://schemas.microsoft.com/office/drawing/2014/main" id="{59591594-55BA-D826-3C4F-1BF550316787}"/>
              </a:ext>
            </a:extLst>
          </p:cNvPr>
          <p:cNvPicPr>
            <a:picLocks noChangeAspect="1"/>
          </p:cNvPicPr>
          <p:nvPr/>
        </p:nvPicPr>
        <p:blipFill>
          <a:blip r:embed="rId3"/>
          <a:stretch>
            <a:fillRect/>
          </a:stretch>
        </p:blipFill>
        <p:spPr>
          <a:xfrm>
            <a:off x="0" y="45720"/>
            <a:ext cx="3246120" cy="1152144"/>
          </a:xfrm>
          <a:prstGeom prst="rect">
            <a:avLst/>
          </a:prstGeom>
        </p:spPr>
      </p:pic>
      <p:pic>
        <p:nvPicPr>
          <p:cNvPr id="41" name="Image 1" descr="/home/claude/pptx/assets/right_logo.png">
            <a:extLst>
              <a:ext uri="{FF2B5EF4-FFF2-40B4-BE49-F238E27FC236}">
                <a16:creationId xmlns:a16="http://schemas.microsoft.com/office/drawing/2014/main" id="{3CA04079-C13B-0BDE-0112-BA587BFBA4FD}"/>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6</a:t>
            </a:r>
            <a:endParaRPr lang="en-US" sz="1100"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Text 5"/>
          <p:cNvSpPr/>
          <p:nvPr/>
        </p:nvSpPr>
        <p:spPr>
          <a:xfrm>
            <a:off x="502920" y="2121408"/>
            <a:ext cx="1115568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(2024–2026) across five themes: forecasting methods, external regressors, SME data challenges, inventory-to-action, and technology adoption.</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615284789"/>
              </p:ext>
            </p:extLst>
          </p:nvPr>
        </p:nvGraphicFramePr>
        <p:xfrm>
          <a:off x="502920" y="2624328"/>
          <a:ext cx="11155680" cy="3688080"/>
        </p:xfrm>
        <a:graphic>
          <a:graphicData uri="http://schemas.openxmlformats.org/drawingml/2006/table">
            <a:tbl>
              <a:tblPr/>
              <a:tblGrid>
                <a:gridCol w="23774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tblGrid>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Study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Model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Context</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Best Metric</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Gap Left Open</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Aqila et al. (2026)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SARIMA / Prophet / LSTM</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Coffee shop, hourly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RMSE 0.15 (LSTM)</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Forecast-only, no restock</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Kamboj et al. (2025)</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Prophet + XGBoost</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Rossmann, state-level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–18% MAPE</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Macro-scale, not SME-level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Guler et al.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Facebook Prophet</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Restaurant, daily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MAE 0.76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No restock, no mobile delivery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Susanto et al. (2026)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XGBoost vs MA(7)</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SME pre-order, sparse</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MA(7) more stable</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Regression fails on sparse data</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Rahmatillah et al. (2026)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Optimized LSTM</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SME ice cream</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RMSE 1.65</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Needs ~1,000 days of history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Janchidfah et al. (2026)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TAM (no ML)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Small retail, survey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 = 0.76 satisfaction</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No predictive capability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Shape 6"/>
          <p:cNvSpPr/>
          <p:nvPr/>
        </p:nvSpPr>
        <p:spPr>
          <a:xfrm>
            <a:off x="502920" y="2624328"/>
            <a:ext cx="11155680" cy="457200"/>
          </a:xfrm>
          <a:prstGeom prst="rect">
            <a:avLst/>
          </a:prstGeom>
          <a:solidFill>
            <a:srgbClr val="BC312C"/>
          </a:solidFill>
          <a:ln/>
        </p:spPr>
        <p:txBody>
          <a:bodyPr/>
          <a:lstStyle/>
          <a:p>
            <a:endParaRPr lang="en-IN" dirty="0"/>
          </a:p>
        </p:txBody>
      </p:sp>
      <p:sp>
        <p:nvSpPr>
          <p:cNvPr id="12" name="Text 7"/>
          <p:cNvSpPr/>
          <p:nvPr/>
        </p:nvSpPr>
        <p:spPr>
          <a:xfrm>
            <a:off x="502920" y="2624328"/>
            <a:ext cx="2377440" cy="457200"/>
          </a:xfrm>
          <a:prstGeom prst="rect">
            <a:avLst/>
          </a:prstGeom>
          <a:noFill/>
          <a:ln/>
        </p:spPr>
        <p:txBody>
          <a:bodyPr wrap="square" lIns="0" tIns="5080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Study</a:t>
            </a:r>
            <a:endParaRPr lang="en-US" sz="2400" dirty="0"/>
          </a:p>
        </p:txBody>
      </p:sp>
      <p:sp>
        <p:nvSpPr>
          <p:cNvPr id="13" name="Text 8"/>
          <p:cNvSpPr/>
          <p:nvPr/>
        </p:nvSpPr>
        <p:spPr>
          <a:xfrm>
            <a:off x="2880360" y="2624328"/>
            <a:ext cx="2194560" cy="457200"/>
          </a:xfrm>
          <a:prstGeom prst="rect">
            <a:avLst/>
          </a:prstGeom>
          <a:noFill/>
          <a:ln/>
        </p:spPr>
        <p:txBody>
          <a:bodyPr wrap="square" lIns="0" tIns="5080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Model</a:t>
            </a:r>
            <a:endParaRPr lang="en-US" sz="2400" dirty="0"/>
          </a:p>
        </p:txBody>
      </p:sp>
      <p:sp>
        <p:nvSpPr>
          <p:cNvPr id="14" name="Text 9"/>
          <p:cNvSpPr/>
          <p:nvPr/>
        </p:nvSpPr>
        <p:spPr>
          <a:xfrm>
            <a:off x="5074920" y="2624328"/>
            <a:ext cx="2103120" cy="457200"/>
          </a:xfrm>
          <a:prstGeom prst="rect">
            <a:avLst/>
          </a:prstGeom>
          <a:noFill/>
          <a:ln/>
        </p:spPr>
        <p:txBody>
          <a:bodyPr wrap="square" lIns="0" tIns="5080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15" name="Text 10"/>
          <p:cNvSpPr/>
          <p:nvPr/>
        </p:nvSpPr>
        <p:spPr>
          <a:xfrm>
            <a:off x="7178040" y="2624328"/>
            <a:ext cx="1920240" cy="457200"/>
          </a:xfrm>
          <a:prstGeom prst="rect">
            <a:avLst/>
          </a:prstGeom>
          <a:noFill/>
          <a:ln/>
        </p:spPr>
        <p:txBody>
          <a:bodyPr wrap="square" lIns="0" tIns="5080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Best Metric</a:t>
            </a:r>
            <a:endParaRPr lang="en-US" sz="2400" dirty="0"/>
          </a:p>
        </p:txBody>
      </p:sp>
      <p:sp>
        <p:nvSpPr>
          <p:cNvPr id="16" name="Text 11"/>
          <p:cNvSpPr/>
          <p:nvPr/>
        </p:nvSpPr>
        <p:spPr>
          <a:xfrm>
            <a:off x="9098280" y="2624328"/>
            <a:ext cx="2560320" cy="457200"/>
          </a:xfrm>
          <a:prstGeom prst="rect">
            <a:avLst/>
          </a:prstGeom>
          <a:noFill/>
          <a:ln/>
        </p:spPr>
        <p:txBody>
          <a:bodyPr wrap="square" lIns="0" tIns="5080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Gap Left Open</a:t>
            </a:r>
            <a:endParaRPr lang="en-US" sz="2400" dirty="0"/>
          </a:p>
        </p:txBody>
      </p:sp>
      <p:sp>
        <p:nvSpPr>
          <p:cNvPr id="17" name="Text 12"/>
          <p:cNvSpPr/>
          <p:nvPr/>
        </p:nvSpPr>
        <p:spPr>
          <a:xfrm>
            <a:off x="147625" y="6528816"/>
            <a:ext cx="11155680" cy="365760"/>
          </a:xfrm>
          <a:prstGeom prst="rect">
            <a:avLst/>
          </a:prstGeom>
          <a:noFill/>
          <a:ln/>
        </p:spPr>
        <p:txBody>
          <a:bodyPr wrap="square" lIns="0" tIns="0" rIns="0" bIns="0" rtlCol="0" anchor="ctr"/>
          <a:lstStyle/>
          <a:p>
            <a:pPr marL="0" indent="0">
              <a:buNone/>
            </a:pPr>
            <a:r>
              <a:rPr lang="en-US" sz="1400" i="1" dirty="0">
                <a:solidFill>
                  <a:srgbClr val="2F3C7E"/>
                </a:solidFill>
                <a:latin typeface="Calibri" pitchFamily="34" charset="0"/>
                <a:ea typeface="Calibri" pitchFamily="34" charset="-122"/>
                <a:cs typeface="Calibri" pitchFamily="34" charset="-120"/>
              </a:rPr>
              <a:t>Synthesis: 4 recurring gaps identified — Forecast-to-Action, Accessibility, Cold-Start, and Micro-SME Infrastructure.</a:t>
            </a:r>
            <a:endParaRPr lang="en-US" sz="1400" dirty="0"/>
          </a:p>
        </p:txBody>
      </p:sp>
      <p:sp>
        <p:nvSpPr>
          <p:cNvPr id="19" name="Shape 0">
            <a:extLst>
              <a:ext uri="{FF2B5EF4-FFF2-40B4-BE49-F238E27FC236}">
                <a16:creationId xmlns:a16="http://schemas.microsoft.com/office/drawing/2014/main" id="{01F42C9E-0639-C3BF-58E3-19A12B4C1AAC}"/>
              </a:ext>
            </a:extLst>
          </p:cNvPr>
          <p:cNvSpPr/>
          <p:nvPr/>
        </p:nvSpPr>
        <p:spPr>
          <a:xfrm>
            <a:off x="0" y="0"/>
            <a:ext cx="12191695" cy="580644"/>
          </a:xfrm>
          <a:prstGeom prst="rect">
            <a:avLst/>
          </a:prstGeom>
          <a:solidFill>
            <a:srgbClr val="BC312C"/>
          </a:solidFill>
          <a:ln/>
        </p:spPr>
      </p:sp>
      <p:pic>
        <p:nvPicPr>
          <p:cNvPr id="21" name="Image 0" descr="/home/claude/pptx/assets/left_logo.png">
            <a:extLst>
              <a:ext uri="{FF2B5EF4-FFF2-40B4-BE49-F238E27FC236}">
                <a16:creationId xmlns:a16="http://schemas.microsoft.com/office/drawing/2014/main" id="{64EAD395-7DBF-AC9C-D28F-81E0A223EA3C}"/>
              </a:ext>
            </a:extLst>
          </p:cNvPr>
          <p:cNvPicPr>
            <a:picLocks noChangeAspect="1"/>
          </p:cNvPicPr>
          <p:nvPr/>
        </p:nvPicPr>
        <p:blipFill>
          <a:blip r:embed="rId3"/>
          <a:stretch>
            <a:fillRect/>
          </a:stretch>
        </p:blipFill>
        <p:spPr>
          <a:xfrm>
            <a:off x="0" y="45720"/>
            <a:ext cx="3246120" cy="1152144"/>
          </a:xfrm>
          <a:prstGeom prst="rect">
            <a:avLst/>
          </a:prstGeom>
        </p:spPr>
      </p:pic>
      <p:pic>
        <p:nvPicPr>
          <p:cNvPr id="23" name="Image 1" descr="/home/claude/pptx/assets/right_logo.png">
            <a:extLst>
              <a:ext uri="{FF2B5EF4-FFF2-40B4-BE49-F238E27FC236}">
                <a16:creationId xmlns:a16="http://schemas.microsoft.com/office/drawing/2014/main" id="{0036010A-BB0E-305C-0E25-225F6EF2D8EA}"/>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7</a:t>
            </a:r>
            <a:endParaRPr lang="en-US" sz="1100"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Shape 5"/>
          <p:cNvSpPr/>
          <p:nvPr/>
        </p:nvSpPr>
        <p:spPr>
          <a:xfrm>
            <a:off x="595732" y="2578608"/>
            <a:ext cx="1965960" cy="1417320"/>
          </a:xfrm>
          <a:prstGeom prst="roundRect">
            <a:avLst>
              <a:gd name="adj" fmla="val 3871"/>
            </a:avLst>
          </a:prstGeom>
          <a:solidFill>
            <a:srgbClr val="F7F5F4"/>
          </a:solidFill>
          <a:ln w="12700">
            <a:solidFill>
              <a:srgbClr val="E0DAD8"/>
            </a:solidFill>
            <a:prstDash val="solid"/>
          </a:ln>
        </p:spPr>
      </p:sp>
      <p:sp>
        <p:nvSpPr>
          <p:cNvPr id="10" name="Text 6"/>
          <p:cNvSpPr/>
          <p:nvPr/>
        </p:nvSpPr>
        <p:spPr>
          <a:xfrm>
            <a:off x="687172" y="2688336"/>
            <a:ext cx="1783080"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1600" dirty="0"/>
          </a:p>
        </p:txBody>
      </p:sp>
      <p:sp>
        <p:nvSpPr>
          <p:cNvPr id="11" name="Text 7"/>
          <p:cNvSpPr/>
          <p:nvPr/>
        </p:nvSpPr>
        <p:spPr>
          <a:xfrm>
            <a:off x="687172" y="3200400"/>
            <a:ext cx="1783080" cy="731520"/>
          </a:xfrm>
          <a:prstGeom prst="rect">
            <a:avLst/>
          </a:prstGeom>
          <a:noFill/>
          <a:ln/>
        </p:spPr>
        <p:txBody>
          <a:bodyPr wrap="square" lIns="0" tIns="0" rIns="0" bIns="0" rtlCol="0" anchor="t"/>
          <a:lstStyle/>
          <a:p>
            <a:pPr marL="0" indent="0" algn="ctr">
              <a:lnSpc>
                <a:spcPct val="105000"/>
              </a:lnSpc>
              <a:buNone/>
            </a:pPr>
            <a:r>
              <a:rPr lang="en-US" sz="1400" dirty="0">
                <a:solidFill>
                  <a:srgbClr val="262626"/>
                </a:solidFill>
                <a:latin typeface="Calibri" pitchFamily="34" charset="0"/>
                <a:ea typeface="Calibri" pitchFamily="34" charset="-122"/>
                <a:cs typeface="Calibri" pitchFamily="34" charset="-120"/>
              </a:rPr>
              <a:t>Daily item-level sales (public datasets)</a:t>
            </a:r>
            <a:endParaRPr lang="en-US" sz="1400" dirty="0"/>
          </a:p>
        </p:txBody>
      </p:sp>
      <p:sp>
        <p:nvSpPr>
          <p:cNvPr id="12" name="Shape 8"/>
          <p:cNvSpPr/>
          <p:nvPr/>
        </p:nvSpPr>
        <p:spPr>
          <a:xfrm>
            <a:off x="2589124" y="3168396"/>
            <a:ext cx="237744" cy="237744"/>
          </a:xfrm>
          <a:prstGeom prst="rightArrow">
            <a:avLst/>
          </a:prstGeom>
          <a:solidFill>
            <a:srgbClr val="6B6B6B"/>
          </a:solidFill>
          <a:ln/>
        </p:spPr>
      </p:sp>
      <p:sp>
        <p:nvSpPr>
          <p:cNvPr id="13" name="Shape 9"/>
          <p:cNvSpPr/>
          <p:nvPr/>
        </p:nvSpPr>
        <p:spPr>
          <a:xfrm>
            <a:off x="2854300" y="2578608"/>
            <a:ext cx="1965960" cy="1417320"/>
          </a:xfrm>
          <a:prstGeom prst="roundRect">
            <a:avLst>
              <a:gd name="adj" fmla="val 3871"/>
            </a:avLst>
          </a:prstGeom>
          <a:solidFill>
            <a:srgbClr val="F7F5F4"/>
          </a:solidFill>
          <a:ln w="12700">
            <a:solidFill>
              <a:srgbClr val="E0DAD8"/>
            </a:solidFill>
            <a:prstDash val="solid"/>
          </a:ln>
        </p:spPr>
      </p:sp>
      <p:sp>
        <p:nvSpPr>
          <p:cNvPr id="14" name="Text 10"/>
          <p:cNvSpPr/>
          <p:nvPr/>
        </p:nvSpPr>
        <p:spPr>
          <a:xfrm>
            <a:off x="2945740" y="2688336"/>
            <a:ext cx="1783080"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Model</a:t>
            </a:r>
            <a:endParaRPr lang="en-US" sz="1600" dirty="0"/>
          </a:p>
        </p:txBody>
      </p:sp>
      <p:sp>
        <p:nvSpPr>
          <p:cNvPr id="15" name="Text 11"/>
          <p:cNvSpPr/>
          <p:nvPr/>
        </p:nvSpPr>
        <p:spPr>
          <a:xfrm>
            <a:off x="2945740" y="3200400"/>
            <a:ext cx="1783080" cy="731520"/>
          </a:xfrm>
          <a:prstGeom prst="rect">
            <a:avLst/>
          </a:prstGeom>
          <a:noFill/>
          <a:ln/>
        </p:spPr>
        <p:txBody>
          <a:bodyPr wrap="square" lIns="0" tIns="0" rIns="0" bIns="0" rtlCol="0" anchor="t"/>
          <a:lstStyle/>
          <a:p>
            <a:pPr marL="0" indent="0" algn="ctr">
              <a:lnSpc>
                <a:spcPct val="105000"/>
              </a:lnSpc>
              <a:buNone/>
            </a:pPr>
            <a:r>
              <a:rPr lang="en-US" sz="1400" dirty="0">
                <a:solidFill>
                  <a:srgbClr val="262626"/>
                </a:solidFill>
                <a:latin typeface="Calibri" pitchFamily="34" charset="0"/>
                <a:ea typeface="Calibri" pitchFamily="34" charset="-122"/>
                <a:cs typeface="Calibri" pitchFamily="34" charset="-120"/>
              </a:rPr>
              <a:t>+ weather regressor + holiday regressor</a:t>
            </a:r>
            <a:endParaRPr lang="en-US" sz="1400" dirty="0"/>
          </a:p>
        </p:txBody>
      </p:sp>
      <p:sp>
        <p:nvSpPr>
          <p:cNvPr id="16" name="Shape 12"/>
          <p:cNvSpPr/>
          <p:nvPr/>
        </p:nvSpPr>
        <p:spPr>
          <a:xfrm>
            <a:off x="4847692" y="3168396"/>
            <a:ext cx="237744" cy="237744"/>
          </a:xfrm>
          <a:prstGeom prst="rightArrow">
            <a:avLst/>
          </a:prstGeom>
          <a:solidFill>
            <a:srgbClr val="6B6B6B"/>
          </a:solidFill>
          <a:ln/>
        </p:spPr>
      </p:sp>
      <p:sp>
        <p:nvSpPr>
          <p:cNvPr id="17" name="Shape 13"/>
          <p:cNvSpPr/>
          <p:nvPr/>
        </p:nvSpPr>
        <p:spPr>
          <a:xfrm>
            <a:off x="5112868" y="2578608"/>
            <a:ext cx="1965960" cy="1417320"/>
          </a:xfrm>
          <a:prstGeom prst="roundRect">
            <a:avLst>
              <a:gd name="adj" fmla="val 3871"/>
            </a:avLst>
          </a:prstGeom>
          <a:solidFill>
            <a:srgbClr val="F7F5F4"/>
          </a:solidFill>
          <a:ln w="12700">
            <a:solidFill>
              <a:srgbClr val="E0DAD8"/>
            </a:solidFill>
            <a:prstDash val="solid"/>
          </a:ln>
        </p:spPr>
      </p:sp>
      <p:sp>
        <p:nvSpPr>
          <p:cNvPr id="18" name="Text 14"/>
          <p:cNvSpPr/>
          <p:nvPr/>
        </p:nvSpPr>
        <p:spPr>
          <a:xfrm>
            <a:off x="5204308" y="2688336"/>
            <a:ext cx="1783080"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1600" dirty="0"/>
          </a:p>
        </p:txBody>
      </p:sp>
      <p:sp>
        <p:nvSpPr>
          <p:cNvPr id="19" name="Text 15"/>
          <p:cNvSpPr/>
          <p:nvPr/>
        </p:nvSpPr>
        <p:spPr>
          <a:xfrm>
            <a:off x="5204308" y="3200400"/>
            <a:ext cx="1783080" cy="731520"/>
          </a:xfrm>
          <a:prstGeom prst="rect">
            <a:avLst/>
          </a:prstGeom>
          <a:noFill/>
          <a:ln/>
        </p:spPr>
        <p:txBody>
          <a:bodyPr wrap="square" lIns="0" tIns="0" rIns="0" bIns="0" rtlCol="0" anchor="t"/>
          <a:lstStyle/>
          <a:p>
            <a:pPr marL="0" indent="0" algn="ctr">
              <a:lnSpc>
                <a:spcPct val="105000"/>
              </a:lnSpc>
              <a:buNone/>
            </a:pPr>
            <a:r>
              <a:rPr lang="en-US" sz="1400" dirty="0">
                <a:solidFill>
                  <a:srgbClr val="262626"/>
                </a:solidFill>
                <a:latin typeface="Calibri" pitchFamily="34" charset="0"/>
                <a:ea typeface="Calibri" pitchFamily="34" charset="-122"/>
                <a:cs typeface="Calibri" pitchFamily="34" charset="-120"/>
              </a:rPr>
              <a:t>Point prediction per item, per day</a:t>
            </a:r>
            <a:endParaRPr lang="en-US" sz="1400" dirty="0"/>
          </a:p>
        </p:txBody>
      </p:sp>
      <p:sp>
        <p:nvSpPr>
          <p:cNvPr id="20" name="Shape 16"/>
          <p:cNvSpPr/>
          <p:nvPr/>
        </p:nvSpPr>
        <p:spPr>
          <a:xfrm>
            <a:off x="7106260" y="3168396"/>
            <a:ext cx="237744" cy="237744"/>
          </a:xfrm>
          <a:prstGeom prst="rightArrow">
            <a:avLst/>
          </a:prstGeom>
          <a:solidFill>
            <a:srgbClr val="6B6B6B"/>
          </a:solidFill>
          <a:ln/>
        </p:spPr>
      </p:sp>
      <p:sp>
        <p:nvSpPr>
          <p:cNvPr id="21" name="Shape 17"/>
          <p:cNvSpPr/>
          <p:nvPr/>
        </p:nvSpPr>
        <p:spPr>
          <a:xfrm>
            <a:off x="7371436" y="2578608"/>
            <a:ext cx="1965960" cy="1417320"/>
          </a:xfrm>
          <a:prstGeom prst="roundRect">
            <a:avLst>
              <a:gd name="adj" fmla="val 3871"/>
            </a:avLst>
          </a:prstGeom>
          <a:solidFill>
            <a:srgbClr val="F7F5F4"/>
          </a:solidFill>
          <a:ln w="12700">
            <a:solidFill>
              <a:srgbClr val="E0DAD8"/>
            </a:solidFill>
            <a:prstDash val="solid"/>
          </a:ln>
        </p:spPr>
      </p:sp>
      <p:sp>
        <p:nvSpPr>
          <p:cNvPr id="22" name="Text 18"/>
          <p:cNvSpPr/>
          <p:nvPr/>
        </p:nvSpPr>
        <p:spPr>
          <a:xfrm>
            <a:off x="7462876" y="2688336"/>
            <a:ext cx="1783080"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1600" dirty="0"/>
          </a:p>
        </p:txBody>
      </p:sp>
      <p:sp>
        <p:nvSpPr>
          <p:cNvPr id="23" name="Text 19"/>
          <p:cNvSpPr/>
          <p:nvPr/>
        </p:nvSpPr>
        <p:spPr>
          <a:xfrm>
            <a:off x="7462876" y="3200400"/>
            <a:ext cx="1783080" cy="731520"/>
          </a:xfrm>
          <a:prstGeom prst="rect">
            <a:avLst/>
          </a:prstGeom>
          <a:noFill/>
          <a:ln/>
        </p:spPr>
        <p:txBody>
          <a:bodyPr wrap="square" lIns="0" tIns="0" rIns="0" bIns="0" rtlCol="0" anchor="t"/>
          <a:lstStyle/>
          <a:p>
            <a:pPr marL="0" indent="0" algn="ctr">
              <a:lnSpc>
                <a:spcPct val="105000"/>
              </a:lnSpc>
              <a:buNone/>
            </a:pPr>
            <a:r>
              <a:rPr lang="en-US" sz="1400" dirty="0">
                <a:solidFill>
                  <a:srgbClr val="262626"/>
                </a:solidFill>
                <a:latin typeface="Calibri" pitchFamily="34" charset="0"/>
                <a:ea typeface="Calibri" pitchFamily="34" charset="-122"/>
                <a:cs typeface="Calibri" pitchFamily="34" charset="-120"/>
              </a:rPr>
              <a:t>Safety-stock buffer + current inventory</a:t>
            </a:r>
            <a:endParaRPr lang="en-US" sz="1400" dirty="0"/>
          </a:p>
        </p:txBody>
      </p:sp>
      <p:sp>
        <p:nvSpPr>
          <p:cNvPr id="24" name="Shape 20"/>
          <p:cNvSpPr/>
          <p:nvPr/>
        </p:nvSpPr>
        <p:spPr>
          <a:xfrm>
            <a:off x="9364828" y="3168396"/>
            <a:ext cx="237744" cy="237744"/>
          </a:xfrm>
          <a:prstGeom prst="rightArrow">
            <a:avLst/>
          </a:prstGeom>
          <a:solidFill>
            <a:srgbClr val="6B6B6B"/>
          </a:solidFill>
          <a:ln/>
        </p:spPr>
      </p:sp>
      <p:sp>
        <p:nvSpPr>
          <p:cNvPr id="25" name="Shape 21"/>
          <p:cNvSpPr/>
          <p:nvPr/>
        </p:nvSpPr>
        <p:spPr>
          <a:xfrm>
            <a:off x="9630004" y="2578608"/>
            <a:ext cx="1965960" cy="1417320"/>
          </a:xfrm>
          <a:prstGeom prst="roundRect">
            <a:avLst>
              <a:gd name="adj" fmla="val 3871"/>
            </a:avLst>
          </a:prstGeom>
          <a:solidFill>
            <a:srgbClr val="BC312C"/>
          </a:solidFill>
          <a:ln w="12700">
            <a:solidFill>
              <a:srgbClr val="BC312C"/>
            </a:solidFill>
            <a:prstDash val="solid"/>
          </a:ln>
        </p:spPr>
      </p:sp>
      <p:sp>
        <p:nvSpPr>
          <p:cNvPr id="26" name="Text 22"/>
          <p:cNvSpPr/>
          <p:nvPr/>
        </p:nvSpPr>
        <p:spPr>
          <a:xfrm>
            <a:off x="9721444" y="2688336"/>
            <a:ext cx="1783080"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Restock Recommendation</a:t>
            </a:r>
            <a:endParaRPr lang="en-US" sz="1600" dirty="0"/>
          </a:p>
        </p:txBody>
      </p:sp>
      <p:sp>
        <p:nvSpPr>
          <p:cNvPr id="27" name="Text 23"/>
          <p:cNvSpPr/>
          <p:nvPr/>
        </p:nvSpPr>
        <p:spPr>
          <a:xfrm>
            <a:off x="9721444" y="3200400"/>
            <a:ext cx="1783080" cy="731520"/>
          </a:xfrm>
          <a:prstGeom prst="rect">
            <a:avLst/>
          </a:prstGeom>
          <a:noFill/>
          <a:ln/>
        </p:spPr>
        <p:txBody>
          <a:bodyPr wrap="square" lIns="0" tIns="0" rIns="0" bIns="0" rtlCol="0" anchor="t"/>
          <a:lstStyle/>
          <a:p>
            <a:pPr marL="0" indent="0" algn="ctr">
              <a:lnSpc>
                <a:spcPct val="105000"/>
              </a:lnSpc>
              <a:buNone/>
            </a:pPr>
            <a:r>
              <a:rPr lang="en-US" sz="1400" dirty="0">
                <a:solidFill>
                  <a:srgbClr val="FFFFFF"/>
                </a:solidFill>
                <a:latin typeface="Calibri" pitchFamily="34" charset="0"/>
                <a:ea typeface="Calibri" pitchFamily="34" charset="-122"/>
                <a:cs typeface="Calibri" pitchFamily="34" charset="-120"/>
              </a:rPr>
              <a:t>e.g. “Order 15 croissants” shown in Flutter app</a:t>
            </a:r>
            <a:endParaRPr lang="en-US" sz="1400" dirty="0"/>
          </a:p>
        </p:txBody>
      </p:sp>
      <p:sp>
        <p:nvSpPr>
          <p:cNvPr id="28" name="Text 24"/>
          <p:cNvSpPr/>
          <p:nvPr/>
        </p:nvSpPr>
        <p:spPr>
          <a:xfrm>
            <a:off x="502920" y="4453128"/>
            <a:ext cx="3200400" cy="320040"/>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Evaluation baseline</a:t>
            </a:r>
            <a:endParaRPr lang="en-US" dirty="0"/>
          </a:p>
        </p:txBody>
      </p:sp>
      <p:sp>
        <p:nvSpPr>
          <p:cNvPr id="29" name="Text 25"/>
          <p:cNvSpPr/>
          <p:nvPr/>
        </p:nvSpPr>
        <p:spPr>
          <a:xfrm>
            <a:off x="502920" y="4773168"/>
            <a:ext cx="11155680" cy="640080"/>
          </a:xfrm>
          <a:prstGeom prst="rect">
            <a:avLst/>
          </a:prstGeom>
          <a:noFill/>
          <a:ln/>
        </p:spPr>
        <p:txBody>
          <a:bodyPr wrap="square" lIns="0" tIns="0" rIns="0" bIns="0" rtlCol="0" anchor="ctr"/>
          <a:lstStyle/>
          <a:p>
            <a:pPr marL="0" indent="0">
              <a:lnSpc>
                <a:spcPct val="115000"/>
              </a:lnSpc>
              <a:buNone/>
            </a:pPr>
            <a:r>
              <a:rPr lang="en-US" dirty="0">
                <a:solidFill>
                  <a:srgbClr val="262626"/>
                </a:solidFill>
                <a:latin typeface="Calibri" pitchFamily="34" charset="0"/>
                <a:ea typeface="Calibri" pitchFamily="34" charset="-122"/>
                <a:cs typeface="Calibri" pitchFamily="34" charset="-120"/>
              </a:rPr>
              <a:t>Random Forest is run in parallel as a reporting-only comparison model — not the primary forecasting engine — to give an honest, evidence-based accuracy comparison rather than assuming Prophet's superiority upfront.</a:t>
            </a:r>
            <a:endParaRPr lang="en-US" dirty="0"/>
          </a:p>
        </p:txBody>
      </p:sp>
      <p:sp>
        <p:nvSpPr>
          <p:cNvPr id="30" name="Text 26"/>
          <p:cNvSpPr/>
          <p:nvPr/>
        </p:nvSpPr>
        <p:spPr>
          <a:xfrm>
            <a:off x="502920" y="5413248"/>
            <a:ext cx="11155680" cy="365760"/>
          </a:xfrm>
          <a:prstGeom prst="rect">
            <a:avLst/>
          </a:prstGeom>
          <a:noFill/>
          <a:ln/>
        </p:spPr>
        <p:txBody>
          <a:bodyPr wrap="square" lIns="0" tIns="0" rIns="0" bIns="0" rtlCol="0" anchor="ctr"/>
          <a:lstStyle/>
          <a:p>
            <a:pPr marL="0" indent="0">
              <a:buNone/>
            </a:pPr>
            <a:r>
              <a:rPr lang="en-US" sz="1600" i="1" dirty="0">
                <a:solidFill>
                  <a:srgbClr val="6B6B6B"/>
                </a:solidFill>
                <a:latin typeface="Calibri" pitchFamily="34" charset="0"/>
                <a:ea typeface="Calibri" pitchFamily="34" charset="-122"/>
                <a:cs typeface="Calibri" pitchFamily="34" charset="-120"/>
              </a:rPr>
              <a:t>Metrics reported: RMSE, MAPE, and a qualitative check of restock-recommendation reasonableness against held-out data.</a:t>
            </a:r>
            <a:endParaRPr lang="en-US" sz="1600" dirty="0"/>
          </a:p>
        </p:txBody>
      </p:sp>
      <p:sp>
        <p:nvSpPr>
          <p:cNvPr id="32" name="Shape 0">
            <a:extLst>
              <a:ext uri="{FF2B5EF4-FFF2-40B4-BE49-F238E27FC236}">
                <a16:creationId xmlns:a16="http://schemas.microsoft.com/office/drawing/2014/main" id="{00195049-A55C-C2F4-6800-0C0033F30FA5}"/>
              </a:ext>
            </a:extLst>
          </p:cNvPr>
          <p:cNvSpPr/>
          <p:nvPr/>
        </p:nvSpPr>
        <p:spPr>
          <a:xfrm>
            <a:off x="0" y="0"/>
            <a:ext cx="12191695" cy="580644"/>
          </a:xfrm>
          <a:prstGeom prst="rect">
            <a:avLst/>
          </a:prstGeom>
          <a:solidFill>
            <a:srgbClr val="BC312C"/>
          </a:solidFill>
          <a:ln/>
        </p:spPr>
      </p:sp>
      <p:pic>
        <p:nvPicPr>
          <p:cNvPr id="34" name="Image 0" descr="/home/claude/pptx/assets/left_logo.png">
            <a:extLst>
              <a:ext uri="{FF2B5EF4-FFF2-40B4-BE49-F238E27FC236}">
                <a16:creationId xmlns:a16="http://schemas.microsoft.com/office/drawing/2014/main" id="{80AEAA6E-D6E0-E672-8EE6-80E4C9061338}"/>
              </a:ext>
            </a:extLst>
          </p:cNvPr>
          <p:cNvPicPr>
            <a:picLocks noChangeAspect="1"/>
          </p:cNvPicPr>
          <p:nvPr/>
        </p:nvPicPr>
        <p:blipFill>
          <a:blip r:embed="rId3"/>
          <a:stretch>
            <a:fillRect/>
          </a:stretch>
        </p:blipFill>
        <p:spPr>
          <a:xfrm>
            <a:off x="0" y="45720"/>
            <a:ext cx="3246120" cy="1152144"/>
          </a:xfrm>
          <a:prstGeom prst="rect">
            <a:avLst/>
          </a:prstGeom>
        </p:spPr>
      </p:pic>
      <p:pic>
        <p:nvPicPr>
          <p:cNvPr id="36" name="Image 1" descr="/home/claude/pptx/assets/right_logo.png">
            <a:extLst>
              <a:ext uri="{FF2B5EF4-FFF2-40B4-BE49-F238E27FC236}">
                <a16:creationId xmlns:a16="http://schemas.microsoft.com/office/drawing/2014/main" id="{BEA3595A-EF59-AAA5-E833-B9EF56477FA5}"/>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8</a:t>
            </a:r>
            <a:endParaRPr lang="en-US" sz="1100"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Shape 5"/>
          <p:cNvSpPr/>
          <p:nvPr/>
        </p:nvSpPr>
        <p:spPr>
          <a:xfrm>
            <a:off x="502920" y="2324608"/>
            <a:ext cx="3611880" cy="1691640"/>
          </a:xfrm>
          <a:prstGeom prst="rect">
            <a:avLst/>
          </a:prstGeom>
          <a:solidFill>
            <a:srgbClr val="FFFFFF"/>
          </a:solidFill>
          <a:ln w="12700">
            <a:solidFill>
              <a:srgbClr val="BC312C"/>
            </a:solidFill>
            <a:prstDash val="solid"/>
          </a:ln>
        </p:spPr>
      </p:sp>
      <p:sp>
        <p:nvSpPr>
          <p:cNvPr id="10" name="Shape 6"/>
          <p:cNvSpPr/>
          <p:nvPr/>
        </p:nvSpPr>
        <p:spPr>
          <a:xfrm>
            <a:off x="502920" y="2324608"/>
            <a:ext cx="73152" cy="1691640"/>
          </a:xfrm>
          <a:prstGeom prst="rect">
            <a:avLst/>
          </a:prstGeom>
          <a:solidFill>
            <a:srgbClr val="BC312C"/>
          </a:solidFill>
          <a:ln/>
        </p:spPr>
      </p:sp>
      <p:sp>
        <p:nvSpPr>
          <p:cNvPr id="11" name="Text 7"/>
          <p:cNvSpPr/>
          <p:nvPr/>
        </p:nvSpPr>
        <p:spPr>
          <a:xfrm>
            <a:off x="731520" y="2434336"/>
            <a:ext cx="3246120" cy="292608"/>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Mobile Frontend</a:t>
            </a:r>
            <a:endParaRPr lang="en-US" dirty="0"/>
          </a:p>
        </p:txBody>
      </p:sp>
      <p:sp>
        <p:nvSpPr>
          <p:cNvPr id="12" name="Text 8"/>
          <p:cNvSpPr/>
          <p:nvPr/>
        </p:nvSpPr>
        <p:spPr>
          <a:xfrm>
            <a:off x="731520" y="2763520"/>
            <a:ext cx="324612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Flutter (Dart)</a:t>
            </a:r>
            <a:endParaRPr lang="en-US" dirty="0"/>
          </a:p>
        </p:txBody>
      </p:sp>
      <p:sp>
        <p:nvSpPr>
          <p:cNvPr id="13" name="Text 9"/>
          <p:cNvSpPr/>
          <p:nvPr/>
        </p:nvSpPr>
        <p:spPr>
          <a:xfrm>
            <a:off x="731520" y="3239008"/>
            <a:ext cx="324612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Cross-platform app; zero-install-friction interface for non-technical owners</a:t>
            </a:r>
            <a:endParaRPr lang="en-US" sz="1200" dirty="0"/>
          </a:p>
        </p:txBody>
      </p:sp>
      <p:sp>
        <p:nvSpPr>
          <p:cNvPr id="14" name="Shape 10"/>
          <p:cNvSpPr/>
          <p:nvPr/>
        </p:nvSpPr>
        <p:spPr>
          <a:xfrm>
            <a:off x="4251960" y="2324608"/>
            <a:ext cx="3611880" cy="1691640"/>
          </a:xfrm>
          <a:prstGeom prst="rect">
            <a:avLst/>
          </a:prstGeom>
          <a:solidFill>
            <a:srgbClr val="FFFFFF"/>
          </a:solidFill>
          <a:ln w="12700">
            <a:solidFill>
              <a:srgbClr val="BC312C"/>
            </a:solidFill>
            <a:prstDash val="solid"/>
          </a:ln>
        </p:spPr>
      </p:sp>
      <p:sp>
        <p:nvSpPr>
          <p:cNvPr id="15" name="Shape 11"/>
          <p:cNvSpPr/>
          <p:nvPr/>
        </p:nvSpPr>
        <p:spPr>
          <a:xfrm>
            <a:off x="4251960" y="2324608"/>
            <a:ext cx="73152" cy="1691640"/>
          </a:xfrm>
          <a:prstGeom prst="rect">
            <a:avLst/>
          </a:prstGeom>
          <a:solidFill>
            <a:srgbClr val="BC312C"/>
          </a:solidFill>
          <a:ln/>
        </p:spPr>
      </p:sp>
      <p:sp>
        <p:nvSpPr>
          <p:cNvPr id="16" name="Text 12"/>
          <p:cNvSpPr/>
          <p:nvPr/>
        </p:nvSpPr>
        <p:spPr>
          <a:xfrm>
            <a:off x="4480560" y="2434336"/>
            <a:ext cx="3246120" cy="292608"/>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Forecasting Engine</a:t>
            </a:r>
            <a:endParaRPr lang="en-US" dirty="0"/>
          </a:p>
        </p:txBody>
      </p:sp>
      <p:sp>
        <p:nvSpPr>
          <p:cNvPr id="17" name="Text 13"/>
          <p:cNvSpPr/>
          <p:nvPr/>
        </p:nvSpPr>
        <p:spPr>
          <a:xfrm>
            <a:off x="4480560" y="2763520"/>
            <a:ext cx="324612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Facebook Prophet (Python)</a:t>
            </a:r>
            <a:endParaRPr lang="en-US" dirty="0"/>
          </a:p>
        </p:txBody>
      </p:sp>
      <p:sp>
        <p:nvSpPr>
          <p:cNvPr id="18" name="Text 14"/>
          <p:cNvSpPr/>
          <p:nvPr/>
        </p:nvSpPr>
        <p:spPr>
          <a:xfrm>
            <a:off x="4480560" y="3239008"/>
            <a:ext cx="324612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CPU-only, handles missing data and short histories natively</a:t>
            </a:r>
            <a:endParaRPr lang="en-US" sz="1200" dirty="0"/>
          </a:p>
        </p:txBody>
      </p:sp>
      <p:sp>
        <p:nvSpPr>
          <p:cNvPr id="19" name="Shape 15"/>
          <p:cNvSpPr/>
          <p:nvPr/>
        </p:nvSpPr>
        <p:spPr>
          <a:xfrm>
            <a:off x="8001000" y="2324608"/>
            <a:ext cx="3611880" cy="1691640"/>
          </a:xfrm>
          <a:prstGeom prst="rect">
            <a:avLst/>
          </a:prstGeom>
          <a:solidFill>
            <a:srgbClr val="FFFFFF"/>
          </a:solidFill>
          <a:ln w="12700">
            <a:solidFill>
              <a:srgbClr val="BC312C"/>
            </a:solidFill>
            <a:prstDash val="solid"/>
          </a:ln>
        </p:spPr>
      </p:sp>
      <p:sp>
        <p:nvSpPr>
          <p:cNvPr id="20" name="Shape 16"/>
          <p:cNvSpPr/>
          <p:nvPr/>
        </p:nvSpPr>
        <p:spPr>
          <a:xfrm>
            <a:off x="8001000" y="2324608"/>
            <a:ext cx="73152" cy="1691640"/>
          </a:xfrm>
          <a:prstGeom prst="rect">
            <a:avLst/>
          </a:prstGeom>
          <a:solidFill>
            <a:srgbClr val="BC312C"/>
          </a:solidFill>
          <a:ln/>
        </p:spPr>
      </p:sp>
      <p:sp>
        <p:nvSpPr>
          <p:cNvPr id="21" name="Text 17"/>
          <p:cNvSpPr/>
          <p:nvPr/>
        </p:nvSpPr>
        <p:spPr>
          <a:xfrm>
            <a:off x="8229600" y="2434336"/>
            <a:ext cx="3246120" cy="292608"/>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External Regressors</a:t>
            </a:r>
            <a:endParaRPr lang="en-US" dirty="0"/>
          </a:p>
        </p:txBody>
      </p:sp>
      <p:sp>
        <p:nvSpPr>
          <p:cNvPr id="22" name="Text 18"/>
          <p:cNvSpPr/>
          <p:nvPr/>
        </p:nvSpPr>
        <p:spPr>
          <a:xfrm>
            <a:off x="8229600" y="2763520"/>
            <a:ext cx="324612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OpenWeatherMap / WeatherAPI, Python `holidays` library</a:t>
            </a:r>
            <a:endParaRPr lang="en-US" dirty="0"/>
          </a:p>
        </p:txBody>
      </p:sp>
      <p:sp>
        <p:nvSpPr>
          <p:cNvPr id="23" name="Text 19"/>
          <p:cNvSpPr/>
          <p:nvPr/>
        </p:nvSpPr>
        <p:spPr>
          <a:xfrm>
            <a:off x="8229600" y="3239008"/>
            <a:ext cx="324612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Feeds weather and public-holiday signals into Prophet</a:t>
            </a:r>
            <a:endParaRPr lang="en-US" sz="1200" dirty="0"/>
          </a:p>
        </p:txBody>
      </p:sp>
      <p:sp>
        <p:nvSpPr>
          <p:cNvPr id="24" name="Shape 20"/>
          <p:cNvSpPr/>
          <p:nvPr/>
        </p:nvSpPr>
        <p:spPr>
          <a:xfrm>
            <a:off x="502920" y="4199128"/>
            <a:ext cx="3611880" cy="1691640"/>
          </a:xfrm>
          <a:prstGeom prst="rect">
            <a:avLst/>
          </a:prstGeom>
          <a:solidFill>
            <a:srgbClr val="FFFFFF"/>
          </a:solidFill>
          <a:ln w="12700">
            <a:solidFill>
              <a:srgbClr val="BC312C"/>
            </a:solidFill>
            <a:prstDash val="solid"/>
          </a:ln>
        </p:spPr>
      </p:sp>
      <p:sp>
        <p:nvSpPr>
          <p:cNvPr id="25" name="Shape 21"/>
          <p:cNvSpPr/>
          <p:nvPr/>
        </p:nvSpPr>
        <p:spPr>
          <a:xfrm>
            <a:off x="502920" y="4199128"/>
            <a:ext cx="73152" cy="1691640"/>
          </a:xfrm>
          <a:prstGeom prst="rect">
            <a:avLst/>
          </a:prstGeom>
          <a:solidFill>
            <a:srgbClr val="BC312C"/>
          </a:solidFill>
          <a:ln/>
        </p:spPr>
      </p:sp>
      <p:sp>
        <p:nvSpPr>
          <p:cNvPr id="26" name="Text 22"/>
          <p:cNvSpPr/>
          <p:nvPr/>
        </p:nvSpPr>
        <p:spPr>
          <a:xfrm>
            <a:off x="731520" y="4308856"/>
            <a:ext cx="3246120" cy="292608"/>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Restock Logic</a:t>
            </a:r>
            <a:endParaRPr lang="en-US" dirty="0"/>
          </a:p>
        </p:txBody>
      </p:sp>
      <p:sp>
        <p:nvSpPr>
          <p:cNvPr id="27" name="Text 23"/>
          <p:cNvSpPr/>
          <p:nvPr/>
        </p:nvSpPr>
        <p:spPr>
          <a:xfrm>
            <a:off x="731520" y="4638040"/>
            <a:ext cx="324612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Python (Pandas, NumPy)</a:t>
            </a:r>
            <a:endParaRPr lang="en-US" dirty="0"/>
          </a:p>
        </p:txBody>
      </p:sp>
      <p:sp>
        <p:nvSpPr>
          <p:cNvPr id="28" name="Text 24"/>
          <p:cNvSpPr/>
          <p:nvPr/>
        </p:nvSpPr>
        <p:spPr>
          <a:xfrm>
            <a:off x="731520" y="5113528"/>
            <a:ext cx="324612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Deterministic safety-stock buffer calculation — not a second ML model</a:t>
            </a:r>
            <a:endParaRPr lang="en-US" sz="1200" dirty="0"/>
          </a:p>
        </p:txBody>
      </p:sp>
      <p:sp>
        <p:nvSpPr>
          <p:cNvPr id="29" name="Shape 25"/>
          <p:cNvSpPr/>
          <p:nvPr/>
        </p:nvSpPr>
        <p:spPr>
          <a:xfrm>
            <a:off x="4251960" y="4199128"/>
            <a:ext cx="3611880" cy="1691640"/>
          </a:xfrm>
          <a:prstGeom prst="rect">
            <a:avLst/>
          </a:prstGeom>
          <a:solidFill>
            <a:srgbClr val="FFFFFF"/>
          </a:solidFill>
          <a:ln w="12700">
            <a:solidFill>
              <a:srgbClr val="BC312C"/>
            </a:solidFill>
            <a:prstDash val="solid"/>
          </a:ln>
        </p:spPr>
      </p:sp>
      <p:sp>
        <p:nvSpPr>
          <p:cNvPr id="30" name="Shape 26"/>
          <p:cNvSpPr/>
          <p:nvPr/>
        </p:nvSpPr>
        <p:spPr>
          <a:xfrm>
            <a:off x="4251960" y="4199128"/>
            <a:ext cx="73152" cy="1691640"/>
          </a:xfrm>
          <a:prstGeom prst="rect">
            <a:avLst/>
          </a:prstGeom>
          <a:solidFill>
            <a:srgbClr val="BC312C"/>
          </a:solidFill>
          <a:ln/>
        </p:spPr>
      </p:sp>
      <p:sp>
        <p:nvSpPr>
          <p:cNvPr id="31" name="Text 27"/>
          <p:cNvSpPr/>
          <p:nvPr/>
        </p:nvSpPr>
        <p:spPr>
          <a:xfrm>
            <a:off x="4480560" y="4308856"/>
            <a:ext cx="3246120" cy="292608"/>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Backend API</a:t>
            </a:r>
            <a:endParaRPr lang="en-US" dirty="0"/>
          </a:p>
        </p:txBody>
      </p:sp>
      <p:sp>
        <p:nvSpPr>
          <p:cNvPr id="32" name="Text 28"/>
          <p:cNvSpPr/>
          <p:nvPr/>
        </p:nvSpPr>
        <p:spPr>
          <a:xfrm>
            <a:off x="4480560" y="4638040"/>
            <a:ext cx="324612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FastAPI / Flask, hosted on Render / AWS / GCP</a:t>
            </a:r>
            <a:endParaRPr lang="en-US" dirty="0"/>
          </a:p>
        </p:txBody>
      </p:sp>
      <p:sp>
        <p:nvSpPr>
          <p:cNvPr id="33" name="Text 29"/>
          <p:cNvSpPr/>
          <p:nvPr/>
        </p:nvSpPr>
        <p:spPr>
          <a:xfrm>
            <a:off x="4480560" y="5113528"/>
            <a:ext cx="324612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Connects Flutter app to the Python forecasting pipeline</a:t>
            </a:r>
            <a:endParaRPr lang="en-US" sz="1200" dirty="0"/>
          </a:p>
        </p:txBody>
      </p:sp>
      <p:sp>
        <p:nvSpPr>
          <p:cNvPr id="34" name="Shape 30"/>
          <p:cNvSpPr/>
          <p:nvPr/>
        </p:nvSpPr>
        <p:spPr>
          <a:xfrm>
            <a:off x="8001000" y="4199128"/>
            <a:ext cx="3611880" cy="1691640"/>
          </a:xfrm>
          <a:prstGeom prst="rect">
            <a:avLst/>
          </a:prstGeom>
          <a:solidFill>
            <a:srgbClr val="FFFFFF"/>
          </a:solidFill>
          <a:ln w="12700">
            <a:solidFill>
              <a:srgbClr val="BC312C"/>
            </a:solidFill>
            <a:prstDash val="solid"/>
          </a:ln>
        </p:spPr>
      </p:sp>
      <p:sp>
        <p:nvSpPr>
          <p:cNvPr id="35" name="Shape 31"/>
          <p:cNvSpPr/>
          <p:nvPr/>
        </p:nvSpPr>
        <p:spPr>
          <a:xfrm>
            <a:off x="8001000" y="4199128"/>
            <a:ext cx="73152" cy="1691640"/>
          </a:xfrm>
          <a:prstGeom prst="rect">
            <a:avLst/>
          </a:prstGeom>
          <a:solidFill>
            <a:srgbClr val="BC312C"/>
          </a:solidFill>
          <a:ln/>
        </p:spPr>
      </p:sp>
      <p:sp>
        <p:nvSpPr>
          <p:cNvPr id="36" name="Text 32"/>
          <p:cNvSpPr/>
          <p:nvPr/>
        </p:nvSpPr>
        <p:spPr>
          <a:xfrm>
            <a:off x="8229600" y="4308856"/>
            <a:ext cx="3246120" cy="292608"/>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Database</a:t>
            </a:r>
            <a:endParaRPr lang="en-US" dirty="0"/>
          </a:p>
        </p:txBody>
      </p:sp>
      <p:sp>
        <p:nvSpPr>
          <p:cNvPr id="37" name="Text 33"/>
          <p:cNvSpPr/>
          <p:nvPr/>
        </p:nvSpPr>
        <p:spPr>
          <a:xfrm>
            <a:off x="8229600" y="4638040"/>
            <a:ext cx="324612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Firebase / Supabase</a:t>
            </a:r>
            <a:endParaRPr lang="en-US" dirty="0"/>
          </a:p>
        </p:txBody>
      </p:sp>
      <p:sp>
        <p:nvSpPr>
          <p:cNvPr id="38" name="Text 34"/>
          <p:cNvSpPr/>
          <p:nvPr/>
        </p:nvSpPr>
        <p:spPr>
          <a:xfrm>
            <a:off x="8229600" y="5113528"/>
            <a:ext cx="324612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User auth, shop profiles, historical sales logs</a:t>
            </a:r>
            <a:endParaRPr lang="en-US" sz="1200" dirty="0"/>
          </a:p>
        </p:txBody>
      </p:sp>
      <p:sp>
        <p:nvSpPr>
          <p:cNvPr id="41" name="Shape 0">
            <a:extLst>
              <a:ext uri="{FF2B5EF4-FFF2-40B4-BE49-F238E27FC236}">
                <a16:creationId xmlns:a16="http://schemas.microsoft.com/office/drawing/2014/main" id="{0E74538A-8DBC-0661-2D98-CCBCBA8770DE}"/>
              </a:ext>
            </a:extLst>
          </p:cNvPr>
          <p:cNvSpPr/>
          <p:nvPr/>
        </p:nvSpPr>
        <p:spPr>
          <a:xfrm>
            <a:off x="0" y="0"/>
            <a:ext cx="12191695" cy="580644"/>
          </a:xfrm>
          <a:prstGeom prst="rect">
            <a:avLst/>
          </a:prstGeom>
          <a:solidFill>
            <a:srgbClr val="BC312C"/>
          </a:solidFill>
          <a:ln/>
        </p:spPr>
      </p:sp>
      <p:pic>
        <p:nvPicPr>
          <p:cNvPr id="43" name="Image 0" descr="/home/claude/pptx/assets/left_logo.png">
            <a:extLst>
              <a:ext uri="{FF2B5EF4-FFF2-40B4-BE49-F238E27FC236}">
                <a16:creationId xmlns:a16="http://schemas.microsoft.com/office/drawing/2014/main" id="{1B3C9A9E-4FEA-0C68-ABAC-AF6805A7BE9B}"/>
              </a:ext>
            </a:extLst>
          </p:cNvPr>
          <p:cNvPicPr>
            <a:picLocks noChangeAspect="1"/>
          </p:cNvPicPr>
          <p:nvPr/>
        </p:nvPicPr>
        <p:blipFill>
          <a:blip r:embed="rId3"/>
          <a:stretch>
            <a:fillRect/>
          </a:stretch>
        </p:blipFill>
        <p:spPr>
          <a:xfrm>
            <a:off x="0" y="45720"/>
            <a:ext cx="3246120" cy="1152144"/>
          </a:xfrm>
          <a:prstGeom prst="rect">
            <a:avLst/>
          </a:prstGeom>
        </p:spPr>
      </p:pic>
      <p:pic>
        <p:nvPicPr>
          <p:cNvPr id="45" name="Image 1" descr="/home/claude/pptx/assets/right_logo.png">
            <a:extLst>
              <a:ext uri="{FF2B5EF4-FFF2-40B4-BE49-F238E27FC236}">
                <a16:creationId xmlns:a16="http://schemas.microsoft.com/office/drawing/2014/main" id="{DEA233ED-6D29-5360-B5CA-5245BEB42280}"/>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9</a:t>
            </a:r>
            <a:endParaRPr lang="en-US" sz="1100"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Feasibility of Implementation</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701719854"/>
              </p:ext>
            </p:extLst>
          </p:nvPr>
        </p:nvGraphicFramePr>
        <p:xfrm>
          <a:off x="502920" y="2121408"/>
          <a:ext cx="11155680" cy="3236976"/>
        </p:xfrm>
        <a:graphic>
          <a:graphicData uri="http://schemas.openxmlformats.org/drawingml/2006/table">
            <a:tbl>
              <a:tblPr/>
              <a:tblGrid>
                <a:gridCol w="2377440">
                  <a:extLst>
                    <a:ext uri="{9D8B030D-6E8A-4147-A177-3AD203B41FA5}">
                      <a16:colId xmlns:a16="http://schemas.microsoft.com/office/drawing/2014/main" val="20000"/>
                    </a:ext>
                  </a:extLst>
                </a:gridCol>
                <a:gridCol w="2707640">
                  <a:extLst>
                    <a:ext uri="{9D8B030D-6E8A-4147-A177-3AD203B41FA5}">
                      <a16:colId xmlns:a16="http://schemas.microsoft.com/office/drawing/2014/main" val="20001"/>
                    </a:ext>
                  </a:extLst>
                </a:gridCol>
                <a:gridCol w="6070600">
                  <a:extLst>
                    <a:ext uri="{9D8B030D-6E8A-4147-A177-3AD203B41FA5}">
                      <a16:colId xmlns:a16="http://schemas.microsoft.com/office/drawing/2014/main" val="20002"/>
                    </a:ext>
                  </a:extLst>
                </a:gridCol>
              </a:tblGrid>
              <a:tr h="420624">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Approach Chosen</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Why It's Feasible in 8 Weeks</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Core model</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Facebook Prophet</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No GPU, minimal tuning, native seasonality/holiday support — config, not custom code</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Why not LSTM</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Considered, not chosen</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Lower error in reviewed papers, but needs 1,000+ days of data and grid-search tuning we don't have time for</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Why not pure XGBoost</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Considered, not chosen</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Susanto et al. show regression underperforms on sparse, zero-inflated SME data — our exact condition</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Restock layer</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Deterministic Pandas/NumPy logic</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Not a research problem — days of work, not weeks</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Seasonality &amp; holidays</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Native to Prophet</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Enabled via configuration, not built from scratch</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Weather regressor</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Custom `add_regressor()` call</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The only genuinely custom integration — scoped and small</a:t>
                      </a:r>
                      <a:endParaRPr lang="en-US" sz="14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Shape 5"/>
          <p:cNvSpPr/>
          <p:nvPr/>
        </p:nvSpPr>
        <p:spPr>
          <a:xfrm>
            <a:off x="502920" y="2121408"/>
            <a:ext cx="11155680" cy="420624"/>
          </a:xfrm>
          <a:prstGeom prst="rect">
            <a:avLst/>
          </a:prstGeom>
          <a:solidFill>
            <a:srgbClr val="BC312C"/>
          </a:solidFill>
          <a:ln/>
        </p:spPr>
      </p:sp>
      <p:sp>
        <p:nvSpPr>
          <p:cNvPr id="11" name="Text 6"/>
          <p:cNvSpPr/>
          <p:nvPr/>
        </p:nvSpPr>
        <p:spPr>
          <a:xfrm>
            <a:off x="502920" y="2121408"/>
            <a:ext cx="2377440" cy="420624"/>
          </a:xfrm>
          <a:prstGeom prst="rect">
            <a:avLst/>
          </a:prstGeom>
          <a:noFill/>
          <a:ln/>
        </p:spPr>
        <p:txBody>
          <a:bodyPr wrap="square" lIns="0" tIns="5080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Component</a:t>
            </a:r>
            <a:endParaRPr lang="en-US" sz="2200" dirty="0"/>
          </a:p>
        </p:txBody>
      </p:sp>
      <p:sp>
        <p:nvSpPr>
          <p:cNvPr id="12" name="Text 7"/>
          <p:cNvSpPr/>
          <p:nvPr/>
        </p:nvSpPr>
        <p:spPr>
          <a:xfrm>
            <a:off x="2880360" y="2121408"/>
            <a:ext cx="3017520" cy="420624"/>
          </a:xfrm>
          <a:prstGeom prst="rect">
            <a:avLst/>
          </a:prstGeom>
          <a:noFill/>
          <a:ln/>
        </p:spPr>
        <p:txBody>
          <a:bodyPr wrap="square" lIns="0" tIns="5080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Approach Chosen</a:t>
            </a:r>
            <a:endParaRPr lang="en-US" sz="2200" dirty="0"/>
          </a:p>
        </p:txBody>
      </p:sp>
      <p:sp>
        <p:nvSpPr>
          <p:cNvPr id="13" name="Text 8"/>
          <p:cNvSpPr/>
          <p:nvPr/>
        </p:nvSpPr>
        <p:spPr>
          <a:xfrm>
            <a:off x="5897880" y="2121408"/>
            <a:ext cx="5760720" cy="420624"/>
          </a:xfrm>
          <a:prstGeom prst="rect">
            <a:avLst/>
          </a:prstGeom>
          <a:noFill/>
          <a:ln/>
        </p:spPr>
        <p:txBody>
          <a:bodyPr wrap="square" lIns="0" tIns="5080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Why It's Feasible in 8 Weeks</a:t>
            </a:r>
            <a:endParaRPr lang="en-US" sz="2200" dirty="0"/>
          </a:p>
        </p:txBody>
      </p:sp>
      <p:sp>
        <p:nvSpPr>
          <p:cNvPr id="14" name="Text 9"/>
          <p:cNvSpPr/>
          <p:nvPr/>
        </p:nvSpPr>
        <p:spPr>
          <a:xfrm>
            <a:off x="502920" y="5349240"/>
            <a:ext cx="5943600" cy="274320"/>
          </a:xfrm>
          <a:prstGeom prst="rect">
            <a:avLst/>
          </a:prstGeom>
          <a:noFill/>
          <a:ln/>
        </p:spPr>
        <p:txBody>
          <a:bodyPr wrap="square" lIns="0" tIns="0" rIns="0" bIns="0" rtlCol="0" anchor="ctr"/>
          <a:lstStyle/>
          <a:p>
            <a:pPr marL="0" indent="0">
              <a:buNone/>
            </a:pPr>
            <a:r>
              <a:rPr lang="en-US" sz="1250" b="1" dirty="0">
                <a:solidFill>
                  <a:srgbClr val="2F3C7E"/>
                </a:solidFill>
                <a:latin typeface="Calibri" pitchFamily="34" charset="0"/>
                <a:ea typeface="Calibri" pitchFamily="34" charset="-122"/>
                <a:cs typeface="Calibri" pitchFamily="34" charset="-120"/>
              </a:rPr>
              <a:t>Known constraints (acknowledged, not hidden):</a:t>
            </a:r>
            <a:endParaRPr lang="en-US" sz="1250" dirty="0"/>
          </a:p>
        </p:txBody>
      </p:sp>
      <p:sp>
        <p:nvSpPr>
          <p:cNvPr id="15" name="Text 10"/>
          <p:cNvSpPr/>
          <p:nvPr/>
        </p:nvSpPr>
        <p:spPr>
          <a:xfrm>
            <a:off x="502920" y="5623560"/>
            <a:ext cx="11155680" cy="868680"/>
          </a:xfrm>
          <a:prstGeom prst="rect">
            <a:avLst/>
          </a:prstGeom>
          <a:noFill/>
          <a:ln/>
        </p:spPr>
        <p:txBody>
          <a:bodyPr wrap="square" lIns="0" tIns="0" rIns="0" bIns="0" rtlCol="0" anchor="ctr"/>
          <a:lstStyle/>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 No real business data yet — public datasets (French Bakery, Rossmann) used as proxies</a:t>
            </a:r>
            <a:endParaRPr lang="en-US" sz="1050" dirty="0"/>
          </a:p>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 Weather API rate limits at free tier</a:t>
            </a:r>
            <a:endParaRPr lang="en-US" sz="1050" dirty="0"/>
          </a:p>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 8-week window across 3 people running parallel workstreams</a:t>
            </a:r>
            <a:endParaRPr lang="en-US" sz="1050" dirty="0"/>
          </a:p>
        </p:txBody>
      </p:sp>
      <p:sp>
        <p:nvSpPr>
          <p:cNvPr id="17" name="Shape 0">
            <a:extLst>
              <a:ext uri="{FF2B5EF4-FFF2-40B4-BE49-F238E27FC236}">
                <a16:creationId xmlns:a16="http://schemas.microsoft.com/office/drawing/2014/main" id="{EFC0412B-6CF7-A14A-59A4-6E3606C881DA}"/>
              </a:ext>
            </a:extLst>
          </p:cNvPr>
          <p:cNvSpPr/>
          <p:nvPr/>
        </p:nvSpPr>
        <p:spPr>
          <a:xfrm>
            <a:off x="0" y="0"/>
            <a:ext cx="12191695" cy="580644"/>
          </a:xfrm>
          <a:prstGeom prst="rect">
            <a:avLst/>
          </a:prstGeom>
          <a:solidFill>
            <a:srgbClr val="BC312C"/>
          </a:solidFill>
          <a:ln/>
        </p:spPr>
      </p:sp>
      <p:pic>
        <p:nvPicPr>
          <p:cNvPr id="19" name="Image 0" descr="/home/claude/pptx/assets/left_logo.png">
            <a:extLst>
              <a:ext uri="{FF2B5EF4-FFF2-40B4-BE49-F238E27FC236}">
                <a16:creationId xmlns:a16="http://schemas.microsoft.com/office/drawing/2014/main" id="{94000896-B7E8-FEAE-AC22-8C858D5681B0}"/>
              </a:ext>
            </a:extLst>
          </p:cNvPr>
          <p:cNvPicPr>
            <a:picLocks noChangeAspect="1"/>
          </p:cNvPicPr>
          <p:nvPr/>
        </p:nvPicPr>
        <p:blipFill>
          <a:blip r:embed="rId3"/>
          <a:stretch>
            <a:fillRect/>
          </a:stretch>
        </p:blipFill>
        <p:spPr>
          <a:xfrm>
            <a:off x="0" y="45720"/>
            <a:ext cx="3246120" cy="1152144"/>
          </a:xfrm>
          <a:prstGeom prst="rect">
            <a:avLst/>
          </a:prstGeom>
        </p:spPr>
      </p:pic>
      <p:pic>
        <p:nvPicPr>
          <p:cNvPr id="21" name="Image 1" descr="/home/claude/pptx/assets/right_logo.png">
            <a:extLst>
              <a:ext uri="{FF2B5EF4-FFF2-40B4-BE49-F238E27FC236}">
                <a16:creationId xmlns:a16="http://schemas.microsoft.com/office/drawing/2014/main" id="{B8430B70-EBF8-12C4-D906-CD3D6B4EFF6B}"/>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dirty="0">
                <a:solidFill>
                  <a:srgbClr val="FFFFFF"/>
                </a:solidFill>
                <a:latin typeface="Calibri" pitchFamily="34" charset="0"/>
                <a:ea typeface="Calibri" pitchFamily="34" charset="-122"/>
                <a:cs typeface="Calibri" pitchFamily="34" charset="-120"/>
              </a:rPr>
              <a:t>10</a:t>
            </a:r>
            <a:endParaRPr lang="en-US"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Expected Outcomes</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Shape 5"/>
          <p:cNvSpPr/>
          <p:nvPr/>
        </p:nvSpPr>
        <p:spPr>
          <a:xfrm>
            <a:off x="502920" y="2121408"/>
            <a:ext cx="11155680" cy="731520"/>
          </a:xfrm>
          <a:prstGeom prst="rect">
            <a:avLst/>
          </a:prstGeom>
          <a:solidFill>
            <a:srgbClr val="F7F5F4"/>
          </a:solidFill>
          <a:ln/>
        </p:spPr>
      </p:sp>
      <p:sp>
        <p:nvSpPr>
          <p:cNvPr id="10" name="Shape 6"/>
          <p:cNvSpPr/>
          <p:nvPr/>
        </p:nvSpPr>
        <p:spPr>
          <a:xfrm>
            <a:off x="685800" y="2350008"/>
            <a:ext cx="274320" cy="274320"/>
          </a:xfrm>
          <a:prstGeom prst="ellipse">
            <a:avLst/>
          </a:prstGeom>
          <a:solidFill>
            <a:srgbClr val="BC312C"/>
          </a:solidFill>
          <a:ln/>
        </p:spPr>
      </p:sp>
      <p:sp>
        <p:nvSpPr>
          <p:cNvPr id="11" name="Text 7"/>
          <p:cNvSpPr/>
          <p:nvPr/>
        </p:nvSpPr>
        <p:spPr>
          <a:xfrm>
            <a:off x="685800" y="2350008"/>
            <a:ext cx="27432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Text 8"/>
          <p:cNvSpPr/>
          <p:nvPr/>
        </p:nvSpPr>
        <p:spPr>
          <a:xfrm>
            <a:off x="1143000" y="2194560"/>
            <a:ext cx="3291840" cy="585216"/>
          </a:xfrm>
          <a:prstGeom prst="rect">
            <a:avLst/>
          </a:prstGeom>
          <a:noFill/>
          <a:ln/>
        </p:spPr>
        <p:txBody>
          <a:bodyPr wrap="square" lIns="0" tIns="0" rIns="0" bIns="0" rtlCol="0" anchor="ctr"/>
          <a:lstStyle/>
          <a:p>
            <a:pPr marL="0" indent="0">
              <a:lnSpc>
                <a:spcPct val="105000"/>
              </a:lnSpc>
              <a:buNone/>
            </a:pPr>
            <a:r>
              <a:rPr lang="en-US" sz="2000" b="1" dirty="0">
                <a:solidFill>
                  <a:srgbClr val="2F3C7E"/>
                </a:solidFill>
                <a:latin typeface="Calibri" pitchFamily="34" charset="0"/>
                <a:ea typeface="Calibri" pitchFamily="34" charset="-122"/>
                <a:cs typeface="Calibri" pitchFamily="34" charset="-120"/>
              </a:rPr>
              <a:t>Working Forecasting Prototype</a:t>
            </a:r>
            <a:endParaRPr lang="en-US" sz="2000" dirty="0"/>
          </a:p>
        </p:txBody>
      </p:sp>
      <p:sp>
        <p:nvSpPr>
          <p:cNvPr id="13" name="Text 9"/>
          <p:cNvSpPr/>
          <p:nvPr/>
        </p:nvSpPr>
        <p:spPr>
          <a:xfrm>
            <a:off x="4572000" y="2194560"/>
            <a:ext cx="6903720" cy="585216"/>
          </a:xfrm>
          <a:prstGeom prst="rect">
            <a:avLst/>
          </a:prstGeom>
          <a:noFill/>
          <a:ln/>
        </p:spPr>
        <p:txBody>
          <a:bodyPr wrap="square" lIns="0" tIns="0" rIns="0" bIns="0" rtlCol="0" anchor="ctr"/>
          <a:lstStyle/>
          <a:p>
            <a:pPr marL="0" indent="0">
              <a:lnSpc>
                <a:spcPct val="105000"/>
              </a:lnSpc>
              <a:buNone/>
            </a:pPr>
            <a:r>
              <a:rPr lang="en-US" dirty="0">
                <a:solidFill>
                  <a:srgbClr val="262626"/>
                </a:solidFill>
                <a:latin typeface="Calibri" pitchFamily="34" charset="0"/>
                <a:ea typeface="Calibri" pitchFamily="34" charset="-122"/>
                <a:cs typeface="Calibri" pitchFamily="34" charset="-120"/>
              </a:rPr>
              <a:t>Prophet-based daily demand forecasts with weather and holiday regressors, validated on two public datasets</a:t>
            </a:r>
            <a:endParaRPr lang="en-US" dirty="0"/>
          </a:p>
        </p:txBody>
      </p:sp>
      <p:sp>
        <p:nvSpPr>
          <p:cNvPr id="14" name="Shape 10"/>
          <p:cNvSpPr/>
          <p:nvPr/>
        </p:nvSpPr>
        <p:spPr>
          <a:xfrm>
            <a:off x="502920" y="2962656"/>
            <a:ext cx="11155680" cy="731520"/>
          </a:xfrm>
          <a:prstGeom prst="rect">
            <a:avLst/>
          </a:prstGeom>
          <a:solidFill>
            <a:srgbClr val="FFFFFF"/>
          </a:solidFill>
          <a:ln/>
        </p:spPr>
      </p:sp>
      <p:sp>
        <p:nvSpPr>
          <p:cNvPr id="15" name="Shape 11"/>
          <p:cNvSpPr/>
          <p:nvPr/>
        </p:nvSpPr>
        <p:spPr>
          <a:xfrm>
            <a:off x="685800" y="3191256"/>
            <a:ext cx="274320" cy="274320"/>
          </a:xfrm>
          <a:prstGeom prst="ellipse">
            <a:avLst/>
          </a:prstGeom>
          <a:solidFill>
            <a:srgbClr val="BC312C"/>
          </a:solidFill>
          <a:ln/>
        </p:spPr>
      </p:sp>
      <p:sp>
        <p:nvSpPr>
          <p:cNvPr id="16" name="Text 12"/>
          <p:cNvSpPr/>
          <p:nvPr/>
        </p:nvSpPr>
        <p:spPr>
          <a:xfrm>
            <a:off x="685800" y="3191256"/>
            <a:ext cx="27432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Text 13"/>
          <p:cNvSpPr/>
          <p:nvPr/>
        </p:nvSpPr>
        <p:spPr>
          <a:xfrm>
            <a:off x="1143000" y="3035808"/>
            <a:ext cx="3291840" cy="585216"/>
          </a:xfrm>
          <a:prstGeom prst="rect">
            <a:avLst/>
          </a:prstGeom>
          <a:noFill/>
          <a:ln/>
        </p:spPr>
        <p:txBody>
          <a:bodyPr wrap="square" lIns="0" tIns="0" rIns="0" bIns="0" rtlCol="0" anchor="ctr"/>
          <a:lstStyle/>
          <a:p>
            <a:pPr marL="0" indent="0">
              <a:lnSpc>
                <a:spcPct val="105000"/>
              </a:lnSpc>
              <a:buNone/>
            </a:pPr>
            <a:r>
              <a:rPr lang="en-US" sz="2000" b="1" dirty="0">
                <a:solidFill>
                  <a:srgbClr val="2F3C7E"/>
                </a:solidFill>
                <a:latin typeface="Calibri" pitchFamily="34" charset="0"/>
                <a:ea typeface="Calibri" pitchFamily="34" charset="-122"/>
                <a:cs typeface="Calibri" pitchFamily="34" charset="-120"/>
              </a:rPr>
              <a:t>Actionable Restock Output</a:t>
            </a:r>
            <a:endParaRPr lang="en-US" sz="2000" dirty="0"/>
          </a:p>
        </p:txBody>
      </p:sp>
      <p:sp>
        <p:nvSpPr>
          <p:cNvPr id="18" name="Text 14"/>
          <p:cNvSpPr/>
          <p:nvPr/>
        </p:nvSpPr>
        <p:spPr>
          <a:xfrm>
            <a:off x="4572000" y="3035808"/>
            <a:ext cx="6903720" cy="585216"/>
          </a:xfrm>
          <a:prstGeom prst="rect">
            <a:avLst/>
          </a:prstGeom>
          <a:noFill/>
          <a:ln/>
        </p:spPr>
        <p:txBody>
          <a:bodyPr wrap="square" lIns="0" tIns="0" rIns="0" bIns="0" rtlCol="0" anchor="ctr"/>
          <a:lstStyle/>
          <a:p>
            <a:pPr marL="0" indent="0">
              <a:lnSpc>
                <a:spcPct val="105000"/>
              </a:lnSpc>
              <a:buNone/>
            </a:pPr>
            <a:r>
              <a:rPr lang="en-US" dirty="0">
                <a:solidFill>
                  <a:srgbClr val="262626"/>
                </a:solidFill>
                <a:latin typeface="Calibri" pitchFamily="34" charset="0"/>
                <a:ea typeface="Calibri" pitchFamily="34" charset="-122"/>
                <a:cs typeface="Calibri" pitchFamily="34" charset="-120"/>
              </a:rPr>
              <a:t>Concrete restock quantities, not just a trend chart or an error metric</a:t>
            </a:r>
            <a:endParaRPr lang="en-US" dirty="0"/>
          </a:p>
        </p:txBody>
      </p:sp>
      <p:sp>
        <p:nvSpPr>
          <p:cNvPr id="19" name="Shape 15"/>
          <p:cNvSpPr/>
          <p:nvPr/>
        </p:nvSpPr>
        <p:spPr>
          <a:xfrm>
            <a:off x="502920" y="3803904"/>
            <a:ext cx="11155680" cy="731520"/>
          </a:xfrm>
          <a:prstGeom prst="rect">
            <a:avLst/>
          </a:prstGeom>
          <a:solidFill>
            <a:srgbClr val="F7F5F4"/>
          </a:solidFill>
          <a:ln/>
        </p:spPr>
      </p:sp>
      <p:sp>
        <p:nvSpPr>
          <p:cNvPr id="20" name="Shape 16"/>
          <p:cNvSpPr/>
          <p:nvPr/>
        </p:nvSpPr>
        <p:spPr>
          <a:xfrm>
            <a:off x="685800" y="4032504"/>
            <a:ext cx="274320" cy="274320"/>
          </a:xfrm>
          <a:prstGeom prst="ellipse">
            <a:avLst/>
          </a:prstGeom>
          <a:solidFill>
            <a:srgbClr val="BC312C"/>
          </a:solidFill>
          <a:ln/>
        </p:spPr>
      </p:sp>
      <p:sp>
        <p:nvSpPr>
          <p:cNvPr id="21" name="Text 17"/>
          <p:cNvSpPr/>
          <p:nvPr/>
        </p:nvSpPr>
        <p:spPr>
          <a:xfrm>
            <a:off x="685800" y="4032504"/>
            <a:ext cx="27432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Text 18"/>
          <p:cNvSpPr/>
          <p:nvPr/>
        </p:nvSpPr>
        <p:spPr>
          <a:xfrm>
            <a:off x="1143000" y="3877056"/>
            <a:ext cx="3291840" cy="585216"/>
          </a:xfrm>
          <a:prstGeom prst="rect">
            <a:avLst/>
          </a:prstGeom>
          <a:noFill/>
          <a:ln/>
        </p:spPr>
        <p:txBody>
          <a:bodyPr wrap="square" lIns="0" tIns="0" rIns="0" bIns="0" rtlCol="0" anchor="ctr"/>
          <a:lstStyle/>
          <a:p>
            <a:pPr marL="0" indent="0">
              <a:lnSpc>
                <a:spcPct val="105000"/>
              </a:lnSpc>
              <a:buNone/>
            </a:pPr>
            <a:r>
              <a:rPr lang="en-US" sz="2000" b="1" dirty="0">
                <a:solidFill>
                  <a:srgbClr val="2F3C7E"/>
                </a:solidFill>
                <a:latin typeface="Calibri" pitchFamily="34" charset="0"/>
                <a:ea typeface="Calibri" pitchFamily="34" charset="-122"/>
                <a:cs typeface="Calibri" pitchFamily="34" charset="-120"/>
              </a:rPr>
              <a:t>Mobile App Demo</a:t>
            </a:r>
            <a:endParaRPr lang="en-US" sz="2000" dirty="0"/>
          </a:p>
        </p:txBody>
      </p:sp>
      <p:sp>
        <p:nvSpPr>
          <p:cNvPr id="23" name="Text 19"/>
          <p:cNvSpPr/>
          <p:nvPr/>
        </p:nvSpPr>
        <p:spPr>
          <a:xfrm>
            <a:off x="4572000" y="3877056"/>
            <a:ext cx="6903720" cy="585216"/>
          </a:xfrm>
          <a:prstGeom prst="rect">
            <a:avLst/>
          </a:prstGeom>
          <a:noFill/>
          <a:ln/>
        </p:spPr>
        <p:txBody>
          <a:bodyPr wrap="square" lIns="0" tIns="0" rIns="0" bIns="0" rtlCol="0" anchor="ctr"/>
          <a:lstStyle/>
          <a:p>
            <a:pPr marL="0" indent="0">
              <a:lnSpc>
                <a:spcPct val="105000"/>
              </a:lnSpc>
              <a:buNone/>
            </a:pPr>
            <a:r>
              <a:rPr lang="en-US" dirty="0">
                <a:solidFill>
                  <a:srgbClr val="262626"/>
                </a:solidFill>
                <a:latin typeface="Calibri" pitchFamily="34" charset="0"/>
                <a:ea typeface="Calibri" pitchFamily="34" charset="-122"/>
                <a:cs typeface="Calibri" pitchFamily="34" charset="-120"/>
              </a:rPr>
              <a:t>Flutter interface where a simulated business owner can view forecasts and restock recommendations</a:t>
            </a:r>
            <a:endParaRPr lang="en-US" dirty="0"/>
          </a:p>
        </p:txBody>
      </p:sp>
      <p:sp>
        <p:nvSpPr>
          <p:cNvPr id="24" name="Shape 20"/>
          <p:cNvSpPr/>
          <p:nvPr/>
        </p:nvSpPr>
        <p:spPr>
          <a:xfrm>
            <a:off x="502920" y="4645152"/>
            <a:ext cx="11155680" cy="731520"/>
          </a:xfrm>
          <a:prstGeom prst="rect">
            <a:avLst/>
          </a:prstGeom>
          <a:solidFill>
            <a:srgbClr val="FFFFFF"/>
          </a:solidFill>
          <a:ln/>
        </p:spPr>
      </p:sp>
      <p:sp>
        <p:nvSpPr>
          <p:cNvPr id="25" name="Shape 21"/>
          <p:cNvSpPr/>
          <p:nvPr/>
        </p:nvSpPr>
        <p:spPr>
          <a:xfrm>
            <a:off x="685800" y="4873752"/>
            <a:ext cx="274320" cy="274320"/>
          </a:xfrm>
          <a:prstGeom prst="ellipse">
            <a:avLst/>
          </a:prstGeom>
          <a:solidFill>
            <a:srgbClr val="BC312C"/>
          </a:solidFill>
          <a:ln/>
        </p:spPr>
      </p:sp>
      <p:sp>
        <p:nvSpPr>
          <p:cNvPr id="26" name="Text 22"/>
          <p:cNvSpPr/>
          <p:nvPr/>
        </p:nvSpPr>
        <p:spPr>
          <a:xfrm>
            <a:off x="685800" y="4873752"/>
            <a:ext cx="27432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3"/>
          <p:cNvSpPr/>
          <p:nvPr/>
        </p:nvSpPr>
        <p:spPr>
          <a:xfrm>
            <a:off x="1143000" y="4718304"/>
            <a:ext cx="3291840" cy="585216"/>
          </a:xfrm>
          <a:prstGeom prst="rect">
            <a:avLst/>
          </a:prstGeom>
          <a:noFill/>
          <a:ln/>
        </p:spPr>
        <p:txBody>
          <a:bodyPr wrap="square" lIns="0" tIns="0" rIns="0" bIns="0" rtlCol="0" anchor="ctr"/>
          <a:lstStyle/>
          <a:p>
            <a:pPr marL="0" indent="0">
              <a:lnSpc>
                <a:spcPct val="105000"/>
              </a:lnSpc>
              <a:buNone/>
            </a:pPr>
            <a:r>
              <a:rPr lang="en-US" sz="2000" b="1" dirty="0">
                <a:solidFill>
                  <a:srgbClr val="2F3C7E"/>
                </a:solidFill>
                <a:latin typeface="Calibri" pitchFamily="34" charset="0"/>
                <a:ea typeface="Calibri" pitchFamily="34" charset="-122"/>
                <a:cs typeface="Calibri" pitchFamily="34" charset="-120"/>
              </a:rPr>
              <a:t>Evidence-Based Comparison Report</a:t>
            </a:r>
            <a:endParaRPr lang="en-US" sz="2000" dirty="0"/>
          </a:p>
        </p:txBody>
      </p:sp>
      <p:sp>
        <p:nvSpPr>
          <p:cNvPr id="28" name="Text 24"/>
          <p:cNvSpPr/>
          <p:nvPr/>
        </p:nvSpPr>
        <p:spPr>
          <a:xfrm>
            <a:off x="4572000" y="4718304"/>
            <a:ext cx="6903720" cy="585216"/>
          </a:xfrm>
          <a:prstGeom prst="rect">
            <a:avLst/>
          </a:prstGeom>
          <a:noFill/>
          <a:ln/>
        </p:spPr>
        <p:txBody>
          <a:bodyPr wrap="square" lIns="0" tIns="0" rIns="0" bIns="0" rtlCol="0" anchor="ctr"/>
          <a:lstStyle/>
          <a:p>
            <a:pPr marL="0" indent="0">
              <a:lnSpc>
                <a:spcPct val="105000"/>
              </a:lnSpc>
              <a:buNone/>
            </a:pPr>
            <a:r>
              <a:rPr lang="en-US" dirty="0">
                <a:solidFill>
                  <a:srgbClr val="262626"/>
                </a:solidFill>
                <a:latin typeface="Calibri" pitchFamily="34" charset="0"/>
                <a:ea typeface="Calibri" pitchFamily="34" charset="-122"/>
                <a:cs typeface="Calibri" pitchFamily="34" charset="-120"/>
              </a:rPr>
              <a:t>Prophet vs. Random Forest baseline results, reported honestly — including where Prophet does not win</a:t>
            </a:r>
            <a:endParaRPr lang="en-US" dirty="0"/>
          </a:p>
        </p:txBody>
      </p:sp>
      <p:sp>
        <p:nvSpPr>
          <p:cNvPr id="29" name="Shape 25"/>
          <p:cNvSpPr/>
          <p:nvPr/>
        </p:nvSpPr>
        <p:spPr>
          <a:xfrm>
            <a:off x="502920" y="5486400"/>
            <a:ext cx="11155680" cy="731520"/>
          </a:xfrm>
          <a:prstGeom prst="rect">
            <a:avLst/>
          </a:prstGeom>
          <a:solidFill>
            <a:srgbClr val="F7F5F4"/>
          </a:solidFill>
          <a:ln/>
        </p:spPr>
      </p:sp>
      <p:sp>
        <p:nvSpPr>
          <p:cNvPr id="30" name="Shape 26"/>
          <p:cNvSpPr/>
          <p:nvPr/>
        </p:nvSpPr>
        <p:spPr>
          <a:xfrm>
            <a:off x="685800" y="5715000"/>
            <a:ext cx="274320" cy="274320"/>
          </a:xfrm>
          <a:prstGeom prst="ellipse">
            <a:avLst/>
          </a:prstGeom>
          <a:solidFill>
            <a:srgbClr val="BC312C"/>
          </a:solidFill>
          <a:ln/>
        </p:spPr>
      </p:sp>
      <p:sp>
        <p:nvSpPr>
          <p:cNvPr id="31" name="Text 27"/>
          <p:cNvSpPr/>
          <p:nvPr/>
        </p:nvSpPr>
        <p:spPr>
          <a:xfrm>
            <a:off x="685800" y="5715000"/>
            <a:ext cx="27432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2" name="Text 28"/>
          <p:cNvSpPr/>
          <p:nvPr/>
        </p:nvSpPr>
        <p:spPr>
          <a:xfrm>
            <a:off x="1143000" y="5559552"/>
            <a:ext cx="3291840" cy="585216"/>
          </a:xfrm>
          <a:prstGeom prst="rect">
            <a:avLst/>
          </a:prstGeom>
          <a:noFill/>
          <a:ln/>
        </p:spPr>
        <p:txBody>
          <a:bodyPr wrap="square" lIns="0" tIns="0" rIns="0" bIns="0" rtlCol="0" anchor="ctr"/>
          <a:lstStyle/>
          <a:p>
            <a:pPr marL="0" indent="0">
              <a:lnSpc>
                <a:spcPct val="105000"/>
              </a:lnSpc>
              <a:buNone/>
            </a:pPr>
            <a:r>
              <a:rPr lang="en-US" sz="2000" b="1" dirty="0">
                <a:solidFill>
                  <a:srgbClr val="2F3C7E"/>
                </a:solidFill>
                <a:latin typeface="Calibri" pitchFamily="34" charset="0"/>
                <a:ea typeface="Calibri" pitchFamily="34" charset="-122"/>
                <a:cs typeface="Calibri" pitchFamily="34" charset="-120"/>
              </a:rPr>
              <a:t>Documented Gap Closure</a:t>
            </a:r>
            <a:endParaRPr lang="en-US" sz="2000" dirty="0"/>
          </a:p>
        </p:txBody>
      </p:sp>
      <p:sp>
        <p:nvSpPr>
          <p:cNvPr id="33" name="Text 29"/>
          <p:cNvSpPr/>
          <p:nvPr/>
        </p:nvSpPr>
        <p:spPr>
          <a:xfrm>
            <a:off x="4572000" y="5559552"/>
            <a:ext cx="6903720" cy="585216"/>
          </a:xfrm>
          <a:prstGeom prst="rect">
            <a:avLst/>
          </a:prstGeom>
          <a:noFill/>
          <a:ln/>
        </p:spPr>
        <p:txBody>
          <a:bodyPr wrap="square" lIns="0" tIns="0" rIns="0" bIns="0" rtlCol="0" anchor="ctr"/>
          <a:lstStyle/>
          <a:p>
            <a:pPr marL="0" indent="0">
              <a:lnSpc>
                <a:spcPct val="105000"/>
              </a:lnSpc>
              <a:buNone/>
            </a:pPr>
            <a:r>
              <a:rPr lang="en-US" dirty="0">
                <a:solidFill>
                  <a:srgbClr val="262626"/>
                </a:solidFill>
                <a:latin typeface="Calibri" pitchFamily="34" charset="0"/>
                <a:ea typeface="Calibri" pitchFamily="34" charset="-122"/>
                <a:cs typeface="Calibri" pitchFamily="34" charset="-120"/>
              </a:rPr>
              <a:t>A direct mapping from each of the 4 literature gaps to a corresponding design decision in LocalDemand</a:t>
            </a:r>
            <a:endParaRPr lang="en-US" dirty="0"/>
          </a:p>
        </p:txBody>
      </p:sp>
      <p:sp>
        <p:nvSpPr>
          <p:cNvPr id="35" name="Shape 0">
            <a:extLst>
              <a:ext uri="{FF2B5EF4-FFF2-40B4-BE49-F238E27FC236}">
                <a16:creationId xmlns:a16="http://schemas.microsoft.com/office/drawing/2014/main" id="{77AEB2AF-300A-1D18-0B97-872C5C61E9AE}"/>
              </a:ext>
            </a:extLst>
          </p:cNvPr>
          <p:cNvSpPr/>
          <p:nvPr/>
        </p:nvSpPr>
        <p:spPr>
          <a:xfrm>
            <a:off x="0" y="0"/>
            <a:ext cx="12191695" cy="580644"/>
          </a:xfrm>
          <a:prstGeom prst="rect">
            <a:avLst/>
          </a:prstGeom>
          <a:solidFill>
            <a:srgbClr val="BC312C"/>
          </a:solidFill>
          <a:ln/>
        </p:spPr>
      </p:sp>
      <p:pic>
        <p:nvPicPr>
          <p:cNvPr id="37" name="Image 0" descr="/home/claude/pptx/assets/left_logo.png">
            <a:extLst>
              <a:ext uri="{FF2B5EF4-FFF2-40B4-BE49-F238E27FC236}">
                <a16:creationId xmlns:a16="http://schemas.microsoft.com/office/drawing/2014/main" id="{615C96F0-19BF-6E5F-70B2-C4EE335E3007}"/>
              </a:ext>
            </a:extLst>
          </p:cNvPr>
          <p:cNvPicPr>
            <a:picLocks noChangeAspect="1"/>
          </p:cNvPicPr>
          <p:nvPr/>
        </p:nvPicPr>
        <p:blipFill>
          <a:blip r:embed="rId3"/>
          <a:stretch>
            <a:fillRect/>
          </a:stretch>
        </p:blipFill>
        <p:spPr>
          <a:xfrm>
            <a:off x="0" y="45720"/>
            <a:ext cx="3246120" cy="1152144"/>
          </a:xfrm>
          <a:prstGeom prst="rect">
            <a:avLst/>
          </a:prstGeom>
        </p:spPr>
      </p:pic>
      <p:pic>
        <p:nvPicPr>
          <p:cNvPr id="39" name="Image 1" descr="/home/claude/pptx/assets/right_logo.png">
            <a:extLst>
              <a:ext uri="{FF2B5EF4-FFF2-40B4-BE49-F238E27FC236}">
                <a16:creationId xmlns:a16="http://schemas.microsoft.com/office/drawing/2014/main" id="{599F8DA7-F7AC-169D-F9E2-6CA203E24A99}"/>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11</a:t>
            </a:r>
            <a:endParaRPr lang="en-US" sz="1100"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Project Development Timeline</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Text 5"/>
          <p:cNvSpPr/>
          <p:nvPr/>
        </p:nvSpPr>
        <p:spPr>
          <a:xfrm>
            <a:off x="2834640" y="2148840"/>
            <a:ext cx="1102995" cy="274320"/>
          </a:xfrm>
          <a:prstGeom prst="rect">
            <a:avLst/>
          </a:prstGeom>
          <a:noFill/>
          <a:ln/>
        </p:spPr>
        <p:txBody>
          <a:bodyPr wrap="square" lIns="0" tIns="0" rIns="0" bIns="0" rtlCol="0" anchor="ctr"/>
          <a:lstStyle/>
          <a:p>
            <a:pPr marL="0" indent="0" algn="ctr">
              <a:buNone/>
            </a:pPr>
            <a:r>
              <a:rPr lang="en-US" sz="1050" b="1" dirty="0">
                <a:solidFill>
                  <a:srgbClr val="6B6B6B"/>
                </a:solidFill>
                <a:latin typeface="Calibri" pitchFamily="34" charset="0"/>
                <a:ea typeface="Calibri" pitchFamily="34" charset="-122"/>
                <a:cs typeface="Calibri" pitchFamily="34" charset="-120"/>
              </a:rPr>
              <a:t>W1</a:t>
            </a:r>
            <a:endParaRPr lang="en-US" sz="1050" dirty="0"/>
          </a:p>
        </p:txBody>
      </p:sp>
      <p:sp>
        <p:nvSpPr>
          <p:cNvPr id="10" name="Shape 6"/>
          <p:cNvSpPr/>
          <p:nvPr/>
        </p:nvSpPr>
        <p:spPr>
          <a:xfrm>
            <a:off x="2834640" y="2441448"/>
            <a:ext cx="0" cy="3154680"/>
          </a:xfrm>
          <a:prstGeom prst="line">
            <a:avLst/>
          </a:prstGeom>
          <a:noFill/>
          <a:ln w="9525">
            <a:solidFill>
              <a:srgbClr val="EDEAE9"/>
            </a:solidFill>
            <a:prstDash val="solid"/>
          </a:ln>
        </p:spPr>
      </p:sp>
      <p:sp>
        <p:nvSpPr>
          <p:cNvPr id="11" name="Text 7"/>
          <p:cNvSpPr/>
          <p:nvPr/>
        </p:nvSpPr>
        <p:spPr>
          <a:xfrm>
            <a:off x="3937635" y="2148840"/>
            <a:ext cx="1102995" cy="274320"/>
          </a:xfrm>
          <a:prstGeom prst="rect">
            <a:avLst/>
          </a:prstGeom>
          <a:noFill/>
          <a:ln/>
        </p:spPr>
        <p:txBody>
          <a:bodyPr wrap="square" lIns="0" tIns="0" rIns="0" bIns="0" rtlCol="0" anchor="ctr"/>
          <a:lstStyle/>
          <a:p>
            <a:pPr marL="0" indent="0" algn="ctr">
              <a:buNone/>
            </a:pPr>
            <a:r>
              <a:rPr lang="en-US" sz="1050" b="1" dirty="0">
                <a:solidFill>
                  <a:srgbClr val="6B6B6B"/>
                </a:solidFill>
                <a:latin typeface="Calibri" pitchFamily="34" charset="0"/>
                <a:ea typeface="Calibri" pitchFamily="34" charset="-122"/>
                <a:cs typeface="Calibri" pitchFamily="34" charset="-120"/>
              </a:rPr>
              <a:t>W2</a:t>
            </a:r>
            <a:endParaRPr lang="en-US" sz="1050" dirty="0"/>
          </a:p>
        </p:txBody>
      </p:sp>
      <p:sp>
        <p:nvSpPr>
          <p:cNvPr id="12" name="Shape 8"/>
          <p:cNvSpPr/>
          <p:nvPr/>
        </p:nvSpPr>
        <p:spPr>
          <a:xfrm>
            <a:off x="3937635" y="2441448"/>
            <a:ext cx="0" cy="3154680"/>
          </a:xfrm>
          <a:prstGeom prst="line">
            <a:avLst/>
          </a:prstGeom>
          <a:noFill/>
          <a:ln w="9525">
            <a:solidFill>
              <a:srgbClr val="EDEAE9"/>
            </a:solidFill>
            <a:prstDash val="solid"/>
          </a:ln>
        </p:spPr>
      </p:sp>
      <p:sp>
        <p:nvSpPr>
          <p:cNvPr id="13" name="Text 9"/>
          <p:cNvSpPr/>
          <p:nvPr/>
        </p:nvSpPr>
        <p:spPr>
          <a:xfrm>
            <a:off x="5040630" y="2148840"/>
            <a:ext cx="1102995" cy="274320"/>
          </a:xfrm>
          <a:prstGeom prst="rect">
            <a:avLst/>
          </a:prstGeom>
          <a:noFill/>
          <a:ln/>
        </p:spPr>
        <p:txBody>
          <a:bodyPr wrap="square" lIns="0" tIns="0" rIns="0" bIns="0" rtlCol="0" anchor="ctr"/>
          <a:lstStyle/>
          <a:p>
            <a:pPr marL="0" indent="0" algn="ctr">
              <a:buNone/>
            </a:pPr>
            <a:r>
              <a:rPr lang="en-US" sz="1050" b="1" dirty="0">
                <a:solidFill>
                  <a:srgbClr val="6B6B6B"/>
                </a:solidFill>
                <a:latin typeface="Calibri" pitchFamily="34" charset="0"/>
                <a:ea typeface="Calibri" pitchFamily="34" charset="-122"/>
                <a:cs typeface="Calibri" pitchFamily="34" charset="-120"/>
              </a:rPr>
              <a:t>W3</a:t>
            </a:r>
            <a:endParaRPr lang="en-US" sz="1050" dirty="0"/>
          </a:p>
        </p:txBody>
      </p:sp>
      <p:sp>
        <p:nvSpPr>
          <p:cNvPr id="14" name="Shape 10"/>
          <p:cNvSpPr/>
          <p:nvPr/>
        </p:nvSpPr>
        <p:spPr>
          <a:xfrm>
            <a:off x="5040630" y="2441448"/>
            <a:ext cx="0" cy="3154680"/>
          </a:xfrm>
          <a:prstGeom prst="line">
            <a:avLst/>
          </a:prstGeom>
          <a:noFill/>
          <a:ln w="9525">
            <a:solidFill>
              <a:srgbClr val="EDEAE9"/>
            </a:solidFill>
            <a:prstDash val="solid"/>
          </a:ln>
        </p:spPr>
      </p:sp>
      <p:sp>
        <p:nvSpPr>
          <p:cNvPr id="15" name="Text 11"/>
          <p:cNvSpPr/>
          <p:nvPr/>
        </p:nvSpPr>
        <p:spPr>
          <a:xfrm>
            <a:off x="6143625" y="2148840"/>
            <a:ext cx="1102995" cy="274320"/>
          </a:xfrm>
          <a:prstGeom prst="rect">
            <a:avLst/>
          </a:prstGeom>
          <a:noFill/>
          <a:ln/>
        </p:spPr>
        <p:txBody>
          <a:bodyPr wrap="square" lIns="0" tIns="0" rIns="0" bIns="0" rtlCol="0" anchor="ctr"/>
          <a:lstStyle/>
          <a:p>
            <a:pPr marL="0" indent="0" algn="ctr">
              <a:buNone/>
            </a:pPr>
            <a:r>
              <a:rPr lang="en-US" sz="1050" b="1" dirty="0">
                <a:solidFill>
                  <a:srgbClr val="6B6B6B"/>
                </a:solidFill>
                <a:latin typeface="Calibri" pitchFamily="34" charset="0"/>
                <a:ea typeface="Calibri" pitchFamily="34" charset="-122"/>
                <a:cs typeface="Calibri" pitchFamily="34" charset="-120"/>
              </a:rPr>
              <a:t>W4</a:t>
            </a:r>
            <a:endParaRPr lang="en-US" sz="1050" dirty="0"/>
          </a:p>
        </p:txBody>
      </p:sp>
      <p:sp>
        <p:nvSpPr>
          <p:cNvPr id="16" name="Shape 12"/>
          <p:cNvSpPr/>
          <p:nvPr/>
        </p:nvSpPr>
        <p:spPr>
          <a:xfrm>
            <a:off x="6143625" y="2441448"/>
            <a:ext cx="0" cy="3154680"/>
          </a:xfrm>
          <a:prstGeom prst="line">
            <a:avLst/>
          </a:prstGeom>
          <a:noFill/>
          <a:ln w="9525">
            <a:solidFill>
              <a:srgbClr val="EDEAE9"/>
            </a:solidFill>
            <a:prstDash val="solid"/>
          </a:ln>
        </p:spPr>
      </p:sp>
      <p:sp>
        <p:nvSpPr>
          <p:cNvPr id="17" name="Text 13"/>
          <p:cNvSpPr/>
          <p:nvPr/>
        </p:nvSpPr>
        <p:spPr>
          <a:xfrm>
            <a:off x="7246620" y="2148840"/>
            <a:ext cx="1102995" cy="274320"/>
          </a:xfrm>
          <a:prstGeom prst="rect">
            <a:avLst/>
          </a:prstGeom>
          <a:noFill/>
          <a:ln/>
        </p:spPr>
        <p:txBody>
          <a:bodyPr wrap="square" lIns="0" tIns="0" rIns="0" bIns="0" rtlCol="0" anchor="ctr"/>
          <a:lstStyle/>
          <a:p>
            <a:pPr marL="0" indent="0" algn="ctr">
              <a:buNone/>
            </a:pPr>
            <a:r>
              <a:rPr lang="en-US" sz="1050" b="1" dirty="0">
                <a:solidFill>
                  <a:srgbClr val="6B6B6B"/>
                </a:solidFill>
                <a:latin typeface="Calibri" pitchFamily="34" charset="0"/>
                <a:ea typeface="Calibri" pitchFamily="34" charset="-122"/>
                <a:cs typeface="Calibri" pitchFamily="34" charset="-120"/>
              </a:rPr>
              <a:t>W5</a:t>
            </a:r>
            <a:endParaRPr lang="en-US" sz="1050" dirty="0"/>
          </a:p>
        </p:txBody>
      </p:sp>
      <p:sp>
        <p:nvSpPr>
          <p:cNvPr id="18" name="Shape 14"/>
          <p:cNvSpPr/>
          <p:nvPr/>
        </p:nvSpPr>
        <p:spPr>
          <a:xfrm>
            <a:off x="7246620" y="2441448"/>
            <a:ext cx="0" cy="3154680"/>
          </a:xfrm>
          <a:prstGeom prst="line">
            <a:avLst/>
          </a:prstGeom>
          <a:noFill/>
          <a:ln w="9525">
            <a:solidFill>
              <a:srgbClr val="EDEAE9"/>
            </a:solidFill>
            <a:prstDash val="solid"/>
          </a:ln>
        </p:spPr>
      </p:sp>
      <p:sp>
        <p:nvSpPr>
          <p:cNvPr id="19" name="Text 15"/>
          <p:cNvSpPr/>
          <p:nvPr/>
        </p:nvSpPr>
        <p:spPr>
          <a:xfrm>
            <a:off x="8349615" y="2148840"/>
            <a:ext cx="1102995" cy="274320"/>
          </a:xfrm>
          <a:prstGeom prst="rect">
            <a:avLst/>
          </a:prstGeom>
          <a:noFill/>
          <a:ln/>
        </p:spPr>
        <p:txBody>
          <a:bodyPr wrap="square" lIns="0" tIns="0" rIns="0" bIns="0" rtlCol="0" anchor="ctr"/>
          <a:lstStyle/>
          <a:p>
            <a:pPr marL="0" indent="0" algn="ctr">
              <a:buNone/>
            </a:pPr>
            <a:r>
              <a:rPr lang="en-US" sz="1050" b="1" dirty="0">
                <a:solidFill>
                  <a:srgbClr val="6B6B6B"/>
                </a:solidFill>
                <a:latin typeface="Calibri" pitchFamily="34" charset="0"/>
                <a:ea typeface="Calibri" pitchFamily="34" charset="-122"/>
                <a:cs typeface="Calibri" pitchFamily="34" charset="-120"/>
              </a:rPr>
              <a:t>W6</a:t>
            </a:r>
            <a:endParaRPr lang="en-US" sz="1050" dirty="0"/>
          </a:p>
        </p:txBody>
      </p:sp>
      <p:sp>
        <p:nvSpPr>
          <p:cNvPr id="20" name="Shape 16"/>
          <p:cNvSpPr/>
          <p:nvPr/>
        </p:nvSpPr>
        <p:spPr>
          <a:xfrm>
            <a:off x="8349615" y="2441448"/>
            <a:ext cx="0" cy="3154680"/>
          </a:xfrm>
          <a:prstGeom prst="line">
            <a:avLst/>
          </a:prstGeom>
          <a:noFill/>
          <a:ln w="9525">
            <a:solidFill>
              <a:srgbClr val="EDEAE9"/>
            </a:solidFill>
            <a:prstDash val="solid"/>
          </a:ln>
        </p:spPr>
      </p:sp>
      <p:sp>
        <p:nvSpPr>
          <p:cNvPr id="21" name="Text 17"/>
          <p:cNvSpPr/>
          <p:nvPr/>
        </p:nvSpPr>
        <p:spPr>
          <a:xfrm>
            <a:off x="9452610" y="2148840"/>
            <a:ext cx="1102995" cy="274320"/>
          </a:xfrm>
          <a:prstGeom prst="rect">
            <a:avLst/>
          </a:prstGeom>
          <a:noFill/>
          <a:ln/>
        </p:spPr>
        <p:txBody>
          <a:bodyPr wrap="square" lIns="0" tIns="0" rIns="0" bIns="0" rtlCol="0" anchor="ctr"/>
          <a:lstStyle/>
          <a:p>
            <a:pPr marL="0" indent="0" algn="ctr">
              <a:buNone/>
            </a:pPr>
            <a:r>
              <a:rPr lang="en-US" sz="1050" b="1" dirty="0">
                <a:solidFill>
                  <a:srgbClr val="6B6B6B"/>
                </a:solidFill>
                <a:latin typeface="Calibri" pitchFamily="34" charset="0"/>
                <a:ea typeface="Calibri" pitchFamily="34" charset="-122"/>
                <a:cs typeface="Calibri" pitchFamily="34" charset="-120"/>
              </a:rPr>
              <a:t>W7</a:t>
            </a:r>
            <a:endParaRPr lang="en-US" sz="1050" dirty="0"/>
          </a:p>
        </p:txBody>
      </p:sp>
      <p:sp>
        <p:nvSpPr>
          <p:cNvPr id="22" name="Shape 18"/>
          <p:cNvSpPr/>
          <p:nvPr/>
        </p:nvSpPr>
        <p:spPr>
          <a:xfrm>
            <a:off x="9452610" y="2441448"/>
            <a:ext cx="0" cy="3154680"/>
          </a:xfrm>
          <a:prstGeom prst="line">
            <a:avLst/>
          </a:prstGeom>
          <a:noFill/>
          <a:ln w="9525">
            <a:solidFill>
              <a:srgbClr val="EDEAE9"/>
            </a:solidFill>
            <a:prstDash val="solid"/>
          </a:ln>
        </p:spPr>
      </p:sp>
      <p:sp>
        <p:nvSpPr>
          <p:cNvPr id="23" name="Text 19"/>
          <p:cNvSpPr/>
          <p:nvPr/>
        </p:nvSpPr>
        <p:spPr>
          <a:xfrm>
            <a:off x="10555605" y="2148840"/>
            <a:ext cx="1102995" cy="274320"/>
          </a:xfrm>
          <a:prstGeom prst="rect">
            <a:avLst/>
          </a:prstGeom>
          <a:noFill/>
          <a:ln/>
        </p:spPr>
        <p:txBody>
          <a:bodyPr wrap="square" lIns="0" tIns="0" rIns="0" bIns="0" rtlCol="0" anchor="ctr"/>
          <a:lstStyle/>
          <a:p>
            <a:pPr marL="0" indent="0" algn="ctr">
              <a:buNone/>
            </a:pPr>
            <a:r>
              <a:rPr lang="en-US" sz="1050" b="1" dirty="0">
                <a:solidFill>
                  <a:srgbClr val="6B6B6B"/>
                </a:solidFill>
                <a:latin typeface="Calibri" pitchFamily="34" charset="0"/>
                <a:ea typeface="Calibri" pitchFamily="34" charset="-122"/>
                <a:cs typeface="Calibri" pitchFamily="34" charset="-120"/>
              </a:rPr>
              <a:t>W8</a:t>
            </a:r>
            <a:endParaRPr lang="en-US" sz="1050" dirty="0"/>
          </a:p>
        </p:txBody>
      </p:sp>
      <p:sp>
        <p:nvSpPr>
          <p:cNvPr id="24" name="Shape 20"/>
          <p:cNvSpPr/>
          <p:nvPr/>
        </p:nvSpPr>
        <p:spPr>
          <a:xfrm>
            <a:off x="10555605" y="2441448"/>
            <a:ext cx="0" cy="3154680"/>
          </a:xfrm>
          <a:prstGeom prst="line">
            <a:avLst/>
          </a:prstGeom>
          <a:noFill/>
          <a:ln w="9525">
            <a:solidFill>
              <a:srgbClr val="EDEAE9"/>
            </a:solidFill>
            <a:prstDash val="solid"/>
          </a:ln>
        </p:spPr>
      </p:sp>
      <p:sp>
        <p:nvSpPr>
          <p:cNvPr id="25" name="Shape 21"/>
          <p:cNvSpPr/>
          <p:nvPr/>
        </p:nvSpPr>
        <p:spPr>
          <a:xfrm>
            <a:off x="11658600" y="2441448"/>
            <a:ext cx="0" cy="3154680"/>
          </a:xfrm>
          <a:prstGeom prst="line">
            <a:avLst/>
          </a:prstGeom>
          <a:noFill/>
          <a:ln w="9525">
            <a:solidFill>
              <a:srgbClr val="EDEAE9"/>
            </a:solidFill>
            <a:prstDash val="solid"/>
          </a:ln>
        </p:spPr>
      </p:sp>
      <p:sp>
        <p:nvSpPr>
          <p:cNvPr id="26" name="Text 22"/>
          <p:cNvSpPr/>
          <p:nvPr/>
        </p:nvSpPr>
        <p:spPr>
          <a:xfrm>
            <a:off x="502920" y="2441448"/>
            <a:ext cx="2240280" cy="1051560"/>
          </a:xfrm>
          <a:prstGeom prst="rect">
            <a:avLst/>
          </a:prstGeom>
          <a:noFill/>
          <a:ln/>
        </p:spPr>
        <p:txBody>
          <a:bodyPr wrap="square" lIns="0" tIns="0" rIns="0" bIns="0" rtlCol="0" anchor="ctr"/>
          <a:lstStyle/>
          <a:p>
            <a:pPr marL="0" indent="0">
              <a:lnSpc>
                <a:spcPct val="100000"/>
              </a:lnSpc>
              <a:buNone/>
            </a:pPr>
            <a:r>
              <a:rPr lang="en-US" sz="1100" b="1" dirty="0">
                <a:solidFill>
                  <a:srgbClr val="262626"/>
                </a:solidFill>
                <a:latin typeface="Calibri" pitchFamily="34" charset="0"/>
                <a:ea typeface="Calibri" pitchFamily="34" charset="-122"/>
                <a:cs typeface="Calibri" pitchFamily="34" charset="-120"/>
              </a:rPr>
              <a:t>Lucifer — ML Pipeline</a:t>
            </a:r>
            <a:endParaRPr lang="en-US" sz="1100" dirty="0"/>
          </a:p>
        </p:txBody>
      </p:sp>
      <p:sp>
        <p:nvSpPr>
          <p:cNvPr id="27" name="Shape 23"/>
          <p:cNvSpPr/>
          <p:nvPr/>
        </p:nvSpPr>
        <p:spPr>
          <a:xfrm>
            <a:off x="2862072" y="2672791"/>
            <a:ext cx="2151126" cy="588874"/>
          </a:xfrm>
          <a:prstGeom prst="roundRect">
            <a:avLst>
              <a:gd name="adj" fmla="val 6211"/>
            </a:avLst>
          </a:prstGeom>
          <a:solidFill>
            <a:srgbClr val="BC312C"/>
          </a:solidFill>
          <a:ln/>
        </p:spPr>
      </p:sp>
      <p:sp>
        <p:nvSpPr>
          <p:cNvPr id="28" name="Text 24"/>
          <p:cNvSpPr/>
          <p:nvPr/>
        </p:nvSpPr>
        <p:spPr>
          <a:xfrm>
            <a:off x="2889504" y="2672791"/>
            <a:ext cx="2059686"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Data Prep &amp; Baseline Prophet</a:t>
            </a:r>
            <a:endParaRPr lang="en-US" sz="800" dirty="0"/>
          </a:p>
        </p:txBody>
      </p:sp>
      <p:sp>
        <p:nvSpPr>
          <p:cNvPr id="29" name="Shape 25"/>
          <p:cNvSpPr/>
          <p:nvPr/>
        </p:nvSpPr>
        <p:spPr>
          <a:xfrm>
            <a:off x="5068062" y="2672791"/>
            <a:ext cx="2151126" cy="588874"/>
          </a:xfrm>
          <a:prstGeom prst="roundRect">
            <a:avLst>
              <a:gd name="adj" fmla="val 6211"/>
            </a:avLst>
          </a:prstGeom>
          <a:solidFill>
            <a:srgbClr val="2F3C7E"/>
          </a:solidFill>
          <a:ln/>
        </p:spPr>
      </p:sp>
      <p:sp>
        <p:nvSpPr>
          <p:cNvPr id="30" name="Text 26"/>
          <p:cNvSpPr/>
          <p:nvPr/>
        </p:nvSpPr>
        <p:spPr>
          <a:xfrm>
            <a:off x="5095494" y="2672791"/>
            <a:ext cx="2059686"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Regressors &amp; Tuning</a:t>
            </a:r>
            <a:endParaRPr lang="en-US" sz="800" dirty="0"/>
          </a:p>
        </p:txBody>
      </p:sp>
      <p:sp>
        <p:nvSpPr>
          <p:cNvPr id="31" name="Shape 27"/>
          <p:cNvSpPr/>
          <p:nvPr/>
        </p:nvSpPr>
        <p:spPr>
          <a:xfrm>
            <a:off x="7274052" y="2672791"/>
            <a:ext cx="1048131" cy="588874"/>
          </a:xfrm>
          <a:prstGeom prst="roundRect">
            <a:avLst>
              <a:gd name="adj" fmla="val 6211"/>
            </a:avLst>
          </a:prstGeom>
          <a:solidFill>
            <a:srgbClr val="BC312C"/>
          </a:solidFill>
          <a:ln/>
        </p:spPr>
      </p:sp>
      <p:sp>
        <p:nvSpPr>
          <p:cNvPr id="32" name="Text 28"/>
          <p:cNvSpPr/>
          <p:nvPr/>
        </p:nvSpPr>
        <p:spPr>
          <a:xfrm>
            <a:off x="7301484" y="2672791"/>
            <a:ext cx="956691"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RF Baseline &amp; Eval</a:t>
            </a:r>
            <a:endParaRPr lang="en-US" sz="800" dirty="0"/>
          </a:p>
        </p:txBody>
      </p:sp>
      <p:sp>
        <p:nvSpPr>
          <p:cNvPr id="33" name="Shape 29"/>
          <p:cNvSpPr/>
          <p:nvPr/>
        </p:nvSpPr>
        <p:spPr>
          <a:xfrm>
            <a:off x="8377047" y="2672791"/>
            <a:ext cx="2151126" cy="588874"/>
          </a:xfrm>
          <a:prstGeom prst="roundRect">
            <a:avLst>
              <a:gd name="adj" fmla="val 6211"/>
            </a:avLst>
          </a:prstGeom>
          <a:solidFill>
            <a:srgbClr val="2F3C7E"/>
          </a:solidFill>
          <a:ln/>
        </p:spPr>
      </p:sp>
      <p:sp>
        <p:nvSpPr>
          <p:cNvPr id="34" name="Text 30"/>
          <p:cNvSpPr/>
          <p:nvPr/>
        </p:nvSpPr>
        <p:spPr>
          <a:xfrm>
            <a:off x="8404479" y="2672791"/>
            <a:ext cx="2059686"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Integration Support</a:t>
            </a:r>
            <a:endParaRPr lang="en-US" sz="800" dirty="0"/>
          </a:p>
        </p:txBody>
      </p:sp>
      <p:sp>
        <p:nvSpPr>
          <p:cNvPr id="35" name="Shape 31"/>
          <p:cNvSpPr/>
          <p:nvPr/>
        </p:nvSpPr>
        <p:spPr>
          <a:xfrm>
            <a:off x="10583037" y="2672791"/>
            <a:ext cx="1048131" cy="588874"/>
          </a:xfrm>
          <a:prstGeom prst="roundRect">
            <a:avLst>
              <a:gd name="adj" fmla="val 6211"/>
            </a:avLst>
          </a:prstGeom>
          <a:solidFill>
            <a:srgbClr val="6B6B6B"/>
          </a:solidFill>
          <a:ln/>
        </p:spPr>
      </p:sp>
      <p:sp>
        <p:nvSpPr>
          <p:cNvPr id="36" name="Text 32"/>
          <p:cNvSpPr/>
          <p:nvPr/>
        </p:nvSpPr>
        <p:spPr>
          <a:xfrm>
            <a:off x="10610469" y="2672791"/>
            <a:ext cx="956691"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Docs</a:t>
            </a:r>
            <a:endParaRPr lang="en-US" sz="800" dirty="0"/>
          </a:p>
        </p:txBody>
      </p:sp>
      <p:sp>
        <p:nvSpPr>
          <p:cNvPr id="37" name="Text 33"/>
          <p:cNvSpPr/>
          <p:nvPr/>
        </p:nvSpPr>
        <p:spPr>
          <a:xfrm>
            <a:off x="502920" y="3493008"/>
            <a:ext cx="2240280" cy="1051560"/>
          </a:xfrm>
          <a:prstGeom prst="rect">
            <a:avLst/>
          </a:prstGeom>
          <a:noFill/>
          <a:ln/>
        </p:spPr>
        <p:txBody>
          <a:bodyPr wrap="square" lIns="0" tIns="0" rIns="0" bIns="0" rtlCol="0" anchor="ctr"/>
          <a:lstStyle/>
          <a:p>
            <a:pPr marL="0" indent="0">
              <a:lnSpc>
                <a:spcPct val="100000"/>
              </a:lnSpc>
              <a:buNone/>
            </a:pPr>
            <a:r>
              <a:rPr lang="en-US" sz="1100" b="1" dirty="0">
                <a:solidFill>
                  <a:srgbClr val="262626"/>
                </a:solidFill>
                <a:latin typeface="Calibri" pitchFamily="34" charset="0"/>
                <a:ea typeface="Calibri" pitchFamily="34" charset="-122"/>
                <a:cs typeface="Calibri" pitchFamily="34" charset="-120"/>
              </a:rPr>
              <a:t>Chinmay — Flutter Frontend</a:t>
            </a:r>
            <a:endParaRPr lang="en-US" sz="1100" dirty="0"/>
          </a:p>
        </p:txBody>
      </p:sp>
      <p:sp>
        <p:nvSpPr>
          <p:cNvPr id="38" name="Shape 34"/>
          <p:cNvSpPr/>
          <p:nvPr/>
        </p:nvSpPr>
        <p:spPr>
          <a:xfrm>
            <a:off x="2862072" y="3724351"/>
            <a:ext cx="2151126" cy="588874"/>
          </a:xfrm>
          <a:prstGeom prst="roundRect">
            <a:avLst>
              <a:gd name="adj" fmla="val 6211"/>
            </a:avLst>
          </a:prstGeom>
          <a:solidFill>
            <a:srgbClr val="BC312C"/>
          </a:solidFill>
          <a:ln/>
        </p:spPr>
      </p:sp>
      <p:sp>
        <p:nvSpPr>
          <p:cNvPr id="39" name="Text 35"/>
          <p:cNvSpPr/>
          <p:nvPr/>
        </p:nvSpPr>
        <p:spPr>
          <a:xfrm>
            <a:off x="2889504" y="3724351"/>
            <a:ext cx="2059686"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Scaffold &amp; Wireframes</a:t>
            </a:r>
            <a:endParaRPr lang="en-US" sz="800" dirty="0"/>
          </a:p>
        </p:txBody>
      </p:sp>
      <p:sp>
        <p:nvSpPr>
          <p:cNvPr id="40" name="Shape 36"/>
          <p:cNvSpPr/>
          <p:nvPr/>
        </p:nvSpPr>
        <p:spPr>
          <a:xfrm>
            <a:off x="5068062" y="3724351"/>
            <a:ext cx="2151126" cy="588874"/>
          </a:xfrm>
          <a:prstGeom prst="roundRect">
            <a:avLst>
              <a:gd name="adj" fmla="val 6211"/>
            </a:avLst>
          </a:prstGeom>
          <a:solidFill>
            <a:srgbClr val="2F3C7E"/>
          </a:solidFill>
          <a:ln/>
        </p:spPr>
      </p:sp>
      <p:sp>
        <p:nvSpPr>
          <p:cNvPr id="41" name="Text 37"/>
          <p:cNvSpPr/>
          <p:nvPr/>
        </p:nvSpPr>
        <p:spPr>
          <a:xfrm>
            <a:off x="5095494" y="3724351"/>
            <a:ext cx="2059686"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Core Screens</a:t>
            </a:r>
            <a:endParaRPr lang="en-US" sz="800" dirty="0"/>
          </a:p>
        </p:txBody>
      </p:sp>
      <p:sp>
        <p:nvSpPr>
          <p:cNvPr id="42" name="Shape 38"/>
          <p:cNvSpPr/>
          <p:nvPr/>
        </p:nvSpPr>
        <p:spPr>
          <a:xfrm>
            <a:off x="7274052" y="3724351"/>
            <a:ext cx="1048131" cy="588874"/>
          </a:xfrm>
          <a:prstGeom prst="roundRect">
            <a:avLst>
              <a:gd name="adj" fmla="val 6211"/>
            </a:avLst>
          </a:prstGeom>
          <a:solidFill>
            <a:srgbClr val="BC312C"/>
          </a:solidFill>
          <a:ln/>
        </p:spPr>
      </p:sp>
      <p:sp>
        <p:nvSpPr>
          <p:cNvPr id="43" name="Text 39"/>
          <p:cNvSpPr/>
          <p:nvPr/>
        </p:nvSpPr>
        <p:spPr>
          <a:xfrm>
            <a:off x="7301484" y="3724351"/>
            <a:ext cx="956691"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Auth &amp; Data Entry UI</a:t>
            </a:r>
            <a:endParaRPr lang="en-US" sz="800" dirty="0"/>
          </a:p>
        </p:txBody>
      </p:sp>
      <p:sp>
        <p:nvSpPr>
          <p:cNvPr id="44" name="Shape 40"/>
          <p:cNvSpPr/>
          <p:nvPr/>
        </p:nvSpPr>
        <p:spPr>
          <a:xfrm>
            <a:off x="8377047" y="3724351"/>
            <a:ext cx="2151126" cy="588874"/>
          </a:xfrm>
          <a:prstGeom prst="roundRect">
            <a:avLst>
              <a:gd name="adj" fmla="val 6211"/>
            </a:avLst>
          </a:prstGeom>
          <a:solidFill>
            <a:srgbClr val="2F3C7E"/>
          </a:solidFill>
          <a:ln/>
        </p:spPr>
      </p:sp>
      <p:sp>
        <p:nvSpPr>
          <p:cNvPr id="45" name="Text 41"/>
          <p:cNvSpPr/>
          <p:nvPr/>
        </p:nvSpPr>
        <p:spPr>
          <a:xfrm>
            <a:off x="8404479" y="3724351"/>
            <a:ext cx="2059686"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Integration &amp; Testing</a:t>
            </a:r>
            <a:endParaRPr lang="en-US" sz="800" dirty="0"/>
          </a:p>
        </p:txBody>
      </p:sp>
      <p:sp>
        <p:nvSpPr>
          <p:cNvPr id="46" name="Shape 42"/>
          <p:cNvSpPr/>
          <p:nvPr/>
        </p:nvSpPr>
        <p:spPr>
          <a:xfrm>
            <a:off x="10583037" y="3724351"/>
            <a:ext cx="1048131" cy="588874"/>
          </a:xfrm>
          <a:prstGeom prst="roundRect">
            <a:avLst>
              <a:gd name="adj" fmla="val 6211"/>
            </a:avLst>
          </a:prstGeom>
          <a:solidFill>
            <a:srgbClr val="6B6B6B"/>
          </a:solidFill>
          <a:ln/>
        </p:spPr>
      </p:sp>
      <p:sp>
        <p:nvSpPr>
          <p:cNvPr id="47" name="Text 43"/>
          <p:cNvSpPr/>
          <p:nvPr/>
        </p:nvSpPr>
        <p:spPr>
          <a:xfrm>
            <a:off x="10610469" y="3724351"/>
            <a:ext cx="956691"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Polish</a:t>
            </a:r>
            <a:endParaRPr lang="en-US" sz="800" dirty="0"/>
          </a:p>
        </p:txBody>
      </p:sp>
      <p:sp>
        <p:nvSpPr>
          <p:cNvPr id="48" name="Text 44"/>
          <p:cNvSpPr/>
          <p:nvPr/>
        </p:nvSpPr>
        <p:spPr>
          <a:xfrm>
            <a:off x="502920" y="4544568"/>
            <a:ext cx="2240280" cy="1051560"/>
          </a:xfrm>
          <a:prstGeom prst="rect">
            <a:avLst/>
          </a:prstGeom>
          <a:noFill/>
          <a:ln/>
        </p:spPr>
        <p:txBody>
          <a:bodyPr wrap="square" lIns="0" tIns="0" rIns="0" bIns="0" rtlCol="0" anchor="ctr"/>
          <a:lstStyle/>
          <a:p>
            <a:pPr marL="0" indent="0">
              <a:lnSpc>
                <a:spcPct val="100000"/>
              </a:lnSpc>
              <a:buNone/>
            </a:pPr>
            <a:r>
              <a:rPr lang="en-US" sz="1100" b="1" dirty="0">
                <a:solidFill>
                  <a:srgbClr val="262626"/>
                </a:solidFill>
                <a:latin typeface="Calibri" pitchFamily="34" charset="0"/>
                <a:ea typeface="Calibri" pitchFamily="34" charset="-122"/>
                <a:cs typeface="Calibri" pitchFamily="34" charset="-120"/>
              </a:rPr>
              <a:t>Soumy — Backend &amp; Integration</a:t>
            </a:r>
            <a:endParaRPr lang="en-US" sz="1100" dirty="0"/>
          </a:p>
        </p:txBody>
      </p:sp>
      <p:sp>
        <p:nvSpPr>
          <p:cNvPr id="49" name="Shape 45"/>
          <p:cNvSpPr/>
          <p:nvPr/>
        </p:nvSpPr>
        <p:spPr>
          <a:xfrm>
            <a:off x="2862072" y="4775911"/>
            <a:ext cx="2151126" cy="588874"/>
          </a:xfrm>
          <a:prstGeom prst="roundRect">
            <a:avLst>
              <a:gd name="adj" fmla="val 6211"/>
            </a:avLst>
          </a:prstGeom>
          <a:solidFill>
            <a:srgbClr val="BC312C"/>
          </a:solidFill>
          <a:ln/>
        </p:spPr>
      </p:sp>
      <p:sp>
        <p:nvSpPr>
          <p:cNvPr id="50" name="Text 46"/>
          <p:cNvSpPr/>
          <p:nvPr/>
        </p:nvSpPr>
        <p:spPr>
          <a:xfrm>
            <a:off x="2889504" y="4775911"/>
            <a:ext cx="2059686"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Backend Scaffold &amp; Weather API</a:t>
            </a:r>
            <a:endParaRPr lang="en-US" sz="800" dirty="0"/>
          </a:p>
        </p:txBody>
      </p:sp>
      <p:sp>
        <p:nvSpPr>
          <p:cNvPr id="51" name="Shape 47"/>
          <p:cNvSpPr/>
          <p:nvPr/>
        </p:nvSpPr>
        <p:spPr>
          <a:xfrm>
            <a:off x="5068062" y="4775911"/>
            <a:ext cx="2151126" cy="588874"/>
          </a:xfrm>
          <a:prstGeom prst="roundRect">
            <a:avLst>
              <a:gd name="adj" fmla="val 6211"/>
            </a:avLst>
          </a:prstGeom>
          <a:solidFill>
            <a:srgbClr val="2F3C7E"/>
          </a:solidFill>
          <a:ln/>
        </p:spPr>
      </p:sp>
      <p:sp>
        <p:nvSpPr>
          <p:cNvPr id="52" name="Text 48"/>
          <p:cNvSpPr/>
          <p:nvPr/>
        </p:nvSpPr>
        <p:spPr>
          <a:xfrm>
            <a:off x="5095494" y="4775911"/>
            <a:ext cx="2059686"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Restock Logic &amp; Endpoints</a:t>
            </a:r>
            <a:endParaRPr lang="en-US" sz="800" dirty="0"/>
          </a:p>
        </p:txBody>
      </p:sp>
      <p:sp>
        <p:nvSpPr>
          <p:cNvPr id="53" name="Shape 49"/>
          <p:cNvSpPr/>
          <p:nvPr/>
        </p:nvSpPr>
        <p:spPr>
          <a:xfrm>
            <a:off x="7274052" y="4775911"/>
            <a:ext cx="1048131" cy="588874"/>
          </a:xfrm>
          <a:prstGeom prst="roundRect">
            <a:avLst>
              <a:gd name="adj" fmla="val 6211"/>
            </a:avLst>
          </a:prstGeom>
          <a:solidFill>
            <a:srgbClr val="BC312C"/>
          </a:solidFill>
          <a:ln/>
        </p:spPr>
      </p:sp>
      <p:sp>
        <p:nvSpPr>
          <p:cNvPr id="54" name="Text 50"/>
          <p:cNvSpPr/>
          <p:nvPr/>
        </p:nvSpPr>
        <p:spPr>
          <a:xfrm>
            <a:off x="7301484" y="4775911"/>
            <a:ext cx="956691"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DB Integration</a:t>
            </a:r>
            <a:endParaRPr lang="en-US" sz="800" dirty="0"/>
          </a:p>
        </p:txBody>
      </p:sp>
      <p:sp>
        <p:nvSpPr>
          <p:cNvPr id="55" name="Shape 51"/>
          <p:cNvSpPr/>
          <p:nvPr/>
        </p:nvSpPr>
        <p:spPr>
          <a:xfrm>
            <a:off x="8377047" y="4775911"/>
            <a:ext cx="2151126" cy="588874"/>
          </a:xfrm>
          <a:prstGeom prst="roundRect">
            <a:avLst>
              <a:gd name="adj" fmla="val 6211"/>
            </a:avLst>
          </a:prstGeom>
          <a:solidFill>
            <a:srgbClr val="2F3C7E"/>
          </a:solidFill>
          <a:ln/>
        </p:spPr>
      </p:sp>
      <p:sp>
        <p:nvSpPr>
          <p:cNvPr id="56" name="Text 52"/>
          <p:cNvSpPr/>
          <p:nvPr/>
        </p:nvSpPr>
        <p:spPr>
          <a:xfrm>
            <a:off x="8404479" y="4775911"/>
            <a:ext cx="2059686"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Integration Testing</a:t>
            </a:r>
            <a:endParaRPr lang="en-US" sz="800" dirty="0"/>
          </a:p>
        </p:txBody>
      </p:sp>
      <p:sp>
        <p:nvSpPr>
          <p:cNvPr id="57" name="Shape 53"/>
          <p:cNvSpPr/>
          <p:nvPr/>
        </p:nvSpPr>
        <p:spPr>
          <a:xfrm>
            <a:off x="10583037" y="4775911"/>
            <a:ext cx="1048131" cy="588874"/>
          </a:xfrm>
          <a:prstGeom prst="roundRect">
            <a:avLst>
              <a:gd name="adj" fmla="val 6211"/>
            </a:avLst>
          </a:prstGeom>
          <a:solidFill>
            <a:srgbClr val="6B6B6B"/>
          </a:solidFill>
          <a:ln/>
        </p:spPr>
      </p:sp>
      <p:sp>
        <p:nvSpPr>
          <p:cNvPr id="58" name="Text 54"/>
          <p:cNvSpPr/>
          <p:nvPr/>
        </p:nvSpPr>
        <p:spPr>
          <a:xfrm>
            <a:off x="10610469" y="4775911"/>
            <a:ext cx="956691" cy="588874"/>
          </a:xfrm>
          <a:prstGeom prst="rect">
            <a:avLst/>
          </a:prstGeom>
          <a:noFill/>
          <a:ln/>
        </p:spPr>
        <p:txBody>
          <a:bodyPr wrap="square" lIns="0" tIns="0" rIns="0" bIns="0" rtlCol="0" anchor="ctr"/>
          <a:lstStyle/>
          <a:p>
            <a:pPr marL="0" indent="0" algn="ctr">
              <a:lnSpc>
                <a:spcPct val="95000"/>
              </a:lnSpc>
              <a:buNone/>
            </a:pPr>
            <a:r>
              <a:rPr lang="en-US" sz="800" dirty="0">
                <a:solidFill>
                  <a:srgbClr val="FFFFFF"/>
                </a:solidFill>
                <a:latin typeface="Calibri" pitchFamily="34" charset="0"/>
                <a:ea typeface="Calibri" pitchFamily="34" charset="-122"/>
                <a:cs typeface="Calibri" pitchFamily="34" charset="-120"/>
              </a:rPr>
              <a:t>Deployment &amp; Docs</a:t>
            </a:r>
            <a:endParaRPr lang="en-US" sz="800" dirty="0"/>
          </a:p>
        </p:txBody>
      </p:sp>
      <p:sp>
        <p:nvSpPr>
          <p:cNvPr id="59" name="Text 55"/>
          <p:cNvSpPr/>
          <p:nvPr/>
        </p:nvSpPr>
        <p:spPr>
          <a:xfrm>
            <a:off x="502920" y="5824728"/>
            <a:ext cx="11155680" cy="457200"/>
          </a:xfrm>
          <a:prstGeom prst="rect">
            <a:avLst/>
          </a:prstGeom>
          <a:noFill/>
          <a:ln/>
        </p:spPr>
        <p:txBody>
          <a:bodyPr wrap="square" lIns="0" tIns="0" rIns="0" bIns="0" rtlCol="0" anchor="ctr"/>
          <a:lstStyle/>
          <a:p>
            <a:pPr marL="0" indent="0">
              <a:lnSpc>
                <a:spcPct val="110000"/>
              </a:lnSpc>
              <a:buNone/>
            </a:pPr>
            <a:r>
              <a:rPr lang="en-US" sz="1150" i="1" dirty="0">
                <a:solidFill>
                  <a:srgbClr val="6B6B6B"/>
                </a:solidFill>
                <a:latin typeface="Calibri" pitchFamily="34" charset="0"/>
                <a:ea typeface="Calibri" pitchFamily="34" charset="-122"/>
                <a:cs typeface="Calibri" pitchFamily="34" charset="-120"/>
              </a:rPr>
              <a:t>Weeks 6–7: full end-to-end integration testing across all three workstreams. Week 8 reserved as buffer for polish, documentation, and presentation prep.</a:t>
            </a:r>
            <a:endParaRPr lang="en-US" sz="1150" dirty="0"/>
          </a:p>
        </p:txBody>
      </p:sp>
      <p:sp>
        <p:nvSpPr>
          <p:cNvPr id="61" name="Shape 0">
            <a:extLst>
              <a:ext uri="{FF2B5EF4-FFF2-40B4-BE49-F238E27FC236}">
                <a16:creationId xmlns:a16="http://schemas.microsoft.com/office/drawing/2014/main" id="{713073C0-890C-4FAE-FA91-4C6C4AB9B892}"/>
              </a:ext>
            </a:extLst>
          </p:cNvPr>
          <p:cNvSpPr/>
          <p:nvPr/>
        </p:nvSpPr>
        <p:spPr>
          <a:xfrm>
            <a:off x="0" y="0"/>
            <a:ext cx="12191695" cy="580644"/>
          </a:xfrm>
          <a:prstGeom prst="rect">
            <a:avLst/>
          </a:prstGeom>
          <a:solidFill>
            <a:srgbClr val="BC312C"/>
          </a:solidFill>
          <a:ln/>
        </p:spPr>
      </p:sp>
      <p:pic>
        <p:nvPicPr>
          <p:cNvPr id="63" name="Image 0" descr="/home/claude/pptx/assets/left_logo.png">
            <a:extLst>
              <a:ext uri="{FF2B5EF4-FFF2-40B4-BE49-F238E27FC236}">
                <a16:creationId xmlns:a16="http://schemas.microsoft.com/office/drawing/2014/main" id="{377698F3-F8F3-8802-59F7-AF3302F69684}"/>
              </a:ext>
            </a:extLst>
          </p:cNvPr>
          <p:cNvPicPr>
            <a:picLocks noChangeAspect="1"/>
          </p:cNvPicPr>
          <p:nvPr/>
        </p:nvPicPr>
        <p:blipFill>
          <a:blip r:embed="rId3"/>
          <a:stretch>
            <a:fillRect/>
          </a:stretch>
        </p:blipFill>
        <p:spPr>
          <a:xfrm>
            <a:off x="0" y="45720"/>
            <a:ext cx="3246120" cy="1152144"/>
          </a:xfrm>
          <a:prstGeom prst="rect">
            <a:avLst/>
          </a:prstGeom>
        </p:spPr>
      </p:pic>
      <p:pic>
        <p:nvPicPr>
          <p:cNvPr id="65" name="Image 1" descr="/home/claude/pptx/assets/right_logo.png">
            <a:extLst>
              <a:ext uri="{FF2B5EF4-FFF2-40B4-BE49-F238E27FC236}">
                <a16:creationId xmlns:a16="http://schemas.microsoft.com/office/drawing/2014/main" id="{C25BFA0C-2C0D-AB7A-9B4B-248A3478E3EE}"/>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dirty="0">
                <a:solidFill>
                  <a:srgbClr val="FFFFFF"/>
                </a:solidFill>
                <a:latin typeface="Calibri" pitchFamily="34" charset="0"/>
                <a:ea typeface="Calibri" pitchFamily="34" charset="-122"/>
                <a:cs typeface="Calibri" pitchFamily="34" charset="-120"/>
              </a:rPr>
              <a:t>12</a:t>
            </a:r>
            <a:endParaRPr lang="en-US" dirty="0"/>
          </a:p>
        </p:txBody>
      </p:sp>
      <p:sp>
        <p:nvSpPr>
          <p:cNvPr id="7" name="Text 3"/>
          <p:cNvSpPr/>
          <p:nvPr/>
        </p:nvSpPr>
        <p:spPr>
          <a:xfrm>
            <a:off x="502920"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a:t>
            </a:r>
            <a:endParaRPr lang="en-US" sz="2700" dirty="0"/>
          </a:p>
        </p:txBody>
      </p:sp>
      <p:sp>
        <p:nvSpPr>
          <p:cNvPr id="8" name="Shape 4"/>
          <p:cNvSpPr/>
          <p:nvPr/>
        </p:nvSpPr>
        <p:spPr>
          <a:xfrm>
            <a:off x="502920" y="1938528"/>
            <a:ext cx="11155680" cy="0"/>
          </a:xfrm>
          <a:prstGeom prst="line">
            <a:avLst/>
          </a:prstGeom>
          <a:noFill/>
          <a:ln w="12700">
            <a:solidFill>
              <a:srgbClr val="E0DAD8"/>
            </a:solidFill>
            <a:prstDash val="solid"/>
          </a:ln>
        </p:spPr>
      </p:sp>
      <p:sp>
        <p:nvSpPr>
          <p:cNvPr id="9" name="Text 5"/>
          <p:cNvSpPr/>
          <p:nvPr/>
        </p:nvSpPr>
        <p:spPr>
          <a:xfrm>
            <a:off x="502920" y="2121408"/>
            <a:ext cx="5486400" cy="4206240"/>
          </a:xfrm>
          <a:prstGeom prst="rect">
            <a:avLst/>
          </a:prstGeom>
          <a:noFill/>
          <a:ln/>
        </p:spPr>
        <p:txBody>
          <a:bodyPr wrap="square" lIns="0" tIns="0" rIns="0" bIns="0" rtlCol="0" anchor="t"/>
          <a:lstStyle/>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Aqila, K. S. et al., “Comparative Evaluation of SARIMA, FB Prophet, and LSTM for Hourly Demand Forecasting in Saudagar Kopi,” 2026.</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Kamboj, M. et al., “State-Level Drug Retail Sales Forecasting Using XGBoost and Facebook Prophet,” 2025.</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Guler et al., “Forecasting Restaurant Sales with Weather and Special Days using Facebook Prophet.”</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Rahmatillah, I., Herwanto, Sudirman, “Evaluation of Optimized LSTM and Moving Average in SME Inventory Forecasting and Simulation,” 2026.</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Susanto, J. C. et al., “Performance Analysis of Time Series Models to Predict Sales Activity of SMEs,” 2026.</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Munawar, M. A., Sudirman, I. D., “LSTM-Based Hourly Sales Forecasting in SME Food and Beverage Retail,” 2026.</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Jatte, H. et al., “Optimization of Forecasting Performance in the Retail Sector Using Artificial Intelligence,” 2025.</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Groene, Zakharov, “AI-Based Sales Forecasting for F&amp;B Businesses.”</a:t>
            </a:r>
            <a:endParaRPr lang="en-US" sz="1200" dirty="0"/>
          </a:p>
        </p:txBody>
      </p:sp>
      <p:sp>
        <p:nvSpPr>
          <p:cNvPr id="10" name="Text 6"/>
          <p:cNvSpPr/>
          <p:nvPr/>
        </p:nvSpPr>
        <p:spPr>
          <a:xfrm>
            <a:off x="6172200" y="2121408"/>
            <a:ext cx="5486400" cy="4206240"/>
          </a:xfrm>
          <a:prstGeom prst="rect">
            <a:avLst/>
          </a:prstGeom>
          <a:noFill/>
          <a:ln/>
        </p:spPr>
        <p:txBody>
          <a:bodyPr wrap="square" lIns="0" tIns="0" rIns="0" bIns="0" rtlCol="0" anchor="t"/>
          <a:lstStyle/>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Lalitha, R. et al., “Enhanced Sales Forecasting of Perishable and Non-Perishable Goods Using Weather Data,” 2025.</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Jain, N. et al., “Weather-Integrated Recommendations for Food Choices with SHAP Explanation,” 2024.</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Janchidfah, T. et al., “A Mobile Application for Inventory Management to Support Digital Transformation in Small Retail Businesses,” 2026.</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Yuniarty et al., “Technology Acceptance and Security Influences on AI Adoption among Small and Medium Enterprises,” 2025.</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Aree, T., Ueasangkomsate, P., “Technology Adoption of MSMEs in Food Supply Chain: The Role of AI in Traceability and Transparency,” 2025.</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Sakuda, G., Leon, Rojas, “Mobile Application for the Intelligent Management of Small Shops Using the GPT-4 Model,” 2024.</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Vyakarnam, S. et al., “Optimizing Supply Chain Management for Small and Medium-Sized Businesses Using AI,” 2025.</a:t>
            </a:r>
            <a:endParaRPr lang="en-US" sz="1200" dirty="0"/>
          </a:p>
          <a:p>
            <a:pPr marL="0" indent="0">
              <a:lnSpc>
                <a:spcPct val="105000"/>
              </a:lnSpc>
              <a:buNone/>
            </a:pPr>
            <a:endParaRPr lang="en-US" sz="1200" dirty="0"/>
          </a:p>
          <a:p>
            <a:pPr marL="0" indent="0">
              <a:lnSpc>
                <a:spcPct val="105000"/>
              </a:lnSpc>
              <a:buNone/>
            </a:pPr>
            <a:r>
              <a:rPr lang="en-US" sz="1200" dirty="0">
                <a:solidFill>
                  <a:srgbClr val="262626"/>
                </a:solidFill>
                <a:latin typeface="Calibri" pitchFamily="34" charset="0"/>
                <a:ea typeface="Calibri" pitchFamily="34" charset="-122"/>
                <a:cs typeface="Calibri" pitchFamily="34" charset="-120"/>
              </a:rPr>
              <a:t>• Full 25-reference bibliography available in the accompanying literature review document.</a:t>
            </a:r>
            <a:endParaRPr lang="en-US" sz="1200" dirty="0"/>
          </a:p>
        </p:txBody>
      </p:sp>
      <p:sp>
        <p:nvSpPr>
          <p:cNvPr id="12" name="Shape 0">
            <a:extLst>
              <a:ext uri="{FF2B5EF4-FFF2-40B4-BE49-F238E27FC236}">
                <a16:creationId xmlns:a16="http://schemas.microsoft.com/office/drawing/2014/main" id="{DC266152-59B1-4D24-C667-73945C4456C3}"/>
              </a:ext>
            </a:extLst>
          </p:cNvPr>
          <p:cNvSpPr/>
          <p:nvPr/>
        </p:nvSpPr>
        <p:spPr>
          <a:xfrm>
            <a:off x="0" y="0"/>
            <a:ext cx="12191695" cy="580644"/>
          </a:xfrm>
          <a:prstGeom prst="rect">
            <a:avLst/>
          </a:prstGeom>
          <a:solidFill>
            <a:srgbClr val="BC312C"/>
          </a:solidFill>
          <a:ln/>
        </p:spPr>
      </p:sp>
      <p:pic>
        <p:nvPicPr>
          <p:cNvPr id="14" name="Image 0" descr="/home/claude/pptx/assets/left_logo.png">
            <a:extLst>
              <a:ext uri="{FF2B5EF4-FFF2-40B4-BE49-F238E27FC236}">
                <a16:creationId xmlns:a16="http://schemas.microsoft.com/office/drawing/2014/main" id="{435879CD-75AD-0571-2C68-CC5792D820C2}"/>
              </a:ext>
            </a:extLst>
          </p:cNvPr>
          <p:cNvPicPr>
            <a:picLocks noChangeAspect="1"/>
          </p:cNvPicPr>
          <p:nvPr/>
        </p:nvPicPr>
        <p:blipFill>
          <a:blip r:embed="rId3"/>
          <a:stretch>
            <a:fillRect/>
          </a:stretch>
        </p:blipFill>
        <p:spPr>
          <a:xfrm>
            <a:off x="0" y="45720"/>
            <a:ext cx="3246120" cy="1152144"/>
          </a:xfrm>
          <a:prstGeom prst="rect">
            <a:avLst/>
          </a:prstGeom>
        </p:spPr>
      </p:pic>
      <p:pic>
        <p:nvPicPr>
          <p:cNvPr id="16" name="Image 1" descr="/home/claude/pptx/assets/right_logo.png">
            <a:extLst>
              <a:ext uri="{FF2B5EF4-FFF2-40B4-BE49-F238E27FC236}">
                <a16:creationId xmlns:a16="http://schemas.microsoft.com/office/drawing/2014/main" id="{AF088141-D625-6E7F-0DB4-FBCD3041CC86}"/>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6565392"/>
            <a:ext cx="12191695" cy="292608"/>
          </a:xfrm>
          <a:prstGeom prst="rect">
            <a:avLst/>
          </a:prstGeom>
          <a:solidFill>
            <a:srgbClr val="BC312C"/>
          </a:solidFill>
          <a:ln/>
        </p:spPr>
      </p:sp>
      <p:sp>
        <p:nvSpPr>
          <p:cNvPr id="6" name="Text 2"/>
          <p:cNvSpPr/>
          <p:nvPr/>
        </p:nvSpPr>
        <p:spPr>
          <a:xfrm>
            <a:off x="11475720" y="6565392"/>
            <a:ext cx="548640" cy="29260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13</a:t>
            </a:r>
            <a:endParaRPr lang="en-US" sz="1100" dirty="0"/>
          </a:p>
        </p:txBody>
      </p:sp>
      <p:sp>
        <p:nvSpPr>
          <p:cNvPr id="7" name="Text 3"/>
          <p:cNvSpPr/>
          <p:nvPr/>
        </p:nvSpPr>
        <p:spPr>
          <a:xfrm>
            <a:off x="0" y="3566160"/>
            <a:ext cx="12191695" cy="822960"/>
          </a:xfrm>
          <a:prstGeom prst="rect">
            <a:avLst/>
          </a:prstGeom>
          <a:noFill/>
          <a:ln/>
        </p:spPr>
        <p:txBody>
          <a:bodyPr wrap="square" lIns="0" tIns="0" rIns="0" bIns="0" rtlCol="0" anchor="ctr"/>
          <a:lstStyle/>
          <a:p>
            <a:pPr marL="0" indent="0" algn="ctr">
              <a:buNone/>
            </a:pPr>
            <a:r>
              <a:rPr lang="en-US" sz="3200" b="1" dirty="0">
                <a:solidFill>
                  <a:srgbClr val="000000"/>
                </a:solidFill>
                <a:latin typeface="Calibri" pitchFamily="34" charset="0"/>
                <a:ea typeface="Calibri" pitchFamily="34" charset="-122"/>
                <a:cs typeface="Calibri" pitchFamily="34" charset="-120"/>
              </a:rPr>
              <a:t>THANK YOU!</a:t>
            </a:r>
            <a:endParaRPr lang="en-US" sz="3200" dirty="0"/>
          </a:p>
        </p:txBody>
      </p:sp>
      <p:sp>
        <p:nvSpPr>
          <p:cNvPr id="9" name="Shape 0">
            <a:extLst>
              <a:ext uri="{FF2B5EF4-FFF2-40B4-BE49-F238E27FC236}">
                <a16:creationId xmlns:a16="http://schemas.microsoft.com/office/drawing/2014/main" id="{637C34DC-DE25-3870-D60A-459E0E110840}"/>
              </a:ext>
            </a:extLst>
          </p:cNvPr>
          <p:cNvSpPr/>
          <p:nvPr/>
        </p:nvSpPr>
        <p:spPr>
          <a:xfrm>
            <a:off x="0" y="0"/>
            <a:ext cx="12191695" cy="580644"/>
          </a:xfrm>
          <a:prstGeom prst="rect">
            <a:avLst/>
          </a:prstGeom>
          <a:solidFill>
            <a:srgbClr val="BC312C"/>
          </a:solidFill>
          <a:ln/>
        </p:spPr>
      </p:sp>
      <p:pic>
        <p:nvPicPr>
          <p:cNvPr id="11" name="Image 0" descr="/home/claude/pptx/assets/left_logo.png">
            <a:extLst>
              <a:ext uri="{FF2B5EF4-FFF2-40B4-BE49-F238E27FC236}">
                <a16:creationId xmlns:a16="http://schemas.microsoft.com/office/drawing/2014/main" id="{187F7AE7-762E-E05E-07F6-E2F646AEE418}"/>
              </a:ext>
            </a:extLst>
          </p:cNvPr>
          <p:cNvPicPr>
            <a:picLocks noChangeAspect="1"/>
          </p:cNvPicPr>
          <p:nvPr/>
        </p:nvPicPr>
        <p:blipFill>
          <a:blip r:embed="rId3"/>
          <a:stretch>
            <a:fillRect/>
          </a:stretch>
        </p:blipFill>
        <p:spPr>
          <a:xfrm>
            <a:off x="0" y="45720"/>
            <a:ext cx="3246120" cy="1152144"/>
          </a:xfrm>
          <a:prstGeom prst="rect">
            <a:avLst/>
          </a:prstGeom>
        </p:spPr>
      </p:pic>
      <p:pic>
        <p:nvPicPr>
          <p:cNvPr id="13" name="Image 1" descr="/home/claude/pptx/assets/right_logo.png">
            <a:extLst>
              <a:ext uri="{FF2B5EF4-FFF2-40B4-BE49-F238E27FC236}">
                <a16:creationId xmlns:a16="http://schemas.microsoft.com/office/drawing/2014/main" id="{744F95EC-07F7-1411-2F66-8E0151EBFBB1}"/>
              </a:ext>
            </a:extLst>
          </p:cNvPr>
          <p:cNvPicPr>
            <a:picLocks noChangeAspect="1"/>
          </p:cNvPicPr>
          <p:nvPr/>
        </p:nvPicPr>
        <p:blipFill>
          <a:blip r:embed="rId4"/>
          <a:stretch>
            <a:fillRect/>
          </a:stretch>
        </p:blipFill>
        <p:spPr>
          <a:xfrm>
            <a:off x="10744200" y="13716"/>
            <a:ext cx="1417320" cy="5806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1729</Words>
  <Application>Microsoft Office PowerPoint</Application>
  <PresentationFormat>Widescreen</PresentationFormat>
  <Paragraphs>264</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YATIN PATIL</cp:lastModifiedBy>
  <cp:revision>5</cp:revision>
  <dcterms:created xsi:type="dcterms:W3CDTF">2026-07-18T07:18:51Z</dcterms:created>
  <dcterms:modified xsi:type="dcterms:W3CDTF">2026-07-18T15:23:26Z</dcterms:modified>
</cp:coreProperties>
</file>