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70" r:id="rId2"/>
    <p:sldId id="271" r:id="rId3"/>
    <p:sldId id="284" r:id="rId4"/>
    <p:sldId id="272" r:id="rId5"/>
    <p:sldId id="273" r:id="rId6"/>
    <p:sldId id="278" r:id="rId7"/>
    <p:sldId id="277" r:id="rId8"/>
    <p:sldId id="279" r:id="rId9"/>
    <p:sldId id="280" r:id="rId10"/>
    <p:sldId id="281" r:id="rId11"/>
    <p:sldId id="285" r:id="rId12"/>
    <p:sldId id="283" r:id="rId13"/>
    <p:sldId id="267" r:id="rId14"/>
  </p:sldIdLst>
  <p:sldSz cx="9144000" cy="6858000" type="screen4x3"/>
  <p:notesSz cx="6858000" cy="9144000"/>
  <p:embeddedFontLst>
    <p:embeddedFont>
      <p:font typeface="Cambria" panose="02040503050406030204" pitchFamily="18"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848566"/>
            <a:ext cx="7696200" cy="1708801"/>
          </a:xfrm>
        </p:spPr>
        <p:txBody>
          <a:bodyPr>
            <a:noAutofit/>
          </a:bodyPr>
          <a:lstStyle/>
          <a:p>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Project Review-I Presentation on</a:t>
            </a:r>
            <a:br>
              <a:rPr lang="en-IN" sz="2000" b="1" dirty="0">
                <a:latin typeface="Times New Roman" panose="02020603050405020304" pitchFamily="18" charset="0"/>
                <a:cs typeface="Times New Roman" pitchFamily="18" charset="0"/>
              </a:rPr>
            </a:br>
            <a:r>
              <a:rPr lang="en-IN" sz="2000"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000" dirty="0">
                <a:solidFill>
                  <a:srgbClr val="C00000"/>
                </a:solidFill>
                <a:latin typeface="Times New Roman" panose="02020603050405020304" pitchFamily="18" charset="0"/>
                <a:cs typeface="Times New Roman" panose="02020603050405020304" pitchFamily="18" charset="0"/>
              </a:rPr>
            </a:br>
            <a:r>
              <a:rPr lang="en-IN" sz="2000" dirty="0">
                <a:solidFill>
                  <a:srgbClr val="C00000"/>
                </a:solidFill>
                <a:latin typeface="Times New Roman" panose="02020603050405020304" pitchFamily="18" charset="0"/>
                <a:cs typeface="Times New Roman" panose="02020603050405020304" pitchFamily="18" charset="0"/>
              </a:rPr>
              <a:t> for Small Food Retailers</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By</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(G1)</a:t>
            </a:r>
            <a:br>
              <a:rPr lang="en-IN" sz="2000"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1. </a:t>
            </a:r>
            <a:r>
              <a:rPr lang="en-IN" sz="2000" dirty="0">
                <a:latin typeface="Times New Roman" panose="02020603050405020304" pitchFamily="18" charset="0"/>
                <a:cs typeface="Times New Roman" pitchFamily="18" charset="0"/>
              </a:rPr>
              <a:t>Chinmay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2. Soumy Raghuvanshi</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3.</a:t>
            </a:r>
            <a:r>
              <a:rPr lang="en-IN" sz="2000" dirty="0">
                <a:latin typeface="Times New Roman" panose="02020603050405020304" pitchFamily="18" charset="0"/>
                <a:cs typeface="Times New Roman" pitchFamily="18" charset="0"/>
              </a:rPr>
              <a:t> Yatin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Under the Guidance of</a:t>
            </a:r>
            <a:br>
              <a:rPr lang="en-IN" sz="2000" b="1" dirty="0">
                <a:latin typeface="Times New Roman" panose="02020603050405020304" pitchFamily="18" charset="0"/>
                <a:cs typeface="Times New Roman" pitchFamily="18" charset="0"/>
              </a:rPr>
            </a:br>
            <a:r>
              <a:rPr lang="en-IN" sz="2000" dirty="0">
                <a:latin typeface="Times New Roman" panose="02020603050405020304" pitchFamily="18" charset="0"/>
                <a:cs typeface="Times New Roman" panose="02020603050405020304" pitchFamily="18" charset="0"/>
              </a:rPr>
              <a:t>Dr. Srikanth </a:t>
            </a:r>
            <a:r>
              <a:rPr lang="en-IN" sz="2000" dirty="0" err="1">
                <a:latin typeface="Times New Roman" panose="02020603050405020304" pitchFamily="18" charset="0"/>
                <a:cs typeface="Times New Roman" panose="02020603050405020304" pitchFamily="18" charset="0"/>
              </a:rPr>
              <a:t>Pulipeti</a:t>
            </a:r>
            <a:br>
              <a:rPr lang="en-IN" sz="2000" b="1" dirty="0">
                <a:latin typeface="Times New Roman" panose="02020603050405020304" pitchFamily="18" charset="0"/>
                <a:cs typeface="Times New Roman" pitchFamily="18" charset="0"/>
              </a:rPr>
            </a:br>
            <a:endParaRPr lang="en-IN" sz="20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43362" y="4628575"/>
            <a:ext cx="1057275" cy="1209675"/>
          </a:xfrm>
          <a:prstGeom prst="rect">
            <a:avLst/>
          </a:prstGeom>
          <a:noFill/>
        </p:spPr>
      </p:pic>
      <p:sp>
        <p:nvSpPr>
          <p:cNvPr id="6" name="TextBox 5"/>
          <p:cNvSpPr txBox="1"/>
          <p:nvPr/>
        </p:nvSpPr>
        <p:spPr>
          <a:xfrm>
            <a:off x="1447800" y="5677419"/>
            <a:ext cx="6248400" cy="954107"/>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Information Technology</a:t>
            </a:r>
          </a:p>
          <a:p>
            <a:pPr algn="ctr"/>
            <a:r>
              <a:rPr lang="en-IN" b="1" dirty="0">
                <a:latin typeface="Times New Roman" pitchFamily="18" charset="0"/>
                <a:cs typeface="Times New Roman" pitchFamily="18" charset="0"/>
              </a:rPr>
              <a:t>MPSTME, SVKMs NMIMS </a:t>
            </a:r>
            <a:r>
              <a:rPr lang="en-IN" b="1" dirty="0" err="1">
                <a:latin typeface="Times New Roman" panose="02020603050405020304" pitchFamily="18" charset="0"/>
                <a:cs typeface="Times New Roman" pitchFamily="18" charset="0"/>
              </a:rPr>
              <a:t>Shirpur</a:t>
            </a:r>
            <a:r>
              <a:rPr lang="en-IN" b="1" dirty="0">
                <a:latin typeface="Times New Roman" pitchFamily="18" charset="0"/>
                <a:cs typeface="Times New Roman" pitchFamily="18" charset="0"/>
              </a:rPr>
              <a:t> Campus</a:t>
            </a:r>
          </a:p>
          <a:p>
            <a:pPr algn="ctr"/>
            <a:r>
              <a:rPr lang="en-IN" b="1" dirty="0">
                <a:latin typeface="Times New Roman" pitchFamily="18" charset="0"/>
                <a:cs typeface="Times New Roman" pitchFamily="18" charset="0"/>
              </a:rPr>
              <a:t>2026-27</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905" y="1099692"/>
            <a:ext cx="6479309" cy="1143000"/>
          </a:xfrm>
        </p:spPr>
        <p:txBody>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50000"/>
              </a:lnSpc>
              <a:buFont typeface="Arial" pitchFamily="34" charset="0"/>
              <a:buChar char="•"/>
            </a:pPr>
            <a:r>
              <a:rPr lang="en-IN" dirty="0">
                <a:latin typeface="Times New Roman" pitchFamily="18" charset="0"/>
                <a:cs typeface="Times New Roman" pitchFamily="18" charset="0"/>
              </a:rPr>
              <a:t>Introduction</a:t>
            </a:r>
          </a:p>
          <a:p>
            <a:pPr marL="358775" lvl="1" indent="-358775">
              <a:lnSpc>
                <a:spcPct val="150000"/>
              </a:lnSpc>
              <a:buFont typeface="Arial" pitchFamily="34" charset="0"/>
              <a:buChar char="•"/>
            </a:pPr>
            <a:r>
              <a:rPr lang="en-IN" dirty="0">
                <a:latin typeface="Times New Roman" pitchFamily="18" charset="0"/>
                <a:cs typeface="Times New Roman" pitchFamily="18" charset="0"/>
              </a:rPr>
              <a:t>Problem Statement</a:t>
            </a:r>
          </a:p>
          <a:p>
            <a:pPr marL="358775" lvl="1" indent="-358775">
              <a:lnSpc>
                <a:spcPct val="150000"/>
              </a:lnSpc>
              <a:buFont typeface="Arial" pitchFamily="34" charset="0"/>
              <a:buChar char="•"/>
            </a:pPr>
            <a:r>
              <a:rPr lang="en-IN" dirty="0">
                <a:latin typeface="Times New Roman" pitchFamily="18" charset="0"/>
                <a:cs typeface="Times New Roman" pitchFamily="18" charset="0"/>
              </a:rPr>
              <a:t>Motivation and Need of Project </a:t>
            </a:r>
          </a:p>
          <a:p>
            <a:pPr marL="358775" lvl="1" indent="-358775">
              <a:lnSpc>
                <a:spcPct val="150000"/>
              </a:lnSpc>
              <a:buFont typeface="Arial" pitchFamily="34" charset="0"/>
              <a:buChar char="•"/>
            </a:pPr>
            <a:r>
              <a:rPr lang="en-IN" dirty="0">
                <a:latin typeface="Times New Roman" pitchFamily="18" charset="0"/>
                <a:cs typeface="Times New Roman" pitchFamily="18" charset="0"/>
              </a:rPr>
              <a:t>Objective of Project</a:t>
            </a:r>
          </a:p>
          <a:p>
            <a:pPr marL="358775" lvl="1" indent="-358775">
              <a:lnSpc>
                <a:spcPct val="150000"/>
              </a:lnSpc>
              <a:buFont typeface="Arial" pitchFamily="34" charset="0"/>
              <a:buChar char="•"/>
            </a:pPr>
            <a:r>
              <a:rPr lang="en-IN" dirty="0">
                <a:latin typeface="Times New Roman" pitchFamily="18" charset="0"/>
                <a:cs typeface="Times New Roman" pitchFamily="18" charset="0"/>
              </a:rPr>
              <a:t>Scope of Project </a:t>
            </a:r>
          </a:p>
          <a:p>
            <a:pPr marL="358775" lvl="1" indent="-358775">
              <a:lnSpc>
                <a:spcPct val="150000"/>
              </a:lnSpc>
              <a:buFont typeface="Arial" pitchFamily="34" charset="0"/>
              <a:buChar char="•"/>
            </a:pPr>
            <a:r>
              <a:rPr lang="en-IN" dirty="0">
                <a:latin typeface="Times New Roman" pitchFamily="18" charset="0"/>
                <a:cs typeface="Times New Roman" pitchFamily="18" charset="0"/>
              </a:rPr>
              <a:t>Literature Review</a:t>
            </a:r>
          </a:p>
          <a:p>
            <a:pPr marL="358775" lvl="1" indent="-358775">
              <a:lnSpc>
                <a:spcPct val="150000"/>
              </a:lnSpc>
              <a:buFont typeface="Arial" pitchFamily="34" charset="0"/>
              <a:buChar char="•"/>
            </a:pPr>
            <a:r>
              <a:rPr lang="en-IN" dirty="0">
                <a:latin typeface="Times New Roman" pitchFamily="18" charset="0"/>
                <a:cs typeface="Times New Roman" pitchFamily="18" charset="0"/>
              </a:rPr>
              <a:t>Feasibility Analysis</a:t>
            </a:r>
          </a:p>
          <a:p>
            <a:pPr marL="358775" lvl="1" indent="-358775">
              <a:lnSpc>
                <a:spcPct val="150000"/>
              </a:lnSpc>
              <a:buFont typeface="Arial" pitchFamily="34" charset="0"/>
              <a:buChar char="•"/>
            </a:pPr>
            <a:r>
              <a:rPr lang="en-IN" dirty="0">
                <a:latin typeface="Times New Roman" pitchFamily="18" charset="0"/>
                <a:cs typeface="Times New Roman" pitchFamily="18" charset="0"/>
              </a:rPr>
              <a:t>Project Development Timeline (Gantt Chart)</a:t>
            </a:r>
          </a:p>
          <a:p>
            <a:pPr marL="358775" lvl="1" indent="-358775">
              <a:lnSpc>
                <a:spcPct val="150000"/>
              </a:lnSpc>
              <a:buFont typeface="Arial" pitchFamily="34" charset="0"/>
              <a:buChar char="•"/>
            </a:pPr>
            <a:r>
              <a:rPr lang="en-IN" dirty="0">
                <a:latin typeface="Times New Roman" pitchFamily="18" charset="0"/>
                <a:cs typeface="Times New Roman" pitchFamily="18" charset="0"/>
              </a:rPr>
              <a:t>References</a:t>
            </a:r>
          </a:p>
          <a:p>
            <a:pPr lvl="1"/>
            <a:endParaRPr lang="en-IN" sz="1600" dirty="0">
              <a:latin typeface="Times New Roman" pitchFamily="18" charset="0"/>
              <a:cs typeface="Times New Roman" pitchFamily="18" charset="0"/>
            </a:endParaRPr>
          </a:p>
          <a:p>
            <a:pPr lvl="1">
              <a:buNone/>
            </a:pPr>
            <a:endParaRPr lang="en-IN"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5842073" y="2050000"/>
            <a:ext cx="3050000" cy="460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a:off x="6617073" y="2750000"/>
            <a:ext cx="1500000" cy="500000"/>
          </a:xfrm>
          <a:prstGeom prst="triangl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667073" y="3220000"/>
            <a:ext cx="1400000" cy="1050000"/>
          </a:xfrm>
          <a:prstGeom prst="rect">
            <a:avLst/>
          </a:prstGeom>
          <a:solidFill>
            <a:srgbClr val="FFFFFF"/>
          </a:solidFill>
          <a:ln w="1905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147073" y="3700000"/>
            <a:ext cx="440000" cy="57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07073" y="3400000"/>
            <a:ext cx="380000" cy="300000"/>
          </a:xfrm>
          <a:prstGeom prst="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547073" y="3400000"/>
            <a:ext cx="380000" cy="300000"/>
          </a:xfrm>
          <a:prstGeom prst="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92073" y="4500000"/>
            <a:ext cx="2750000" cy="246221"/>
          </a:xfrm>
          <a:prstGeom prst="rect">
            <a:avLst/>
          </a:prstGeom>
          <a:noFill/>
        </p:spPr>
        <p:txBody>
          <a:bodyPr wrap="square" lIns="0" tIns="0" rIns="0" bIns="0" anchor="t">
            <a:spAutoFit/>
          </a:bodyPr>
          <a:lstStyle/>
          <a:p>
            <a:pPr algn="ctr"/>
            <a:r>
              <a:rPr sz="1600" b="1" i="0">
                <a:solidFill>
                  <a:srgbClr val="BC312C"/>
                </a:solidFill>
                <a:latin typeface="Calibri"/>
              </a:rPr>
              <a:t>Cafes  ·  Bakeries  ·  Restaurants</a:t>
            </a:r>
          </a:p>
        </p:txBody>
      </p:sp>
      <p:sp>
        <p:nvSpPr>
          <p:cNvPr id="29" name="TextBox 28"/>
          <p:cNvSpPr txBox="1"/>
          <p:nvPr/>
        </p:nvSpPr>
        <p:spPr>
          <a:xfrm>
            <a:off x="5992073" y="4950000"/>
            <a:ext cx="2750000" cy="338554"/>
          </a:xfrm>
          <a:prstGeom prst="rect">
            <a:avLst/>
          </a:prstGeom>
          <a:noFill/>
        </p:spPr>
        <p:txBody>
          <a:bodyPr wrap="square" lIns="0" tIns="0" rIns="0" bIns="0" anchor="t">
            <a:spAutoFit/>
          </a:bodyPr>
          <a:lstStyle/>
          <a:p>
            <a:pPr algn="ctr"/>
            <a:r>
              <a:rPr sz="1100" b="0" i="0" dirty="0">
                <a:solidFill>
                  <a:srgbClr val="6B6B6B"/>
                </a:solidFill>
                <a:latin typeface="Calibri"/>
              </a:rPr>
              <a:t>Small, single-location food
businesses — the focus of this project</a:t>
            </a:r>
          </a:p>
        </p:txBody>
      </p:sp>
      <p:sp>
        <p:nvSpPr>
          <p:cNvPr id="30" name="TextBox 29"/>
          <p:cNvSpPr txBox="1"/>
          <p:nvPr/>
        </p:nvSpPr>
        <p:spPr>
          <a:xfrm>
            <a:off x="111030" y="2050000"/>
            <a:ext cx="5511043" cy="832792"/>
          </a:xfrm>
          <a:prstGeom prst="rect">
            <a:avLst/>
          </a:prstGeom>
          <a:noFill/>
        </p:spPr>
        <p:txBody>
          <a:bodyPr wrap="square" lIns="0" tIns="0" rIns="0" bIns="0" anchor="t">
            <a:spAutoFit/>
          </a:bodyPr>
          <a:lstStyle/>
          <a:p>
            <a:pPr algn="l">
              <a:lnSpc>
                <a:spcPct val="115000"/>
              </a:lnSpc>
            </a:pPr>
            <a:r>
              <a:rPr sz="1600" b="0" i="1">
                <a:solidFill>
                  <a:srgbClr val="262626"/>
                </a:solidFill>
                <a:latin typeface="Calibri"/>
              </a:rPr>
              <a:t>Cafes, bakeries, and quick-service restaurants make up a large share of urban food retail — yet most still run on instinct rather than data when deciding what to prepare or stock each day.</a:t>
            </a:r>
          </a:p>
        </p:txBody>
      </p:sp>
      <p:sp>
        <p:nvSpPr>
          <p:cNvPr id="31" name="Rectangle 30"/>
          <p:cNvSpPr/>
          <p:nvPr/>
        </p:nvSpPr>
        <p:spPr>
          <a:xfrm>
            <a:off x="111030" y="3100000"/>
            <a:ext cx="30000" cy="69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2" name="TextBox 31"/>
          <p:cNvSpPr txBox="1"/>
          <p:nvPr/>
        </p:nvSpPr>
        <p:spPr>
          <a:xfrm>
            <a:off x="261030" y="3100000"/>
            <a:ext cx="5361043" cy="215444"/>
          </a:xfrm>
          <a:prstGeom prst="rect">
            <a:avLst/>
          </a:prstGeom>
          <a:noFill/>
        </p:spPr>
        <p:txBody>
          <a:bodyPr wrap="square" lIns="0" tIns="0" rIns="0" bIns="0" anchor="t">
            <a:spAutoFit/>
          </a:bodyPr>
          <a:lstStyle/>
          <a:p>
            <a:pPr algn="l"/>
            <a:r>
              <a:rPr b="1" i="0">
                <a:solidFill>
                  <a:srgbClr val="BC312C"/>
                </a:solidFill>
                <a:latin typeface="Calibri"/>
              </a:rPr>
              <a:t>WHO</a:t>
            </a:r>
          </a:p>
        </p:txBody>
      </p:sp>
      <p:sp>
        <p:nvSpPr>
          <p:cNvPr id="33" name="TextBox 32"/>
          <p:cNvSpPr txBox="1"/>
          <p:nvPr/>
        </p:nvSpPr>
        <p:spPr>
          <a:xfrm>
            <a:off x="261030" y="3350000"/>
            <a:ext cx="5361043" cy="443263"/>
          </a:xfrm>
          <a:prstGeom prst="rect">
            <a:avLst/>
          </a:prstGeom>
          <a:noFill/>
        </p:spPr>
        <p:txBody>
          <a:bodyPr wrap="square" lIns="0" tIns="0" rIns="0" bIns="0" anchor="t">
            <a:spAutoFit/>
          </a:bodyPr>
          <a:lstStyle/>
          <a:p>
            <a:pPr algn="l">
              <a:lnSpc>
                <a:spcPct val="105000"/>
              </a:lnSpc>
            </a:pPr>
            <a:r>
              <a:rPr b="0" i="0">
                <a:solidFill>
                  <a:srgbClr val="262626"/>
                </a:solidFill>
                <a:latin typeface="Calibri"/>
              </a:rPr>
              <a:t>Small, single-location food businesses: cafes, bakeries, independent restaurants.</a:t>
            </a:r>
          </a:p>
        </p:txBody>
      </p:sp>
      <p:sp>
        <p:nvSpPr>
          <p:cNvPr id="34" name="Rectangle 33"/>
          <p:cNvSpPr/>
          <p:nvPr/>
        </p:nvSpPr>
        <p:spPr>
          <a:xfrm>
            <a:off x="111030" y="3930000"/>
            <a:ext cx="30000" cy="69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5" name="TextBox 34"/>
          <p:cNvSpPr txBox="1"/>
          <p:nvPr/>
        </p:nvSpPr>
        <p:spPr>
          <a:xfrm>
            <a:off x="261030" y="3930000"/>
            <a:ext cx="5361043" cy="215444"/>
          </a:xfrm>
          <a:prstGeom prst="rect">
            <a:avLst/>
          </a:prstGeom>
          <a:noFill/>
        </p:spPr>
        <p:txBody>
          <a:bodyPr wrap="square" lIns="0" tIns="0" rIns="0" bIns="0" anchor="t">
            <a:spAutoFit/>
          </a:bodyPr>
          <a:lstStyle/>
          <a:p>
            <a:pPr algn="l"/>
            <a:r>
              <a:rPr b="1" i="0">
                <a:solidFill>
                  <a:srgbClr val="BC312C"/>
                </a:solidFill>
                <a:latin typeface="Calibri"/>
              </a:rPr>
              <a:t>TODAY</a:t>
            </a:r>
          </a:p>
        </p:txBody>
      </p:sp>
      <p:sp>
        <p:nvSpPr>
          <p:cNvPr id="36" name="TextBox 35"/>
          <p:cNvSpPr txBox="1"/>
          <p:nvPr/>
        </p:nvSpPr>
        <p:spPr>
          <a:xfrm>
            <a:off x="261030" y="4180000"/>
            <a:ext cx="5361043" cy="443263"/>
          </a:xfrm>
          <a:prstGeom prst="rect">
            <a:avLst/>
          </a:prstGeom>
          <a:noFill/>
        </p:spPr>
        <p:txBody>
          <a:bodyPr wrap="square" lIns="0" tIns="0" rIns="0" bIns="0" anchor="t">
            <a:spAutoFit/>
          </a:bodyPr>
          <a:lstStyle/>
          <a:p>
            <a:pPr algn="l">
              <a:lnSpc>
                <a:spcPct val="105000"/>
              </a:lnSpc>
            </a:pPr>
            <a:r>
              <a:rPr b="0" i="0">
                <a:solidFill>
                  <a:srgbClr val="262626"/>
                </a:solidFill>
                <a:latin typeface="Calibri"/>
              </a:rPr>
              <a:t>Ordering and prep decisions are made manually — from memory or gut feel — with no predictive support.</a:t>
            </a:r>
          </a:p>
        </p:txBody>
      </p:sp>
      <p:sp>
        <p:nvSpPr>
          <p:cNvPr id="37" name="Rectangle 36"/>
          <p:cNvSpPr/>
          <p:nvPr/>
        </p:nvSpPr>
        <p:spPr>
          <a:xfrm>
            <a:off x="111030" y="4760000"/>
            <a:ext cx="30000" cy="69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8" name="TextBox 37"/>
          <p:cNvSpPr txBox="1"/>
          <p:nvPr/>
        </p:nvSpPr>
        <p:spPr>
          <a:xfrm>
            <a:off x="261030" y="4760000"/>
            <a:ext cx="5361043" cy="215444"/>
          </a:xfrm>
          <a:prstGeom prst="rect">
            <a:avLst/>
          </a:prstGeom>
          <a:noFill/>
        </p:spPr>
        <p:txBody>
          <a:bodyPr wrap="square" lIns="0" tIns="0" rIns="0" bIns="0" anchor="t">
            <a:spAutoFit/>
          </a:bodyPr>
          <a:lstStyle/>
          <a:p>
            <a:pPr algn="l"/>
            <a:r>
              <a:rPr b="1" i="0">
                <a:solidFill>
                  <a:srgbClr val="BC312C"/>
                </a:solidFill>
                <a:latin typeface="Calibri"/>
              </a:rPr>
              <a:t>THE SHIFT</a:t>
            </a:r>
          </a:p>
        </p:txBody>
      </p:sp>
      <p:sp>
        <p:nvSpPr>
          <p:cNvPr id="39" name="TextBox 38"/>
          <p:cNvSpPr txBox="1"/>
          <p:nvPr/>
        </p:nvSpPr>
        <p:spPr>
          <a:xfrm>
            <a:off x="261030" y="5010000"/>
            <a:ext cx="5361043" cy="443263"/>
          </a:xfrm>
          <a:prstGeom prst="rect">
            <a:avLst/>
          </a:prstGeom>
          <a:noFill/>
        </p:spPr>
        <p:txBody>
          <a:bodyPr wrap="square" lIns="0" tIns="0" rIns="0" bIns="0" anchor="t">
            <a:spAutoFit/>
          </a:bodyPr>
          <a:lstStyle/>
          <a:p>
            <a:pPr algn="l">
              <a:lnSpc>
                <a:spcPct val="105000"/>
              </a:lnSpc>
            </a:pPr>
            <a:r>
              <a:rPr b="0" i="0">
                <a:solidFill>
                  <a:srgbClr val="262626"/>
                </a:solidFill>
                <a:latin typeface="Calibri"/>
              </a:rPr>
              <a:t>AI-driven demand forecasting has matured for large, enterprise-scale retail chains.</a:t>
            </a:r>
          </a:p>
        </p:txBody>
      </p:sp>
      <p:sp>
        <p:nvSpPr>
          <p:cNvPr id="40" name="Rectangle 39"/>
          <p:cNvSpPr/>
          <p:nvPr/>
        </p:nvSpPr>
        <p:spPr>
          <a:xfrm>
            <a:off x="111030" y="5590000"/>
            <a:ext cx="30000" cy="69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41" name="TextBox 40"/>
          <p:cNvSpPr txBox="1"/>
          <p:nvPr/>
        </p:nvSpPr>
        <p:spPr>
          <a:xfrm>
            <a:off x="261030" y="5590000"/>
            <a:ext cx="5361043" cy="215444"/>
          </a:xfrm>
          <a:prstGeom prst="rect">
            <a:avLst/>
          </a:prstGeom>
          <a:noFill/>
        </p:spPr>
        <p:txBody>
          <a:bodyPr wrap="square" lIns="0" tIns="0" rIns="0" bIns="0" anchor="t">
            <a:spAutoFit/>
          </a:bodyPr>
          <a:lstStyle/>
          <a:p>
            <a:pPr algn="l"/>
            <a:r>
              <a:rPr b="1" i="0">
                <a:solidFill>
                  <a:srgbClr val="BC312C"/>
                </a:solidFill>
                <a:latin typeface="Calibri"/>
              </a:rPr>
              <a:t>THE OPENING</a:t>
            </a:r>
          </a:p>
        </p:txBody>
      </p:sp>
      <p:sp>
        <p:nvSpPr>
          <p:cNvPr id="42" name="TextBox 41"/>
          <p:cNvSpPr txBox="1"/>
          <p:nvPr/>
        </p:nvSpPr>
        <p:spPr>
          <a:xfrm>
            <a:off x="261030" y="5840000"/>
            <a:ext cx="5361043" cy="443263"/>
          </a:xfrm>
          <a:prstGeom prst="rect">
            <a:avLst/>
          </a:prstGeom>
          <a:noFill/>
        </p:spPr>
        <p:txBody>
          <a:bodyPr wrap="square" lIns="0" tIns="0" rIns="0" bIns="0" anchor="t">
            <a:spAutoFit/>
          </a:bodyPr>
          <a:lstStyle/>
          <a:p>
            <a:pPr algn="l">
              <a:lnSpc>
                <a:spcPct val="105000"/>
              </a:lnSpc>
            </a:pPr>
            <a:r>
              <a:rPr b="0" i="0">
                <a:solidFill>
                  <a:srgbClr val="262626"/>
                </a:solidFill>
                <a:latin typeface="Calibri"/>
              </a:rPr>
              <a:t>But it remains largely inaccessible to small operators without dedicated IT or data teams.</a:t>
            </a:r>
          </a:p>
        </p:txBody>
      </p:sp>
    </p:spTree>
    <p:extLst>
      <p:ext uri="{BB962C8B-B14F-4D97-AF65-F5344CB8AC3E}">
        <p14:creationId xmlns:p14="http://schemas.microsoft.com/office/powerpoint/2010/main" val="311260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643-3D2A-FF2F-479B-8F6D352C55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60C88-3EE3-CC92-F031-B496EF46ED59}"/>
              </a:ext>
            </a:extLst>
          </p:cNvPr>
          <p:cNvSpPr>
            <a:spLocks noGrp="1"/>
          </p:cNvSpPr>
          <p:nvPr>
            <p:ph type="sldNum" sz="quarter" idx="12"/>
          </p:nvPr>
        </p:nvSpPr>
        <p:spPr>
          <a:xfrm>
            <a:off x="6199238" y="6373546"/>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E55E4DC-D25B-3786-9DA5-A0870845C69F}"/>
              </a:ext>
            </a:extLst>
          </p:cNvPr>
          <p:cNvSpPr/>
          <p:nvPr/>
        </p:nvSpPr>
        <p:spPr>
          <a:xfrm>
            <a:off x="148958"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2" name="Shape 4">
            <a:extLst>
              <a:ext uri="{FF2B5EF4-FFF2-40B4-BE49-F238E27FC236}">
                <a16:creationId xmlns:a16="http://schemas.microsoft.com/office/drawing/2014/main" id="{D076D9A2-4B91-A5B6-FEB6-6AA66CCE5145}"/>
              </a:ext>
            </a:extLst>
          </p:cNvPr>
          <p:cNvSpPr/>
          <p:nvPr/>
        </p:nvSpPr>
        <p:spPr>
          <a:xfrm flipV="1">
            <a:off x="148958" y="1920240"/>
            <a:ext cx="8709164" cy="18288"/>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6E2560AB-9C2D-0FD5-1C5D-EE67F4E0D0D8}"/>
              </a:ext>
            </a:extLst>
          </p:cNvPr>
          <p:cNvSpPr/>
          <p:nvPr/>
        </p:nvSpPr>
        <p:spPr>
          <a:xfrm>
            <a:off x="148958" y="2121408"/>
            <a:ext cx="8995042" cy="640080"/>
          </a:xfrm>
          <a:prstGeom prst="rect">
            <a:avLst/>
          </a:prstGeom>
          <a:noFill/>
          <a:ln/>
        </p:spPr>
        <p:txBody>
          <a:bodyPr wrap="square" lIns="0" tIns="0" rIns="0" bIns="0" rtlCol="0" anchor="ctr"/>
          <a:lstStyle/>
          <a:p>
            <a:pPr marL="0" indent="0">
              <a:lnSpc>
                <a:spcPct val="115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 make daily purchasing decisions with no reliable way to predict tomorrow's demand.</a:t>
            </a:r>
            <a:endParaRPr lang="en-US" sz="16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66D4BF0-8B70-F26F-44F2-04321F87D659}"/>
              </a:ext>
            </a:extLst>
          </p:cNvPr>
          <p:cNvSpPr/>
          <p:nvPr/>
        </p:nvSpPr>
        <p:spPr>
          <a:xfrm>
            <a:off x="148958" y="2880360"/>
            <a:ext cx="8778732" cy="1188720"/>
          </a:xfrm>
          <a:prstGeom prst="rect">
            <a:avLst/>
          </a:prstGeom>
          <a:solidFill>
            <a:srgbClr val="F7F5F4"/>
          </a:solidFill>
          <a:ln/>
        </p:spPr>
        <p:txBody>
          <a:bodyPr/>
          <a:lstStyle/>
          <a:p>
            <a:endParaRPr lang="en-IN"/>
          </a:p>
        </p:txBody>
      </p:sp>
      <p:sp>
        <p:nvSpPr>
          <p:cNvPr id="18" name="Text 7">
            <a:extLst>
              <a:ext uri="{FF2B5EF4-FFF2-40B4-BE49-F238E27FC236}">
                <a16:creationId xmlns:a16="http://schemas.microsoft.com/office/drawing/2014/main" id="{082AC8EF-EA7B-6519-C948-F5C9F62D8087}"/>
              </a:ext>
            </a:extLst>
          </p:cNvPr>
          <p:cNvSpPr/>
          <p:nvPr/>
        </p:nvSpPr>
        <p:spPr>
          <a:xfrm>
            <a:off x="396092" y="2985427"/>
            <a:ext cx="8284464" cy="777240"/>
          </a:xfrm>
          <a:prstGeom prst="rect">
            <a:avLst/>
          </a:prstGeom>
          <a:noFill/>
          <a:ln/>
        </p:spPr>
        <p:txBody>
          <a:bodyPr wrap="square" lIns="0" tIns="0" rIns="0" bIns="0" rtlCol="0" anchor="t"/>
          <a:lstStyle/>
          <a:p>
            <a:pPr marL="0" indent="0">
              <a:lnSpc>
                <a:spcPct val="115000"/>
              </a:lnSpc>
              <a:buNone/>
            </a:pPr>
            <a:r>
              <a:rPr lang="en-US"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dirty="0">
              <a:latin typeface="Times New Roman" panose="02020603050405020304" pitchFamily="18" charset="0"/>
              <a:cs typeface="Times New Roman" panose="02020603050405020304" pitchFamily="18" charset="0"/>
            </a:endParaRPr>
          </a:p>
        </p:txBody>
      </p:sp>
      <p:sp>
        <p:nvSpPr>
          <p:cNvPr id="20" name="Shape 8">
            <a:extLst>
              <a:ext uri="{FF2B5EF4-FFF2-40B4-BE49-F238E27FC236}">
                <a16:creationId xmlns:a16="http://schemas.microsoft.com/office/drawing/2014/main" id="{10E7457A-F535-DAA2-C473-553D98753A76}"/>
              </a:ext>
            </a:extLst>
          </p:cNvPr>
          <p:cNvSpPr/>
          <p:nvPr/>
        </p:nvSpPr>
        <p:spPr>
          <a:xfrm>
            <a:off x="189561" y="416051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2" name="Shape 9">
            <a:extLst>
              <a:ext uri="{FF2B5EF4-FFF2-40B4-BE49-F238E27FC236}">
                <a16:creationId xmlns:a16="http://schemas.microsoft.com/office/drawing/2014/main" id="{8634A286-AED7-31A7-FA85-07071853E959}"/>
              </a:ext>
            </a:extLst>
          </p:cNvPr>
          <p:cNvSpPr/>
          <p:nvPr/>
        </p:nvSpPr>
        <p:spPr>
          <a:xfrm>
            <a:off x="189561" y="4160520"/>
            <a:ext cx="1928020" cy="457994"/>
          </a:xfrm>
          <a:prstGeom prst="rect">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E851901E-3BB7-9904-0F68-C7D7A5A74FA5}"/>
              </a:ext>
            </a:extLst>
          </p:cNvPr>
          <p:cNvSpPr/>
          <p:nvPr/>
        </p:nvSpPr>
        <p:spPr>
          <a:xfrm>
            <a:off x="267989" y="4160520"/>
            <a:ext cx="1928020"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AB038EBC-02BC-F40C-5FE2-6285FB0F204E}"/>
              </a:ext>
            </a:extLst>
          </p:cNvPr>
          <p:cNvSpPr/>
          <p:nvPr/>
        </p:nvSpPr>
        <p:spPr>
          <a:xfrm>
            <a:off x="287596" y="466344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28" name="Shape 12">
            <a:extLst>
              <a:ext uri="{FF2B5EF4-FFF2-40B4-BE49-F238E27FC236}">
                <a16:creationId xmlns:a16="http://schemas.microsoft.com/office/drawing/2014/main" id="{BA30F6C7-D1CD-09E7-DC0C-3FA3BB44E5B1}"/>
              </a:ext>
            </a:extLst>
          </p:cNvPr>
          <p:cNvSpPr/>
          <p:nvPr/>
        </p:nvSpPr>
        <p:spPr>
          <a:xfrm>
            <a:off x="2416665" y="416051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0" name="Shape 13">
            <a:extLst>
              <a:ext uri="{FF2B5EF4-FFF2-40B4-BE49-F238E27FC236}">
                <a16:creationId xmlns:a16="http://schemas.microsoft.com/office/drawing/2014/main" id="{659121F6-CEB7-DE54-A255-AE9DA69EC30D}"/>
              </a:ext>
            </a:extLst>
          </p:cNvPr>
          <p:cNvSpPr/>
          <p:nvPr/>
        </p:nvSpPr>
        <p:spPr>
          <a:xfrm>
            <a:off x="2416665" y="4160520"/>
            <a:ext cx="1928020" cy="457994"/>
          </a:xfrm>
          <a:prstGeom prst="rect">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CD166BC4-8E76-D893-25D9-28FEBE50B5FB}"/>
              </a:ext>
            </a:extLst>
          </p:cNvPr>
          <p:cNvSpPr/>
          <p:nvPr/>
        </p:nvSpPr>
        <p:spPr>
          <a:xfrm>
            <a:off x="2495093" y="416052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8A8B2574-71DC-184E-852E-34C76A28A809}"/>
              </a:ext>
            </a:extLst>
          </p:cNvPr>
          <p:cNvSpPr/>
          <p:nvPr/>
        </p:nvSpPr>
        <p:spPr>
          <a:xfrm>
            <a:off x="2514700" y="466344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6" name="Shape 16">
            <a:extLst>
              <a:ext uri="{FF2B5EF4-FFF2-40B4-BE49-F238E27FC236}">
                <a16:creationId xmlns:a16="http://schemas.microsoft.com/office/drawing/2014/main" id="{45716A52-A863-1C69-D4D4-5343989ADD40}"/>
              </a:ext>
            </a:extLst>
          </p:cNvPr>
          <p:cNvSpPr/>
          <p:nvPr/>
        </p:nvSpPr>
        <p:spPr>
          <a:xfrm>
            <a:off x="4691928" y="416051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8" name="Shape 17">
            <a:extLst>
              <a:ext uri="{FF2B5EF4-FFF2-40B4-BE49-F238E27FC236}">
                <a16:creationId xmlns:a16="http://schemas.microsoft.com/office/drawing/2014/main" id="{3A7DF8C1-7E6F-B2EE-B4E1-584064FFCCE5}"/>
              </a:ext>
            </a:extLst>
          </p:cNvPr>
          <p:cNvSpPr/>
          <p:nvPr/>
        </p:nvSpPr>
        <p:spPr>
          <a:xfrm>
            <a:off x="4691928" y="4160520"/>
            <a:ext cx="1928020" cy="457994"/>
          </a:xfrm>
          <a:prstGeom prst="rect">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3E262C11-A5C5-A003-4C45-EF917CB8F4DF}"/>
              </a:ext>
            </a:extLst>
          </p:cNvPr>
          <p:cNvSpPr/>
          <p:nvPr/>
        </p:nvSpPr>
        <p:spPr>
          <a:xfrm>
            <a:off x="4770356" y="416052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dirty="0">
              <a:latin typeface="Times New Roman" panose="02020603050405020304" pitchFamily="18" charset="0"/>
              <a:cs typeface="Times New Roman" panose="02020603050405020304" pitchFamily="18" charset="0"/>
            </a:endParaRPr>
          </a:p>
        </p:txBody>
      </p:sp>
      <p:sp>
        <p:nvSpPr>
          <p:cNvPr id="42" name="Text 19">
            <a:extLst>
              <a:ext uri="{FF2B5EF4-FFF2-40B4-BE49-F238E27FC236}">
                <a16:creationId xmlns:a16="http://schemas.microsoft.com/office/drawing/2014/main" id="{7AA3D709-F39B-6B3B-0FC3-36DB004D0A4C}"/>
              </a:ext>
            </a:extLst>
          </p:cNvPr>
          <p:cNvSpPr/>
          <p:nvPr/>
        </p:nvSpPr>
        <p:spPr>
          <a:xfrm>
            <a:off x="4789963" y="466344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
        <p:nvSpPr>
          <p:cNvPr id="44" name="Shape 20">
            <a:extLst>
              <a:ext uri="{FF2B5EF4-FFF2-40B4-BE49-F238E27FC236}">
                <a16:creationId xmlns:a16="http://schemas.microsoft.com/office/drawing/2014/main" id="{35FCA3B8-5A23-DF8C-CF3F-590EF3CDC611}"/>
              </a:ext>
            </a:extLst>
          </p:cNvPr>
          <p:cNvSpPr/>
          <p:nvPr/>
        </p:nvSpPr>
        <p:spPr>
          <a:xfrm>
            <a:off x="7008529" y="416051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6761D370-E2A6-1E2E-1EDA-1AA7601550B9}"/>
              </a:ext>
            </a:extLst>
          </p:cNvPr>
          <p:cNvSpPr/>
          <p:nvPr/>
        </p:nvSpPr>
        <p:spPr>
          <a:xfrm>
            <a:off x="7008529" y="4160520"/>
            <a:ext cx="1928020" cy="457994"/>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581ABA13-8C34-6FB9-1588-A0A4E58C4C0B}"/>
              </a:ext>
            </a:extLst>
          </p:cNvPr>
          <p:cNvSpPr/>
          <p:nvPr/>
        </p:nvSpPr>
        <p:spPr>
          <a:xfrm>
            <a:off x="7086957" y="416052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dirty="0">
              <a:latin typeface="Times New Roman" panose="02020603050405020304" pitchFamily="18" charset="0"/>
              <a:cs typeface="Times New Roman" panose="02020603050405020304" pitchFamily="18" charset="0"/>
            </a:endParaRPr>
          </a:p>
        </p:txBody>
      </p:sp>
      <p:sp>
        <p:nvSpPr>
          <p:cNvPr id="50" name="Text 23">
            <a:extLst>
              <a:ext uri="{FF2B5EF4-FFF2-40B4-BE49-F238E27FC236}">
                <a16:creationId xmlns:a16="http://schemas.microsoft.com/office/drawing/2014/main" id="{3280EB6B-6391-A986-5E78-C42884FD60B6}"/>
              </a:ext>
            </a:extLst>
          </p:cNvPr>
          <p:cNvSpPr/>
          <p:nvPr/>
        </p:nvSpPr>
        <p:spPr>
          <a:xfrm>
            <a:off x="7106564" y="466344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0861-91F1-18CA-50B7-16591F11F7DB}"/>
            </a:ext>
          </a:extLst>
        </p:cNvPr>
        <p:cNvGrpSpPr/>
        <p:nvPr/>
      </p:nvGrpSpPr>
      <p:grpSpPr>
        <a:xfrm>
          <a:off x="0" y="0"/>
          <a:ext cx="0" cy="0"/>
          <a:chOff x="0" y="0"/>
          <a:chExt cx="0" cy="0"/>
        </a:xfrm>
      </p:grpSpPr>
      <p:sp>
        <p:nvSpPr>
          <p:cNvPr id="10" name="Text 3">
            <a:extLst>
              <a:ext uri="{FF2B5EF4-FFF2-40B4-BE49-F238E27FC236}">
                <a16:creationId xmlns:a16="http://schemas.microsoft.com/office/drawing/2014/main" id="{FD65550B-D908-8FB5-1E5F-DE77E99CC1A6}"/>
              </a:ext>
            </a:extLst>
          </p:cNvPr>
          <p:cNvSpPr/>
          <p:nvPr/>
        </p:nvSpPr>
        <p:spPr>
          <a:xfrm>
            <a:off x="188289"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19D7172F-56B1-EF39-79FF-63F027EBD26E}"/>
              </a:ext>
            </a:extLst>
          </p:cNvPr>
          <p:cNvSpPr/>
          <p:nvPr/>
        </p:nvSpPr>
        <p:spPr>
          <a:xfrm flipV="1">
            <a:off x="188289" y="1920240"/>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8AEC6B70-B9FD-C30C-76A1-B00B440948DF}"/>
              </a:ext>
            </a:extLst>
          </p:cNvPr>
          <p:cNvSpPr/>
          <p:nvPr/>
        </p:nvSpPr>
        <p:spPr>
          <a:xfrm>
            <a:off x="160296"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D5CA470C-F5D3-C118-BA7E-A2987E5FA791}"/>
              </a:ext>
            </a:extLst>
          </p:cNvPr>
          <p:cNvSpPr/>
          <p:nvPr/>
        </p:nvSpPr>
        <p:spPr>
          <a:xfrm>
            <a:off x="388896"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24A631A5-123A-34DA-4DE7-E2ED68C93CD8}"/>
              </a:ext>
            </a:extLst>
          </p:cNvPr>
          <p:cNvSpPr/>
          <p:nvPr/>
        </p:nvSpPr>
        <p:spPr>
          <a:xfrm>
            <a:off x="663216"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F51FFC40-E37F-51CB-A8D0-20A84426C82E}"/>
              </a:ext>
            </a:extLst>
          </p:cNvPr>
          <p:cNvSpPr/>
          <p:nvPr/>
        </p:nvSpPr>
        <p:spPr>
          <a:xfrm>
            <a:off x="388896"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1F952B43-9F7F-BFEC-F3F2-B07548D47436}"/>
              </a:ext>
            </a:extLst>
          </p:cNvPr>
          <p:cNvSpPr/>
          <p:nvPr/>
        </p:nvSpPr>
        <p:spPr>
          <a:xfrm>
            <a:off x="663216"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A8F10815-9660-CB7F-A024-2EE61C31753A}"/>
              </a:ext>
            </a:extLst>
          </p:cNvPr>
          <p:cNvSpPr/>
          <p:nvPr/>
        </p:nvSpPr>
        <p:spPr>
          <a:xfrm>
            <a:off x="388896"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EEF3B63F-465F-FD31-DACA-D8216BC3A56E}"/>
              </a:ext>
            </a:extLst>
          </p:cNvPr>
          <p:cNvSpPr/>
          <p:nvPr/>
        </p:nvSpPr>
        <p:spPr>
          <a:xfrm>
            <a:off x="663216"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BEDDEDE9-7998-B71F-F6BD-A55F127D6A61}"/>
              </a:ext>
            </a:extLst>
          </p:cNvPr>
          <p:cNvSpPr/>
          <p:nvPr/>
        </p:nvSpPr>
        <p:spPr>
          <a:xfrm>
            <a:off x="388896"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33B1085A-B8FC-49A2-1EFF-D679AC7D7F2D}"/>
              </a:ext>
            </a:extLst>
          </p:cNvPr>
          <p:cNvSpPr/>
          <p:nvPr/>
        </p:nvSpPr>
        <p:spPr>
          <a:xfrm>
            <a:off x="663216"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04B92654-4900-724E-AA0B-1554257F2DF8}"/>
              </a:ext>
            </a:extLst>
          </p:cNvPr>
          <p:cNvSpPr/>
          <p:nvPr/>
        </p:nvSpPr>
        <p:spPr>
          <a:xfrm>
            <a:off x="5649497" y="2121407"/>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34" name="Text 15">
            <a:extLst>
              <a:ext uri="{FF2B5EF4-FFF2-40B4-BE49-F238E27FC236}">
                <a16:creationId xmlns:a16="http://schemas.microsoft.com/office/drawing/2014/main" id="{CE52F9FF-2DDC-BFCC-2CC7-8A80665FAAC1}"/>
              </a:ext>
            </a:extLst>
          </p:cNvPr>
          <p:cNvSpPr/>
          <p:nvPr/>
        </p:nvSpPr>
        <p:spPr>
          <a:xfrm>
            <a:off x="5786657" y="2194559"/>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92</a:t>
            </a:r>
            <a:endParaRPr lang="en-US" sz="3000" dirty="0"/>
          </a:p>
        </p:txBody>
      </p:sp>
      <p:sp>
        <p:nvSpPr>
          <p:cNvPr id="36" name="Text 16">
            <a:extLst>
              <a:ext uri="{FF2B5EF4-FFF2-40B4-BE49-F238E27FC236}">
                <a16:creationId xmlns:a16="http://schemas.microsoft.com/office/drawing/2014/main" id="{498BDCF6-AB29-A5BA-CD69-2752E6BCA00D}"/>
              </a:ext>
            </a:extLst>
          </p:cNvPr>
          <p:cNvSpPr/>
          <p:nvPr/>
        </p:nvSpPr>
        <p:spPr>
          <a:xfrm>
            <a:off x="6868984" y="2230656"/>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MSMEs surveyed by Aree &amp; Ueasangkomsate (2025) confirmed budget and know-how are the top barriers to AI adoption in food supply chains</a:t>
            </a:r>
            <a:endParaRPr lang="en-US" sz="1400" dirty="0"/>
          </a:p>
        </p:txBody>
      </p:sp>
      <p:sp>
        <p:nvSpPr>
          <p:cNvPr id="38" name="Shape 17">
            <a:extLst>
              <a:ext uri="{FF2B5EF4-FFF2-40B4-BE49-F238E27FC236}">
                <a16:creationId xmlns:a16="http://schemas.microsoft.com/office/drawing/2014/main" id="{86EA6D05-FE26-7827-15B8-BA34B184BF63}"/>
              </a:ext>
            </a:extLst>
          </p:cNvPr>
          <p:cNvSpPr/>
          <p:nvPr/>
        </p:nvSpPr>
        <p:spPr>
          <a:xfrm>
            <a:off x="5649497" y="3586317"/>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23D751DB-73BC-D75D-2768-FFC311435FCA}"/>
              </a:ext>
            </a:extLst>
          </p:cNvPr>
          <p:cNvSpPr/>
          <p:nvPr/>
        </p:nvSpPr>
        <p:spPr>
          <a:xfrm>
            <a:off x="5786657" y="3659469"/>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20DF5555-E377-A9FF-0D06-0D74990FC97E}"/>
              </a:ext>
            </a:extLst>
          </p:cNvPr>
          <p:cNvSpPr/>
          <p:nvPr/>
        </p:nvSpPr>
        <p:spPr>
          <a:xfrm>
            <a:off x="6868983" y="3675140"/>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perceived ease of use and digital-transformation readiness among 132 SME retail users (Janchidfah et al., 2026)</a:t>
            </a:r>
            <a:endParaRPr lang="en-US" sz="1400" dirty="0"/>
          </a:p>
        </p:txBody>
      </p:sp>
      <p:sp>
        <p:nvSpPr>
          <p:cNvPr id="44" name="Shape 20">
            <a:extLst>
              <a:ext uri="{FF2B5EF4-FFF2-40B4-BE49-F238E27FC236}">
                <a16:creationId xmlns:a16="http://schemas.microsoft.com/office/drawing/2014/main" id="{391F1E53-346D-385B-664E-A050A7DEBF1D}"/>
              </a:ext>
            </a:extLst>
          </p:cNvPr>
          <p:cNvSpPr/>
          <p:nvPr/>
        </p:nvSpPr>
        <p:spPr>
          <a:xfrm>
            <a:off x="5640166" y="504189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6" name="Text 21">
            <a:extLst>
              <a:ext uri="{FF2B5EF4-FFF2-40B4-BE49-F238E27FC236}">
                <a16:creationId xmlns:a16="http://schemas.microsoft.com/office/drawing/2014/main" id="{F6E305AC-A5EA-CDCB-F70F-12B5D7FAF234}"/>
              </a:ext>
            </a:extLst>
          </p:cNvPr>
          <p:cNvSpPr/>
          <p:nvPr/>
        </p:nvSpPr>
        <p:spPr>
          <a:xfrm>
            <a:off x="5777326" y="511504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30–40%</a:t>
            </a:r>
            <a:endParaRPr lang="en-US" sz="3000" dirty="0"/>
          </a:p>
        </p:txBody>
      </p:sp>
      <p:sp>
        <p:nvSpPr>
          <p:cNvPr id="48" name="Text 22">
            <a:extLst>
              <a:ext uri="{FF2B5EF4-FFF2-40B4-BE49-F238E27FC236}">
                <a16:creationId xmlns:a16="http://schemas.microsoft.com/office/drawing/2014/main" id="{86DBDFF7-2C86-4EA2-41E5-1E8798F9E616}"/>
              </a:ext>
            </a:extLst>
          </p:cNvPr>
          <p:cNvSpPr/>
          <p:nvPr/>
        </p:nvSpPr>
        <p:spPr>
          <a:xfrm>
            <a:off x="6882236" y="516656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unaccounted weather effects (Jain et al., 2024)</a:t>
            </a:r>
            <a:endParaRPr lang="en-US" sz="1400" dirty="0"/>
          </a:p>
        </p:txBody>
      </p:sp>
    </p:spTree>
    <p:extLst>
      <p:ext uri="{BB962C8B-B14F-4D97-AF65-F5344CB8AC3E}">
        <p14:creationId xmlns:p14="http://schemas.microsoft.com/office/powerpoint/2010/main" val="40528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40DF-F3B7-2377-E3C4-E5B4AD6A63E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2D59B2F9-CB4E-3E9F-3CE2-9E8DE9D4F4BD}"/>
              </a:ext>
            </a:extLst>
          </p:cNvPr>
          <p:cNvSpPr/>
          <p:nvPr/>
        </p:nvSpPr>
        <p:spPr>
          <a:xfrm>
            <a:off x="185671"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5" name="Shape 4">
            <a:extLst>
              <a:ext uri="{FF2B5EF4-FFF2-40B4-BE49-F238E27FC236}">
                <a16:creationId xmlns:a16="http://schemas.microsoft.com/office/drawing/2014/main" id="{90F8F69B-723C-81B5-EC95-6039E6F35252}"/>
              </a:ext>
            </a:extLst>
          </p:cNvPr>
          <p:cNvSpPr/>
          <p:nvPr/>
        </p:nvSpPr>
        <p:spPr>
          <a:xfrm>
            <a:off x="382554" y="1920241"/>
            <a:ext cx="8332237" cy="21336"/>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407D2C39-FC3E-0843-87C2-5C3234FF3AEC}"/>
              </a:ext>
            </a:extLst>
          </p:cNvPr>
          <p:cNvSpPr/>
          <p:nvPr/>
        </p:nvSpPr>
        <p:spPr>
          <a:xfrm>
            <a:off x="117196" y="2121408"/>
            <a:ext cx="2130312" cy="3977640"/>
          </a:xfrm>
          <a:prstGeom prst="rect">
            <a:avLst/>
          </a:prstGeom>
          <a:solidFill>
            <a:srgbClr val="F7F5F4"/>
          </a:solidFill>
          <a:ln w="12700">
            <a:solidFill>
              <a:srgbClr val="E0DAD8"/>
            </a:solidFill>
            <a:prstDash val="solid"/>
          </a:ln>
        </p:spPr>
        <p:txBody>
          <a:bodyPr/>
          <a:lstStyle/>
          <a:p>
            <a:endParaRPr lang="en-IN"/>
          </a:p>
        </p:txBody>
      </p:sp>
      <p:sp>
        <p:nvSpPr>
          <p:cNvPr id="9" name="Text 6">
            <a:extLst>
              <a:ext uri="{FF2B5EF4-FFF2-40B4-BE49-F238E27FC236}">
                <a16:creationId xmlns:a16="http://schemas.microsoft.com/office/drawing/2014/main" id="{5B14B268-5F0C-CBA8-07EC-9CF7A79D68CA}"/>
              </a:ext>
            </a:extLst>
          </p:cNvPr>
          <p:cNvSpPr/>
          <p:nvPr/>
        </p:nvSpPr>
        <p:spPr>
          <a:xfrm>
            <a:off x="18801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01</a:t>
            </a:r>
            <a:endParaRPr lang="en-US" sz="3400" dirty="0"/>
          </a:p>
        </p:txBody>
      </p:sp>
      <p:sp>
        <p:nvSpPr>
          <p:cNvPr id="11" name="Text 7">
            <a:extLst>
              <a:ext uri="{FF2B5EF4-FFF2-40B4-BE49-F238E27FC236}">
                <a16:creationId xmlns:a16="http://schemas.microsoft.com/office/drawing/2014/main" id="{7B320A7A-92F1-69E2-32A2-1781BFEC8D23}"/>
              </a:ext>
            </a:extLst>
          </p:cNvPr>
          <p:cNvSpPr/>
          <p:nvPr/>
        </p:nvSpPr>
        <p:spPr>
          <a:xfrm>
            <a:off x="185671" y="2988218"/>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Design and Develop</a:t>
            </a:r>
            <a:endParaRPr lang="en-US" sz="2000" dirty="0"/>
          </a:p>
        </p:txBody>
      </p:sp>
      <p:sp>
        <p:nvSpPr>
          <p:cNvPr id="13" name="Text 8">
            <a:extLst>
              <a:ext uri="{FF2B5EF4-FFF2-40B4-BE49-F238E27FC236}">
                <a16:creationId xmlns:a16="http://schemas.microsoft.com/office/drawing/2014/main" id="{2A5E2BB8-2628-4465-D695-11458FDD85D9}"/>
              </a:ext>
            </a:extLst>
          </p:cNvPr>
          <p:cNvSpPr/>
          <p:nvPr/>
        </p:nvSpPr>
        <p:spPr>
          <a:xfrm>
            <a:off x="225261" y="3903447"/>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Design and develop a Prophet-based forecasting model that predicts daily item-level sales using weather and public-holiday regressors.</a:t>
            </a:r>
          </a:p>
        </p:txBody>
      </p:sp>
      <p:sp>
        <p:nvSpPr>
          <p:cNvPr id="15" name="Shape 9">
            <a:extLst>
              <a:ext uri="{FF2B5EF4-FFF2-40B4-BE49-F238E27FC236}">
                <a16:creationId xmlns:a16="http://schemas.microsoft.com/office/drawing/2014/main" id="{FD1739BD-52B3-7FCA-AA58-789C144FA1FD}"/>
              </a:ext>
            </a:extLst>
          </p:cNvPr>
          <p:cNvSpPr/>
          <p:nvPr/>
        </p:nvSpPr>
        <p:spPr>
          <a:xfrm>
            <a:off x="2373336" y="2121408"/>
            <a:ext cx="2130312" cy="3977640"/>
          </a:xfrm>
          <a:prstGeom prst="rect">
            <a:avLst/>
          </a:prstGeom>
          <a:solidFill>
            <a:srgbClr val="FFFFFF"/>
          </a:solidFill>
          <a:ln w="12700">
            <a:solidFill>
              <a:srgbClr val="E0DAD8"/>
            </a:solidFill>
            <a:prstDash val="solid"/>
          </a:ln>
        </p:spPr>
        <p:txBody>
          <a:bodyPr/>
          <a:lstStyle/>
          <a:p>
            <a:endParaRPr lang="en-IN"/>
          </a:p>
        </p:txBody>
      </p:sp>
      <p:sp>
        <p:nvSpPr>
          <p:cNvPr id="17" name="Text 10">
            <a:extLst>
              <a:ext uri="{FF2B5EF4-FFF2-40B4-BE49-F238E27FC236}">
                <a16:creationId xmlns:a16="http://schemas.microsoft.com/office/drawing/2014/main" id="{37237DA6-8886-5778-CAA7-68A24F86FFC6}"/>
              </a:ext>
            </a:extLst>
          </p:cNvPr>
          <p:cNvSpPr/>
          <p:nvPr/>
        </p:nvSpPr>
        <p:spPr>
          <a:xfrm>
            <a:off x="244415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02</a:t>
            </a:r>
            <a:endParaRPr lang="en-US" sz="3400" dirty="0"/>
          </a:p>
        </p:txBody>
      </p:sp>
      <p:sp>
        <p:nvSpPr>
          <p:cNvPr id="19" name="Text 11">
            <a:extLst>
              <a:ext uri="{FF2B5EF4-FFF2-40B4-BE49-F238E27FC236}">
                <a16:creationId xmlns:a16="http://schemas.microsoft.com/office/drawing/2014/main" id="{53874B1D-A132-69C6-02E0-BF645510C285}"/>
              </a:ext>
            </a:extLst>
          </p:cNvPr>
          <p:cNvSpPr/>
          <p:nvPr/>
        </p:nvSpPr>
        <p:spPr>
          <a:xfrm>
            <a:off x="2444154" y="2988218"/>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Analyze and Translate</a:t>
            </a:r>
            <a:endParaRPr lang="en-US" sz="2000" dirty="0"/>
          </a:p>
        </p:txBody>
      </p:sp>
      <p:sp>
        <p:nvSpPr>
          <p:cNvPr id="21" name="Text 12">
            <a:extLst>
              <a:ext uri="{FF2B5EF4-FFF2-40B4-BE49-F238E27FC236}">
                <a16:creationId xmlns:a16="http://schemas.microsoft.com/office/drawing/2014/main" id="{08ED692C-45A1-8E9C-182B-E9F296F4CF75}"/>
              </a:ext>
            </a:extLst>
          </p:cNvPr>
          <p:cNvSpPr/>
          <p:nvPr/>
        </p:nvSpPr>
        <p:spPr>
          <a:xfrm>
            <a:off x="2481401" y="3903447"/>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Analyze raw point forecasts and translate them into concrete restock quantities through a configurable safety-stock buffer layer.</a:t>
            </a:r>
          </a:p>
        </p:txBody>
      </p:sp>
      <p:sp>
        <p:nvSpPr>
          <p:cNvPr id="23" name="Shape 13">
            <a:extLst>
              <a:ext uri="{FF2B5EF4-FFF2-40B4-BE49-F238E27FC236}">
                <a16:creationId xmlns:a16="http://schemas.microsoft.com/office/drawing/2014/main" id="{D67F7F1E-1943-DEE6-0985-652A22DCC2C7}"/>
              </a:ext>
            </a:extLst>
          </p:cNvPr>
          <p:cNvSpPr/>
          <p:nvPr/>
        </p:nvSpPr>
        <p:spPr>
          <a:xfrm>
            <a:off x="4648131" y="2121408"/>
            <a:ext cx="2130312" cy="3977640"/>
          </a:xfrm>
          <a:prstGeom prst="rect">
            <a:avLst/>
          </a:prstGeom>
          <a:solidFill>
            <a:srgbClr val="F7F5F4"/>
          </a:solidFill>
          <a:ln w="12700">
            <a:solidFill>
              <a:srgbClr val="E0DAD8"/>
            </a:solidFill>
            <a:prstDash val="solid"/>
          </a:ln>
        </p:spPr>
        <p:txBody>
          <a:bodyPr/>
          <a:lstStyle/>
          <a:p>
            <a:endParaRPr lang="en-IN" dirty="0"/>
          </a:p>
        </p:txBody>
      </p:sp>
      <p:sp>
        <p:nvSpPr>
          <p:cNvPr id="25" name="Text 14">
            <a:extLst>
              <a:ext uri="{FF2B5EF4-FFF2-40B4-BE49-F238E27FC236}">
                <a16:creationId xmlns:a16="http://schemas.microsoft.com/office/drawing/2014/main" id="{8594A1B2-5D85-F593-6275-D8A614D130B8}"/>
              </a:ext>
            </a:extLst>
          </p:cNvPr>
          <p:cNvSpPr/>
          <p:nvPr/>
        </p:nvSpPr>
        <p:spPr>
          <a:xfrm>
            <a:off x="4718949"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03</a:t>
            </a:r>
            <a:endParaRPr lang="en-US" sz="3400" dirty="0"/>
          </a:p>
        </p:txBody>
      </p:sp>
      <p:sp>
        <p:nvSpPr>
          <p:cNvPr id="27" name="Text 15">
            <a:extLst>
              <a:ext uri="{FF2B5EF4-FFF2-40B4-BE49-F238E27FC236}">
                <a16:creationId xmlns:a16="http://schemas.microsoft.com/office/drawing/2014/main" id="{C0F699A6-C7D8-2846-92CA-230142454265}"/>
              </a:ext>
            </a:extLst>
          </p:cNvPr>
          <p:cNvSpPr/>
          <p:nvPr/>
        </p:nvSpPr>
        <p:spPr>
          <a:xfrm>
            <a:off x="4718949" y="2972912"/>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Implement</a:t>
            </a:r>
            <a:endParaRPr lang="en-US" sz="2000" dirty="0"/>
          </a:p>
        </p:txBody>
      </p:sp>
      <p:sp>
        <p:nvSpPr>
          <p:cNvPr id="29" name="Text 16">
            <a:extLst>
              <a:ext uri="{FF2B5EF4-FFF2-40B4-BE49-F238E27FC236}">
                <a16:creationId xmlns:a16="http://schemas.microsoft.com/office/drawing/2014/main" id="{958F3B07-D13D-3546-4EF2-FFD2240F077A}"/>
              </a:ext>
            </a:extLst>
          </p:cNvPr>
          <p:cNvSpPr/>
          <p:nvPr/>
        </p:nvSpPr>
        <p:spPr>
          <a:xfrm>
            <a:off x="4756196" y="3903447"/>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Implement the system as a Flutter mobile app that requires no technical setup or IT support from the business owner.</a:t>
            </a:r>
          </a:p>
        </p:txBody>
      </p:sp>
      <p:sp>
        <p:nvSpPr>
          <p:cNvPr id="31" name="Shape 17">
            <a:extLst>
              <a:ext uri="{FF2B5EF4-FFF2-40B4-BE49-F238E27FC236}">
                <a16:creationId xmlns:a16="http://schemas.microsoft.com/office/drawing/2014/main" id="{707D4ADA-3A1E-F2CC-5C5F-66A65EEA976E}"/>
              </a:ext>
            </a:extLst>
          </p:cNvPr>
          <p:cNvSpPr/>
          <p:nvPr/>
        </p:nvSpPr>
        <p:spPr>
          <a:xfrm>
            <a:off x="6903751" y="2121408"/>
            <a:ext cx="2154825" cy="3977640"/>
          </a:xfrm>
          <a:prstGeom prst="rect">
            <a:avLst/>
          </a:prstGeom>
          <a:solidFill>
            <a:srgbClr val="FFFFFF"/>
          </a:solidFill>
          <a:ln w="12700">
            <a:solidFill>
              <a:srgbClr val="E0DAD8"/>
            </a:solidFill>
            <a:prstDash val="solid"/>
          </a:ln>
        </p:spPr>
        <p:txBody>
          <a:bodyPr/>
          <a:lstStyle/>
          <a:p>
            <a:endParaRPr lang="en-IN"/>
          </a:p>
        </p:txBody>
      </p:sp>
      <p:sp>
        <p:nvSpPr>
          <p:cNvPr id="33" name="Text 18">
            <a:extLst>
              <a:ext uri="{FF2B5EF4-FFF2-40B4-BE49-F238E27FC236}">
                <a16:creationId xmlns:a16="http://schemas.microsoft.com/office/drawing/2014/main" id="{7811C37F-03D4-3813-40DC-F7CDE0669731}"/>
              </a:ext>
            </a:extLst>
          </p:cNvPr>
          <p:cNvSpPr/>
          <p:nvPr/>
        </p:nvSpPr>
        <p:spPr>
          <a:xfrm>
            <a:off x="6965756"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04</a:t>
            </a:r>
            <a:endParaRPr lang="en-US" sz="3400" dirty="0"/>
          </a:p>
        </p:txBody>
      </p:sp>
      <p:sp>
        <p:nvSpPr>
          <p:cNvPr id="35" name="Text 19">
            <a:extLst>
              <a:ext uri="{FF2B5EF4-FFF2-40B4-BE49-F238E27FC236}">
                <a16:creationId xmlns:a16="http://schemas.microsoft.com/office/drawing/2014/main" id="{F437B384-820A-72EB-E654-0FF01B6CE12F}"/>
              </a:ext>
            </a:extLst>
          </p:cNvPr>
          <p:cNvSpPr/>
          <p:nvPr/>
        </p:nvSpPr>
        <p:spPr>
          <a:xfrm>
            <a:off x="6965756" y="2986348"/>
            <a:ext cx="227473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Evaluate</a:t>
            </a:r>
            <a:endParaRPr lang="en-US" sz="2000" dirty="0"/>
          </a:p>
        </p:txBody>
      </p:sp>
      <p:sp>
        <p:nvSpPr>
          <p:cNvPr id="37" name="Text 20">
            <a:extLst>
              <a:ext uri="{FF2B5EF4-FFF2-40B4-BE49-F238E27FC236}">
                <a16:creationId xmlns:a16="http://schemas.microsoft.com/office/drawing/2014/main" id="{3D981425-E54D-002B-30E3-CDA462CDB66D}"/>
              </a:ext>
            </a:extLst>
          </p:cNvPr>
          <p:cNvSpPr/>
          <p:nvPr/>
        </p:nvSpPr>
        <p:spPr>
          <a:xfrm>
            <a:off x="7003003" y="3903447"/>
            <a:ext cx="2180881" cy="209296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Evaluate model performance by benchmarking Prophet against a Random Forest baseline on public SME-representative datasets, reporting accuracy honestly.</a:t>
            </a:r>
          </a:p>
        </p:txBody>
      </p:sp>
    </p:spTree>
    <p:extLst>
      <p:ext uri="{BB962C8B-B14F-4D97-AF65-F5344CB8AC3E}">
        <p14:creationId xmlns:p14="http://schemas.microsoft.com/office/powerpoint/2010/main" val="33036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6882-F524-CA0D-52C2-F7F4C0EFBCB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DFCEF03-E019-F70F-64B8-1C9071FB3F23}"/>
              </a:ext>
            </a:extLst>
          </p:cNvPr>
          <p:cNvSpPr/>
          <p:nvPr/>
        </p:nvSpPr>
        <p:spPr>
          <a:xfrm>
            <a:off x="240962" y="1325880"/>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5" name="Shape 4">
            <a:extLst>
              <a:ext uri="{FF2B5EF4-FFF2-40B4-BE49-F238E27FC236}">
                <a16:creationId xmlns:a16="http://schemas.microsoft.com/office/drawing/2014/main" id="{11186E34-1420-C9D9-F19F-2D9DA1EF957F}"/>
              </a:ext>
            </a:extLst>
          </p:cNvPr>
          <p:cNvSpPr/>
          <p:nvPr/>
        </p:nvSpPr>
        <p:spPr>
          <a:xfrm>
            <a:off x="240962" y="1938528"/>
            <a:ext cx="9192111"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3AC13216-E833-945B-26AD-1751DBF481A1}"/>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(3 Months Build)</a:t>
            </a:r>
            <a:endParaRPr lang="en-US" sz="2400" dirty="0"/>
          </a:p>
        </p:txBody>
      </p:sp>
      <p:sp>
        <p:nvSpPr>
          <p:cNvPr id="9" name="Text 6">
            <a:extLst>
              <a:ext uri="{FF2B5EF4-FFF2-40B4-BE49-F238E27FC236}">
                <a16:creationId xmlns:a16="http://schemas.microsoft.com/office/drawing/2014/main" id="{D776297C-6C1F-3C91-F6A5-7E21799DAA5D}"/>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chemeClr val="bg2"/>
                </a:solidFill>
                <a:latin typeface="Calibri" pitchFamily="34" charset="0"/>
                <a:ea typeface="Calibri" pitchFamily="34" charset="-122"/>
                <a:cs typeface="Calibri" pitchFamily="34" charset="-120"/>
              </a:rPr>
              <a:t>Out of Scope (This Phase)</a:t>
            </a:r>
            <a:endParaRPr lang="en-US" sz="2400" dirty="0">
              <a:solidFill>
                <a:schemeClr val="bg2"/>
              </a:solidFill>
            </a:endParaRPr>
          </a:p>
        </p:txBody>
      </p:sp>
      <p:sp>
        <p:nvSpPr>
          <p:cNvPr id="11" name="Shape 7">
            <a:extLst>
              <a:ext uri="{FF2B5EF4-FFF2-40B4-BE49-F238E27FC236}">
                <a16:creationId xmlns:a16="http://schemas.microsoft.com/office/drawing/2014/main" id="{DA90CEFB-5B91-8B5F-9CB0-8B7DCBBF4AA1}"/>
              </a:ext>
            </a:extLst>
          </p:cNvPr>
          <p:cNvSpPr/>
          <p:nvPr/>
        </p:nvSpPr>
        <p:spPr>
          <a:xfrm>
            <a:off x="132155" y="2679192"/>
            <a:ext cx="90414" cy="109728"/>
          </a:xfrm>
          <a:prstGeom prst="ellipse">
            <a:avLst/>
          </a:prstGeom>
          <a:solidFill>
            <a:srgbClr val="BC312C"/>
          </a:solidFill>
          <a:ln/>
        </p:spPr>
        <p:txBody>
          <a:bodyPr/>
          <a:lstStyle/>
          <a:p>
            <a:endParaRPr lang="en-IN"/>
          </a:p>
        </p:txBody>
      </p:sp>
      <p:sp>
        <p:nvSpPr>
          <p:cNvPr id="13" name="Text 8">
            <a:extLst>
              <a:ext uri="{FF2B5EF4-FFF2-40B4-BE49-F238E27FC236}">
                <a16:creationId xmlns:a16="http://schemas.microsoft.com/office/drawing/2014/main" id="{CC2D28A1-A155-3CF9-B7AF-A1C442037D9B}"/>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15" name="Shape 9">
            <a:extLst>
              <a:ext uri="{FF2B5EF4-FFF2-40B4-BE49-F238E27FC236}">
                <a16:creationId xmlns:a16="http://schemas.microsoft.com/office/drawing/2014/main" id="{4BA02C49-B130-FF25-8E26-EE519C7DDB98}"/>
              </a:ext>
            </a:extLst>
          </p:cNvPr>
          <p:cNvSpPr/>
          <p:nvPr/>
        </p:nvSpPr>
        <p:spPr>
          <a:xfrm>
            <a:off x="132155" y="3246120"/>
            <a:ext cx="90414" cy="109728"/>
          </a:xfrm>
          <a:prstGeom prst="ellipse">
            <a:avLst/>
          </a:prstGeom>
          <a:solidFill>
            <a:srgbClr val="BC312C"/>
          </a:solidFill>
          <a:ln/>
        </p:spPr>
        <p:txBody>
          <a:bodyPr/>
          <a:lstStyle/>
          <a:p>
            <a:endParaRPr lang="en-IN"/>
          </a:p>
        </p:txBody>
      </p:sp>
      <p:sp>
        <p:nvSpPr>
          <p:cNvPr id="17" name="Text 10">
            <a:extLst>
              <a:ext uri="{FF2B5EF4-FFF2-40B4-BE49-F238E27FC236}">
                <a16:creationId xmlns:a16="http://schemas.microsoft.com/office/drawing/2014/main" id="{05583CBF-A46D-0050-80BE-A791EE859B53}"/>
              </a:ext>
            </a:extLst>
          </p:cNvPr>
          <p:cNvSpPr/>
          <p:nvPr/>
        </p:nvSpPr>
        <p:spPr>
          <a:xfrm>
            <a:off x="535054" y="3136392"/>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19" name="Shape 11">
            <a:extLst>
              <a:ext uri="{FF2B5EF4-FFF2-40B4-BE49-F238E27FC236}">
                <a16:creationId xmlns:a16="http://schemas.microsoft.com/office/drawing/2014/main" id="{73A6D0FF-3D89-26D1-A870-633B1ABAC005}"/>
              </a:ext>
            </a:extLst>
          </p:cNvPr>
          <p:cNvSpPr/>
          <p:nvPr/>
        </p:nvSpPr>
        <p:spPr>
          <a:xfrm>
            <a:off x="132155" y="3813048"/>
            <a:ext cx="90414" cy="109728"/>
          </a:xfrm>
          <a:prstGeom prst="ellipse">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E4DA7081-9A26-9A2D-A0B2-3AE10E54AFB0}"/>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23" name="Shape 13">
            <a:extLst>
              <a:ext uri="{FF2B5EF4-FFF2-40B4-BE49-F238E27FC236}">
                <a16:creationId xmlns:a16="http://schemas.microsoft.com/office/drawing/2014/main" id="{EBC26AFF-6CFE-8B87-A56C-614BF08C3551}"/>
              </a:ext>
            </a:extLst>
          </p:cNvPr>
          <p:cNvSpPr/>
          <p:nvPr/>
        </p:nvSpPr>
        <p:spPr>
          <a:xfrm>
            <a:off x="132155" y="4379976"/>
            <a:ext cx="90414" cy="109728"/>
          </a:xfrm>
          <a:prstGeom prst="ellipse">
            <a:avLst/>
          </a:prstGeom>
          <a:solidFill>
            <a:srgbClr val="BC312C"/>
          </a:solidFill>
          <a:ln/>
        </p:spPr>
        <p:txBody>
          <a:bodyPr/>
          <a:lstStyle/>
          <a:p>
            <a:endParaRPr lang="en-IN"/>
          </a:p>
        </p:txBody>
      </p:sp>
      <p:sp>
        <p:nvSpPr>
          <p:cNvPr id="25" name="Text 14">
            <a:extLst>
              <a:ext uri="{FF2B5EF4-FFF2-40B4-BE49-F238E27FC236}">
                <a16:creationId xmlns:a16="http://schemas.microsoft.com/office/drawing/2014/main" id="{2D5BE1AE-0B76-199A-6C17-9461978D5222}"/>
              </a:ext>
            </a:extLst>
          </p:cNvPr>
          <p:cNvSpPr/>
          <p:nvPr/>
        </p:nvSpPr>
        <p:spPr>
          <a:xfrm>
            <a:off x="535054" y="4270248"/>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27" name="Shape 15">
            <a:extLst>
              <a:ext uri="{FF2B5EF4-FFF2-40B4-BE49-F238E27FC236}">
                <a16:creationId xmlns:a16="http://schemas.microsoft.com/office/drawing/2014/main" id="{831DF2B3-D03A-D0AF-C394-61F4462FF6AE}"/>
              </a:ext>
            </a:extLst>
          </p:cNvPr>
          <p:cNvSpPr/>
          <p:nvPr/>
        </p:nvSpPr>
        <p:spPr>
          <a:xfrm>
            <a:off x="132155" y="4946904"/>
            <a:ext cx="90414" cy="109728"/>
          </a:xfrm>
          <a:prstGeom prst="ellipse">
            <a:avLst/>
          </a:prstGeom>
          <a:solidFill>
            <a:srgbClr val="BC312C"/>
          </a:solidFill>
          <a:ln/>
        </p:spPr>
        <p:txBody>
          <a:bodyPr/>
          <a:lstStyle/>
          <a:p>
            <a:endParaRPr lang="en-IN"/>
          </a:p>
        </p:txBody>
      </p:sp>
      <p:sp>
        <p:nvSpPr>
          <p:cNvPr id="29" name="Text 16">
            <a:extLst>
              <a:ext uri="{FF2B5EF4-FFF2-40B4-BE49-F238E27FC236}">
                <a16:creationId xmlns:a16="http://schemas.microsoft.com/office/drawing/2014/main" id="{3F587695-AB73-CBED-D5A2-37B83EE3A07A}"/>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1" name="Shape 17">
            <a:extLst>
              <a:ext uri="{FF2B5EF4-FFF2-40B4-BE49-F238E27FC236}">
                <a16:creationId xmlns:a16="http://schemas.microsoft.com/office/drawing/2014/main" id="{4395BCCD-B94C-9119-3039-31C8A2587D9F}"/>
              </a:ext>
            </a:extLst>
          </p:cNvPr>
          <p:cNvSpPr/>
          <p:nvPr/>
        </p:nvSpPr>
        <p:spPr>
          <a:xfrm>
            <a:off x="132155" y="5513832"/>
            <a:ext cx="90414" cy="109728"/>
          </a:xfrm>
          <a:prstGeom prst="ellipse">
            <a:avLst/>
          </a:prstGeom>
          <a:solidFill>
            <a:srgbClr val="BC312C"/>
          </a:solidFill>
          <a:ln/>
        </p:spPr>
        <p:txBody>
          <a:bodyPr/>
          <a:lstStyle/>
          <a:p>
            <a:endParaRPr lang="en-IN"/>
          </a:p>
        </p:txBody>
      </p:sp>
      <p:sp>
        <p:nvSpPr>
          <p:cNvPr id="33" name="Text 18">
            <a:extLst>
              <a:ext uri="{FF2B5EF4-FFF2-40B4-BE49-F238E27FC236}">
                <a16:creationId xmlns:a16="http://schemas.microsoft.com/office/drawing/2014/main" id="{1B47DFE6-1124-BE85-4E65-4617D179135B}"/>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35" name="Shape 19">
            <a:extLst>
              <a:ext uri="{FF2B5EF4-FFF2-40B4-BE49-F238E27FC236}">
                <a16:creationId xmlns:a16="http://schemas.microsoft.com/office/drawing/2014/main" id="{6084FC5E-9066-B78E-6A90-077F60C54014}"/>
              </a:ext>
            </a:extLst>
          </p:cNvPr>
          <p:cNvSpPr/>
          <p:nvPr/>
        </p:nvSpPr>
        <p:spPr>
          <a:xfrm>
            <a:off x="5070730" y="2679192"/>
            <a:ext cx="90414" cy="109728"/>
          </a:xfrm>
          <a:prstGeom prst="ellipse">
            <a:avLst/>
          </a:prstGeom>
          <a:solidFill>
            <a:srgbClr val="6B6B6B"/>
          </a:solidFill>
          <a:ln/>
        </p:spPr>
        <p:txBody>
          <a:bodyPr/>
          <a:lstStyle/>
          <a:p>
            <a:endParaRPr lang="en-IN"/>
          </a:p>
        </p:txBody>
      </p:sp>
      <p:sp>
        <p:nvSpPr>
          <p:cNvPr id="37" name="Text 20">
            <a:extLst>
              <a:ext uri="{FF2B5EF4-FFF2-40B4-BE49-F238E27FC236}">
                <a16:creationId xmlns:a16="http://schemas.microsoft.com/office/drawing/2014/main" id="{252610E4-D02F-45FA-B460-8CF32DE7BA8D}"/>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39" name="Shape 21">
            <a:extLst>
              <a:ext uri="{FF2B5EF4-FFF2-40B4-BE49-F238E27FC236}">
                <a16:creationId xmlns:a16="http://schemas.microsoft.com/office/drawing/2014/main" id="{B616014C-F32D-7004-DE87-804AD62B12E6}"/>
              </a:ext>
            </a:extLst>
          </p:cNvPr>
          <p:cNvSpPr/>
          <p:nvPr/>
        </p:nvSpPr>
        <p:spPr>
          <a:xfrm>
            <a:off x="5070730" y="3246120"/>
            <a:ext cx="90414" cy="109728"/>
          </a:xfrm>
          <a:prstGeom prst="ellipse">
            <a:avLst/>
          </a:prstGeom>
          <a:solidFill>
            <a:srgbClr val="6B6B6B"/>
          </a:solidFill>
          <a:ln/>
        </p:spPr>
        <p:txBody>
          <a:bodyPr/>
          <a:lstStyle/>
          <a:p>
            <a:endParaRPr lang="en-IN"/>
          </a:p>
        </p:txBody>
      </p:sp>
      <p:sp>
        <p:nvSpPr>
          <p:cNvPr id="41" name="Text 22">
            <a:extLst>
              <a:ext uri="{FF2B5EF4-FFF2-40B4-BE49-F238E27FC236}">
                <a16:creationId xmlns:a16="http://schemas.microsoft.com/office/drawing/2014/main" id="{F4CDE7E1-F90B-E302-49E4-B45CCF1F926E}"/>
              </a:ext>
            </a:extLst>
          </p:cNvPr>
          <p:cNvSpPr/>
          <p:nvPr/>
        </p:nvSpPr>
        <p:spPr>
          <a:xfrm>
            <a:off x="5418476" y="3136392"/>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43" name="Shape 23">
            <a:extLst>
              <a:ext uri="{FF2B5EF4-FFF2-40B4-BE49-F238E27FC236}">
                <a16:creationId xmlns:a16="http://schemas.microsoft.com/office/drawing/2014/main" id="{873478B6-32AF-E81E-86C3-10D0BB3363E1}"/>
              </a:ext>
            </a:extLst>
          </p:cNvPr>
          <p:cNvSpPr/>
          <p:nvPr/>
        </p:nvSpPr>
        <p:spPr>
          <a:xfrm>
            <a:off x="5070730" y="3813048"/>
            <a:ext cx="90414" cy="109728"/>
          </a:xfrm>
          <a:prstGeom prst="ellipse">
            <a:avLst/>
          </a:prstGeom>
          <a:solidFill>
            <a:srgbClr val="6B6B6B"/>
          </a:solidFill>
          <a:ln/>
        </p:spPr>
        <p:txBody>
          <a:bodyPr/>
          <a:lstStyle/>
          <a:p>
            <a:endParaRPr lang="en-IN"/>
          </a:p>
        </p:txBody>
      </p:sp>
      <p:sp>
        <p:nvSpPr>
          <p:cNvPr id="45" name="Text 24">
            <a:extLst>
              <a:ext uri="{FF2B5EF4-FFF2-40B4-BE49-F238E27FC236}">
                <a16:creationId xmlns:a16="http://schemas.microsoft.com/office/drawing/2014/main" id="{B7533885-321D-4CCD-E84C-0DBF4791DA2A}"/>
              </a:ext>
            </a:extLst>
          </p:cNvPr>
          <p:cNvSpPr/>
          <p:nvPr/>
        </p:nvSpPr>
        <p:spPr>
          <a:xfrm>
            <a:off x="5418476" y="3703320"/>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47" name="Shape 25">
            <a:extLst>
              <a:ext uri="{FF2B5EF4-FFF2-40B4-BE49-F238E27FC236}">
                <a16:creationId xmlns:a16="http://schemas.microsoft.com/office/drawing/2014/main" id="{F35211C2-8A24-4EA4-E859-BF39FF1D1CBA}"/>
              </a:ext>
            </a:extLst>
          </p:cNvPr>
          <p:cNvSpPr/>
          <p:nvPr/>
        </p:nvSpPr>
        <p:spPr>
          <a:xfrm>
            <a:off x="5070730" y="4379976"/>
            <a:ext cx="90414" cy="109728"/>
          </a:xfrm>
          <a:prstGeom prst="ellipse">
            <a:avLst/>
          </a:prstGeom>
          <a:solidFill>
            <a:srgbClr val="6B6B6B"/>
          </a:solidFill>
          <a:ln/>
        </p:spPr>
        <p:txBody>
          <a:bodyPr/>
          <a:lstStyle/>
          <a:p>
            <a:endParaRPr lang="en-IN"/>
          </a:p>
        </p:txBody>
      </p:sp>
      <p:sp>
        <p:nvSpPr>
          <p:cNvPr id="49" name="Text 26">
            <a:extLst>
              <a:ext uri="{FF2B5EF4-FFF2-40B4-BE49-F238E27FC236}">
                <a16:creationId xmlns:a16="http://schemas.microsoft.com/office/drawing/2014/main" id="{A3B92275-7D2F-6D84-41CD-1ACE5BDFB954}"/>
              </a:ext>
            </a:extLst>
          </p:cNvPr>
          <p:cNvSpPr/>
          <p:nvPr/>
        </p:nvSpPr>
        <p:spPr>
          <a:xfrm>
            <a:off x="5418476" y="4270248"/>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1" name="Shape 27">
            <a:extLst>
              <a:ext uri="{FF2B5EF4-FFF2-40B4-BE49-F238E27FC236}">
                <a16:creationId xmlns:a16="http://schemas.microsoft.com/office/drawing/2014/main" id="{767A8181-7684-1903-CB33-56695A8D1376}"/>
              </a:ext>
            </a:extLst>
          </p:cNvPr>
          <p:cNvSpPr/>
          <p:nvPr/>
        </p:nvSpPr>
        <p:spPr>
          <a:xfrm>
            <a:off x="5070730" y="4946904"/>
            <a:ext cx="90414" cy="109728"/>
          </a:xfrm>
          <a:prstGeom prst="ellipse">
            <a:avLst/>
          </a:prstGeom>
          <a:solidFill>
            <a:srgbClr val="6B6B6B"/>
          </a:solidFill>
          <a:ln/>
        </p:spPr>
        <p:txBody>
          <a:bodyPr/>
          <a:lstStyle/>
          <a:p>
            <a:endParaRPr lang="en-IN"/>
          </a:p>
        </p:txBody>
      </p:sp>
      <p:sp>
        <p:nvSpPr>
          <p:cNvPr id="53" name="Text 28">
            <a:extLst>
              <a:ext uri="{FF2B5EF4-FFF2-40B4-BE49-F238E27FC236}">
                <a16:creationId xmlns:a16="http://schemas.microsoft.com/office/drawing/2014/main" id="{4103CAFC-7DE9-9ABD-AF13-82F6EBE44B27}"/>
              </a:ext>
            </a:extLst>
          </p:cNvPr>
          <p:cNvSpPr/>
          <p:nvPr/>
        </p:nvSpPr>
        <p:spPr>
          <a:xfrm>
            <a:off x="5418476" y="48371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Generative-AI / chatbot assistant features</a:t>
            </a:r>
            <a:endParaRPr lang="en-US" sz="1600" dirty="0"/>
          </a:p>
        </p:txBody>
      </p:sp>
      <p:sp>
        <p:nvSpPr>
          <p:cNvPr id="55" name="Shape 29">
            <a:extLst>
              <a:ext uri="{FF2B5EF4-FFF2-40B4-BE49-F238E27FC236}">
                <a16:creationId xmlns:a16="http://schemas.microsoft.com/office/drawing/2014/main" id="{AB95688A-7830-F207-0399-9B76E6E07AD9}"/>
              </a:ext>
            </a:extLst>
          </p:cNvPr>
          <p:cNvSpPr/>
          <p:nvPr/>
        </p:nvSpPr>
        <p:spPr>
          <a:xfrm>
            <a:off x="5070730" y="5513832"/>
            <a:ext cx="90414" cy="109728"/>
          </a:xfrm>
          <a:prstGeom prst="ellipse">
            <a:avLst/>
          </a:prstGeom>
          <a:solidFill>
            <a:srgbClr val="6B6B6B"/>
          </a:solidFill>
          <a:ln/>
        </p:spPr>
        <p:txBody>
          <a:bodyPr/>
          <a:lstStyle/>
          <a:p>
            <a:endParaRPr lang="en-IN"/>
          </a:p>
        </p:txBody>
      </p:sp>
      <p:sp>
        <p:nvSpPr>
          <p:cNvPr id="57" name="Text 30">
            <a:extLst>
              <a:ext uri="{FF2B5EF4-FFF2-40B4-BE49-F238E27FC236}">
                <a16:creationId xmlns:a16="http://schemas.microsoft.com/office/drawing/2014/main" id="{1C9CCA96-357B-3157-F854-BA931B98BEDA}"/>
              </a:ext>
            </a:extLst>
          </p:cNvPr>
          <p:cNvSpPr/>
          <p:nvPr/>
        </p:nvSpPr>
        <p:spPr>
          <a:xfrm>
            <a:off x="5418476" y="540410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59" name="Shape 31">
            <a:extLst>
              <a:ext uri="{FF2B5EF4-FFF2-40B4-BE49-F238E27FC236}">
                <a16:creationId xmlns:a16="http://schemas.microsoft.com/office/drawing/2014/main" id="{B62518DA-DCAA-95C5-D74F-D9AD667DAB01}"/>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214932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7F02-DF32-9401-6808-3FB8D71AC38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99753E2D-95E1-4BA6-E426-B5B9682751C2}"/>
              </a:ext>
            </a:extLst>
          </p:cNvPr>
          <p:cNvSpPr/>
          <p:nvPr/>
        </p:nvSpPr>
        <p:spPr>
          <a:xfrm>
            <a:off x="120365" y="1325880"/>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5" name="Shape 4">
            <a:extLst>
              <a:ext uri="{FF2B5EF4-FFF2-40B4-BE49-F238E27FC236}">
                <a16:creationId xmlns:a16="http://schemas.microsoft.com/office/drawing/2014/main" id="{1DF34EA8-3E8F-C61F-F702-190E5EAED171}"/>
              </a:ext>
            </a:extLst>
          </p:cNvPr>
          <p:cNvSpPr/>
          <p:nvPr/>
        </p:nvSpPr>
        <p:spPr>
          <a:xfrm>
            <a:off x="120365" y="1938528"/>
            <a:ext cx="8939660"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22ED6ADB-2986-B94A-4793-B625D15DE80D}"/>
              </a:ext>
            </a:extLst>
          </p:cNvPr>
          <p:cNvSpPr/>
          <p:nvPr/>
        </p:nvSpPr>
        <p:spPr>
          <a:xfrm>
            <a:off x="120365" y="2121408"/>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9" name="Table 0">
            <a:extLst>
              <a:ext uri="{FF2B5EF4-FFF2-40B4-BE49-F238E27FC236}">
                <a16:creationId xmlns:a16="http://schemas.microsoft.com/office/drawing/2014/main" id="{804D658C-560A-897D-1423-0D568E49414B}"/>
              </a:ext>
            </a:extLst>
          </p:cNvPr>
          <p:cNvGraphicFramePr>
            <a:graphicFrameLocks noGrp="1"/>
          </p:cNvGraphicFramePr>
          <p:nvPr>
            <p:extLst>
              <p:ext uri="{D42A27DB-BD31-4B8C-83A1-F6EECF244321}">
                <p14:modId xmlns:p14="http://schemas.microsoft.com/office/powerpoint/2010/main" val="473904593"/>
              </p:ext>
            </p:extLst>
          </p:nvPr>
        </p:nvGraphicFramePr>
        <p:xfrm>
          <a:off x="120365" y="2624328"/>
          <a:ext cx="8939659" cy="3931920"/>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Study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Model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Context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Best Metric</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Gap Left Open</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Aqila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SARIMA / Prophet /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Coffee shop, hourly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RMSE 0.15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Forecast-only, no restock</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Kamboj et al. (2025)</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Prophet + XGBoost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Rossmann, state-level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–18% MAPE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Macro-scale, not SME-level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Guler et al.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Facebook Prophet</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Restaurant, daily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MAE 0.76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No restock, no mobile delivery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Susanto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XGBoost vs MA(7)</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SME pre-order, sparse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MA(7) more stable</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Regression fails on sparse data</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Rahmatillah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Optimized LSTM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SME ice cream</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RMSE 1.65</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Needs ~1,000 days of history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Janchidfah et al. (2026)</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TAM (no ML)</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Small retail, survey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r = 0.76 satisfaction</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itchFamily="34" charset="0"/>
                          <a:ea typeface="Calibri" pitchFamily="34" charset="-122"/>
                          <a:cs typeface="Calibri" pitchFamily="34" charset="-120"/>
                        </a:rPr>
                        <a:t>No predictive capability</a:t>
                      </a:r>
                      <a:endParaRPr lang="en-US" sz="1600" dirty="0">
                        <a:latin typeface="Calibri" charset="0"/>
                        <a:ea typeface="Calibri" charset="0"/>
                        <a:cs typeface="Calibri"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Shape 6">
            <a:extLst>
              <a:ext uri="{FF2B5EF4-FFF2-40B4-BE49-F238E27FC236}">
                <a16:creationId xmlns:a16="http://schemas.microsoft.com/office/drawing/2014/main" id="{A607F53D-B77C-6E57-8D97-979F142D24BC}"/>
              </a:ext>
            </a:extLst>
          </p:cNvPr>
          <p:cNvSpPr/>
          <p:nvPr/>
        </p:nvSpPr>
        <p:spPr>
          <a:xfrm>
            <a:off x="120365" y="2624328"/>
            <a:ext cx="8939660" cy="457200"/>
          </a:xfrm>
          <a:prstGeom prst="rect">
            <a:avLst/>
          </a:prstGeom>
          <a:solidFill>
            <a:srgbClr val="BC312C"/>
          </a:solidFill>
          <a:ln/>
        </p:spPr>
        <p:txBody>
          <a:bodyPr/>
          <a:lstStyle/>
          <a:p>
            <a:endParaRPr lang="en-IN" dirty="0"/>
          </a:p>
        </p:txBody>
      </p:sp>
      <p:sp>
        <p:nvSpPr>
          <p:cNvPr id="13" name="Text 7">
            <a:extLst>
              <a:ext uri="{FF2B5EF4-FFF2-40B4-BE49-F238E27FC236}">
                <a16:creationId xmlns:a16="http://schemas.microsoft.com/office/drawing/2014/main" id="{F119AF83-A1BF-D483-241C-C56DF9D2549D}"/>
              </a:ext>
            </a:extLst>
          </p:cNvPr>
          <p:cNvSpPr/>
          <p:nvPr/>
        </p:nvSpPr>
        <p:spPr>
          <a:xfrm>
            <a:off x="120366" y="2624328"/>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5" name="Text 8">
            <a:extLst>
              <a:ext uri="{FF2B5EF4-FFF2-40B4-BE49-F238E27FC236}">
                <a16:creationId xmlns:a16="http://schemas.microsoft.com/office/drawing/2014/main" id="{FD6F6694-C615-309C-FCD0-88F2EE5BBCE8}"/>
              </a:ext>
            </a:extLst>
          </p:cNvPr>
          <p:cNvSpPr/>
          <p:nvPr/>
        </p:nvSpPr>
        <p:spPr>
          <a:xfrm>
            <a:off x="2021942" y="2624328"/>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7" name="Text 9">
            <a:extLst>
              <a:ext uri="{FF2B5EF4-FFF2-40B4-BE49-F238E27FC236}">
                <a16:creationId xmlns:a16="http://schemas.microsoft.com/office/drawing/2014/main" id="{AA6E97BD-9DBA-91B1-7E31-E2F4BA0E08C2}"/>
              </a:ext>
            </a:extLst>
          </p:cNvPr>
          <p:cNvSpPr/>
          <p:nvPr/>
        </p:nvSpPr>
        <p:spPr>
          <a:xfrm>
            <a:off x="3768634" y="2624328"/>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9" name="Text 10">
            <a:extLst>
              <a:ext uri="{FF2B5EF4-FFF2-40B4-BE49-F238E27FC236}">
                <a16:creationId xmlns:a16="http://schemas.microsoft.com/office/drawing/2014/main" id="{485ED70B-7AB7-557E-7269-7E89B7B46399}"/>
              </a:ext>
            </a:extLst>
          </p:cNvPr>
          <p:cNvSpPr/>
          <p:nvPr/>
        </p:nvSpPr>
        <p:spPr>
          <a:xfrm>
            <a:off x="5492234" y="2624328"/>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1" name="Text 11">
            <a:extLst>
              <a:ext uri="{FF2B5EF4-FFF2-40B4-BE49-F238E27FC236}">
                <a16:creationId xmlns:a16="http://schemas.microsoft.com/office/drawing/2014/main" id="{E3B1D580-AF32-C41E-EC2E-423AE9493739}"/>
              </a:ext>
            </a:extLst>
          </p:cNvPr>
          <p:cNvSpPr/>
          <p:nvPr/>
        </p:nvSpPr>
        <p:spPr>
          <a:xfrm>
            <a:off x="7059020" y="2624328"/>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31290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C01-CBFC-D70D-773D-B5F8CAA5C823}"/>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60397D0A-632F-2062-1D38-7EA8ACB1B82F}"/>
              </a:ext>
            </a:extLst>
          </p:cNvPr>
          <p:cNvSpPr/>
          <p:nvPr/>
        </p:nvSpPr>
        <p:spPr>
          <a:xfrm>
            <a:off x="213673" y="1325880"/>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25" name="Shape 4">
            <a:extLst>
              <a:ext uri="{FF2B5EF4-FFF2-40B4-BE49-F238E27FC236}">
                <a16:creationId xmlns:a16="http://schemas.microsoft.com/office/drawing/2014/main" id="{DEB5C86E-11CF-6790-4F05-4BCFEED740E8}"/>
              </a:ext>
            </a:extLst>
          </p:cNvPr>
          <p:cNvSpPr/>
          <p:nvPr/>
        </p:nvSpPr>
        <p:spPr>
          <a:xfrm flipV="1">
            <a:off x="157688" y="1920240"/>
            <a:ext cx="8426475" cy="18288"/>
          </a:xfrm>
          <a:prstGeom prst="line">
            <a:avLst/>
          </a:prstGeom>
          <a:noFill/>
          <a:ln w="12700">
            <a:solidFill>
              <a:srgbClr val="E0DAD8"/>
            </a:solidFill>
            <a:prstDash val="solid"/>
          </a:ln>
        </p:spPr>
        <p:txBody>
          <a:bodyPr/>
          <a:lstStyle/>
          <a:p>
            <a:endParaRPr lang="en-IN"/>
          </a:p>
        </p:txBody>
      </p:sp>
      <p:sp>
        <p:nvSpPr>
          <p:cNvPr id="27" name="Shape 5">
            <a:extLst>
              <a:ext uri="{FF2B5EF4-FFF2-40B4-BE49-F238E27FC236}">
                <a16:creationId xmlns:a16="http://schemas.microsoft.com/office/drawing/2014/main" id="{A4CB69E9-6803-477B-0948-D5721B2633E8}"/>
              </a:ext>
            </a:extLst>
          </p:cNvPr>
          <p:cNvSpPr/>
          <p:nvPr/>
        </p:nvSpPr>
        <p:spPr>
          <a:xfrm>
            <a:off x="63883" y="2895848"/>
            <a:ext cx="1520098" cy="1417320"/>
          </a:xfrm>
          <a:prstGeom prst="roundRect">
            <a:avLst>
              <a:gd name="adj" fmla="val 3871"/>
            </a:avLst>
          </a:prstGeom>
          <a:solidFill>
            <a:srgbClr val="F7F5F4"/>
          </a:solidFill>
          <a:ln w="12700">
            <a:solidFill>
              <a:srgbClr val="E0DAD8"/>
            </a:solidFill>
            <a:prstDash val="solid"/>
          </a:ln>
        </p:spPr>
        <p:txBody>
          <a:bodyPr/>
          <a:lstStyle/>
          <a:p>
            <a:endParaRPr lang="en-IN"/>
          </a:p>
        </p:txBody>
      </p:sp>
      <p:sp>
        <p:nvSpPr>
          <p:cNvPr id="29" name="Text 6">
            <a:extLst>
              <a:ext uri="{FF2B5EF4-FFF2-40B4-BE49-F238E27FC236}">
                <a16:creationId xmlns:a16="http://schemas.microsoft.com/office/drawing/2014/main" id="{24772764-2E9F-3336-CC82-DFE060BA4DA9}"/>
              </a:ext>
            </a:extLst>
          </p:cNvPr>
          <p:cNvSpPr/>
          <p:nvPr/>
        </p:nvSpPr>
        <p:spPr>
          <a:xfrm>
            <a:off x="155323" y="3005576"/>
            <a:ext cx="1378694"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1600" dirty="0"/>
          </a:p>
        </p:txBody>
      </p:sp>
      <p:sp>
        <p:nvSpPr>
          <p:cNvPr id="31" name="Text 7">
            <a:extLst>
              <a:ext uri="{FF2B5EF4-FFF2-40B4-BE49-F238E27FC236}">
                <a16:creationId xmlns:a16="http://schemas.microsoft.com/office/drawing/2014/main" id="{107FF6C7-AE88-5F46-87E4-45A19E17676E}"/>
              </a:ext>
            </a:extLst>
          </p:cNvPr>
          <p:cNvSpPr/>
          <p:nvPr/>
        </p:nvSpPr>
        <p:spPr>
          <a:xfrm>
            <a:off x="155323" y="3517640"/>
            <a:ext cx="1378694"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Daily item-level sales (public datasets)</a:t>
            </a:r>
            <a:endParaRPr lang="en-US" sz="1400" dirty="0"/>
          </a:p>
        </p:txBody>
      </p:sp>
      <p:sp>
        <p:nvSpPr>
          <p:cNvPr id="33" name="Shape 8">
            <a:extLst>
              <a:ext uri="{FF2B5EF4-FFF2-40B4-BE49-F238E27FC236}">
                <a16:creationId xmlns:a16="http://schemas.microsoft.com/office/drawing/2014/main" id="{4F382E42-E3D6-6F28-BE61-0672BAFF6CAD}"/>
              </a:ext>
            </a:extLst>
          </p:cNvPr>
          <p:cNvSpPr/>
          <p:nvPr/>
        </p:nvSpPr>
        <p:spPr>
          <a:xfrm>
            <a:off x="1674714" y="3485636"/>
            <a:ext cx="183826" cy="237744"/>
          </a:xfrm>
          <a:prstGeom prst="rightArrow">
            <a:avLst/>
          </a:prstGeom>
          <a:solidFill>
            <a:srgbClr val="6B6B6B"/>
          </a:solidFill>
          <a:ln/>
        </p:spPr>
        <p:txBody>
          <a:bodyPr/>
          <a:lstStyle/>
          <a:p>
            <a:endParaRPr lang="en-IN"/>
          </a:p>
        </p:txBody>
      </p:sp>
      <p:sp>
        <p:nvSpPr>
          <p:cNvPr id="35" name="Shape 9">
            <a:extLst>
              <a:ext uri="{FF2B5EF4-FFF2-40B4-BE49-F238E27FC236}">
                <a16:creationId xmlns:a16="http://schemas.microsoft.com/office/drawing/2014/main" id="{0E52C353-68B1-932E-6DB4-ACA825AE3EC3}"/>
              </a:ext>
            </a:extLst>
          </p:cNvPr>
          <p:cNvSpPr/>
          <p:nvPr/>
        </p:nvSpPr>
        <p:spPr>
          <a:xfrm>
            <a:off x="1921227" y="2895848"/>
            <a:ext cx="1520098" cy="1417320"/>
          </a:xfrm>
          <a:prstGeom prst="roundRect">
            <a:avLst>
              <a:gd name="adj" fmla="val 3871"/>
            </a:avLst>
          </a:prstGeom>
          <a:solidFill>
            <a:srgbClr val="F7F5F4"/>
          </a:solidFill>
          <a:ln w="12700">
            <a:solidFill>
              <a:srgbClr val="E0DAD8"/>
            </a:solidFill>
            <a:prstDash val="solid"/>
          </a:ln>
        </p:spPr>
        <p:txBody>
          <a:bodyPr/>
          <a:lstStyle/>
          <a:p>
            <a:endParaRPr lang="en-IN"/>
          </a:p>
        </p:txBody>
      </p:sp>
      <p:sp>
        <p:nvSpPr>
          <p:cNvPr id="37" name="Text 10">
            <a:extLst>
              <a:ext uri="{FF2B5EF4-FFF2-40B4-BE49-F238E27FC236}">
                <a16:creationId xmlns:a16="http://schemas.microsoft.com/office/drawing/2014/main" id="{354D6D7A-5A68-1019-96E1-B5C2A8C5B1F4}"/>
              </a:ext>
            </a:extLst>
          </p:cNvPr>
          <p:cNvSpPr/>
          <p:nvPr/>
        </p:nvSpPr>
        <p:spPr>
          <a:xfrm>
            <a:off x="2012667" y="3005576"/>
            <a:ext cx="1378694"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Model</a:t>
            </a:r>
            <a:endParaRPr lang="en-US" sz="1600" dirty="0"/>
          </a:p>
        </p:txBody>
      </p:sp>
      <p:sp>
        <p:nvSpPr>
          <p:cNvPr id="39" name="Text 11">
            <a:extLst>
              <a:ext uri="{FF2B5EF4-FFF2-40B4-BE49-F238E27FC236}">
                <a16:creationId xmlns:a16="http://schemas.microsoft.com/office/drawing/2014/main" id="{74F39C81-78D3-DF89-9EB4-3407B5E8E64B}"/>
              </a:ext>
            </a:extLst>
          </p:cNvPr>
          <p:cNvSpPr/>
          <p:nvPr/>
        </p:nvSpPr>
        <p:spPr>
          <a:xfrm>
            <a:off x="2012667" y="3517640"/>
            <a:ext cx="1378694"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 weather regressor + holiday regressor</a:t>
            </a:r>
            <a:endParaRPr lang="en-US" sz="1400" dirty="0"/>
          </a:p>
        </p:txBody>
      </p:sp>
      <p:sp>
        <p:nvSpPr>
          <p:cNvPr id="41" name="Shape 12">
            <a:extLst>
              <a:ext uri="{FF2B5EF4-FFF2-40B4-BE49-F238E27FC236}">
                <a16:creationId xmlns:a16="http://schemas.microsoft.com/office/drawing/2014/main" id="{AB189900-0CDA-D360-F2F8-19B15EA8C435}"/>
              </a:ext>
            </a:extLst>
          </p:cNvPr>
          <p:cNvSpPr/>
          <p:nvPr/>
        </p:nvSpPr>
        <p:spPr>
          <a:xfrm>
            <a:off x="3522723" y="3485636"/>
            <a:ext cx="183826" cy="237744"/>
          </a:xfrm>
          <a:prstGeom prst="rightArrow">
            <a:avLst/>
          </a:prstGeom>
          <a:solidFill>
            <a:srgbClr val="6B6B6B"/>
          </a:solidFill>
          <a:ln/>
        </p:spPr>
        <p:txBody>
          <a:bodyPr/>
          <a:lstStyle/>
          <a:p>
            <a:endParaRPr lang="en-IN"/>
          </a:p>
        </p:txBody>
      </p:sp>
      <p:sp>
        <p:nvSpPr>
          <p:cNvPr id="43" name="Shape 13">
            <a:extLst>
              <a:ext uri="{FF2B5EF4-FFF2-40B4-BE49-F238E27FC236}">
                <a16:creationId xmlns:a16="http://schemas.microsoft.com/office/drawing/2014/main" id="{822DCAD3-C57A-617C-DD4F-94C3ADC12255}"/>
              </a:ext>
            </a:extLst>
          </p:cNvPr>
          <p:cNvSpPr/>
          <p:nvPr/>
        </p:nvSpPr>
        <p:spPr>
          <a:xfrm>
            <a:off x="3797229" y="2895848"/>
            <a:ext cx="1520098" cy="1417320"/>
          </a:xfrm>
          <a:prstGeom prst="roundRect">
            <a:avLst>
              <a:gd name="adj" fmla="val 3871"/>
            </a:avLst>
          </a:prstGeom>
          <a:solidFill>
            <a:srgbClr val="F7F5F4"/>
          </a:solidFill>
          <a:ln w="12700">
            <a:solidFill>
              <a:srgbClr val="E0DAD8"/>
            </a:solidFill>
            <a:prstDash val="solid"/>
          </a:ln>
        </p:spPr>
        <p:txBody>
          <a:bodyPr/>
          <a:lstStyle/>
          <a:p>
            <a:endParaRPr lang="en-IN"/>
          </a:p>
        </p:txBody>
      </p:sp>
      <p:sp>
        <p:nvSpPr>
          <p:cNvPr id="45" name="Text 14">
            <a:extLst>
              <a:ext uri="{FF2B5EF4-FFF2-40B4-BE49-F238E27FC236}">
                <a16:creationId xmlns:a16="http://schemas.microsoft.com/office/drawing/2014/main" id="{B3E956E9-3B1C-84F2-27A6-E790C848CF4D}"/>
              </a:ext>
            </a:extLst>
          </p:cNvPr>
          <p:cNvSpPr/>
          <p:nvPr/>
        </p:nvSpPr>
        <p:spPr>
          <a:xfrm>
            <a:off x="3860676" y="3005576"/>
            <a:ext cx="1378694"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1600" dirty="0"/>
          </a:p>
        </p:txBody>
      </p:sp>
      <p:sp>
        <p:nvSpPr>
          <p:cNvPr id="47" name="Text 15">
            <a:extLst>
              <a:ext uri="{FF2B5EF4-FFF2-40B4-BE49-F238E27FC236}">
                <a16:creationId xmlns:a16="http://schemas.microsoft.com/office/drawing/2014/main" id="{F5E16C3A-E214-FDC3-B29D-2880EBCFFF92}"/>
              </a:ext>
            </a:extLst>
          </p:cNvPr>
          <p:cNvSpPr/>
          <p:nvPr/>
        </p:nvSpPr>
        <p:spPr>
          <a:xfrm>
            <a:off x="3860676" y="3517640"/>
            <a:ext cx="1378694"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Point prediction per item, per day</a:t>
            </a:r>
            <a:endParaRPr lang="en-US" sz="1400" dirty="0"/>
          </a:p>
        </p:txBody>
      </p:sp>
      <p:sp>
        <p:nvSpPr>
          <p:cNvPr id="49" name="Shape 16">
            <a:extLst>
              <a:ext uri="{FF2B5EF4-FFF2-40B4-BE49-F238E27FC236}">
                <a16:creationId xmlns:a16="http://schemas.microsoft.com/office/drawing/2014/main" id="{173BD19B-3F5B-A0BA-DD28-1EE8E5182824}"/>
              </a:ext>
            </a:extLst>
          </p:cNvPr>
          <p:cNvSpPr/>
          <p:nvPr/>
        </p:nvSpPr>
        <p:spPr>
          <a:xfrm>
            <a:off x="5389401" y="3485636"/>
            <a:ext cx="183826" cy="237744"/>
          </a:xfrm>
          <a:prstGeom prst="rightArrow">
            <a:avLst/>
          </a:prstGeom>
          <a:solidFill>
            <a:srgbClr val="6B6B6B"/>
          </a:solidFill>
          <a:ln/>
        </p:spPr>
        <p:txBody>
          <a:bodyPr/>
          <a:lstStyle/>
          <a:p>
            <a:endParaRPr lang="en-IN"/>
          </a:p>
        </p:txBody>
      </p:sp>
      <p:sp>
        <p:nvSpPr>
          <p:cNvPr id="51" name="Shape 17">
            <a:extLst>
              <a:ext uri="{FF2B5EF4-FFF2-40B4-BE49-F238E27FC236}">
                <a16:creationId xmlns:a16="http://schemas.microsoft.com/office/drawing/2014/main" id="{65683C94-8E57-936C-E030-21B7882AF402}"/>
              </a:ext>
            </a:extLst>
          </p:cNvPr>
          <p:cNvSpPr/>
          <p:nvPr/>
        </p:nvSpPr>
        <p:spPr>
          <a:xfrm>
            <a:off x="5673238" y="2895848"/>
            <a:ext cx="1520098" cy="1417320"/>
          </a:xfrm>
          <a:prstGeom prst="roundRect">
            <a:avLst>
              <a:gd name="adj" fmla="val 3871"/>
            </a:avLst>
          </a:prstGeom>
          <a:solidFill>
            <a:srgbClr val="F7F5F4"/>
          </a:solidFill>
          <a:ln w="12700">
            <a:solidFill>
              <a:srgbClr val="E0DAD8"/>
            </a:solidFill>
            <a:prstDash val="solid"/>
          </a:ln>
        </p:spPr>
        <p:txBody>
          <a:bodyPr/>
          <a:lstStyle/>
          <a:p>
            <a:endParaRPr lang="en-IN"/>
          </a:p>
        </p:txBody>
      </p:sp>
      <p:sp>
        <p:nvSpPr>
          <p:cNvPr id="53" name="Text 18">
            <a:extLst>
              <a:ext uri="{FF2B5EF4-FFF2-40B4-BE49-F238E27FC236}">
                <a16:creationId xmlns:a16="http://schemas.microsoft.com/office/drawing/2014/main" id="{27B535E2-04E2-8B2D-DDC0-AFC9060FBC61}"/>
              </a:ext>
            </a:extLst>
          </p:cNvPr>
          <p:cNvSpPr/>
          <p:nvPr/>
        </p:nvSpPr>
        <p:spPr>
          <a:xfrm>
            <a:off x="5736685" y="3005576"/>
            <a:ext cx="1378694"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1600" dirty="0"/>
          </a:p>
        </p:txBody>
      </p:sp>
      <p:sp>
        <p:nvSpPr>
          <p:cNvPr id="55" name="Text 19">
            <a:extLst>
              <a:ext uri="{FF2B5EF4-FFF2-40B4-BE49-F238E27FC236}">
                <a16:creationId xmlns:a16="http://schemas.microsoft.com/office/drawing/2014/main" id="{3F77A0CB-58FC-8A53-E6FC-FDC578230B86}"/>
              </a:ext>
            </a:extLst>
          </p:cNvPr>
          <p:cNvSpPr/>
          <p:nvPr/>
        </p:nvSpPr>
        <p:spPr>
          <a:xfrm>
            <a:off x="5736685" y="3517640"/>
            <a:ext cx="1378694" cy="731520"/>
          </a:xfrm>
          <a:prstGeom prst="rect">
            <a:avLst/>
          </a:prstGeom>
          <a:noFill/>
          <a:ln/>
        </p:spPr>
        <p:txBody>
          <a:bodyPr wrap="square" lIns="0" tIns="0" rIns="0" bIns="0" rtlCol="0" anchor="t"/>
          <a:lstStyle/>
          <a:p>
            <a:pPr marL="0" indent="0" algn="ctr">
              <a:lnSpc>
                <a:spcPct val="105000"/>
              </a:lnSpc>
              <a:buNone/>
            </a:pPr>
            <a:r>
              <a:rPr lang="en-US" sz="1400" dirty="0">
                <a:solidFill>
                  <a:srgbClr val="262626"/>
                </a:solidFill>
                <a:latin typeface="Calibri" pitchFamily="34" charset="0"/>
                <a:ea typeface="Calibri" pitchFamily="34" charset="-122"/>
                <a:cs typeface="Calibri" pitchFamily="34" charset="-120"/>
              </a:rPr>
              <a:t>Safety-stock buffer + current inventory</a:t>
            </a:r>
            <a:endParaRPr lang="en-US" sz="1400" dirty="0"/>
          </a:p>
        </p:txBody>
      </p:sp>
      <p:sp>
        <p:nvSpPr>
          <p:cNvPr id="57" name="Shape 20">
            <a:extLst>
              <a:ext uri="{FF2B5EF4-FFF2-40B4-BE49-F238E27FC236}">
                <a16:creationId xmlns:a16="http://schemas.microsoft.com/office/drawing/2014/main" id="{7320CB60-6225-E4C4-FAA5-900CD8E1ADC7}"/>
              </a:ext>
            </a:extLst>
          </p:cNvPr>
          <p:cNvSpPr/>
          <p:nvPr/>
        </p:nvSpPr>
        <p:spPr>
          <a:xfrm>
            <a:off x="7256075" y="3485636"/>
            <a:ext cx="183826" cy="237744"/>
          </a:xfrm>
          <a:prstGeom prst="rightArrow">
            <a:avLst/>
          </a:prstGeom>
          <a:solidFill>
            <a:srgbClr val="6B6B6B"/>
          </a:solidFill>
          <a:ln/>
        </p:spPr>
        <p:txBody>
          <a:bodyPr/>
          <a:lstStyle/>
          <a:p>
            <a:endParaRPr lang="en-IN"/>
          </a:p>
        </p:txBody>
      </p:sp>
      <p:sp>
        <p:nvSpPr>
          <p:cNvPr id="59" name="Shape 21">
            <a:extLst>
              <a:ext uri="{FF2B5EF4-FFF2-40B4-BE49-F238E27FC236}">
                <a16:creationId xmlns:a16="http://schemas.microsoft.com/office/drawing/2014/main" id="{0CBD5CCE-70DA-8A41-86C0-669123192196}"/>
              </a:ext>
            </a:extLst>
          </p:cNvPr>
          <p:cNvSpPr/>
          <p:nvPr/>
        </p:nvSpPr>
        <p:spPr>
          <a:xfrm>
            <a:off x="7469286" y="2895848"/>
            <a:ext cx="1600055" cy="1417320"/>
          </a:xfrm>
          <a:prstGeom prst="roundRect">
            <a:avLst>
              <a:gd name="adj" fmla="val 3871"/>
            </a:avLst>
          </a:prstGeom>
          <a:solidFill>
            <a:srgbClr val="BC312C"/>
          </a:solidFill>
          <a:ln w="12700">
            <a:solidFill>
              <a:srgbClr val="BC312C"/>
            </a:solidFill>
            <a:prstDash val="solid"/>
          </a:ln>
        </p:spPr>
        <p:txBody>
          <a:bodyPr/>
          <a:lstStyle/>
          <a:p>
            <a:endParaRPr lang="en-IN"/>
          </a:p>
        </p:txBody>
      </p:sp>
      <p:sp>
        <p:nvSpPr>
          <p:cNvPr id="61" name="Text 22">
            <a:extLst>
              <a:ext uri="{FF2B5EF4-FFF2-40B4-BE49-F238E27FC236}">
                <a16:creationId xmlns:a16="http://schemas.microsoft.com/office/drawing/2014/main" id="{66E2D2B2-7483-DB0B-054D-38FE1F0F85D4}"/>
              </a:ext>
            </a:extLst>
          </p:cNvPr>
          <p:cNvSpPr/>
          <p:nvPr/>
        </p:nvSpPr>
        <p:spPr>
          <a:xfrm>
            <a:off x="7435393" y="3015933"/>
            <a:ext cx="1633948"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Restock Recommendation</a:t>
            </a:r>
            <a:endParaRPr lang="en-US" sz="1600" dirty="0"/>
          </a:p>
        </p:txBody>
      </p:sp>
      <p:sp>
        <p:nvSpPr>
          <p:cNvPr id="63" name="Text 23">
            <a:extLst>
              <a:ext uri="{FF2B5EF4-FFF2-40B4-BE49-F238E27FC236}">
                <a16:creationId xmlns:a16="http://schemas.microsoft.com/office/drawing/2014/main" id="{4F408E21-328C-28D9-00A2-6F701A2AD9ED}"/>
              </a:ext>
            </a:extLst>
          </p:cNvPr>
          <p:cNvSpPr/>
          <p:nvPr/>
        </p:nvSpPr>
        <p:spPr>
          <a:xfrm>
            <a:off x="7612690" y="3517640"/>
            <a:ext cx="1378694" cy="731520"/>
          </a:xfrm>
          <a:prstGeom prst="rect">
            <a:avLst/>
          </a:prstGeom>
          <a:noFill/>
          <a:ln/>
        </p:spPr>
        <p:txBody>
          <a:bodyPr wrap="square" lIns="0" tIns="0" rIns="0" bIns="0" rtlCol="0" anchor="t"/>
          <a:lstStyle/>
          <a:p>
            <a:pPr marL="0" indent="0" algn="ctr">
              <a:lnSpc>
                <a:spcPct val="105000"/>
              </a:lnSpc>
              <a:buNone/>
            </a:pPr>
            <a:r>
              <a:rPr lang="en-US" sz="1400" dirty="0">
                <a:solidFill>
                  <a:srgbClr val="FFFFFF"/>
                </a:solidFill>
                <a:latin typeface="Calibri" pitchFamily="34" charset="0"/>
                <a:ea typeface="Calibri" pitchFamily="34" charset="-122"/>
                <a:cs typeface="Calibri" pitchFamily="34" charset="-120"/>
              </a:rPr>
              <a:t>e.g. “Order 15 croissants” shown in Flutter app</a:t>
            </a:r>
            <a:endParaRPr lang="en-US" sz="1400" dirty="0"/>
          </a:p>
        </p:txBody>
      </p:sp>
      <p:sp>
        <p:nvSpPr>
          <p:cNvPr id="69" name="Text 26">
            <a:extLst>
              <a:ext uri="{FF2B5EF4-FFF2-40B4-BE49-F238E27FC236}">
                <a16:creationId xmlns:a16="http://schemas.microsoft.com/office/drawing/2014/main" id="{FD490F09-EC61-7209-D00D-FF0364D0D89C}"/>
              </a:ext>
            </a:extLst>
          </p:cNvPr>
          <p:cNvSpPr/>
          <p:nvPr/>
        </p:nvSpPr>
        <p:spPr>
          <a:xfrm>
            <a:off x="155323" y="5880244"/>
            <a:ext cx="8444609"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Tree>
    <p:extLst>
      <p:ext uri="{BB962C8B-B14F-4D97-AF65-F5344CB8AC3E}">
        <p14:creationId xmlns:p14="http://schemas.microsoft.com/office/powerpoint/2010/main" val="1490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7ADE-CA3C-8D5D-233B-877E1C92570F}"/>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98968F4-257C-C800-795C-14A54FEA402E}"/>
              </a:ext>
            </a:extLst>
          </p:cNvPr>
          <p:cNvSpPr/>
          <p:nvPr/>
        </p:nvSpPr>
        <p:spPr>
          <a:xfrm>
            <a:off x="157689" y="1325880"/>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5" name="Shape 4">
            <a:extLst>
              <a:ext uri="{FF2B5EF4-FFF2-40B4-BE49-F238E27FC236}">
                <a16:creationId xmlns:a16="http://schemas.microsoft.com/office/drawing/2014/main" id="{A02016D6-A2CC-B778-1493-F47D4BA33759}"/>
              </a:ext>
            </a:extLst>
          </p:cNvPr>
          <p:cNvSpPr/>
          <p:nvPr/>
        </p:nvSpPr>
        <p:spPr>
          <a:xfrm>
            <a:off x="157689" y="1938528"/>
            <a:ext cx="8548419" cy="0"/>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714DF212-91B4-C7F7-27FE-970B23767E2E}"/>
              </a:ext>
            </a:extLst>
          </p:cNvPr>
          <p:cNvSpPr/>
          <p:nvPr/>
        </p:nvSpPr>
        <p:spPr>
          <a:xfrm>
            <a:off x="15769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9" name="Shape 6">
            <a:extLst>
              <a:ext uri="{FF2B5EF4-FFF2-40B4-BE49-F238E27FC236}">
                <a16:creationId xmlns:a16="http://schemas.microsoft.com/office/drawing/2014/main" id="{3E9F1937-EC3F-C15A-93F9-341705030A4A}"/>
              </a:ext>
            </a:extLst>
          </p:cNvPr>
          <p:cNvSpPr/>
          <p:nvPr/>
        </p:nvSpPr>
        <p:spPr>
          <a:xfrm>
            <a:off x="157689" y="2324608"/>
            <a:ext cx="56055" cy="1691640"/>
          </a:xfrm>
          <a:prstGeom prst="rect">
            <a:avLst/>
          </a:prstGeom>
          <a:solidFill>
            <a:srgbClr val="BC312C"/>
          </a:solidFill>
          <a:ln/>
        </p:spPr>
        <p:txBody>
          <a:bodyPr/>
          <a:lstStyle/>
          <a:p>
            <a:endParaRPr lang="en-IN"/>
          </a:p>
        </p:txBody>
      </p:sp>
      <p:sp>
        <p:nvSpPr>
          <p:cNvPr id="11" name="Text 7">
            <a:extLst>
              <a:ext uri="{FF2B5EF4-FFF2-40B4-BE49-F238E27FC236}">
                <a16:creationId xmlns:a16="http://schemas.microsoft.com/office/drawing/2014/main" id="{F672568D-587D-33C2-1D1C-A3078EB87B68}"/>
              </a:ext>
            </a:extLst>
          </p:cNvPr>
          <p:cNvSpPr/>
          <p:nvPr/>
        </p:nvSpPr>
        <p:spPr>
          <a:xfrm>
            <a:off x="38628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Mobile Frontend</a:t>
            </a:r>
            <a:endParaRPr lang="en-US" sz="1800" dirty="0"/>
          </a:p>
        </p:txBody>
      </p:sp>
      <p:sp>
        <p:nvSpPr>
          <p:cNvPr id="13" name="Text 8">
            <a:extLst>
              <a:ext uri="{FF2B5EF4-FFF2-40B4-BE49-F238E27FC236}">
                <a16:creationId xmlns:a16="http://schemas.microsoft.com/office/drawing/2014/main" id="{24825D8E-7136-1231-FA48-1C50871349E5}"/>
              </a:ext>
            </a:extLst>
          </p:cNvPr>
          <p:cNvSpPr/>
          <p:nvPr/>
        </p:nvSpPr>
        <p:spPr>
          <a:xfrm>
            <a:off x="38628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Flutter (Dart)</a:t>
            </a:r>
            <a:endParaRPr lang="en-US" dirty="0"/>
          </a:p>
        </p:txBody>
      </p:sp>
      <p:sp>
        <p:nvSpPr>
          <p:cNvPr id="15" name="Text 9">
            <a:extLst>
              <a:ext uri="{FF2B5EF4-FFF2-40B4-BE49-F238E27FC236}">
                <a16:creationId xmlns:a16="http://schemas.microsoft.com/office/drawing/2014/main" id="{B85BC32F-C75C-B879-D333-1976CE274B51}"/>
              </a:ext>
            </a:extLst>
          </p:cNvPr>
          <p:cNvSpPr/>
          <p:nvPr/>
        </p:nvSpPr>
        <p:spPr>
          <a:xfrm>
            <a:off x="386289" y="323900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200" dirty="0"/>
          </a:p>
        </p:txBody>
      </p:sp>
      <p:sp>
        <p:nvSpPr>
          <p:cNvPr id="17" name="Shape 10">
            <a:extLst>
              <a:ext uri="{FF2B5EF4-FFF2-40B4-BE49-F238E27FC236}">
                <a16:creationId xmlns:a16="http://schemas.microsoft.com/office/drawing/2014/main" id="{5961618A-F5EA-190F-9D9B-102E539F7F75}"/>
              </a:ext>
            </a:extLst>
          </p:cNvPr>
          <p:cNvSpPr/>
          <p:nvPr/>
        </p:nvSpPr>
        <p:spPr>
          <a:xfrm>
            <a:off x="316027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19" name="Shape 11">
            <a:extLst>
              <a:ext uri="{FF2B5EF4-FFF2-40B4-BE49-F238E27FC236}">
                <a16:creationId xmlns:a16="http://schemas.microsoft.com/office/drawing/2014/main" id="{5AF82A47-D726-5CFD-3301-ABEFD10B8168}"/>
              </a:ext>
            </a:extLst>
          </p:cNvPr>
          <p:cNvSpPr/>
          <p:nvPr/>
        </p:nvSpPr>
        <p:spPr>
          <a:xfrm>
            <a:off x="3160269" y="2324608"/>
            <a:ext cx="56055" cy="1691640"/>
          </a:xfrm>
          <a:prstGeom prst="rect">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799EE405-63A2-F5FB-998F-C3700B00BA2C}"/>
              </a:ext>
            </a:extLst>
          </p:cNvPr>
          <p:cNvSpPr/>
          <p:nvPr/>
        </p:nvSpPr>
        <p:spPr>
          <a:xfrm>
            <a:off x="338886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Forecasting Engine</a:t>
            </a:r>
            <a:endParaRPr lang="en-US" sz="1800" dirty="0"/>
          </a:p>
        </p:txBody>
      </p:sp>
      <p:sp>
        <p:nvSpPr>
          <p:cNvPr id="23" name="Text 13">
            <a:extLst>
              <a:ext uri="{FF2B5EF4-FFF2-40B4-BE49-F238E27FC236}">
                <a16:creationId xmlns:a16="http://schemas.microsoft.com/office/drawing/2014/main" id="{A9F9EACE-89A6-53BD-AB20-059638218341}"/>
              </a:ext>
            </a:extLst>
          </p:cNvPr>
          <p:cNvSpPr/>
          <p:nvPr/>
        </p:nvSpPr>
        <p:spPr>
          <a:xfrm>
            <a:off x="338886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Facebook Prophet (Python)</a:t>
            </a:r>
            <a:endParaRPr lang="en-US" dirty="0"/>
          </a:p>
        </p:txBody>
      </p:sp>
      <p:sp>
        <p:nvSpPr>
          <p:cNvPr id="25" name="Text 14">
            <a:extLst>
              <a:ext uri="{FF2B5EF4-FFF2-40B4-BE49-F238E27FC236}">
                <a16:creationId xmlns:a16="http://schemas.microsoft.com/office/drawing/2014/main" id="{464E0A94-34ED-B2F1-F2D3-FE4CA1D7EE13}"/>
              </a:ext>
            </a:extLst>
          </p:cNvPr>
          <p:cNvSpPr/>
          <p:nvPr/>
        </p:nvSpPr>
        <p:spPr>
          <a:xfrm>
            <a:off x="3388869" y="323900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CPU-only, handles missing data and short histories natively</a:t>
            </a:r>
            <a:endParaRPr lang="en-US" sz="1200" dirty="0"/>
          </a:p>
        </p:txBody>
      </p:sp>
      <p:sp>
        <p:nvSpPr>
          <p:cNvPr id="27" name="Shape 15">
            <a:extLst>
              <a:ext uri="{FF2B5EF4-FFF2-40B4-BE49-F238E27FC236}">
                <a16:creationId xmlns:a16="http://schemas.microsoft.com/office/drawing/2014/main" id="{2A44C553-CF07-EC89-D671-5AFEFBC51FFF}"/>
              </a:ext>
            </a:extLst>
          </p:cNvPr>
          <p:cNvSpPr/>
          <p:nvPr/>
        </p:nvSpPr>
        <p:spPr>
          <a:xfrm>
            <a:off x="6190851"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29" name="Shape 16">
            <a:extLst>
              <a:ext uri="{FF2B5EF4-FFF2-40B4-BE49-F238E27FC236}">
                <a16:creationId xmlns:a16="http://schemas.microsoft.com/office/drawing/2014/main" id="{1F5D7A2A-B287-B018-0EEF-D30B6EB4F4C5}"/>
              </a:ext>
            </a:extLst>
          </p:cNvPr>
          <p:cNvSpPr/>
          <p:nvPr/>
        </p:nvSpPr>
        <p:spPr>
          <a:xfrm>
            <a:off x="6190850" y="2324608"/>
            <a:ext cx="56055" cy="1691640"/>
          </a:xfrm>
          <a:prstGeom prst="rect">
            <a:avLst/>
          </a:prstGeom>
          <a:solidFill>
            <a:srgbClr val="BC312C"/>
          </a:solidFill>
          <a:ln/>
        </p:spPr>
        <p:txBody>
          <a:bodyPr/>
          <a:lstStyle/>
          <a:p>
            <a:endParaRPr lang="en-IN"/>
          </a:p>
        </p:txBody>
      </p:sp>
      <p:sp>
        <p:nvSpPr>
          <p:cNvPr id="31" name="Text 17">
            <a:extLst>
              <a:ext uri="{FF2B5EF4-FFF2-40B4-BE49-F238E27FC236}">
                <a16:creationId xmlns:a16="http://schemas.microsoft.com/office/drawing/2014/main" id="{436B8A5E-D6B9-D26A-7DE6-045000451F77}"/>
              </a:ext>
            </a:extLst>
          </p:cNvPr>
          <p:cNvSpPr/>
          <p:nvPr/>
        </p:nvSpPr>
        <p:spPr>
          <a:xfrm>
            <a:off x="6419450"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External Regressors</a:t>
            </a:r>
            <a:endParaRPr lang="en-US" sz="1800" dirty="0"/>
          </a:p>
        </p:txBody>
      </p:sp>
      <p:sp>
        <p:nvSpPr>
          <p:cNvPr id="33" name="Text 18">
            <a:extLst>
              <a:ext uri="{FF2B5EF4-FFF2-40B4-BE49-F238E27FC236}">
                <a16:creationId xmlns:a16="http://schemas.microsoft.com/office/drawing/2014/main" id="{4D2DBE44-3B9E-8CB7-40C7-30F715E332CC}"/>
              </a:ext>
            </a:extLst>
          </p:cNvPr>
          <p:cNvSpPr/>
          <p:nvPr/>
        </p:nvSpPr>
        <p:spPr>
          <a:xfrm>
            <a:off x="6419450"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OpenWeatherMap / WeatherAPI, Python `holidays` library</a:t>
            </a:r>
            <a:endParaRPr lang="en-US" dirty="0"/>
          </a:p>
        </p:txBody>
      </p:sp>
      <p:sp>
        <p:nvSpPr>
          <p:cNvPr id="35" name="Text 19">
            <a:extLst>
              <a:ext uri="{FF2B5EF4-FFF2-40B4-BE49-F238E27FC236}">
                <a16:creationId xmlns:a16="http://schemas.microsoft.com/office/drawing/2014/main" id="{32915754-1979-CDA6-973B-F4034EA6318E}"/>
              </a:ext>
            </a:extLst>
          </p:cNvPr>
          <p:cNvSpPr/>
          <p:nvPr/>
        </p:nvSpPr>
        <p:spPr>
          <a:xfrm>
            <a:off x="6419450" y="323900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37" name="Shape 20">
            <a:extLst>
              <a:ext uri="{FF2B5EF4-FFF2-40B4-BE49-F238E27FC236}">
                <a16:creationId xmlns:a16="http://schemas.microsoft.com/office/drawing/2014/main" id="{CE4A2577-973D-AA56-2211-97042ECE48C0}"/>
              </a:ext>
            </a:extLst>
          </p:cNvPr>
          <p:cNvSpPr/>
          <p:nvPr/>
        </p:nvSpPr>
        <p:spPr>
          <a:xfrm>
            <a:off x="15769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39" name="Shape 21">
            <a:extLst>
              <a:ext uri="{FF2B5EF4-FFF2-40B4-BE49-F238E27FC236}">
                <a16:creationId xmlns:a16="http://schemas.microsoft.com/office/drawing/2014/main" id="{EB586E16-1273-7271-C98E-6430EA13B055}"/>
              </a:ext>
            </a:extLst>
          </p:cNvPr>
          <p:cNvSpPr/>
          <p:nvPr/>
        </p:nvSpPr>
        <p:spPr>
          <a:xfrm>
            <a:off x="157689" y="4199128"/>
            <a:ext cx="56055" cy="1691640"/>
          </a:xfrm>
          <a:prstGeom prst="rect">
            <a:avLst/>
          </a:prstGeom>
          <a:solidFill>
            <a:srgbClr val="BC312C"/>
          </a:solidFill>
          <a:ln/>
        </p:spPr>
        <p:txBody>
          <a:bodyPr/>
          <a:lstStyle/>
          <a:p>
            <a:endParaRPr lang="en-IN"/>
          </a:p>
        </p:txBody>
      </p:sp>
      <p:sp>
        <p:nvSpPr>
          <p:cNvPr id="41" name="Text 22">
            <a:extLst>
              <a:ext uri="{FF2B5EF4-FFF2-40B4-BE49-F238E27FC236}">
                <a16:creationId xmlns:a16="http://schemas.microsoft.com/office/drawing/2014/main" id="{ABBB4A37-DC96-E26F-C943-7F635BA1BE88}"/>
              </a:ext>
            </a:extLst>
          </p:cNvPr>
          <p:cNvSpPr/>
          <p:nvPr/>
        </p:nvSpPr>
        <p:spPr>
          <a:xfrm>
            <a:off x="38628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Restock Logic</a:t>
            </a:r>
            <a:endParaRPr lang="en-US" sz="1800" dirty="0"/>
          </a:p>
        </p:txBody>
      </p:sp>
      <p:sp>
        <p:nvSpPr>
          <p:cNvPr id="43" name="Text 23">
            <a:extLst>
              <a:ext uri="{FF2B5EF4-FFF2-40B4-BE49-F238E27FC236}">
                <a16:creationId xmlns:a16="http://schemas.microsoft.com/office/drawing/2014/main" id="{ABDED32A-893C-73EA-3D58-A0710AF40B11}"/>
              </a:ext>
            </a:extLst>
          </p:cNvPr>
          <p:cNvSpPr/>
          <p:nvPr/>
        </p:nvSpPr>
        <p:spPr>
          <a:xfrm>
            <a:off x="38628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Python (Pandas, NumPy)</a:t>
            </a:r>
            <a:endParaRPr lang="en-US" dirty="0"/>
          </a:p>
        </p:txBody>
      </p:sp>
      <p:sp>
        <p:nvSpPr>
          <p:cNvPr id="45" name="Text 24">
            <a:extLst>
              <a:ext uri="{FF2B5EF4-FFF2-40B4-BE49-F238E27FC236}">
                <a16:creationId xmlns:a16="http://schemas.microsoft.com/office/drawing/2014/main" id="{958AF938-4357-2182-F525-F6FE0745FA9F}"/>
              </a:ext>
            </a:extLst>
          </p:cNvPr>
          <p:cNvSpPr/>
          <p:nvPr/>
        </p:nvSpPr>
        <p:spPr>
          <a:xfrm>
            <a:off x="386289" y="511352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200" dirty="0"/>
          </a:p>
        </p:txBody>
      </p:sp>
      <p:sp>
        <p:nvSpPr>
          <p:cNvPr id="47" name="Shape 25">
            <a:extLst>
              <a:ext uri="{FF2B5EF4-FFF2-40B4-BE49-F238E27FC236}">
                <a16:creationId xmlns:a16="http://schemas.microsoft.com/office/drawing/2014/main" id="{D109E86A-90D9-A3BD-014B-21957907C8E8}"/>
              </a:ext>
            </a:extLst>
          </p:cNvPr>
          <p:cNvSpPr/>
          <p:nvPr/>
        </p:nvSpPr>
        <p:spPr>
          <a:xfrm>
            <a:off x="316027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49" name="Shape 26">
            <a:extLst>
              <a:ext uri="{FF2B5EF4-FFF2-40B4-BE49-F238E27FC236}">
                <a16:creationId xmlns:a16="http://schemas.microsoft.com/office/drawing/2014/main" id="{FA426156-1175-731C-AFAF-71DCA67E3B83}"/>
              </a:ext>
            </a:extLst>
          </p:cNvPr>
          <p:cNvSpPr/>
          <p:nvPr/>
        </p:nvSpPr>
        <p:spPr>
          <a:xfrm>
            <a:off x="3160269" y="4199128"/>
            <a:ext cx="56055" cy="1691640"/>
          </a:xfrm>
          <a:prstGeom prst="rect">
            <a:avLst/>
          </a:prstGeom>
          <a:solidFill>
            <a:srgbClr val="BC312C"/>
          </a:solidFill>
          <a:ln/>
        </p:spPr>
        <p:txBody>
          <a:bodyPr/>
          <a:lstStyle/>
          <a:p>
            <a:endParaRPr lang="en-IN"/>
          </a:p>
        </p:txBody>
      </p:sp>
      <p:sp>
        <p:nvSpPr>
          <p:cNvPr id="51" name="Text 27">
            <a:extLst>
              <a:ext uri="{FF2B5EF4-FFF2-40B4-BE49-F238E27FC236}">
                <a16:creationId xmlns:a16="http://schemas.microsoft.com/office/drawing/2014/main" id="{DCBF2ADC-E528-78B9-2917-6AA7013D7944}"/>
              </a:ext>
            </a:extLst>
          </p:cNvPr>
          <p:cNvSpPr/>
          <p:nvPr/>
        </p:nvSpPr>
        <p:spPr>
          <a:xfrm>
            <a:off x="338886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Backend API</a:t>
            </a:r>
            <a:endParaRPr lang="en-US" sz="1800" dirty="0"/>
          </a:p>
        </p:txBody>
      </p:sp>
      <p:sp>
        <p:nvSpPr>
          <p:cNvPr id="53" name="Text 28">
            <a:extLst>
              <a:ext uri="{FF2B5EF4-FFF2-40B4-BE49-F238E27FC236}">
                <a16:creationId xmlns:a16="http://schemas.microsoft.com/office/drawing/2014/main" id="{562E5B76-74E3-01BE-DDC6-398B2474960F}"/>
              </a:ext>
            </a:extLst>
          </p:cNvPr>
          <p:cNvSpPr/>
          <p:nvPr/>
        </p:nvSpPr>
        <p:spPr>
          <a:xfrm>
            <a:off x="338886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FastAPI / Flask, hosted on Render / AWS / GCP</a:t>
            </a:r>
            <a:endParaRPr lang="en-US" dirty="0"/>
          </a:p>
        </p:txBody>
      </p:sp>
      <p:sp>
        <p:nvSpPr>
          <p:cNvPr id="55" name="Text 29">
            <a:extLst>
              <a:ext uri="{FF2B5EF4-FFF2-40B4-BE49-F238E27FC236}">
                <a16:creationId xmlns:a16="http://schemas.microsoft.com/office/drawing/2014/main" id="{2968C857-B1AF-8004-C04D-1AD32E4A14CC}"/>
              </a:ext>
            </a:extLst>
          </p:cNvPr>
          <p:cNvSpPr/>
          <p:nvPr/>
        </p:nvSpPr>
        <p:spPr>
          <a:xfrm>
            <a:off x="3388869" y="511352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57" name="Shape 30">
            <a:extLst>
              <a:ext uri="{FF2B5EF4-FFF2-40B4-BE49-F238E27FC236}">
                <a16:creationId xmlns:a16="http://schemas.microsoft.com/office/drawing/2014/main" id="{194CCC77-60F7-C0A1-C25C-16AF8D8FA281}"/>
              </a:ext>
            </a:extLst>
          </p:cNvPr>
          <p:cNvSpPr/>
          <p:nvPr/>
        </p:nvSpPr>
        <p:spPr>
          <a:xfrm>
            <a:off x="6190851"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59" name="Shape 31">
            <a:extLst>
              <a:ext uri="{FF2B5EF4-FFF2-40B4-BE49-F238E27FC236}">
                <a16:creationId xmlns:a16="http://schemas.microsoft.com/office/drawing/2014/main" id="{227BC298-6022-5A07-32AF-CBC5ECCBCFCD}"/>
              </a:ext>
            </a:extLst>
          </p:cNvPr>
          <p:cNvSpPr/>
          <p:nvPr/>
        </p:nvSpPr>
        <p:spPr>
          <a:xfrm>
            <a:off x="6190850" y="4199128"/>
            <a:ext cx="56055" cy="1691640"/>
          </a:xfrm>
          <a:prstGeom prst="rect">
            <a:avLst/>
          </a:prstGeom>
          <a:solidFill>
            <a:srgbClr val="BC312C"/>
          </a:solidFill>
          <a:ln/>
        </p:spPr>
        <p:txBody>
          <a:bodyPr/>
          <a:lstStyle/>
          <a:p>
            <a:endParaRPr lang="en-IN"/>
          </a:p>
        </p:txBody>
      </p:sp>
      <p:sp>
        <p:nvSpPr>
          <p:cNvPr id="61" name="Text 32">
            <a:extLst>
              <a:ext uri="{FF2B5EF4-FFF2-40B4-BE49-F238E27FC236}">
                <a16:creationId xmlns:a16="http://schemas.microsoft.com/office/drawing/2014/main" id="{853EE45E-98E0-D6B8-7CF2-C7647BE97725}"/>
              </a:ext>
            </a:extLst>
          </p:cNvPr>
          <p:cNvSpPr/>
          <p:nvPr/>
        </p:nvSpPr>
        <p:spPr>
          <a:xfrm>
            <a:off x="6419450"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Database</a:t>
            </a:r>
            <a:endParaRPr lang="en-US" sz="1800" dirty="0"/>
          </a:p>
        </p:txBody>
      </p:sp>
      <p:sp>
        <p:nvSpPr>
          <p:cNvPr id="63" name="Text 33">
            <a:extLst>
              <a:ext uri="{FF2B5EF4-FFF2-40B4-BE49-F238E27FC236}">
                <a16:creationId xmlns:a16="http://schemas.microsoft.com/office/drawing/2014/main" id="{40020701-AD54-B905-E5FD-47FDBE1482A7}"/>
              </a:ext>
            </a:extLst>
          </p:cNvPr>
          <p:cNvSpPr/>
          <p:nvPr/>
        </p:nvSpPr>
        <p:spPr>
          <a:xfrm>
            <a:off x="6419450"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Firebase / Supabase</a:t>
            </a:r>
            <a:endParaRPr lang="en-US" dirty="0"/>
          </a:p>
        </p:txBody>
      </p:sp>
      <p:sp>
        <p:nvSpPr>
          <p:cNvPr id="65" name="Text 34">
            <a:extLst>
              <a:ext uri="{FF2B5EF4-FFF2-40B4-BE49-F238E27FC236}">
                <a16:creationId xmlns:a16="http://schemas.microsoft.com/office/drawing/2014/main" id="{6DDF69FB-E0B7-4379-A44B-88F38091E848}"/>
              </a:ext>
            </a:extLst>
          </p:cNvPr>
          <p:cNvSpPr/>
          <p:nvPr/>
        </p:nvSpPr>
        <p:spPr>
          <a:xfrm>
            <a:off x="6419450" y="5113528"/>
            <a:ext cx="2487450" cy="731520"/>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a:t>
            </a:r>
            <a:endParaRPr lang="en-US" sz="1200" dirty="0"/>
          </a:p>
        </p:txBody>
      </p:sp>
    </p:spTree>
    <p:extLst>
      <p:ext uri="{BB962C8B-B14F-4D97-AF65-F5344CB8AC3E}">
        <p14:creationId xmlns:p14="http://schemas.microsoft.com/office/powerpoint/2010/main" val="109242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111030"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p:cNvSpPr txBox="1"/>
          <p:nvPr/>
        </p:nvSpPr>
        <p:spPr>
          <a:xfrm>
            <a:off x="331030" y="2170000"/>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4" name="TextBox 23"/>
          <p:cNvSpPr txBox="1"/>
          <p:nvPr/>
        </p:nvSpPr>
        <p:spPr>
          <a:xfrm>
            <a:off x="331030" y="2540000"/>
            <a:ext cx="3940521" cy="1674176"/>
          </a:xfrm>
          <a:prstGeom prst="rect">
            <a:avLst/>
          </a:prstGeom>
          <a:noFill/>
        </p:spPr>
        <p:txBody>
          <a:bodyPr wrap="square" lIns="0" tIns="0" rIns="0" bIns="0" anchor="t">
            <a:spAutoFit/>
          </a:bodyPr>
          <a:lstStyle/>
          <a:p>
            <a:pPr algn="l">
              <a:lnSpc>
                <a:spcPct val="108000"/>
              </a:lnSpc>
              <a:spcAft>
                <a:spcPts val="400"/>
              </a:spcAft>
            </a:pPr>
            <a:r>
              <a:rPr sz="115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150" b="0" i="0" dirty="0">
                <a:solidFill>
                  <a:srgbClr val="262626"/>
                </a:solidFill>
                <a:latin typeface="Calibri"/>
              </a:rPr>
              <a:t>•  LSTM considered, not chosen — needs 1,000+ days of history we don't have</a:t>
            </a:r>
          </a:p>
          <a:p>
            <a:pPr algn="l">
              <a:lnSpc>
                <a:spcPct val="108000"/>
              </a:lnSpc>
              <a:spcAft>
                <a:spcPts val="400"/>
              </a:spcAft>
            </a:pPr>
            <a:r>
              <a:rPr sz="1150" b="0" i="0" dirty="0">
                <a:solidFill>
                  <a:srgbClr val="262626"/>
                </a:solidFill>
                <a:latin typeface="Calibri"/>
              </a:rPr>
              <a:t>•  Pure </a:t>
            </a:r>
            <a:r>
              <a:rPr sz="1150" b="0" i="0" dirty="0" err="1">
                <a:solidFill>
                  <a:srgbClr val="262626"/>
                </a:solidFill>
                <a:latin typeface="Calibri"/>
              </a:rPr>
              <a:t>XGBoost</a:t>
            </a:r>
            <a:r>
              <a:rPr sz="1150" b="0" i="0" dirty="0">
                <a:solidFill>
                  <a:srgbClr val="262626"/>
                </a:solidFill>
                <a:latin typeface="Calibri"/>
              </a:rPr>
              <a:t> considered, not chosen — underperforms on sparse, zero-inflated SME data (Susanto et al.)</a:t>
            </a:r>
          </a:p>
          <a:p>
            <a:pPr algn="l">
              <a:lnSpc>
                <a:spcPct val="108000"/>
              </a:lnSpc>
              <a:spcAft>
                <a:spcPts val="400"/>
              </a:spcAft>
            </a:pPr>
            <a:r>
              <a:rPr sz="1150" b="0" i="0" dirty="0">
                <a:solidFill>
                  <a:srgbClr val="262626"/>
                </a:solidFill>
                <a:latin typeface="Calibri"/>
              </a:rPr>
              <a:t>•  Restock logic is deterministic Pandas/NumPy — engineering work, not a research problem</a:t>
            </a:r>
          </a:p>
        </p:txBody>
      </p:sp>
      <p:sp>
        <p:nvSpPr>
          <p:cNvPr id="25" name="Rectangle 24"/>
          <p:cNvSpPr/>
          <p:nvPr/>
        </p:nvSpPr>
        <p:spPr>
          <a:xfrm>
            <a:off x="4591551"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6" name="TextBox 25"/>
          <p:cNvSpPr txBox="1"/>
          <p:nvPr/>
        </p:nvSpPr>
        <p:spPr>
          <a:xfrm>
            <a:off x="4811551" y="2170000"/>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27" name="TextBox 26"/>
          <p:cNvSpPr txBox="1"/>
          <p:nvPr/>
        </p:nvSpPr>
        <p:spPr>
          <a:xfrm>
            <a:off x="4811551" y="2540000"/>
            <a:ext cx="3940521" cy="998158"/>
          </a:xfrm>
          <a:prstGeom prst="rect">
            <a:avLst/>
          </a:prstGeom>
          <a:noFill/>
        </p:spPr>
        <p:txBody>
          <a:bodyPr wrap="square" lIns="0" tIns="0" rIns="0" bIns="0" anchor="t">
            <a:spAutoFit/>
          </a:bodyPr>
          <a:lstStyle/>
          <a:p>
            <a:pPr algn="l">
              <a:lnSpc>
                <a:spcPct val="108000"/>
              </a:lnSpc>
              <a:spcAft>
                <a:spcPts val="400"/>
              </a:spcAft>
            </a:pPr>
            <a:r>
              <a:rPr sz="1150" b="0" i="0">
                <a:solidFill>
                  <a:srgbClr val="262626"/>
                </a:solidFill>
                <a:latin typeface="Calibri"/>
              </a:rPr>
              <a:t>•  No reviewed study combines Prophet forecasting, restock-quantity conversion, and a zero-setup mobile interface in one system</a:t>
            </a:r>
          </a:p>
          <a:p>
            <a:pPr algn="l">
              <a:lnSpc>
                <a:spcPct val="108000"/>
              </a:lnSpc>
              <a:spcAft>
                <a:spcPts val="400"/>
              </a:spcAft>
            </a:pPr>
            <a:r>
              <a:rPr sz="1150" b="0" i="0">
                <a:solidFill>
                  <a:srgbClr val="262626"/>
                </a:solidFill>
                <a:latin typeface="Calibri"/>
              </a:rPr>
              <a:t>•  RestockIQ is positioned to fill that specific combined gap for small food businesses</a:t>
            </a:r>
          </a:p>
        </p:txBody>
      </p:sp>
      <p:sp>
        <p:nvSpPr>
          <p:cNvPr id="28" name="Rectangle 27"/>
          <p:cNvSpPr/>
          <p:nvPr/>
        </p:nvSpPr>
        <p:spPr>
          <a:xfrm>
            <a:off x="111030"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TextBox 28"/>
          <p:cNvSpPr txBox="1"/>
          <p:nvPr/>
        </p:nvSpPr>
        <p:spPr>
          <a:xfrm>
            <a:off x="331030"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Where We're Stretched Thin</a:t>
            </a:r>
          </a:p>
        </p:txBody>
      </p:sp>
      <p:sp>
        <p:nvSpPr>
          <p:cNvPr id="30" name="TextBox 29"/>
          <p:cNvSpPr txBox="1"/>
          <p:nvPr/>
        </p:nvSpPr>
        <p:spPr>
          <a:xfrm>
            <a:off x="331030" y="4945000"/>
            <a:ext cx="3940521" cy="1240596"/>
          </a:xfrm>
          <a:prstGeom prst="rect">
            <a:avLst/>
          </a:prstGeom>
          <a:noFill/>
        </p:spPr>
        <p:txBody>
          <a:bodyPr wrap="square" lIns="0" tIns="0" rIns="0" bIns="0" anchor="t">
            <a:spAutoFit/>
          </a:bodyPr>
          <a:lstStyle/>
          <a:p>
            <a:pPr algn="l">
              <a:lnSpc>
                <a:spcPct val="108000"/>
              </a:lnSpc>
              <a:spcAft>
                <a:spcPts val="400"/>
              </a:spcAft>
            </a:pPr>
            <a:r>
              <a:rPr sz="1150" b="0" i="0" dirty="0">
                <a:solidFill>
                  <a:srgbClr val="262626"/>
                </a:solidFill>
                <a:latin typeface="Calibri"/>
              </a:rPr>
              <a:t>•  No real business data yet — public datasets (French Bakery, Rossmann) used as proxies</a:t>
            </a:r>
          </a:p>
          <a:p>
            <a:pPr algn="l">
              <a:lnSpc>
                <a:spcPct val="108000"/>
              </a:lnSpc>
              <a:spcAft>
                <a:spcPts val="400"/>
              </a:spcAft>
            </a:pPr>
            <a:r>
              <a:rPr sz="1150" b="0" i="0" dirty="0">
                <a:solidFill>
                  <a:srgbClr val="262626"/>
                </a:solidFill>
                <a:latin typeface="Calibri"/>
              </a:rPr>
              <a:t>•  8-week technical build compressed across 3 people running parallel workstreams</a:t>
            </a:r>
          </a:p>
          <a:p>
            <a:pPr algn="l">
              <a:lnSpc>
                <a:spcPct val="108000"/>
              </a:lnSpc>
              <a:spcAft>
                <a:spcPts val="400"/>
              </a:spcAft>
            </a:pPr>
            <a:r>
              <a:rPr sz="1150" b="0" i="0" dirty="0">
                <a:solidFill>
                  <a:srgbClr val="262626"/>
                </a:solidFill>
                <a:latin typeface="Calibri"/>
              </a:rPr>
              <a:t>•  The weather regressor is the one genuinely custom integration in the pipeline</a:t>
            </a:r>
          </a:p>
        </p:txBody>
      </p:sp>
      <p:sp>
        <p:nvSpPr>
          <p:cNvPr id="31" name="Rectangle 30"/>
          <p:cNvSpPr/>
          <p:nvPr/>
        </p:nvSpPr>
        <p:spPr>
          <a:xfrm>
            <a:off x="4591551"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2" name="TextBox 31"/>
          <p:cNvSpPr txBox="1"/>
          <p:nvPr/>
        </p:nvSpPr>
        <p:spPr>
          <a:xfrm>
            <a:off x="4811551"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What Could Work Against Us</a:t>
            </a:r>
          </a:p>
        </p:txBody>
      </p:sp>
      <p:sp>
        <p:nvSpPr>
          <p:cNvPr id="33" name="TextBox 32"/>
          <p:cNvSpPr txBox="1"/>
          <p:nvPr/>
        </p:nvSpPr>
        <p:spPr>
          <a:xfrm>
            <a:off x="4811551" y="4945000"/>
            <a:ext cx="3940521" cy="998158"/>
          </a:xfrm>
          <a:prstGeom prst="rect">
            <a:avLst/>
          </a:prstGeom>
          <a:noFill/>
        </p:spPr>
        <p:txBody>
          <a:bodyPr wrap="square" lIns="0" tIns="0" rIns="0" bIns="0" anchor="t">
            <a:spAutoFit/>
          </a:bodyPr>
          <a:lstStyle/>
          <a:p>
            <a:pPr algn="l">
              <a:lnSpc>
                <a:spcPct val="108000"/>
              </a:lnSpc>
              <a:spcAft>
                <a:spcPts val="400"/>
              </a:spcAft>
            </a:pPr>
            <a:r>
              <a:rPr sz="1150" b="0" i="0">
                <a:solidFill>
                  <a:srgbClr val="262626"/>
                </a:solidFill>
                <a:latin typeface="Calibri"/>
              </a:rPr>
              <a:t>•  Weather API rate limits on the free tier could reduce regressor reliability at scale</a:t>
            </a:r>
          </a:p>
          <a:p>
            <a:pPr algn="l">
              <a:lnSpc>
                <a:spcPct val="108000"/>
              </a:lnSpc>
              <a:spcAft>
                <a:spcPts val="400"/>
              </a:spcAft>
            </a:pPr>
            <a:r>
              <a:rPr sz="1150" b="0" i="0">
                <a:solidFill>
                  <a:srgbClr val="262626"/>
                </a:solidFill>
                <a:latin typeface="Calibri"/>
              </a:rPr>
              <a:t>•  Public-dataset proxies may not fully represent a real cafe/bakery's demand pattern — accuracy may not transfer 1:1 to live deployment</a:t>
            </a:r>
          </a:p>
        </p:txBody>
      </p:sp>
    </p:spTree>
    <p:extLst>
      <p:ext uri="{BB962C8B-B14F-4D97-AF65-F5344CB8AC3E}">
        <p14:creationId xmlns:p14="http://schemas.microsoft.com/office/powerpoint/2010/main" val="929378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2461030"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2461030"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24" name="Rectangle 23"/>
          <p:cNvSpPr/>
          <p:nvPr/>
        </p:nvSpPr>
        <p:spPr>
          <a:xfrm>
            <a:off x="4604711"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4604711"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6" name="Rectangle 25"/>
          <p:cNvSpPr/>
          <p:nvPr/>
        </p:nvSpPr>
        <p:spPr>
          <a:xfrm>
            <a:off x="6748392"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748392" y="201286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8" name="TextBox 27"/>
          <p:cNvSpPr txBox="1"/>
          <p:nvPr/>
        </p:nvSpPr>
        <p:spPr>
          <a:xfrm>
            <a:off x="246103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9" name="TextBox 28"/>
          <p:cNvSpPr txBox="1"/>
          <p:nvPr/>
        </p:nvSpPr>
        <p:spPr>
          <a:xfrm>
            <a:off x="288976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p:cNvSpPr txBox="1"/>
          <p:nvPr/>
        </p:nvSpPr>
        <p:spPr>
          <a:xfrm>
            <a:off x="331850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1" name="TextBox 30"/>
          <p:cNvSpPr txBox="1"/>
          <p:nvPr/>
        </p:nvSpPr>
        <p:spPr>
          <a:xfrm>
            <a:off x="374723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2" name="TextBox 31"/>
          <p:cNvSpPr txBox="1"/>
          <p:nvPr/>
        </p:nvSpPr>
        <p:spPr>
          <a:xfrm>
            <a:off x="417597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3" name="TextBox 32"/>
          <p:cNvSpPr txBox="1"/>
          <p:nvPr/>
        </p:nvSpPr>
        <p:spPr>
          <a:xfrm>
            <a:off x="4604711"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4" name="TextBox 33"/>
          <p:cNvSpPr txBox="1"/>
          <p:nvPr/>
        </p:nvSpPr>
        <p:spPr>
          <a:xfrm>
            <a:off x="5033447"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35" name="TextBox 34"/>
          <p:cNvSpPr txBox="1"/>
          <p:nvPr/>
        </p:nvSpPr>
        <p:spPr>
          <a:xfrm>
            <a:off x="5462183"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8</a:t>
            </a:r>
          </a:p>
        </p:txBody>
      </p:sp>
      <p:sp>
        <p:nvSpPr>
          <p:cNvPr id="36" name="TextBox 35"/>
          <p:cNvSpPr txBox="1"/>
          <p:nvPr/>
        </p:nvSpPr>
        <p:spPr>
          <a:xfrm>
            <a:off x="5890919"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37" name="TextBox 36"/>
          <p:cNvSpPr txBox="1"/>
          <p:nvPr/>
        </p:nvSpPr>
        <p:spPr>
          <a:xfrm>
            <a:off x="6319655"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38" name="TextBox 37"/>
          <p:cNvSpPr txBox="1"/>
          <p:nvPr/>
        </p:nvSpPr>
        <p:spPr>
          <a:xfrm>
            <a:off x="674839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39" name="TextBox 38"/>
          <p:cNvSpPr txBox="1"/>
          <p:nvPr/>
        </p:nvSpPr>
        <p:spPr>
          <a:xfrm>
            <a:off x="717712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40" name="TextBox 39"/>
          <p:cNvSpPr txBox="1"/>
          <p:nvPr/>
        </p:nvSpPr>
        <p:spPr>
          <a:xfrm>
            <a:off x="760586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13</a:t>
            </a:r>
          </a:p>
        </p:txBody>
      </p:sp>
      <p:sp>
        <p:nvSpPr>
          <p:cNvPr id="41" name="TextBox 40"/>
          <p:cNvSpPr txBox="1"/>
          <p:nvPr/>
        </p:nvSpPr>
        <p:spPr>
          <a:xfrm>
            <a:off x="803460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42" name="TextBox 41"/>
          <p:cNvSpPr txBox="1"/>
          <p:nvPr/>
        </p:nvSpPr>
        <p:spPr>
          <a:xfrm>
            <a:off x="846333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43" name="Rectangle 42"/>
          <p:cNvSpPr/>
          <p:nvPr/>
        </p:nvSpPr>
        <p:spPr>
          <a:xfrm>
            <a:off x="111030" y="236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111030" y="278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1030" y="239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46" name="Rounded Rectangle 45"/>
          <p:cNvSpPr/>
          <p:nvPr/>
        </p:nvSpPr>
        <p:spPr>
          <a:xfrm>
            <a:off x="2481030" y="2456750"/>
            <a:ext cx="1246208" cy="2365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Rectangle 46"/>
          <p:cNvSpPr/>
          <p:nvPr/>
        </p:nvSpPr>
        <p:spPr>
          <a:xfrm>
            <a:off x="111030" y="321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201030" y="291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49" name="Rounded Rectangle 48"/>
          <p:cNvSpPr/>
          <p:nvPr/>
        </p:nvSpPr>
        <p:spPr>
          <a:xfrm>
            <a:off x="2909766" y="2850599"/>
            <a:ext cx="1080630" cy="272651"/>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Rectangle 49"/>
          <p:cNvSpPr/>
          <p:nvPr/>
        </p:nvSpPr>
        <p:spPr>
          <a:xfrm>
            <a:off x="111030" y="322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ectangle 50"/>
          <p:cNvSpPr/>
          <p:nvPr/>
        </p:nvSpPr>
        <p:spPr>
          <a:xfrm>
            <a:off x="111030" y="364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201030" y="3342668"/>
            <a:ext cx="2250000" cy="184666"/>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a:t>
            </a:r>
          </a:p>
        </p:txBody>
      </p:sp>
      <p:sp>
        <p:nvSpPr>
          <p:cNvPr id="53" name="Rounded Rectangle 52"/>
          <p:cNvSpPr/>
          <p:nvPr/>
        </p:nvSpPr>
        <p:spPr>
          <a:xfrm>
            <a:off x="3767238" y="3301700"/>
            <a:ext cx="1674944" cy="2666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Rectangle 53"/>
          <p:cNvSpPr/>
          <p:nvPr/>
        </p:nvSpPr>
        <p:spPr>
          <a:xfrm>
            <a:off x="111030" y="407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201030" y="377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56" name="Rounded Rectangle 55"/>
          <p:cNvSpPr/>
          <p:nvPr/>
        </p:nvSpPr>
        <p:spPr>
          <a:xfrm>
            <a:off x="3767238" y="3731700"/>
            <a:ext cx="1674944" cy="2666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Rectangle 56"/>
          <p:cNvSpPr/>
          <p:nvPr/>
        </p:nvSpPr>
        <p:spPr>
          <a:xfrm>
            <a:off x="111030" y="408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p:cNvSpPr/>
          <p:nvPr/>
        </p:nvSpPr>
        <p:spPr>
          <a:xfrm>
            <a:off x="111030" y="450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01030" y="420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Backend API &amp; Restock Logic</a:t>
            </a:r>
          </a:p>
        </p:txBody>
      </p:sp>
      <p:sp>
        <p:nvSpPr>
          <p:cNvPr id="60" name="Rounded Rectangle 59"/>
          <p:cNvSpPr/>
          <p:nvPr/>
        </p:nvSpPr>
        <p:spPr>
          <a:xfrm>
            <a:off x="5053447" y="417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ectangle 60"/>
          <p:cNvSpPr/>
          <p:nvPr/>
        </p:nvSpPr>
        <p:spPr>
          <a:xfrm>
            <a:off x="111030" y="493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201030" y="454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63" name="Rounded Rectangle 62"/>
          <p:cNvSpPr/>
          <p:nvPr/>
        </p:nvSpPr>
        <p:spPr>
          <a:xfrm>
            <a:off x="5910919" y="460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p:cNvSpPr/>
          <p:nvPr/>
        </p:nvSpPr>
        <p:spPr>
          <a:xfrm>
            <a:off x="111030" y="494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ectangle 64"/>
          <p:cNvSpPr/>
          <p:nvPr/>
        </p:nvSpPr>
        <p:spPr>
          <a:xfrm>
            <a:off x="111030" y="536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201030" y="497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Testing &amp; Evaluation (RMSE / MAPE)</a:t>
            </a:r>
          </a:p>
        </p:txBody>
      </p:sp>
      <p:sp>
        <p:nvSpPr>
          <p:cNvPr id="67" name="Rounded Rectangle 66"/>
          <p:cNvSpPr/>
          <p:nvPr/>
        </p:nvSpPr>
        <p:spPr>
          <a:xfrm>
            <a:off x="6768392" y="503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Rectangle 67"/>
          <p:cNvSpPr/>
          <p:nvPr/>
        </p:nvSpPr>
        <p:spPr>
          <a:xfrm>
            <a:off x="111030" y="579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201030" y="549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70" name="Rounded Rectangle 69"/>
          <p:cNvSpPr/>
          <p:nvPr/>
        </p:nvSpPr>
        <p:spPr>
          <a:xfrm>
            <a:off x="7197128" y="546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Rectangle 70"/>
          <p:cNvSpPr/>
          <p:nvPr/>
        </p:nvSpPr>
        <p:spPr>
          <a:xfrm>
            <a:off x="111030" y="580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p:cNvSpPr/>
          <p:nvPr/>
        </p:nvSpPr>
        <p:spPr>
          <a:xfrm>
            <a:off x="111030" y="622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201030" y="583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74" name="Rounded Rectangle 73"/>
          <p:cNvSpPr/>
          <p:nvPr/>
        </p:nvSpPr>
        <p:spPr>
          <a:xfrm>
            <a:off x="8054600" y="589675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Rectangle 74"/>
          <p:cNvSpPr/>
          <p:nvPr/>
        </p:nvSpPr>
        <p:spPr>
          <a:xfrm>
            <a:off x="4169624" y="200000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4028496" y="183420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77" name="Rectangle 76"/>
          <p:cNvSpPr/>
          <p:nvPr/>
        </p:nvSpPr>
        <p:spPr>
          <a:xfrm>
            <a:off x="8885723" y="200000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ounded Rectangle 77"/>
          <p:cNvSpPr/>
          <p:nvPr/>
        </p:nvSpPr>
        <p:spPr>
          <a:xfrm>
            <a:off x="111030" y="631000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78"/>
          <p:cNvSpPr txBox="1"/>
          <p:nvPr/>
        </p:nvSpPr>
        <p:spPr>
          <a:xfrm>
            <a:off x="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80" name="Rounded Rectangle 79"/>
          <p:cNvSpPr/>
          <p:nvPr/>
        </p:nvSpPr>
        <p:spPr>
          <a:xfrm>
            <a:off x="1611030" y="6310000"/>
            <a:ext cx="220000" cy="1400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p:cNvSpPr txBox="1"/>
          <p:nvPr/>
        </p:nvSpPr>
        <p:spPr>
          <a:xfrm>
            <a:off x="18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82" name="Rounded Rectangle 81"/>
          <p:cNvSpPr/>
          <p:nvPr/>
        </p:nvSpPr>
        <p:spPr>
          <a:xfrm>
            <a:off x="3111030" y="631000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3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84" name="TextBox 83"/>
          <p:cNvSpPr txBox="1"/>
          <p:nvPr/>
        </p:nvSpPr>
        <p:spPr>
          <a:xfrm>
            <a:off x="6392918" y="6295362"/>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6" name="Rectangle 5">
            <a:extLst>
              <a:ext uri="{FF2B5EF4-FFF2-40B4-BE49-F238E27FC236}">
                <a16:creationId xmlns:a16="http://schemas.microsoft.com/office/drawing/2014/main" id="{A656641B-5A29-0108-D3F9-4A7357463743}"/>
              </a:ext>
            </a:extLst>
          </p:cNvPr>
          <p:cNvSpPr/>
          <p:nvPr/>
        </p:nvSpPr>
        <p:spPr>
          <a:xfrm>
            <a:off x="2402980" y="200463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319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2f13355470_0_53"/>
          <p:cNvSpPr txBox="1">
            <a:spLocks noGrp="1"/>
          </p:cNvSpPr>
          <p:nvPr>
            <p:ph type="title"/>
          </p:nvPr>
        </p:nvSpPr>
        <p:spPr>
          <a:xfrm flipH="1">
            <a:off x="457200" y="1604818"/>
            <a:ext cx="8229600" cy="3648364"/>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13</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1394</Words>
  <Application>Microsoft Office PowerPoint</Application>
  <PresentationFormat>On-screen Show (4:3)</PresentationFormat>
  <Paragraphs>205</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Cambria</vt:lpstr>
      <vt:lpstr>Calibri</vt:lpstr>
      <vt:lpstr>Times New Roman</vt:lpstr>
      <vt:lpstr>Arial</vt:lpstr>
      <vt:lpstr>Noto Sans Symbols</vt:lpstr>
      <vt:lpstr>MPSTME</vt:lpstr>
      <vt:lpstr>   Project Review-I Presentation on Demand Forecasting and Inventory Recommendation  for Small Food Retailers By (G1) 1. Chinmay Patil 2. Soumy Raghuvanshi 3. Yatin Patil Under the Guidance of Dr. Srikanth Pulipeti </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YATIN PATIL</cp:lastModifiedBy>
  <cp:revision>15</cp:revision>
  <dcterms:created xsi:type="dcterms:W3CDTF">2017-04-11T09:48:28Z</dcterms:created>
  <dcterms:modified xsi:type="dcterms:W3CDTF">2026-08-05T11:08:52Z</dcterms:modified>
</cp:coreProperties>
</file>