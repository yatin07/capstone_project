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
  </p:notesMasterIdLst>
  <p:handoutMasterIdLst>
    <p:handoutMasterId r:id="rId19"/>
  </p:handoutMasterIdLst>
  <p:sldIdLst>
    <p:sldId id="256" r:id="rId26"/>
    <p:sldId id="257" r:id="rId27"/>
    <p:sldId id="258" r:id="rId28"/>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53E"/>
    <a:srgbClr val="245B8A"/>
    <a:srgbClr val="F3DA6B"/>
    <a:srgbClr val="FCFDFC"/>
    <a:srgbClr val="FEFEFC"/>
    <a:srgbClr val="C62829"/>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3169B5-15AE-DBDD-9604-384BF60A2E0A}" v="2" dt="2026-08-07T17:27:04.825"/>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1277"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6/11/relationships/changesInfo" Target="changesInfos/changesInfo1.xml"/><Relationship Id="rId25" Type="http://schemas.microsoft.com/office/2015/10/relationships/revisionInfo" Target="revisionInfo.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C83169B5-15AE-DBDD-9604-384BF60A2E0A}"/>
    <pc:docChg chg="modSld">
      <pc:chgData name="" userId="" providerId="" clId="Web-{C83169B5-15AE-DBDD-9604-384BF60A2E0A}" dt="2026-08-07T17:27:04.825" v="1" actId="1076"/>
      <pc:docMkLst>
        <pc:docMk/>
      </pc:docMkLst>
      <pc:sldChg chg="modSp">
        <pc:chgData name="" userId="" providerId="" clId="Web-{C83169B5-15AE-DBDD-9604-384BF60A2E0A}" dt="2026-08-07T17:27:04.825" v="1" actId="1076"/>
        <pc:sldMkLst>
          <pc:docMk/>
          <pc:sldMk cId="3564950406" sldId="256"/>
        </pc:sldMkLst>
        <pc:picChg chg="mod">
          <ac:chgData name="" userId="" providerId="" clId="Web-{C83169B5-15AE-DBDD-9604-384BF60A2E0A}" dt="2026-08-07T17:27:04.825" v="1" actId="1076"/>
          <ac:picMkLst>
            <pc:docMk/>
            <pc:sldMk cId="3564950406" sldId="256"/>
            <ac:picMk id="6"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ED0C86-FBDC-4F4B-868F-AD75546791C9}" type="datetimeFigureOut">
              <a:rPr lang="en-IN" smtClean="0"/>
              <a:t>08-08-2026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DDF0C8-312A-47D5-B2F4-EC84B28678E7}" type="slidenum">
              <a:rPr lang="en-IN" smtClean="0"/>
              <a:t>‹#›</a:t>
            </a:fld>
            <a:endParaRPr lang="en-IN"/>
          </a:p>
        </p:txBody>
      </p:sp>
    </p:spTree>
    <p:extLst>
      <p:ext uri="{BB962C8B-B14F-4D97-AF65-F5344CB8AC3E}">
        <p14:creationId xmlns:p14="http://schemas.microsoft.com/office/powerpoint/2010/main" val="37535770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20C9C-43E4-4A05-8258-078FAE48E1C5}" type="datetimeFigureOut">
              <a:rPr lang="en-US" smtClean="0"/>
              <a:t>8/8/2026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DD2F5-B3BE-4FC0-9A06-F4EF821376E0}" type="slidenum">
              <a:rPr lang="en-US" smtClean="0"/>
              <a:t>‹#›</a:t>
            </a:fld>
            <a:endParaRPr lang="en-US"/>
          </a:p>
        </p:txBody>
      </p:sp>
    </p:spTree>
    <p:extLst>
      <p:ext uri="{BB962C8B-B14F-4D97-AF65-F5344CB8AC3E}">
        <p14:creationId xmlns:p14="http://schemas.microsoft.com/office/powerpoint/2010/main" val="211351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E27762-CF53-41B2-8332-42AC258A58BE}" type="datetime1">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066221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0EA483-BB4B-4DBC-931E-3BF85FAE6A67}" type="datetime1">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2594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27A45-7C51-4151-9B1B-1CA80AE62BB7}" type="datetime1">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9744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AF275D-B4B9-451C-BE93-8DB98955D399}" type="datetime1">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193755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11117E-90CC-4F18-B8A4-D8D0F9191E86}" type="datetime1">
              <a:rPr lang="en-US" smtClean="0"/>
              <a:t>8/8/2026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416460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6B89A9-0E18-486C-9BBB-0139AC9D6E2D}" type="datetime1">
              <a:rPr lang="en-US" smtClean="0"/>
              <a:t>8/8/2026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184622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0A26EB-BB09-4DA4-BAE7-6CB857A6EABB}" type="datetime1">
              <a:rPr lang="en-US" smtClean="0"/>
              <a:t>8/8/2026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571015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DCCE52-B654-4B38-8F99-60DF87FDAE55}" type="datetime1">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4031667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CEAC99-A21A-4B2B-8209-0F0DB40DCF77}" type="datetime1">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902496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E31EE7-D61B-4A5B-B5F8-D5F455DA5289}" type="datetime1">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831266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E01C69-65C3-4313-BFA7-3AF5EC40E60E}" type="datetime1">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8950269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7E52B1-AF3C-45C7-8AB3-BD36D09248C9}" type="datetime1">
              <a:rPr lang="en-US" smtClean="0"/>
              <a:t>8/8/2026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C013F7-6D70-4318-BA41-212A9B59413B}" type="slidenum">
              <a:rPr lang="en-US" smtClean="0"/>
              <a:t>‹#›</a:t>
            </a:fld>
            <a:endParaRPr lang="en-US"/>
          </a:p>
        </p:txBody>
      </p:sp>
    </p:spTree>
    <p:extLst>
      <p:ext uri="{BB962C8B-B14F-4D97-AF65-F5344CB8AC3E}">
        <p14:creationId xmlns:p14="http://schemas.microsoft.com/office/powerpoint/2010/main" val="27891049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Progress (&gt;50% Completed)</a:t>
            </a:r>
          </a:p>
        </p:txBody>
      </p:sp>
      <p:sp>
        <p:nvSpPr>
          <p:cNvPr id="3" name="Rounded Rectangle 2"/>
          <p:cNvSpPr/>
          <p:nvPr/>
        </p:nvSpPr>
        <p:spPr>
          <a:xfrm>
            <a:off x="685800" y="1828800"/>
            <a:ext cx="7772400" cy="1097280"/>
          </a:xfrm>
          <a:prstGeom prst="roundRect">
            <a:avLst/>
          </a:prstGeom>
          <a:solidFill>
            <a:srgbClr val="1B433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FFFFFF"/>
                </a:solidFill>
              </a:defRPr>
            </a:pPr>
            <a:r>
              <a:t>Machine Learning Core</a:t>
            </a:r>
          </a:p>
          <a:p>
            <a:pPr>
              <a:defRPr sz="1400">
                <a:solidFill>
                  <a:srgbClr val="FFFFFF"/>
                </a:solidFill>
              </a:defRPr>
            </a:pPr>
            <a:r>
              <a:t>• Grid Search fully built and optimized (bakery_model.py).</a:t>
            </a:r>
            <a:br/>
            <a:r>
              <a:t>• Cross-Validation pipeline active and calculating baseline RMSE metrics.</a:t>
            </a:r>
          </a:p>
        </p:txBody>
      </p:sp>
      <p:sp>
        <p:nvSpPr>
          <p:cNvPr id="4" name="Rounded Rectangle 3"/>
          <p:cNvSpPr/>
          <p:nvPr/>
        </p:nvSpPr>
        <p:spPr>
          <a:xfrm>
            <a:off x="685800" y="3200400"/>
            <a:ext cx="7772400" cy="1097280"/>
          </a:xfrm>
          <a:prstGeom prst="roundRect">
            <a:avLst/>
          </a:prstGeom>
          <a:solidFill>
            <a:srgbClr val="FFB70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FFFFFF"/>
                </a:solidFill>
              </a:defRPr>
            </a:pPr>
            <a:r>
              <a:t>Frontend Mobile UI</a:t>
            </a:r>
          </a:p>
          <a:p>
            <a:pPr>
              <a:defRPr sz="1400">
                <a:solidFill>
                  <a:srgbClr val="FFFFFF"/>
                </a:solidFill>
              </a:defRPr>
            </a:pPr>
            <a:r>
              <a:t>• Flutter 'Warm Tech' UI successfully scaffolded via Stitch.</a:t>
            </a:r>
            <a:br/>
            <a:r>
              <a:t>• Dashboard and input screens designed for non-technical users.</a:t>
            </a:r>
          </a:p>
        </p:txBody>
      </p:sp>
      <p:sp>
        <p:nvSpPr>
          <p:cNvPr id="5" name="Rounded Rectangle 4"/>
          <p:cNvSpPr/>
          <p:nvPr/>
        </p:nvSpPr>
        <p:spPr>
          <a:xfrm>
            <a:off x="685800" y="4572000"/>
            <a:ext cx="7772400" cy="1097280"/>
          </a:xfrm>
          <a:prstGeom prst="roundRect">
            <a:avLst/>
          </a:prstGeom>
          <a:solidFill>
            <a:srgbClr val="2196F3"/>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FFFFFF"/>
                </a:solidFill>
              </a:defRPr>
            </a:pPr>
            <a:r>
              <a:t>Backend API Bridge</a:t>
            </a:r>
          </a:p>
          <a:p>
            <a:pPr>
              <a:defRPr sz="1400">
                <a:solidFill>
                  <a:srgbClr val="FFFFFF"/>
                </a:solidFill>
              </a:defRPr>
            </a:pPr>
            <a:r>
              <a:t>• FastAPI bridge architecture finalized.</a:t>
            </a:r>
            <a:br/>
            <a:r>
              <a:t>• Ready to connect ML Simulator to Flutter frontend.</a:t>
            </a:r>
          </a:p>
        </p:txBody>
      </p:sp>
    </p:spTree>
  </p:cSld>
  <p:clrMapOvr>
    <a:masterClrMapping/>
  </p:clrMapOvr>
</p:sld>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Progress (&gt;50% Completed)</a:t>
            </a:r>
          </a:p>
        </p:txBody>
      </p:sp>
      <p:sp>
        <p:nvSpPr>
          <p:cNvPr id="3" name="Rounded Rectangle 2"/>
          <p:cNvSpPr/>
          <p:nvPr/>
        </p:nvSpPr>
        <p:spPr>
          <a:xfrm>
            <a:off x="685800" y="1828800"/>
            <a:ext cx="7772400" cy="1097280"/>
          </a:xfrm>
          <a:prstGeom prst="roundRect">
            <a:avLst/>
          </a:prstGeom>
          <a:solidFill>
            <a:srgbClr val="1B433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FFFFFF"/>
                </a:solidFill>
              </a:defRPr>
            </a:pPr>
            <a:r>
              <a:t>Machine Learning Core</a:t>
            </a:r>
          </a:p>
          <a:p>
            <a:pPr>
              <a:defRPr sz="1400">
                <a:solidFill>
                  <a:srgbClr val="FFFFFF"/>
                </a:solidFill>
              </a:defRPr>
            </a:pPr>
            <a:r>
              <a:t>• Grid Search fully built and optimized (bakery_model.py).</a:t>
            </a:r>
            <a:br/>
            <a:r>
              <a:t>• Cross-Validation pipeline active and calculating baseline RMSE metrics.</a:t>
            </a:r>
          </a:p>
        </p:txBody>
      </p:sp>
      <p:sp>
        <p:nvSpPr>
          <p:cNvPr id="4" name="Rounded Rectangle 3"/>
          <p:cNvSpPr/>
          <p:nvPr/>
        </p:nvSpPr>
        <p:spPr>
          <a:xfrm>
            <a:off x="685800" y="3200400"/>
            <a:ext cx="7772400" cy="1097280"/>
          </a:xfrm>
          <a:prstGeom prst="roundRect">
            <a:avLst/>
          </a:prstGeom>
          <a:solidFill>
            <a:srgbClr val="FFB70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FFFFFF"/>
                </a:solidFill>
              </a:defRPr>
            </a:pPr>
            <a:r>
              <a:t>Frontend Mobile UI</a:t>
            </a:r>
          </a:p>
          <a:p>
            <a:pPr>
              <a:defRPr sz="1400">
                <a:solidFill>
                  <a:srgbClr val="FFFFFF"/>
                </a:solidFill>
              </a:defRPr>
            </a:pPr>
            <a:r>
              <a:t>• Flutter 'Warm Tech' UI successfully scaffolded via Stitch.</a:t>
            </a:r>
            <a:br/>
            <a:r>
              <a:t>• Dashboard and input screens designed for non-technical users.</a:t>
            </a:r>
          </a:p>
        </p:txBody>
      </p:sp>
      <p:sp>
        <p:nvSpPr>
          <p:cNvPr id="5" name="Rounded Rectangle 4"/>
          <p:cNvSpPr/>
          <p:nvPr/>
        </p:nvSpPr>
        <p:spPr>
          <a:xfrm>
            <a:off x="685800" y="4572000"/>
            <a:ext cx="7772400" cy="1097280"/>
          </a:xfrm>
          <a:prstGeom prst="roundRect">
            <a:avLst/>
          </a:prstGeom>
          <a:solidFill>
            <a:srgbClr val="2196F3"/>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FFFFFF"/>
                </a:solidFill>
              </a:defRPr>
            </a:pPr>
            <a:r>
              <a:t>Backend API Bridge</a:t>
            </a:r>
          </a:p>
          <a:p>
            <a:pPr>
              <a:defRPr sz="1400">
                <a:solidFill>
                  <a:srgbClr val="FFFFFF"/>
                </a:solidFill>
              </a:defRPr>
            </a:pPr>
            <a:r>
              <a:t>• FastAPI bridge architecture finalized.</a:t>
            </a:r>
            <a:br/>
            <a:r>
              <a:t>• Ready to connect ML Simulator to Flutter frontend.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Working Demonstration &amp; Initial Results</a:t>
            </a:r>
          </a:p>
        </p:txBody>
      </p:sp>
      <p:sp>
        <p:nvSpPr>
          <p:cNvPr id="3" name="Rectangle 2"/>
          <p:cNvSpPr/>
          <p:nvPr/>
        </p:nvSpPr>
        <p:spPr>
          <a:xfrm>
            <a:off x="457200" y="1828800"/>
            <a:ext cx="3886200" cy="4114800"/>
          </a:xfrm>
          <a:prstGeom prst="rect">
            <a:avLst/>
          </a:prstGeom>
          <a:solidFill>
            <a:srgbClr val="F0F0F0"/>
          </a:solidFill>
          <a:ln w="25400">
            <a:solidFill>
              <a:srgbClr val="646464"/>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646464"/>
                </a:solidFill>
              </a:defRPr>
            </a:pPr>
            <a:r>
              <a:t>PASTE SCREENSHOT HERE</a:t>
            </a:r>
          </a:p>
          <a:p/>
          <a:p>
            <a:r>
              <a:t>Python Terminal Output</a:t>
            </a:r>
          </a:p>
          <a:p>
            <a:r>
              <a:t>(Prophet Grid Search &amp; RMSE)</a:t>
            </a:r>
          </a:p>
        </p:txBody>
      </p:sp>
      <p:sp>
        <p:nvSpPr>
          <p:cNvPr id="4" name="Rectangle 3"/>
          <p:cNvSpPr/>
          <p:nvPr/>
        </p:nvSpPr>
        <p:spPr>
          <a:xfrm>
            <a:off x="4800600" y="1828800"/>
            <a:ext cx="3886200" cy="4114800"/>
          </a:xfrm>
          <a:prstGeom prst="rect">
            <a:avLst/>
          </a:prstGeom>
          <a:solidFill>
            <a:srgbClr val="F0F0F0"/>
          </a:solidFill>
          <a:ln w="25400">
            <a:solidFill>
              <a:srgbClr val="646464"/>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646464"/>
                </a:solidFill>
              </a:defRPr>
            </a:pPr>
            <a:r>
              <a:t>PASTE SCREENSHOT HERE</a:t>
            </a:r>
          </a:p>
          <a:p/>
          <a:p>
            <a:r>
              <a:t>Flutter Mobile App UI</a:t>
            </a:r>
          </a:p>
          <a:p>
            <a:r>
              <a:t>(Dashboard Scaffold)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Working Demonstration &amp; Initial Results</a:t>
            </a:r>
          </a:p>
        </p:txBody>
      </p:sp>
      <p:sp>
        <p:nvSpPr>
          <p:cNvPr id="3" name="Rectangle 2"/>
          <p:cNvSpPr/>
          <p:nvPr/>
        </p:nvSpPr>
        <p:spPr>
          <a:xfrm>
            <a:off x="457200" y="1828800"/>
            <a:ext cx="3886200" cy="4114800"/>
          </a:xfrm>
          <a:prstGeom prst="rect">
            <a:avLst/>
          </a:prstGeom>
          <a:solidFill>
            <a:srgbClr val="F0F0F0"/>
          </a:solidFill>
          <a:ln w="25400">
            <a:solidFill>
              <a:srgbClr val="646464"/>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646464"/>
                </a:solidFill>
              </a:defRPr>
            </a:pPr>
            <a:r>
              <a:t>PASTE SCREENSHOT HERE</a:t>
            </a:r>
          </a:p>
          <a:p/>
          <a:p>
            <a:r>
              <a:t>Python Terminal Output</a:t>
            </a:r>
          </a:p>
          <a:p>
            <a:r>
              <a:t>(Prophet Grid Search &amp; RMSE)</a:t>
            </a:r>
          </a:p>
        </p:txBody>
      </p:sp>
      <p:sp>
        <p:nvSpPr>
          <p:cNvPr id="4" name="Rectangle 3"/>
          <p:cNvSpPr/>
          <p:nvPr/>
        </p:nvSpPr>
        <p:spPr>
          <a:xfrm>
            <a:off x="4800600" y="1828800"/>
            <a:ext cx="3886200" cy="4114800"/>
          </a:xfrm>
          <a:prstGeom prst="rect">
            <a:avLst/>
          </a:prstGeom>
          <a:solidFill>
            <a:srgbClr val="F0F0F0"/>
          </a:solidFill>
          <a:ln w="25400">
            <a:solidFill>
              <a:srgbClr val="646464"/>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646464"/>
                </a:solidFill>
              </a:defRPr>
            </a:pPr>
            <a:r>
              <a:t>PASTE SCREENSHOT HERE</a:t>
            </a:r>
          </a:p>
          <a:p/>
          <a:p>
            <a:r>
              <a:t>Flutter Mobile App UI</a:t>
            </a:r>
          </a:p>
          <a:p>
            <a:r>
              <a:t>(Dashboard Scaffold)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Status, Remaining Work &amp; Future Extensions</a:t>
            </a:r>
          </a:p>
        </p:txBody>
      </p:sp>
      <p:sp>
        <p:nvSpPr>
          <p:cNvPr id="3" name="Rectangle 2"/>
          <p:cNvSpPr/>
          <p:nvPr/>
        </p:nvSpPr>
        <p:spPr>
          <a:xfrm>
            <a:off x="457200" y="1645920"/>
            <a:ext cx="8229600" cy="731520"/>
          </a:xfrm>
          <a:prstGeom prst="rect">
            <a:avLst/>
          </a:prstGeom>
          <a:solidFill>
            <a:srgbClr val="1B433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600">
                <a:solidFill>
                  <a:srgbClr val="FFFFFF"/>
                </a:solidFill>
              </a:defRPr>
            </a:pPr>
            <a:r>
              <a:t>GANTT CHART STATUS: strictly on schedule per Review 1 timeline.</a:t>
            </a:r>
          </a:p>
        </p:txBody>
      </p:sp>
      <p:sp>
        <p:nvSpPr>
          <p:cNvPr id="4" name="Rounded Rectangle 3"/>
          <p:cNvSpPr/>
          <p:nvPr/>
        </p:nvSpPr>
        <p:spPr>
          <a:xfrm>
            <a:off x="457200" y="2651760"/>
            <a:ext cx="3931920" cy="3657600"/>
          </a:xfrm>
          <a:prstGeom prst="roundRect">
            <a:avLst/>
          </a:prstGeom>
          <a:solidFill>
            <a:srgbClr val="F5F5F5"/>
          </a:solidFill>
          <a:ln w="254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1B4332"/>
                </a:solidFill>
              </a:defRPr>
            </a:pPr>
            <a:r>
              <a:t>Remaining Work (Review 3)</a:t>
            </a:r>
          </a:p>
          <a:p>
            <a:pPr>
              <a:defRPr sz="1400">
                <a:solidFill>
                  <a:srgbClr val="000000"/>
                </a:solidFill>
              </a:defRPr>
            </a:pPr>
            <a:r>
              <a:t>• API Integration: Connect FastAPI to Flutter frontend.</a:t>
            </a:r>
          </a:p>
          <a:p>
            <a:pPr>
              <a:defRPr sz="1400">
                <a:solidFill>
                  <a:srgbClr val="000000"/>
                </a:solidFill>
              </a:defRPr>
            </a:pPr>
            <a:r>
              <a:t>• Waste Action Engine: Code intraday logic for markdowns.</a:t>
            </a:r>
          </a:p>
          <a:p>
            <a:pPr>
              <a:defRPr sz="1400">
                <a:solidFill>
                  <a:srgbClr val="000000"/>
                </a:solidFill>
              </a:defRPr>
            </a:pPr>
            <a:r>
              <a:t>• Generalization Test: Evaluate on Indian holdout dataset.</a:t>
            </a:r>
          </a:p>
        </p:txBody>
      </p:sp>
      <p:sp>
        <p:nvSpPr>
          <p:cNvPr id="5" name="Rounded Rectangle 4"/>
          <p:cNvSpPr/>
          <p:nvPr/>
        </p:nvSpPr>
        <p:spPr>
          <a:xfrm>
            <a:off x="4754880" y="2651760"/>
            <a:ext cx="3931920" cy="3657600"/>
          </a:xfrm>
          <a:prstGeom prst="roundRect">
            <a:avLst/>
          </a:prstGeom>
          <a:solidFill>
            <a:srgbClr val="F5F5F5"/>
          </a:solidFill>
          <a:ln w="25400">
            <a:solidFill>
              <a:srgbClr val="FFB7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FFB702"/>
                </a:solidFill>
              </a:defRPr>
            </a:pPr>
            <a:r>
              <a:t>Future Extensions</a:t>
            </a:r>
          </a:p>
          <a:p>
            <a:pPr>
              <a:defRPr sz="1400">
                <a:solidFill>
                  <a:srgbClr val="000000"/>
                </a:solidFill>
              </a:defRPr>
            </a:pPr>
            <a:r>
              <a:t>• Multi-location chain forecasting.</a:t>
            </a:r>
          </a:p>
          <a:p>
            <a:pPr>
              <a:defRPr sz="1400">
                <a:solidFill>
                  <a:srgbClr val="000000"/>
                </a:solidFill>
              </a:defRPr>
            </a:pPr>
            <a:r>
              <a:t>• Live POS (Point of Sale) hardware integration.</a:t>
            </a:r>
          </a:p>
          <a:p>
            <a:pPr>
              <a:defRPr sz="1400">
                <a:solidFill>
                  <a:srgbClr val="000000"/>
                </a:solidFill>
              </a:defRPr>
            </a:pPr>
            <a:r>
              <a:t>• Interactive LLM chatbot for dynamic questioning.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Status, Remaining Work &amp; Future Extensions</a:t>
            </a:r>
          </a:p>
        </p:txBody>
      </p:sp>
      <p:sp>
        <p:nvSpPr>
          <p:cNvPr id="3" name="Rectangle 2"/>
          <p:cNvSpPr/>
          <p:nvPr/>
        </p:nvSpPr>
        <p:spPr>
          <a:xfrm>
            <a:off x="457200" y="1645920"/>
            <a:ext cx="8229600" cy="731520"/>
          </a:xfrm>
          <a:prstGeom prst="rect">
            <a:avLst/>
          </a:prstGeom>
          <a:solidFill>
            <a:srgbClr val="1B433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600">
                <a:solidFill>
                  <a:srgbClr val="FFFFFF"/>
                </a:solidFill>
              </a:defRPr>
            </a:pPr>
            <a:r>
              <a:t>GANTT CHART STATUS: strictly on schedule per Review 1 timeline.</a:t>
            </a:r>
          </a:p>
        </p:txBody>
      </p:sp>
      <p:sp>
        <p:nvSpPr>
          <p:cNvPr id="4" name="Rounded Rectangle 3"/>
          <p:cNvSpPr/>
          <p:nvPr/>
        </p:nvSpPr>
        <p:spPr>
          <a:xfrm>
            <a:off x="457200" y="2651760"/>
            <a:ext cx="3931920" cy="3657600"/>
          </a:xfrm>
          <a:prstGeom prst="roundRect">
            <a:avLst/>
          </a:prstGeom>
          <a:solidFill>
            <a:srgbClr val="F5F5F5"/>
          </a:solidFill>
          <a:ln w="254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1B4332"/>
                </a:solidFill>
              </a:defRPr>
            </a:pPr>
            <a:r>
              <a:t>Remaining Work (Review 3)</a:t>
            </a:r>
          </a:p>
          <a:p>
            <a:pPr>
              <a:defRPr sz="1400">
                <a:solidFill>
                  <a:srgbClr val="000000"/>
                </a:solidFill>
              </a:defRPr>
            </a:pPr>
            <a:r>
              <a:t>• API Integration: Connect FastAPI to Flutter frontend.</a:t>
            </a:r>
          </a:p>
          <a:p>
            <a:pPr>
              <a:defRPr sz="1400">
                <a:solidFill>
                  <a:srgbClr val="000000"/>
                </a:solidFill>
              </a:defRPr>
            </a:pPr>
            <a:r>
              <a:t>• Waste Action Engine: Code intraday logic for markdowns.</a:t>
            </a:r>
          </a:p>
          <a:p>
            <a:pPr>
              <a:defRPr sz="1400">
                <a:solidFill>
                  <a:srgbClr val="000000"/>
                </a:solidFill>
              </a:defRPr>
            </a:pPr>
            <a:r>
              <a:t>• Generalization Test: Evaluate on Indian holdout dataset.</a:t>
            </a:r>
          </a:p>
        </p:txBody>
      </p:sp>
      <p:sp>
        <p:nvSpPr>
          <p:cNvPr id="5" name="Rounded Rectangle 4"/>
          <p:cNvSpPr/>
          <p:nvPr/>
        </p:nvSpPr>
        <p:spPr>
          <a:xfrm>
            <a:off x="4754880" y="2651760"/>
            <a:ext cx="3931920" cy="3657600"/>
          </a:xfrm>
          <a:prstGeom prst="roundRect">
            <a:avLst/>
          </a:prstGeom>
          <a:solidFill>
            <a:srgbClr val="F5F5F5"/>
          </a:solidFill>
          <a:ln w="25400">
            <a:solidFill>
              <a:srgbClr val="FFB70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FFB702"/>
                </a:solidFill>
              </a:defRPr>
            </a:pPr>
            <a:r>
              <a:t>Future Extensions</a:t>
            </a:r>
          </a:p>
          <a:p>
            <a:pPr>
              <a:defRPr sz="1400">
                <a:solidFill>
                  <a:srgbClr val="000000"/>
                </a:solidFill>
              </a:defRPr>
            </a:pPr>
            <a:r>
              <a:t>• Multi-location chain forecasting.</a:t>
            </a:r>
          </a:p>
          <a:p>
            <a:pPr>
              <a:defRPr sz="1400">
                <a:solidFill>
                  <a:srgbClr val="000000"/>
                </a:solidFill>
              </a:defRPr>
            </a:pPr>
            <a:r>
              <a:t>• Live POS (Point of Sale) hardware integration.</a:t>
            </a:r>
          </a:p>
          <a:p>
            <a:pPr>
              <a:defRPr sz="1400">
                <a:solidFill>
                  <a:srgbClr val="000000"/>
                </a:solidFill>
              </a:defRPr>
            </a:pPr>
            <a:r>
              <a:t>• Interactive LLM chatbot for dynamic questioning.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7A5E8-CDBB-FFC1-BAC6-65DC397CAD2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A2DBE7B-582B-34A1-9614-579124E9F2D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785F62C8-64C8-C5E7-0EBB-14C2A5A4DD35}"/>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F361BBF-8ABD-CF3A-CDBA-C0A2325E658A}"/>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C04C029-B346-0996-B6CB-F706FCE5BBA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3EA9C35F-F3CE-3ECF-53E2-3F32F512022C}"/>
              </a:ext>
            </a:extLst>
          </p:cNvPr>
          <p:cNvSpPr>
            <a:spLocks noGrp="1"/>
          </p:cNvSpPr>
          <p:nvPr>
            <p:ph type="sldNum" sz="quarter" idx="12"/>
          </p:nvPr>
        </p:nvSpPr>
        <p:spPr/>
        <p:txBody>
          <a:bodyPr/>
          <a:lstStyle/>
          <a:p>
            <a:fld id="{9DC013F7-6D70-4318-BA41-212A9B59413B}" type="slidenum">
              <a:rPr lang="en-US" smtClean="0"/>
              <a:t>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3146348-8366-C50C-F3DC-886E5256608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40493026-3C60-FF79-4552-5D4F2BF5A5B8}"/>
              </a:ext>
            </a:extLst>
          </p:cNvPr>
          <p:cNvSpPr/>
          <p:nvPr/>
        </p:nvSpPr>
        <p:spPr>
          <a:xfrm>
            <a:off x="465284"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B4977E8B-34BD-F46B-D9D5-FB06F2D2DBEE}"/>
              </a:ext>
            </a:extLst>
          </p:cNvPr>
          <p:cNvSpPr/>
          <p:nvPr/>
        </p:nvSpPr>
        <p:spPr>
          <a:xfrm>
            <a:off x="148958" y="1260563"/>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Times New Roman" panose="02020603050405020304" pitchFamily="18" charset="0"/>
                <a:ea typeface="Cambria" pitchFamily="34" charset="-122"/>
                <a:cs typeface="Times New Roman" panose="02020603050405020304" pitchFamily="18" charset="0"/>
              </a:rPr>
              <a:t>Problem Statement</a:t>
            </a:r>
            <a:endParaRPr lang="en-US" sz="2700" dirty="0">
              <a:latin typeface="Times New Roman" panose="02020603050405020304" pitchFamily="18" charset="0"/>
              <a:cs typeface="Times New Roman" panose="02020603050405020304" pitchFamily="18" charset="0"/>
            </a:endParaRPr>
          </a:p>
        </p:txBody>
      </p:sp>
      <p:sp>
        <p:nvSpPr>
          <p:cNvPr id="14" name="Shape 4">
            <a:extLst>
              <a:ext uri="{FF2B5EF4-FFF2-40B4-BE49-F238E27FC236}">
                <a16:creationId xmlns:a16="http://schemas.microsoft.com/office/drawing/2014/main" id="{6641322A-A277-ACED-BBA4-31E26207618B}"/>
              </a:ext>
            </a:extLst>
          </p:cNvPr>
          <p:cNvSpPr/>
          <p:nvPr/>
        </p:nvSpPr>
        <p:spPr>
          <a:xfrm flipV="1">
            <a:off x="531511" y="1854923"/>
            <a:ext cx="8709164" cy="18288"/>
          </a:xfrm>
          <a:prstGeom prst="line">
            <a:avLst/>
          </a:prstGeom>
          <a:noFill/>
          <a:ln w="12700">
            <a:solidFill>
              <a:srgbClr val="E0DAD8"/>
            </a:solidFill>
            <a:prstDash val="solid"/>
          </a:ln>
        </p:spPr>
        <p:txBody>
          <a:bodyPr/>
          <a:lstStyle/>
          <a:p>
            <a:endParaRPr lang="en-IN"/>
          </a:p>
        </p:txBody>
      </p:sp>
      <p:sp>
        <p:nvSpPr>
          <p:cNvPr id="16" name="Text 5">
            <a:extLst>
              <a:ext uri="{FF2B5EF4-FFF2-40B4-BE49-F238E27FC236}">
                <a16:creationId xmlns:a16="http://schemas.microsoft.com/office/drawing/2014/main" id="{845C03B6-916D-5502-50A0-3C6E63AAABE2}"/>
              </a:ext>
            </a:extLst>
          </p:cNvPr>
          <p:cNvSpPr/>
          <p:nvPr/>
        </p:nvSpPr>
        <p:spPr>
          <a:xfrm>
            <a:off x="531511" y="2121408"/>
            <a:ext cx="8995042" cy="640080"/>
          </a:xfrm>
          <a:prstGeom prst="rect">
            <a:avLst/>
          </a:prstGeom>
          <a:noFill/>
          <a:ln/>
        </p:spPr>
        <p:txBody>
          <a:bodyPr wrap="square" lIns="0" tIns="0" rIns="0" bIns="0" rtlCol="0" anchor="ctr"/>
          <a:lstStyle/>
          <a:p>
            <a:pPr marL="0" indent="0">
              <a:lnSpc>
                <a:spcPct val="115000"/>
              </a:lnSpc>
              <a:buNone/>
            </a:pPr>
            <a:r>
              <a:rPr lang="en-US" sz="1800" dirty="0">
                <a:solidFill>
                  <a:srgbClr val="262626"/>
                </a:solidFill>
                <a:latin typeface="Times New Roman" panose="02020603050405020304" pitchFamily="18" charset="0"/>
                <a:ea typeface="Calibri" pitchFamily="34" charset="-122"/>
                <a:cs typeface="Times New Roman" panose="02020603050405020304" pitchFamily="18" charset="0"/>
              </a:rPr>
              <a:t>Small food businesses like cafes, bakeries, independent restaurants make daily purchasing decisions with no reliable way to predict tomorrow's demand.</a:t>
            </a:r>
            <a:endParaRPr lang="en-US" sz="1800" dirty="0">
              <a:latin typeface="Times New Roman" panose="02020603050405020304" pitchFamily="18" charset="0"/>
              <a:cs typeface="Times New Roman" panose="02020603050405020304" pitchFamily="18" charset="0"/>
            </a:endParaRPr>
          </a:p>
        </p:txBody>
      </p:sp>
      <p:sp>
        <p:nvSpPr>
          <p:cNvPr id="18" name="Shape 6">
            <a:extLst>
              <a:ext uri="{FF2B5EF4-FFF2-40B4-BE49-F238E27FC236}">
                <a16:creationId xmlns:a16="http://schemas.microsoft.com/office/drawing/2014/main" id="{E42DFE1E-63F0-B663-F880-4A8231176C2B}"/>
              </a:ext>
            </a:extLst>
          </p:cNvPr>
          <p:cNvSpPr/>
          <p:nvPr/>
        </p:nvSpPr>
        <p:spPr>
          <a:xfrm>
            <a:off x="531511" y="2880360"/>
            <a:ext cx="8778732" cy="1188720"/>
          </a:xfrm>
          <a:prstGeom prst="rect">
            <a:avLst/>
          </a:prstGeom>
          <a:solidFill>
            <a:srgbClr val="F7F5F4"/>
          </a:solidFill>
          <a:ln/>
        </p:spPr>
        <p:txBody>
          <a:bodyPr/>
          <a:lstStyle/>
          <a:p>
            <a:endParaRPr lang="en-IN" sz="1500"/>
          </a:p>
        </p:txBody>
      </p:sp>
      <p:sp>
        <p:nvSpPr>
          <p:cNvPr id="20" name="Text 7">
            <a:extLst>
              <a:ext uri="{FF2B5EF4-FFF2-40B4-BE49-F238E27FC236}">
                <a16:creationId xmlns:a16="http://schemas.microsoft.com/office/drawing/2014/main" id="{08A38051-F361-4B19-387B-D676770D18E9}"/>
              </a:ext>
            </a:extLst>
          </p:cNvPr>
          <p:cNvSpPr/>
          <p:nvPr/>
        </p:nvSpPr>
        <p:spPr>
          <a:xfrm>
            <a:off x="778645" y="2985427"/>
            <a:ext cx="8284464" cy="777240"/>
          </a:xfrm>
          <a:prstGeom prst="rect">
            <a:avLst/>
          </a:prstGeom>
          <a:noFill/>
          <a:ln/>
        </p:spPr>
        <p:txBody>
          <a:bodyPr wrap="square" lIns="0" tIns="0" rIns="0" bIns="0" rtlCol="0" anchor="t"/>
          <a:lstStyle/>
          <a:p>
            <a:pPr marL="0" indent="0">
              <a:lnSpc>
                <a:spcPct val="115000"/>
              </a:lnSpc>
              <a:buNone/>
            </a:pPr>
            <a:r>
              <a:rPr lang="en-US" sz="1500" b="1" dirty="0">
                <a:solidFill>
                  <a:srgbClr val="BC312C"/>
                </a:solidFill>
                <a:latin typeface="Times New Roman" panose="02020603050405020304" pitchFamily="18" charset="0"/>
                <a:ea typeface="Calibri" pitchFamily="34" charset="-122"/>
                <a:cs typeface="Times New Roman" panose="02020603050405020304" pitchFamily="18" charset="0"/>
              </a:rPr>
              <a:t>The core disconnect: </a:t>
            </a:r>
            <a:r>
              <a:rPr lang="en-US" sz="1500" dirty="0">
                <a:solidFill>
                  <a:srgbClr val="262626"/>
                </a:solidFill>
                <a:latin typeface="Times New Roman" panose="02020603050405020304" pitchFamily="18" charset="0"/>
                <a:ea typeface="Calibri" pitchFamily="34" charset="-122"/>
                <a:cs typeface="Times New Roman" panose="02020603050405020304" pitchFamily="18" charset="0"/>
              </a:rPr>
              <a:t>a cafe owner does not think in RMSE or MAPE — they want to know exactly how many loaves of bread, croissants, or cups of coffee to order tomorrow or make. Across the forecasting literature we reviewed, most studies (Aqila et al., Jatte et al., Gartner et al., Susanto et al.) stop at computing an error metric and never take the final step of producing a purchase quantity.</a:t>
            </a:r>
            <a:endParaRPr lang="en-US" sz="1500" dirty="0">
              <a:latin typeface="Times New Roman" panose="02020603050405020304" pitchFamily="18" charset="0"/>
              <a:cs typeface="Times New Roman" panose="02020603050405020304" pitchFamily="18" charset="0"/>
            </a:endParaRPr>
          </a:p>
        </p:txBody>
      </p:sp>
      <p:sp>
        <p:nvSpPr>
          <p:cNvPr id="22" name="Shape 8">
            <a:extLst>
              <a:ext uri="{FF2B5EF4-FFF2-40B4-BE49-F238E27FC236}">
                <a16:creationId xmlns:a16="http://schemas.microsoft.com/office/drawing/2014/main" id="{85E035F8-C61B-7AE2-DE85-A72C50D6F009}"/>
              </a:ext>
            </a:extLst>
          </p:cNvPr>
          <p:cNvSpPr/>
          <p:nvPr/>
        </p:nvSpPr>
        <p:spPr>
          <a:xfrm>
            <a:off x="572114"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24" name="Shape 9">
            <a:extLst>
              <a:ext uri="{FF2B5EF4-FFF2-40B4-BE49-F238E27FC236}">
                <a16:creationId xmlns:a16="http://schemas.microsoft.com/office/drawing/2014/main" id="{D79A823A-75D2-0CE3-FD23-B541F41FFBAC}"/>
              </a:ext>
            </a:extLst>
          </p:cNvPr>
          <p:cNvSpPr/>
          <p:nvPr/>
        </p:nvSpPr>
        <p:spPr>
          <a:xfrm>
            <a:off x="572114" y="4221480"/>
            <a:ext cx="1928020" cy="457994"/>
          </a:xfrm>
          <a:prstGeom prst="rect">
            <a:avLst/>
          </a:prstGeom>
          <a:solidFill>
            <a:srgbClr val="BC312C"/>
          </a:solidFill>
          <a:ln/>
        </p:spPr>
        <p:txBody>
          <a:bodyPr/>
          <a:lstStyle/>
          <a:p>
            <a:endParaRPr lang="en-IN"/>
          </a:p>
        </p:txBody>
      </p:sp>
      <p:sp>
        <p:nvSpPr>
          <p:cNvPr id="26" name="Text 10">
            <a:extLst>
              <a:ext uri="{FF2B5EF4-FFF2-40B4-BE49-F238E27FC236}">
                <a16:creationId xmlns:a16="http://schemas.microsoft.com/office/drawing/2014/main" id="{94CC21EB-081C-698E-11E3-8E610288CD30}"/>
              </a:ext>
            </a:extLst>
          </p:cNvPr>
          <p:cNvSpPr/>
          <p:nvPr/>
        </p:nvSpPr>
        <p:spPr>
          <a:xfrm>
            <a:off x="650542" y="4221480"/>
            <a:ext cx="1928020"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Forecast-to-Action Gap</a:t>
            </a:r>
            <a:endParaRPr lang="en-US" sz="1400" dirty="0">
              <a:latin typeface="Times New Roman" panose="02020603050405020304" pitchFamily="18" charset="0"/>
              <a:cs typeface="Times New Roman" panose="02020603050405020304" pitchFamily="18" charset="0"/>
            </a:endParaRPr>
          </a:p>
        </p:txBody>
      </p:sp>
      <p:sp>
        <p:nvSpPr>
          <p:cNvPr id="28" name="Text 11">
            <a:extLst>
              <a:ext uri="{FF2B5EF4-FFF2-40B4-BE49-F238E27FC236}">
                <a16:creationId xmlns:a16="http://schemas.microsoft.com/office/drawing/2014/main" id="{05BEA8FE-B93E-5277-8401-222FA0E978F0}"/>
              </a:ext>
            </a:extLst>
          </p:cNvPr>
          <p:cNvSpPr/>
          <p:nvPr/>
        </p:nvSpPr>
        <p:spPr>
          <a:xfrm>
            <a:off x="670149"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Predictions rarely convert into an operational restock quantity.</a:t>
            </a:r>
            <a:endParaRPr lang="en-US" sz="1600" dirty="0">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17CD5A46-D604-FD02-0B1D-59F7A9278354}"/>
              </a:ext>
            </a:extLst>
          </p:cNvPr>
          <p:cNvSpPr/>
          <p:nvPr/>
        </p:nvSpPr>
        <p:spPr>
          <a:xfrm>
            <a:off x="2799218"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2" name="Shape 13">
            <a:extLst>
              <a:ext uri="{FF2B5EF4-FFF2-40B4-BE49-F238E27FC236}">
                <a16:creationId xmlns:a16="http://schemas.microsoft.com/office/drawing/2014/main" id="{63B18C03-9CCE-EB94-7AEA-EAA4D9CF11E8}"/>
              </a:ext>
            </a:extLst>
          </p:cNvPr>
          <p:cNvSpPr/>
          <p:nvPr/>
        </p:nvSpPr>
        <p:spPr>
          <a:xfrm>
            <a:off x="2799218" y="4221480"/>
            <a:ext cx="1928020" cy="457994"/>
          </a:xfrm>
          <a:prstGeom prst="rect">
            <a:avLst/>
          </a:prstGeom>
          <a:solidFill>
            <a:srgbClr val="BC312C"/>
          </a:solidFill>
          <a:ln/>
        </p:spPr>
        <p:txBody>
          <a:bodyPr/>
          <a:lstStyle/>
          <a:p>
            <a:endParaRPr lang="en-IN"/>
          </a:p>
        </p:txBody>
      </p:sp>
      <p:sp>
        <p:nvSpPr>
          <p:cNvPr id="34" name="Text 14">
            <a:extLst>
              <a:ext uri="{FF2B5EF4-FFF2-40B4-BE49-F238E27FC236}">
                <a16:creationId xmlns:a16="http://schemas.microsoft.com/office/drawing/2014/main" id="{FCD2AE15-605D-3DAE-E2E4-ADD4F2F03A2D}"/>
              </a:ext>
            </a:extLst>
          </p:cNvPr>
          <p:cNvSpPr/>
          <p:nvPr/>
        </p:nvSpPr>
        <p:spPr>
          <a:xfrm>
            <a:off x="2877646"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Accessibility Gap</a:t>
            </a:r>
            <a:endParaRPr lang="en-US" sz="1400" dirty="0">
              <a:latin typeface="Times New Roman" panose="02020603050405020304" pitchFamily="18" charset="0"/>
              <a:cs typeface="Times New Roman" panose="02020603050405020304" pitchFamily="18" charset="0"/>
            </a:endParaRPr>
          </a:p>
        </p:txBody>
      </p:sp>
      <p:sp>
        <p:nvSpPr>
          <p:cNvPr id="36" name="Text 15">
            <a:extLst>
              <a:ext uri="{FF2B5EF4-FFF2-40B4-BE49-F238E27FC236}">
                <a16:creationId xmlns:a16="http://schemas.microsoft.com/office/drawing/2014/main" id="{ECE66CA8-4D0B-57F9-77C1-2BA329DF40E1}"/>
              </a:ext>
            </a:extLst>
          </p:cNvPr>
          <p:cNvSpPr/>
          <p:nvPr/>
        </p:nvSpPr>
        <p:spPr>
          <a:xfrm>
            <a:off x="2897253"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Accurate tools assume enterprise dashboards and IT staff.</a:t>
            </a:r>
            <a:endParaRPr lang="en-US" sz="1600" dirty="0">
              <a:latin typeface="Times New Roman" panose="02020603050405020304" pitchFamily="18" charset="0"/>
              <a:cs typeface="Times New Roman" panose="02020603050405020304" pitchFamily="18" charset="0"/>
            </a:endParaRPr>
          </a:p>
        </p:txBody>
      </p:sp>
      <p:sp>
        <p:nvSpPr>
          <p:cNvPr id="38" name="Shape 16">
            <a:extLst>
              <a:ext uri="{FF2B5EF4-FFF2-40B4-BE49-F238E27FC236}">
                <a16:creationId xmlns:a16="http://schemas.microsoft.com/office/drawing/2014/main" id="{B5A749D2-F325-E38C-EC8C-DFE1D6125E5E}"/>
              </a:ext>
            </a:extLst>
          </p:cNvPr>
          <p:cNvSpPr/>
          <p:nvPr/>
        </p:nvSpPr>
        <p:spPr>
          <a:xfrm>
            <a:off x="5074481"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0" name="Shape 17">
            <a:extLst>
              <a:ext uri="{FF2B5EF4-FFF2-40B4-BE49-F238E27FC236}">
                <a16:creationId xmlns:a16="http://schemas.microsoft.com/office/drawing/2014/main" id="{223210BB-5FDB-C8F1-DDEF-80DD6E421395}"/>
              </a:ext>
            </a:extLst>
          </p:cNvPr>
          <p:cNvSpPr/>
          <p:nvPr/>
        </p:nvSpPr>
        <p:spPr>
          <a:xfrm>
            <a:off x="5074481" y="4221480"/>
            <a:ext cx="1928020" cy="457994"/>
          </a:xfrm>
          <a:prstGeom prst="rect">
            <a:avLst/>
          </a:prstGeom>
          <a:solidFill>
            <a:srgbClr val="BC312C"/>
          </a:solidFill>
          <a:ln/>
        </p:spPr>
        <p:txBody>
          <a:bodyPr/>
          <a:lstStyle/>
          <a:p>
            <a:endParaRPr lang="en-IN"/>
          </a:p>
        </p:txBody>
      </p:sp>
      <p:sp>
        <p:nvSpPr>
          <p:cNvPr id="42" name="Text 18">
            <a:extLst>
              <a:ext uri="{FF2B5EF4-FFF2-40B4-BE49-F238E27FC236}">
                <a16:creationId xmlns:a16="http://schemas.microsoft.com/office/drawing/2014/main" id="{A8B4FF82-78D6-94FD-105F-13C969F37BE9}"/>
              </a:ext>
            </a:extLst>
          </p:cNvPr>
          <p:cNvSpPr/>
          <p:nvPr/>
        </p:nvSpPr>
        <p:spPr>
          <a:xfrm>
            <a:off x="5152909"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Infrastructure Gap</a:t>
            </a:r>
            <a:endParaRPr lang="en-US" sz="1400" dirty="0">
              <a:latin typeface="Times New Roman" panose="02020603050405020304" pitchFamily="18" charset="0"/>
              <a:cs typeface="Times New Roman" panose="02020603050405020304" pitchFamily="18" charset="0"/>
            </a:endParaRPr>
          </a:p>
        </p:txBody>
      </p:sp>
      <p:sp>
        <p:nvSpPr>
          <p:cNvPr id="44" name="Text 19">
            <a:extLst>
              <a:ext uri="{FF2B5EF4-FFF2-40B4-BE49-F238E27FC236}">
                <a16:creationId xmlns:a16="http://schemas.microsoft.com/office/drawing/2014/main" id="{20FAE579-7D08-554C-860B-CE9F51C55B47}"/>
              </a:ext>
            </a:extLst>
          </p:cNvPr>
          <p:cNvSpPr/>
          <p:nvPr/>
        </p:nvSpPr>
        <p:spPr>
          <a:xfrm>
            <a:off x="5172516"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Best-performing systems assume IoT hardware or heavy compute.</a:t>
            </a:r>
            <a:endParaRPr lang="en-US" sz="1600" dirty="0">
              <a:latin typeface="Times New Roman" panose="02020603050405020304" pitchFamily="18" charset="0"/>
              <a:cs typeface="Times New Roman" panose="02020603050405020304" pitchFamily="18" charset="0"/>
            </a:endParaRPr>
          </a:p>
        </p:txBody>
      </p:sp>
      <p:sp>
        <p:nvSpPr>
          <p:cNvPr id="46" name="Shape 20">
            <a:extLst>
              <a:ext uri="{FF2B5EF4-FFF2-40B4-BE49-F238E27FC236}">
                <a16:creationId xmlns:a16="http://schemas.microsoft.com/office/drawing/2014/main" id="{7161F564-B837-37F7-9925-8908C73B2E15}"/>
              </a:ext>
            </a:extLst>
          </p:cNvPr>
          <p:cNvSpPr/>
          <p:nvPr/>
        </p:nvSpPr>
        <p:spPr>
          <a:xfrm>
            <a:off x="7391082"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8" name="Shape 21">
            <a:extLst>
              <a:ext uri="{FF2B5EF4-FFF2-40B4-BE49-F238E27FC236}">
                <a16:creationId xmlns:a16="http://schemas.microsoft.com/office/drawing/2014/main" id="{3BF03896-D2E2-E2A9-F79B-1F3202679A38}"/>
              </a:ext>
            </a:extLst>
          </p:cNvPr>
          <p:cNvSpPr/>
          <p:nvPr/>
        </p:nvSpPr>
        <p:spPr>
          <a:xfrm>
            <a:off x="7391082" y="4221480"/>
            <a:ext cx="1928020" cy="457994"/>
          </a:xfrm>
          <a:prstGeom prst="rect">
            <a:avLst/>
          </a:prstGeom>
          <a:solidFill>
            <a:srgbClr val="BC312C"/>
          </a:solidFill>
          <a:ln/>
        </p:spPr>
        <p:txBody>
          <a:bodyPr/>
          <a:lstStyle/>
          <a:p>
            <a:endParaRPr lang="en-IN"/>
          </a:p>
        </p:txBody>
      </p:sp>
      <p:sp>
        <p:nvSpPr>
          <p:cNvPr id="50" name="Text 22">
            <a:extLst>
              <a:ext uri="{FF2B5EF4-FFF2-40B4-BE49-F238E27FC236}">
                <a16:creationId xmlns:a16="http://schemas.microsoft.com/office/drawing/2014/main" id="{959181A3-580B-83B2-40FD-BB3705CA389F}"/>
              </a:ext>
            </a:extLst>
          </p:cNvPr>
          <p:cNvSpPr/>
          <p:nvPr/>
        </p:nvSpPr>
        <p:spPr>
          <a:xfrm>
            <a:off x="7469510"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Cold-Start Gap</a:t>
            </a:r>
            <a:endParaRPr lang="en-US" sz="1400" dirty="0">
              <a:latin typeface="Times New Roman" panose="02020603050405020304" pitchFamily="18" charset="0"/>
              <a:cs typeface="Times New Roman" panose="02020603050405020304" pitchFamily="18" charset="0"/>
            </a:endParaRPr>
          </a:p>
        </p:txBody>
      </p:sp>
      <p:sp>
        <p:nvSpPr>
          <p:cNvPr id="52" name="Text 23">
            <a:extLst>
              <a:ext uri="{FF2B5EF4-FFF2-40B4-BE49-F238E27FC236}">
                <a16:creationId xmlns:a16="http://schemas.microsoft.com/office/drawing/2014/main" id="{6300D305-542B-FC46-AFF2-91D214B60418}"/>
              </a:ext>
            </a:extLst>
          </p:cNvPr>
          <p:cNvSpPr/>
          <p:nvPr/>
        </p:nvSpPr>
        <p:spPr>
          <a:xfrm>
            <a:off x="7489117"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Deep learning models fail on the short, sparse histories real SMEs.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250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4E212-A85D-750E-679E-F8F13734667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D0BD64C-2792-BF43-ECA6-B38D3B0A9FB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258CF18D-2C08-1D8B-FC12-3A8F9896F7DC}"/>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A8CD89D-95B7-E506-2505-07B944FB502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CC0FD066-9CFA-A207-4F83-031C7B3AAC92}"/>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4D0695DA-785E-0C1C-84FC-6BA28AB98E73}"/>
              </a:ext>
            </a:extLst>
          </p:cNvPr>
          <p:cNvSpPr>
            <a:spLocks noGrp="1"/>
          </p:cNvSpPr>
          <p:nvPr>
            <p:ph type="sldNum" sz="quarter" idx="12"/>
          </p:nvPr>
        </p:nvSpPr>
        <p:spPr/>
        <p:txBody>
          <a:bodyPr/>
          <a:lstStyle/>
          <a:p>
            <a:fld id="{9DC013F7-6D70-4318-BA41-212A9B59413B}" type="slidenum">
              <a:rPr lang="en-US" smtClean="0"/>
              <a:t>5</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B0C1D095-FD8E-9461-2903-12937BF6AC1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A6E1734D-4281-9487-CAA9-4F642F45B7F6}"/>
              </a:ext>
            </a:extLst>
          </p:cNvPr>
          <p:cNvSpPr/>
          <p:nvPr/>
        </p:nvSpPr>
        <p:spPr>
          <a:xfrm>
            <a:off x="409304"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F425A0A-430A-1A93-2D05-C024C1CAD900}"/>
              </a:ext>
            </a:extLst>
          </p:cNvPr>
          <p:cNvSpPr/>
          <p:nvPr/>
        </p:nvSpPr>
        <p:spPr>
          <a:xfrm>
            <a:off x="188289" y="1269894"/>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Motivation and Need for the Project</a:t>
            </a:r>
            <a:endParaRPr lang="en-US" sz="2700" dirty="0"/>
          </a:p>
        </p:txBody>
      </p:sp>
      <p:sp>
        <p:nvSpPr>
          <p:cNvPr id="12" name="Shape 4">
            <a:extLst>
              <a:ext uri="{FF2B5EF4-FFF2-40B4-BE49-F238E27FC236}">
                <a16:creationId xmlns:a16="http://schemas.microsoft.com/office/drawing/2014/main" id="{75E802D6-5D14-012A-BB0F-9B8569C4B287}"/>
              </a:ext>
            </a:extLst>
          </p:cNvPr>
          <p:cNvSpPr/>
          <p:nvPr/>
        </p:nvSpPr>
        <p:spPr>
          <a:xfrm flipV="1">
            <a:off x="514862" y="1864254"/>
            <a:ext cx="8767422" cy="18288"/>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487F3DC0-3324-0388-A31F-06404A2E730B}"/>
              </a:ext>
            </a:extLst>
          </p:cNvPr>
          <p:cNvSpPr/>
          <p:nvPr/>
        </p:nvSpPr>
        <p:spPr>
          <a:xfrm>
            <a:off x="456389" y="2121408"/>
            <a:ext cx="5370696" cy="4114800"/>
          </a:xfrm>
          <a:prstGeom prst="rect">
            <a:avLst/>
          </a:prstGeom>
          <a:solidFill>
            <a:srgbClr val="F7F5F4"/>
          </a:solidFill>
          <a:ln/>
        </p:spPr>
        <p:txBody>
          <a:bodyPr/>
          <a:lstStyle/>
          <a:p>
            <a:endParaRPr lang="en-IN" dirty="0"/>
          </a:p>
        </p:txBody>
      </p:sp>
      <p:sp>
        <p:nvSpPr>
          <p:cNvPr id="16" name="Shape 6">
            <a:extLst>
              <a:ext uri="{FF2B5EF4-FFF2-40B4-BE49-F238E27FC236}">
                <a16:creationId xmlns:a16="http://schemas.microsoft.com/office/drawing/2014/main" id="{9E5E64D2-F9AC-7288-FE14-27DD70E38690}"/>
              </a:ext>
            </a:extLst>
          </p:cNvPr>
          <p:cNvSpPr/>
          <p:nvPr/>
        </p:nvSpPr>
        <p:spPr>
          <a:xfrm>
            <a:off x="654509" y="2395728"/>
            <a:ext cx="118520" cy="128016"/>
          </a:xfrm>
          <a:prstGeom prst="ellipse">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7DBE0DC1-CB8C-F47E-9062-E13EAD9CB9BF}"/>
              </a:ext>
            </a:extLst>
          </p:cNvPr>
          <p:cNvSpPr/>
          <p:nvPr/>
        </p:nvSpPr>
        <p:spPr>
          <a:xfrm>
            <a:off x="928829" y="227685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Small food businesses operate on thin margins — a single bad week of over- or under-ordering has a direct, measurable financial impact.</a:t>
            </a:r>
            <a:endParaRPr lang="en-US" sz="1600" dirty="0"/>
          </a:p>
        </p:txBody>
      </p:sp>
      <p:sp>
        <p:nvSpPr>
          <p:cNvPr id="20" name="Shape 8">
            <a:extLst>
              <a:ext uri="{FF2B5EF4-FFF2-40B4-BE49-F238E27FC236}">
                <a16:creationId xmlns:a16="http://schemas.microsoft.com/office/drawing/2014/main" id="{16BCBB7E-F124-C786-52FC-E10DA0E66311}"/>
              </a:ext>
            </a:extLst>
          </p:cNvPr>
          <p:cNvSpPr/>
          <p:nvPr/>
        </p:nvSpPr>
        <p:spPr>
          <a:xfrm>
            <a:off x="654509" y="3401568"/>
            <a:ext cx="118520" cy="128016"/>
          </a:xfrm>
          <a:prstGeom prst="ellipse">
            <a:avLst/>
          </a:prstGeom>
          <a:solidFill>
            <a:srgbClr val="BC312C"/>
          </a:solidFill>
          <a:ln/>
        </p:spPr>
        <p:txBody>
          <a:bodyPr/>
          <a:lstStyle/>
          <a:p>
            <a:endParaRPr lang="en-IN"/>
          </a:p>
        </p:txBody>
      </p:sp>
      <p:sp>
        <p:nvSpPr>
          <p:cNvPr id="22" name="Text 9">
            <a:extLst>
              <a:ext uri="{FF2B5EF4-FFF2-40B4-BE49-F238E27FC236}">
                <a16:creationId xmlns:a16="http://schemas.microsoft.com/office/drawing/2014/main" id="{68B9B91F-8EB3-73D8-25A3-50708289C17D}"/>
              </a:ext>
            </a:extLst>
          </p:cNvPr>
          <p:cNvSpPr/>
          <p:nvPr/>
        </p:nvSpPr>
        <p:spPr>
          <a:xfrm>
            <a:off x="928829" y="328269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Perishable inventory means forecasting errors translate directly into food waste and lost revenue, not just a missed KPI.</a:t>
            </a:r>
            <a:endParaRPr lang="en-US" sz="1600" dirty="0"/>
          </a:p>
        </p:txBody>
      </p:sp>
      <p:sp>
        <p:nvSpPr>
          <p:cNvPr id="24" name="Shape 10">
            <a:extLst>
              <a:ext uri="{FF2B5EF4-FFF2-40B4-BE49-F238E27FC236}">
                <a16:creationId xmlns:a16="http://schemas.microsoft.com/office/drawing/2014/main" id="{3A0E7C47-5A24-2CFB-2CBD-16ABAC2F5886}"/>
              </a:ext>
            </a:extLst>
          </p:cNvPr>
          <p:cNvSpPr/>
          <p:nvPr/>
        </p:nvSpPr>
        <p:spPr>
          <a:xfrm>
            <a:off x="654509" y="4305808"/>
            <a:ext cx="118520" cy="128016"/>
          </a:xfrm>
          <a:prstGeom prst="ellipse">
            <a:avLst/>
          </a:prstGeom>
          <a:solidFill>
            <a:srgbClr val="BC312C"/>
          </a:solidFill>
          <a:ln/>
        </p:spPr>
        <p:txBody>
          <a:bodyPr/>
          <a:lstStyle/>
          <a:p>
            <a:endParaRPr lang="en-IN"/>
          </a:p>
        </p:txBody>
      </p:sp>
      <p:sp>
        <p:nvSpPr>
          <p:cNvPr id="26" name="Text 11">
            <a:extLst>
              <a:ext uri="{FF2B5EF4-FFF2-40B4-BE49-F238E27FC236}">
                <a16:creationId xmlns:a16="http://schemas.microsoft.com/office/drawing/2014/main" id="{42119984-07FB-14DD-9524-9AC48979C297}"/>
              </a:ext>
            </a:extLst>
          </p:cNvPr>
          <p:cNvSpPr/>
          <p:nvPr/>
        </p:nvSpPr>
        <p:spPr>
          <a:xfrm>
            <a:off x="928829" y="418693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Existing accessible tools (e.g., “Stock Easy”, Janchidfah et al. 2026) manage inventory manually but have no predictive capability at all.</a:t>
            </a:r>
            <a:endParaRPr lang="en-US" sz="1600" dirty="0"/>
          </a:p>
        </p:txBody>
      </p:sp>
      <p:sp>
        <p:nvSpPr>
          <p:cNvPr id="28" name="Shape 12">
            <a:extLst>
              <a:ext uri="{FF2B5EF4-FFF2-40B4-BE49-F238E27FC236}">
                <a16:creationId xmlns:a16="http://schemas.microsoft.com/office/drawing/2014/main" id="{F007B948-1F0B-9533-EDDA-60A7A2571719}"/>
              </a:ext>
            </a:extLst>
          </p:cNvPr>
          <p:cNvSpPr/>
          <p:nvPr/>
        </p:nvSpPr>
        <p:spPr>
          <a:xfrm>
            <a:off x="654509" y="5311648"/>
            <a:ext cx="118520" cy="128016"/>
          </a:xfrm>
          <a:prstGeom prst="ellipse">
            <a:avLst/>
          </a:prstGeom>
          <a:solidFill>
            <a:srgbClr val="BC312C"/>
          </a:solidFill>
          <a:ln/>
        </p:spPr>
        <p:txBody>
          <a:bodyPr/>
          <a:lstStyle/>
          <a:p>
            <a:endParaRPr lang="en-IN"/>
          </a:p>
        </p:txBody>
      </p:sp>
      <p:sp>
        <p:nvSpPr>
          <p:cNvPr id="30" name="Text 13">
            <a:extLst>
              <a:ext uri="{FF2B5EF4-FFF2-40B4-BE49-F238E27FC236}">
                <a16:creationId xmlns:a16="http://schemas.microsoft.com/office/drawing/2014/main" id="{ADA1B047-0CF7-AE25-E6A1-3D774C39DB62}"/>
              </a:ext>
            </a:extLst>
          </p:cNvPr>
          <p:cNvSpPr/>
          <p:nvPr/>
        </p:nvSpPr>
        <p:spPr>
          <a:xfrm>
            <a:off x="928829" y="519277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Enterprise-grade AI/ERP forecasting exists, but survey evidence shows SMEs cannot adopt it — not due to distrust, but due to cost and know-how.</a:t>
            </a:r>
            <a:endParaRPr lang="en-US" sz="1600" dirty="0"/>
          </a:p>
        </p:txBody>
      </p:sp>
      <p:sp>
        <p:nvSpPr>
          <p:cNvPr id="32" name="Shape 14">
            <a:extLst>
              <a:ext uri="{FF2B5EF4-FFF2-40B4-BE49-F238E27FC236}">
                <a16:creationId xmlns:a16="http://schemas.microsoft.com/office/drawing/2014/main" id="{C20BA120-F31D-FC3B-BC6B-F165BBC55F44}"/>
              </a:ext>
            </a:extLst>
          </p:cNvPr>
          <p:cNvSpPr/>
          <p:nvPr/>
        </p:nvSpPr>
        <p:spPr>
          <a:xfrm>
            <a:off x="5943914" y="3561167"/>
            <a:ext cx="3447851" cy="1396229"/>
          </a:xfrm>
          <a:prstGeom prst="roundRect">
            <a:avLst>
              <a:gd name="adj" fmla="val 4615"/>
            </a:avLst>
          </a:prstGeom>
          <a:solidFill>
            <a:srgbClr val="FFFFFF"/>
          </a:solidFill>
          <a:ln w="12700">
            <a:solidFill>
              <a:srgbClr val="BC312C"/>
            </a:solidFill>
            <a:prstDash val="solid"/>
          </a:ln>
        </p:spPr>
        <p:txBody>
          <a:bodyPr/>
          <a:lstStyle/>
          <a:p>
            <a:endParaRPr lang="en-IN" dirty="0"/>
          </a:p>
        </p:txBody>
      </p:sp>
      <p:sp>
        <p:nvSpPr>
          <p:cNvPr id="34" name="Text 15">
            <a:extLst>
              <a:ext uri="{FF2B5EF4-FFF2-40B4-BE49-F238E27FC236}">
                <a16:creationId xmlns:a16="http://schemas.microsoft.com/office/drawing/2014/main" id="{4DF5C1C7-3EAA-36C1-2DD8-F9AE2A045353}"/>
              </a:ext>
            </a:extLst>
          </p:cNvPr>
          <p:cNvSpPr/>
          <p:nvPr/>
        </p:nvSpPr>
        <p:spPr>
          <a:xfrm>
            <a:off x="5979337" y="3673102"/>
            <a:ext cx="1239294" cy="1224386"/>
          </a:xfrm>
          <a:prstGeom prst="rect">
            <a:avLst/>
          </a:prstGeom>
          <a:noFill/>
          <a:ln/>
        </p:spPr>
        <p:txBody>
          <a:bodyPr wrap="square" lIns="0" tIns="0" rIns="0" bIns="0" rtlCol="0" anchor="ctr"/>
          <a:lstStyle/>
          <a:p>
            <a:pPr marL="0" indent="0" algn="ctr">
              <a:buNone/>
            </a:pPr>
            <a:r>
              <a:rPr lang="en-US" sz="2200" b="1" dirty="0">
                <a:solidFill>
                  <a:srgbClr val="BC312C"/>
                </a:solidFill>
                <a:latin typeface="Cambria" pitchFamily="34" charset="0"/>
                <a:ea typeface="Cambria" pitchFamily="34" charset="-122"/>
                <a:cs typeface="Cambria" pitchFamily="34" charset="-120"/>
              </a:rPr>
              <a:t>Adoption Barrier</a:t>
            </a:r>
            <a:endParaRPr lang="en-US" sz="2200" dirty="0"/>
          </a:p>
        </p:txBody>
      </p:sp>
      <p:sp>
        <p:nvSpPr>
          <p:cNvPr id="36" name="Text 16">
            <a:extLst>
              <a:ext uri="{FF2B5EF4-FFF2-40B4-BE49-F238E27FC236}">
                <a16:creationId xmlns:a16="http://schemas.microsoft.com/office/drawing/2014/main" id="{58ECDDEB-0593-3B98-C673-009414582F45}"/>
              </a:ext>
            </a:extLst>
          </p:cNvPr>
          <p:cNvSpPr/>
          <p:nvPr/>
        </p:nvSpPr>
        <p:spPr>
          <a:xfrm>
            <a:off x="7277045" y="3648905"/>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Perceived ease of use is the top factor in whether SME owners adopt AI tools at all (Yuniarty et al., 2025)</a:t>
            </a:r>
            <a:endParaRPr lang="en-US" sz="1400" dirty="0"/>
          </a:p>
        </p:txBody>
      </p:sp>
      <p:sp>
        <p:nvSpPr>
          <p:cNvPr id="38" name="Shape 17">
            <a:extLst>
              <a:ext uri="{FF2B5EF4-FFF2-40B4-BE49-F238E27FC236}">
                <a16:creationId xmlns:a16="http://schemas.microsoft.com/office/drawing/2014/main" id="{85D50DBD-BA52-C56C-398E-5EA68F3551B6}"/>
              </a:ext>
            </a:extLst>
          </p:cNvPr>
          <p:cNvSpPr/>
          <p:nvPr/>
        </p:nvSpPr>
        <p:spPr>
          <a:xfrm>
            <a:off x="5945590" y="5004566"/>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0" name="Text 18">
            <a:extLst>
              <a:ext uri="{FF2B5EF4-FFF2-40B4-BE49-F238E27FC236}">
                <a16:creationId xmlns:a16="http://schemas.microsoft.com/office/drawing/2014/main" id="{0AB0B377-28AC-4949-B1A5-B5EF7EFBF88C}"/>
              </a:ext>
            </a:extLst>
          </p:cNvPr>
          <p:cNvSpPr/>
          <p:nvPr/>
        </p:nvSpPr>
        <p:spPr>
          <a:xfrm>
            <a:off x="6082750" y="5077718"/>
            <a:ext cx="1095579" cy="122438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0.76</a:t>
            </a:r>
            <a:endParaRPr lang="en-US" sz="3000" dirty="0"/>
          </a:p>
        </p:txBody>
      </p:sp>
      <p:sp>
        <p:nvSpPr>
          <p:cNvPr id="42" name="Text 19">
            <a:extLst>
              <a:ext uri="{FF2B5EF4-FFF2-40B4-BE49-F238E27FC236}">
                <a16:creationId xmlns:a16="http://schemas.microsoft.com/office/drawing/2014/main" id="{4C606774-65FC-F998-405A-4A6DB47138E6}"/>
              </a:ext>
            </a:extLst>
          </p:cNvPr>
          <p:cNvSpPr/>
          <p:nvPr/>
        </p:nvSpPr>
        <p:spPr>
          <a:xfrm>
            <a:off x="7165076" y="5093389"/>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correlation (r) between user satisfaction and digital-transformation readiness among SME retail users (Janchidfah et al., 2026)</a:t>
            </a:r>
            <a:endParaRPr lang="en-US" sz="1400" dirty="0"/>
          </a:p>
        </p:txBody>
      </p:sp>
      <p:sp>
        <p:nvSpPr>
          <p:cNvPr id="44" name="Shape 20">
            <a:extLst>
              <a:ext uri="{FF2B5EF4-FFF2-40B4-BE49-F238E27FC236}">
                <a16:creationId xmlns:a16="http://schemas.microsoft.com/office/drawing/2014/main" id="{AD0B99EA-DAFB-F102-28BF-329F52B0C134}"/>
              </a:ext>
            </a:extLst>
          </p:cNvPr>
          <p:cNvSpPr/>
          <p:nvPr/>
        </p:nvSpPr>
        <p:spPr>
          <a:xfrm>
            <a:off x="5936259" y="2121398"/>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6" name="Text 21">
            <a:extLst>
              <a:ext uri="{FF2B5EF4-FFF2-40B4-BE49-F238E27FC236}">
                <a16:creationId xmlns:a16="http://schemas.microsoft.com/office/drawing/2014/main" id="{44207713-881B-E6D9-7F50-F0E6A7B9C273}"/>
              </a:ext>
            </a:extLst>
          </p:cNvPr>
          <p:cNvSpPr/>
          <p:nvPr/>
        </p:nvSpPr>
        <p:spPr>
          <a:xfrm>
            <a:off x="6073419" y="2194550"/>
            <a:ext cx="1095579" cy="1224386"/>
          </a:xfrm>
          <a:prstGeom prst="rect">
            <a:avLst/>
          </a:prstGeom>
          <a:noFill/>
          <a:ln/>
        </p:spPr>
        <p:txBody>
          <a:bodyPr wrap="square" lIns="0" tIns="0" rIns="0" bIns="0" rtlCol="0" anchor="ctr"/>
          <a:lstStyle/>
          <a:p>
            <a:pPr marL="0" indent="0" algn="ctr">
              <a:buNone/>
            </a:pPr>
            <a:r>
              <a:rPr lang="en-US" sz="2400" b="1" dirty="0">
                <a:solidFill>
                  <a:srgbClr val="BC312C"/>
                </a:solidFill>
                <a:latin typeface="Cambria" pitchFamily="34" charset="0"/>
                <a:ea typeface="Cambria" pitchFamily="34" charset="-122"/>
                <a:cs typeface="Cambria" pitchFamily="34" charset="-120"/>
              </a:rPr>
              <a:t>30 to 40%</a:t>
            </a:r>
            <a:endParaRPr lang="en-US" sz="2400" dirty="0"/>
          </a:p>
        </p:txBody>
      </p:sp>
      <p:sp>
        <p:nvSpPr>
          <p:cNvPr id="48" name="Text 22">
            <a:extLst>
              <a:ext uri="{FF2B5EF4-FFF2-40B4-BE49-F238E27FC236}">
                <a16:creationId xmlns:a16="http://schemas.microsoft.com/office/drawing/2014/main" id="{CF371046-CF7D-9872-7082-CCF31840633A}"/>
              </a:ext>
            </a:extLst>
          </p:cNvPr>
          <p:cNvSpPr/>
          <p:nvPr/>
        </p:nvSpPr>
        <p:spPr>
          <a:xfrm>
            <a:off x="7178329" y="2246071"/>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of predicted food-sector sales fail to materialize, due to various unaccounted factors (Jain et al., 2024)</a:t>
            </a:r>
            <a:endParaRPr lang="en-US" sz="1400" dirty="0"/>
          </a:p>
        </p:txBody>
      </p:sp>
    </p:spTree>
    <p:extLst>
      <p:ext uri="{BB962C8B-B14F-4D97-AF65-F5344CB8AC3E}">
        <p14:creationId xmlns:p14="http://schemas.microsoft.com/office/powerpoint/2010/main" val="2389355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11B82-988C-912B-BD46-1F582B9C44C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257626B-1FD6-1BB1-2AA0-57838453615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B9F4D92-7657-FE9A-9534-4C557C7B1209}"/>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FC225BF7-E75F-B314-7EAB-06F247B2314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3C04FBF1-3F70-184B-83C3-586E3695C56E}"/>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C27D0D3A-9C9C-8B08-7BD0-F1FA546BEFCB}"/>
              </a:ext>
            </a:extLst>
          </p:cNvPr>
          <p:cNvSpPr>
            <a:spLocks noGrp="1"/>
          </p:cNvSpPr>
          <p:nvPr>
            <p:ph type="sldNum" sz="quarter" idx="12"/>
          </p:nvPr>
        </p:nvSpPr>
        <p:spPr/>
        <p:txBody>
          <a:bodyPr/>
          <a:lstStyle/>
          <a:p>
            <a:fld id="{9DC013F7-6D70-4318-BA41-212A9B59413B}" type="slidenum">
              <a:rPr lang="en-US" smtClean="0"/>
              <a:t>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3CB7FA40-0F34-1A04-F5BF-ACF7B6F6302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9589C431-B7B4-1144-C91F-7E1890C652FA}"/>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0523E36A-76E9-9EFE-238C-8880053F611D}"/>
              </a:ext>
            </a:extLst>
          </p:cNvPr>
          <p:cNvSpPr/>
          <p:nvPr/>
        </p:nvSpPr>
        <p:spPr>
          <a:xfrm>
            <a:off x="185671" y="1269894"/>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Objectives of the Project</a:t>
            </a:r>
            <a:endParaRPr lang="en-US" sz="2700" dirty="0"/>
          </a:p>
        </p:txBody>
      </p:sp>
      <p:sp>
        <p:nvSpPr>
          <p:cNvPr id="12" name="Rectangle 11">
            <a:extLst>
              <a:ext uri="{FF2B5EF4-FFF2-40B4-BE49-F238E27FC236}">
                <a16:creationId xmlns:a16="http://schemas.microsoft.com/office/drawing/2014/main" id="{33B06195-292D-E346-C67D-24D78FF7FFDF}"/>
              </a:ext>
            </a:extLst>
          </p:cNvPr>
          <p:cNvSpPr/>
          <p:nvPr/>
        </p:nvSpPr>
        <p:spPr>
          <a:xfrm>
            <a:off x="511954" y="1986618"/>
            <a:ext cx="4207399" cy="2328047"/>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14" name="TextBox 13">
            <a:extLst>
              <a:ext uri="{FF2B5EF4-FFF2-40B4-BE49-F238E27FC236}">
                <a16:creationId xmlns:a16="http://schemas.microsoft.com/office/drawing/2014/main" id="{5EAEFDC8-523F-C127-07A3-A899F1B2CB6C}"/>
              </a:ext>
            </a:extLst>
          </p:cNvPr>
          <p:cNvSpPr txBox="1"/>
          <p:nvPr/>
        </p:nvSpPr>
        <p:spPr>
          <a:xfrm>
            <a:off x="661955" y="2086619"/>
            <a:ext cx="487313" cy="492443"/>
          </a:xfrm>
          <a:prstGeom prst="rect">
            <a:avLst/>
          </a:prstGeom>
          <a:noFill/>
        </p:spPr>
        <p:txBody>
          <a:bodyPr wrap="none" lIns="0" tIns="0" rIns="0" bIns="0">
            <a:spAutoFit/>
          </a:bodyPr>
          <a:lstStyle/>
          <a:p>
            <a:r>
              <a:rPr sz="3200" b="1">
                <a:solidFill>
                  <a:srgbClr val="BC312C"/>
                </a:solidFill>
                <a:latin typeface="Cambria"/>
              </a:rPr>
              <a:t>01</a:t>
            </a:r>
          </a:p>
        </p:txBody>
      </p:sp>
      <p:sp>
        <p:nvSpPr>
          <p:cNvPr id="16" name="TextBox 15">
            <a:extLst>
              <a:ext uri="{FF2B5EF4-FFF2-40B4-BE49-F238E27FC236}">
                <a16:creationId xmlns:a16="http://schemas.microsoft.com/office/drawing/2014/main" id="{DC00B342-69BF-24A1-FDAB-DCC992CD04A3}"/>
              </a:ext>
            </a:extLst>
          </p:cNvPr>
          <p:cNvSpPr txBox="1"/>
          <p:nvPr/>
        </p:nvSpPr>
        <p:spPr>
          <a:xfrm>
            <a:off x="661955" y="2652066"/>
            <a:ext cx="3722000" cy="276999"/>
          </a:xfrm>
          <a:prstGeom prst="rect">
            <a:avLst/>
          </a:prstGeom>
          <a:noFill/>
        </p:spPr>
        <p:txBody>
          <a:bodyPr wrap="square" lIns="0" tIns="0" rIns="0" bIns="0">
            <a:spAutoFit/>
          </a:bodyPr>
          <a:lstStyle/>
          <a:p>
            <a:r>
              <a:rPr sz="1800" b="1" dirty="0">
                <a:solidFill>
                  <a:srgbClr val="2F3C7E"/>
                </a:solidFill>
                <a:latin typeface="Calibri"/>
              </a:rPr>
              <a:t>Build the Forecasting Model</a:t>
            </a:r>
          </a:p>
        </p:txBody>
      </p:sp>
      <p:sp>
        <p:nvSpPr>
          <p:cNvPr id="18" name="TextBox 17">
            <a:extLst>
              <a:ext uri="{FF2B5EF4-FFF2-40B4-BE49-F238E27FC236}">
                <a16:creationId xmlns:a16="http://schemas.microsoft.com/office/drawing/2014/main" id="{63C0879D-5968-3599-91DF-DE5DF63C159E}"/>
              </a:ext>
            </a:extLst>
          </p:cNvPr>
          <p:cNvSpPr txBox="1"/>
          <p:nvPr/>
        </p:nvSpPr>
        <p:spPr>
          <a:xfrm>
            <a:off x="661955" y="3006619"/>
            <a:ext cx="4057398" cy="1046440"/>
          </a:xfrm>
          <a:prstGeom prst="rect">
            <a:avLst/>
          </a:prstGeom>
          <a:noFill/>
        </p:spPr>
        <p:txBody>
          <a:bodyPr wrap="square" lIns="0" tIns="0" rIns="0" bIns="0">
            <a:spAutoFit/>
          </a:bodyPr>
          <a:lstStyle/>
          <a:p>
            <a:r>
              <a:rPr sz="1700" dirty="0">
                <a:solidFill>
                  <a:srgbClr val="333333"/>
                </a:solidFill>
                <a:latin typeface="Calibri"/>
              </a:rPr>
              <a:t>Design an adaptive Prophet + </a:t>
            </a:r>
            <a:r>
              <a:rPr sz="1700" dirty="0" err="1">
                <a:solidFill>
                  <a:srgbClr val="333333"/>
                </a:solidFill>
                <a:latin typeface="Calibri"/>
              </a:rPr>
              <a:t>XGBoost</a:t>
            </a:r>
            <a:r>
              <a:rPr sz="1700" dirty="0">
                <a:solidFill>
                  <a:srgbClr val="333333"/>
                </a:solidFill>
                <a:latin typeface="Calibri"/>
              </a:rPr>
              <a:t> hybrid Prophet for trend/seasonality, </a:t>
            </a:r>
            <a:r>
              <a:rPr sz="1700" dirty="0" err="1">
                <a:solidFill>
                  <a:srgbClr val="333333"/>
                </a:solidFill>
                <a:latin typeface="Calibri"/>
              </a:rPr>
              <a:t>XGBoost</a:t>
            </a:r>
            <a:r>
              <a:rPr sz="1700" dirty="0">
                <a:solidFill>
                  <a:srgbClr val="333333"/>
                </a:solidFill>
                <a:latin typeface="Calibri"/>
              </a:rPr>
              <a:t> for residual correction with regime-specific tuning for sparse and high-volume items.</a:t>
            </a:r>
          </a:p>
        </p:txBody>
      </p:sp>
      <p:sp>
        <p:nvSpPr>
          <p:cNvPr id="20" name="Rectangle 19">
            <a:extLst>
              <a:ext uri="{FF2B5EF4-FFF2-40B4-BE49-F238E27FC236}">
                <a16:creationId xmlns:a16="http://schemas.microsoft.com/office/drawing/2014/main" id="{3FAF6B80-3574-A250-DB00-2B1539348458}"/>
              </a:ext>
            </a:extLst>
          </p:cNvPr>
          <p:cNvSpPr/>
          <p:nvPr/>
        </p:nvSpPr>
        <p:spPr>
          <a:xfrm>
            <a:off x="5207193" y="1986618"/>
            <a:ext cx="4207399" cy="2328045"/>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22" name="TextBox 21">
            <a:extLst>
              <a:ext uri="{FF2B5EF4-FFF2-40B4-BE49-F238E27FC236}">
                <a16:creationId xmlns:a16="http://schemas.microsoft.com/office/drawing/2014/main" id="{ABB959CA-56B0-1C80-DE9C-17DCDB6D91A8}"/>
              </a:ext>
            </a:extLst>
          </p:cNvPr>
          <p:cNvSpPr txBox="1"/>
          <p:nvPr/>
        </p:nvSpPr>
        <p:spPr>
          <a:xfrm>
            <a:off x="5357194" y="2086619"/>
            <a:ext cx="487313" cy="492443"/>
          </a:xfrm>
          <a:prstGeom prst="rect">
            <a:avLst/>
          </a:prstGeom>
          <a:noFill/>
        </p:spPr>
        <p:txBody>
          <a:bodyPr wrap="none" lIns="0" tIns="0" rIns="0" bIns="0">
            <a:spAutoFit/>
          </a:bodyPr>
          <a:lstStyle/>
          <a:p>
            <a:r>
              <a:rPr sz="3200" b="1">
                <a:solidFill>
                  <a:srgbClr val="BC312C"/>
                </a:solidFill>
                <a:latin typeface="Cambria"/>
              </a:rPr>
              <a:t>02</a:t>
            </a:r>
          </a:p>
        </p:txBody>
      </p:sp>
      <p:sp>
        <p:nvSpPr>
          <p:cNvPr id="24" name="TextBox 23">
            <a:extLst>
              <a:ext uri="{FF2B5EF4-FFF2-40B4-BE49-F238E27FC236}">
                <a16:creationId xmlns:a16="http://schemas.microsoft.com/office/drawing/2014/main" id="{EA6D50CE-7745-3967-A0D7-82739E666234}"/>
              </a:ext>
            </a:extLst>
          </p:cNvPr>
          <p:cNvSpPr txBox="1"/>
          <p:nvPr/>
        </p:nvSpPr>
        <p:spPr>
          <a:xfrm>
            <a:off x="5357194" y="2656084"/>
            <a:ext cx="3722000" cy="276999"/>
          </a:xfrm>
          <a:prstGeom prst="rect">
            <a:avLst/>
          </a:prstGeom>
          <a:noFill/>
        </p:spPr>
        <p:txBody>
          <a:bodyPr wrap="square" lIns="0" tIns="0" rIns="0" bIns="0">
            <a:spAutoFit/>
          </a:bodyPr>
          <a:lstStyle/>
          <a:p>
            <a:r>
              <a:rPr sz="1800" b="1" dirty="0">
                <a:solidFill>
                  <a:srgbClr val="2F3C7E"/>
                </a:solidFill>
                <a:latin typeface="Calibri"/>
              </a:rPr>
              <a:t>Generate Item-Level Forecasts</a:t>
            </a:r>
          </a:p>
        </p:txBody>
      </p:sp>
      <p:sp>
        <p:nvSpPr>
          <p:cNvPr id="26" name="TextBox 25">
            <a:extLst>
              <a:ext uri="{FF2B5EF4-FFF2-40B4-BE49-F238E27FC236}">
                <a16:creationId xmlns:a16="http://schemas.microsoft.com/office/drawing/2014/main" id="{C24A1F13-E449-6582-47F6-FEA204221BB8}"/>
              </a:ext>
            </a:extLst>
          </p:cNvPr>
          <p:cNvSpPr txBox="1"/>
          <p:nvPr/>
        </p:nvSpPr>
        <p:spPr>
          <a:xfrm>
            <a:off x="5357194" y="3006619"/>
            <a:ext cx="3871296" cy="1046440"/>
          </a:xfrm>
          <a:prstGeom prst="rect">
            <a:avLst/>
          </a:prstGeom>
          <a:noFill/>
        </p:spPr>
        <p:txBody>
          <a:bodyPr wrap="square" lIns="0" tIns="0" rIns="0" bIns="0">
            <a:spAutoFit/>
          </a:bodyPr>
          <a:lstStyle/>
          <a:p>
            <a:r>
              <a:rPr sz="1700" dirty="0">
                <a:solidFill>
                  <a:srgbClr val="333333"/>
                </a:solidFill>
                <a:latin typeface="Calibri"/>
              </a:rPr>
              <a:t>Produce daily, item-level demand predictions from the trained hybrid model, validated for consistency across sparse and high-volume item categories.</a:t>
            </a:r>
          </a:p>
        </p:txBody>
      </p:sp>
      <p:sp>
        <p:nvSpPr>
          <p:cNvPr id="28" name="Rectangle 27">
            <a:extLst>
              <a:ext uri="{FF2B5EF4-FFF2-40B4-BE49-F238E27FC236}">
                <a16:creationId xmlns:a16="http://schemas.microsoft.com/office/drawing/2014/main" id="{5A90A0AA-7A3D-AA47-67A1-4431FEAEDDAE}"/>
              </a:ext>
            </a:extLst>
          </p:cNvPr>
          <p:cNvSpPr/>
          <p:nvPr/>
        </p:nvSpPr>
        <p:spPr>
          <a:xfrm>
            <a:off x="511954" y="4402640"/>
            <a:ext cx="4207399"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30" name="TextBox 29">
            <a:extLst>
              <a:ext uri="{FF2B5EF4-FFF2-40B4-BE49-F238E27FC236}">
                <a16:creationId xmlns:a16="http://schemas.microsoft.com/office/drawing/2014/main" id="{E6B61E32-76B8-B464-053F-258A6894C23D}"/>
              </a:ext>
            </a:extLst>
          </p:cNvPr>
          <p:cNvSpPr txBox="1"/>
          <p:nvPr/>
        </p:nvSpPr>
        <p:spPr>
          <a:xfrm>
            <a:off x="661955" y="4502640"/>
            <a:ext cx="487313" cy="492443"/>
          </a:xfrm>
          <a:prstGeom prst="rect">
            <a:avLst/>
          </a:prstGeom>
          <a:noFill/>
        </p:spPr>
        <p:txBody>
          <a:bodyPr wrap="none" lIns="0" tIns="0" rIns="0" bIns="0">
            <a:spAutoFit/>
          </a:bodyPr>
          <a:lstStyle/>
          <a:p>
            <a:r>
              <a:rPr sz="3200" b="1">
                <a:solidFill>
                  <a:srgbClr val="BC312C"/>
                </a:solidFill>
                <a:latin typeface="Cambria"/>
              </a:rPr>
              <a:t>03</a:t>
            </a:r>
          </a:p>
        </p:txBody>
      </p:sp>
      <p:sp>
        <p:nvSpPr>
          <p:cNvPr id="32" name="TextBox 31">
            <a:extLst>
              <a:ext uri="{FF2B5EF4-FFF2-40B4-BE49-F238E27FC236}">
                <a16:creationId xmlns:a16="http://schemas.microsoft.com/office/drawing/2014/main" id="{33F84E4D-8B70-0873-16E4-DE0C3B46C8A6}"/>
              </a:ext>
            </a:extLst>
          </p:cNvPr>
          <p:cNvSpPr txBox="1"/>
          <p:nvPr/>
        </p:nvSpPr>
        <p:spPr>
          <a:xfrm>
            <a:off x="661251" y="5073055"/>
            <a:ext cx="3722000" cy="276999"/>
          </a:xfrm>
          <a:prstGeom prst="rect">
            <a:avLst/>
          </a:prstGeom>
          <a:noFill/>
        </p:spPr>
        <p:txBody>
          <a:bodyPr wrap="square" lIns="0" tIns="0" rIns="0" bIns="0">
            <a:spAutoFit/>
          </a:bodyPr>
          <a:lstStyle/>
          <a:p>
            <a:r>
              <a:rPr sz="1800" b="1" dirty="0">
                <a:solidFill>
                  <a:srgbClr val="2F3C7E"/>
                </a:solidFill>
                <a:latin typeface="Calibri"/>
              </a:rPr>
              <a:t>Recommend Restock Quantities</a:t>
            </a:r>
          </a:p>
        </p:txBody>
      </p:sp>
      <p:sp>
        <p:nvSpPr>
          <p:cNvPr id="34" name="TextBox 33">
            <a:extLst>
              <a:ext uri="{FF2B5EF4-FFF2-40B4-BE49-F238E27FC236}">
                <a16:creationId xmlns:a16="http://schemas.microsoft.com/office/drawing/2014/main" id="{D3828C8F-BB3A-56E9-A5F2-AEF34C8BFF3A}"/>
              </a:ext>
            </a:extLst>
          </p:cNvPr>
          <p:cNvSpPr txBox="1"/>
          <p:nvPr/>
        </p:nvSpPr>
        <p:spPr>
          <a:xfrm>
            <a:off x="661955" y="5422640"/>
            <a:ext cx="3722000" cy="1046440"/>
          </a:xfrm>
          <a:prstGeom prst="rect">
            <a:avLst/>
          </a:prstGeom>
          <a:noFill/>
        </p:spPr>
        <p:txBody>
          <a:bodyPr wrap="square" lIns="0" tIns="0" rIns="0" bIns="0">
            <a:spAutoFit/>
          </a:bodyPr>
          <a:lstStyle/>
          <a:p>
            <a:r>
              <a:rPr sz="1700">
                <a:solidFill>
                  <a:srgbClr val="333333"/>
                </a:solidFill>
                <a:latin typeface="Calibri"/>
              </a:rPr>
              <a:t>Convert raw forecasts into actionable restock quantities using a configurable safety-stock buffer that accounts for current inventory levels.</a:t>
            </a:r>
          </a:p>
        </p:txBody>
      </p:sp>
      <p:sp>
        <p:nvSpPr>
          <p:cNvPr id="36" name="Rectangle 35">
            <a:extLst>
              <a:ext uri="{FF2B5EF4-FFF2-40B4-BE49-F238E27FC236}">
                <a16:creationId xmlns:a16="http://schemas.microsoft.com/office/drawing/2014/main" id="{645C899A-C86A-83CC-91F4-ABAEE813EA66}"/>
              </a:ext>
            </a:extLst>
          </p:cNvPr>
          <p:cNvSpPr/>
          <p:nvPr/>
        </p:nvSpPr>
        <p:spPr>
          <a:xfrm>
            <a:off x="5207193" y="4402640"/>
            <a:ext cx="4207399"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38" name="TextBox 37">
            <a:extLst>
              <a:ext uri="{FF2B5EF4-FFF2-40B4-BE49-F238E27FC236}">
                <a16:creationId xmlns:a16="http://schemas.microsoft.com/office/drawing/2014/main" id="{F6A1CF3D-551F-59DB-C14E-14FAF471B8EF}"/>
              </a:ext>
            </a:extLst>
          </p:cNvPr>
          <p:cNvSpPr txBox="1"/>
          <p:nvPr/>
        </p:nvSpPr>
        <p:spPr>
          <a:xfrm>
            <a:off x="5357194" y="4502640"/>
            <a:ext cx="487313" cy="492443"/>
          </a:xfrm>
          <a:prstGeom prst="rect">
            <a:avLst/>
          </a:prstGeom>
          <a:noFill/>
        </p:spPr>
        <p:txBody>
          <a:bodyPr wrap="none" lIns="0" tIns="0" rIns="0" bIns="0">
            <a:spAutoFit/>
          </a:bodyPr>
          <a:lstStyle/>
          <a:p>
            <a:r>
              <a:rPr sz="3200" b="1">
                <a:solidFill>
                  <a:srgbClr val="BC312C"/>
                </a:solidFill>
                <a:latin typeface="Cambria"/>
              </a:rPr>
              <a:t>04</a:t>
            </a:r>
          </a:p>
        </p:txBody>
      </p:sp>
      <p:sp>
        <p:nvSpPr>
          <p:cNvPr id="40" name="TextBox 39">
            <a:extLst>
              <a:ext uri="{FF2B5EF4-FFF2-40B4-BE49-F238E27FC236}">
                <a16:creationId xmlns:a16="http://schemas.microsoft.com/office/drawing/2014/main" id="{AA9A29B7-7B09-B6A9-9787-D6B318DFC4E7}"/>
              </a:ext>
            </a:extLst>
          </p:cNvPr>
          <p:cNvSpPr txBox="1"/>
          <p:nvPr/>
        </p:nvSpPr>
        <p:spPr>
          <a:xfrm>
            <a:off x="5357194" y="5073527"/>
            <a:ext cx="3722000" cy="276999"/>
          </a:xfrm>
          <a:prstGeom prst="rect">
            <a:avLst/>
          </a:prstGeom>
          <a:noFill/>
        </p:spPr>
        <p:txBody>
          <a:bodyPr wrap="square" lIns="0" tIns="0" rIns="0" bIns="0">
            <a:spAutoFit/>
          </a:bodyPr>
          <a:lstStyle/>
          <a:p>
            <a:r>
              <a:rPr sz="1800" b="1" dirty="0">
                <a:solidFill>
                  <a:srgbClr val="2F3C7E"/>
                </a:solidFill>
                <a:latin typeface="Calibri"/>
              </a:rPr>
              <a:t>Explain via LLM Narrator</a:t>
            </a:r>
          </a:p>
        </p:txBody>
      </p:sp>
      <p:sp>
        <p:nvSpPr>
          <p:cNvPr id="42" name="TextBox 41">
            <a:extLst>
              <a:ext uri="{FF2B5EF4-FFF2-40B4-BE49-F238E27FC236}">
                <a16:creationId xmlns:a16="http://schemas.microsoft.com/office/drawing/2014/main" id="{A6354F9E-BE47-1618-1865-B2A69115C7BE}"/>
              </a:ext>
            </a:extLst>
          </p:cNvPr>
          <p:cNvSpPr txBox="1"/>
          <p:nvPr/>
        </p:nvSpPr>
        <p:spPr>
          <a:xfrm>
            <a:off x="5357194" y="5422640"/>
            <a:ext cx="3722000" cy="1046440"/>
          </a:xfrm>
          <a:prstGeom prst="rect">
            <a:avLst/>
          </a:prstGeom>
          <a:noFill/>
        </p:spPr>
        <p:txBody>
          <a:bodyPr wrap="square" lIns="0" tIns="0" rIns="0" bIns="0">
            <a:spAutoFit/>
          </a:bodyPr>
          <a:lstStyle/>
          <a:p>
            <a:r>
              <a:rPr sz="1700">
                <a:solidFill>
                  <a:srgbClr val="333333"/>
                </a:solidFill>
                <a:latin typeface="Calibri"/>
              </a:rPr>
              <a:t>Integrate an LLM layer that translates the restock output into a plain-language recommendation — understandable without technical or data literacy.</a:t>
            </a:r>
          </a:p>
        </p:txBody>
      </p:sp>
      <p:sp>
        <p:nvSpPr>
          <p:cNvPr id="44" name="Shape 4">
            <a:extLst>
              <a:ext uri="{FF2B5EF4-FFF2-40B4-BE49-F238E27FC236}">
                <a16:creationId xmlns:a16="http://schemas.microsoft.com/office/drawing/2014/main" id="{6261B77C-2842-C297-3459-39CDBAB5B3FA}"/>
              </a:ext>
            </a:extLst>
          </p:cNvPr>
          <p:cNvSpPr/>
          <p:nvPr/>
        </p:nvSpPr>
        <p:spPr>
          <a:xfrm flipV="1">
            <a:off x="592122" y="1820427"/>
            <a:ext cx="8767422" cy="18288"/>
          </a:xfrm>
          <a:prstGeom prst="line">
            <a:avLst/>
          </a:prstGeom>
          <a:noFill/>
          <a:ln w="12700">
            <a:solidFill>
              <a:srgbClr val="E0DAD8"/>
            </a:solidFill>
            <a:prstDash val="solid"/>
          </a:ln>
        </p:spPr>
        <p:txBody>
          <a:bodyPr/>
          <a:lstStyle/>
          <a:p>
            <a:endParaRPr lang="en-IN"/>
          </a:p>
        </p:txBody>
      </p:sp>
    </p:spTree>
    <p:extLst>
      <p:ext uri="{BB962C8B-B14F-4D97-AF65-F5344CB8AC3E}">
        <p14:creationId xmlns:p14="http://schemas.microsoft.com/office/powerpoint/2010/main" val="2206032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708DF-C5D3-3954-159E-1A0EA67111C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1326EEB-B98E-916B-7188-22B17208EAE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0632735-C3A7-7EBF-0A93-A39B9D6988DB}"/>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6F50621A-14CB-07F9-4449-DA9BC28531D9}"/>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3754D47-0777-6AD2-E440-D4DC9C0E4376}"/>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61342FE8-6414-5CCF-98CF-10E4212BA010}"/>
              </a:ext>
            </a:extLst>
          </p:cNvPr>
          <p:cNvSpPr>
            <a:spLocks noGrp="1"/>
          </p:cNvSpPr>
          <p:nvPr>
            <p:ph type="sldNum" sz="quarter" idx="12"/>
          </p:nvPr>
        </p:nvSpPr>
        <p:spPr/>
        <p:txBody>
          <a:bodyPr/>
          <a:lstStyle/>
          <a:p>
            <a:fld id="{9DC013F7-6D70-4318-BA41-212A9B59413B}" type="slidenum">
              <a:rPr lang="en-US" smtClean="0"/>
              <a:t>7</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853C6421-4D78-B8B4-459B-B604FDA088A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409EDC34-76DD-572A-2EC9-087B95F24A7D}"/>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81721ECE-BD87-79D0-07F0-EA9E8FC2B1DB}"/>
              </a:ext>
            </a:extLst>
          </p:cNvPr>
          <p:cNvSpPr/>
          <p:nvPr/>
        </p:nvSpPr>
        <p:spPr>
          <a:xfrm>
            <a:off x="240962" y="1241902"/>
            <a:ext cx="9192111"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Scope of the Project</a:t>
            </a:r>
            <a:endParaRPr lang="en-US" sz="2700" dirty="0"/>
          </a:p>
        </p:txBody>
      </p:sp>
      <p:sp>
        <p:nvSpPr>
          <p:cNvPr id="12" name="Shape 4">
            <a:extLst>
              <a:ext uri="{FF2B5EF4-FFF2-40B4-BE49-F238E27FC236}">
                <a16:creationId xmlns:a16="http://schemas.microsoft.com/office/drawing/2014/main" id="{0615EF55-5F15-5A9D-A634-2BD0DBEF335E}"/>
              </a:ext>
            </a:extLst>
          </p:cNvPr>
          <p:cNvSpPr/>
          <p:nvPr/>
        </p:nvSpPr>
        <p:spPr>
          <a:xfrm>
            <a:off x="240962" y="1854550"/>
            <a:ext cx="9192111" cy="0"/>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2FBF0225-B03A-BF41-592B-3A8D83A76A0C}"/>
              </a:ext>
            </a:extLst>
          </p:cNvPr>
          <p:cNvSpPr/>
          <p:nvPr/>
        </p:nvSpPr>
        <p:spPr>
          <a:xfrm>
            <a:off x="312495" y="2121408"/>
            <a:ext cx="4520710" cy="365760"/>
          </a:xfrm>
          <a:prstGeom prst="rect">
            <a:avLst/>
          </a:prstGeom>
          <a:noFill/>
          <a:ln/>
        </p:spPr>
        <p:txBody>
          <a:bodyPr wrap="square" lIns="0" tIns="0" rIns="0" bIns="0" rtlCol="0" anchor="ctr"/>
          <a:lstStyle/>
          <a:p>
            <a:pPr marL="0" indent="0">
              <a:buNone/>
            </a:pPr>
            <a:r>
              <a:rPr lang="en-US" sz="2400" b="1" dirty="0">
                <a:solidFill>
                  <a:srgbClr val="002060"/>
                </a:solidFill>
                <a:latin typeface="Calibri" pitchFamily="34" charset="0"/>
                <a:ea typeface="Calibri" pitchFamily="34" charset="-122"/>
                <a:cs typeface="Calibri" pitchFamily="34" charset="-120"/>
              </a:rPr>
              <a:t>In Scope (3 Months Build)</a:t>
            </a:r>
            <a:endParaRPr lang="en-US" sz="2400" dirty="0">
              <a:solidFill>
                <a:srgbClr val="002060"/>
              </a:solidFill>
            </a:endParaRPr>
          </a:p>
        </p:txBody>
      </p:sp>
      <p:sp>
        <p:nvSpPr>
          <p:cNvPr id="16" name="Text 6">
            <a:extLst>
              <a:ext uri="{FF2B5EF4-FFF2-40B4-BE49-F238E27FC236}">
                <a16:creationId xmlns:a16="http://schemas.microsoft.com/office/drawing/2014/main" id="{7A7269F0-FD3F-8858-FB0B-EE56BDD4F0D0}"/>
              </a:ext>
            </a:extLst>
          </p:cNvPr>
          <p:cNvSpPr/>
          <p:nvPr/>
        </p:nvSpPr>
        <p:spPr>
          <a:xfrm>
            <a:off x="5503832" y="2121408"/>
            <a:ext cx="4520710" cy="365760"/>
          </a:xfrm>
          <a:prstGeom prst="rect">
            <a:avLst/>
          </a:prstGeom>
          <a:noFill/>
          <a:ln/>
        </p:spPr>
        <p:txBody>
          <a:bodyPr wrap="square" lIns="0" tIns="0" rIns="0" bIns="0" rtlCol="0" anchor="ctr"/>
          <a:lstStyle/>
          <a:p>
            <a:pPr marL="0" indent="0">
              <a:buNone/>
            </a:pPr>
            <a:r>
              <a:rPr lang="en-US" sz="2400" b="1" dirty="0">
                <a:solidFill>
                  <a:srgbClr val="002060"/>
                </a:solidFill>
                <a:latin typeface="Calibri" pitchFamily="34" charset="0"/>
                <a:ea typeface="Calibri" pitchFamily="34" charset="-122"/>
                <a:cs typeface="Calibri" pitchFamily="34" charset="-120"/>
              </a:rPr>
              <a:t>Out of Scope </a:t>
            </a:r>
            <a:endParaRPr lang="en-US" sz="2400" dirty="0">
              <a:solidFill>
                <a:srgbClr val="002060"/>
              </a:solidFill>
            </a:endParaRPr>
          </a:p>
        </p:txBody>
      </p:sp>
      <p:sp>
        <p:nvSpPr>
          <p:cNvPr id="18" name="Shape 7">
            <a:extLst>
              <a:ext uri="{FF2B5EF4-FFF2-40B4-BE49-F238E27FC236}">
                <a16:creationId xmlns:a16="http://schemas.microsoft.com/office/drawing/2014/main" id="{A55E49D3-9C1B-0C46-21A2-3DD722561898}"/>
              </a:ext>
            </a:extLst>
          </p:cNvPr>
          <p:cNvSpPr/>
          <p:nvPr/>
        </p:nvSpPr>
        <p:spPr>
          <a:xfrm>
            <a:off x="169479" y="2651199"/>
            <a:ext cx="90414" cy="109728"/>
          </a:xfrm>
          <a:prstGeom prst="ellipse">
            <a:avLst/>
          </a:prstGeom>
          <a:solidFill>
            <a:srgbClr val="BC312C"/>
          </a:solidFill>
          <a:ln/>
        </p:spPr>
        <p:txBody>
          <a:bodyPr/>
          <a:lstStyle/>
          <a:p>
            <a:endParaRPr lang="en-IN"/>
          </a:p>
        </p:txBody>
      </p:sp>
      <p:sp>
        <p:nvSpPr>
          <p:cNvPr id="20" name="Text 8">
            <a:extLst>
              <a:ext uri="{FF2B5EF4-FFF2-40B4-BE49-F238E27FC236}">
                <a16:creationId xmlns:a16="http://schemas.microsoft.com/office/drawing/2014/main" id="{878B46E6-A069-D4A4-8F1D-E82F5B0E20C7}"/>
              </a:ext>
            </a:extLst>
          </p:cNvPr>
          <p:cNvSpPr/>
          <p:nvPr/>
        </p:nvSpPr>
        <p:spPr>
          <a:xfrm>
            <a:off x="572378" y="256946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Single-location small food businesses (cafe / bakery / restaurant)</a:t>
            </a:r>
            <a:endParaRPr lang="en-US" sz="1600" dirty="0"/>
          </a:p>
        </p:txBody>
      </p:sp>
      <p:sp>
        <p:nvSpPr>
          <p:cNvPr id="22" name="Shape 9">
            <a:extLst>
              <a:ext uri="{FF2B5EF4-FFF2-40B4-BE49-F238E27FC236}">
                <a16:creationId xmlns:a16="http://schemas.microsoft.com/office/drawing/2014/main" id="{C9582756-7335-68C4-EDE4-2F681A028C95}"/>
              </a:ext>
            </a:extLst>
          </p:cNvPr>
          <p:cNvSpPr/>
          <p:nvPr/>
        </p:nvSpPr>
        <p:spPr>
          <a:xfrm>
            <a:off x="169479" y="3292775"/>
            <a:ext cx="90414" cy="109728"/>
          </a:xfrm>
          <a:prstGeom prst="ellipse">
            <a:avLst/>
          </a:prstGeom>
          <a:solidFill>
            <a:srgbClr val="BC312C"/>
          </a:solidFill>
          <a:ln/>
        </p:spPr>
        <p:txBody>
          <a:bodyPr/>
          <a:lstStyle/>
          <a:p>
            <a:endParaRPr lang="en-IN"/>
          </a:p>
        </p:txBody>
      </p:sp>
      <p:sp>
        <p:nvSpPr>
          <p:cNvPr id="24" name="Text 10">
            <a:extLst>
              <a:ext uri="{FF2B5EF4-FFF2-40B4-BE49-F238E27FC236}">
                <a16:creationId xmlns:a16="http://schemas.microsoft.com/office/drawing/2014/main" id="{D1B810D0-428D-36BF-A3A7-DAD214EF1710}"/>
              </a:ext>
            </a:extLst>
          </p:cNvPr>
          <p:cNvSpPr/>
          <p:nvPr/>
        </p:nvSpPr>
        <p:spPr>
          <a:xfrm>
            <a:off x="572378" y="321104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Daily-level demand forecasting per menu item</a:t>
            </a:r>
            <a:endParaRPr lang="en-US" sz="1600" dirty="0"/>
          </a:p>
        </p:txBody>
      </p:sp>
      <p:sp>
        <p:nvSpPr>
          <p:cNvPr id="26" name="Shape 11">
            <a:extLst>
              <a:ext uri="{FF2B5EF4-FFF2-40B4-BE49-F238E27FC236}">
                <a16:creationId xmlns:a16="http://schemas.microsoft.com/office/drawing/2014/main" id="{27A2F582-F37A-0B09-F482-C76CC559F386}"/>
              </a:ext>
            </a:extLst>
          </p:cNvPr>
          <p:cNvSpPr/>
          <p:nvPr/>
        </p:nvSpPr>
        <p:spPr>
          <a:xfrm>
            <a:off x="169479" y="3785055"/>
            <a:ext cx="90414" cy="109728"/>
          </a:xfrm>
          <a:prstGeom prst="ellipse">
            <a:avLst/>
          </a:prstGeom>
          <a:solidFill>
            <a:srgbClr val="BC312C"/>
          </a:solidFill>
          <a:ln/>
        </p:spPr>
        <p:txBody>
          <a:bodyPr/>
          <a:lstStyle/>
          <a:p>
            <a:endParaRPr lang="en-IN"/>
          </a:p>
        </p:txBody>
      </p:sp>
      <p:sp>
        <p:nvSpPr>
          <p:cNvPr id="28" name="Text 12">
            <a:extLst>
              <a:ext uri="{FF2B5EF4-FFF2-40B4-BE49-F238E27FC236}">
                <a16:creationId xmlns:a16="http://schemas.microsoft.com/office/drawing/2014/main" id="{C171218C-2CA8-5902-39A4-5EFBFDAFECCA}"/>
              </a:ext>
            </a:extLst>
          </p:cNvPr>
          <p:cNvSpPr/>
          <p:nvPr/>
        </p:nvSpPr>
        <p:spPr>
          <a:xfrm>
            <a:off x="572378" y="370332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Weather and public-holiday external regressors</a:t>
            </a:r>
            <a:endParaRPr lang="en-US" sz="1600" dirty="0"/>
          </a:p>
        </p:txBody>
      </p:sp>
      <p:sp>
        <p:nvSpPr>
          <p:cNvPr id="30" name="Shape 13">
            <a:extLst>
              <a:ext uri="{FF2B5EF4-FFF2-40B4-BE49-F238E27FC236}">
                <a16:creationId xmlns:a16="http://schemas.microsoft.com/office/drawing/2014/main" id="{A045D4B4-FC23-1BCD-8F51-61B58CF34339}"/>
              </a:ext>
            </a:extLst>
          </p:cNvPr>
          <p:cNvSpPr/>
          <p:nvPr/>
        </p:nvSpPr>
        <p:spPr>
          <a:xfrm>
            <a:off x="169479" y="4314659"/>
            <a:ext cx="90414" cy="109728"/>
          </a:xfrm>
          <a:prstGeom prst="ellipse">
            <a:avLst/>
          </a:prstGeom>
          <a:solidFill>
            <a:srgbClr val="BC312C"/>
          </a:solidFill>
          <a:ln/>
        </p:spPr>
        <p:txBody>
          <a:bodyPr/>
          <a:lstStyle/>
          <a:p>
            <a:endParaRPr lang="en-IN"/>
          </a:p>
        </p:txBody>
      </p:sp>
      <p:sp>
        <p:nvSpPr>
          <p:cNvPr id="32" name="Text 14">
            <a:extLst>
              <a:ext uri="{FF2B5EF4-FFF2-40B4-BE49-F238E27FC236}">
                <a16:creationId xmlns:a16="http://schemas.microsoft.com/office/drawing/2014/main" id="{33883FA3-7E50-59E2-A128-B4DC34C2E8FB}"/>
              </a:ext>
            </a:extLst>
          </p:cNvPr>
          <p:cNvSpPr/>
          <p:nvPr/>
        </p:nvSpPr>
        <p:spPr>
          <a:xfrm>
            <a:off x="572378" y="423292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Restock recommendation logic with safety-stock buffer</a:t>
            </a:r>
            <a:endParaRPr lang="en-US" sz="1600" dirty="0"/>
          </a:p>
        </p:txBody>
      </p:sp>
      <p:sp>
        <p:nvSpPr>
          <p:cNvPr id="34" name="Shape 15">
            <a:extLst>
              <a:ext uri="{FF2B5EF4-FFF2-40B4-BE49-F238E27FC236}">
                <a16:creationId xmlns:a16="http://schemas.microsoft.com/office/drawing/2014/main" id="{EE5A3A80-FA3F-4EC3-BC30-59B3298EEAC9}"/>
              </a:ext>
            </a:extLst>
          </p:cNvPr>
          <p:cNvSpPr/>
          <p:nvPr/>
        </p:nvSpPr>
        <p:spPr>
          <a:xfrm>
            <a:off x="169479" y="4918911"/>
            <a:ext cx="90414" cy="109728"/>
          </a:xfrm>
          <a:prstGeom prst="ellipse">
            <a:avLst/>
          </a:prstGeom>
          <a:solidFill>
            <a:srgbClr val="BC312C"/>
          </a:solidFill>
          <a:ln/>
        </p:spPr>
        <p:txBody>
          <a:bodyPr/>
          <a:lstStyle/>
          <a:p>
            <a:endParaRPr lang="en-IN"/>
          </a:p>
        </p:txBody>
      </p:sp>
      <p:sp>
        <p:nvSpPr>
          <p:cNvPr id="36" name="Text 16">
            <a:extLst>
              <a:ext uri="{FF2B5EF4-FFF2-40B4-BE49-F238E27FC236}">
                <a16:creationId xmlns:a16="http://schemas.microsoft.com/office/drawing/2014/main" id="{B448862D-B09D-D543-9801-136F4575CC88}"/>
              </a:ext>
            </a:extLst>
          </p:cNvPr>
          <p:cNvSpPr/>
          <p:nvPr/>
        </p:nvSpPr>
        <p:spPr>
          <a:xfrm>
            <a:off x="586814" y="4837176"/>
            <a:ext cx="4200427"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Flutter mobile app for input and recommendation display</a:t>
            </a:r>
            <a:endParaRPr lang="en-US" sz="1600" dirty="0"/>
          </a:p>
        </p:txBody>
      </p:sp>
      <p:sp>
        <p:nvSpPr>
          <p:cNvPr id="38" name="Shape 17">
            <a:extLst>
              <a:ext uri="{FF2B5EF4-FFF2-40B4-BE49-F238E27FC236}">
                <a16:creationId xmlns:a16="http://schemas.microsoft.com/office/drawing/2014/main" id="{6194A522-A69B-A556-2B66-650DA32EADC1}"/>
              </a:ext>
            </a:extLst>
          </p:cNvPr>
          <p:cNvSpPr/>
          <p:nvPr/>
        </p:nvSpPr>
        <p:spPr>
          <a:xfrm>
            <a:off x="169479" y="5485839"/>
            <a:ext cx="90414" cy="109728"/>
          </a:xfrm>
          <a:prstGeom prst="ellipse">
            <a:avLst/>
          </a:prstGeom>
          <a:solidFill>
            <a:srgbClr val="BC312C"/>
          </a:solidFill>
          <a:ln/>
        </p:spPr>
        <p:txBody>
          <a:bodyPr/>
          <a:lstStyle/>
          <a:p>
            <a:endParaRPr lang="en-IN"/>
          </a:p>
        </p:txBody>
      </p:sp>
      <p:sp>
        <p:nvSpPr>
          <p:cNvPr id="40" name="Text 18">
            <a:extLst>
              <a:ext uri="{FF2B5EF4-FFF2-40B4-BE49-F238E27FC236}">
                <a16:creationId xmlns:a16="http://schemas.microsoft.com/office/drawing/2014/main" id="{8F13B653-63D8-0B75-BA8D-B45ABBC32723}"/>
              </a:ext>
            </a:extLst>
          </p:cNvPr>
          <p:cNvSpPr/>
          <p:nvPr/>
        </p:nvSpPr>
        <p:spPr>
          <a:xfrm>
            <a:off x="581895" y="5404104"/>
            <a:ext cx="4128866"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Evaluation on public SME-representative datasets (French Bakery, Rossmann)</a:t>
            </a:r>
            <a:endParaRPr lang="en-US" sz="1600" dirty="0"/>
          </a:p>
        </p:txBody>
      </p:sp>
      <p:sp>
        <p:nvSpPr>
          <p:cNvPr id="42" name="Shape 19">
            <a:extLst>
              <a:ext uri="{FF2B5EF4-FFF2-40B4-BE49-F238E27FC236}">
                <a16:creationId xmlns:a16="http://schemas.microsoft.com/office/drawing/2014/main" id="{398C0BB1-F2F3-AF33-1A70-EBD812ADF057}"/>
              </a:ext>
            </a:extLst>
          </p:cNvPr>
          <p:cNvSpPr/>
          <p:nvPr/>
        </p:nvSpPr>
        <p:spPr>
          <a:xfrm>
            <a:off x="5341323" y="2660530"/>
            <a:ext cx="90414" cy="109728"/>
          </a:xfrm>
          <a:prstGeom prst="ellipse">
            <a:avLst/>
          </a:prstGeom>
          <a:solidFill>
            <a:srgbClr val="6B6B6B"/>
          </a:solidFill>
          <a:ln/>
        </p:spPr>
        <p:txBody>
          <a:bodyPr/>
          <a:lstStyle/>
          <a:p>
            <a:endParaRPr lang="en-IN"/>
          </a:p>
        </p:txBody>
      </p:sp>
      <p:sp>
        <p:nvSpPr>
          <p:cNvPr id="44" name="Text 20">
            <a:extLst>
              <a:ext uri="{FF2B5EF4-FFF2-40B4-BE49-F238E27FC236}">
                <a16:creationId xmlns:a16="http://schemas.microsoft.com/office/drawing/2014/main" id="{49AE6AF3-43E4-D4EA-63DE-57B03E25C1F9}"/>
              </a:ext>
            </a:extLst>
          </p:cNvPr>
          <p:cNvSpPr/>
          <p:nvPr/>
        </p:nvSpPr>
        <p:spPr>
          <a:xfrm>
            <a:off x="5689069" y="2569464"/>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Multi-outlet or chain-wide forecasting</a:t>
            </a:r>
            <a:endParaRPr lang="en-US" sz="1600" dirty="0"/>
          </a:p>
        </p:txBody>
      </p:sp>
      <p:sp>
        <p:nvSpPr>
          <p:cNvPr id="46" name="Shape 21">
            <a:extLst>
              <a:ext uri="{FF2B5EF4-FFF2-40B4-BE49-F238E27FC236}">
                <a16:creationId xmlns:a16="http://schemas.microsoft.com/office/drawing/2014/main" id="{474B26A0-C823-EBD9-0236-897F17491D92}"/>
              </a:ext>
            </a:extLst>
          </p:cNvPr>
          <p:cNvSpPr/>
          <p:nvPr/>
        </p:nvSpPr>
        <p:spPr>
          <a:xfrm>
            <a:off x="5341323" y="3152810"/>
            <a:ext cx="90414" cy="109728"/>
          </a:xfrm>
          <a:prstGeom prst="ellipse">
            <a:avLst/>
          </a:prstGeom>
          <a:solidFill>
            <a:srgbClr val="6B6B6B"/>
          </a:solidFill>
          <a:ln/>
        </p:spPr>
        <p:txBody>
          <a:bodyPr/>
          <a:lstStyle/>
          <a:p>
            <a:endParaRPr lang="en-IN"/>
          </a:p>
        </p:txBody>
      </p:sp>
      <p:sp>
        <p:nvSpPr>
          <p:cNvPr id="48" name="Text 22">
            <a:extLst>
              <a:ext uri="{FF2B5EF4-FFF2-40B4-BE49-F238E27FC236}">
                <a16:creationId xmlns:a16="http://schemas.microsoft.com/office/drawing/2014/main" id="{BEA39BC6-439A-9252-2194-D3C186EB0265}"/>
              </a:ext>
            </a:extLst>
          </p:cNvPr>
          <p:cNvSpPr/>
          <p:nvPr/>
        </p:nvSpPr>
        <p:spPr>
          <a:xfrm>
            <a:off x="5689069" y="30804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Live POS or IoT hardware integration</a:t>
            </a:r>
            <a:endParaRPr lang="en-US" sz="1600" dirty="0"/>
          </a:p>
        </p:txBody>
      </p:sp>
      <p:sp>
        <p:nvSpPr>
          <p:cNvPr id="50" name="Shape 23">
            <a:extLst>
              <a:ext uri="{FF2B5EF4-FFF2-40B4-BE49-F238E27FC236}">
                <a16:creationId xmlns:a16="http://schemas.microsoft.com/office/drawing/2014/main" id="{6B276240-D49F-4102-8F99-2C3D7F9CE7EF}"/>
              </a:ext>
            </a:extLst>
          </p:cNvPr>
          <p:cNvSpPr/>
          <p:nvPr/>
        </p:nvSpPr>
        <p:spPr>
          <a:xfrm>
            <a:off x="5341323" y="3710407"/>
            <a:ext cx="90414" cy="109728"/>
          </a:xfrm>
          <a:prstGeom prst="ellipse">
            <a:avLst/>
          </a:prstGeom>
          <a:solidFill>
            <a:srgbClr val="6B6B6B"/>
          </a:solidFill>
          <a:ln/>
        </p:spPr>
        <p:txBody>
          <a:bodyPr/>
          <a:lstStyle/>
          <a:p>
            <a:endParaRPr lang="en-IN"/>
          </a:p>
        </p:txBody>
      </p:sp>
      <p:sp>
        <p:nvSpPr>
          <p:cNvPr id="52" name="Text 24">
            <a:extLst>
              <a:ext uri="{FF2B5EF4-FFF2-40B4-BE49-F238E27FC236}">
                <a16:creationId xmlns:a16="http://schemas.microsoft.com/office/drawing/2014/main" id="{7F65F879-6734-3471-8809-33085FC13AAC}"/>
              </a:ext>
            </a:extLst>
          </p:cNvPr>
          <p:cNvSpPr/>
          <p:nvPr/>
        </p:nvSpPr>
        <p:spPr>
          <a:xfrm>
            <a:off x="5689069" y="3619341"/>
            <a:ext cx="3837489"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Real-time deployment at an actual operating business</a:t>
            </a:r>
            <a:endParaRPr lang="en-US" sz="1600" dirty="0"/>
          </a:p>
        </p:txBody>
      </p:sp>
      <p:sp>
        <p:nvSpPr>
          <p:cNvPr id="54" name="Shape 25">
            <a:extLst>
              <a:ext uri="{FF2B5EF4-FFF2-40B4-BE49-F238E27FC236}">
                <a16:creationId xmlns:a16="http://schemas.microsoft.com/office/drawing/2014/main" id="{8545462E-08E3-DB74-9B47-3EBE89C716EC}"/>
              </a:ext>
            </a:extLst>
          </p:cNvPr>
          <p:cNvSpPr/>
          <p:nvPr/>
        </p:nvSpPr>
        <p:spPr>
          <a:xfrm>
            <a:off x="5341323" y="4398638"/>
            <a:ext cx="90414" cy="109728"/>
          </a:xfrm>
          <a:prstGeom prst="ellipse">
            <a:avLst/>
          </a:prstGeom>
          <a:solidFill>
            <a:srgbClr val="6B6B6B"/>
          </a:solidFill>
          <a:ln/>
        </p:spPr>
        <p:txBody>
          <a:bodyPr/>
          <a:lstStyle/>
          <a:p>
            <a:endParaRPr lang="en-IN"/>
          </a:p>
        </p:txBody>
      </p:sp>
      <p:sp>
        <p:nvSpPr>
          <p:cNvPr id="56" name="Text 26">
            <a:extLst>
              <a:ext uri="{FF2B5EF4-FFF2-40B4-BE49-F238E27FC236}">
                <a16:creationId xmlns:a16="http://schemas.microsoft.com/office/drawing/2014/main" id="{E01D0177-196A-1757-CBC6-0448601D2874}"/>
              </a:ext>
            </a:extLst>
          </p:cNvPr>
          <p:cNvSpPr/>
          <p:nvPr/>
        </p:nvSpPr>
        <p:spPr>
          <a:xfrm>
            <a:off x="5689068" y="43210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Hourly-granularity forecasting</a:t>
            </a:r>
            <a:endParaRPr lang="en-US" sz="1600" dirty="0"/>
          </a:p>
        </p:txBody>
      </p:sp>
      <p:sp>
        <p:nvSpPr>
          <p:cNvPr id="58" name="Shape 27">
            <a:extLst>
              <a:ext uri="{FF2B5EF4-FFF2-40B4-BE49-F238E27FC236}">
                <a16:creationId xmlns:a16="http://schemas.microsoft.com/office/drawing/2014/main" id="{7256FB0E-60BC-A173-23AE-1B2C6E6591FC}"/>
              </a:ext>
            </a:extLst>
          </p:cNvPr>
          <p:cNvSpPr/>
          <p:nvPr/>
        </p:nvSpPr>
        <p:spPr>
          <a:xfrm>
            <a:off x="5341323" y="4853594"/>
            <a:ext cx="90414" cy="109728"/>
          </a:xfrm>
          <a:prstGeom prst="ellipse">
            <a:avLst/>
          </a:prstGeom>
          <a:solidFill>
            <a:srgbClr val="6B6B6B"/>
          </a:solidFill>
          <a:ln/>
        </p:spPr>
        <p:txBody>
          <a:bodyPr/>
          <a:lstStyle/>
          <a:p>
            <a:endParaRPr lang="en-IN"/>
          </a:p>
        </p:txBody>
      </p:sp>
      <p:sp>
        <p:nvSpPr>
          <p:cNvPr id="60" name="Text 28">
            <a:extLst>
              <a:ext uri="{FF2B5EF4-FFF2-40B4-BE49-F238E27FC236}">
                <a16:creationId xmlns:a16="http://schemas.microsoft.com/office/drawing/2014/main" id="{2942DAD3-26A0-6A1E-3E68-56876FA2C929}"/>
              </a:ext>
            </a:extLst>
          </p:cNvPr>
          <p:cNvSpPr/>
          <p:nvPr/>
        </p:nvSpPr>
        <p:spPr>
          <a:xfrm>
            <a:off x="5689069" y="4771859"/>
            <a:ext cx="4047439" cy="530352"/>
          </a:xfrm>
          <a:prstGeom prst="rect">
            <a:avLst/>
          </a:prstGeom>
          <a:noFill/>
          <a:ln/>
        </p:spPr>
        <p:txBody>
          <a:bodyPr wrap="square" lIns="0" tIns="0" rIns="0" bIns="0" rtlCol="0" anchor="t"/>
          <a:lstStyle/>
          <a:p>
            <a:pPr marL="0" indent="0">
              <a:lnSpc>
                <a:spcPct val="108000"/>
              </a:lnSpc>
              <a:buNone/>
            </a:pPr>
            <a:r>
              <a:rPr lang="en-IN" sz="1600" dirty="0">
                <a:latin typeface="Calibri" panose="020F0502020204030204" pitchFamily="34" charset="0"/>
                <a:ea typeface="Calibri" panose="020F0502020204030204" pitchFamily="34" charset="0"/>
                <a:cs typeface="Calibri" panose="020F0502020204030204" pitchFamily="34" charset="0"/>
              </a:rPr>
              <a:t>Interactive Generative-AI / back-and-forth chatbot (Instead using a one-way LLM narrator)</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62" name="Shape 29">
            <a:extLst>
              <a:ext uri="{FF2B5EF4-FFF2-40B4-BE49-F238E27FC236}">
                <a16:creationId xmlns:a16="http://schemas.microsoft.com/office/drawing/2014/main" id="{EE782B48-575A-1441-7718-7045973ED446}"/>
              </a:ext>
            </a:extLst>
          </p:cNvPr>
          <p:cNvSpPr/>
          <p:nvPr/>
        </p:nvSpPr>
        <p:spPr>
          <a:xfrm>
            <a:off x="5341323" y="5485834"/>
            <a:ext cx="90414" cy="109728"/>
          </a:xfrm>
          <a:prstGeom prst="ellipse">
            <a:avLst/>
          </a:prstGeom>
          <a:solidFill>
            <a:srgbClr val="6B6B6B"/>
          </a:solidFill>
          <a:ln/>
        </p:spPr>
        <p:txBody>
          <a:bodyPr/>
          <a:lstStyle/>
          <a:p>
            <a:endParaRPr lang="en-IN"/>
          </a:p>
        </p:txBody>
      </p:sp>
      <p:sp>
        <p:nvSpPr>
          <p:cNvPr id="64" name="Text 30">
            <a:extLst>
              <a:ext uri="{FF2B5EF4-FFF2-40B4-BE49-F238E27FC236}">
                <a16:creationId xmlns:a16="http://schemas.microsoft.com/office/drawing/2014/main" id="{9D520A2F-0953-0E0B-C9C3-84255C5D1FAB}"/>
              </a:ext>
            </a:extLst>
          </p:cNvPr>
          <p:cNvSpPr/>
          <p:nvPr/>
        </p:nvSpPr>
        <p:spPr>
          <a:xfrm>
            <a:off x="5689068" y="5452984"/>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Promotion and pricing optimization</a:t>
            </a:r>
            <a:endParaRPr lang="en-US" sz="1600" dirty="0"/>
          </a:p>
        </p:txBody>
      </p:sp>
      <p:sp>
        <p:nvSpPr>
          <p:cNvPr id="66" name="Shape 31">
            <a:extLst>
              <a:ext uri="{FF2B5EF4-FFF2-40B4-BE49-F238E27FC236}">
                <a16:creationId xmlns:a16="http://schemas.microsoft.com/office/drawing/2014/main" id="{257BC643-B3AB-6BD7-24A3-B9271E660A9E}"/>
              </a:ext>
            </a:extLst>
          </p:cNvPr>
          <p:cNvSpPr/>
          <p:nvPr/>
        </p:nvSpPr>
        <p:spPr>
          <a:xfrm>
            <a:off x="5012709" y="2121408"/>
            <a:ext cx="0" cy="4160520"/>
          </a:xfrm>
          <a:prstGeom prst="line">
            <a:avLst/>
          </a:prstGeom>
          <a:noFill/>
          <a:ln w="12700">
            <a:solidFill>
              <a:srgbClr val="E0DAD8"/>
            </a:solidFill>
            <a:prstDash val="solid"/>
          </a:ln>
        </p:spPr>
        <p:txBody>
          <a:bodyPr/>
          <a:lstStyle/>
          <a:p>
            <a:endParaRPr lang="en-IN"/>
          </a:p>
        </p:txBody>
      </p:sp>
    </p:spTree>
    <p:extLst>
      <p:ext uri="{BB962C8B-B14F-4D97-AF65-F5344CB8AC3E}">
        <p14:creationId xmlns:p14="http://schemas.microsoft.com/office/powerpoint/2010/main" val="3018343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39A5-B164-C187-87B4-77BDB92A93D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8FA9D51-D16A-B0AE-045B-A390168F3FE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39828D41-49B8-ACCD-7914-083C12CD9B1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311459A-85E6-FC40-6186-7472698C18E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DD981F05-DCA4-73F9-1FDC-E8EF54217F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ACCE0146-E531-9D44-6013-7B65565B6189}"/>
              </a:ext>
            </a:extLst>
          </p:cNvPr>
          <p:cNvSpPr>
            <a:spLocks noGrp="1"/>
          </p:cNvSpPr>
          <p:nvPr>
            <p:ph type="sldNum" sz="quarter" idx="12"/>
          </p:nvPr>
        </p:nvSpPr>
        <p:spPr/>
        <p:txBody>
          <a:bodyPr/>
          <a:lstStyle/>
          <a:p>
            <a:fld id="{9DC013F7-6D70-4318-BA41-212A9B59413B}" type="slidenum">
              <a:rPr lang="en-US" smtClean="0"/>
              <a:t>8</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183D9E79-9CD9-246C-2AFC-1002D69CDF5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E6E0332E-C9FB-AED3-0DCD-29078A742C25}"/>
              </a:ext>
            </a:extLst>
          </p:cNvPr>
          <p:cNvSpPr/>
          <p:nvPr/>
        </p:nvSpPr>
        <p:spPr>
          <a:xfrm>
            <a:off x="-85226" y="1155959"/>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B9F7392-7C7C-4A66-7285-CF9045B40850}"/>
              </a:ext>
            </a:extLst>
          </p:cNvPr>
          <p:cNvSpPr/>
          <p:nvPr/>
        </p:nvSpPr>
        <p:spPr>
          <a:xfrm>
            <a:off x="316306" y="1148594"/>
            <a:ext cx="893966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12" name="Shape 4">
            <a:extLst>
              <a:ext uri="{FF2B5EF4-FFF2-40B4-BE49-F238E27FC236}">
                <a16:creationId xmlns:a16="http://schemas.microsoft.com/office/drawing/2014/main" id="{6F6CE02E-0790-B411-6C41-516F55366C8E}"/>
              </a:ext>
            </a:extLst>
          </p:cNvPr>
          <p:cNvSpPr/>
          <p:nvPr/>
        </p:nvSpPr>
        <p:spPr>
          <a:xfrm>
            <a:off x="316306" y="1761242"/>
            <a:ext cx="8939660" cy="0"/>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ABFEA0C2-D3DD-56F4-E4F9-C3A95F9244CA}"/>
              </a:ext>
            </a:extLst>
          </p:cNvPr>
          <p:cNvSpPr/>
          <p:nvPr/>
        </p:nvSpPr>
        <p:spPr>
          <a:xfrm>
            <a:off x="505374" y="1928177"/>
            <a:ext cx="893966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(2024–2026) across five themes: forecasting methods, external regressors, SME data challenges, inventory-to-action, and technology adoption.</a:t>
            </a:r>
            <a:endParaRPr lang="en-US" sz="1400" dirty="0"/>
          </a:p>
        </p:txBody>
      </p:sp>
      <p:graphicFrame>
        <p:nvGraphicFramePr>
          <p:cNvPr id="16" name="Table 0">
            <a:extLst>
              <a:ext uri="{FF2B5EF4-FFF2-40B4-BE49-F238E27FC236}">
                <a16:creationId xmlns:a16="http://schemas.microsoft.com/office/drawing/2014/main" id="{A38DB46D-5B1C-A3FC-92C6-3261734D6EFE}"/>
              </a:ext>
            </a:extLst>
          </p:cNvPr>
          <p:cNvGraphicFramePr>
            <a:graphicFrameLocks noGrp="1"/>
          </p:cNvGraphicFramePr>
          <p:nvPr>
            <p:extLst>
              <p:ext uri="{D42A27DB-BD31-4B8C-83A1-F6EECF244321}">
                <p14:modId xmlns:p14="http://schemas.microsoft.com/office/powerpoint/2010/main" val="2698227140"/>
              </p:ext>
            </p:extLst>
          </p:nvPr>
        </p:nvGraphicFramePr>
        <p:xfrm>
          <a:off x="484263" y="2456373"/>
          <a:ext cx="8939659" cy="4148388"/>
        </p:xfrm>
        <a:graphic>
          <a:graphicData uri="http://schemas.openxmlformats.org/drawingml/2006/table">
            <a:tbl>
              <a:tblPr/>
              <a:tblGrid>
                <a:gridCol w="1905174">
                  <a:extLst>
                    <a:ext uri="{9D8B030D-6E8A-4147-A177-3AD203B41FA5}">
                      <a16:colId xmlns:a16="http://schemas.microsoft.com/office/drawing/2014/main" val="20000"/>
                    </a:ext>
                  </a:extLst>
                </a:gridCol>
                <a:gridCol w="1758621">
                  <a:extLst>
                    <a:ext uri="{9D8B030D-6E8A-4147-A177-3AD203B41FA5}">
                      <a16:colId xmlns:a16="http://schemas.microsoft.com/office/drawing/2014/main" val="20001"/>
                    </a:ext>
                  </a:extLst>
                </a:gridCol>
                <a:gridCol w="1685345">
                  <a:extLst>
                    <a:ext uri="{9D8B030D-6E8A-4147-A177-3AD203B41FA5}">
                      <a16:colId xmlns:a16="http://schemas.microsoft.com/office/drawing/2014/main" val="20002"/>
                    </a:ext>
                  </a:extLst>
                </a:gridCol>
                <a:gridCol w="1538794">
                  <a:extLst>
                    <a:ext uri="{9D8B030D-6E8A-4147-A177-3AD203B41FA5}">
                      <a16:colId xmlns:a16="http://schemas.microsoft.com/office/drawing/2014/main" val="20003"/>
                    </a:ext>
                  </a:extLst>
                </a:gridCol>
                <a:gridCol w="2051725">
                  <a:extLst>
                    <a:ext uri="{9D8B030D-6E8A-4147-A177-3AD203B41FA5}">
                      <a16:colId xmlns:a16="http://schemas.microsoft.com/office/drawing/2014/main" val="20004"/>
                    </a:ext>
                  </a:extLst>
                </a:gridCol>
              </a:tblGrid>
              <a:tr h="429828">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Study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Model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Context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Best Metric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Gap Left Open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5456">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Susanto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XGBoost vs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pre-order, sparse</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54.20%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Regression fails on sparse data</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834516399"/>
                  </a:ext>
                </a:extLst>
              </a:tr>
              <a:tr h="575456">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Rahmatillah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Optimized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ice cream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45.06%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Needs ~1,000 days of history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3162092361"/>
                  </a:ext>
                </a:extLst>
              </a:tr>
              <a:tr h="773690">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Aqila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SARIMA / Prophet /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Coffee shop, hourly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lvl="0"/>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RMSE 0.15 (LSTM) / MAPE 25% (SARIMA)</a:t>
                      </a: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Forecast-only, no restock</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Janchidfah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TAM (no ML)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Small retail, survey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 = 0.76 satisfaction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predictive capability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417457051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Kamboj et al. (2025)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Prophet + XGBoost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Drug retail, state-level (Germany)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12–18% MAPE cut (hybrid)</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Retail-scale, not SME/food-specific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125893827"/>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Guler et al. (</a:t>
                      </a:r>
                      <a:r>
                        <a:rPr lang="en-IN" sz="1600" dirty="0">
                          <a:solidFill>
                            <a:srgbClr val="262626"/>
                          </a:solidFill>
                          <a:latin typeface="Calibri" panose="020F0502020204030204" pitchFamily="34" charset="0"/>
                          <a:ea typeface="Calibri" panose="020F0502020204030204" pitchFamily="34" charset="0"/>
                          <a:cs typeface="Calibri" panose="020F0502020204030204" pitchFamily="34" charset="0"/>
                        </a:rPr>
                        <a:t>2024</a:t>
                      </a: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Facebook Prophet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Restaurant, daily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MAE 0.76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restock, no mobile delivery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994890863"/>
                  </a:ext>
                </a:extLst>
              </a:tr>
            </a:tbl>
          </a:graphicData>
        </a:graphic>
      </p:graphicFrame>
      <p:sp>
        <p:nvSpPr>
          <p:cNvPr id="18" name="Shape 6">
            <a:extLst>
              <a:ext uri="{FF2B5EF4-FFF2-40B4-BE49-F238E27FC236}">
                <a16:creationId xmlns:a16="http://schemas.microsoft.com/office/drawing/2014/main" id="{955A0026-2DEF-3F8D-262F-7D6F3BC9ACE9}"/>
              </a:ext>
            </a:extLst>
          </p:cNvPr>
          <p:cNvSpPr/>
          <p:nvPr/>
        </p:nvSpPr>
        <p:spPr>
          <a:xfrm>
            <a:off x="484263" y="2456373"/>
            <a:ext cx="8939660" cy="457200"/>
          </a:xfrm>
          <a:prstGeom prst="rect">
            <a:avLst/>
          </a:prstGeom>
          <a:solidFill>
            <a:srgbClr val="BC312C"/>
          </a:solidFill>
          <a:ln/>
        </p:spPr>
        <p:txBody>
          <a:bodyPr/>
          <a:lstStyle/>
          <a:p>
            <a:endParaRPr lang="en-IN" dirty="0"/>
          </a:p>
        </p:txBody>
      </p:sp>
      <p:sp>
        <p:nvSpPr>
          <p:cNvPr id="20" name="Text 7">
            <a:extLst>
              <a:ext uri="{FF2B5EF4-FFF2-40B4-BE49-F238E27FC236}">
                <a16:creationId xmlns:a16="http://schemas.microsoft.com/office/drawing/2014/main" id="{1D7803C5-D076-3245-778C-3C1DC91E9BD8}"/>
              </a:ext>
            </a:extLst>
          </p:cNvPr>
          <p:cNvSpPr/>
          <p:nvPr/>
        </p:nvSpPr>
        <p:spPr>
          <a:xfrm>
            <a:off x="484264" y="2456373"/>
            <a:ext cx="190517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Study</a:t>
            </a:r>
            <a:endParaRPr lang="en-US" sz="2400" dirty="0"/>
          </a:p>
        </p:txBody>
      </p:sp>
      <p:sp>
        <p:nvSpPr>
          <p:cNvPr id="22" name="Text 8">
            <a:extLst>
              <a:ext uri="{FF2B5EF4-FFF2-40B4-BE49-F238E27FC236}">
                <a16:creationId xmlns:a16="http://schemas.microsoft.com/office/drawing/2014/main" id="{377570CA-6929-B52C-65E8-7A6BC04E6272}"/>
              </a:ext>
            </a:extLst>
          </p:cNvPr>
          <p:cNvSpPr/>
          <p:nvPr/>
        </p:nvSpPr>
        <p:spPr>
          <a:xfrm>
            <a:off x="2385840" y="2456373"/>
            <a:ext cx="1758621"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400" dirty="0"/>
          </a:p>
        </p:txBody>
      </p:sp>
      <p:sp>
        <p:nvSpPr>
          <p:cNvPr id="24" name="Text 9">
            <a:extLst>
              <a:ext uri="{FF2B5EF4-FFF2-40B4-BE49-F238E27FC236}">
                <a16:creationId xmlns:a16="http://schemas.microsoft.com/office/drawing/2014/main" id="{9FCB9C98-9C1B-6EEB-8145-7557C510FF06}"/>
              </a:ext>
            </a:extLst>
          </p:cNvPr>
          <p:cNvSpPr/>
          <p:nvPr/>
        </p:nvSpPr>
        <p:spPr>
          <a:xfrm>
            <a:off x="4132532" y="2456373"/>
            <a:ext cx="168534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26" name="Text 10">
            <a:extLst>
              <a:ext uri="{FF2B5EF4-FFF2-40B4-BE49-F238E27FC236}">
                <a16:creationId xmlns:a16="http://schemas.microsoft.com/office/drawing/2014/main" id="{6D1DE0B1-E685-106A-17BB-7AA11266160D}"/>
              </a:ext>
            </a:extLst>
          </p:cNvPr>
          <p:cNvSpPr/>
          <p:nvPr/>
        </p:nvSpPr>
        <p:spPr>
          <a:xfrm>
            <a:off x="5856132" y="2456373"/>
            <a:ext cx="153879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Best Metric</a:t>
            </a:r>
            <a:endParaRPr lang="en-US" sz="2000" dirty="0"/>
          </a:p>
        </p:txBody>
      </p:sp>
      <p:sp>
        <p:nvSpPr>
          <p:cNvPr id="28" name="Text 11">
            <a:extLst>
              <a:ext uri="{FF2B5EF4-FFF2-40B4-BE49-F238E27FC236}">
                <a16:creationId xmlns:a16="http://schemas.microsoft.com/office/drawing/2014/main" id="{67339973-CE03-AEB9-AE28-8B4C1A2FBACA}"/>
              </a:ext>
            </a:extLst>
          </p:cNvPr>
          <p:cNvSpPr/>
          <p:nvPr/>
        </p:nvSpPr>
        <p:spPr>
          <a:xfrm>
            <a:off x="7422918" y="2456373"/>
            <a:ext cx="205172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Gap Left Open</a:t>
            </a:r>
            <a:endParaRPr lang="en-US" sz="2000" dirty="0"/>
          </a:p>
        </p:txBody>
      </p:sp>
    </p:spTree>
    <p:extLst>
      <p:ext uri="{BB962C8B-B14F-4D97-AF65-F5344CB8AC3E}">
        <p14:creationId xmlns:p14="http://schemas.microsoft.com/office/powerpoint/2010/main" val="2162376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1034F-E46D-92BD-739C-8F411EC59BA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B20CE97-F067-29E7-E8CF-EF2C6834B336}"/>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7D32B60-698B-2D28-A1DA-5D93577AB770}"/>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CBD9C920-902F-CA9A-26FC-D63C5797791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1292D09C-32B9-B0B1-850A-C054022A2267}"/>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E0928891-608A-48D9-379E-F13332EAF81B}"/>
              </a:ext>
            </a:extLst>
          </p:cNvPr>
          <p:cNvSpPr>
            <a:spLocks noGrp="1"/>
          </p:cNvSpPr>
          <p:nvPr>
            <p:ph type="sldNum" sz="quarter" idx="12"/>
          </p:nvPr>
        </p:nvSpPr>
        <p:spPr/>
        <p:txBody>
          <a:bodyPr/>
          <a:lstStyle/>
          <a:p>
            <a:fld id="{9DC013F7-6D70-4318-BA41-212A9B59413B}" type="slidenum">
              <a:rPr lang="en-US" smtClean="0"/>
              <a:t>9</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3E44EB45-2A49-E6E2-0268-2B6B0DFF13A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C74EDA66-9DE9-F8A7-CBB9-E459E7DFBDD6}"/>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0D5A778-4D78-1A46-1572-BD8CC8963027}"/>
              </a:ext>
            </a:extLst>
          </p:cNvPr>
          <p:cNvSpPr/>
          <p:nvPr/>
        </p:nvSpPr>
        <p:spPr>
          <a:xfrm>
            <a:off x="214482" y="1203878"/>
            <a:ext cx="9350207"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Proposed Methodology</a:t>
            </a:r>
            <a:endParaRPr lang="en-US" sz="2700" dirty="0"/>
          </a:p>
        </p:txBody>
      </p:sp>
      <p:sp>
        <p:nvSpPr>
          <p:cNvPr id="12" name="Shape 4">
            <a:extLst>
              <a:ext uri="{FF2B5EF4-FFF2-40B4-BE49-F238E27FC236}">
                <a16:creationId xmlns:a16="http://schemas.microsoft.com/office/drawing/2014/main" id="{8C6D2FE7-545D-ADE0-369B-E713265CA4C7}"/>
              </a:ext>
            </a:extLst>
          </p:cNvPr>
          <p:cNvSpPr/>
          <p:nvPr/>
        </p:nvSpPr>
        <p:spPr>
          <a:xfrm flipV="1">
            <a:off x="157688" y="1848813"/>
            <a:ext cx="9406192" cy="43060"/>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3D7C4294-7A26-6677-7B46-2EC69383E270}"/>
              </a:ext>
            </a:extLst>
          </p:cNvPr>
          <p:cNvSpPr/>
          <p:nvPr/>
        </p:nvSpPr>
        <p:spPr>
          <a:xfrm>
            <a:off x="250503"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16" name="Text 6">
            <a:extLst>
              <a:ext uri="{FF2B5EF4-FFF2-40B4-BE49-F238E27FC236}">
                <a16:creationId xmlns:a16="http://schemas.microsoft.com/office/drawing/2014/main" id="{73B1E078-CAE5-94DA-D067-0FEA6B2AF294}"/>
              </a:ext>
            </a:extLst>
          </p:cNvPr>
          <p:cNvSpPr/>
          <p:nvPr/>
        </p:nvSpPr>
        <p:spPr>
          <a:xfrm>
            <a:off x="310503"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Historical Sales Data</a:t>
            </a:r>
            <a:endParaRPr lang="en-US" sz="2000" dirty="0"/>
          </a:p>
        </p:txBody>
      </p:sp>
      <p:sp>
        <p:nvSpPr>
          <p:cNvPr id="18" name="Text 7">
            <a:extLst>
              <a:ext uri="{FF2B5EF4-FFF2-40B4-BE49-F238E27FC236}">
                <a16:creationId xmlns:a16="http://schemas.microsoft.com/office/drawing/2014/main" id="{1915FB9C-F73C-08B7-AA64-3346D2C0E930}"/>
              </a:ext>
            </a:extLst>
          </p:cNvPr>
          <p:cNvSpPr/>
          <p:nvPr/>
        </p:nvSpPr>
        <p:spPr>
          <a:xfrm>
            <a:off x="310503" y="3837063"/>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Daily item-level sales (public datasets)</a:t>
            </a:r>
            <a:endParaRPr lang="en-US" sz="1500" dirty="0"/>
          </a:p>
        </p:txBody>
      </p:sp>
      <p:sp>
        <p:nvSpPr>
          <p:cNvPr id="20" name="Shape 8">
            <a:extLst>
              <a:ext uri="{FF2B5EF4-FFF2-40B4-BE49-F238E27FC236}">
                <a16:creationId xmlns:a16="http://schemas.microsoft.com/office/drawing/2014/main" id="{83444A55-DCC7-EE0B-35F6-3EB9192A7A1D}"/>
              </a:ext>
            </a:extLst>
          </p:cNvPr>
          <p:cNvSpPr/>
          <p:nvPr/>
        </p:nvSpPr>
        <p:spPr>
          <a:xfrm>
            <a:off x="1693506" y="3871460"/>
            <a:ext cx="150000" cy="237744"/>
          </a:xfrm>
          <a:prstGeom prst="rightArrow">
            <a:avLst/>
          </a:prstGeom>
          <a:solidFill>
            <a:srgbClr val="6B6B6B"/>
          </a:solidFill>
          <a:ln/>
        </p:spPr>
        <p:txBody>
          <a:bodyPr/>
          <a:lstStyle/>
          <a:p>
            <a:endParaRPr lang="en-IN" sz="1500"/>
          </a:p>
        </p:txBody>
      </p:sp>
      <p:sp>
        <p:nvSpPr>
          <p:cNvPr id="22" name="Shape 9">
            <a:extLst>
              <a:ext uri="{FF2B5EF4-FFF2-40B4-BE49-F238E27FC236}">
                <a16:creationId xmlns:a16="http://schemas.microsoft.com/office/drawing/2014/main" id="{FB5E2861-7292-34C6-F544-1EE048738249}"/>
              </a:ext>
            </a:extLst>
          </p:cNvPr>
          <p:cNvSpPr/>
          <p:nvPr/>
        </p:nvSpPr>
        <p:spPr>
          <a:xfrm>
            <a:off x="1843506"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24" name="Text 10">
            <a:extLst>
              <a:ext uri="{FF2B5EF4-FFF2-40B4-BE49-F238E27FC236}">
                <a16:creationId xmlns:a16="http://schemas.microsoft.com/office/drawing/2014/main" id="{9DC570A5-92EB-F3B2-0DEF-1BA2804E5B0D}"/>
              </a:ext>
            </a:extLst>
          </p:cNvPr>
          <p:cNvSpPr/>
          <p:nvPr/>
        </p:nvSpPr>
        <p:spPr>
          <a:xfrm>
            <a:off x="1903506"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Prophet + XGBoost</a:t>
            </a:r>
            <a:endParaRPr lang="en-US" sz="2000" dirty="0"/>
          </a:p>
        </p:txBody>
      </p:sp>
      <p:sp>
        <p:nvSpPr>
          <p:cNvPr id="26" name="Text 11">
            <a:extLst>
              <a:ext uri="{FF2B5EF4-FFF2-40B4-BE49-F238E27FC236}">
                <a16:creationId xmlns:a16="http://schemas.microsoft.com/office/drawing/2014/main" id="{784FB0EF-15CE-1852-6B1B-89D8BCACE057}"/>
              </a:ext>
            </a:extLst>
          </p:cNvPr>
          <p:cNvSpPr/>
          <p:nvPr/>
        </p:nvSpPr>
        <p:spPr>
          <a:xfrm>
            <a:off x="1888506" y="3610617"/>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Trend + seasonality (Prophet) + residual correction (XGBoost)</a:t>
            </a:r>
            <a:endParaRPr lang="en-US" sz="1500" dirty="0"/>
          </a:p>
        </p:txBody>
      </p:sp>
      <p:sp>
        <p:nvSpPr>
          <p:cNvPr id="28" name="Shape 12">
            <a:extLst>
              <a:ext uri="{FF2B5EF4-FFF2-40B4-BE49-F238E27FC236}">
                <a16:creationId xmlns:a16="http://schemas.microsoft.com/office/drawing/2014/main" id="{94D0A4D0-B5DD-BED9-796E-39C9F27CB3CF}"/>
              </a:ext>
            </a:extLst>
          </p:cNvPr>
          <p:cNvSpPr/>
          <p:nvPr/>
        </p:nvSpPr>
        <p:spPr>
          <a:xfrm>
            <a:off x="3286509" y="3871460"/>
            <a:ext cx="150000" cy="237744"/>
          </a:xfrm>
          <a:prstGeom prst="rightArrow">
            <a:avLst/>
          </a:prstGeom>
          <a:solidFill>
            <a:srgbClr val="6B6B6B"/>
          </a:solidFill>
          <a:ln/>
        </p:spPr>
        <p:txBody>
          <a:bodyPr/>
          <a:lstStyle/>
          <a:p>
            <a:endParaRPr lang="en-IN" sz="1500"/>
          </a:p>
        </p:txBody>
      </p:sp>
      <p:sp>
        <p:nvSpPr>
          <p:cNvPr id="30" name="Shape 13">
            <a:extLst>
              <a:ext uri="{FF2B5EF4-FFF2-40B4-BE49-F238E27FC236}">
                <a16:creationId xmlns:a16="http://schemas.microsoft.com/office/drawing/2014/main" id="{EA2997CF-6EEE-3141-D307-FA43328C08C1}"/>
              </a:ext>
            </a:extLst>
          </p:cNvPr>
          <p:cNvSpPr/>
          <p:nvPr/>
        </p:nvSpPr>
        <p:spPr>
          <a:xfrm>
            <a:off x="3436509"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32" name="Text 14">
            <a:extLst>
              <a:ext uri="{FF2B5EF4-FFF2-40B4-BE49-F238E27FC236}">
                <a16:creationId xmlns:a16="http://schemas.microsoft.com/office/drawing/2014/main" id="{BDDB2AF9-D208-1B77-1DBC-A8A2CC48238C}"/>
              </a:ext>
            </a:extLst>
          </p:cNvPr>
          <p:cNvSpPr/>
          <p:nvPr/>
        </p:nvSpPr>
        <p:spPr>
          <a:xfrm>
            <a:off x="3496509"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Raw Forecast</a:t>
            </a:r>
            <a:endParaRPr lang="en-US" sz="2000" dirty="0"/>
          </a:p>
        </p:txBody>
      </p:sp>
      <p:sp>
        <p:nvSpPr>
          <p:cNvPr id="34" name="Text 15">
            <a:extLst>
              <a:ext uri="{FF2B5EF4-FFF2-40B4-BE49-F238E27FC236}">
                <a16:creationId xmlns:a16="http://schemas.microsoft.com/office/drawing/2014/main" id="{CA1DB50A-3C14-6A54-DE87-6634C3EAC8A4}"/>
              </a:ext>
            </a:extLst>
          </p:cNvPr>
          <p:cNvSpPr/>
          <p:nvPr/>
        </p:nvSpPr>
        <p:spPr>
          <a:xfrm>
            <a:off x="3511509"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Point prediction per item, per day</a:t>
            </a:r>
            <a:endParaRPr lang="en-US" sz="1500" dirty="0"/>
          </a:p>
        </p:txBody>
      </p:sp>
      <p:sp>
        <p:nvSpPr>
          <p:cNvPr id="36" name="Shape 16">
            <a:extLst>
              <a:ext uri="{FF2B5EF4-FFF2-40B4-BE49-F238E27FC236}">
                <a16:creationId xmlns:a16="http://schemas.microsoft.com/office/drawing/2014/main" id="{99178979-FD34-5993-0BDD-4A888BB35169}"/>
              </a:ext>
            </a:extLst>
          </p:cNvPr>
          <p:cNvSpPr/>
          <p:nvPr/>
        </p:nvSpPr>
        <p:spPr>
          <a:xfrm>
            <a:off x="4860850" y="3871460"/>
            <a:ext cx="150000" cy="237744"/>
          </a:xfrm>
          <a:prstGeom prst="rightArrow">
            <a:avLst/>
          </a:prstGeom>
          <a:solidFill>
            <a:srgbClr val="6B6B6B"/>
          </a:solidFill>
          <a:ln/>
        </p:spPr>
        <p:txBody>
          <a:bodyPr/>
          <a:lstStyle/>
          <a:p>
            <a:endParaRPr lang="en-IN" sz="1500"/>
          </a:p>
        </p:txBody>
      </p:sp>
      <p:sp>
        <p:nvSpPr>
          <p:cNvPr id="38" name="Shape 17">
            <a:extLst>
              <a:ext uri="{FF2B5EF4-FFF2-40B4-BE49-F238E27FC236}">
                <a16:creationId xmlns:a16="http://schemas.microsoft.com/office/drawing/2014/main" id="{F9C10C9F-1CDF-FF62-3203-B301790F03C8}"/>
              </a:ext>
            </a:extLst>
          </p:cNvPr>
          <p:cNvSpPr/>
          <p:nvPr/>
        </p:nvSpPr>
        <p:spPr>
          <a:xfrm>
            <a:off x="5010850"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40" name="Text 18">
            <a:extLst>
              <a:ext uri="{FF2B5EF4-FFF2-40B4-BE49-F238E27FC236}">
                <a16:creationId xmlns:a16="http://schemas.microsoft.com/office/drawing/2014/main" id="{A7A8B4F4-5045-EF6E-06DC-2DDEDBC352BA}"/>
              </a:ext>
            </a:extLst>
          </p:cNvPr>
          <p:cNvSpPr/>
          <p:nvPr/>
        </p:nvSpPr>
        <p:spPr>
          <a:xfrm>
            <a:off x="5070850"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Restock Logic</a:t>
            </a:r>
            <a:endParaRPr lang="en-US" sz="2000" dirty="0"/>
          </a:p>
        </p:txBody>
      </p:sp>
      <p:sp>
        <p:nvSpPr>
          <p:cNvPr id="42" name="Text 19">
            <a:extLst>
              <a:ext uri="{FF2B5EF4-FFF2-40B4-BE49-F238E27FC236}">
                <a16:creationId xmlns:a16="http://schemas.microsoft.com/office/drawing/2014/main" id="{5EEDD3FC-3434-C5DD-D5E5-226E6D665A9F}"/>
              </a:ext>
            </a:extLst>
          </p:cNvPr>
          <p:cNvSpPr/>
          <p:nvPr/>
        </p:nvSpPr>
        <p:spPr>
          <a:xfrm>
            <a:off x="5070850"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Safety-stock buffer + current inventory</a:t>
            </a:r>
            <a:endParaRPr lang="en-US" sz="1500" dirty="0"/>
          </a:p>
        </p:txBody>
      </p:sp>
      <p:sp>
        <p:nvSpPr>
          <p:cNvPr id="44" name="Shape 20">
            <a:extLst>
              <a:ext uri="{FF2B5EF4-FFF2-40B4-BE49-F238E27FC236}">
                <a16:creationId xmlns:a16="http://schemas.microsoft.com/office/drawing/2014/main" id="{86D65179-B3F5-AD37-DB03-26BC748D955D}"/>
              </a:ext>
            </a:extLst>
          </p:cNvPr>
          <p:cNvSpPr/>
          <p:nvPr/>
        </p:nvSpPr>
        <p:spPr>
          <a:xfrm>
            <a:off x="6444522" y="3871460"/>
            <a:ext cx="150000" cy="237744"/>
          </a:xfrm>
          <a:prstGeom prst="rightArrow">
            <a:avLst/>
          </a:prstGeom>
          <a:solidFill>
            <a:srgbClr val="6B6B6B"/>
          </a:solidFill>
          <a:ln/>
        </p:spPr>
        <p:txBody>
          <a:bodyPr/>
          <a:lstStyle/>
          <a:p>
            <a:endParaRPr lang="en-IN" sz="1500"/>
          </a:p>
        </p:txBody>
      </p:sp>
      <p:sp>
        <p:nvSpPr>
          <p:cNvPr id="46" name="Shape 20">
            <a:extLst>
              <a:ext uri="{FF2B5EF4-FFF2-40B4-BE49-F238E27FC236}">
                <a16:creationId xmlns:a16="http://schemas.microsoft.com/office/drawing/2014/main" id="{77F80DC3-F93D-8603-EA1E-5A9D09297795}"/>
              </a:ext>
            </a:extLst>
          </p:cNvPr>
          <p:cNvSpPr/>
          <p:nvPr/>
        </p:nvSpPr>
        <p:spPr>
          <a:xfrm>
            <a:off x="8028194" y="3871460"/>
            <a:ext cx="150000" cy="237744"/>
          </a:xfrm>
          <a:prstGeom prst="rightArrow">
            <a:avLst/>
          </a:prstGeom>
          <a:solidFill>
            <a:srgbClr val="6B6B6B"/>
          </a:solidFill>
          <a:ln/>
        </p:spPr>
        <p:txBody>
          <a:bodyPr/>
          <a:lstStyle/>
          <a:p>
            <a:endParaRPr lang="en-IN" sz="1500"/>
          </a:p>
        </p:txBody>
      </p:sp>
      <p:sp>
        <p:nvSpPr>
          <p:cNvPr id="48" name="Shape 21">
            <a:extLst>
              <a:ext uri="{FF2B5EF4-FFF2-40B4-BE49-F238E27FC236}">
                <a16:creationId xmlns:a16="http://schemas.microsoft.com/office/drawing/2014/main" id="{D2071269-563F-DD15-2D96-3746CECD70ED}"/>
              </a:ext>
            </a:extLst>
          </p:cNvPr>
          <p:cNvSpPr/>
          <p:nvPr/>
        </p:nvSpPr>
        <p:spPr>
          <a:xfrm>
            <a:off x="6594522"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50" name="Shape 21">
            <a:extLst>
              <a:ext uri="{FF2B5EF4-FFF2-40B4-BE49-F238E27FC236}">
                <a16:creationId xmlns:a16="http://schemas.microsoft.com/office/drawing/2014/main" id="{8FA4869D-8C21-6002-3333-48044B307382}"/>
              </a:ext>
            </a:extLst>
          </p:cNvPr>
          <p:cNvSpPr/>
          <p:nvPr/>
        </p:nvSpPr>
        <p:spPr>
          <a:xfrm>
            <a:off x="8178194"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52" name="Text 22">
            <a:extLst>
              <a:ext uri="{FF2B5EF4-FFF2-40B4-BE49-F238E27FC236}">
                <a16:creationId xmlns:a16="http://schemas.microsoft.com/office/drawing/2014/main" id="{F342388A-12F0-563B-A91A-914A01B04C06}"/>
              </a:ext>
            </a:extLst>
          </p:cNvPr>
          <p:cNvSpPr/>
          <p:nvPr/>
        </p:nvSpPr>
        <p:spPr>
          <a:xfrm>
            <a:off x="6654522"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Recommendation</a:t>
            </a:r>
            <a:endParaRPr lang="en-US" sz="2000" dirty="0"/>
          </a:p>
        </p:txBody>
      </p:sp>
      <p:sp>
        <p:nvSpPr>
          <p:cNvPr id="54" name="Text 22">
            <a:extLst>
              <a:ext uri="{FF2B5EF4-FFF2-40B4-BE49-F238E27FC236}">
                <a16:creationId xmlns:a16="http://schemas.microsoft.com/office/drawing/2014/main" id="{4B8E25A7-8F29-F200-825A-63F6FA3BE562}"/>
              </a:ext>
            </a:extLst>
          </p:cNvPr>
          <p:cNvSpPr/>
          <p:nvPr/>
        </p:nvSpPr>
        <p:spPr>
          <a:xfrm>
            <a:off x="8238194"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Forecast Narrator</a:t>
            </a:r>
            <a:endParaRPr lang="en-US" sz="2000" dirty="0"/>
          </a:p>
        </p:txBody>
      </p:sp>
      <p:sp>
        <p:nvSpPr>
          <p:cNvPr id="56" name="Text 23">
            <a:extLst>
              <a:ext uri="{FF2B5EF4-FFF2-40B4-BE49-F238E27FC236}">
                <a16:creationId xmlns:a16="http://schemas.microsoft.com/office/drawing/2014/main" id="{D4F001E5-32AC-5F34-E299-9C3473D1ECE3}"/>
              </a:ext>
            </a:extLst>
          </p:cNvPr>
          <p:cNvSpPr/>
          <p:nvPr/>
        </p:nvSpPr>
        <p:spPr>
          <a:xfrm>
            <a:off x="6654522" y="3808128"/>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e.g. "Order 15 croissants"</a:t>
            </a:r>
            <a:endParaRPr lang="en-US" sz="1500" dirty="0"/>
          </a:p>
        </p:txBody>
      </p:sp>
      <p:sp>
        <p:nvSpPr>
          <p:cNvPr id="58" name="Text 23">
            <a:extLst>
              <a:ext uri="{FF2B5EF4-FFF2-40B4-BE49-F238E27FC236}">
                <a16:creationId xmlns:a16="http://schemas.microsoft.com/office/drawing/2014/main" id="{037D519D-5AA2-507C-7B33-8267EAD8684B}"/>
              </a:ext>
            </a:extLst>
          </p:cNvPr>
          <p:cNvSpPr/>
          <p:nvPr/>
        </p:nvSpPr>
        <p:spPr>
          <a:xfrm>
            <a:off x="8178194" y="3794391"/>
            <a:ext cx="1377685"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LLM explains the recommendation in plain language</a:t>
            </a:r>
            <a:endParaRPr lang="en-US" sz="1500" dirty="0"/>
          </a:p>
        </p:txBody>
      </p:sp>
      <p:sp>
        <p:nvSpPr>
          <p:cNvPr id="62" name="TextBox 61">
            <a:extLst>
              <a:ext uri="{FF2B5EF4-FFF2-40B4-BE49-F238E27FC236}">
                <a16:creationId xmlns:a16="http://schemas.microsoft.com/office/drawing/2014/main" id="{81E2064F-7AEE-9E5E-2E8B-4FF9FA4A15F1}"/>
              </a:ext>
            </a:extLst>
          </p:cNvPr>
          <p:cNvSpPr txBox="1"/>
          <p:nvPr/>
        </p:nvSpPr>
        <p:spPr>
          <a:xfrm>
            <a:off x="213673" y="2051021"/>
            <a:ext cx="9408557" cy="1107996"/>
          </a:xfrm>
          <a:prstGeom prst="rect">
            <a:avLst/>
          </a:prstGeom>
          <a:noFill/>
        </p:spPr>
        <p:txBody>
          <a:bodyPr wrap="square" lIns="0" tIns="0" rIns="0" bIns="0">
            <a:spAutoFit/>
          </a:bodyPr>
          <a:lstStyle/>
          <a:p>
            <a:r>
              <a:rPr lang="en-IN" i="1" dirty="0">
                <a:solidFill>
                  <a:schemeClr val="accent5">
                    <a:lumMod val="50000"/>
                  </a:schemeClr>
                </a:solidFill>
              </a:rPr>
              <a:t>An end-to-end architecture designed to transform raw, unpredictable sales data into plain-language inventory recommendations.</a:t>
            </a:r>
            <a:endParaRPr lang="en-IN" dirty="0">
              <a:solidFill>
                <a:schemeClr val="accent5">
                  <a:lumMod val="50000"/>
                </a:schemeClr>
              </a:solidFill>
            </a:endParaRPr>
          </a:p>
          <a:p>
            <a:br>
              <a:rPr lang="en-IN" dirty="0"/>
            </a:br>
            <a:endParaRPr i="1" dirty="0">
              <a:solidFill>
                <a:srgbClr val="2F3C7E"/>
              </a:solidFill>
              <a:latin typeface="Calibri"/>
            </a:endParaRPr>
          </a:p>
        </p:txBody>
      </p:sp>
    </p:spTree>
    <p:extLst>
      <p:ext uri="{BB962C8B-B14F-4D97-AF65-F5344CB8AC3E}">
        <p14:creationId xmlns:p14="http://schemas.microsoft.com/office/powerpoint/2010/main" val="206626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A14F4-1DA5-3A14-695D-65199F9BB25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BFC3007-2971-043E-2BE3-3C53B61CA10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E7555D82-4538-145B-E280-8315A9597B0E}"/>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7BBB5B2-1C0F-718D-7919-9CAA31C0145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A7E9CFB4-0160-D836-B277-EDE02129A5A9}"/>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DA83F21E-5495-5CE8-71D0-F72DD05C62B3}"/>
              </a:ext>
            </a:extLst>
          </p:cNvPr>
          <p:cNvSpPr>
            <a:spLocks noGrp="1"/>
          </p:cNvSpPr>
          <p:nvPr>
            <p:ph type="sldNum" sz="quarter" idx="12"/>
          </p:nvPr>
        </p:nvSpPr>
        <p:spPr/>
        <p:txBody>
          <a:bodyPr/>
          <a:lstStyle/>
          <a:p>
            <a:fld id="{9DC013F7-6D70-4318-BA41-212A9B59413B}" type="slidenum">
              <a:rPr lang="en-US" smtClean="0"/>
              <a:t>10</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485CD39B-8E62-A894-894E-AC9A3CBBC00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7A6876A-FCAD-77C9-E31A-89D15EF39D48}"/>
              </a:ext>
            </a:extLst>
          </p:cNvPr>
          <p:cNvSpPr/>
          <p:nvPr/>
        </p:nvSpPr>
        <p:spPr>
          <a:xfrm>
            <a:off x="-178529" y="1174621"/>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FAA5FB4-2353-B853-D731-B4F79BCA2EDD}"/>
              </a:ext>
            </a:extLst>
          </p:cNvPr>
          <p:cNvSpPr/>
          <p:nvPr/>
        </p:nvSpPr>
        <p:spPr>
          <a:xfrm>
            <a:off x="306971" y="1241904"/>
            <a:ext cx="9010473"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sp>
        <p:nvSpPr>
          <p:cNvPr id="12" name="Shape 4">
            <a:extLst>
              <a:ext uri="{FF2B5EF4-FFF2-40B4-BE49-F238E27FC236}">
                <a16:creationId xmlns:a16="http://schemas.microsoft.com/office/drawing/2014/main" id="{F254803E-9B27-839E-D398-582A9CFF3C9E}"/>
              </a:ext>
            </a:extLst>
          </p:cNvPr>
          <p:cNvSpPr/>
          <p:nvPr/>
        </p:nvSpPr>
        <p:spPr>
          <a:xfrm>
            <a:off x="306033" y="1836264"/>
            <a:ext cx="8548419" cy="0"/>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C1645358-FEC7-8FAD-CD1A-51370C6F5D6A}"/>
              </a:ext>
            </a:extLst>
          </p:cNvPr>
          <p:cNvSpPr/>
          <p:nvPr/>
        </p:nvSpPr>
        <p:spPr>
          <a:xfrm>
            <a:off x="521574"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16" name="Shape 6">
            <a:extLst>
              <a:ext uri="{FF2B5EF4-FFF2-40B4-BE49-F238E27FC236}">
                <a16:creationId xmlns:a16="http://schemas.microsoft.com/office/drawing/2014/main" id="{A00F0501-417C-F55E-B88C-56DB610B7899}"/>
              </a:ext>
            </a:extLst>
          </p:cNvPr>
          <p:cNvSpPr/>
          <p:nvPr/>
        </p:nvSpPr>
        <p:spPr>
          <a:xfrm>
            <a:off x="521574" y="2175315"/>
            <a:ext cx="45719" cy="1837778"/>
          </a:xfrm>
          <a:prstGeom prst="rect">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C8102C8D-0BE3-E4A1-1551-BA2CE71DDE93}"/>
              </a:ext>
            </a:extLst>
          </p:cNvPr>
          <p:cNvSpPr/>
          <p:nvPr/>
        </p:nvSpPr>
        <p:spPr>
          <a:xfrm>
            <a:off x="675529"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Mobile Frontend</a:t>
            </a:r>
            <a:endParaRPr lang="en-US" dirty="0"/>
          </a:p>
        </p:txBody>
      </p:sp>
      <p:sp>
        <p:nvSpPr>
          <p:cNvPr id="20" name="Text 8">
            <a:extLst>
              <a:ext uri="{FF2B5EF4-FFF2-40B4-BE49-F238E27FC236}">
                <a16:creationId xmlns:a16="http://schemas.microsoft.com/office/drawing/2014/main" id="{9D0F70B9-4DF2-A683-ED1B-AF8C18D950E0}"/>
              </a:ext>
            </a:extLst>
          </p:cNvPr>
          <p:cNvSpPr/>
          <p:nvPr/>
        </p:nvSpPr>
        <p:spPr>
          <a:xfrm>
            <a:off x="675529"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Flutter (Dart)</a:t>
            </a:r>
            <a:endParaRPr lang="en-US" sz="1400" dirty="0"/>
          </a:p>
        </p:txBody>
      </p:sp>
      <p:sp>
        <p:nvSpPr>
          <p:cNvPr id="22" name="Text 9">
            <a:extLst>
              <a:ext uri="{FF2B5EF4-FFF2-40B4-BE49-F238E27FC236}">
                <a16:creationId xmlns:a16="http://schemas.microsoft.com/office/drawing/2014/main" id="{FB1BD70B-B35C-63C6-CFEF-ED487030449C}"/>
              </a:ext>
            </a:extLst>
          </p:cNvPr>
          <p:cNvSpPr/>
          <p:nvPr/>
        </p:nvSpPr>
        <p:spPr>
          <a:xfrm>
            <a:off x="675529" y="308971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Cross-platform app so zero-install friction interface for non-technical owners</a:t>
            </a:r>
            <a:endParaRPr lang="en-US" sz="1200" dirty="0"/>
          </a:p>
        </p:txBody>
      </p:sp>
      <p:sp>
        <p:nvSpPr>
          <p:cNvPr id="24" name="Shape 10">
            <a:extLst>
              <a:ext uri="{FF2B5EF4-FFF2-40B4-BE49-F238E27FC236}">
                <a16:creationId xmlns:a16="http://schemas.microsoft.com/office/drawing/2014/main" id="{248982C2-7596-4B3F-AA81-312E21D4EF5B}"/>
              </a:ext>
            </a:extLst>
          </p:cNvPr>
          <p:cNvSpPr/>
          <p:nvPr/>
        </p:nvSpPr>
        <p:spPr>
          <a:xfrm>
            <a:off x="2768377"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26" name="Shape 11">
            <a:extLst>
              <a:ext uri="{FF2B5EF4-FFF2-40B4-BE49-F238E27FC236}">
                <a16:creationId xmlns:a16="http://schemas.microsoft.com/office/drawing/2014/main" id="{841AAD53-A0FA-7174-9F95-B9E5014D48B1}"/>
              </a:ext>
            </a:extLst>
          </p:cNvPr>
          <p:cNvSpPr/>
          <p:nvPr/>
        </p:nvSpPr>
        <p:spPr>
          <a:xfrm>
            <a:off x="2768377" y="2175315"/>
            <a:ext cx="45719" cy="1837778"/>
          </a:xfrm>
          <a:prstGeom prst="rect">
            <a:avLst/>
          </a:prstGeom>
          <a:solidFill>
            <a:srgbClr val="BC312C"/>
          </a:solidFill>
          <a:ln/>
        </p:spPr>
        <p:txBody>
          <a:bodyPr/>
          <a:lstStyle/>
          <a:p>
            <a:endParaRPr lang="en-IN"/>
          </a:p>
        </p:txBody>
      </p:sp>
      <p:sp>
        <p:nvSpPr>
          <p:cNvPr id="28" name="Text 12">
            <a:extLst>
              <a:ext uri="{FF2B5EF4-FFF2-40B4-BE49-F238E27FC236}">
                <a16:creationId xmlns:a16="http://schemas.microsoft.com/office/drawing/2014/main" id="{FA90CEB9-E861-75D8-056C-9C67438A0766}"/>
              </a:ext>
            </a:extLst>
          </p:cNvPr>
          <p:cNvSpPr/>
          <p:nvPr/>
        </p:nvSpPr>
        <p:spPr>
          <a:xfrm>
            <a:off x="2922332"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Forecasting Engine</a:t>
            </a:r>
            <a:endParaRPr lang="en-US" dirty="0"/>
          </a:p>
        </p:txBody>
      </p:sp>
      <p:sp>
        <p:nvSpPr>
          <p:cNvPr id="30" name="Text 13">
            <a:extLst>
              <a:ext uri="{FF2B5EF4-FFF2-40B4-BE49-F238E27FC236}">
                <a16:creationId xmlns:a16="http://schemas.microsoft.com/office/drawing/2014/main" id="{985DAB09-0710-B3D5-6C2F-2E7732ED2872}"/>
              </a:ext>
            </a:extLst>
          </p:cNvPr>
          <p:cNvSpPr/>
          <p:nvPr/>
        </p:nvSpPr>
        <p:spPr>
          <a:xfrm>
            <a:off x="2922332"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Facebook Prophet + XGBoost (Python)</a:t>
            </a:r>
            <a:endParaRPr lang="en-US" sz="1400" dirty="0"/>
          </a:p>
        </p:txBody>
      </p:sp>
      <p:sp>
        <p:nvSpPr>
          <p:cNvPr id="32" name="Text 14">
            <a:extLst>
              <a:ext uri="{FF2B5EF4-FFF2-40B4-BE49-F238E27FC236}">
                <a16:creationId xmlns:a16="http://schemas.microsoft.com/office/drawing/2014/main" id="{FB1DA546-E63F-5717-02D9-BD17CED9DA42}"/>
              </a:ext>
            </a:extLst>
          </p:cNvPr>
          <p:cNvSpPr/>
          <p:nvPr/>
        </p:nvSpPr>
        <p:spPr>
          <a:xfrm>
            <a:off x="2922332" y="308971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Prophet handles trend/seasonality; XGBoost models the residuals — CPU only, no GPU needed</a:t>
            </a:r>
            <a:endParaRPr lang="en-US" sz="1200" dirty="0"/>
          </a:p>
        </p:txBody>
      </p:sp>
      <p:sp>
        <p:nvSpPr>
          <p:cNvPr id="34" name="Shape 15">
            <a:extLst>
              <a:ext uri="{FF2B5EF4-FFF2-40B4-BE49-F238E27FC236}">
                <a16:creationId xmlns:a16="http://schemas.microsoft.com/office/drawing/2014/main" id="{3E3A93E5-0CE7-EFD6-17A1-679F53FE8FAF}"/>
              </a:ext>
            </a:extLst>
          </p:cNvPr>
          <p:cNvSpPr/>
          <p:nvPr/>
        </p:nvSpPr>
        <p:spPr>
          <a:xfrm>
            <a:off x="5033843"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36" name="Shape 16">
            <a:extLst>
              <a:ext uri="{FF2B5EF4-FFF2-40B4-BE49-F238E27FC236}">
                <a16:creationId xmlns:a16="http://schemas.microsoft.com/office/drawing/2014/main" id="{B813A8D5-73FF-2D6C-DD04-E8E5DAE00DE0}"/>
              </a:ext>
            </a:extLst>
          </p:cNvPr>
          <p:cNvSpPr/>
          <p:nvPr/>
        </p:nvSpPr>
        <p:spPr>
          <a:xfrm>
            <a:off x="5033843" y="2175315"/>
            <a:ext cx="45719" cy="1837778"/>
          </a:xfrm>
          <a:prstGeom prst="rect">
            <a:avLst/>
          </a:prstGeom>
          <a:solidFill>
            <a:srgbClr val="BC312C"/>
          </a:solidFill>
          <a:ln/>
        </p:spPr>
        <p:txBody>
          <a:bodyPr/>
          <a:lstStyle/>
          <a:p>
            <a:endParaRPr lang="en-IN"/>
          </a:p>
        </p:txBody>
      </p:sp>
      <p:sp>
        <p:nvSpPr>
          <p:cNvPr id="38" name="Text 17">
            <a:extLst>
              <a:ext uri="{FF2B5EF4-FFF2-40B4-BE49-F238E27FC236}">
                <a16:creationId xmlns:a16="http://schemas.microsoft.com/office/drawing/2014/main" id="{972C71A3-4126-1B03-1975-0583164AE7EF}"/>
              </a:ext>
            </a:extLst>
          </p:cNvPr>
          <p:cNvSpPr/>
          <p:nvPr/>
        </p:nvSpPr>
        <p:spPr>
          <a:xfrm>
            <a:off x="5187798"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External Regressors</a:t>
            </a:r>
            <a:endParaRPr lang="en-US" dirty="0"/>
          </a:p>
        </p:txBody>
      </p:sp>
      <p:sp>
        <p:nvSpPr>
          <p:cNvPr id="40" name="Text 18">
            <a:extLst>
              <a:ext uri="{FF2B5EF4-FFF2-40B4-BE49-F238E27FC236}">
                <a16:creationId xmlns:a16="http://schemas.microsoft.com/office/drawing/2014/main" id="{9089B26B-281F-EBA2-C5C5-B5469033F2D1}"/>
              </a:ext>
            </a:extLst>
          </p:cNvPr>
          <p:cNvSpPr/>
          <p:nvPr/>
        </p:nvSpPr>
        <p:spPr>
          <a:xfrm>
            <a:off x="5187798" y="2614226"/>
            <a:ext cx="1871721" cy="496697"/>
          </a:xfrm>
          <a:prstGeom prst="rect">
            <a:avLst/>
          </a:prstGeom>
          <a:noFill/>
          <a:ln/>
        </p:spPr>
        <p:txBody>
          <a:bodyPr wrap="square" lIns="0" tIns="0" rIns="0" bIns="0" rtlCol="0" anchor="ctr"/>
          <a:lstStyle/>
          <a:p>
            <a:pPr marL="0" indent="0">
              <a:lnSpc>
                <a:spcPct val="100000"/>
              </a:lnSpc>
              <a:buNone/>
            </a:pPr>
            <a:r>
              <a:rPr lang="en-US" sz="1400" b="1" dirty="0" err="1">
                <a:solidFill>
                  <a:srgbClr val="BC312C"/>
                </a:solidFill>
                <a:latin typeface="Calibri" pitchFamily="34" charset="0"/>
                <a:ea typeface="Calibri" pitchFamily="34" charset="-122"/>
                <a:cs typeface="Calibri" pitchFamily="34" charset="-120"/>
              </a:rPr>
              <a:t>WeatherAPI</a:t>
            </a:r>
            <a:r>
              <a:rPr lang="en-US" sz="1400" b="1" dirty="0">
                <a:solidFill>
                  <a:srgbClr val="BC312C"/>
                </a:solidFill>
                <a:latin typeface="Calibri" pitchFamily="34" charset="0"/>
                <a:ea typeface="Calibri" pitchFamily="34" charset="-122"/>
                <a:cs typeface="Calibri" pitchFamily="34" charset="-120"/>
              </a:rPr>
              <a:t>, Python `holidays` library</a:t>
            </a:r>
            <a:endParaRPr lang="en-US" sz="1400" dirty="0"/>
          </a:p>
        </p:txBody>
      </p:sp>
      <p:sp>
        <p:nvSpPr>
          <p:cNvPr id="42" name="Text 19">
            <a:extLst>
              <a:ext uri="{FF2B5EF4-FFF2-40B4-BE49-F238E27FC236}">
                <a16:creationId xmlns:a16="http://schemas.microsoft.com/office/drawing/2014/main" id="{D760D88C-514E-E222-2E37-53AEF8EF6B61}"/>
              </a:ext>
            </a:extLst>
          </p:cNvPr>
          <p:cNvSpPr/>
          <p:nvPr/>
        </p:nvSpPr>
        <p:spPr>
          <a:xfrm>
            <a:off x="5197721" y="321160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Feeds weather and public-holiday signals into Prophet</a:t>
            </a:r>
            <a:endParaRPr lang="en-US" sz="1200" dirty="0"/>
          </a:p>
        </p:txBody>
      </p:sp>
      <p:sp>
        <p:nvSpPr>
          <p:cNvPr id="44" name="Shape 20">
            <a:extLst>
              <a:ext uri="{FF2B5EF4-FFF2-40B4-BE49-F238E27FC236}">
                <a16:creationId xmlns:a16="http://schemas.microsoft.com/office/drawing/2014/main" id="{E1AC1F50-7FB8-2967-7D66-ACBFA1E4E51A}"/>
              </a:ext>
            </a:extLst>
          </p:cNvPr>
          <p:cNvSpPr/>
          <p:nvPr/>
        </p:nvSpPr>
        <p:spPr>
          <a:xfrm>
            <a:off x="521574"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46" name="Shape 21">
            <a:extLst>
              <a:ext uri="{FF2B5EF4-FFF2-40B4-BE49-F238E27FC236}">
                <a16:creationId xmlns:a16="http://schemas.microsoft.com/office/drawing/2014/main" id="{052DB586-A6E5-78A8-CD3C-B034A29017D8}"/>
              </a:ext>
            </a:extLst>
          </p:cNvPr>
          <p:cNvSpPr/>
          <p:nvPr/>
        </p:nvSpPr>
        <p:spPr>
          <a:xfrm>
            <a:off x="521574" y="4479045"/>
            <a:ext cx="45719" cy="1837778"/>
          </a:xfrm>
          <a:prstGeom prst="rect">
            <a:avLst/>
          </a:prstGeom>
          <a:solidFill>
            <a:srgbClr val="BC312C"/>
          </a:solidFill>
          <a:ln/>
        </p:spPr>
        <p:txBody>
          <a:bodyPr/>
          <a:lstStyle/>
          <a:p>
            <a:endParaRPr lang="en-IN"/>
          </a:p>
        </p:txBody>
      </p:sp>
      <p:sp>
        <p:nvSpPr>
          <p:cNvPr id="48" name="Text 22">
            <a:extLst>
              <a:ext uri="{FF2B5EF4-FFF2-40B4-BE49-F238E27FC236}">
                <a16:creationId xmlns:a16="http://schemas.microsoft.com/office/drawing/2014/main" id="{86A10AC1-B586-05DC-ECB8-42C5F07D11B6}"/>
              </a:ext>
            </a:extLst>
          </p:cNvPr>
          <p:cNvSpPr/>
          <p:nvPr/>
        </p:nvSpPr>
        <p:spPr>
          <a:xfrm>
            <a:off x="656864"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Restock Logic</a:t>
            </a:r>
            <a:endParaRPr lang="en-US" dirty="0"/>
          </a:p>
        </p:txBody>
      </p:sp>
      <p:sp>
        <p:nvSpPr>
          <p:cNvPr id="50" name="Text 23">
            <a:extLst>
              <a:ext uri="{FF2B5EF4-FFF2-40B4-BE49-F238E27FC236}">
                <a16:creationId xmlns:a16="http://schemas.microsoft.com/office/drawing/2014/main" id="{83E4F515-F7F5-2D28-BB7E-00D837798C3C}"/>
              </a:ext>
            </a:extLst>
          </p:cNvPr>
          <p:cNvSpPr/>
          <p:nvPr/>
        </p:nvSpPr>
        <p:spPr>
          <a:xfrm>
            <a:off x="656864"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Python (Pandas, NumPy)</a:t>
            </a:r>
            <a:endParaRPr lang="en-US" sz="1400" dirty="0"/>
          </a:p>
        </p:txBody>
      </p:sp>
      <p:sp>
        <p:nvSpPr>
          <p:cNvPr id="52" name="Text 24">
            <a:extLst>
              <a:ext uri="{FF2B5EF4-FFF2-40B4-BE49-F238E27FC236}">
                <a16:creationId xmlns:a16="http://schemas.microsoft.com/office/drawing/2014/main" id="{25415EF8-2E89-93FE-F2CA-C55B5E2420A7}"/>
              </a:ext>
            </a:extLst>
          </p:cNvPr>
          <p:cNvSpPr/>
          <p:nvPr/>
        </p:nvSpPr>
        <p:spPr>
          <a:xfrm>
            <a:off x="656864"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Deterministic safety-stock buffer calculation not a second ML model</a:t>
            </a:r>
            <a:endParaRPr lang="en-US" sz="1200" dirty="0"/>
          </a:p>
        </p:txBody>
      </p:sp>
      <p:sp>
        <p:nvSpPr>
          <p:cNvPr id="54" name="Shape 25">
            <a:extLst>
              <a:ext uri="{FF2B5EF4-FFF2-40B4-BE49-F238E27FC236}">
                <a16:creationId xmlns:a16="http://schemas.microsoft.com/office/drawing/2014/main" id="{CA62526B-AD31-B787-0E54-5FCA69E0D2F9}"/>
              </a:ext>
            </a:extLst>
          </p:cNvPr>
          <p:cNvSpPr/>
          <p:nvPr/>
        </p:nvSpPr>
        <p:spPr>
          <a:xfrm>
            <a:off x="2768377"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56" name="Shape 26">
            <a:extLst>
              <a:ext uri="{FF2B5EF4-FFF2-40B4-BE49-F238E27FC236}">
                <a16:creationId xmlns:a16="http://schemas.microsoft.com/office/drawing/2014/main" id="{B34D5FE2-452F-8374-3DD2-8E0F16FB854D}"/>
              </a:ext>
            </a:extLst>
          </p:cNvPr>
          <p:cNvSpPr/>
          <p:nvPr/>
        </p:nvSpPr>
        <p:spPr>
          <a:xfrm>
            <a:off x="2768377" y="4479045"/>
            <a:ext cx="45719" cy="1837778"/>
          </a:xfrm>
          <a:prstGeom prst="rect">
            <a:avLst/>
          </a:prstGeom>
          <a:solidFill>
            <a:srgbClr val="BC312C"/>
          </a:solidFill>
          <a:ln/>
        </p:spPr>
        <p:txBody>
          <a:bodyPr/>
          <a:lstStyle/>
          <a:p>
            <a:endParaRPr lang="en-IN"/>
          </a:p>
        </p:txBody>
      </p:sp>
      <p:sp>
        <p:nvSpPr>
          <p:cNvPr id="58" name="Text 27">
            <a:extLst>
              <a:ext uri="{FF2B5EF4-FFF2-40B4-BE49-F238E27FC236}">
                <a16:creationId xmlns:a16="http://schemas.microsoft.com/office/drawing/2014/main" id="{54E53DBD-C56A-E417-92A3-2F1F0ACBFD16}"/>
              </a:ext>
            </a:extLst>
          </p:cNvPr>
          <p:cNvSpPr/>
          <p:nvPr/>
        </p:nvSpPr>
        <p:spPr>
          <a:xfrm>
            <a:off x="2903667"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Backend API</a:t>
            </a:r>
            <a:endParaRPr lang="en-US" dirty="0"/>
          </a:p>
        </p:txBody>
      </p:sp>
      <p:sp>
        <p:nvSpPr>
          <p:cNvPr id="60" name="Text 28">
            <a:extLst>
              <a:ext uri="{FF2B5EF4-FFF2-40B4-BE49-F238E27FC236}">
                <a16:creationId xmlns:a16="http://schemas.microsoft.com/office/drawing/2014/main" id="{AA496FB8-9F88-C677-7D4B-2C9C674BAA4D}"/>
              </a:ext>
            </a:extLst>
          </p:cNvPr>
          <p:cNvSpPr/>
          <p:nvPr/>
        </p:nvSpPr>
        <p:spPr>
          <a:xfrm>
            <a:off x="2903667"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FastAPI / Flask, hosted on Render / AWS </a:t>
            </a:r>
            <a:endParaRPr lang="en-US" sz="1400" dirty="0"/>
          </a:p>
        </p:txBody>
      </p:sp>
      <p:sp>
        <p:nvSpPr>
          <p:cNvPr id="62" name="Text 29">
            <a:extLst>
              <a:ext uri="{FF2B5EF4-FFF2-40B4-BE49-F238E27FC236}">
                <a16:creationId xmlns:a16="http://schemas.microsoft.com/office/drawing/2014/main" id="{52131326-FD29-3973-DB36-90D650AAE1AD}"/>
              </a:ext>
            </a:extLst>
          </p:cNvPr>
          <p:cNvSpPr/>
          <p:nvPr/>
        </p:nvSpPr>
        <p:spPr>
          <a:xfrm>
            <a:off x="2903667"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Connects Flutter app to the Python forecasting pipeline</a:t>
            </a:r>
            <a:endParaRPr lang="en-US" sz="1200" dirty="0"/>
          </a:p>
        </p:txBody>
      </p:sp>
      <p:sp>
        <p:nvSpPr>
          <p:cNvPr id="64" name="Shape 30">
            <a:extLst>
              <a:ext uri="{FF2B5EF4-FFF2-40B4-BE49-F238E27FC236}">
                <a16:creationId xmlns:a16="http://schemas.microsoft.com/office/drawing/2014/main" id="{D5479092-5CF1-EBFF-43AF-8C25986DF4BB}"/>
              </a:ext>
            </a:extLst>
          </p:cNvPr>
          <p:cNvSpPr/>
          <p:nvPr/>
        </p:nvSpPr>
        <p:spPr>
          <a:xfrm>
            <a:off x="5033843"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66" name="Shape 31">
            <a:extLst>
              <a:ext uri="{FF2B5EF4-FFF2-40B4-BE49-F238E27FC236}">
                <a16:creationId xmlns:a16="http://schemas.microsoft.com/office/drawing/2014/main" id="{7A3AB7C8-427D-73CB-8861-586056133888}"/>
              </a:ext>
            </a:extLst>
          </p:cNvPr>
          <p:cNvSpPr/>
          <p:nvPr/>
        </p:nvSpPr>
        <p:spPr>
          <a:xfrm>
            <a:off x="5033843" y="4479045"/>
            <a:ext cx="45719" cy="1837778"/>
          </a:xfrm>
          <a:prstGeom prst="rect">
            <a:avLst/>
          </a:prstGeom>
          <a:solidFill>
            <a:srgbClr val="BC312C"/>
          </a:solidFill>
          <a:ln/>
        </p:spPr>
        <p:txBody>
          <a:bodyPr/>
          <a:lstStyle/>
          <a:p>
            <a:endParaRPr lang="en-IN"/>
          </a:p>
        </p:txBody>
      </p:sp>
      <p:sp>
        <p:nvSpPr>
          <p:cNvPr id="68" name="Text 32">
            <a:extLst>
              <a:ext uri="{FF2B5EF4-FFF2-40B4-BE49-F238E27FC236}">
                <a16:creationId xmlns:a16="http://schemas.microsoft.com/office/drawing/2014/main" id="{2DE12F82-4A24-56F7-F8E5-8CACE9D542BA}"/>
              </a:ext>
            </a:extLst>
          </p:cNvPr>
          <p:cNvSpPr/>
          <p:nvPr/>
        </p:nvSpPr>
        <p:spPr>
          <a:xfrm>
            <a:off x="5169133"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Database</a:t>
            </a:r>
            <a:endParaRPr lang="en-US" dirty="0"/>
          </a:p>
        </p:txBody>
      </p:sp>
      <p:sp>
        <p:nvSpPr>
          <p:cNvPr id="70" name="Text 33">
            <a:extLst>
              <a:ext uri="{FF2B5EF4-FFF2-40B4-BE49-F238E27FC236}">
                <a16:creationId xmlns:a16="http://schemas.microsoft.com/office/drawing/2014/main" id="{FB5688B8-40C6-756C-9014-13DE832A2D7E}"/>
              </a:ext>
            </a:extLst>
          </p:cNvPr>
          <p:cNvSpPr/>
          <p:nvPr/>
        </p:nvSpPr>
        <p:spPr>
          <a:xfrm>
            <a:off x="5169133"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Firebase / Supabase</a:t>
            </a:r>
            <a:endParaRPr lang="en-US" sz="1400" dirty="0"/>
          </a:p>
        </p:txBody>
      </p:sp>
      <p:sp>
        <p:nvSpPr>
          <p:cNvPr id="72" name="Text 34">
            <a:extLst>
              <a:ext uri="{FF2B5EF4-FFF2-40B4-BE49-F238E27FC236}">
                <a16:creationId xmlns:a16="http://schemas.microsoft.com/office/drawing/2014/main" id="{1BDCC6E1-16B0-DB80-116A-8F9470E135BB}"/>
              </a:ext>
            </a:extLst>
          </p:cNvPr>
          <p:cNvSpPr/>
          <p:nvPr/>
        </p:nvSpPr>
        <p:spPr>
          <a:xfrm>
            <a:off x="5169133"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User auth, shop profiles, historical sales logs from CSVs</a:t>
            </a:r>
            <a:endParaRPr lang="en-US" sz="1200" dirty="0"/>
          </a:p>
        </p:txBody>
      </p:sp>
      <p:sp>
        <p:nvSpPr>
          <p:cNvPr id="74" name="Shape 15">
            <a:extLst>
              <a:ext uri="{FF2B5EF4-FFF2-40B4-BE49-F238E27FC236}">
                <a16:creationId xmlns:a16="http://schemas.microsoft.com/office/drawing/2014/main" id="{D11F1F65-C232-0CA0-AEF3-69BE454F3BD9}"/>
              </a:ext>
            </a:extLst>
          </p:cNvPr>
          <p:cNvSpPr/>
          <p:nvPr/>
        </p:nvSpPr>
        <p:spPr>
          <a:xfrm>
            <a:off x="7339628"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76" name="Shape 16">
            <a:extLst>
              <a:ext uri="{FF2B5EF4-FFF2-40B4-BE49-F238E27FC236}">
                <a16:creationId xmlns:a16="http://schemas.microsoft.com/office/drawing/2014/main" id="{141D9C26-2A5D-EE7D-9D63-4B9EE9AE4490}"/>
              </a:ext>
            </a:extLst>
          </p:cNvPr>
          <p:cNvSpPr/>
          <p:nvPr/>
        </p:nvSpPr>
        <p:spPr>
          <a:xfrm>
            <a:off x="7339628" y="2175315"/>
            <a:ext cx="45719" cy="1837778"/>
          </a:xfrm>
          <a:prstGeom prst="rect">
            <a:avLst/>
          </a:prstGeom>
          <a:solidFill>
            <a:srgbClr val="BC312C"/>
          </a:solidFill>
          <a:ln/>
        </p:spPr>
        <p:txBody>
          <a:bodyPr/>
          <a:lstStyle/>
          <a:p>
            <a:endParaRPr lang="en-IN"/>
          </a:p>
        </p:txBody>
      </p:sp>
      <p:sp>
        <p:nvSpPr>
          <p:cNvPr id="78" name="Shape 30">
            <a:extLst>
              <a:ext uri="{FF2B5EF4-FFF2-40B4-BE49-F238E27FC236}">
                <a16:creationId xmlns:a16="http://schemas.microsoft.com/office/drawing/2014/main" id="{01F3E1CD-023D-2EC1-C8DA-BC9DBD6530E1}"/>
              </a:ext>
            </a:extLst>
          </p:cNvPr>
          <p:cNvSpPr/>
          <p:nvPr/>
        </p:nvSpPr>
        <p:spPr>
          <a:xfrm>
            <a:off x="7339628"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80" name="Shape 31">
            <a:extLst>
              <a:ext uri="{FF2B5EF4-FFF2-40B4-BE49-F238E27FC236}">
                <a16:creationId xmlns:a16="http://schemas.microsoft.com/office/drawing/2014/main" id="{9E9C16EE-A3CD-DC35-8B87-FAE679234721}"/>
              </a:ext>
            </a:extLst>
          </p:cNvPr>
          <p:cNvSpPr/>
          <p:nvPr/>
        </p:nvSpPr>
        <p:spPr>
          <a:xfrm>
            <a:off x="7339628" y="4479045"/>
            <a:ext cx="45719" cy="1837778"/>
          </a:xfrm>
          <a:prstGeom prst="rect">
            <a:avLst/>
          </a:prstGeom>
          <a:solidFill>
            <a:srgbClr val="BC312C"/>
          </a:solidFill>
          <a:ln/>
        </p:spPr>
        <p:txBody>
          <a:bodyPr/>
          <a:lstStyle/>
          <a:p>
            <a:endParaRPr lang="en-IN"/>
          </a:p>
        </p:txBody>
      </p:sp>
      <p:sp>
        <p:nvSpPr>
          <p:cNvPr id="82" name="TextBox 81">
            <a:extLst>
              <a:ext uri="{FF2B5EF4-FFF2-40B4-BE49-F238E27FC236}">
                <a16:creationId xmlns:a16="http://schemas.microsoft.com/office/drawing/2014/main" id="{E684D31E-256B-5778-1EAB-ACC1D3E32176}"/>
              </a:ext>
            </a:extLst>
          </p:cNvPr>
          <p:cNvSpPr txBox="1"/>
          <p:nvPr/>
        </p:nvSpPr>
        <p:spPr>
          <a:xfrm>
            <a:off x="7380485" y="2253587"/>
            <a:ext cx="2077757" cy="1579920"/>
          </a:xfrm>
          <a:prstGeom prst="rect">
            <a:avLst/>
          </a:prstGeom>
          <a:noFill/>
        </p:spPr>
        <p:txBody>
          <a:bodyPr wrap="square">
            <a:spAutoFit/>
          </a:bodyPr>
          <a:lstStyle/>
          <a:p>
            <a:r>
              <a:rPr b="1" dirty="0">
                <a:solidFill>
                  <a:srgbClr val="2F3C7E"/>
                </a:solidFill>
                <a:latin typeface="Calibri"/>
              </a:rPr>
              <a:t>Development Tools</a:t>
            </a:r>
          </a:p>
          <a:p>
            <a:pPr>
              <a:spcBef>
                <a:spcPts val="1000"/>
              </a:spcBef>
            </a:pPr>
            <a:r>
              <a:rPr sz="1400" b="1" dirty="0">
                <a:solidFill>
                  <a:srgbClr val="BC312C"/>
                </a:solidFill>
                <a:latin typeface="Calibri"/>
              </a:rPr>
              <a:t>Jupyter, VS Code, Git</a:t>
            </a:r>
          </a:p>
          <a:p>
            <a:pPr>
              <a:spcBef>
                <a:spcPts val="1000"/>
              </a:spcBef>
            </a:pPr>
            <a:r>
              <a:rPr sz="1200" dirty="0">
                <a:solidFill>
                  <a:srgbClr val="333333"/>
                </a:solidFill>
                <a:latin typeface="Calibri"/>
              </a:rPr>
              <a:t>Jupyter Notebook for EDA &amp; model training</a:t>
            </a:r>
            <a:r>
              <a:rPr lang="en-IN" sz="1200" dirty="0">
                <a:solidFill>
                  <a:srgbClr val="333333"/>
                </a:solidFill>
                <a:latin typeface="Calibri"/>
              </a:rPr>
              <a:t>,</a:t>
            </a:r>
            <a:r>
              <a:rPr sz="1200" dirty="0">
                <a:solidFill>
                  <a:srgbClr val="333333"/>
                </a:solidFill>
                <a:latin typeface="Calibri"/>
              </a:rPr>
              <a:t> VS Code</a:t>
            </a:r>
            <a:r>
              <a:rPr lang="en-IN" sz="1200" dirty="0">
                <a:solidFill>
                  <a:srgbClr val="333333"/>
                </a:solidFill>
                <a:latin typeface="Calibri"/>
              </a:rPr>
              <a:t> and Android Studio for development</a:t>
            </a:r>
            <a:r>
              <a:rPr sz="1200" dirty="0">
                <a:solidFill>
                  <a:srgbClr val="333333"/>
                </a:solidFill>
                <a:latin typeface="Calibri"/>
              </a:rPr>
              <a:t>.</a:t>
            </a:r>
          </a:p>
        </p:txBody>
      </p:sp>
      <p:sp>
        <p:nvSpPr>
          <p:cNvPr id="84" name="TextBox 83">
            <a:extLst>
              <a:ext uri="{FF2B5EF4-FFF2-40B4-BE49-F238E27FC236}">
                <a16:creationId xmlns:a16="http://schemas.microsoft.com/office/drawing/2014/main" id="{C5B818F2-33E6-C154-2668-9FAB57D97A8E}"/>
              </a:ext>
            </a:extLst>
          </p:cNvPr>
          <p:cNvSpPr txBox="1"/>
          <p:nvPr/>
        </p:nvSpPr>
        <p:spPr>
          <a:xfrm>
            <a:off x="7362487" y="4576453"/>
            <a:ext cx="2228850" cy="1579920"/>
          </a:xfrm>
          <a:prstGeom prst="rect">
            <a:avLst/>
          </a:prstGeom>
          <a:noFill/>
        </p:spPr>
        <p:txBody>
          <a:bodyPr wrap="square">
            <a:spAutoFit/>
          </a:bodyPr>
          <a:lstStyle/>
          <a:p>
            <a:r>
              <a:rPr b="1" dirty="0">
                <a:solidFill>
                  <a:srgbClr val="2F3C7E"/>
                </a:solidFill>
                <a:latin typeface="Calibri"/>
              </a:rPr>
              <a:t>Hardware Specs</a:t>
            </a:r>
          </a:p>
          <a:p>
            <a:pPr>
              <a:spcBef>
                <a:spcPts val="1000"/>
              </a:spcBef>
            </a:pPr>
            <a:r>
              <a:rPr sz="1400" b="1" dirty="0">
                <a:solidFill>
                  <a:srgbClr val="BC312C"/>
                </a:solidFill>
                <a:latin typeface="Calibri"/>
              </a:rPr>
              <a:t>Standard CPU / 8GB RAM</a:t>
            </a:r>
          </a:p>
          <a:p>
            <a:pPr>
              <a:spcBef>
                <a:spcPts val="1000"/>
              </a:spcBef>
            </a:pPr>
            <a:r>
              <a:rPr sz="1200" dirty="0">
                <a:solidFill>
                  <a:srgbClr val="333333"/>
                </a:solidFill>
                <a:latin typeface="Calibri"/>
              </a:rPr>
              <a:t>No GPU required. Computationally lightweight, ensuring low cloud-inference costs.</a:t>
            </a:r>
          </a:p>
        </p:txBody>
      </p:sp>
    </p:spTree>
    <p:extLst>
      <p:ext uri="{BB962C8B-B14F-4D97-AF65-F5344CB8AC3E}">
        <p14:creationId xmlns:p14="http://schemas.microsoft.com/office/powerpoint/2010/main" val="727670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5A7E8-3679-A4CC-F1D1-622028E40D6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F7D0E49-EF0C-1710-E7AF-428C5EE7BB20}"/>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89068A70-0F81-BD05-E784-03AED869D194}"/>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D0AF866-F408-CB0C-261F-E2EB22FF34F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BF603E32-EE10-DF67-D4F1-8879D1D72D61}"/>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6E20AD7-C5A9-2D2A-31B8-D2DC5803048C}"/>
              </a:ext>
            </a:extLst>
          </p:cNvPr>
          <p:cNvSpPr>
            <a:spLocks noGrp="1"/>
          </p:cNvSpPr>
          <p:nvPr>
            <p:ph type="sldNum" sz="quarter" idx="12"/>
          </p:nvPr>
        </p:nvSpPr>
        <p:spPr/>
        <p:txBody>
          <a:bodyPr/>
          <a:lstStyle/>
          <a:p>
            <a:fld id="{9DC013F7-6D70-4318-BA41-212A9B59413B}" type="slidenum">
              <a:rPr lang="en-US" smtClean="0"/>
              <a:t>11</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F5022555-994B-95FB-6AB7-29C8B0CB419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574640F7-8E31-1ABE-7078-062D214CD9E9}"/>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96EDB457-CE2E-C1E2-5744-4AAC36419960}"/>
              </a:ext>
            </a:extLst>
          </p:cNvPr>
          <p:cNvSpPr/>
          <p:nvPr/>
        </p:nvSpPr>
        <p:spPr>
          <a:xfrm>
            <a:off x="253758" y="1177956"/>
            <a:ext cx="101393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Expected Outcomes</a:t>
            </a:r>
            <a:endParaRPr lang="en-US" sz="2700" dirty="0"/>
          </a:p>
        </p:txBody>
      </p:sp>
      <p:sp>
        <p:nvSpPr>
          <p:cNvPr id="12" name="Shape 4">
            <a:extLst>
              <a:ext uri="{FF2B5EF4-FFF2-40B4-BE49-F238E27FC236}">
                <a16:creationId xmlns:a16="http://schemas.microsoft.com/office/drawing/2014/main" id="{F8E739FD-18DA-094C-6747-78A9ACD2A8D4}"/>
              </a:ext>
            </a:extLst>
          </p:cNvPr>
          <p:cNvSpPr/>
          <p:nvPr/>
        </p:nvSpPr>
        <p:spPr>
          <a:xfrm flipV="1">
            <a:off x="185678" y="1786994"/>
            <a:ext cx="9512645"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982FBB14-2A5D-53EE-89B0-49FF2D3B0562}"/>
              </a:ext>
            </a:extLst>
          </p:cNvPr>
          <p:cNvSpPr txBox="1"/>
          <p:nvPr/>
        </p:nvSpPr>
        <p:spPr>
          <a:xfrm>
            <a:off x="204340" y="2020000"/>
            <a:ext cx="4566742" cy="307777"/>
          </a:xfrm>
          <a:prstGeom prst="rect">
            <a:avLst/>
          </a:prstGeom>
          <a:noFill/>
        </p:spPr>
        <p:txBody>
          <a:bodyPr wrap="square" lIns="0" tIns="0" rIns="0" bIns="0" anchor="t">
            <a:spAutoFit/>
          </a:bodyPr>
          <a:lstStyle/>
          <a:p>
            <a:pPr algn="l"/>
            <a:r>
              <a:rPr sz="2000" b="1" i="0" dirty="0">
                <a:solidFill>
                  <a:srgbClr val="2F3C7E"/>
                </a:solidFill>
                <a:latin typeface="Calibri"/>
              </a:rPr>
              <a:t>Technical Outcomes</a:t>
            </a:r>
          </a:p>
        </p:txBody>
      </p:sp>
      <p:sp>
        <p:nvSpPr>
          <p:cNvPr id="16" name="Rectangle 15">
            <a:extLst>
              <a:ext uri="{FF2B5EF4-FFF2-40B4-BE49-F238E27FC236}">
                <a16:creationId xmlns:a16="http://schemas.microsoft.com/office/drawing/2014/main" id="{C02F17C4-A8A7-04BE-4610-8BE7B7B7944E}"/>
              </a:ext>
            </a:extLst>
          </p:cNvPr>
          <p:cNvSpPr/>
          <p:nvPr/>
        </p:nvSpPr>
        <p:spPr>
          <a:xfrm>
            <a:off x="204340" y="2420000"/>
            <a:ext cx="4566742"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Oval 17">
            <a:extLst>
              <a:ext uri="{FF2B5EF4-FFF2-40B4-BE49-F238E27FC236}">
                <a16:creationId xmlns:a16="http://schemas.microsoft.com/office/drawing/2014/main" id="{F839A70E-C5D0-A31C-088B-2A75AFF1FC0F}"/>
              </a:ext>
            </a:extLst>
          </p:cNvPr>
          <p:cNvSpPr/>
          <p:nvPr/>
        </p:nvSpPr>
        <p:spPr>
          <a:xfrm>
            <a:off x="214340" y="2670000"/>
            <a:ext cx="97498"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a:extLst>
              <a:ext uri="{FF2B5EF4-FFF2-40B4-BE49-F238E27FC236}">
                <a16:creationId xmlns:a16="http://schemas.microsoft.com/office/drawing/2014/main" id="{EA15F6EC-3129-8E75-A2CE-FF6B1D2C89DE}"/>
              </a:ext>
            </a:extLst>
          </p:cNvPr>
          <p:cNvSpPr txBox="1"/>
          <p:nvPr/>
        </p:nvSpPr>
        <p:spPr>
          <a:xfrm>
            <a:off x="424340" y="2554748"/>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Hybrid expected to reduce forecast error over standalone Prophet, following the pattern Kamboj et al. found</a:t>
            </a:r>
          </a:p>
        </p:txBody>
      </p:sp>
      <p:sp>
        <p:nvSpPr>
          <p:cNvPr id="22" name="Oval 21">
            <a:extLst>
              <a:ext uri="{FF2B5EF4-FFF2-40B4-BE49-F238E27FC236}">
                <a16:creationId xmlns:a16="http://schemas.microsoft.com/office/drawing/2014/main" id="{8D57F85B-F5BB-8366-CAB0-FFD0DAF001A2}"/>
              </a:ext>
            </a:extLst>
          </p:cNvPr>
          <p:cNvSpPr/>
          <p:nvPr/>
        </p:nvSpPr>
        <p:spPr>
          <a:xfrm>
            <a:off x="214340" y="3970000"/>
            <a:ext cx="97498"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a:extLst>
              <a:ext uri="{FF2B5EF4-FFF2-40B4-BE49-F238E27FC236}">
                <a16:creationId xmlns:a16="http://schemas.microsoft.com/office/drawing/2014/main" id="{CC3C487C-8747-789C-CF20-67FDE0B5B655}"/>
              </a:ext>
            </a:extLst>
          </p:cNvPr>
          <p:cNvSpPr txBox="1"/>
          <p:nvPr/>
        </p:nvSpPr>
        <p:spPr>
          <a:xfrm>
            <a:off x="424340" y="3854748"/>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Adaptive branching expected to hold across both sparse and high-volume items, in one pipeline</a:t>
            </a:r>
          </a:p>
        </p:txBody>
      </p:sp>
      <p:sp>
        <p:nvSpPr>
          <p:cNvPr id="26" name="Oval 25">
            <a:extLst>
              <a:ext uri="{FF2B5EF4-FFF2-40B4-BE49-F238E27FC236}">
                <a16:creationId xmlns:a16="http://schemas.microsoft.com/office/drawing/2014/main" id="{AF0D4BCE-1FDC-3887-D289-E6423B76D7CD}"/>
              </a:ext>
            </a:extLst>
          </p:cNvPr>
          <p:cNvSpPr/>
          <p:nvPr/>
        </p:nvSpPr>
        <p:spPr>
          <a:xfrm>
            <a:off x="214340" y="5270000"/>
            <a:ext cx="97498"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a:extLst>
              <a:ext uri="{FF2B5EF4-FFF2-40B4-BE49-F238E27FC236}">
                <a16:creationId xmlns:a16="http://schemas.microsoft.com/office/drawing/2014/main" id="{76A1622E-A4DE-7EF4-01C3-0C5E35EA6077}"/>
              </a:ext>
            </a:extLst>
          </p:cNvPr>
          <p:cNvSpPr txBox="1"/>
          <p:nvPr/>
        </p:nvSpPr>
        <p:spPr>
          <a:xfrm>
            <a:off x="424340" y="5154748"/>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Every restock number expected to be directly usable — correct and actionable, not just accurate</a:t>
            </a:r>
          </a:p>
        </p:txBody>
      </p:sp>
      <p:sp>
        <p:nvSpPr>
          <p:cNvPr id="30" name="TextBox 29">
            <a:extLst>
              <a:ext uri="{FF2B5EF4-FFF2-40B4-BE49-F238E27FC236}">
                <a16:creationId xmlns:a16="http://schemas.microsoft.com/office/drawing/2014/main" id="{FA9B8982-FD81-D26D-C00C-F132212DE281}"/>
              </a:ext>
            </a:extLst>
          </p:cNvPr>
          <p:cNvSpPr txBox="1"/>
          <p:nvPr/>
        </p:nvSpPr>
        <p:spPr>
          <a:xfrm>
            <a:off x="4947150" y="2020000"/>
            <a:ext cx="4566742" cy="307777"/>
          </a:xfrm>
          <a:prstGeom prst="rect">
            <a:avLst/>
          </a:prstGeom>
          <a:noFill/>
        </p:spPr>
        <p:txBody>
          <a:bodyPr wrap="square" lIns="0" tIns="0" rIns="0" bIns="0" anchor="t">
            <a:spAutoFit/>
          </a:bodyPr>
          <a:lstStyle/>
          <a:p>
            <a:pPr algn="l"/>
            <a:r>
              <a:rPr sz="2000" b="1" i="0">
                <a:solidFill>
                  <a:srgbClr val="BC312C"/>
                </a:solidFill>
                <a:latin typeface="Calibri"/>
              </a:rPr>
              <a:t>Business Outcomes</a:t>
            </a:r>
          </a:p>
        </p:txBody>
      </p:sp>
      <p:sp>
        <p:nvSpPr>
          <p:cNvPr id="32" name="Rectangle 31">
            <a:extLst>
              <a:ext uri="{FF2B5EF4-FFF2-40B4-BE49-F238E27FC236}">
                <a16:creationId xmlns:a16="http://schemas.microsoft.com/office/drawing/2014/main" id="{EF260E4E-2E5D-9490-7173-FE86509F5571}"/>
              </a:ext>
            </a:extLst>
          </p:cNvPr>
          <p:cNvSpPr/>
          <p:nvPr/>
        </p:nvSpPr>
        <p:spPr>
          <a:xfrm>
            <a:off x="4947150" y="2420000"/>
            <a:ext cx="4566742"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4" name="Oval 33">
            <a:extLst>
              <a:ext uri="{FF2B5EF4-FFF2-40B4-BE49-F238E27FC236}">
                <a16:creationId xmlns:a16="http://schemas.microsoft.com/office/drawing/2014/main" id="{FD9F9503-213D-D01C-F9F9-A1A6A8BF0B03}"/>
              </a:ext>
            </a:extLst>
          </p:cNvPr>
          <p:cNvSpPr/>
          <p:nvPr/>
        </p:nvSpPr>
        <p:spPr>
          <a:xfrm>
            <a:off x="4957150" y="2670000"/>
            <a:ext cx="97498"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TextBox 35">
            <a:extLst>
              <a:ext uri="{FF2B5EF4-FFF2-40B4-BE49-F238E27FC236}">
                <a16:creationId xmlns:a16="http://schemas.microsoft.com/office/drawing/2014/main" id="{51D558AC-0B6E-7375-64CB-BF1D2D615760}"/>
              </a:ext>
            </a:extLst>
          </p:cNvPr>
          <p:cNvSpPr txBox="1"/>
          <p:nvPr/>
        </p:nvSpPr>
        <p:spPr>
          <a:xfrm>
            <a:off x="5167150" y="2558615"/>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Fewer wasted units, fewer stockouts — the downstream effect of a safety-stock-adjusted number</a:t>
            </a:r>
          </a:p>
        </p:txBody>
      </p:sp>
      <p:sp>
        <p:nvSpPr>
          <p:cNvPr id="38" name="Oval 37">
            <a:extLst>
              <a:ext uri="{FF2B5EF4-FFF2-40B4-BE49-F238E27FC236}">
                <a16:creationId xmlns:a16="http://schemas.microsoft.com/office/drawing/2014/main" id="{8A8F4AC4-8442-23AD-5382-C4F7E65F6650}"/>
              </a:ext>
            </a:extLst>
          </p:cNvPr>
          <p:cNvSpPr/>
          <p:nvPr/>
        </p:nvSpPr>
        <p:spPr>
          <a:xfrm>
            <a:off x="4957150" y="3970000"/>
            <a:ext cx="97498"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0" name="TextBox 39">
            <a:extLst>
              <a:ext uri="{FF2B5EF4-FFF2-40B4-BE49-F238E27FC236}">
                <a16:creationId xmlns:a16="http://schemas.microsoft.com/office/drawing/2014/main" id="{97A4BEC8-ED8E-C975-8E3D-58832FB1563D}"/>
              </a:ext>
            </a:extLst>
          </p:cNvPr>
          <p:cNvSpPr txBox="1"/>
          <p:nvPr/>
        </p:nvSpPr>
        <p:spPr>
          <a:xfrm>
            <a:off x="5167150" y="3858615"/>
            <a:ext cx="4328412" cy="618374"/>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Ordering time drops from minutes of guessing to seconds of reading</a:t>
            </a:r>
          </a:p>
        </p:txBody>
      </p:sp>
      <p:sp>
        <p:nvSpPr>
          <p:cNvPr id="42" name="Oval 41">
            <a:extLst>
              <a:ext uri="{FF2B5EF4-FFF2-40B4-BE49-F238E27FC236}">
                <a16:creationId xmlns:a16="http://schemas.microsoft.com/office/drawing/2014/main" id="{293E34BF-C48F-3F70-603E-22EC5535719F}"/>
              </a:ext>
            </a:extLst>
          </p:cNvPr>
          <p:cNvSpPr/>
          <p:nvPr/>
        </p:nvSpPr>
        <p:spPr>
          <a:xfrm>
            <a:off x="4957150" y="5270000"/>
            <a:ext cx="97498"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TextBox 43">
            <a:extLst>
              <a:ext uri="{FF2B5EF4-FFF2-40B4-BE49-F238E27FC236}">
                <a16:creationId xmlns:a16="http://schemas.microsoft.com/office/drawing/2014/main" id="{82950E89-49C4-CE2B-5C6B-0A7DF8E15564}"/>
              </a:ext>
            </a:extLst>
          </p:cNvPr>
          <p:cNvSpPr txBox="1"/>
          <p:nvPr/>
        </p:nvSpPr>
        <p:spPr>
          <a:xfrm>
            <a:off x="5167150" y="5158615"/>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Daily real use, not just install ease of use is the strongest driver of SME adoption (</a:t>
            </a:r>
            <a:r>
              <a:rPr sz="1800" b="0" i="0" dirty="0" err="1">
                <a:solidFill>
                  <a:srgbClr val="262626"/>
                </a:solidFill>
                <a:latin typeface="Calibri"/>
              </a:rPr>
              <a:t>Yuniarty</a:t>
            </a:r>
            <a:r>
              <a:rPr sz="1800" b="0" i="0" dirty="0">
                <a:solidFill>
                  <a:srgbClr val="262626"/>
                </a:solidFill>
                <a:latin typeface="Calibri"/>
              </a:rPr>
              <a:t> et al.)</a:t>
            </a:r>
          </a:p>
        </p:txBody>
      </p:sp>
    </p:spTree>
    <p:extLst>
      <p:ext uri="{BB962C8B-B14F-4D97-AF65-F5344CB8AC3E}">
        <p14:creationId xmlns:p14="http://schemas.microsoft.com/office/powerpoint/2010/main" val="4063653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7C867-EFCF-8DB2-74E2-03EF7B43E48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7CC0B9E-2E6A-E871-A10F-251E566B455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6D67CCF-2EEB-8666-5412-3934CF11B725}"/>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FA5FF0A-177F-681F-37F5-AEAC5C3DAF7D}"/>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2FE451D-22D0-0949-4C06-A597F720D093}"/>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55D356A3-A349-498B-8D6F-9776BC17A570}"/>
              </a:ext>
            </a:extLst>
          </p:cNvPr>
          <p:cNvSpPr>
            <a:spLocks noGrp="1"/>
          </p:cNvSpPr>
          <p:nvPr>
            <p:ph type="sldNum" sz="quarter" idx="12"/>
          </p:nvPr>
        </p:nvSpPr>
        <p:spPr/>
        <p:txBody>
          <a:bodyPr/>
          <a:lstStyle/>
          <a:p>
            <a:fld id="{9DC013F7-6D70-4318-BA41-212A9B59413B}" type="slidenum">
              <a:rPr lang="en-US" smtClean="0"/>
              <a:t>12</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64DCB68B-1F71-03AE-D700-E620C6E8246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032D39AF-A94D-BAE0-0DA2-1E571CC2B927}"/>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Text 3">
            <a:extLst>
              <a:ext uri="{FF2B5EF4-FFF2-40B4-BE49-F238E27FC236}">
                <a16:creationId xmlns:a16="http://schemas.microsoft.com/office/drawing/2014/main" id="{D725FA40-F154-AFFA-7FD6-67C0B7B019E6}"/>
              </a:ext>
            </a:extLst>
          </p:cNvPr>
          <p:cNvSpPr/>
          <p:nvPr/>
        </p:nvSpPr>
        <p:spPr>
          <a:xfrm>
            <a:off x="334964" y="1129934"/>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Feasibility of Implementation</a:t>
            </a:r>
            <a:endParaRPr lang="en-US" sz="2700" dirty="0"/>
          </a:p>
        </p:txBody>
      </p:sp>
      <p:sp>
        <p:nvSpPr>
          <p:cNvPr id="15" name="Shape 4">
            <a:extLst>
              <a:ext uri="{FF2B5EF4-FFF2-40B4-BE49-F238E27FC236}">
                <a16:creationId xmlns:a16="http://schemas.microsoft.com/office/drawing/2014/main" id="{D901D37E-FFF3-FE05-29F5-3B1D7E912814}"/>
              </a:ext>
            </a:extLst>
          </p:cNvPr>
          <p:cNvSpPr/>
          <p:nvPr/>
        </p:nvSpPr>
        <p:spPr>
          <a:xfrm flipV="1">
            <a:off x="334964" y="1731012"/>
            <a:ext cx="8781043" cy="11570"/>
          </a:xfrm>
          <a:prstGeom prst="line">
            <a:avLst/>
          </a:prstGeom>
          <a:noFill/>
          <a:ln w="12700">
            <a:solidFill>
              <a:srgbClr val="E0DAD8"/>
            </a:solidFill>
            <a:prstDash val="solid"/>
          </a:ln>
        </p:spPr>
      </p:sp>
      <p:sp>
        <p:nvSpPr>
          <p:cNvPr id="19" name="Rectangle 18">
            <a:extLst>
              <a:ext uri="{FF2B5EF4-FFF2-40B4-BE49-F238E27FC236}">
                <a16:creationId xmlns:a16="http://schemas.microsoft.com/office/drawing/2014/main" id="{36B2FE04-8825-9E9D-5D67-1C9870B20209}"/>
              </a:ext>
            </a:extLst>
          </p:cNvPr>
          <p:cNvSpPr/>
          <p:nvPr/>
        </p:nvSpPr>
        <p:spPr>
          <a:xfrm>
            <a:off x="381273" y="1852047"/>
            <a:ext cx="4510132" cy="2322234"/>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3" name="TextBox 22">
            <a:extLst>
              <a:ext uri="{FF2B5EF4-FFF2-40B4-BE49-F238E27FC236}">
                <a16:creationId xmlns:a16="http://schemas.microsoft.com/office/drawing/2014/main" id="{5CED579D-42ED-EE0D-A763-CB2E84EB3E55}"/>
              </a:ext>
            </a:extLst>
          </p:cNvPr>
          <p:cNvSpPr txBox="1"/>
          <p:nvPr/>
        </p:nvSpPr>
        <p:spPr>
          <a:xfrm>
            <a:off x="558054" y="1915486"/>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the Approach Is Strong</a:t>
            </a:r>
          </a:p>
        </p:txBody>
      </p:sp>
      <p:sp>
        <p:nvSpPr>
          <p:cNvPr id="27" name="TextBox 26">
            <a:extLst>
              <a:ext uri="{FF2B5EF4-FFF2-40B4-BE49-F238E27FC236}">
                <a16:creationId xmlns:a16="http://schemas.microsoft.com/office/drawing/2014/main" id="{B8924209-A8FC-494C-BF50-1345977ADB47}"/>
              </a:ext>
            </a:extLst>
          </p:cNvPr>
          <p:cNvSpPr txBox="1"/>
          <p:nvPr/>
        </p:nvSpPr>
        <p:spPr>
          <a:xfrm>
            <a:off x="558053" y="2234839"/>
            <a:ext cx="4238723" cy="1939442"/>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Facebook Prophet: no GPU, minimal tuning, native seasonality &amp; holiday support — configuration, not custom code</a:t>
            </a:r>
          </a:p>
          <a:p>
            <a:pPr algn="l">
              <a:lnSpc>
                <a:spcPct val="108000"/>
              </a:lnSpc>
              <a:spcAft>
                <a:spcPts val="400"/>
              </a:spcAft>
            </a:pPr>
            <a:r>
              <a:rPr sz="1200" b="0" i="0" dirty="0">
                <a:solidFill>
                  <a:srgbClr val="262626"/>
                </a:solidFill>
                <a:latin typeface="Calibri"/>
              </a:rPr>
              <a:t>•  LSTM considered, not chosen — needs 1,000+ days of history we don't have</a:t>
            </a:r>
          </a:p>
          <a:p>
            <a:pPr algn="l">
              <a:lnSpc>
                <a:spcPct val="108000"/>
              </a:lnSpc>
              <a:spcAft>
                <a:spcPts val="400"/>
              </a:spcAft>
            </a:pPr>
            <a:r>
              <a:rPr sz="1200" b="0" i="0" dirty="0">
                <a:solidFill>
                  <a:srgbClr val="262626"/>
                </a:solidFill>
                <a:latin typeface="Calibri"/>
              </a:rPr>
              <a:t>•  XGBoost alone was ruled out weak on sparse SME data (Susanto et al.); as a Prophet residual-corrector it's proven (Kamboj et al., 12–18% MAPE gain)  this is what we use</a:t>
            </a:r>
          </a:p>
          <a:p>
            <a:pPr algn="l">
              <a:lnSpc>
                <a:spcPct val="108000"/>
              </a:lnSpc>
              <a:spcAft>
                <a:spcPts val="400"/>
              </a:spcAft>
            </a:pPr>
            <a:r>
              <a:rPr sz="1200" b="0" i="0" dirty="0">
                <a:solidFill>
                  <a:srgbClr val="262626"/>
                </a:solidFill>
                <a:latin typeface="Calibri"/>
              </a:rPr>
              <a:t>•  Restock logic is deterministic Pandas/NumPy — engineering work, not a research problem</a:t>
            </a:r>
          </a:p>
        </p:txBody>
      </p:sp>
      <p:sp>
        <p:nvSpPr>
          <p:cNvPr id="31" name="Rectangle 30">
            <a:extLst>
              <a:ext uri="{FF2B5EF4-FFF2-40B4-BE49-F238E27FC236}">
                <a16:creationId xmlns:a16="http://schemas.microsoft.com/office/drawing/2014/main" id="{748D5AAF-52C8-E1CE-221F-738A5EF2DD3B}"/>
              </a:ext>
            </a:extLst>
          </p:cNvPr>
          <p:cNvSpPr/>
          <p:nvPr/>
        </p:nvSpPr>
        <p:spPr>
          <a:xfrm>
            <a:off x="5113678" y="1823467"/>
            <a:ext cx="4510132" cy="2350814"/>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35" name="TextBox 34">
            <a:extLst>
              <a:ext uri="{FF2B5EF4-FFF2-40B4-BE49-F238E27FC236}">
                <a16:creationId xmlns:a16="http://schemas.microsoft.com/office/drawing/2014/main" id="{7A2FDB85-6A89-54C6-FD11-9FC9FE3E12A1}"/>
              </a:ext>
            </a:extLst>
          </p:cNvPr>
          <p:cNvSpPr txBox="1"/>
          <p:nvPr/>
        </p:nvSpPr>
        <p:spPr>
          <a:xfrm>
            <a:off x="5362056" y="1915486"/>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This Creates an Opening</a:t>
            </a:r>
          </a:p>
        </p:txBody>
      </p:sp>
      <p:sp>
        <p:nvSpPr>
          <p:cNvPr id="39" name="TextBox 38">
            <a:extLst>
              <a:ext uri="{FF2B5EF4-FFF2-40B4-BE49-F238E27FC236}">
                <a16:creationId xmlns:a16="http://schemas.microsoft.com/office/drawing/2014/main" id="{20A94580-D376-C9C1-6F6C-E36C70EDA978}"/>
              </a:ext>
            </a:extLst>
          </p:cNvPr>
          <p:cNvSpPr txBox="1"/>
          <p:nvPr/>
        </p:nvSpPr>
        <p:spPr>
          <a:xfrm>
            <a:off x="5362056" y="2251662"/>
            <a:ext cx="3940521" cy="1238609"/>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reviewed study combines a Prophet</a:t>
            </a:r>
            <a:r>
              <a:rPr lang="en-IN" sz="1200" b="0" i="0" dirty="0">
                <a:solidFill>
                  <a:srgbClr val="262626"/>
                </a:solidFill>
                <a:latin typeface="Calibri"/>
              </a:rPr>
              <a:t> </a:t>
            </a:r>
            <a:r>
              <a:rPr sz="1200" b="0" i="0" dirty="0">
                <a:solidFill>
                  <a:srgbClr val="262626"/>
                </a:solidFill>
                <a:latin typeface="Calibri"/>
              </a:rPr>
              <a:t>+</a:t>
            </a:r>
            <a:r>
              <a:rPr lang="en-IN" sz="1200" b="0" i="0" dirty="0">
                <a:solidFill>
                  <a:srgbClr val="262626"/>
                </a:solidFill>
                <a:latin typeface="Calibri"/>
              </a:rPr>
              <a:t> </a:t>
            </a:r>
            <a:r>
              <a:rPr sz="1200" b="0" i="0" dirty="0" err="1">
                <a:solidFill>
                  <a:srgbClr val="262626"/>
                </a:solidFill>
                <a:latin typeface="Calibri"/>
              </a:rPr>
              <a:t>XGBoost</a:t>
            </a:r>
            <a:r>
              <a:rPr sz="1200" b="0" i="0" dirty="0">
                <a:solidFill>
                  <a:srgbClr val="262626"/>
                </a:solidFill>
                <a:latin typeface="Calibri"/>
              </a:rPr>
              <a:t> hybrid, adaptive density-based model selection, restock-quantity conversion, and a zero-setup mobile interface with plain-language explanation in one system</a:t>
            </a:r>
          </a:p>
          <a:p>
            <a:pPr algn="l">
              <a:lnSpc>
                <a:spcPct val="108000"/>
              </a:lnSpc>
              <a:spcAft>
                <a:spcPts val="400"/>
              </a:spcAft>
            </a:pPr>
            <a:r>
              <a:rPr sz="1200" b="0" i="0" dirty="0">
                <a:solidFill>
                  <a:srgbClr val="262626"/>
                </a:solidFill>
                <a:latin typeface="Calibri"/>
              </a:rPr>
              <a:t>•  </a:t>
            </a:r>
            <a:r>
              <a:rPr lang="en-IN" sz="1200" b="0" i="0" dirty="0">
                <a:solidFill>
                  <a:srgbClr val="262626"/>
                </a:solidFill>
                <a:latin typeface="Calibri"/>
              </a:rPr>
              <a:t>It</a:t>
            </a:r>
            <a:r>
              <a:rPr sz="1200" b="0" i="0" dirty="0">
                <a:solidFill>
                  <a:srgbClr val="262626"/>
                </a:solidFill>
                <a:latin typeface="Calibri"/>
              </a:rPr>
              <a:t> is positioned to fill that specific combined gap for small food businesses</a:t>
            </a:r>
          </a:p>
        </p:txBody>
      </p:sp>
      <p:sp>
        <p:nvSpPr>
          <p:cNvPr id="43" name="Rectangle 42">
            <a:extLst>
              <a:ext uri="{FF2B5EF4-FFF2-40B4-BE49-F238E27FC236}">
                <a16:creationId xmlns:a16="http://schemas.microsoft.com/office/drawing/2014/main" id="{842AE5B3-7AC6-7B90-75F5-D1603A7EA9EB}"/>
              </a:ext>
            </a:extLst>
          </p:cNvPr>
          <p:cNvSpPr/>
          <p:nvPr/>
        </p:nvSpPr>
        <p:spPr>
          <a:xfrm>
            <a:off x="388776" y="4285040"/>
            <a:ext cx="4510132"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46" name="TextBox 45">
            <a:extLst>
              <a:ext uri="{FF2B5EF4-FFF2-40B4-BE49-F238E27FC236}">
                <a16:creationId xmlns:a16="http://schemas.microsoft.com/office/drawing/2014/main" id="{CE568C82-2CAF-241C-8ACE-BC6A33D0C9EC}"/>
              </a:ext>
            </a:extLst>
          </p:cNvPr>
          <p:cNvSpPr txBox="1"/>
          <p:nvPr/>
        </p:nvSpPr>
        <p:spPr>
          <a:xfrm>
            <a:off x="558053" y="4422854"/>
            <a:ext cx="3940521" cy="307777"/>
          </a:xfrm>
          <a:prstGeom prst="rect">
            <a:avLst/>
          </a:prstGeom>
          <a:noFill/>
        </p:spPr>
        <p:txBody>
          <a:bodyPr wrap="square" lIns="0" tIns="0" rIns="0" bIns="0" anchor="t">
            <a:spAutoFit/>
          </a:bodyPr>
          <a:lstStyle/>
          <a:p>
            <a:pPr algn="l"/>
            <a:r>
              <a:rPr sz="2000" b="1" i="0" dirty="0">
                <a:solidFill>
                  <a:srgbClr val="BC312C"/>
                </a:solidFill>
                <a:latin typeface="Calibri"/>
              </a:rPr>
              <a:t>Where We're Stretched Thin</a:t>
            </a:r>
          </a:p>
        </p:txBody>
      </p:sp>
      <p:sp>
        <p:nvSpPr>
          <p:cNvPr id="48" name="TextBox 47">
            <a:extLst>
              <a:ext uri="{FF2B5EF4-FFF2-40B4-BE49-F238E27FC236}">
                <a16:creationId xmlns:a16="http://schemas.microsoft.com/office/drawing/2014/main" id="{C444C6F2-1FD3-BE87-71E6-BA6A2B09863C}"/>
              </a:ext>
            </a:extLst>
          </p:cNvPr>
          <p:cNvSpPr txBox="1"/>
          <p:nvPr/>
        </p:nvSpPr>
        <p:spPr>
          <a:xfrm>
            <a:off x="558053" y="4797040"/>
            <a:ext cx="3940521" cy="128990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real business data yet  public datasets (French Bakery, Rossmann) used as proxies</a:t>
            </a:r>
          </a:p>
          <a:p>
            <a:pPr algn="l">
              <a:lnSpc>
                <a:spcPct val="108000"/>
              </a:lnSpc>
              <a:spcAft>
                <a:spcPts val="400"/>
              </a:spcAft>
            </a:pPr>
            <a:r>
              <a:rPr sz="1200" b="0" i="0" dirty="0">
                <a:solidFill>
                  <a:srgbClr val="262626"/>
                </a:solidFill>
                <a:latin typeface="Calibri"/>
              </a:rPr>
              <a:t>•  </a:t>
            </a:r>
            <a:r>
              <a:rPr lang="en-IN" sz="1200" b="0" i="0" dirty="0">
                <a:solidFill>
                  <a:srgbClr val="262626"/>
                </a:solidFill>
                <a:latin typeface="Calibri"/>
              </a:rPr>
              <a:t>1</a:t>
            </a:r>
            <a:r>
              <a:rPr lang="en-IN" sz="1200" dirty="0">
                <a:solidFill>
                  <a:srgbClr val="262626"/>
                </a:solidFill>
                <a:latin typeface="Calibri"/>
              </a:rPr>
              <a:t>1</a:t>
            </a:r>
            <a:r>
              <a:rPr sz="1200" b="0" i="0" dirty="0">
                <a:solidFill>
                  <a:srgbClr val="262626"/>
                </a:solidFill>
                <a:latin typeface="Calibri"/>
              </a:rPr>
              <a:t>-week technical build compressed across 3 people running parallel workstreams</a:t>
            </a:r>
          </a:p>
          <a:p>
            <a:pPr algn="l">
              <a:lnSpc>
                <a:spcPct val="108000"/>
              </a:lnSpc>
              <a:spcAft>
                <a:spcPts val="400"/>
              </a:spcAft>
            </a:pPr>
            <a:r>
              <a:rPr sz="1200" b="0" i="0" dirty="0">
                <a:solidFill>
                  <a:srgbClr val="262626"/>
                </a:solidFill>
                <a:latin typeface="Calibri"/>
              </a:rPr>
              <a:t>•  The weather regressor is the one genuinely custom integration in the pipeline</a:t>
            </a:r>
          </a:p>
        </p:txBody>
      </p:sp>
      <p:sp>
        <p:nvSpPr>
          <p:cNvPr id="50" name="Rectangle 49">
            <a:extLst>
              <a:ext uri="{FF2B5EF4-FFF2-40B4-BE49-F238E27FC236}">
                <a16:creationId xmlns:a16="http://schemas.microsoft.com/office/drawing/2014/main" id="{63C6325D-7CB6-F83E-50E2-E2D41762C8E5}"/>
              </a:ext>
            </a:extLst>
          </p:cNvPr>
          <p:cNvSpPr/>
          <p:nvPr/>
        </p:nvSpPr>
        <p:spPr>
          <a:xfrm>
            <a:off x="5074576" y="4285040"/>
            <a:ext cx="4549234"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52" name="TextBox 51">
            <a:extLst>
              <a:ext uri="{FF2B5EF4-FFF2-40B4-BE49-F238E27FC236}">
                <a16:creationId xmlns:a16="http://schemas.microsoft.com/office/drawing/2014/main" id="{1AFD86C2-F946-A06A-02DF-0735CABF80E0}"/>
              </a:ext>
            </a:extLst>
          </p:cNvPr>
          <p:cNvSpPr txBox="1"/>
          <p:nvPr/>
        </p:nvSpPr>
        <p:spPr>
          <a:xfrm>
            <a:off x="5362056" y="4422854"/>
            <a:ext cx="3940521" cy="307777"/>
          </a:xfrm>
          <a:prstGeom prst="rect">
            <a:avLst/>
          </a:prstGeom>
          <a:noFill/>
        </p:spPr>
        <p:txBody>
          <a:bodyPr wrap="square" lIns="0" tIns="0" rIns="0" bIns="0" anchor="t">
            <a:spAutoFit/>
          </a:bodyPr>
          <a:lstStyle/>
          <a:p>
            <a:pPr algn="l"/>
            <a:r>
              <a:rPr sz="2000" b="1" i="0" dirty="0">
                <a:solidFill>
                  <a:srgbClr val="BC312C"/>
                </a:solidFill>
                <a:latin typeface="Calibri"/>
              </a:rPr>
              <a:t>What Could Work Against Us</a:t>
            </a:r>
          </a:p>
        </p:txBody>
      </p:sp>
      <p:sp>
        <p:nvSpPr>
          <p:cNvPr id="54" name="TextBox 53">
            <a:extLst>
              <a:ext uri="{FF2B5EF4-FFF2-40B4-BE49-F238E27FC236}">
                <a16:creationId xmlns:a16="http://schemas.microsoft.com/office/drawing/2014/main" id="{63C16D18-A0EF-1E26-954D-E23062F02D2C}"/>
              </a:ext>
            </a:extLst>
          </p:cNvPr>
          <p:cNvSpPr txBox="1"/>
          <p:nvPr/>
        </p:nvSpPr>
        <p:spPr>
          <a:xfrm>
            <a:off x="5362056" y="4792854"/>
            <a:ext cx="3940521" cy="103919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Weather API rate limits on the free tier could reduce regressor reliability at scale</a:t>
            </a:r>
          </a:p>
          <a:p>
            <a:pPr algn="l">
              <a:lnSpc>
                <a:spcPct val="108000"/>
              </a:lnSpc>
              <a:spcAft>
                <a:spcPts val="400"/>
              </a:spcAft>
            </a:pPr>
            <a:r>
              <a:rPr sz="1200" b="0" i="0" dirty="0">
                <a:solidFill>
                  <a:srgbClr val="262626"/>
                </a:solidFill>
                <a:latin typeface="Calibri"/>
              </a:rPr>
              <a:t>•  Public-dataset proxies may not fully represent a real cafe/bakery's demand pattern accuracy may not transfer 1:1 to live deployment</a:t>
            </a:r>
          </a:p>
        </p:txBody>
      </p:sp>
    </p:spTree>
    <p:extLst>
      <p:ext uri="{BB962C8B-B14F-4D97-AF65-F5344CB8AC3E}">
        <p14:creationId xmlns:p14="http://schemas.microsoft.com/office/powerpoint/2010/main" val="2447231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8379-353F-BBAA-309C-75ED3BB34A7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D25D050-EC8D-18BB-48DA-9D689E91645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EAD58D7C-6106-2E0D-0AF9-525B0D63ECA4}"/>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D5C0557-D75C-37E9-6637-BE2463B0B9F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AA8A8BA-6D90-AEA4-A07B-B63F974E1BB3}"/>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3313E3B6-D68B-1BA0-2063-8AF4B7060D39}"/>
              </a:ext>
            </a:extLst>
          </p:cNvPr>
          <p:cNvSpPr>
            <a:spLocks noGrp="1"/>
          </p:cNvSpPr>
          <p:nvPr>
            <p:ph type="sldNum" sz="quarter" idx="12"/>
          </p:nvPr>
        </p:nvSpPr>
        <p:spPr/>
        <p:txBody>
          <a:bodyPr/>
          <a:lstStyle/>
          <a:p>
            <a:fld id="{9DC013F7-6D70-4318-BA41-212A9B59413B}" type="slidenum">
              <a:rPr lang="en-US" smtClean="0"/>
              <a:t>13</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84801188-D4DD-EB2E-35EF-DF8C480B78C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FD395849-4621-909B-6161-65857BC6ED0C}"/>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5ED05F43-DCF9-9E1A-09C8-13D234C7C6B2}"/>
              </a:ext>
            </a:extLst>
          </p:cNvPr>
          <p:cNvSpPr/>
          <p:nvPr/>
        </p:nvSpPr>
        <p:spPr>
          <a:xfrm>
            <a:off x="484254" y="1129931"/>
            <a:ext cx="9359542" cy="594360"/>
          </a:xfrm>
          <a:prstGeom prst="rect">
            <a:avLst/>
          </a:prstGeom>
          <a:noFill/>
          <a:ln/>
        </p:spPr>
        <p:txBody>
          <a:bodyPr wrap="square" lIns="0" tIns="0" rIns="0" bIns="0" rtlCol="0" anchor="ctr"/>
          <a:lstStyle/>
          <a:p>
            <a:pPr marL="0" indent="0" algn="l">
              <a:buNone/>
            </a:pPr>
            <a:r>
              <a:rPr lang="en-US" sz="2800" b="1" dirty="0">
                <a:solidFill>
                  <a:srgbClr val="BC312C"/>
                </a:solidFill>
                <a:latin typeface="Cambria" pitchFamily="34" charset="0"/>
                <a:ea typeface="Cambria" pitchFamily="34" charset="-122"/>
                <a:cs typeface="Cambria" pitchFamily="34" charset="-120"/>
              </a:rPr>
              <a:t>Project Development Timeline (Gantt Chart)</a:t>
            </a:r>
            <a:endParaRPr lang="en-US" sz="2800" dirty="0"/>
          </a:p>
        </p:txBody>
      </p:sp>
      <p:sp>
        <p:nvSpPr>
          <p:cNvPr id="12" name="Shape 4">
            <a:extLst>
              <a:ext uri="{FF2B5EF4-FFF2-40B4-BE49-F238E27FC236}">
                <a16:creationId xmlns:a16="http://schemas.microsoft.com/office/drawing/2014/main" id="{8E27EB3C-4893-E6B2-B72F-8DBF05271F65}"/>
              </a:ext>
            </a:extLst>
          </p:cNvPr>
          <p:cNvSpPr/>
          <p:nvPr/>
        </p:nvSpPr>
        <p:spPr>
          <a:xfrm flipV="1">
            <a:off x="484254" y="1731009"/>
            <a:ext cx="8781043" cy="11570"/>
          </a:xfrm>
          <a:prstGeom prst="line">
            <a:avLst/>
          </a:prstGeom>
          <a:noFill/>
          <a:ln w="12700">
            <a:solidFill>
              <a:srgbClr val="E0DAD8"/>
            </a:solidFill>
            <a:prstDash val="solid"/>
          </a:ln>
        </p:spPr>
      </p:sp>
      <p:sp>
        <p:nvSpPr>
          <p:cNvPr id="14" name="Rectangle 13">
            <a:extLst>
              <a:ext uri="{FF2B5EF4-FFF2-40B4-BE49-F238E27FC236}">
                <a16:creationId xmlns:a16="http://schemas.microsoft.com/office/drawing/2014/main" id="{444583D7-4340-366A-5D86-E0D6EE0F1BF8}"/>
              </a:ext>
            </a:extLst>
          </p:cNvPr>
          <p:cNvSpPr/>
          <p:nvPr/>
        </p:nvSpPr>
        <p:spPr>
          <a:xfrm>
            <a:off x="2871578" y="188803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a:extLst>
              <a:ext uri="{FF2B5EF4-FFF2-40B4-BE49-F238E27FC236}">
                <a16:creationId xmlns:a16="http://schemas.microsoft.com/office/drawing/2014/main" id="{6FB00BBB-D84A-6F3A-59FB-7140298486B3}"/>
              </a:ext>
            </a:extLst>
          </p:cNvPr>
          <p:cNvSpPr txBox="1"/>
          <p:nvPr/>
        </p:nvSpPr>
        <p:spPr>
          <a:xfrm>
            <a:off x="2871578" y="190089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1  ·  Weeks 1-5</a:t>
            </a:r>
          </a:p>
        </p:txBody>
      </p:sp>
      <p:sp>
        <p:nvSpPr>
          <p:cNvPr id="18" name="Rectangle 17">
            <a:extLst>
              <a:ext uri="{FF2B5EF4-FFF2-40B4-BE49-F238E27FC236}">
                <a16:creationId xmlns:a16="http://schemas.microsoft.com/office/drawing/2014/main" id="{002D4D67-B1C2-A38B-D12A-2AA6B2287620}"/>
              </a:ext>
            </a:extLst>
          </p:cNvPr>
          <p:cNvSpPr/>
          <p:nvPr/>
        </p:nvSpPr>
        <p:spPr>
          <a:xfrm>
            <a:off x="5015259" y="188803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a:extLst>
              <a:ext uri="{FF2B5EF4-FFF2-40B4-BE49-F238E27FC236}">
                <a16:creationId xmlns:a16="http://schemas.microsoft.com/office/drawing/2014/main" id="{85E9E642-00CD-DB40-014A-3C2B668B5254}"/>
              </a:ext>
            </a:extLst>
          </p:cNvPr>
          <p:cNvSpPr txBox="1"/>
          <p:nvPr/>
        </p:nvSpPr>
        <p:spPr>
          <a:xfrm>
            <a:off x="5015259" y="190089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2  ·  Weeks 6-10</a:t>
            </a:r>
          </a:p>
        </p:txBody>
      </p:sp>
      <p:sp>
        <p:nvSpPr>
          <p:cNvPr id="22" name="Rectangle 21">
            <a:extLst>
              <a:ext uri="{FF2B5EF4-FFF2-40B4-BE49-F238E27FC236}">
                <a16:creationId xmlns:a16="http://schemas.microsoft.com/office/drawing/2014/main" id="{5FCD1D79-2D65-A9F4-0EC8-27F772089621}"/>
              </a:ext>
            </a:extLst>
          </p:cNvPr>
          <p:cNvSpPr/>
          <p:nvPr/>
        </p:nvSpPr>
        <p:spPr>
          <a:xfrm>
            <a:off x="7158940" y="188803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a:extLst>
              <a:ext uri="{FF2B5EF4-FFF2-40B4-BE49-F238E27FC236}">
                <a16:creationId xmlns:a16="http://schemas.microsoft.com/office/drawing/2014/main" id="{21714320-DF1E-9B10-ABB6-B45AD2089894}"/>
              </a:ext>
            </a:extLst>
          </p:cNvPr>
          <p:cNvSpPr txBox="1"/>
          <p:nvPr/>
        </p:nvSpPr>
        <p:spPr>
          <a:xfrm>
            <a:off x="7158940" y="1900892"/>
            <a:ext cx="2134156" cy="169277"/>
          </a:xfrm>
          <a:prstGeom prst="rect">
            <a:avLst/>
          </a:prstGeom>
          <a:noFill/>
        </p:spPr>
        <p:txBody>
          <a:bodyPr wrap="square" lIns="0" tIns="0" rIns="0" bIns="0" anchor="ctr">
            <a:spAutoFit/>
          </a:bodyPr>
          <a:lstStyle/>
          <a:p>
            <a:pPr algn="ctr"/>
            <a:r>
              <a:rPr sz="1100" b="1" i="0">
                <a:solidFill>
                  <a:srgbClr val="BC312C"/>
                </a:solidFill>
                <a:latin typeface="Calibri"/>
              </a:rPr>
              <a:t>Month 3  ·  Weeks 11-15</a:t>
            </a:r>
          </a:p>
        </p:txBody>
      </p:sp>
      <p:sp>
        <p:nvSpPr>
          <p:cNvPr id="26" name="TextBox 25">
            <a:extLst>
              <a:ext uri="{FF2B5EF4-FFF2-40B4-BE49-F238E27FC236}">
                <a16:creationId xmlns:a16="http://schemas.microsoft.com/office/drawing/2014/main" id="{96316CB2-92DE-744A-426C-960C6BCE679D}"/>
              </a:ext>
            </a:extLst>
          </p:cNvPr>
          <p:cNvSpPr txBox="1"/>
          <p:nvPr/>
        </p:nvSpPr>
        <p:spPr>
          <a:xfrm>
            <a:off x="2871578"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a:t>
            </a:r>
          </a:p>
        </p:txBody>
      </p:sp>
      <p:sp>
        <p:nvSpPr>
          <p:cNvPr id="28" name="TextBox 27">
            <a:extLst>
              <a:ext uri="{FF2B5EF4-FFF2-40B4-BE49-F238E27FC236}">
                <a16:creationId xmlns:a16="http://schemas.microsoft.com/office/drawing/2014/main" id="{C160ACC6-B4B7-17EC-E8DC-CF1B4E6E74BB}"/>
              </a:ext>
            </a:extLst>
          </p:cNvPr>
          <p:cNvSpPr txBox="1"/>
          <p:nvPr/>
        </p:nvSpPr>
        <p:spPr>
          <a:xfrm>
            <a:off x="3300314"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2</a:t>
            </a:r>
          </a:p>
        </p:txBody>
      </p:sp>
      <p:sp>
        <p:nvSpPr>
          <p:cNvPr id="30" name="TextBox 29">
            <a:extLst>
              <a:ext uri="{FF2B5EF4-FFF2-40B4-BE49-F238E27FC236}">
                <a16:creationId xmlns:a16="http://schemas.microsoft.com/office/drawing/2014/main" id="{2C5722E0-813E-6EB9-0F72-7984E7EFE79F}"/>
              </a:ext>
            </a:extLst>
          </p:cNvPr>
          <p:cNvSpPr txBox="1"/>
          <p:nvPr/>
        </p:nvSpPr>
        <p:spPr>
          <a:xfrm>
            <a:off x="3729050"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3</a:t>
            </a:r>
          </a:p>
        </p:txBody>
      </p:sp>
      <p:sp>
        <p:nvSpPr>
          <p:cNvPr id="32" name="TextBox 31">
            <a:extLst>
              <a:ext uri="{FF2B5EF4-FFF2-40B4-BE49-F238E27FC236}">
                <a16:creationId xmlns:a16="http://schemas.microsoft.com/office/drawing/2014/main" id="{DA6FCE0C-DAAB-7954-9FD0-9F025F205FD3}"/>
              </a:ext>
            </a:extLst>
          </p:cNvPr>
          <p:cNvSpPr txBox="1"/>
          <p:nvPr/>
        </p:nvSpPr>
        <p:spPr>
          <a:xfrm>
            <a:off x="4157786"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4</a:t>
            </a:r>
          </a:p>
        </p:txBody>
      </p:sp>
      <p:sp>
        <p:nvSpPr>
          <p:cNvPr id="34" name="TextBox 33">
            <a:extLst>
              <a:ext uri="{FF2B5EF4-FFF2-40B4-BE49-F238E27FC236}">
                <a16:creationId xmlns:a16="http://schemas.microsoft.com/office/drawing/2014/main" id="{0498899A-8F4C-BC12-540A-3327FE957583}"/>
              </a:ext>
            </a:extLst>
          </p:cNvPr>
          <p:cNvSpPr txBox="1"/>
          <p:nvPr/>
        </p:nvSpPr>
        <p:spPr>
          <a:xfrm>
            <a:off x="4586522"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5</a:t>
            </a:r>
          </a:p>
        </p:txBody>
      </p:sp>
      <p:sp>
        <p:nvSpPr>
          <p:cNvPr id="36" name="TextBox 35">
            <a:extLst>
              <a:ext uri="{FF2B5EF4-FFF2-40B4-BE49-F238E27FC236}">
                <a16:creationId xmlns:a16="http://schemas.microsoft.com/office/drawing/2014/main" id="{01E46765-EB96-34ED-AFA3-6AF0802A48AF}"/>
              </a:ext>
            </a:extLst>
          </p:cNvPr>
          <p:cNvSpPr txBox="1"/>
          <p:nvPr/>
        </p:nvSpPr>
        <p:spPr>
          <a:xfrm>
            <a:off x="5015259"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6</a:t>
            </a:r>
          </a:p>
        </p:txBody>
      </p:sp>
      <p:sp>
        <p:nvSpPr>
          <p:cNvPr id="38" name="TextBox 37">
            <a:extLst>
              <a:ext uri="{FF2B5EF4-FFF2-40B4-BE49-F238E27FC236}">
                <a16:creationId xmlns:a16="http://schemas.microsoft.com/office/drawing/2014/main" id="{93F335CB-7E3A-C874-4373-610647EB628F}"/>
              </a:ext>
            </a:extLst>
          </p:cNvPr>
          <p:cNvSpPr txBox="1"/>
          <p:nvPr/>
        </p:nvSpPr>
        <p:spPr>
          <a:xfrm>
            <a:off x="5443995"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7</a:t>
            </a:r>
          </a:p>
        </p:txBody>
      </p:sp>
      <p:sp>
        <p:nvSpPr>
          <p:cNvPr id="40" name="TextBox 39">
            <a:extLst>
              <a:ext uri="{FF2B5EF4-FFF2-40B4-BE49-F238E27FC236}">
                <a16:creationId xmlns:a16="http://schemas.microsoft.com/office/drawing/2014/main" id="{1ACE5E5E-501A-09EE-91E8-E2A7F48A77FF}"/>
              </a:ext>
            </a:extLst>
          </p:cNvPr>
          <p:cNvSpPr txBox="1"/>
          <p:nvPr/>
        </p:nvSpPr>
        <p:spPr>
          <a:xfrm>
            <a:off x="5872731" y="208473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8</a:t>
            </a:r>
          </a:p>
        </p:txBody>
      </p:sp>
      <p:sp>
        <p:nvSpPr>
          <p:cNvPr id="42" name="TextBox 41">
            <a:extLst>
              <a:ext uri="{FF2B5EF4-FFF2-40B4-BE49-F238E27FC236}">
                <a16:creationId xmlns:a16="http://schemas.microsoft.com/office/drawing/2014/main" id="{01F5761E-BCC8-1506-DCC2-D46116D7BF4F}"/>
              </a:ext>
            </a:extLst>
          </p:cNvPr>
          <p:cNvSpPr txBox="1"/>
          <p:nvPr/>
        </p:nvSpPr>
        <p:spPr>
          <a:xfrm>
            <a:off x="6301467"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9</a:t>
            </a:r>
          </a:p>
        </p:txBody>
      </p:sp>
      <p:sp>
        <p:nvSpPr>
          <p:cNvPr id="44" name="TextBox 43">
            <a:extLst>
              <a:ext uri="{FF2B5EF4-FFF2-40B4-BE49-F238E27FC236}">
                <a16:creationId xmlns:a16="http://schemas.microsoft.com/office/drawing/2014/main" id="{45D7B41C-ED72-0D5A-1E4B-5868E0E6A8AA}"/>
              </a:ext>
            </a:extLst>
          </p:cNvPr>
          <p:cNvSpPr txBox="1"/>
          <p:nvPr/>
        </p:nvSpPr>
        <p:spPr>
          <a:xfrm>
            <a:off x="6730203"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10</a:t>
            </a:r>
          </a:p>
        </p:txBody>
      </p:sp>
      <p:sp>
        <p:nvSpPr>
          <p:cNvPr id="46" name="TextBox 45">
            <a:extLst>
              <a:ext uri="{FF2B5EF4-FFF2-40B4-BE49-F238E27FC236}">
                <a16:creationId xmlns:a16="http://schemas.microsoft.com/office/drawing/2014/main" id="{8637314F-973C-5F97-5679-D968B6A939B9}"/>
              </a:ext>
            </a:extLst>
          </p:cNvPr>
          <p:cNvSpPr txBox="1"/>
          <p:nvPr/>
        </p:nvSpPr>
        <p:spPr>
          <a:xfrm>
            <a:off x="7158940"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11</a:t>
            </a:r>
          </a:p>
        </p:txBody>
      </p:sp>
      <p:sp>
        <p:nvSpPr>
          <p:cNvPr id="48" name="TextBox 47">
            <a:extLst>
              <a:ext uri="{FF2B5EF4-FFF2-40B4-BE49-F238E27FC236}">
                <a16:creationId xmlns:a16="http://schemas.microsoft.com/office/drawing/2014/main" id="{A85B25FC-C7A2-B4BA-22F8-5E6F8A121B61}"/>
              </a:ext>
            </a:extLst>
          </p:cNvPr>
          <p:cNvSpPr txBox="1"/>
          <p:nvPr/>
        </p:nvSpPr>
        <p:spPr>
          <a:xfrm>
            <a:off x="7587676"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12</a:t>
            </a:r>
          </a:p>
        </p:txBody>
      </p:sp>
      <p:sp>
        <p:nvSpPr>
          <p:cNvPr id="50" name="TextBox 49">
            <a:extLst>
              <a:ext uri="{FF2B5EF4-FFF2-40B4-BE49-F238E27FC236}">
                <a16:creationId xmlns:a16="http://schemas.microsoft.com/office/drawing/2014/main" id="{78DED2E3-3DF4-77B0-6380-29AB4AAEDED8}"/>
              </a:ext>
            </a:extLst>
          </p:cNvPr>
          <p:cNvSpPr txBox="1"/>
          <p:nvPr/>
        </p:nvSpPr>
        <p:spPr>
          <a:xfrm>
            <a:off x="8016412" y="208473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13</a:t>
            </a:r>
          </a:p>
        </p:txBody>
      </p:sp>
      <p:sp>
        <p:nvSpPr>
          <p:cNvPr id="52" name="TextBox 51">
            <a:extLst>
              <a:ext uri="{FF2B5EF4-FFF2-40B4-BE49-F238E27FC236}">
                <a16:creationId xmlns:a16="http://schemas.microsoft.com/office/drawing/2014/main" id="{7F45E1BE-AB13-20C0-B3B1-6121EFD99CF9}"/>
              </a:ext>
            </a:extLst>
          </p:cNvPr>
          <p:cNvSpPr txBox="1"/>
          <p:nvPr/>
        </p:nvSpPr>
        <p:spPr>
          <a:xfrm>
            <a:off x="8445148"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14</a:t>
            </a:r>
          </a:p>
        </p:txBody>
      </p:sp>
      <p:sp>
        <p:nvSpPr>
          <p:cNvPr id="54" name="TextBox 53">
            <a:extLst>
              <a:ext uri="{FF2B5EF4-FFF2-40B4-BE49-F238E27FC236}">
                <a16:creationId xmlns:a16="http://schemas.microsoft.com/office/drawing/2014/main" id="{1C9E2A08-8469-46CF-1170-B04CB1E1BDBC}"/>
              </a:ext>
            </a:extLst>
          </p:cNvPr>
          <p:cNvSpPr txBox="1"/>
          <p:nvPr/>
        </p:nvSpPr>
        <p:spPr>
          <a:xfrm>
            <a:off x="8873884"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15</a:t>
            </a:r>
          </a:p>
        </p:txBody>
      </p:sp>
      <p:sp>
        <p:nvSpPr>
          <p:cNvPr id="56" name="Rectangle 55">
            <a:extLst>
              <a:ext uri="{FF2B5EF4-FFF2-40B4-BE49-F238E27FC236}">
                <a16:creationId xmlns:a16="http://schemas.microsoft.com/office/drawing/2014/main" id="{BA13AD0D-99A7-75AA-504A-4429C367C991}"/>
              </a:ext>
            </a:extLst>
          </p:cNvPr>
          <p:cNvSpPr/>
          <p:nvPr/>
        </p:nvSpPr>
        <p:spPr>
          <a:xfrm>
            <a:off x="521578" y="224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8" name="Rectangle 57">
            <a:extLst>
              <a:ext uri="{FF2B5EF4-FFF2-40B4-BE49-F238E27FC236}">
                <a16:creationId xmlns:a16="http://schemas.microsoft.com/office/drawing/2014/main" id="{B3297EAE-E0DF-DCF2-84C4-D7E128CB4EA9}"/>
              </a:ext>
            </a:extLst>
          </p:cNvPr>
          <p:cNvSpPr/>
          <p:nvPr/>
        </p:nvSpPr>
        <p:spPr>
          <a:xfrm>
            <a:off x="521578" y="267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0" name="TextBox 59">
            <a:extLst>
              <a:ext uri="{FF2B5EF4-FFF2-40B4-BE49-F238E27FC236}">
                <a16:creationId xmlns:a16="http://schemas.microsoft.com/office/drawing/2014/main" id="{1F78B010-804B-EEA9-718C-BB77EE018467}"/>
              </a:ext>
            </a:extLst>
          </p:cNvPr>
          <p:cNvSpPr txBox="1"/>
          <p:nvPr/>
        </p:nvSpPr>
        <p:spPr>
          <a:xfrm>
            <a:off x="611578" y="227836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Literature Review &amp; Requirement Finalization</a:t>
            </a:r>
          </a:p>
        </p:txBody>
      </p:sp>
      <p:sp>
        <p:nvSpPr>
          <p:cNvPr id="62" name="Rounded Rectangle 45">
            <a:extLst>
              <a:ext uri="{FF2B5EF4-FFF2-40B4-BE49-F238E27FC236}">
                <a16:creationId xmlns:a16="http://schemas.microsoft.com/office/drawing/2014/main" id="{7A081C49-33A4-C36C-FEEA-DCFF6011997B}"/>
              </a:ext>
            </a:extLst>
          </p:cNvPr>
          <p:cNvSpPr/>
          <p:nvPr/>
        </p:nvSpPr>
        <p:spPr>
          <a:xfrm>
            <a:off x="2891578" y="2338310"/>
            <a:ext cx="1058407" cy="24297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4" name="Rectangle 63">
            <a:extLst>
              <a:ext uri="{FF2B5EF4-FFF2-40B4-BE49-F238E27FC236}">
                <a16:creationId xmlns:a16="http://schemas.microsoft.com/office/drawing/2014/main" id="{3ED687D2-AC88-32A6-F1DF-0438F40F407F}"/>
              </a:ext>
            </a:extLst>
          </p:cNvPr>
          <p:cNvSpPr/>
          <p:nvPr/>
        </p:nvSpPr>
        <p:spPr>
          <a:xfrm>
            <a:off x="521578" y="310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6" name="TextBox 65">
            <a:extLst>
              <a:ext uri="{FF2B5EF4-FFF2-40B4-BE49-F238E27FC236}">
                <a16:creationId xmlns:a16="http://schemas.microsoft.com/office/drawing/2014/main" id="{8D5C8498-321D-1ECD-6F93-0EE2949ECD54}"/>
              </a:ext>
            </a:extLst>
          </p:cNvPr>
          <p:cNvSpPr txBox="1"/>
          <p:nvPr/>
        </p:nvSpPr>
        <p:spPr>
          <a:xfrm>
            <a:off x="611578" y="2800697"/>
            <a:ext cx="2250000" cy="184666"/>
          </a:xfrm>
          <a:prstGeom prst="rect">
            <a:avLst/>
          </a:prstGeom>
          <a:noFill/>
        </p:spPr>
        <p:txBody>
          <a:bodyPr wrap="square" lIns="0" tIns="0" rIns="0" bIns="0" anchor="ctr">
            <a:spAutoFit/>
          </a:bodyPr>
          <a:lstStyle/>
          <a:p>
            <a:pPr algn="l"/>
            <a:r>
              <a:rPr sz="1200" b="0" i="0">
                <a:solidFill>
                  <a:srgbClr val="262626"/>
                </a:solidFill>
                <a:latin typeface="Calibri"/>
              </a:rPr>
              <a:t>Dataset Collection &amp; Verification</a:t>
            </a:r>
          </a:p>
        </p:txBody>
      </p:sp>
      <p:sp>
        <p:nvSpPr>
          <p:cNvPr id="68" name="Rounded Rectangle 48">
            <a:extLst>
              <a:ext uri="{FF2B5EF4-FFF2-40B4-BE49-F238E27FC236}">
                <a16:creationId xmlns:a16="http://schemas.microsoft.com/office/drawing/2014/main" id="{9F3C1762-054A-51B8-1179-7956684E6452}"/>
              </a:ext>
            </a:extLst>
          </p:cNvPr>
          <p:cNvSpPr/>
          <p:nvPr/>
        </p:nvSpPr>
        <p:spPr>
          <a:xfrm>
            <a:off x="3320314" y="2738629"/>
            <a:ext cx="1539142" cy="308802"/>
          </a:xfrm>
          <a:prstGeom prst="round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rgbClr val="FF0000"/>
              </a:solidFill>
            </a:endParaRPr>
          </a:p>
        </p:txBody>
      </p:sp>
      <p:sp>
        <p:nvSpPr>
          <p:cNvPr id="70" name="Rectangle 69">
            <a:extLst>
              <a:ext uri="{FF2B5EF4-FFF2-40B4-BE49-F238E27FC236}">
                <a16:creationId xmlns:a16="http://schemas.microsoft.com/office/drawing/2014/main" id="{5B8A9779-8AE0-4262-DCCF-BEF8909EFABE}"/>
              </a:ext>
            </a:extLst>
          </p:cNvPr>
          <p:cNvSpPr/>
          <p:nvPr/>
        </p:nvSpPr>
        <p:spPr>
          <a:xfrm>
            <a:off x="521578" y="310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2" name="Rectangle 71">
            <a:extLst>
              <a:ext uri="{FF2B5EF4-FFF2-40B4-BE49-F238E27FC236}">
                <a16:creationId xmlns:a16="http://schemas.microsoft.com/office/drawing/2014/main" id="{F7E3BD76-E2E2-9498-E631-A9FE8B83C66E}"/>
              </a:ext>
            </a:extLst>
          </p:cNvPr>
          <p:cNvSpPr/>
          <p:nvPr/>
        </p:nvSpPr>
        <p:spPr>
          <a:xfrm>
            <a:off x="521578" y="353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4" name="TextBox 73">
            <a:extLst>
              <a:ext uri="{FF2B5EF4-FFF2-40B4-BE49-F238E27FC236}">
                <a16:creationId xmlns:a16="http://schemas.microsoft.com/office/drawing/2014/main" id="{771A0447-D199-8648-0AEF-F002490A4362}"/>
              </a:ext>
            </a:extLst>
          </p:cNvPr>
          <p:cNvSpPr txBox="1"/>
          <p:nvPr/>
        </p:nvSpPr>
        <p:spPr>
          <a:xfrm>
            <a:off x="611578" y="3138365"/>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Model Training (Prophet+XGBoost, Adaptive </a:t>
            </a:r>
            <a:r>
              <a:rPr lang="en-IN" sz="1200" b="0" i="0" dirty="0">
                <a:solidFill>
                  <a:srgbClr val="262626"/>
                </a:solidFill>
                <a:latin typeface="Calibri"/>
              </a:rPr>
              <a:t>Branching</a:t>
            </a:r>
            <a:r>
              <a:rPr sz="1200" b="0" i="0" dirty="0">
                <a:solidFill>
                  <a:srgbClr val="262626"/>
                </a:solidFill>
                <a:latin typeface="Calibri"/>
              </a:rPr>
              <a:t>)</a:t>
            </a:r>
          </a:p>
        </p:txBody>
      </p:sp>
      <p:sp>
        <p:nvSpPr>
          <p:cNvPr id="76" name="Rounded Rectangle 52">
            <a:extLst>
              <a:ext uri="{FF2B5EF4-FFF2-40B4-BE49-F238E27FC236}">
                <a16:creationId xmlns:a16="http://schemas.microsoft.com/office/drawing/2014/main" id="{9875309F-BD1E-C36B-FAFD-C467287C4973}"/>
              </a:ext>
            </a:extLst>
          </p:cNvPr>
          <p:cNvSpPr/>
          <p:nvPr/>
        </p:nvSpPr>
        <p:spPr>
          <a:xfrm>
            <a:off x="4691025" y="3185679"/>
            <a:ext cx="1741944" cy="294638"/>
          </a:xfrm>
          <a:prstGeom prst="roundRect">
            <a:avLst>
              <a:gd name="adj" fmla="val 15795"/>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8" name="Rectangle 77">
            <a:extLst>
              <a:ext uri="{FF2B5EF4-FFF2-40B4-BE49-F238E27FC236}">
                <a16:creationId xmlns:a16="http://schemas.microsoft.com/office/drawing/2014/main" id="{5AC40DD9-BF95-9BDD-F200-644150211D15}"/>
              </a:ext>
            </a:extLst>
          </p:cNvPr>
          <p:cNvSpPr/>
          <p:nvPr/>
        </p:nvSpPr>
        <p:spPr>
          <a:xfrm>
            <a:off x="521578" y="396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0" name="TextBox 79">
            <a:extLst>
              <a:ext uri="{FF2B5EF4-FFF2-40B4-BE49-F238E27FC236}">
                <a16:creationId xmlns:a16="http://schemas.microsoft.com/office/drawing/2014/main" id="{CCCF5B1A-C8A5-9964-1D1C-CBB4B516CFB6}"/>
              </a:ext>
            </a:extLst>
          </p:cNvPr>
          <p:cNvSpPr txBox="1"/>
          <p:nvPr/>
        </p:nvSpPr>
        <p:spPr>
          <a:xfrm>
            <a:off x="611578" y="3660697"/>
            <a:ext cx="2250000" cy="184666"/>
          </a:xfrm>
          <a:prstGeom prst="rect">
            <a:avLst/>
          </a:prstGeom>
          <a:noFill/>
        </p:spPr>
        <p:txBody>
          <a:bodyPr wrap="square" lIns="0" tIns="0" rIns="0" bIns="0" anchor="ctr">
            <a:spAutoFit/>
          </a:bodyPr>
          <a:lstStyle/>
          <a:p>
            <a:pPr algn="l"/>
            <a:r>
              <a:rPr sz="1200" b="0" i="0">
                <a:solidFill>
                  <a:srgbClr val="262626"/>
                </a:solidFill>
                <a:latin typeface="Calibri"/>
              </a:rPr>
              <a:t>Flutter App Development Setup</a:t>
            </a:r>
          </a:p>
        </p:txBody>
      </p:sp>
      <p:sp>
        <p:nvSpPr>
          <p:cNvPr id="82" name="Rectangle 81">
            <a:extLst>
              <a:ext uri="{FF2B5EF4-FFF2-40B4-BE49-F238E27FC236}">
                <a16:creationId xmlns:a16="http://schemas.microsoft.com/office/drawing/2014/main" id="{EC0B25D7-ECB1-F573-4EBF-47EE34C60902}"/>
              </a:ext>
            </a:extLst>
          </p:cNvPr>
          <p:cNvSpPr/>
          <p:nvPr/>
        </p:nvSpPr>
        <p:spPr>
          <a:xfrm>
            <a:off x="521578" y="396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4" name="Rectangle 83">
            <a:extLst>
              <a:ext uri="{FF2B5EF4-FFF2-40B4-BE49-F238E27FC236}">
                <a16:creationId xmlns:a16="http://schemas.microsoft.com/office/drawing/2014/main" id="{46920E82-CF65-F7A0-6528-0DEEBA13924A}"/>
              </a:ext>
            </a:extLst>
          </p:cNvPr>
          <p:cNvSpPr/>
          <p:nvPr/>
        </p:nvSpPr>
        <p:spPr>
          <a:xfrm>
            <a:off x="521578" y="439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6" name="TextBox 85">
            <a:extLst>
              <a:ext uri="{FF2B5EF4-FFF2-40B4-BE49-F238E27FC236}">
                <a16:creationId xmlns:a16="http://schemas.microsoft.com/office/drawing/2014/main" id="{0AC797D0-C6DA-4AF0-FF26-70C09EDCAF39}"/>
              </a:ext>
            </a:extLst>
          </p:cNvPr>
          <p:cNvSpPr txBox="1"/>
          <p:nvPr/>
        </p:nvSpPr>
        <p:spPr>
          <a:xfrm>
            <a:off x="611578" y="399836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Backend API </a:t>
            </a:r>
            <a:r>
              <a:rPr lang="en-IN" sz="1200" b="0" i="0" dirty="0">
                <a:solidFill>
                  <a:srgbClr val="262626"/>
                </a:solidFill>
                <a:latin typeface="Calibri"/>
              </a:rPr>
              <a:t>,</a:t>
            </a:r>
            <a:r>
              <a:rPr sz="1200" b="0" i="0" dirty="0">
                <a:solidFill>
                  <a:srgbClr val="262626"/>
                </a:solidFill>
                <a:latin typeface="Calibri"/>
              </a:rPr>
              <a:t> Restock Logic</a:t>
            </a:r>
            <a:r>
              <a:rPr lang="en-IN" sz="1200" b="0" i="0" dirty="0">
                <a:solidFill>
                  <a:srgbClr val="262626"/>
                </a:solidFill>
                <a:latin typeface="Calibri"/>
              </a:rPr>
              <a:t> and LLM narrator</a:t>
            </a:r>
            <a:endParaRPr sz="1200" b="0" i="0" dirty="0">
              <a:solidFill>
                <a:srgbClr val="262626"/>
              </a:solidFill>
              <a:latin typeface="Calibri"/>
            </a:endParaRPr>
          </a:p>
        </p:txBody>
      </p:sp>
      <p:sp>
        <p:nvSpPr>
          <p:cNvPr id="88" name="Rounded Rectangle 59">
            <a:extLst>
              <a:ext uri="{FF2B5EF4-FFF2-40B4-BE49-F238E27FC236}">
                <a16:creationId xmlns:a16="http://schemas.microsoft.com/office/drawing/2014/main" id="{7B34BB2D-0F02-0926-6D93-F8210214C972}"/>
              </a:ext>
            </a:extLst>
          </p:cNvPr>
          <p:cNvSpPr/>
          <p:nvPr/>
        </p:nvSpPr>
        <p:spPr>
          <a:xfrm>
            <a:off x="5463995" y="406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0" name="Rectangle 89">
            <a:extLst>
              <a:ext uri="{FF2B5EF4-FFF2-40B4-BE49-F238E27FC236}">
                <a16:creationId xmlns:a16="http://schemas.microsoft.com/office/drawing/2014/main" id="{8D41F513-6E3B-FC1A-151B-4D94004E10D1}"/>
              </a:ext>
            </a:extLst>
          </p:cNvPr>
          <p:cNvSpPr/>
          <p:nvPr/>
        </p:nvSpPr>
        <p:spPr>
          <a:xfrm>
            <a:off x="521578" y="482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2" name="TextBox 91">
            <a:extLst>
              <a:ext uri="{FF2B5EF4-FFF2-40B4-BE49-F238E27FC236}">
                <a16:creationId xmlns:a16="http://schemas.microsoft.com/office/drawing/2014/main" id="{7DCB54A6-B9DE-6F05-FABD-BE0599299F07}"/>
              </a:ext>
            </a:extLst>
          </p:cNvPr>
          <p:cNvSpPr txBox="1"/>
          <p:nvPr/>
        </p:nvSpPr>
        <p:spPr>
          <a:xfrm>
            <a:off x="611578" y="4428364"/>
            <a:ext cx="2250000" cy="369332"/>
          </a:xfrm>
          <a:prstGeom prst="rect">
            <a:avLst/>
          </a:prstGeom>
          <a:noFill/>
        </p:spPr>
        <p:txBody>
          <a:bodyPr wrap="square" lIns="0" tIns="0" rIns="0" bIns="0" anchor="ctr">
            <a:spAutoFit/>
          </a:bodyPr>
          <a:lstStyle/>
          <a:p>
            <a:pPr algn="l"/>
            <a:r>
              <a:rPr sz="1200" b="0" i="0">
                <a:solidFill>
                  <a:srgbClr val="262626"/>
                </a:solidFill>
                <a:latin typeface="Calibri"/>
              </a:rPr>
              <a:t>System Integration (Model + App + Backend)</a:t>
            </a:r>
          </a:p>
        </p:txBody>
      </p:sp>
      <p:sp>
        <p:nvSpPr>
          <p:cNvPr id="94" name="Rounded Rectangle 62">
            <a:extLst>
              <a:ext uri="{FF2B5EF4-FFF2-40B4-BE49-F238E27FC236}">
                <a16:creationId xmlns:a16="http://schemas.microsoft.com/office/drawing/2014/main" id="{5D90A48D-D71E-83AA-BC4B-B9218FDE5B91}"/>
              </a:ext>
            </a:extLst>
          </p:cNvPr>
          <p:cNvSpPr/>
          <p:nvPr/>
        </p:nvSpPr>
        <p:spPr>
          <a:xfrm>
            <a:off x="6321467" y="449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6" name="Rectangle 95">
            <a:extLst>
              <a:ext uri="{FF2B5EF4-FFF2-40B4-BE49-F238E27FC236}">
                <a16:creationId xmlns:a16="http://schemas.microsoft.com/office/drawing/2014/main" id="{5E15A4EE-E25D-C283-CDFD-CCD12FD6E19D}"/>
              </a:ext>
            </a:extLst>
          </p:cNvPr>
          <p:cNvSpPr/>
          <p:nvPr/>
        </p:nvSpPr>
        <p:spPr>
          <a:xfrm>
            <a:off x="521578" y="482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8" name="Rectangle 97">
            <a:extLst>
              <a:ext uri="{FF2B5EF4-FFF2-40B4-BE49-F238E27FC236}">
                <a16:creationId xmlns:a16="http://schemas.microsoft.com/office/drawing/2014/main" id="{6B9A9E8F-0098-4152-800A-3A8910EC2FDE}"/>
              </a:ext>
            </a:extLst>
          </p:cNvPr>
          <p:cNvSpPr/>
          <p:nvPr/>
        </p:nvSpPr>
        <p:spPr>
          <a:xfrm>
            <a:off x="521578" y="525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0" name="TextBox 99">
            <a:extLst>
              <a:ext uri="{FF2B5EF4-FFF2-40B4-BE49-F238E27FC236}">
                <a16:creationId xmlns:a16="http://schemas.microsoft.com/office/drawing/2014/main" id="{9D1BA90C-0D1E-9C22-4D6C-FD8308BC3353}"/>
              </a:ext>
            </a:extLst>
          </p:cNvPr>
          <p:cNvSpPr txBox="1"/>
          <p:nvPr/>
        </p:nvSpPr>
        <p:spPr>
          <a:xfrm>
            <a:off x="611578" y="485836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Testing &amp; Evaluation (RMSE / MAPE)</a:t>
            </a:r>
          </a:p>
        </p:txBody>
      </p:sp>
      <p:sp>
        <p:nvSpPr>
          <p:cNvPr id="102" name="Rounded Rectangle 66">
            <a:extLst>
              <a:ext uri="{FF2B5EF4-FFF2-40B4-BE49-F238E27FC236}">
                <a16:creationId xmlns:a16="http://schemas.microsoft.com/office/drawing/2014/main" id="{C24E81E9-8FB5-3B6D-9EAB-65619E50C208}"/>
              </a:ext>
            </a:extLst>
          </p:cNvPr>
          <p:cNvSpPr/>
          <p:nvPr/>
        </p:nvSpPr>
        <p:spPr>
          <a:xfrm>
            <a:off x="7178940" y="492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4" name="Rectangle 103">
            <a:extLst>
              <a:ext uri="{FF2B5EF4-FFF2-40B4-BE49-F238E27FC236}">
                <a16:creationId xmlns:a16="http://schemas.microsoft.com/office/drawing/2014/main" id="{725367E8-AEB7-001D-0336-B229987A6947}"/>
              </a:ext>
            </a:extLst>
          </p:cNvPr>
          <p:cNvSpPr/>
          <p:nvPr/>
        </p:nvSpPr>
        <p:spPr>
          <a:xfrm>
            <a:off x="521578" y="568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6" name="TextBox 105">
            <a:extLst>
              <a:ext uri="{FF2B5EF4-FFF2-40B4-BE49-F238E27FC236}">
                <a16:creationId xmlns:a16="http://schemas.microsoft.com/office/drawing/2014/main" id="{8A95EFE5-1683-2411-D5E6-27A5CC411EA5}"/>
              </a:ext>
            </a:extLst>
          </p:cNvPr>
          <p:cNvSpPr txBox="1"/>
          <p:nvPr/>
        </p:nvSpPr>
        <p:spPr>
          <a:xfrm>
            <a:off x="611578" y="5380697"/>
            <a:ext cx="2250000" cy="184666"/>
          </a:xfrm>
          <a:prstGeom prst="rect">
            <a:avLst/>
          </a:prstGeom>
          <a:noFill/>
        </p:spPr>
        <p:txBody>
          <a:bodyPr wrap="square" lIns="0" tIns="0" rIns="0" bIns="0" anchor="ctr">
            <a:spAutoFit/>
          </a:bodyPr>
          <a:lstStyle/>
          <a:p>
            <a:pPr algn="l"/>
            <a:r>
              <a:rPr sz="1200" b="0" i="0">
                <a:solidFill>
                  <a:srgbClr val="262626"/>
                </a:solidFill>
                <a:latin typeface="Calibri"/>
              </a:rPr>
              <a:t>Documentation &amp; Report Writing</a:t>
            </a:r>
          </a:p>
        </p:txBody>
      </p:sp>
      <p:sp>
        <p:nvSpPr>
          <p:cNvPr id="108" name="Rounded Rectangle 69">
            <a:extLst>
              <a:ext uri="{FF2B5EF4-FFF2-40B4-BE49-F238E27FC236}">
                <a16:creationId xmlns:a16="http://schemas.microsoft.com/office/drawing/2014/main" id="{F98EB7E1-BC7B-BDEA-D290-A227327D3CA2}"/>
              </a:ext>
            </a:extLst>
          </p:cNvPr>
          <p:cNvSpPr/>
          <p:nvPr/>
        </p:nvSpPr>
        <p:spPr>
          <a:xfrm>
            <a:off x="7607676" y="535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0" name="Rectangle 109">
            <a:extLst>
              <a:ext uri="{FF2B5EF4-FFF2-40B4-BE49-F238E27FC236}">
                <a16:creationId xmlns:a16="http://schemas.microsoft.com/office/drawing/2014/main" id="{4EF67E5F-D2D5-82E6-DDB4-7A83307D5681}"/>
              </a:ext>
            </a:extLst>
          </p:cNvPr>
          <p:cNvSpPr/>
          <p:nvPr/>
        </p:nvSpPr>
        <p:spPr>
          <a:xfrm>
            <a:off x="521578" y="568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2" name="Rectangle 111">
            <a:extLst>
              <a:ext uri="{FF2B5EF4-FFF2-40B4-BE49-F238E27FC236}">
                <a16:creationId xmlns:a16="http://schemas.microsoft.com/office/drawing/2014/main" id="{C149F634-7537-4AF7-FC71-99DDCA7B430E}"/>
              </a:ext>
            </a:extLst>
          </p:cNvPr>
          <p:cNvSpPr/>
          <p:nvPr/>
        </p:nvSpPr>
        <p:spPr>
          <a:xfrm>
            <a:off x="521578" y="611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4" name="TextBox 113">
            <a:extLst>
              <a:ext uri="{FF2B5EF4-FFF2-40B4-BE49-F238E27FC236}">
                <a16:creationId xmlns:a16="http://schemas.microsoft.com/office/drawing/2014/main" id="{585BF316-5545-9B46-B4E5-206829AA9EDF}"/>
              </a:ext>
            </a:extLst>
          </p:cNvPr>
          <p:cNvSpPr txBox="1"/>
          <p:nvPr/>
        </p:nvSpPr>
        <p:spPr>
          <a:xfrm>
            <a:off x="611578" y="5718364"/>
            <a:ext cx="2250000" cy="369332"/>
          </a:xfrm>
          <a:prstGeom prst="rect">
            <a:avLst/>
          </a:prstGeom>
          <a:noFill/>
        </p:spPr>
        <p:txBody>
          <a:bodyPr wrap="square" lIns="0" tIns="0" rIns="0" bIns="0" anchor="ctr">
            <a:spAutoFit/>
          </a:bodyPr>
          <a:lstStyle/>
          <a:p>
            <a:pPr algn="l"/>
            <a:r>
              <a:rPr sz="1200" b="0" i="0">
                <a:solidFill>
                  <a:srgbClr val="262626"/>
                </a:solidFill>
                <a:latin typeface="Calibri"/>
              </a:rPr>
              <a:t>Buffer, Review Prep &amp; Final Presentation</a:t>
            </a:r>
          </a:p>
        </p:txBody>
      </p:sp>
      <p:sp>
        <p:nvSpPr>
          <p:cNvPr id="116" name="Rounded Rectangle 73">
            <a:extLst>
              <a:ext uri="{FF2B5EF4-FFF2-40B4-BE49-F238E27FC236}">
                <a16:creationId xmlns:a16="http://schemas.microsoft.com/office/drawing/2014/main" id="{7B176375-1B91-A01A-10EC-222B904581D7}"/>
              </a:ext>
            </a:extLst>
          </p:cNvPr>
          <p:cNvSpPr/>
          <p:nvPr/>
        </p:nvSpPr>
        <p:spPr>
          <a:xfrm>
            <a:off x="8465148" y="5784780"/>
            <a:ext cx="817472"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8" name="Rectangle 117">
            <a:extLst>
              <a:ext uri="{FF2B5EF4-FFF2-40B4-BE49-F238E27FC236}">
                <a16:creationId xmlns:a16="http://schemas.microsoft.com/office/drawing/2014/main" id="{BFC81EDE-985D-A97E-F340-4C2A669E7ADF}"/>
              </a:ext>
            </a:extLst>
          </p:cNvPr>
          <p:cNvSpPr/>
          <p:nvPr/>
        </p:nvSpPr>
        <p:spPr>
          <a:xfrm>
            <a:off x="4709690" y="1888030"/>
            <a:ext cx="12700" cy="4230000"/>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0" name="TextBox 119">
            <a:extLst>
              <a:ext uri="{FF2B5EF4-FFF2-40B4-BE49-F238E27FC236}">
                <a16:creationId xmlns:a16="http://schemas.microsoft.com/office/drawing/2014/main" id="{87E70D43-2D13-7F3A-52D4-F71084428C4A}"/>
              </a:ext>
            </a:extLst>
          </p:cNvPr>
          <p:cNvSpPr txBox="1"/>
          <p:nvPr/>
        </p:nvSpPr>
        <p:spPr>
          <a:xfrm>
            <a:off x="4439044" y="1722239"/>
            <a:ext cx="294953" cy="161583"/>
          </a:xfrm>
          <a:prstGeom prst="rect">
            <a:avLst/>
          </a:prstGeom>
          <a:noFill/>
        </p:spPr>
        <p:txBody>
          <a:bodyPr wrap="none" lIns="0" tIns="0" rIns="0" bIns="0" anchor="ctr">
            <a:spAutoFit/>
          </a:bodyPr>
          <a:lstStyle/>
          <a:p>
            <a:pPr algn="ctr"/>
            <a:r>
              <a:rPr sz="1050" b="1" i="0" dirty="0">
                <a:solidFill>
                  <a:srgbClr val="2F3C7E"/>
                </a:solidFill>
                <a:latin typeface="Calibri"/>
              </a:rPr>
              <a:t>WK 4</a:t>
            </a:r>
          </a:p>
        </p:txBody>
      </p:sp>
      <p:sp>
        <p:nvSpPr>
          <p:cNvPr id="122" name="Rectangle 121">
            <a:extLst>
              <a:ext uri="{FF2B5EF4-FFF2-40B4-BE49-F238E27FC236}">
                <a16:creationId xmlns:a16="http://schemas.microsoft.com/office/drawing/2014/main" id="{303518CD-7536-2A95-E932-758825B8D849}"/>
              </a:ext>
            </a:extLst>
          </p:cNvPr>
          <p:cNvSpPr/>
          <p:nvPr/>
        </p:nvSpPr>
        <p:spPr>
          <a:xfrm>
            <a:off x="9296271" y="1888030"/>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4" name="Rounded Rectangle 77">
            <a:extLst>
              <a:ext uri="{FF2B5EF4-FFF2-40B4-BE49-F238E27FC236}">
                <a16:creationId xmlns:a16="http://schemas.microsoft.com/office/drawing/2014/main" id="{7B2516CE-D942-718C-471F-2E4B7E09E319}"/>
              </a:ext>
            </a:extLst>
          </p:cNvPr>
          <p:cNvSpPr/>
          <p:nvPr/>
        </p:nvSpPr>
        <p:spPr>
          <a:xfrm>
            <a:off x="521578" y="6198030"/>
            <a:ext cx="220000" cy="1400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6" name="TextBox 125">
            <a:extLst>
              <a:ext uri="{FF2B5EF4-FFF2-40B4-BE49-F238E27FC236}">
                <a16:creationId xmlns:a16="http://schemas.microsoft.com/office/drawing/2014/main" id="{1320E069-AF9D-4C70-C780-E279F84B9A6C}"/>
              </a:ext>
            </a:extLst>
          </p:cNvPr>
          <p:cNvSpPr txBox="1"/>
          <p:nvPr/>
        </p:nvSpPr>
        <p:spPr>
          <a:xfrm>
            <a:off x="781578" y="6183392"/>
            <a:ext cx="1150000" cy="169277"/>
          </a:xfrm>
          <a:prstGeom prst="rect">
            <a:avLst/>
          </a:prstGeom>
          <a:noFill/>
        </p:spPr>
        <p:txBody>
          <a:bodyPr wrap="square" lIns="0" tIns="0" rIns="0" bIns="0" anchor="ctr">
            <a:spAutoFit/>
          </a:bodyPr>
          <a:lstStyle/>
          <a:p>
            <a:pPr algn="l"/>
            <a:r>
              <a:rPr sz="1100" b="0" i="0">
                <a:solidFill>
                  <a:srgbClr val="262626"/>
                </a:solidFill>
                <a:latin typeface="Calibri"/>
              </a:rPr>
              <a:t>Completed</a:t>
            </a:r>
          </a:p>
        </p:txBody>
      </p:sp>
      <p:sp>
        <p:nvSpPr>
          <p:cNvPr id="128" name="Rounded Rectangle 79">
            <a:extLst>
              <a:ext uri="{FF2B5EF4-FFF2-40B4-BE49-F238E27FC236}">
                <a16:creationId xmlns:a16="http://schemas.microsoft.com/office/drawing/2014/main" id="{4B23981C-A684-FD92-B1C4-1BA8D0D32D3F}"/>
              </a:ext>
            </a:extLst>
          </p:cNvPr>
          <p:cNvSpPr/>
          <p:nvPr/>
        </p:nvSpPr>
        <p:spPr>
          <a:xfrm>
            <a:off x="2021578" y="6198030"/>
            <a:ext cx="220000" cy="140000"/>
          </a:xfrm>
          <a:prstGeom prst="round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0" name="TextBox 129">
            <a:extLst>
              <a:ext uri="{FF2B5EF4-FFF2-40B4-BE49-F238E27FC236}">
                <a16:creationId xmlns:a16="http://schemas.microsoft.com/office/drawing/2014/main" id="{C99E4447-A1F4-D172-D216-EBAAB38C4B99}"/>
              </a:ext>
            </a:extLst>
          </p:cNvPr>
          <p:cNvSpPr txBox="1"/>
          <p:nvPr/>
        </p:nvSpPr>
        <p:spPr>
          <a:xfrm>
            <a:off x="2281578" y="6183392"/>
            <a:ext cx="1150000" cy="169277"/>
          </a:xfrm>
          <a:prstGeom prst="rect">
            <a:avLst/>
          </a:prstGeom>
          <a:noFill/>
        </p:spPr>
        <p:txBody>
          <a:bodyPr wrap="square" lIns="0" tIns="0" rIns="0" bIns="0" anchor="ctr">
            <a:spAutoFit/>
          </a:bodyPr>
          <a:lstStyle/>
          <a:p>
            <a:pPr algn="l"/>
            <a:r>
              <a:rPr sz="1100" b="0" i="0">
                <a:solidFill>
                  <a:srgbClr val="262626"/>
                </a:solidFill>
                <a:latin typeface="Calibri"/>
              </a:rPr>
              <a:t>In Progress</a:t>
            </a:r>
          </a:p>
        </p:txBody>
      </p:sp>
      <p:sp>
        <p:nvSpPr>
          <p:cNvPr id="132" name="Rounded Rectangle 81">
            <a:extLst>
              <a:ext uri="{FF2B5EF4-FFF2-40B4-BE49-F238E27FC236}">
                <a16:creationId xmlns:a16="http://schemas.microsoft.com/office/drawing/2014/main" id="{03B52D05-A70B-0BB8-E2B3-D31149AABBB8}"/>
              </a:ext>
            </a:extLst>
          </p:cNvPr>
          <p:cNvSpPr/>
          <p:nvPr/>
        </p:nvSpPr>
        <p:spPr>
          <a:xfrm>
            <a:off x="3521578" y="6198030"/>
            <a:ext cx="220000" cy="140000"/>
          </a:xfrm>
          <a:prstGeom prst="roundRect">
            <a:avLst/>
          </a:prstGeom>
          <a:solidFill>
            <a:srgbClr val="F3D9D8"/>
          </a:solidFill>
          <a:ln w="952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4" name="TextBox 133">
            <a:extLst>
              <a:ext uri="{FF2B5EF4-FFF2-40B4-BE49-F238E27FC236}">
                <a16:creationId xmlns:a16="http://schemas.microsoft.com/office/drawing/2014/main" id="{5E8F5372-844D-B441-418F-FAC4745A177A}"/>
              </a:ext>
            </a:extLst>
          </p:cNvPr>
          <p:cNvSpPr txBox="1"/>
          <p:nvPr/>
        </p:nvSpPr>
        <p:spPr>
          <a:xfrm>
            <a:off x="3781578" y="6183392"/>
            <a:ext cx="1150000" cy="169277"/>
          </a:xfrm>
          <a:prstGeom prst="rect">
            <a:avLst/>
          </a:prstGeom>
          <a:noFill/>
        </p:spPr>
        <p:txBody>
          <a:bodyPr wrap="square" lIns="0" tIns="0" rIns="0" bIns="0" anchor="ctr">
            <a:spAutoFit/>
          </a:bodyPr>
          <a:lstStyle/>
          <a:p>
            <a:pPr algn="l"/>
            <a:r>
              <a:rPr sz="1100" b="0" i="0">
                <a:solidFill>
                  <a:srgbClr val="262626"/>
                </a:solidFill>
                <a:latin typeface="Calibri"/>
              </a:rPr>
              <a:t>Upcoming</a:t>
            </a:r>
          </a:p>
        </p:txBody>
      </p:sp>
      <p:sp>
        <p:nvSpPr>
          <p:cNvPr id="136" name="TextBox 135">
            <a:extLst>
              <a:ext uri="{FF2B5EF4-FFF2-40B4-BE49-F238E27FC236}">
                <a16:creationId xmlns:a16="http://schemas.microsoft.com/office/drawing/2014/main" id="{F4F734E6-2131-F8EA-7EEB-D73D8FB9540C}"/>
              </a:ext>
            </a:extLst>
          </p:cNvPr>
          <p:cNvSpPr txBox="1"/>
          <p:nvPr/>
        </p:nvSpPr>
        <p:spPr>
          <a:xfrm>
            <a:off x="7514508" y="6253391"/>
            <a:ext cx="1768112" cy="169277"/>
          </a:xfrm>
          <a:prstGeom prst="rect">
            <a:avLst/>
          </a:prstGeom>
          <a:noFill/>
        </p:spPr>
        <p:txBody>
          <a:bodyPr wrap="none" lIns="0" tIns="0" rIns="0" bIns="0" anchor="ctr">
            <a:spAutoFit/>
          </a:bodyPr>
          <a:lstStyle/>
          <a:p>
            <a:pPr algn="r"/>
            <a:r>
              <a:rPr sz="1100" b="1" i="0" dirty="0">
                <a:solidFill>
                  <a:srgbClr val="BC312C"/>
                </a:solidFill>
                <a:latin typeface="Calibri"/>
              </a:rPr>
              <a:t>Final Presentation — Week 15</a:t>
            </a:r>
          </a:p>
        </p:txBody>
      </p:sp>
      <p:sp>
        <p:nvSpPr>
          <p:cNvPr id="138" name="Rectangle 137">
            <a:extLst>
              <a:ext uri="{FF2B5EF4-FFF2-40B4-BE49-F238E27FC236}">
                <a16:creationId xmlns:a16="http://schemas.microsoft.com/office/drawing/2014/main" id="{14974598-9651-73EA-9553-F5F6333C78F9}"/>
              </a:ext>
            </a:extLst>
          </p:cNvPr>
          <p:cNvSpPr/>
          <p:nvPr/>
        </p:nvSpPr>
        <p:spPr>
          <a:xfrm>
            <a:off x="2813528" y="1892664"/>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0" name="Rounded Rectangle 84">
            <a:extLst>
              <a:ext uri="{FF2B5EF4-FFF2-40B4-BE49-F238E27FC236}">
                <a16:creationId xmlns:a16="http://schemas.microsoft.com/office/drawing/2014/main" id="{0C2E36B2-5BD0-D7BF-2DF8-FC1D029E82DC}"/>
              </a:ext>
            </a:extLst>
          </p:cNvPr>
          <p:cNvSpPr/>
          <p:nvPr/>
        </p:nvSpPr>
        <p:spPr>
          <a:xfrm>
            <a:off x="4804542" y="3630017"/>
            <a:ext cx="1755960" cy="272652"/>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extLst>
      <p:ext uri="{BB962C8B-B14F-4D97-AF65-F5344CB8AC3E}">
        <p14:creationId xmlns:p14="http://schemas.microsoft.com/office/powerpoint/2010/main" val="504084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5783-801C-8175-636A-6C18153D9B9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7B6D058-215A-5F02-9D58-174CB5830AA9}"/>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2DF58CA-7E59-01C7-772B-00F5A01484D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EE1D4AF-F88E-E8B9-67B9-D0A3905DFF5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3243168D-3CC4-85FA-ACAC-CF3663EF9B98}"/>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71103C5-9D29-29DD-D818-CB402D81C27E}"/>
              </a:ext>
            </a:extLst>
          </p:cNvPr>
          <p:cNvSpPr>
            <a:spLocks noGrp="1"/>
          </p:cNvSpPr>
          <p:nvPr>
            <p:ph type="sldNum" sz="quarter" idx="12"/>
          </p:nvPr>
        </p:nvSpPr>
        <p:spPr/>
        <p:txBody>
          <a:bodyPr/>
          <a:lstStyle/>
          <a:p>
            <a:fld id="{9DC013F7-6D70-4318-BA41-212A9B59413B}" type="slidenum">
              <a:rPr lang="en-US" smtClean="0"/>
              <a:t>14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51372748-D24B-EB39-761C-B66E509A886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705B893-234A-69FF-C100-049393CC2B63}"/>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523B55B9-E290-A45C-844E-82414C2C8FB1}"/>
              </a:ext>
            </a:extLst>
          </p:cNvPr>
          <p:cNvSpPr/>
          <p:nvPr/>
        </p:nvSpPr>
        <p:spPr>
          <a:xfrm>
            <a:off x="311639" y="1187896"/>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(1/2)</a:t>
            </a:r>
            <a:endParaRPr lang="en-US" sz="2700" dirty="0"/>
          </a:p>
        </p:txBody>
      </p:sp>
      <p:sp>
        <p:nvSpPr>
          <p:cNvPr id="12" name="Shape 4">
            <a:extLst>
              <a:ext uri="{FF2B5EF4-FFF2-40B4-BE49-F238E27FC236}">
                <a16:creationId xmlns:a16="http://schemas.microsoft.com/office/drawing/2014/main" id="{288E3F41-028A-0327-3C64-A881C898F0C7}"/>
              </a:ext>
            </a:extLst>
          </p:cNvPr>
          <p:cNvSpPr/>
          <p:nvPr/>
        </p:nvSpPr>
        <p:spPr>
          <a:xfrm flipV="1">
            <a:off x="311639" y="1788974"/>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2F76CC29-DF59-0BA0-E68F-2DB3CFED1BAB}"/>
              </a:ext>
            </a:extLst>
          </p:cNvPr>
          <p:cNvSpPr txBox="1"/>
          <p:nvPr/>
        </p:nvSpPr>
        <p:spPr>
          <a:xfrm>
            <a:off x="311639" y="1891347"/>
            <a:ext cx="4474965" cy="4254947"/>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 K. S. Aqila et al., “Comparative Evaluation of SARIMA, FB Prophet, and LSTM for Hourly Demand Forecasting in </a:t>
            </a:r>
            <a:r>
              <a:rPr sz="1300" dirty="0" err="1">
                <a:solidFill>
                  <a:srgbClr val="262626"/>
                </a:solidFill>
                <a:latin typeface="Calibri"/>
              </a:rPr>
              <a:t>Saudagar</a:t>
            </a:r>
            <a:r>
              <a:rPr sz="1300" dirty="0">
                <a:solidFill>
                  <a:srgbClr val="262626"/>
                </a:solidFill>
                <a:latin typeface="Calibri"/>
              </a:rPr>
              <a:t> Kopi,” 2026.</a:t>
            </a:r>
          </a:p>
          <a:p>
            <a:pPr>
              <a:lnSpc>
                <a:spcPct val="105000"/>
              </a:lnSpc>
              <a:spcAft>
                <a:spcPts val="900"/>
              </a:spcAft>
            </a:pPr>
            <a:r>
              <a:rPr sz="1300" dirty="0">
                <a:solidFill>
                  <a:srgbClr val="262626"/>
                </a:solidFill>
                <a:latin typeface="Calibri"/>
              </a:rPr>
              <a:t>[2] Sandeep V et al., “Smart Sales Forecasting Machine Learning Models for Demand Prediction in Retail,” 2025.</a:t>
            </a:r>
          </a:p>
          <a:p>
            <a:pPr>
              <a:lnSpc>
                <a:spcPct val="105000"/>
              </a:lnSpc>
              <a:spcAft>
                <a:spcPts val="900"/>
              </a:spcAft>
            </a:pPr>
            <a:r>
              <a:rPr sz="1300" dirty="0">
                <a:solidFill>
                  <a:srgbClr val="262626"/>
                </a:solidFill>
                <a:latin typeface="Calibri"/>
              </a:rPr>
              <a:t>[3] M. Kamboj et al., “State-Level Drug Retail Sales Forecasting Using </a:t>
            </a:r>
            <a:r>
              <a:rPr sz="1300" dirty="0" err="1">
                <a:solidFill>
                  <a:srgbClr val="262626"/>
                </a:solidFill>
                <a:latin typeface="Calibri"/>
              </a:rPr>
              <a:t>XGBoost</a:t>
            </a:r>
            <a:r>
              <a:rPr sz="1300" dirty="0">
                <a:solidFill>
                  <a:srgbClr val="262626"/>
                </a:solidFill>
                <a:latin typeface="Calibri"/>
              </a:rPr>
              <a:t> and Facebook Prophet,” 2025.</a:t>
            </a:r>
          </a:p>
          <a:p>
            <a:pPr>
              <a:lnSpc>
                <a:spcPct val="105000"/>
              </a:lnSpc>
              <a:spcAft>
                <a:spcPts val="900"/>
              </a:spcAft>
            </a:pPr>
            <a:r>
              <a:rPr sz="1300" dirty="0">
                <a:solidFill>
                  <a:srgbClr val="262626"/>
                </a:solidFill>
                <a:latin typeface="Calibri"/>
              </a:rPr>
              <a:t>[4] T. Gärtner, C. Lippert, and S. </a:t>
            </a:r>
            <a:r>
              <a:rPr sz="1300" dirty="0" err="1">
                <a:solidFill>
                  <a:srgbClr val="262626"/>
                </a:solidFill>
                <a:latin typeface="Calibri"/>
              </a:rPr>
              <a:t>Konigorski</a:t>
            </a:r>
            <a:r>
              <a:rPr sz="1300" dirty="0">
                <a:solidFill>
                  <a:srgbClr val="262626"/>
                </a:solidFill>
                <a:latin typeface="Calibri"/>
              </a:rPr>
              <a:t>, “Automated Demand Forecasting in Small to Medium-Sized Enterprises,” 2024.</a:t>
            </a:r>
          </a:p>
          <a:p>
            <a:pPr>
              <a:lnSpc>
                <a:spcPct val="105000"/>
              </a:lnSpc>
              <a:spcAft>
                <a:spcPts val="900"/>
              </a:spcAft>
            </a:pPr>
            <a:r>
              <a:rPr sz="1300" dirty="0">
                <a:solidFill>
                  <a:srgbClr val="262626"/>
                </a:solidFill>
                <a:latin typeface="Calibri"/>
              </a:rPr>
              <a:t>[5] P. Ganguly and I. Mukherjee, “Enhancing Retail Sales Forecasting with Optimized Machine Learning Models,” 2024.</a:t>
            </a:r>
          </a:p>
          <a:p>
            <a:pPr>
              <a:lnSpc>
                <a:spcPct val="105000"/>
              </a:lnSpc>
              <a:spcAft>
                <a:spcPts val="900"/>
              </a:spcAft>
            </a:pPr>
            <a:r>
              <a:rPr sz="1300" dirty="0">
                <a:solidFill>
                  <a:srgbClr val="262626"/>
                </a:solidFill>
                <a:latin typeface="Calibri"/>
              </a:rPr>
              <a:t>[6] H. </a:t>
            </a:r>
            <a:r>
              <a:rPr sz="1300" dirty="0" err="1">
                <a:solidFill>
                  <a:srgbClr val="262626"/>
                </a:solidFill>
                <a:latin typeface="Calibri"/>
              </a:rPr>
              <a:t>Jatte</a:t>
            </a:r>
            <a:r>
              <a:rPr sz="1300" dirty="0">
                <a:solidFill>
                  <a:srgbClr val="262626"/>
                </a:solidFill>
                <a:latin typeface="Calibri"/>
              </a:rPr>
              <a:t> et al., “Optimization of Forecasting Performance in the Retail Sector Using Artificial Intelligence,” 2025.</a:t>
            </a:r>
          </a:p>
          <a:p>
            <a:pPr>
              <a:lnSpc>
                <a:spcPct val="105000"/>
              </a:lnSpc>
              <a:spcAft>
                <a:spcPts val="900"/>
              </a:spcAft>
            </a:pPr>
            <a:r>
              <a:rPr sz="1300" dirty="0">
                <a:solidFill>
                  <a:srgbClr val="262626"/>
                </a:solidFill>
                <a:latin typeface="Calibri"/>
              </a:rPr>
              <a:t>[7] N. Groene and S. Zakharov, “Introduction of AI-based sales forecasting: how to drive digital transformation in food and beverage outlets,” Discover Artificial Intelligence, vol. 4, no. 1, 2024.</a:t>
            </a:r>
          </a:p>
        </p:txBody>
      </p:sp>
      <p:sp>
        <p:nvSpPr>
          <p:cNvPr id="16" name="TextBox 15">
            <a:extLst>
              <a:ext uri="{FF2B5EF4-FFF2-40B4-BE49-F238E27FC236}">
                <a16:creationId xmlns:a16="http://schemas.microsoft.com/office/drawing/2014/main" id="{61873B2A-8B7E-9B9D-78E2-EB3A73903874}"/>
              </a:ext>
            </a:extLst>
          </p:cNvPr>
          <p:cNvSpPr txBox="1"/>
          <p:nvPr/>
        </p:nvSpPr>
        <p:spPr>
          <a:xfrm>
            <a:off x="5119398" y="1914035"/>
            <a:ext cx="447496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[8] A. K. Güler et al., “Forecasting Restaurant Sales with the Sensitivity of Weather Conditions and Special Days Using Facebook Prophet,” Journal of Data Applications, 202</a:t>
            </a:r>
            <a:r>
              <a:rPr lang="en-IN" sz="1300">
                <a:solidFill>
                  <a:srgbClr val="262626"/>
                </a:solidFill>
                <a:latin typeface="Calibri"/>
              </a:rPr>
              <a:t>4</a:t>
            </a:r>
            <a:r>
              <a:rPr sz="1300">
                <a:solidFill>
                  <a:srgbClr val="262626"/>
                </a:solidFill>
                <a:latin typeface="Calibri"/>
              </a:rPr>
              <a:t>.</a:t>
            </a:r>
            <a:endParaRPr sz="1300" dirty="0">
              <a:solidFill>
                <a:srgbClr val="262626"/>
              </a:solidFill>
              <a:latin typeface="Calibri"/>
            </a:endParaRPr>
          </a:p>
          <a:p>
            <a:pPr>
              <a:lnSpc>
                <a:spcPct val="105000"/>
              </a:lnSpc>
              <a:spcAft>
                <a:spcPts val="900"/>
              </a:spcAft>
            </a:pPr>
            <a:r>
              <a:rPr sz="1300" dirty="0">
                <a:solidFill>
                  <a:srgbClr val="262626"/>
                </a:solidFill>
                <a:latin typeface="Calibri"/>
              </a:rPr>
              <a:t>[9] J. C. Susanto et al., “Performance Analysis of Time Series Models to Predict Sales Activity of SMEs,” 2026.</a:t>
            </a:r>
          </a:p>
          <a:p>
            <a:pPr>
              <a:lnSpc>
                <a:spcPct val="105000"/>
              </a:lnSpc>
              <a:spcAft>
                <a:spcPts val="900"/>
              </a:spcAft>
            </a:pPr>
            <a:r>
              <a:rPr sz="1300" dirty="0">
                <a:solidFill>
                  <a:srgbClr val="262626"/>
                </a:solidFill>
                <a:latin typeface="Calibri"/>
              </a:rPr>
              <a:t>[10] M. A. Munawar and I. D. Sudirman, “LSTM-Based Hourly Sales Forecasting in SME Food and Beverage Retail,” 2026.</a:t>
            </a:r>
          </a:p>
          <a:p>
            <a:pPr>
              <a:lnSpc>
                <a:spcPct val="105000"/>
              </a:lnSpc>
              <a:spcAft>
                <a:spcPts val="900"/>
              </a:spcAft>
            </a:pPr>
            <a:r>
              <a:rPr sz="1300" dirty="0">
                <a:solidFill>
                  <a:srgbClr val="262626"/>
                </a:solidFill>
                <a:latin typeface="Calibri"/>
              </a:rPr>
              <a:t>[11] S. </a:t>
            </a:r>
            <a:r>
              <a:rPr sz="1300" dirty="0" err="1">
                <a:solidFill>
                  <a:srgbClr val="262626"/>
                </a:solidFill>
                <a:latin typeface="Calibri"/>
              </a:rPr>
              <a:t>Vyakarnam</a:t>
            </a:r>
            <a:r>
              <a:rPr sz="1300" dirty="0">
                <a:solidFill>
                  <a:srgbClr val="262626"/>
                </a:solidFill>
                <a:latin typeface="Calibri"/>
              </a:rPr>
              <a:t> et al., “Optimizing Supply Chain Management for Small and Medium-Sized Businesses Using AI: A Comparative Analysis of GPT-4.5, Grok 3, Gemini 2.0, and DeepSeek R-1,” SERA 2025, 2025.</a:t>
            </a:r>
          </a:p>
          <a:p>
            <a:pPr>
              <a:lnSpc>
                <a:spcPct val="105000"/>
              </a:lnSpc>
              <a:spcAft>
                <a:spcPts val="900"/>
              </a:spcAft>
            </a:pPr>
            <a:r>
              <a:rPr sz="1300" dirty="0">
                <a:solidFill>
                  <a:srgbClr val="262626"/>
                </a:solidFill>
                <a:latin typeface="Calibri"/>
              </a:rPr>
              <a:t>[12] </a:t>
            </a:r>
            <a:r>
              <a:rPr sz="1300" dirty="0" err="1">
                <a:solidFill>
                  <a:srgbClr val="262626"/>
                </a:solidFill>
                <a:latin typeface="Calibri"/>
              </a:rPr>
              <a:t>Yuniarty</a:t>
            </a:r>
            <a:r>
              <a:rPr sz="1300" dirty="0">
                <a:solidFill>
                  <a:srgbClr val="262626"/>
                </a:solidFill>
                <a:latin typeface="Calibri"/>
              </a:rPr>
              <a:t> et al., “Technology Acceptance and Security Influences on AI Adoption among Small and Medium Enterprises,” 2025.</a:t>
            </a:r>
          </a:p>
          <a:p>
            <a:pPr>
              <a:lnSpc>
                <a:spcPct val="105000"/>
              </a:lnSpc>
              <a:spcAft>
                <a:spcPts val="900"/>
              </a:spcAft>
            </a:pPr>
            <a:r>
              <a:rPr sz="1300" dirty="0">
                <a:solidFill>
                  <a:srgbClr val="262626"/>
                </a:solidFill>
                <a:latin typeface="Calibri"/>
              </a:rPr>
              <a:t>[13] T. Aree and P. </a:t>
            </a:r>
            <a:r>
              <a:rPr sz="1300" dirty="0" err="1">
                <a:solidFill>
                  <a:srgbClr val="262626"/>
                </a:solidFill>
                <a:latin typeface="Calibri"/>
              </a:rPr>
              <a:t>Ueasangkomsate</a:t>
            </a:r>
            <a:r>
              <a:rPr sz="1300" dirty="0">
                <a:solidFill>
                  <a:srgbClr val="262626"/>
                </a:solidFill>
                <a:latin typeface="Calibri"/>
              </a:rPr>
              <a:t>, “Technology Adoption of MSMEs in Food Supply Chain: The Role of AI in Traceability and Transparency,” 2025.</a:t>
            </a:r>
          </a:p>
        </p:txBody>
      </p:sp>
    </p:spTree>
    <p:extLst>
      <p:ext uri="{BB962C8B-B14F-4D97-AF65-F5344CB8AC3E}">
        <p14:creationId xmlns:p14="http://schemas.microsoft.com/office/powerpoint/2010/main" val="3624634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09487-A311-520D-D565-A7D57124452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6745D7B-C00A-35A9-0466-A7B294905FAF}"/>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230B179-0DB1-4586-4842-CD278946AE09}"/>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92C2F7DD-D9D9-08D4-06B5-CAAFF56556E0}"/>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797B42B-420F-D5D4-8EF9-B67EB2A8A6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815C31CB-105C-C228-28EE-3B0DA9C42A5B}"/>
              </a:ext>
            </a:extLst>
          </p:cNvPr>
          <p:cNvSpPr>
            <a:spLocks noGrp="1"/>
          </p:cNvSpPr>
          <p:nvPr>
            <p:ph type="sldNum" sz="quarter" idx="12"/>
          </p:nvPr>
        </p:nvSpPr>
        <p:spPr/>
        <p:txBody>
          <a:bodyPr/>
          <a:lstStyle/>
          <a:p>
            <a:fld id="{9DC013F7-6D70-4318-BA41-212A9B59413B}" type="slidenum">
              <a:rPr lang="en-US" smtClean="0"/>
              <a:t>15</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A5B0FEC-A4BD-1856-BC44-B0605F4DBED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995DAD4-C416-C5AB-DAB5-2B56D0D8166D}"/>
              </a:ext>
            </a:extLst>
          </p:cNvPr>
          <p:cNvSpPr/>
          <p:nvPr/>
        </p:nvSpPr>
        <p:spPr>
          <a:xfrm>
            <a:off x="222696" y="1193283"/>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932BC5E-4777-C55C-CE76-65A834624D5C}"/>
              </a:ext>
            </a:extLst>
          </p:cNvPr>
          <p:cNvSpPr/>
          <p:nvPr/>
        </p:nvSpPr>
        <p:spPr>
          <a:xfrm>
            <a:off x="222696" y="1193283"/>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(2/2)</a:t>
            </a:r>
            <a:endParaRPr lang="en-US" sz="2700" dirty="0"/>
          </a:p>
        </p:txBody>
      </p:sp>
      <p:sp>
        <p:nvSpPr>
          <p:cNvPr id="12" name="Shape 4">
            <a:extLst>
              <a:ext uri="{FF2B5EF4-FFF2-40B4-BE49-F238E27FC236}">
                <a16:creationId xmlns:a16="http://schemas.microsoft.com/office/drawing/2014/main" id="{C99C8616-AD1C-5FB0-2DC7-EA0F781717E9}"/>
              </a:ext>
            </a:extLst>
          </p:cNvPr>
          <p:cNvSpPr/>
          <p:nvPr/>
        </p:nvSpPr>
        <p:spPr>
          <a:xfrm flipV="1">
            <a:off x="157685" y="1759006"/>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97BECDD1-200D-99FF-4276-3EA774324097}"/>
              </a:ext>
            </a:extLst>
          </p:cNvPr>
          <p:cNvSpPr txBox="1"/>
          <p:nvPr/>
        </p:nvSpPr>
        <p:spPr>
          <a:xfrm>
            <a:off x="222696" y="1896734"/>
            <a:ext cx="450637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[14] K. </a:t>
            </a:r>
            <a:r>
              <a:rPr sz="1300" dirty="0" err="1">
                <a:solidFill>
                  <a:srgbClr val="262626"/>
                </a:solidFill>
                <a:latin typeface="Calibri"/>
              </a:rPr>
              <a:t>Somjaipeng</a:t>
            </a:r>
            <a:r>
              <a:rPr sz="1300" dirty="0">
                <a:solidFill>
                  <a:srgbClr val="262626"/>
                </a:solidFill>
                <a:latin typeface="Calibri"/>
              </a:rPr>
              <a:t> and W. </a:t>
            </a:r>
            <a:r>
              <a:rPr sz="1300" dirty="0" err="1">
                <a:solidFill>
                  <a:srgbClr val="262626"/>
                </a:solidFill>
                <a:latin typeface="Calibri"/>
              </a:rPr>
              <a:t>Jitsakul</a:t>
            </a:r>
            <a:r>
              <a:rPr sz="1300" dirty="0">
                <a:solidFill>
                  <a:srgbClr val="262626"/>
                </a:solidFill>
                <a:latin typeface="Calibri"/>
              </a:rPr>
              <a:t>, “Factors influencing audit quality through the acceptance and use of AI by auditors in Thailand affiliated with SMEs audit firms,” 2026.</a:t>
            </a:r>
          </a:p>
          <a:p>
            <a:pPr>
              <a:lnSpc>
                <a:spcPct val="105000"/>
              </a:lnSpc>
              <a:spcAft>
                <a:spcPts val="900"/>
              </a:spcAft>
            </a:pPr>
            <a:r>
              <a:rPr sz="1300" dirty="0">
                <a:solidFill>
                  <a:srgbClr val="262626"/>
                </a:solidFill>
                <a:latin typeface="Calibri"/>
              </a:rPr>
              <a:t>[15] S. Srivastava et al., “Predictive Marketing and Sales Analytics Using Machine Learning for Small and Medium E-Commerce Enterprises,” 2026.</a:t>
            </a:r>
          </a:p>
          <a:p>
            <a:pPr>
              <a:lnSpc>
                <a:spcPct val="105000"/>
              </a:lnSpc>
              <a:spcAft>
                <a:spcPts val="900"/>
              </a:spcAft>
            </a:pPr>
            <a:r>
              <a:rPr sz="1300" dirty="0">
                <a:solidFill>
                  <a:srgbClr val="262626"/>
                </a:solidFill>
                <a:latin typeface="Calibri"/>
              </a:rPr>
              <a:t>[16] Lalitha R et al., “Enhanced Sales Forecasting of Perishable and Non-Perishable Goods Using Weather Data with Insights on Imports and Price Sensitivity,” 2025.</a:t>
            </a:r>
          </a:p>
          <a:p>
            <a:pPr>
              <a:lnSpc>
                <a:spcPct val="105000"/>
              </a:lnSpc>
              <a:spcAft>
                <a:spcPts val="900"/>
              </a:spcAft>
            </a:pPr>
            <a:r>
              <a:rPr sz="1300" dirty="0">
                <a:solidFill>
                  <a:srgbClr val="262626"/>
                </a:solidFill>
                <a:latin typeface="Calibri"/>
              </a:rPr>
              <a:t>[17] N. Jain et al., “Weather-Integrated Recommendations for Food Choices with SHAP Explanation,” 2024.</a:t>
            </a:r>
          </a:p>
          <a:p>
            <a:pPr>
              <a:lnSpc>
                <a:spcPct val="105000"/>
              </a:lnSpc>
              <a:spcAft>
                <a:spcPts val="900"/>
              </a:spcAft>
            </a:pPr>
            <a:r>
              <a:rPr sz="1300" dirty="0">
                <a:solidFill>
                  <a:srgbClr val="262626"/>
                </a:solidFill>
                <a:latin typeface="Calibri"/>
              </a:rPr>
              <a:t>[18] N. U. H. Qureshi et al., “Demand Forecasting in Supply Chain Management for Rossmann Stores using Weather Enhanced Deep Learning Model,” 2024.</a:t>
            </a:r>
          </a:p>
          <a:p>
            <a:pPr>
              <a:lnSpc>
                <a:spcPct val="105000"/>
              </a:lnSpc>
              <a:spcAft>
                <a:spcPts val="900"/>
              </a:spcAft>
            </a:pPr>
            <a:r>
              <a:rPr sz="1300" dirty="0">
                <a:solidFill>
                  <a:srgbClr val="262626"/>
                </a:solidFill>
                <a:latin typeface="Calibri"/>
              </a:rPr>
              <a:t>[19] I. </a:t>
            </a:r>
            <a:r>
              <a:rPr sz="1300" dirty="0" err="1">
                <a:solidFill>
                  <a:srgbClr val="262626"/>
                </a:solidFill>
                <a:latin typeface="Calibri"/>
              </a:rPr>
              <a:t>Rahmatillah</a:t>
            </a:r>
            <a:r>
              <a:rPr sz="1300" dirty="0">
                <a:solidFill>
                  <a:srgbClr val="262626"/>
                </a:solidFill>
                <a:latin typeface="Calibri"/>
              </a:rPr>
              <a:t>, </a:t>
            </a:r>
            <a:r>
              <a:rPr sz="1300" dirty="0" err="1">
                <a:solidFill>
                  <a:srgbClr val="262626"/>
                </a:solidFill>
                <a:latin typeface="Calibri"/>
              </a:rPr>
              <a:t>Herwanto</a:t>
            </a:r>
            <a:r>
              <a:rPr sz="1300" dirty="0">
                <a:solidFill>
                  <a:srgbClr val="262626"/>
                </a:solidFill>
                <a:latin typeface="Calibri"/>
              </a:rPr>
              <a:t>, and Sudirman, “Evaluation of Optimized LSTM and Moving Average in SME Inventory Forecasting and Simulation,” 2026.</a:t>
            </a:r>
          </a:p>
        </p:txBody>
      </p:sp>
      <p:sp>
        <p:nvSpPr>
          <p:cNvPr id="16" name="TextBox 15">
            <a:extLst>
              <a:ext uri="{FF2B5EF4-FFF2-40B4-BE49-F238E27FC236}">
                <a16:creationId xmlns:a16="http://schemas.microsoft.com/office/drawing/2014/main" id="{446562A5-FDB0-D14B-BEC4-1623355CF2AB}"/>
              </a:ext>
            </a:extLst>
          </p:cNvPr>
          <p:cNvSpPr txBox="1"/>
          <p:nvPr/>
        </p:nvSpPr>
        <p:spPr>
          <a:xfrm>
            <a:off x="5207795" y="1819352"/>
            <a:ext cx="44332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[20] M. Cherian et al., “Demand Forecasting System for Small Business Optimization,” 5th International Conference on Intelligent Technologies, 2025.</a:t>
            </a:r>
          </a:p>
          <a:p>
            <a:pPr>
              <a:lnSpc>
                <a:spcPct val="105000"/>
              </a:lnSpc>
              <a:spcAft>
                <a:spcPts val="900"/>
              </a:spcAft>
            </a:pPr>
            <a:r>
              <a:rPr sz="1300" dirty="0">
                <a:solidFill>
                  <a:srgbClr val="262626"/>
                </a:solidFill>
                <a:latin typeface="Calibri"/>
              </a:rPr>
              <a:t>[21] M. Padmavathy et al., “AI-Driven Predictive Analytics for Sustainable Restaurant Operations and Waste Minimization,” 2025.</a:t>
            </a:r>
          </a:p>
          <a:p>
            <a:pPr>
              <a:lnSpc>
                <a:spcPct val="105000"/>
              </a:lnSpc>
              <a:spcAft>
                <a:spcPts val="900"/>
              </a:spcAft>
            </a:pPr>
            <a:r>
              <a:rPr sz="1300" dirty="0">
                <a:solidFill>
                  <a:srgbClr val="262626"/>
                </a:solidFill>
                <a:latin typeface="Calibri"/>
              </a:rPr>
              <a:t>[22] K. </a:t>
            </a:r>
            <a:r>
              <a:rPr sz="1300" dirty="0" err="1">
                <a:solidFill>
                  <a:srgbClr val="262626"/>
                </a:solidFill>
                <a:latin typeface="Calibri"/>
              </a:rPr>
              <a:t>Avuduri</a:t>
            </a:r>
            <a:r>
              <a:rPr sz="1300" dirty="0">
                <a:solidFill>
                  <a:srgbClr val="262626"/>
                </a:solidFill>
                <a:latin typeface="Calibri"/>
              </a:rPr>
              <a:t> and M. L. V, “Smart Stock: Automating Inventory Management for Small Warehouses with Real-Time Intelligence,” 2025.</a:t>
            </a:r>
          </a:p>
          <a:p>
            <a:pPr>
              <a:lnSpc>
                <a:spcPct val="105000"/>
              </a:lnSpc>
              <a:spcAft>
                <a:spcPts val="900"/>
              </a:spcAft>
            </a:pPr>
            <a:r>
              <a:rPr sz="1300" dirty="0">
                <a:solidFill>
                  <a:srgbClr val="262626"/>
                </a:solidFill>
                <a:latin typeface="Calibri"/>
              </a:rPr>
              <a:t>[23] S. Chowdhury, S. Swetha, and P. Prasad, “Predictive Analytics in Food Supply Chain and Waste Management,” 2025.</a:t>
            </a:r>
          </a:p>
          <a:p>
            <a:pPr>
              <a:lnSpc>
                <a:spcPct val="105000"/>
              </a:lnSpc>
              <a:spcAft>
                <a:spcPts val="900"/>
              </a:spcAft>
            </a:pPr>
            <a:r>
              <a:rPr sz="1300" dirty="0">
                <a:solidFill>
                  <a:srgbClr val="262626"/>
                </a:solidFill>
                <a:latin typeface="Calibri"/>
              </a:rPr>
              <a:t>[24] G. Sakuda, J. Leon, and R. Rojas, “Mobile Application for the Intelligent Management of Small Shops Using the GPT-4 Model,” 2024.</a:t>
            </a:r>
          </a:p>
          <a:p>
            <a:pPr>
              <a:lnSpc>
                <a:spcPct val="105000"/>
              </a:lnSpc>
              <a:spcAft>
                <a:spcPts val="900"/>
              </a:spcAft>
            </a:pPr>
            <a:r>
              <a:rPr sz="1300" dirty="0">
                <a:solidFill>
                  <a:srgbClr val="262626"/>
                </a:solidFill>
                <a:latin typeface="Calibri"/>
              </a:rPr>
              <a:t>[25] T. </a:t>
            </a:r>
            <a:r>
              <a:rPr sz="1300" dirty="0" err="1">
                <a:solidFill>
                  <a:srgbClr val="262626"/>
                </a:solidFill>
                <a:latin typeface="Calibri"/>
              </a:rPr>
              <a:t>Janchidfah</a:t>
            </a:r>
            <a:r>
              <a:rPr sz="1300" dirty="0">
                <a:solidFill>
                  <a:srgbClr val="262626"/>
                </a:solidFill>
                <a:latin typeface="Calibri"/>
              </a:rPr>
              <a:t> et al., “A Mobile Application for Inventory Management to Support Digital Transformation in Small Retail Businesses,” 2026.</a:t>
            </a:r>
          </a:p>
        </p:txBody>
      </p:sp>
    </p:spTree>
    <p:extLst>
      <p:ext uri="{BB962C8B-B14F-4D97-AF65-F5344CB8AC3E}">
        <p14:creationId xmlns:p14="http://schemas.microsoft.com/office/powerpoint/2010/main" val="3910174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B9D12C0-2B1D-DD79-C784-6E764CA48022}"/>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Google Shape;203;g22f13355470_0_53">
            <a:extLst>
              <a:ext uri="{FF2B5EF4-FFF2-40B4-BE49-F238E27FC236}">
                <a16:creationId xmlns:a16="http://schemas.microsoft.com/office/drawing/2014/main" id="{8A9D94C2-3C6F-8E28-5CB9-B8C332048D91}"/>
              </a:ext>
            </a:extLst>
          </p:cNvPr>
          <p:cNvSpPr txBox="1">
            <a:spLocks/>
          </p:cNvSpPr>
          <p:nvPr/>
        </p:nvSpPr>
        <p:spPr>
          <a:xfrm flipH="1">
            <a:off x="770401" y="1646812"/>
            <a:ext cx="8229600" cy="3648364"/>
          </a:xfrm>
          <a:prstGeom prst="rect">
            <a:avLst/>
          </a:prstGeom>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IN" sz="44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6172643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2275</TotalTime>
  <Words>2559</Words>
  <Application>Microsoft Office PowerPoint</Application>
  <PresentationFormat>A4 Paper (210x297 mm)</PresentationFormat>
  <Paragraphs>277</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Book Antiqua</vt:lpstr>
      <vt:lpstr>Calibri</vt:lpstr>
      <vt:lpstr>Calibri Light</vt:lpstr>
      <vt:lpstr>Cambria</vt:lpstr>
      <vt:lpstr>Teko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Harshal Kotwal</dc:creator>
  <cp:lastModifiedBy>YATIN PATIL</cp:lastModifiedBy>
  <cp:revision>294</cp:revision>
  <cp:lastPrinted>2021-08-30T13:16:05Z</cp:lastPrinted>
  <dcterms:created xsi:type="dcterms:W3CDTF">2021-01-07T05:11:47Z</dcterms:created>
  <dcterms:modified xsi:type="dcterms:W3CDTF">2026-08-08T05:09:48Z</dcterms:modified>
</cp:coreProperties>
</file>