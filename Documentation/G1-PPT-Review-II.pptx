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22"/>
  </p:notesMasterIdLst>
  <p:handoutMasterIdLst>
    <p:handoutMasterId r:id="rId23"/>
  </p:handoutMasterIdLst>
  <p:sldIdLst>
    <p:sldId id="256" r:id="rId2"/>
    <p:sldId id="271" r:id="rId3"/>
    <p:sldId id="272" r:id="rId4"/>
    <p:sldId id="273" r:id="rId5"/>
    <p:sldId id="285" r:id="rId6"/>
    <p:sldId id="286" r:id="rId7"/>
    <p:sldId id="293" r:id="rId8"/>
    <p:sldId id="296" r:id="rId9"/>
    <p:sldId id="297" r:id="rId10"/>
    <p:sldId id="298" r:id="rId11"/>
    <p:sldId id="300" r:id="rId12"/>
    <p:sldId id="301" r:id="rId13"/>
    <p:sldId id="303" r:id="rId14"/>
    <p:sldId id="308" r:id="rId15"/>
    <p:sldId id="258" r:id="rId16"/>
    <p:sldId id="294" r:id="rId17"/>
    <p:sldId id="309" r:id="rId18"/>
    <p:sldId id="291" r:id="rId19"/>
    <p:sldId id="292" r:id="rId20"/>
    <p:sldId id="295" r:id="rId21"/>
  </p:sldIdLst>
  <p:sldSz cx="9906000" cy="6858000" type="A4"/>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3C53E"/>
    <a:srgbClr val="245B8A"/>
    <a:srgbClr val="F3DA6B"/>
    <a:srgbClr val="FCFDFC"/>
    <a:srgbClr val="FEFEFC"/>
    <a:srgbClr val="C62829"/>
    <a:srgbClr val="ED7D3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83D75AE-34B5-F5E5-CE5C-25D49BC59D86}" v="10" dt="2026-09-12T05:20:21.177"/>
  </p1510:revLst>
</p1510:revInfo>
</file>

<file path=ppt/tableStyles.xml><?xml version="1.0" encoding="utf-8"?>
<a:tblStyleLst xmlns:a="http://schemas.openxmlformats.org/drawingml/2006/main" def="{5C22544A-7EE6-4342-B048-85BDC9FD1C3A}">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5033" autoAdjust="0"/>
  </p:normalViewPr>
  <p:slideViewPr>
    <p:cSldViewPr snapToGrid="0">
      <p:cViewPr varScale="1">
        <p:scale>
          <a:sx n="82" d="100"/>
          <a:sy n="82" d="100"/>
        </p:scale>
        <p:origin x="1277"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handoutMaster" Target="handoutMasters/handoutMaster1.xml"/><Relationship Id="rId28"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OUMY RAGHUVANSHI - 70012300116" userId="S::soumy.raghuvanshi116@nmims.in::fdd57e8e-bc1d-4ee4-968e-e4eaa90b3dc0" providerId="AD" clId="Web-{583D75AE-34B5-F5E5-CE5C-25D49BC59D86}"/>
    <pc:docChg chg="modSld">
      <pc:chgData name="SOUMY RAGHUVANSHI - 70012300116" userId="S::soumy.raghuvanshi116@nmims.in::fdd57e8e-bc1d-4ee4-968e-e4eaa90b3dc0" providerId="AD" clId="Web-{583D75AE-34B5-F5E5-CE5C-25D49BC59D86}" dt="2026-09-12T05:20:21.177" v="9" actId="14100"/>
      <pc:docMkLst>
        <pc:docMk/>
      </pc:docMkLst>
      <pc:sldChg chg="addSp modSp">
        <pc:chgData name="SOUMY RAGHUVANSHI - 70012300116" userId="S::soumy.raghuvanshi116@nmims.in::fdd57e8e-bc1d-4ee4-968e-e4eaa90b3dc0" providerId="AD" clId="Web-{583D75AE-34B5-F5E5-CE5C-25D49BC59D86}" dt="2026-09-12T05:20:21.177" v="9" actId="14100"/>
        <pc:sldMkLst>
          <pc:docMk/>
          <pc:sldMk cId="1286622290" sldId="297"/>
        </pc:sldMkLst>
        <pc:picChg chg="add mod">
          <ac:chgData name="SOUMY RAGHUVANSHI - 70012300116" userId="S::soumy.raghuvanshi116@nmims.in::fdd57e8e-bc1d-4ee4-968e-e4eaa90b3dc0" providerId="AD" clId="Web-{583D75AE-34B5-F5E5-CE5C-25D49BC59D86}" dt="2026-09-12T05:20:21.177" v="9" actId="14100"/>
          <ac:picMkLst>
            <pc:docMk/>
            <pc:sldMk cId="1286622290" sldId="297"/>
            <ac:picMk id="12" creationId="{ADC32D62-F8A4-584B-66C9-25F523E4280B}"/>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3ED0C86-FBDC-4F4B-868F-AD75546791C9}" type="datetimeFigureOut">
              <a:rPr lang="en-IN" smtClean="0"/>
              <a:t>12-09-2026</a:t>
            </a:fld>
            <a:endParaRPr lang="en-IN"/>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9DDF0C8-312A-47D5-B2F4-EC84B28678E7}" type="slidenum">
              <a:rPr lang="en-IN" smtClean="0"/>
              <a:t>‹#›</a:t>
            </a:fld>
            <a:endParaRPr lang="en-IN"/>
          </a:p>
        </p:txBody>
      </p:sp>
    </p:spTree>
    <p:extLst>
      <p:ext uri="{BB962C8B-B14F-4D97-AF65-F5344CB8AC3E}">
        <p14:creationId xmlns:p14="http://schemas.microsoft.com/office/powerpoint/2010/main" val="375357703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CA20C9C-43E4-4A05-8258-078FAE48E1C5}" type="datetimeFigureOut">
              <a:rPr lang="en-US" smtClean="0"/>
              <a:t>9/12/2026</a:t>
            </a:fld>
            <a:endParaRPr lang="en-US"/>
          </a:p>
        </p:txBody>
      </p:sp>
      <p:sp>
        <p:nvSpPr>
          <p:cNvPr id="4" name="Slide Image Placeholder 3"/>
          <p:cNvSpPr>
            <a:spLocks noGrp="1" noRot="1" noChangeAspect="1"/>
          </p:cNvSpPr>
          <p:nvPr>
            <p:ph type="sldImg" idx="2"/>
          </p:nvPr>
        </p:nvSpPr>
        <p:spPr>
          <a:xfrm>
            <a:off x="1200150" y="1143000"/>
            <a:ext cx="44577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5ADD2F5-B3BE-4FC0-9A06-F4EF821376E0}" type="slidenum">
              <a:rPr lang="en-US" smtClean="0"/>
              <a:t>‹#›</a:t>
            </a:fld>
            <a:endParaRPr lang="en-US"/>
          </a:p>
        </p:txBody>
      </p:sp>
    </p:spTree>
    <p:extLst>
      <p:ext uri="{BB962C8B-B14F-4D97-AF65-F5344CB8AC3E}">
        <p14:creationId xmlns:p14="http://schemas.microsoft.com/office/powerpoint/2010/main" val="21135195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42950" y="1122363"/>
            <a:ext cx="84201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238250" y="3602038"/>
            <a:ext cx="74295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F8E27762-CF53-41B2-8332-42AC258A58BE}" type="datetime1">
              <a:rPr lang="en-US" smtClean="0"/>
              <a:t>9/12/2026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DC013F7-6D70-4318-BA41-212A9B59413B}" type="slidenum">
              <a:rPr lang="en-US" smtClean="0"/>
              <a:t>‹#›</a:t>
            </a:fld>
            <a:endParaRPr lang="en-US"/>
          </a:p>
        </p:txBody>
      </p:sp>
    </p:spTree>
    <p:extLst>
      <p:ext uri="{BB962C8B-B14F-4D97-AF65-F5344CB8AC3E}">
        <p14:creationId xmlns:p14="http://schemas.microsoft.com/office/powerpoint/2010/main" val="106622153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B0EA483-BB4B-4DBC-931E-3BF85FAE6A67}" type="datetime1">
              <a:rPr lang="en-US" smtClean="0"/>
              <a:t>9/12/2026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DC013F7-6D70-4318-BA41-212A9B59413B}" type="slidenum">
              <a:rPr lang="en-US" smtClean="0"/>
              <a:t>‹#›</a:t>
            </a:fld>
            <a:endParaRPr lang="en-US"/>
          </a:p>
        </p:txBody>
      </p:sp>
    </p:spTree>
    <p:extLst>
      <p:ext uri="{BB962C8B-B14F-4D97-AF65-F5344CB8AC3E}">
        <p14:creationId xmlns:p14="http://schemas.microsoft.com/office/powerpoint/2010/main" val="12594294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5879" y="1709740"/>
            <a:ext cx="8543925"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75879" y="4589465"/>
            <a:ext cx="8543925"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30C27A45-7C51-4151-9B1B-1CA80AE62BB7}" type="datetime1">
              <a:rPr lang="en-US" smtClean="0"/>
              <a:t>9/12/2026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DC013F7-6D70-4318-BA41-212A9B59413B}" type="slidenum">
              <a:rPr lang="en-US" smtClean="0"/>
              <a:t>‹#›</a:t>
            </a:fld>
            <a:endParaRPr lang="en-US"/>
          </a:p>
        </p:txBody>
      </p:sp>
    </p:spTree>
    <p:extLst>
      <p:ext uri="{BB962C8B-B14F-4D97-AF65-F5344CB8AC3E}">
        <p14:creationId xmlns:p14="http://schemas.microsoft.com/office/powerpoint/2010/main" val="39744435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1038" y="1825625"/>
            <a:ext cx="421005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14913" y="1825625"/>
            <a:ext cx="421005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9AF275D-B4B9-451C-BE93-8DB98955D399}" type="datetime1">
              <a:rPr lang="en-US" smtClean="0"/>
              <a:t>9/12/2026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DC013F7-6D70-4318-BA41-212A9B59413B}" type="slidenum">
              <a:rPr lang="en-US" smtClean="0"/>
              <a:t>‹#›</a:t>
            </a:fld>
            <a:endParaRPr lang="en-US"/>
          </a:p>
        </p:txBody>
      </p:sp>
    </p:spTree>
    <p:extLst>
      <p:ext uri="{BB962C8B-B14F-4D97-AF65-F5344CB8AC3E}">
        <p14:creationId xmlns:p14="http://schemas.microsoft.com/office/powerpoint/2010/main" val="11937553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82328" y="365127"/>
            <a:ext cx="8543925"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82329" y="1681163"/>
            <a:ext cx="4190702"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82329" y="2505075"/>
            <a:ext cx="4190702"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14913" y="1681163"/>
            <a:ext cx="4211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5014913" y="2505075"/>
            <a:ext cx="4211340"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111117E-90CC-4F18-B8A4-D8D0F9191E86}" type="datetime1">
              <a:rPr lang="en-US" smtClean="0"/>
              <a:t>9/12/2026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DC013F7-6D70-4318-BA41-212A9B59413B}" type="slidenum">
              <a:rPr lang="en-US" smtClean="0"/>
              <a:t>‹#›</a:t>
            </a:fld>
            <a:endParaRPr lang="en-US"/>
          </a:p>
        </p:txBody>
      </p:sp>
    </p:spTree>
    <p:extLst>
      <p:ext uri="{BB962C8B-B14F-4D97-AF65-F5344CB8AC3E}">
        <p14:creationId xmlns:p14="http://schemas.microsoft.com/office/powerpoint/2010/main" val="14164600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386B89A9-0E18-486C-9BBB-0139AC9D6E2D}" type="datetime1">
              <a:rPr lang="en-US" smtClean="0"/>
              <a:t>9/12/2026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DC013F7-6D70-4318-BA41-212A9B59413B}" type="slidenum">
              <a:rPr lang="en-US" smtClean="0"/>
              <a:t>‹#›</a:t>
            </a:fld>
            <a:endParaRPr lang="en-US"/>
          </a:p>
        </p:txBody>
      </p:sp>
    </p:spTree>
    <p:extLst>
      <p:ext uri="{BB962C8B-B14F-4D97-AF65-F5344CB8AC3E}">
        <p14:creationId xmlns:p14="http://schemas.microsoft.com/office/powerpoint/2010/main" val="21846228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30A26EB-BB09-4DA4-BAE7-6CB857A6EABB}" type="datetime1">
              <a:rPr lang="en-US" smtClean="0"/>
              <a:t>9/12/2026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DC013F7-6D70-4318-BA41-212A9B59413B}" type="slidenum">
              <a:rPr lang="en-US" smtClean="0"/>
              <a:t>‹#›</a:t>
            </a:fld>
            <a:endParaRPr lang="en-US"/>
          </a:p>
        </p:txBody>
      </p:sp>
    </p:spTree>
    <p:extLst>
      <p:ext uri="{BB962C8B-B14F-4D97-AF65-F5344CB8AC3E}">
        <p14:creationId xmlns:p14="http://schemas.microsoft.com/office/powerpoint/2010/main" val="35710157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2328" y="457200"/>
            <a:ext cx="3194943"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4211340" y="987427"/>
            <a:ext cx="5014913"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2328" y="2057400"/>
            <a:ext cx="3194943"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7CDCCE52-B654-4B38-8F99-60DF87FDAE55}" type="datetime1">
              <a:rPr lang="en-US" smtClean="0"/>
              <a:t>9/12/2026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DC013F7-6D70-4318-BA41-212A9B59413B}" type="slidenum">
              <a:rPr lang="en-US" smtClean="0"/>
              <a:t>‹#›</a:t>
            </a:fld>
            <a:endParaRPr lang="en-US"/>
          </a:p>
        </p:txBody>
      </p:sp>
    </p:spTree>
    <p:extLst>
      <p:ext uri="{BB962C8B-B14F-4D97-AF65-F5344CB8AC3E}">
        <p14:creationId xmlns:p14="http://schemas.microsoft.com/office/powerpoint/2010/main" val="403166769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2328" y="457200"/>
            <a:ext cx="3194943"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4211340" y="987427"/>
            <a:ext cx="5014913"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2328" y="2057400"/>
            <a:ext cx="3194943"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88CEAC99-A21A-4B2B-8209-0F0DB40DCF77}" type="datetime1">
              <a:rPr lang="en-US" smtClean="0"/>
              <a:t>9/12/2026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DC013F7-6D70-4318-BA41-212A9B59413B}" type="slidenum">
              <a:rPr lang="en-US" smtClean="0"/>
              <a:t>‹#›</a:t>
            </a:fld>
            <a:endParaRPr lang="en-US"/>
          </a:p>
        </p:txBody>
      </p:sp>
    </p:spTree>
    <p:extLst>
      <p:ext uri="{BB962C8B-B14F-4D97-AF65-F5344CB8AC3E}">
        <p14:creationId xmlns:p14="http://schemas.microsoft.com/office/powerpoint/2010/main" val="29024962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5E31EE7-D61B-4A5B-B5F8-D5F455DA5289}" type="datetime1">
              <a:rPr lang="en-US" smtClean="0"/>
              <a:t>9/12/2026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DC013F7-6D70-4318-BA41-212A9B59413B}" type="slidenum">
              <a:rPr lang="en-US" smtClean="0"/>
              <a:t>‹#›</a:t>
            </a:fld>
            <a:endParaRPr lang="en-US"/>
          </a:p>
        </p:txBody>
      </p:sp>
    </p:spTree>
    <p:extLst>
      <p:ext uri="{BB962C8B-B14F-4D97-AF65-F5344CB8AC3E}">
        <p14:creationId xmlns:p14="http://schemas.microsoft.com/office/powerpoint/2010/main" val="28312661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088982" y="365125"/>
            <a:ext cx="2135981"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81038" y="365125"/>
            <a:ext cx="6284119"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7E01C69-65C3-4313-BFA7-3AF5EC40E60E}" type="datetime1">
              <a:rPr lang="en-US" smtClean="0"/>
              <a:t>9/12/2026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DC013F7-6D70-4318-BA41-212A9B59413B}" type="slidenum">
              <a:rPr lang="en-US" smtClean="0"/>
              <a:t>‹#›</a:t>
            </a:fld>
            <a:endParaRPr lang="en-US"/>
          </a:p>
        </p:txBody>
      </p:sp>
    </p:spTree>
    <p:extLst>
      <p:ext uri="{BB962C8B-B14F-4D97-AF65-F5344CB8AC3E}">
        <p14:creationId xmlns:p14="http://schemas.microsoft.com/office/powerpoint/2010/main" val="389502694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45022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81038" y="365127"/>
            <a:ext cx="8543925"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1038" y="1825625"/>
            <a:ext cx="8543925"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81038" y="6356352"/>
            <a:ext cx="222885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B7E52B1-AF3C-45C7-8AB3-BD36D09248C9}" type="datetime1">
              <a:rPr lang="en-US" smtClean="0"/>
              <a:t>9/12/2026</a:t>
            </a:fld>
            <a:endParaRPr lang="en-US"/>
          </a:p>
        </p:txBody>
      </p:sp>
      <p:sp>
        <p:nvSpPr>
          <p:cNvPr id="5" name="Footer Placeholder 4"/>
          <p:cNvSpPr>
            <a:spLocks noGrp="1"/>
          </p:cNvSpPr>
          <p:nvPr>
            <p:ph type="ftr" sz="quarter" idx="3"/>
          </p:nvPr>
        </p:nvSpPr>
        <p:spPr>
          <a:xfrm>
            <a:off x="3281363" y="6356352"/>
            <a:ext cx="3343275"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996113" y="6356352"/>
            <a:ext cx="222885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DC013F7-6D70-4318-BA41-212A9B59413B}" type="slidenum">
              <a:rPr lang="en-US" smtClean="0"/>
              <a:t>‹#›</a:t>
            </a:fld>
            <a:endParaRPr lang="en-US"/>
          </a:p>
        </p:txBody>
      </p:sp>
    </p:spTree>
    <p:extLst>
      <p:ext uri="{BB962C8B-B14F-4D97-AF65-F5344CB8AC3E}">
        <p14:creationId xmlns:p14="http://schemas.microsoft.com/office/powerpoint/2010/main" val="2789104912"/>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g"/><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jpe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7.jpeg"/><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g"/><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g"/><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g"/><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g"/><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13.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1.png"/><Relationship Id="rId7" Type="http://schemas.openxmlformats.org/officeDocument/2006/relationships/image" Target="../media/image17.png"/><Relationship Id="rId2" Type="http://schemas.openxmlformats.org/officeDocument/2006/relationships/image" Target="../media/image2.jpg"/><Relationship Id="rId1" Type="http://schemas.openxmlformats.org/officeDocument/2006/relationships/slideLayout" Target="../slideLayouts/slideLayout1.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xml"/><Relationship Id="rId1" Type="http://schemas.openxmlformats.org/officeDocument/2006/relationships/slideLayout" Target="../slideLayouts/slideLayout12.xml"/><Relationship Id="rId6" Type="http://schemas.openxmlformats.org/officeDocument/2006/relationships/image" Target="../media/image22.jpeg"/><Relationship Id="rId5" Type="http://schemas.openxmlformats.org/officeDocument/2006/relationships/image" Target="../media/image21.jpeg"/><Relationship Id="rId4" Type="http://schemas.openxmlformats.org/officeDocument/2006/relationships/image" Target="../media/image20.jpe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rotWithShape="1">
          <a:blip r:embed="rId2"/>
          <a:srcRect b="6633"/>
          <a:stretch/>
        </p:blipFill>
        <p:spPr>
          <a:xfrm>
            <a:off x="0" y="0"/>
            <a:ext cx="3927231" cy="939765"/>
          </a:xfrm>
          <a:prstGeom prst="rect">
            <a:avLst/>
          </a:prstGeom>
        </p:spPr>
      </p:pic>
      <p:pic>
        <p:nvPicPr>
          <p:cNvPr id="7" name="Picture 6"/>
          <p:cNvPicPr>
            <a:picLocks noChangeAspect="1"/>
          </p:cNvPicPr>
          <p:nvPr/>
        </p:nvPicPr>
        <p:blipFill rotWithShape="1">
          <a:blip r:embed="rId3">
            <a:extLst>
              <a:ext uri="{28A0092B-C50C-407E-A947-70E740481C1C}">
                <a14:useLocalDpi xmlns:a14="http://schemas.microsoft.com/office/drawing/2010/main" val="0"/>
              </a:ext>
            </a:extLst>
          </a:blip>
          <a:srcRect l="48363" r="-1" b="45098"/>
          <a:stretch/>
        </p:blipFill>
        <p:spPr>
          <a:xfrm>
            <a:off x="2637692" y="0"/>
            <a:ext cx="7268307" cy="525780"/>
          </a:xfrm>
          <a:prstGeom prst="rect">
            <a:avLst/>
          </a:prstGeom>
        </p:spPr>
      </p:pic>
      <p:sp>
        <p:nvSpPr>
          <p:cNvPr id="11" name="Rectangle 10"/>
          <p:cNvSpPr/>
          <p:nvPr/>
        </p:nvSpPr>
        <p:spPr>
          <a:xfrm>
            <a:off x="1652953" y="107031"/>
            <a:ext cx="8253045" cy="336631"/>
          </a:xfrm>
          <a:prstGeom prst="rect">
            <a:avLst/>
          </a:prstGeom>
        </p:spPr>
        <p:txBody>
          <a:bodyPr wrap="square">
            <a:spAutoFit/>
          </a:bodyPr>
          <a:lstStyle/>
          <a:p>
            <a:pPr algn="ctr">
              <a:lnSpc>
                <a:spcPct val="107000"/>
              </a:lnSpc>
              <a:spcAft>
                <a:spcPts val="800"/>
              </a:spcAft>
            </a:pPr>
            <a:r>
              <a:rPr lang="en-IN" sz="1600" b="1" dirty="0">
                <a:solidFill>
                  <a:schemeClr val="bg1"/>
                </a:solidFill>
                <a:latin typeface="Cambria" panose="02040503050406030204" pitchFamily="18" charset="0"/>
              </a:rPr>
              <a:t>MUKESH PATEL SCHOOL OF TECHNOLOGY MANAGEMENT &amp; ENGINEERING, SHIRPUR</a:t>
            </a:r>
            <a:endParaRPr lang="en-US" sz="1600" b="1" dirty="0">
              <a:solidFill>
                <a:schemeClr val="bg1"/>
              </a:solidFill>
              <a:latin typeface="Cambria" panose="02040503050406030204" pitchFamily="18" charset="0"/>
            </a:endParaRPr>
          </a:p>
        </p:txBody>
      </p:sp>
      <p:sp>
        <p:nvSpPr>
          <p:cNvPr id="20" name="Slide Number Placeholder 19"/>
          <p:cNvSpPr>
            <a:spLocks noGrp="1"/>
          </p:cNvSpPr>
          <p:nvPr>
            <p:ph type="sldNum" sz="quarter" idx="12"/>
          </p:nvPr>
        </p:nvSpPr>
        <p:spPr/>
        <p:txBody>
          <a:bodyPr/>
          <a:lstStyle/>
          <a:p>
            <a:fld id="{9DC013F7-6D70-4318-BA41-212A9B59413B}" type="slidenum">
              <a:rPr lang="en-US" smtClean="0"/>
              <a:t>1</a:t>
            </a:fld>
            <a:endParaRPr lang="en-US"/>
          </a:p>
        </p:txBody>
      </p:sp>
      <p:sp>
        <p:nvSpPr>
          <p:cNvPr id="10" name="Rectangle 9"/>
          <p:cNvSpPr/>
          <p:nvPr/>
        </p:nvSpPr>
        <p:spPr>
          <a:xfrm>
            <a:off x="0" y="541718"/>
            <a:ext cx="9905999" cy="4124206"/>
          </a:xfrm>
          <a:prstGeom prst="rect">
            <a:avLst/>
          </a:prstGeom>
        </p:spPr>
        <p:txBody>
          <a:bodyPr wrap="square">
            <a:spAutoFit/>
          </a:bodyPr>
          <a:lstStyle/>
          <a:p>
            <a:pPr algn="ctr"/>
            <a:r>
              <a:rPr lang="en-IN" sz="2200" b="1" dirty="0">
                <a:latin typeface="Times New Roman" pitchFamily="18" charset="0"/>
                <a:cs typeface="Times New Roman" pitchFamily="18" charset="0"/>
              </a:rPr>
              <a:t>Presentation (Review-II)</a:t>
            </a:r>
            <a:br>
              <a:rPr lang="en-IN" sz="2200" b="1" dirty="0">
                <a:latin typeface="Times New Roman" pitchFamily="18" charset="0"/>
                <a:cs typeface="Times New Roman" pitchFamily="18" charset="0"/>
              </a:rPr>
            </a:br>
            <a:r>
              <a:rPr lang="en-IN" sz="2200" b="1" dirty="0">
                <a:latin typeface="Times New Roman" pitchFamily="18" charset="0"/>
                <a:cs typeface="Times New Roman" pitchFamily="18" charset="0"/>
              </a:rPr>
              <a:t>on</a:t>
            </a:r>
            <a:br>
              <a:rPr lang="en-IN" sz="2200" b="1" dirty="0">
                <a:latin typeface="Times New Roman" pitchFamily="18" charset="0"/>
                <a:cs typeface="Times New Roman" pitchFamily="18" charset="0"/>
              </a:rPr>
            </a:br>
            <a:r>
              <a:rPr lang="en-IN" sz="2200" b="1" dirty="0">
                <a:solidFill>
                  <a:srgbClr val="C00000"/>
                </a:solidFill>
                <a:latin typeface="Times New Roman" panose="02020603050405020304" pitchFamily="18" charset="0"/>
                <a:cs typeface="Times New Roman" panose="02020603050405020304" pitchFamily="18" charset="0"/>
              </a:rPr>
              <a:t>Demand Forecasting and Inventory Recommendation</a:t>
            </a:r>
            <a:br>
              <a:rPr lang="en-IN" sz="2200" b="1" dirty="0">
                <a:solidFill>
                  <a:srgbClr val="C00000"/>
                </a:solidFill>
                <a:latin typeface="Times New Roman" panose="02020603050405020304" pitchFamily="18" charset="0"/>
                <a:cs typeface="Times New Roman" panose="02020603050405020304" pitchFamily="18" charset="0"/>
              </a:rPr>
            </a:br>
            <a:r>
              <a:rPr lang="en-IN" sz="2200" b="1" dirty="0">
                <a:solidFill>
                  <a:srgbClr val="C00000"/>
                </a:solidFill>
                <a:latin typeface="Times New Roman" panose="02020603050405020304" pitchFamily="18" charset="0"/>
                <a:cs typeface="Times New Roman" panose="02020603050405020304" pitchFamily="18" charset="0"/>
              </a:rPr>
              <a:t> for Small Food Retailers</a:t>
            </a:r>
            <a:br>
              <a:rPr lang="en-IN" sz="2200" b="1" dirty="0">
                <a:latin typeface="Times New Roman" pitchFamily="18" charset="0"/>
                <a:cs typeface="Times New Roman" pitchFamily="18" charset="0"/>
              </a:rPr>
            </a:br>
            <a:r>
              <a:rPr lang="en-IN" sz="2200" b="1" dirty="0">
                <a:latin typeface="Times New Roman" pitchFamily="18" charset="0"/>
                <a:cs typeface="Times New Roman" pitchFamily="18" charset="0"/>
              </a:rPr>
              <a:t>By</a:t>
            </a:r>
            <a:br>
              <a:rPr lang="en-IN" sz="2200" b="1" dirty="0">
                <a:latin typeface="Times New Roman" pitchFamily="18" charset="0"/>
                <a:cs typeface="Times New Roman" pitchFamily="18" charset="0"/>
              </a:rPr>
            </a:br>
            <a:r>
              <a:rPr lang="en-IN" sz="2200" b="1" dirty="0">
                <a:latin typeface="Times New Roman" pitchFamily="18" charset="0"/>
                <a:cs typeface="Times New Roman" pitchFamily="18" charset="0"/>
              </a:rPr>
              <a:t>1. Yatin Patil 70012300043</a:t>
            </a:r>
            <a:br>
              <a:rPr lang="en-IN" sz="2200" b="1" dirty="0">
                <a:latin typeface="Times New Roman" pitchFamily="18" charset="0"/>
                <a:cs typeface="Times New Roman" pitchFamily="18" charset="0"/>
              </a:rPr>
            </a:br>
            <a:r>
              <a:rPr lang="en-IN" sz="2200" b="1" dirty="0">
                <a:latin typeface="Times New Roman" pitchFamily="18" charset="0"/>
                <a:cs typeface="Times New Roman" pitchFamily="18" charset="0"/>
              </a:rPr>
              <a:t>2. Chinmay Patil 70012300123</a:t>
            </a:r>
            <a:br>
              <a:rPr lang="en-IN" sz="2200" b="1" dirty="0">
                <a:latin typeface="Times New Roman" pitchFamily="18" charset="0"/>
                <a:cs typeface="Times New Roman" pitchFamily="18" charset="0"/>
              </a:rPr>
            </a:br>
            <a:r>
              <a:rPr lang="en-IN" sz="2200" b="1" dirty="0">
                <a:latin typeface="Times New Roman" pitchFamily="18" charset="0"/>
                <a:cs typeface="Times New Roman" pitchFamily="18" charset="0"/>
              </a:rPr>
              <a:t>3.</a:t>
            </a:r>
            <a:r>
              <a:rPr lang="en-IN" sz="2200" dirty="0">
                <a:latin typeface="Times New Roman" panose="02020603050405020304" pitchFamily="18" charset="0"/>
                <a:cs typeface="Times New Roman" pitchFamily="18" charset="0"/>
              </a:rPr>
              <a:t> </a:t>
            </a:r>
            <a:r>
              <a:rPr lang="en-IN" sz="2200" b="1" dirty="0">
                <a:latin typeface="Times New Roman" panose="02020603050405020304" pitchFamily="18" charset="0"/>
                <a:cs typeface="Times New Roman" pitchFamily="18" charset="0"/>
              </a:rPr>
              <a:t>Soumy Raghuvanshi 70012300116</a:t>
            </a:r>
          </a:p>
          <a:p>
            <a:pPr algn="ctr"/>
            <a:br>
              <a:rPr lang="en-IN" sz="2000" b="1" dirty="0">
                <a:latin typeface="Times New Roman" pitchFamily="18" charset="0"/>
                <a:cs typeface="Times New Roman" pitchFamily="18" charset="0"/>
              </a:rPr>
            </a:br>
            <a:r>
              <a:rPr lang="en-IN" sz="2200" b="1" dirty="0">
                <a:latin typeface="Times New Roman" pitchFamily="18" charset="0"/>
                <a:cs typeface="Times New Roman" pitchFamily="18" charset="0"/>
              </a:rPr>
              <a:t>Under the Guidance of</a:t>
            </a:r>
            <a:br>
              <a:rPr lang="en-IN" sz="2200" b="1" dirty="0">
                <a:latin typeface="Times New Roman" pitchFamily="18" charset="0"/>
                <a:cs typeface="Times New Roman" pitchFamily="18" charset="0"/>
              </a:rPr>
            </a:br>
            <a:r>
              <a:rPr lang="en-IN" sz="2200" b="1" dirty="0">
                <a:latin typeface="Times New Roman" pitchFamily="18" charset="0"/>
                <a:cs typeface="Times New Roman" pitchFamily="18" charset="0"/>
              </a:rPr>
              <a:t>Dr. Srikanth </a:t>
            </a:r>
            <a:r>
              <a:rPr lang="en-IN" sz="2200" b="1" dirty="0" err="1">
                <a:latin typeface="Times New Roman" panose="02020603050405020304" pitchFamily="18" charset="0"/>
                <a:cs typeface="Times New Roman" panose="02020603050405020304" pitchFamily="18" charset="0"/>
              </a:rPr>
              <a:t>Pulipeti</a:t>
            </a:r>
            <a:br>
              <a:rPr lang="en-IN" sz="2200" b="1" dirty="0">
                <a:latin typeface="Times New Roman" pitchFamily="18" charset="0"/>
                <a:cs typeface="Times New Roman" pitchFamily="18" charset="0"/>
              </a:rPr>
            </a:br>
            <a:endParaRPr lang="en-IN" sz="2200" b="1" dirty="0">
              <a:solidFill>
                <a:srgbClr val="C00000"/>
              </a:solidFill>
              <a:latin typeface="Book Antiqua" panose="02040602050305030304" pitchFamily="18" charset="0"/>
            </a:endParaRPr>
          </a:p>
        </p:txBody>
      </p:sp>
      <p:pic>
        <p:nvPicPr>
          <p:cNvPr id="5" name="Picture 3" descr="C:\Users\kunal\Pictures\nmims.png">
            <a:extLst>
              <a:ext uri="{FF2B5EF4-FFF2-40B4-BE49-F238E27FC236}">
                <a16:creationId xmlns:a16="http://schemas.microsoft.com/office/drawing/2014/main" id="{FE81BFD6-F0E8-E702-50DC-E3D9C80ADC50}"/>
              </a:ext>
            </a:extLst>
          </p:cNvPr>
          <p:cNvPicPr>
            <a:picLocks noChangeAspect="1" noChangeArrowheads="1"/>
          </p:cNvPicPr>
          <p:nvPr/>
        </p:nvPicPr>
        <p:blipFill>
          <a:blip r:embed="rId4" cstate="print"/>
          <a:srcRect/>
          <a:stretch>
            <a:fillRect/>
          </a:stretch>
        </p:blipFill>
        <p:spPr bwMode="auto">
          <a:xfrm>
            <a:off x="4424360" y="4405909"/>
            <a:ext cx="1057275" cy="1209675"/>
          </a:xfrm>
          <a:prstGeom prst="rect">
            <a:avLst/>
          </a:prstGeom>
          <a:noFill/>
        </p:spPr>
      </p:pic>
      <p:sp>
        <p:nvSpPr>
          <p:cNvPr id="9" name="TextBox 8">
            <a:extLst>
              <a:ext uri="{FF2B5EF4-FFF2-40B4-BE49-F238E27FC236}">
                <a16:creationId xmlns:a16="http://schemas.microsoft.com/office/drawing/2014/main" id="{0DC18BAC-5389-9ED2-C8BF-91014DDABE86}"/>
              </a:ext>
            </a:extLst>
          </p:cNvPr>
          <p:cNvSpPr txBox="1"/>
          <p:nvPr/>
        </p:nvSpPr>
        <p:spPr>
          <a:xfrm>
            <a:off x="2475410" y="5615584"/>
            <a:ext cx="4955176" cy="923330"/>
          </a:xfrm>
          <a:prstGeom prst="rect">
            <a:avLst/>
          </a:prstGeom>
          <a:noFill/>
        </p:spPr>
        <p:txBody>
          <a:bodyPr wrap="square">
            <a:spAutoFit/>
          </a:bodyPr>
          <a:lstStyle/>
          <a:p>
            <a:pPr algn="ctr"/>
            <a:r>
              <a:rPr lang="en-IN" b="1" dirty="0">
                <a:latin typeface="Times New Roman" pitchFamily="18" charset="0"/>
                <a:cs typeface="Times New Roman" pitchFamily="18" charset="0"/>
              </a:rPr>
              <a:t>Information Technology Department</a:t>
            </a:r>
          </a:p>
          <a:p>
            <a:pPr algn="ctr"/>
            <a:r>
              <a:rPr lang="en-IN" b="1" dirty="0">
                <a:latin typeface="Times New Roman" pitchFamily="18" charset="0"/>
                <a:cs typeface="Times New Roman" pitchFamily="18" charset="0"/>
              </a:rPr>
              <a:t>MPSTME, </a:t>
            </a:r>
            <a:r>
              <a:rPr lang="en-IN" b="1" dirty="0" err="1">
                <a:latin typeface="Times New Roman" pitchFamily="18" charset="0"/>
                <a:cs typeface="Times New Roman" pitchFamily="18" charset="0"/>
              </a:rPr>
              <a:t>Shirpur</a:t>
            </a:r>
            <a:endParaRPr lang="en-IN" b="1" dirty="0">
              <a:latin typeface="Times New Roman" pitchFamily="18" charset="0"/>
              <a:cs typeface="Times New Roman" pitchFamily="18" charset="0"/>
            </a:endParaRPr>
          </a:p>
          <a:p>
            <a:pPr algn="ctr"/>
            <a:r>
              <a:rPr lang="en-IN" b="1" dirty="0">
                <a:latin typeface="Times New Roman" pitchFamily="18" charset="0"/>
                <a:cs typeface="Times New Roman" pitchFamily="18" charset="0"/>
              </a:rPr>
              <a:t>Academic Year: 2026-27</a:t>
            </a:r>
          </a:p>
        </p:txBody>
      </p:sp>
      <p:pic>
        <p:nvPicPr>
          <p:cNvPr id="3" name="Picture 2">
            <a:extLst>
              <a:ext uri="{FF2B5EF4-FFF2-40B4-BE49-F238E27FC236}">
                <a16:creationId xmlns:a16="http://schemas.microsoft.com/office/drawing/2014/main" id="{17F5967D-2205-CF31-36CA-F4D859E460E6}"/>
              </a:ext>
            </a:extLst>
          </p:cNvPr>
          <p:cNvPicPr>
            <a:picLocks noChangeAspect="1"/>
          </p:cNvPicPr>
          <p:nvPr/>
        </p:nvPicPr>
        <p:blipFill rotWithShape="1">
          <a:blip r:embed="rId3">
            <a:extLst>
              <a:ext uri="{28A0092B-C50C-407E-A947-70E740481C1C}">
                <a14:useLocalDpi xmlns:a14="http://schemas.microsoft.com/office/drawing/2010/main" val="0"/>
              </a:ext>
            </a:extLst>
          </a:blip>
          <a:srcRect l="48363" r="-1" b="45098"/>
          <a:stretch/>
        </p:blipFill>
        <p:spPr>
          <a:xfrm>
            <a:off x="0" y="6750969"/>
            <a:ext cx="9906000" cy="131162"/>
          </a:xfrm>
          <a:prstGeom prst="rect">
            <a:avLst/>
          </a:prstGeom>
        </p:spPr>
      </p:pic>
    </p:spTree>
    <p:extLst>
      <p:ext uri="{BB962C8B-B14F-4D97-AF65-F5344CB8AC3E}">
        <p14:creationId xmlns:p14="http://schemas.microsoft.com/office/powerpoint/2010/main" val="35649504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9B26A2A5-A7CB-EE34-8A22-D91C1BC4FF87}"/>
              </a:ext>
            </a:extLst>
          </p:cNvPr>
          <p:cNvPicPr>
            <a:picLocks noChangeAspect="1"/>
          </p:cNvPicPr>
          <p:nvPr/>
        </p:nvPicPr>
        <p:blipFill rotWithShape="1">
          <a:blip r:embed="rId2">
            <a:extLst>
              <a:ext uri="{28A0092B-C50C-407E-A947-70E740481C1C}">
                <a14:useLocalDpi xmlns:a14="http://schemas.microsoft.com/office/drawing/2010/main" val="0"/>
              </a:ext>
            </a:extLst>
          </a:blip>
          <a:srcRect l="48363" r="-1" b="45098"/>
          <a:stretch/>
        </p:blipFill>
        <p:spPr>
          <a:xfrm>
            <a:off x="0" y="6750969"/>
            <a:ext cx="9906000" cy="131162"/>
          </a:xfrm>
          <a:prstGeom prst="rect">
            <a:avLst/>
          </a:prstGeom>
        </p:spPr>
      </p:pic>
      <p:pic>
        <p:nvPicPr>
          <p:cNvPr id="6" name="Picture 5"/>
          <p:cNvPicPr>
            <a:picLocks noChangeAspect="1"/>
          </p:cNvPicPr>
          <p:nvPr/>
        </p:nvPicPr>
        <p:blipFill rotWithShape="1">
          <a:blip r:embed="rId3"/>
          <a:srcRect b="6633"/>
          <a:stretch/>
        </p:blipFill>
        <p:spPr>
          <a:xfrm>
            <a:off x="0" y="0"/>
            <a:ext cx="3927231" cy="939765"/>
          </a:xfrm>
          <a:prstGeom prst="rect">
            <a:avLst/>
          </a:prstGeom>
        </p:spPr>
      </p:pic>
      <p:pic>
        <p:nvPicPr>
          <p:cNvPr id="7" name="Picture 6"/>
          <p:cNvPicPr>
            <a:picLocks noChangeAspect="1"/>
          </p:cNvPicPr>
          <p:nvPr/>
        </p:nvPicPr>
        <p:blipFill rotWithShape="1">
          <a:blip r:embed="rId2">
            <a:extLst>
              <a:ext uri="{28A0092B-C50C-407E-A947-70E740481C1C}">
                <a14:useLocalDpi xmlns:a14="http://schemas.microsoft.com/office/drawing/2010/main" val="0"/>
              </a:ext>
            </a:extLst>
          </a:blip>
          <a:srcRect l="48363" r="-1" b="45098"/>
          <a:stretch/>
        </p:blipFill>
        <p:spPr>
          <a:xfrm>
            <a:off x="2637692" y="0"/>
            <a:ext cx="7268307" cy="525780"/>
          </a:xfrm>
          <a:prstGeom prst="rect">
            <a:avLst/>
          </a:prstGeom>
        </p:spPr>
      </p:pic>
      <p:sp>
        <p:nvSpPr>
          <p:cNvPr id="11" name="Rectangle 10"/>
          <p:cNvSpPr/>
          <p:nvPr/>
        </p:nvSpPr>
        <p:spPr>
          <a:xfrm>
            <a:off x="1652953" y="107031"/>
            <a:ext cx="8253045" cy="336631"/>
          </a:xfrm>
          <a:prstGeom prst="rect">
            <a:avLst/>
          </a:prstGeom>
        </p:spPr>
        <p:txBody>
          <a:bodyPr wrap="square">
            <a:spAutoFit/>
          </a:bodyPr>
          <a:lstStyle/>
          <a:p>
            <a:pPr algn="ctr">
              <a:lnSpc>
                <a:spcPct val="107000"/>
              </a:lnSpc>
              <a:spcAft>
                <a:spcPts val="800"/>
              </a:spcAft>
            </a:pPr>
            <a:r>
              <a:rPr lang="en-IN" sz="1600" b="1" dirty="0">
                <a:solidFill>
                  <a:schemeClr val="bg1"/>
                </a:solidFill>
                <a:latin typeface="Cambria" panose="02040503050406030204" pitchFamily="18" charset="0"/>
              </a:rPr>
              <a:t>MUKESH PATEL SCHOOL OF TECHNOLOGY MANAGEMENT &amp; ENGINEERING, SHIRPUR</a:t>
            </a:r>
            <a:endParaRPr lang="en-US" sz="1600" b="1" dirty="0">
              <a:solidFill>
                <a:schemeClr val="bg1"/>
              </a:solidFill>
              <a:latin typeface="Cambria" panose="02040503050406030204" pitchFamily="18" charset="0"/>
            </a:endParaRPr>
          </a:p>
        </p:txBody>
      </p:sp>
      <p:sp>
        <p:nvSpPr>
          <p:cNvPr id="12" name="Rectangle 11"/>
          <p:cNvSpPr/>
          <p:nvPr/>
        </p:nvSpPr>
        <p:spPr>
          <a:xfrm>
            <a:off x="0" y="716877"/>
            <a:ext cx="9905998" cy="646331"/>
          </a:xfrm>
          <a:prstGeom prst="rect">
            <a:avLst/>
          </a:prstGeom>
        </p:spPr>
        <p:txBody>
          <a:bodyPr wrap="square">
            <a:spAutoFit/>
          </a:bodyPr>
          <a:lstStyle/>
          <a:p>
            <a:pPr algn="ctr"/>
            <a:r>
              <a:rPr lang="en-IN" sz="3600" b="1" dirty="0">
                <a:latin typeface="Times New Roman" panose="02020603050405020304" pitchFamily="18" charset="0"/>
                <a:cs typeface="Times New Roman" panose="02020603050405020304" pitchFamily="18" charset="0"/>
              </a:rPr>
              <a:t>Outline</a:t>
            </a:r>
            <a:endParaRPr lang="en-US" sz="3600" b="1" dirty="0">
              <a:latin typeface="Teko SemiBold" panose="02000000000000000000" pitchFamily="2" charset="0"/>
              <a:cs typeface="Teko SemiBold" panose="02000000000000000000" pitchFamily="2" charset="0"/>
            </a:endParaRPr>
          </a:p>
        </p:txBody>
      </p:sp>
      <p:sp>
        <p:nvSpPr>
          <p:cNvPr id="3" name="Slide Number Placeholder 2"/>
          <p:cNvSpPr>
            <a:spLocks noGrp="1"/>
          </p:cNvSpPr>
          <p:nvPr>
            <p:ph type="sldNum" sz="quarter" idx="12"/>
          </p:nvPr>
        </p:nvSpPr>
        <p:spPr/>
        <p:txBody>
          <a:bodyPr/>
          <a:lstStyle/>
          <a:p>
            <a:fld id="{9DC013F7-6D70-4318-BA41-212A9B59413B}" type="slidenum">
              <a:rPr lang="en-US" smtClean="0"/>
              <a:t>2</a:t>
            </a:fld>
            <a:endParaRPr lang="en-US" dirty="0"/>
          </a:p>
        </p:txBody>
      </p:sp>
      <p:sp>
        <p:nvSpPr>
          <p:cNvPr id="2" name="AutoShape 4" descr="Neural Networks Hyperparameter tuning in tensorflow 2.0 | by SiDdhartha |  ML Book | Medium"/>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8" name="Rectangle 7">
            <a:extLst>
              <a:ext uri="{FF2B5EF4-FFF2-40B4-BE49-F238E27FC236}">
                <a16:creationId xmlns:a16="http://schemas.microsoft.com/office/drawing/2014/main" id="{62E40E59-48AE-8C99-565C-32E7E845E1DC}"/>
              </a:ext>
            </a:extLst>
          </p:cNvPr>
          <p:cNvSpPr/>
          <p:nvPr/>
        </p:nvSpPr>
        <p:spPr>
          <a:xfrm>
            <a:off x="82731" y="1165290"/>
            <a:ext cx="9418320" cy="523220"/>
          </a:xfrm>
          <a:prstGeom prst="rect">
            <a:avLst/>
          </a:prstGeom>
        </p:spPr>
        <p:txBody>
          <a:bodyPr wrap="square">
            <a:spAutoFit/>
          </a:bodyPr>
          <a:lstStyle/>
          <a:p>
            <a:pPr algn="ctr"/>
            <a:endParaRPr lang="en-US" sz="2800" b="1" dirty="0">
              <a:latin typeface="Teko SemiBold" panose="02000000000000000000" pitchFamily="2" charset="0"/>
              <a:cs typeface="Teko SemiBold" panose="02000000000000000000" pitchFamily="2" charset="0"/>
            </a:endParaRPr>
          </a:p>
        </p:txBody>
      </p:sp>
      <p:sp>
        <p:nvSpPr>
          <p:cNvPr id="10" name="TextBox 9">
            <a:extLst>
              <a:ext uri="{FF2B5EF4-FFF2-40B4-BE49-F238E27FC236}">
                <a16:creationId xmlns:a16="http://schemas.microsoft.com/office/drawing/2014/main" id="{CD4E6C65-2211-2949-EE6B-796C5DE2AF5E}"/>
              </a:ext>
            </a:extLst>
          </p:cNvPr>
          <p:cNvSpPr txBox="1"/>
          <p:nvPr/>
        </p:nvSpPr>
        <p:spPr>
          <a:xfrm>
            <a:off x="345488" y="1176376"/>
            <a:ext cx="9096102" cy="5632311"/>
          </a:xfrm>
          <a:prstGeom prst="rect">
            <a:avLst/>
          </a:prstGeom>
          <a:noFill/>
        </p:spPr>
        <p:txBody>
          <a:bodyPr wrap="square">
            <a:spAutoFit/>
          </a:bodyPr>
          <a:lstStyle/>
          <a:p>
            <a:pPr marL="358775" lvl="1" indent="-358775">
              <a:lnSpc>
                <a:spcPct val="100000"/>
              </a:lnSpc>
              <a:buFont typeface="Arial" pitchFamily="34" charset="0"/>
              <a:buChar char="•"/>
            </a:pPr>
            <a:r>
              <a:rPr lang="en-IN" sz="2000" dirty="0">
                <a:latin typeface="Times New Roman" pitchFamily="18" charset="0"/>
                <a:cs typeface="Times New Roman" pitchFamily="18" charset="0"/>
              </a:rPr>
              <a:t>Introduction</a:t>
            </a:r>
          </a:p>
          <a:p>
            <a:pPr marL="358775" lvl="1" indent="-358775">
              <a:lnSpc>
                <a:spcPct val="100000"/>
              </a:lnSpc>
              <a:buFont typeface="Arial" pitchFamily="34" charset="0"/>
              <a:buChar char="•"/>
            </a:pPr>
            <a:r>
              <a:rPr lang="en-IN" sz="2000" dirty="0">
                <a:latin typeface="Times New Roman" pitchFamily="18" charset="0"/>
                <a:cs typeface="Times New Roman" pitchFamily="18" charset="0"/>
              </a:rPr>
              <a:t>Problem Statement</a:t>
            </a:r>
          </a:p>
          <a:p>
            <a:pPr marL="358775" lvl="1" indent="-358775">
              <a:lnSpc>
                <a:spcPct val="100000"/>
              </a:lnSpc>
              <a:buFont typeface="Arial" pitchFamily="34" charset="0"/>
              <a:buChar char="•"/>
            </a:pPr>
            <a:r>
              <a:rPr lang="en-IN" sz="2000" dirty="0">
                <a:latin typeface="Times New Roman" pitchFamily="18" charset="0"/>
                <a:cs typeface="Times New Roman" pitchFamily="18" charset="0"/>
              </a:rPr>
              <a:t>Literature Review</a:t>
            </a:r>
          </a:p>
          <a:p>
            <a:pPr marL="358775" lvl="1" indent="-358775">
              <a:lnSpc>
                <a:spcPct val="100000"/>
              </a:lnSpc>
              <a:buFont typeface="Arial" pitchFamily="34" charset="0"/>
              <a:buChar char="•"/>
            </a:pPr>
            <a:r>
              <a:rPr lang="en-IN" sz="2000" dirty="0">
                <a:latin typeface="Times New Roman" pitchFamily="18" charset="0"/>
                <a:cs typeface="Times New Roman" pitchFamily="18" charset="0"/>
              </a:rPr>
              <a:t>Proposed Methodology</a:t>
            </a:r>
          </a:p>
          <a:p>
            <a:pPr marL="342900" lvl="0" indent="-342900">
              <a:buFont typeface="Arial" panose="020B0604020202020204" pitchFamily="34" charset="0"/>
              <a:buChar char="•"/>
            </a:pPr>
            <a:r>
              <a:rPr lang="en-IN" sz="2000" dirty="0">
                <a:latin typeface="Times New Roman" pitchFamily="18" charset="0"/>
                <a:cs typeface="Times New Roman" pitchFamily="18" charset="0"/>
              </a:rPr>
              <a:t>Object-Oriented Analysis </a:t>
            </a:r>
          </a:p>
          <a:p>
            <a:pPr marL="742950" lvl="1" indent="-2857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Requirement Analysis</a:t>
            </a:r>
          </a:p>
          <a:p>
            <a:pPr marL="742950" lvl="1" indent="-2857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Functional &amp; Non-Functional Requirements</a:t>
            </a:r>
          </a:p>
          <a:p>
            <a:pPr marL="742950" lvl="1" indent="-2857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Use Case Diagram, Actors and Functionalities</a:t>
            </a:r>
          </a:p>
          <a:p>
            <a:pPr marL="342900" lvl="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Object-Oriented Design </a:t>
            </a:r>
          </a:p>
          <a:p>
            <a:pPr marL="742950" lvl="1" indent="-2857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System Architecture</a:t>
            </a:r>
          </a:p>
          <a:p>
            <a:pPr marL="742950" lvl="1" indent="-2857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Sequence Diagram</a:t>
            </a:r>
          </a:p>
          <a:p>
            <a:pPr marL="742950" lvl="1" indent="-2857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Activity Diagram</a:t>
            </a:r>
          </a:p>
          <a:p>
            <a:pPr marL="742950" lvl="1" indent="-2857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ER Diagram</a:t>
            </a:r>
            <a:endParaRPr lang="en-IN" sz="2000" dirty="0">
              <a:latin typeface="Times New Roman" pitchFamily="18" charset="0"/>
              <a:cs typeface="Times New Roman" pitchFamily="18" charset="0"/>
            </a:endParaRPr>
          </a:p>
          <a:p>
            <a:pPr marL="342900" lvl="0" indent="-342900">
              <a:buFont typeface="Arial" panose="020B0604020202020204" pitchFamily="34" charset="0"/>
              <a:buChar char="•"/>
            </a:pPr>
            <a:r>
              <a:rPr lang="en-IN" sz="2000" dirty="0">
                <a:latin typeface="Times New Roman" pitchFamily="18" charset="0"/>
                <a:cs typeface="Times New Roman" pitchFamily="18" charset="0"/>
              </a:rPr>
              <a:t>Development and Progress </a:t>
            </a:r>
          </a:p>
          <a:p>
            <a:pPr marL="800100" lvl="1" indent="-342900">
              <a:buFont typeface="Arial" panose="020B0604020202020204" pitchFamily="34" charset="0"/>
              <a:buChar char="•"/>
            </a:pPr>
            <a:r>
              <a:rPr lang="en-IN" sz="1600" dirty="0">
                <a:latin typeface="Times New Roman" pitchFamily="18" charset="0"/>
                <a:cs typeface="Times New Roman" pitchFamily="18" charset="0"/>
              </a:rPr>
              <a:t>Tools, Technologies and Software</a:t>
            </a:r>
          </a:p>
          <a:p>
            <a:pPr marL="742950" lvl="1" indent="-285750">
              <a:buFont typeface="Arial" panose="020B0604020202020204" pitchFamily="34" charset="0"/>
              <a:buChar char="•"/>
            </a:pPr>
            <a:r>
              <a:rPr lang="en-IN" sz="1600" dirty="0">
                <a:latin typeface="Times New Roman" pitchFamily="18" charset="0"/>
                <a:cs typeface="Times New Roman" pitchFamily="18" charset="0"/>
              </a:rPr>
              <a:t>Working Demonstration / Screenshots</a:t>
            </a:r>
          </a:p>
          <a:p>
            <a:pPr marL="342900" lvl="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Project Management </a:t>
            </a:r>
          </a:p>
          <a:p>
            <a:pPr marL="742950" lvl="1" indent="-2857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Project Development Timeline (Gantt Chart) / Remaining Work and Progress</a:t>
            </a:r>
          </a:p>
          <a:p>
            <a:pPr marL="742950" lvl="1" indent="-2857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Challenges Encountered</a:t>
            </a:r>
          </a:p>
          <a:p>
            <a:pPr marL="342900" lvl="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References</a:t>
            </a:r>
          </a:p>
        </p:txBody>
      </p:sp>
    </p:spTree>
    <p:extLst>
      <p:ext uri="{BB962C8B-B14F-4D97-AF65-F5344CB8AC3E}">
        <p14:creationId xmlns:p14="http://schemas.microsoft.com/office/powerpoint/2010/main" val="25415796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CEDDBC-4DAE-00CE-DE8B-792A94E2DB58}"/>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FE982AE2-5ADA-EACC-6CE3-21BC520A884B}"/>
              </a:ext>
            </a:extLst>
          </p:cNvPr>
          <p:cNvPicPr>
            <a:picLocks noChangeAspect="1"/>
          </p:cNvPicPr>
          <p:nvPr/>
        </p:nvPicPr>
        <p:blipFill rotWithShape="1">
          <a:blip r:embed="rId2">
            <a:extLst>
              <a:ext uri="{28A0092B-C50C-407E-A947-70E740481C1C}">
                <a14:useLocalDpi xmlns:a14="http://schemas.microsoft.com/office/drawing/2010/main" val="0"/>
              </a:ext>
            </a:extLst>
          </a:blip>
          <a:srcRect l="48363" r="-1" b="45098"/>
          <a:stretch/>
        </p:blipFill>
        <p:spPr>
          <a:xfrm>
            <a:off x="0" y="6750969"/>
            <a:ext cx="9906000" cy="131162"/>
          </a:xfrm>
          <a:prstGeom prst="rect">
            <a:avLst/>
          </a:prstGeom>
        </p:spPr>
      </p:pic>
      <p:pic>
        <p:nvPicPr>
          <p:cNvPr id="6" name="Picture 5">
            <a:extLst>
              <a:ext uri="{FF2B5EF4-FFF2-40B4-BE49-F238E27FC236}">
                <a16:creationId xmlns:a16="http://schemas.microsoft.com/office/drawing/2014/main" id="{AFB5C2D6-C041-1D95-458A-3A135F774CED}"/>
              </a:ext>
            </a:extLst>
          </p:cNvPr>
          <p:cNvPicPr>
            <a:picLocks noChangeAspect="1"/>
          </p:cNvPicPr>
          <p:nvPr/>
        </p:nvPicPr>
        <p:blipFill rotWithShape="1">
          <a:blip r:embed="rId3"/>
          <a:srcRect b="6633"/>
          <a:stretch/>
        </p:blipFill>
        <p:spPr>
          <a:xfrm>
            <a:off x="0" y="0"/>
            <a:ext cx="3927231" cy="939765"/>
          </a:xfrm>
          <a:prstGeom prst="rect">
            <a:avLst/>
          </a:prstGeom>
        </p:spPr>
      </p:pic>
      <p:pic>
        <p:nvPicPr>
          <p:cNvPr id="7" name="Picture 6">
            <a:extLst>
              <a:ext uri="{FF2B5EF4-FFF2-40B4-BE49-F238E27FC236}">
                <a16:creationId xmlns:a16="http://schemas.microsoft.com/office/drawing/2014/main" id="{19396A03-91C2-46F1-87D9-4B7FBA12141D}"/>
              </a:ext>
            </a:extLst>
          </p:cNvPr>
          <p:cNvPicPr>
            <a:picLocks noChangeAspect="1"/>
          </p:cNvPicPr>
          <p:nvPr/>
        </p:nvPicPr>
        <p:blipFill rotWithShape="1">
          <a:blip r:embed="rId2">
            <a:extLst>
              <a:ext uri="{28A0092B-C50C-407E-A947-70E740481C1C}">
                <a14:useLocalDpi xmlns:a14="http://schemas.microsoft.com/office/drawing/2010/main" val="0"/>
              </a:ext>
            </a:extLst>
          </a:blip>
          <a:srcRect l="48363" r="-1" b="45098"/>
          <a:stretch/>
        </p:blipFill>
        <p:spPr>
          <a:xfrm>
            <a:off x="2637692" y="0"/>
            <a:ext cx="7268307" cy="525780"/>
          </a:xfrm>
          <a:prstGeom prst="rect">
            <a:avLst/>
          </a:prstGeom>
        </p:spPr>
      </p:pic>
      <p:sp>
        <p:nvSpPr>
          <p:cNvPr id="11" name="Rectangle 10">
            <a:extLst>
              <a:ext uri="{FF2B5EF4-FFF2-40B4-BE49-F238E27FC236}">
                <a16:creationId xmlns:a16="http://schemas.microsoft.com/office/drawing/2014/main" id="{6C51ED1A-8A3D-15E6-3113-86DDD9777F78}"/>
              </a:ext>
            </a:extLst>
          </p:cNvPr>
          <p:cNvSpPr/>
          <p:nvPr/>
        </p:nvSpPr>
        <p:spPr>
          <a:xfrm>
            <a:off x="1652953" y="107031"/>
            <a:ext cx="8253045" cy="336631"/>
          </a:xfrm>
          <a:prstGeom prst="rect">
            <a:avLst/>
          </a:prstGeom>
        </p:spPr>
        <p:txBody>
          <a:bodyPr wrap="square">
            <a:spAutoFit/>
          </a:bodyPr>
          <a:lstStyle/>
          <a:p>
            <a:pPr algn="ctr">
              <a:lnSpc>
                <a:spcPct val="107000"/>
              </a:lnSpc>
              <a:spcAft>
                <a:spcPts val="800"/>
              </a:spcAft>
            </a:pPr>
            <a:r>
              <a:rPr lang="en-IN" sz="1600" b="1" dirty="0">
                <a:solidFill>
                  <a:schemeClr val="bg1"/>
                </a:solidFill>
                <a:latin typeface="Cambria" panose="02040503050406030204" pitchFamily="18" charset="0"/>
              </a:rPr>
              <a:t>MUKESH PATEL SCHOOL OF TECHNOLOGY MANAGEMENT &amp; ENGINEERING, SHIRPUR</a:t>
            </a:r>
            <a:endParaRPr lang="en-US" sz="1600" b="1" dirty="0">
              <a:solidFill>
                <a:schemeClr val="bg1"/>
              </a:solidFill>
              <a:latin typeface="Cambria" panose="02040503050406030204" pitchFamily="18" charset="0"/>
            </a:endParaRPr>
          </a:p>
        </p:txBody>
      </p:sp>
      <p:sp>
        <p:nvSpPr>
          <p:cNvPr id="3" name="Slide Number Placeholder 2">
            <a:extLst>
              <a:ext uri="{FF2B5EF4-FFF2-40B4-BE49-F238E27FC236}">
                <a16:creationId xmlns:a16="http://schemas.microsoft.com/office/drawing/2014/main" id="{1AA209EF-DA92-90F4-E3A1-941AF4F0A15C}"/>
              </a:ext>
            </a:extLst>
          </p:cNvPr>
          <p:cNvSpPr>
            <a:spLocks noGrp="1"/>
          </p:cNvSpPr>
          <p:nvPr>
            <p:ph type="sldNum" sz="quarter" idx="12"/>
          </p:nvPr>
        </p:nvSpPr>
        <p:spPr/>
        <p:txBody>
          <a:bodyPr/>
          <a:lstStyle/>
          <a:p>
            <a:fld id="{9DC013F7-6D70-4318-BA41-212A9B59413B}" type="slidenum">
              <a:rPr lang="en-US" smtClean="0"/>
              <a:t>3</a:t>
            </a:fld>
            <a:endParaRPr lang="en-US" dirty="0"/>
          </a:p>
        </p:txBody>
      </p:sp>
      <p:sp>
        <p:nvSpPr>
          <p:cNvPr id="2" name="AutoShape 4" descr="Neural Networks Hyperparameter tuning in tensorflow 2.0 | by SiDdhartha |  ML Book | Medium">
            <a:extLst>
              <a:ext uri="{FF2B5EF4-FFF2-40B4-BE49-F238E27FC236}">
                <a16:creationId xmlns:a16="http://schemas.microsoft.com/office/drawing/2014/main" id="{C5BD6D88-B46A-BE43-3F56-436ECFB5FB22}"/>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5" name="Text 3">
            <a:extLst>
              <a:ext uri="{FF2B5EF4-FFF2-40B4-BE49-F238E27FC236}">
                <a16:creationId xmlns:a16="http://schemas.microsoft.com/office/drawing/2014/main" id="{E790F35C-D77F-020C-CC5D-E6EBB87CCB64}"/>
              </a:ext>
            </a:extLst>
          </p:cNvPr>
          <p:cNvSpPr/>
          <p:nvPr/>
        </p:nvSpPr>
        <p:spPr>
          <a:xfrm>
            <a:off x="111030" y="1005807"/>
            <a:ext cx="9359542" cy="594360"/>
          </a:xfrm>
          <a:prstGeom prst="rect">
            <a:avLst/>
          </a:prstGeom>
          <a:noFill/>
          <a:ln/>
        </p:spPr>
        <p:txBody>
          <a:bodyPr wrap="square" lIns="0" tIns="0" rIns="0" bIns="0" rtlCol="0" anchor="ctr"/>
          <a:lstStyle/>
          <a:p>
            <a:pPr marL="0" indent="0" algn="l">
              <a:buNone/>
            </a:pPr>
            <a:r>
              <a:rPr lang="en-US" sz="2700" b="1" dirty="0">
                <a:solidFill>
                  <a:srgbClr val="BC312C"/>
                </a:solidFill>
                <a:latin typeface="Cambria" pitchFamily="34" charset="0"/>
                <a:ea typeface="Cambria" pitchFamily="34" charset="-122"/>
                <a:cs typeface="Cambria" pitchFamily="34" charset="-120"/>
              </a:rPr>
              <a:t>Introduction</a:t>
            </a:r>
            <a:endParaRPr lang="en-US" sz="2700" dirty="0"/>
          </a:p>
        </p:txBody>
      </p:sp>
      <p:sp>
        <p:nvSpPr>
          <p:cNvPr id="14" name="Shape 4">
            <a:extLst>
              <a:ext uri="{FF2B5EF4-FFF2-40B4-BE49-F238E27FC236}">
                <a16:creationId xmlns:a16="http://schemas.microsoft.com/office/drawing/2014/main" id="{2875DDFD-8DAB-9C95-CBB4-93DBEFDF9FFE}"/>
              </a:ext>
            </a:extLst>
          </p:cNvPr>
          <p:cNvSpPr/>
          <p:nvPr/>
        </p:nvSpPr>
        <p:spPr>
          <a:xfrm flipV="1">
            <a:off x="111030" y="1583930"/>
            <a:ext cx="8781043" cy="11570"/>
          </a:xfrm>
          <a:prstGeom prst="line">
            <a:avLst/>
          </a:prstGeom>
          <a:noFill/>
          <a:ln w="12700">
            <a:solidFill>
              <a:srgbClr val="E0DAD8"/>
            </a:solidFill>
            <a:prstDash val="solid"/>
          </a:ln>
        </p:spPr>
      </p:sp>
      <p:sp>
        <p:nvSpPr>
          <p:cNvPr id="16" name="TextBox 15">
            <a:extLst>
              <a:ext uri="{FF2B5EF4-FFF2-40B4-BE49-F238E27FC236}">
                <a16:creationId xmlns:a16="http://schemas.microsoft.com/office/drawing/2014/main" id="{7AEC69B8-81F0-E781-6582-145802711C51}"/>
              </a:ext>
            </a:extLst>
          </p:cNvPr>
          <p:cNvSpPr txBox="1"/>
          <p:nvPr/>
        </p:nvSpPr>
        <p:spPr>
          <a:xfrm>
            <a:off x="111030" y="1729065"/>
            <a:ext cx="5581043" cy="884922"/>
          </a:xfrm>
          <a:prstGeom prst="rect">
            <a:avLst/>
          </a:prstGeom>
          <a:noFill/>
        </p:spPr>
        <p:txBody>
          <a:bodyPr wrap="square" lIns="0" tIns="0" rIns="0" bIns="0" anchor="t">
            <a:spAutoFit/>
          </a:bodyPr>
          <a:lstStyle/>
          <a:p>
            <a:pPr algn="l">
              <a:lnSpc>
                <a:spcPct val="115000"/>
              </a:lnSpc>
            </a:pPr>
            <a:r>
              <a:rPr sz="1700" b="0" i="1" dirty="0">
                <a:solidFill>
                  <a:srgbClr val="262626"/>
                </a:solidFill>
                <a:latin typeface="Calibri"/>
              </a:rPr>
              <a:t>Small food businesses lose money on both sides of the same problem: over-order and waste perishable stock, or under-order and lose sales with no forecasting tool built for their scale.</a:t>
            </a:r>
          </a:p>
        </p:txBody>
      </p:sp>
      <p:sp>
        <p:nvSpPr>
          <p:cNvPr id="18" name="TextBox 17">
            <a:extLst>
              <a:ext uri="{FF2B5EF4-FFF2-40B4-BE49-F238E27FC236}">
                <a16:creationId xmlns:a16="http://schemas.microsoft.com/office/drawing/2014/main" id="{E01249A8-EA95-1521-E0CC-F02D4687E867}"/>
              </a:ext>
            </a:extLst>
          </p:cNvPr>
          <p:cNvSpPr txBox="1"/>
          <p:nvPr/>
        </p:nvSpPr>
        <p:spPr>
          <a:xfrm>
            <a:off x="261030" y="2925550"/>
            <a:ext cx="5361043" cy="276999"/>
          </a:xfrm>
          <a:prstGeom prst="rect">
            <a:avLst/>
          </a:prstGeom>
          <a:noFill/>
        </p:spPr>
        <p:txBody>
          <a:bodyPr wrap="square" lIns="0" tIns="0" rIns="0" bIns="0">
            <a:spAutoFit/>
          </a:bodyPr>
          <a:lstStyle/>
          <a:p>
            <a:r>
              <a:rPr sz="1800" b="1" i="0" dirty="0">
                <a:solidFill>
                  <a:srgbClr val="BC312C"/>
                </a:solidFill>
                <a:latin typeface="Calibri"/>
              </a:rPr>
              <a:t>THE PROBLEM</a:t>
            </a:r>
          </a:p>
        </p:txBody>
      </p:sp>
      <p:sp>
        <p:nvSpPr>
          <p:cNvPr id="20" name="TextBox 19">
            <a:extLst>
              <a:ext uri="{FF2B5EF4-FFF2-40B4-BE49-F238E27FC236}">
                <a16:creationId xmlns:a16="http://schemas.microsoft.com/office/drawing/2014/main" id="{307D2AE9-7BAA-D667-5232-F0185BA86769}"/>
              </a:ext>
            </a:extLst>
          </p:cNvPr>
          <p:cNvSpPr txBox="1"/>
          <p:nvPr/>
        </p:nvSpPr>
        <p:spPr>
          <a:xfrm>
            <a:off x="261030" y="3225550"/>
            <a:ext cx="5361043" cy="487056"/>
          </a:xfrm>
          <a:prstGeom prst="rect">
            <a:avLst/>
          </a:prstGeom>
          <a:noFill/>
        </p:spPr>
        <p:txBody>
          <a:bodyPr wrap="square" lIns="0" tIns="0" rIns="0" bIns="0">
            <a:spAutoFit/>
          </a:bodyPr>
          <a:lstStyle/>
          <a:p>
            <a:pPr>
              <a:lnSpc>
                <a:spcPct val="108000"/>
              </a:lnSpc>
            </a:pPr>
            <a:r>
              <a:rPr sz="1500" b="0" i="0" dirty="0">
                <a:solidFill>
                  <a:srgbClr val="262626"/>
                </a:solidFill>
                <a:latin typeface="Calibri"/>
              </a:rPr>
              <a:t>Over- and under</a:t>
            </a:r>
            <a:r>
              <a:rPr lang="en-IN" sz="1500" b="0" i="0" dirty="0">
                <a:solidFill>
                  <a:srgbClr val="262626"/>
                </a:solidFill>
                <a:latin typeface="Calibri"/>
              </a:rPr>
              <a:t>-</a:t>
            </a:r>
            <a:r>
              <a:rPr sz="1500" b="0" i="0" dirty="0">
                <a:solidFill>
                  <a:srgbClr val="262626"/>
                </a:solidFill>
                <a:latin typeface="Calibri"/>
              </a:rPr>
              <a:t>ordering drives food waste and lost revenue for small operators, with no forecasting tool built for their scale.</a:t>
            </a:r>
          </a:p>
        </p:txBody>
      </p:sp>
      <p:sp>
        <p:nvSpPr>
          <p:cNvPr id="22" name="TextBox 21">
            <a:extLst>
              <a:ext uri="{FF2B5EF4-FFF2-40B4-BE49-F238E27FC236}">
                <a16:creationId xmlns:a16="http://schemas.microsoft.com/office/drawing/2014/main" id="{CB34F092-6E45-F7F1-A74C-324059CA7C06}"/>
              </a:ext>
            </a:extLst>
          </p:cNvPr>
          <p:cNvSpPr txBox="1"/>
          <p:nvPr/>
        </p:nvSpPr>
        <p:spPr>
          <a:xfrm>
            <a:off x="261030" y="3925589"/>
            <a:ext cx="5361043" cy="276999"/>
          </a:xfrm>
          <a:prstGeom prst="rect">
            <a:avLst/>
          </a:prstGeom>
          <a:noFill/>
        </p:spPr>
        <p:txBody>
          <a:bodyPr wrap="square" lIns="0" tIns="0" rIns="0" bIns="0">
            <a:spAutoFit/>
          </a:bodyPr>
          <a:lstStyle/>
          <a:p>
            <a:r>
              <a:rPr sz="1800" b="1" i="0" dirty="0">
                <a:solidFill>
                  <a:srgbClr val="BC312C"/>
                </a:solidFill>
                <a:latin typeface="Calibri"/>
              </a:rPr>
              <a:t>WHY IT PERSISTS</a:t>
            </a:r>
          </a:p>
        </p:txBody>
      </p:sp>
      <p:sp>
        <p:nvSpPr>
          <p:cNvPr id="24" name="TextBox 23">
            <a:extLst>
              <a:ext uri="{FF2B5EF4-FFF2-40B4-BE49-F238E27FC236}">
                <a16:creationId xmlns:a16="http://schemas.microsoft.com/office/drawing/2014/main" id="{39B56F18-2E0F-3EA2-CBFD-D0A7667BB6AE}"/>
              </a:ext>
            </a:extLst>
          </p:cNvPr>
          <p:cNvSpPr txBox="1"/>
          <p:nvPr/>
        </p:nvSpPr>
        <p:spPr>
          <a:xfrm>
            <a:off x="261030" y="4225589"/>
            <a:ext cx="5361043" cy="487056"/>
          </a:xfrm>
          <a:prstGeom prst="rect">
            <a:avLst/>
          </a:prstGeom>
          <a:noFill/>
        </p:spPr>
        <p:txBody>
          <a:bodyPr wrap="square" lIns="0" tIns="0" rIns="0" bIns="0">
            <a:spAutoFit/>
          </a:bodyPr>
          <a:lstStyle/>
          <a:p>
            <a:pPr>
              <a:lnSpc>
                <a:spcPct val="108000"/>
              </a:lnSpc>
            </a:pPr>
            <a:r>
              <a:rPr sz="1500" b="0" i="0" dirty="0">
                <a:solidFill>
                  <a:srgbClr val="262626"/>
                </a:solidFill>
                <a:latin typeface="Calibri"/>
              </a:rPr>
              <a:t>AI-driven forecasting has matured for large retail chains, but remains inaccessible to small operators without dedicated IT or data teams.</a:t>
            </a:r>
          </a:p>
        </p:txBody>
      </p:sp>
      <p:sp>
        <p:nvSpPr>
          <p:cNvPr id="26" name="TextBox 25">
            <a:extLst>
              <a:ext uri="{FF2B5EF4-FFF2-40B4-BE49-F238E27FC236}">
                <a16:creationId xmlns:a16="http://schemas.microsoft.com/office/drawing/2014/main" id="{A74085B5-481A-F7D3-64E8-B69D9D43BF46}"/>
              </a:ext>
            </a:extLst>
          </p:cNvPr>
          <p:cNvSpPr txBox="1"/>
          <p:nvPr/>
        </p:nvSpPr>
        <p:spPr>
          <a:xfrm>
            <a:off x="261030" y="4934955"/>
            <a:ext cx="5361043" cy="276999"/>
          </a:xfrm>
          <a:prstGeom prst="rect">
            <a:avLst/>
          </a:prstGeom>
          <a:noFill/>
        </p:spPr>
        <p:txBody>
          <a:bodyPr wrap="square" lIns="0" tIns="0" rIns="0" bIns="0">
            <a:spAutoFit/>
          </a:bodyPr>
          <a:lstStyle/>
          <a:p>
            <a:r>
              <a:rPr sz="1800" b="1" i="0" dirty="0">
                <a:solidFill>
                  <a:srgbClr val="BC312C"/>
                </a:solidFill>
                <a:latin typeface="Calibri"/>
              </a:rPr>
              <a:t>THE </a:t>
            </a:r>
            <a:r>
              <a:rPr lang="en-IN" sz="1800" b="1" i="0" dirty="0">
                <a:solidFill>
                  <a:srgbClr val="BC312C"/>
                </a:solidFill>
                <a:latin typeface="Calibri"/>
              </a:rPr>
              <a:t>TRADITIONAL </a:t>
            </a:r>
            <a:r>
              <a:rPr sz="1800" b="1" i="0" dirty="0">
                <a:solidFill>
                  <a:srgbClr val="BC312C"/>
                </a:solidFill>
                <a:latin typeface="Calibri"/>
              </a:rPr>
              <a:t>APPROACH</a:t>
            </a:r>
          </a:p>
        </p:txBody>
      </p:sp>
      <p:sp>
        <p:nvSpPr>
          <p:cNvPr id="28" name="TextBox 27">
            <a:extLst>
              <a:ext uri="{FF2B5EF4-FFF2-40B4-BE49-F238E27FC236}">
                <a16:creationId xmlns:a16="http://schemas.microsoft.com/office/drawing/2014/main" id="{9F3816B8-F646-B496-5BD2-B0CA554267E1}"/>
              </a:ext>
            </a:extLst>
          </p:cNvPr>
          <p:cNvSpPr txBox="1"/>
          <p:nvPr/>
        </p:nvSpPr>
        <p:spPr>
          <a:xfrm>
            <a:off x="261030" y="5283856"/>
            <a:ext cx="5361043" cy="1384995"/>
          </a:xfrm>
          <a:prstGeom prst="rect">
            <a:avLst/>
          </a:prstGeom>
          <a:noFill/>
        </p:spPr>
        <p:txBody>
          <a:bodyPr wrap="square" lIns="0" tIns="0" rIns="0" bIns="0">
            <a:spAutoFit/>
          </a:bodyPr>
          <a:lstStyle/>
          <a:p>
            <a:r>
              <a:rPr lang="en-US" sz="1500" dirty="0">
                <a:latin typeface="Calibri" panose="020F0502020204030204" pitchFamily="34" charset="0"/>
                <a:ea typeface="Calibri" panose="020F0502020204030204" pitchFamily="34" charset="0"/>
                <a:cs typeface="Calibri" panose="020F0502020204030204" pitchFamily="34" charset="0"/>
              </a:rPr>
              <a:t>Small operators currently rely on manual spreadsheets, simple moving averages, or pure gut-feel. These static methods completely fail to account for dynamic demand shocks like sudden weather changes or public holidays.</a:t>
            </a:r>
          </a:p>
          <a:p>
            <a:br>
              <a:rPr lang="en-US" sz="1500" dirty="0">
                <a:latin typeface="Calibri" panose="020F0502020204030204" pitchFamily="34" charset="0"/>
                <a:ea typeface="Calibri" panose="020F0502020204030204" pitchFamily="34" charset="0"/>
                <a:cs typeface="Calibri" panose="020F0502020204030204" pitchFamily="34" charset="0"/>
              </a:rPr>
            </a:br>
            <a:endParaRPr lang="en-US" sz="1500" b="0" i="0" dirty="0">
              <a:solidFill>
                <a:srgbClr val="262626"/>
              </a:solidFill>
              <a:latin typeface="Calibri" panose="020F0502020204030204" pitchFamily="34" charset="0"/>
              <a:ea typeface="Calibri" panose="020F0502020204030204" pitchFamily="34" charset="0"/>
              <a:cs typeface="Calibri" panose="020F0502020204030204" pitchFamily="34" charset="0"/>
            </a:endParaRPr>
          </a:p>
        </p:txBody>
      </p:sp>
      <p:pic>
        <p:nvPicPr>
          <p:cNvPr id="30" name="Picture 29">
            <a:extLst>
              <a:ext uri="{FF2B5EF4-FFF2-40B4-BE49-F238E27FC236}">
                <a16:creationId xmlns:a16="http://schemas.microsoft.com/office/drawing/2014/main" id="{512AACF7-D710-9861-34C0-0330063FB7F9}"/>
              </a:ext>
            </a:extLst>
          </p:cNvPr>
          <p:cNvPicPr>
            <a:picLocks noChangeAspect="1"/>
          </p:cNvPicPr>
          <p:nvPr/>
        </p:nvPicPr>
        <p:blipFill>
          <a:blip r:embed="rId4"/>
          <a:stretch>
            <a:fillRect/>
          </a:stretch>
        </p:blipFill>
        <p:spPr>
          <a:xfrm>
            <a:off x="6055567" y="2783843"/>
            <a:ext cx="2908041" cy="1932889"/>
          </a:xfrm>
          <a:prstGeom prst="rect">
            <a:avLst/>
          </a:prstGeom>
        </p:spPr>
      </p:pic>
      <p:pic>
        <p:nvPicPr>
          <p:cNvPr id="32" name="Picture 31">
            <a:extLst>
              <a:ext uri="{FF2B5EF4-FFF2-40B4-BE49-F238E27FC236}">
                <a16:creationId xmlns:a16="http://schemas.microsoft.com/office/drawing/2014/main" id="{C73D1605-8BD0-C0C6-CBDD-968F2C006760}"/>
              </a:ext>
            </a:extLst>
          </p:cNvPr>
          <p:cNvPicPr>
            <a:picLocks noChangeAspect="1"/>
          </p:cNvPicPr>
          <p:nvPr/>
        </p:nvPicPr>
        <p:blipFill>
          <a:blip r:embed="rId5"/>
          <a:stretch>
            <a:fillRect/>
          </a:stretch>
        </p:blipFill>
        <p:spPr>
          <a:xfrm>
            <a:off x="6055567" y="4782774"/>
            <a:ext cx="2908040" cy="1938693"/>
          </a:xfrm>
          <a:prstGeom prst="rect">
            <a:avLst/>
          </a:prstGeom>
        </p:spPr>
      </p:pic>
      <p:pic>
        <p:nvPicPr>
          <p:cNvPr id="34" name="Picture 33">
            <a:extLst>
              <a:ext uri="{FF2B5EF4-FFF2-40B4-BE49-F238E27FC236}">
                <a16:creationId xmlns:a16="http://schemas.microsoft.com/office/drawing/2014/main" id="{B4947CF9-0800-4A96-F007-1A4D27622437}"/>
              </a:ext>
            </a:extLst>
          </p:cNvPr>
          <p:cNvPicPr>
            <a:picLocks noChangeAspect="1"/>
          </p:cNvPicPr>
          <p:nvPr/>
        </p:nvPicPr>
        <p:blipFill>
          <a:blip r:embed="rId6"/>
          <a:stretch>
            <a:fillRect/>
          </a:stretch>
        </p:blipFill>
        <p:spPr>
          <a:xfrm>
            <a:off x="6064898" y="787039"/>
            <a:ext cx="2908042" cy="1938694"/>
          </a:xfrm>
          <a:prstGeom prst="rect">
            <a:avLst/>
          </a:prstGeom>
        </p:spPr>
      </p:pic>
    </p:spTree>
    <p:extLst>
      <p:ext uri="{BB962C8B-B14F-4D97-AF65-F5344CB8AC3E}">
        <p14:creationId xmlns:p14="http://schemas.microsoft.com/office/powerpoint/2010/main" val="4206116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C7A5E8-CDBB-FFC1-BAC6-65DC397CAD22}"/>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6A2DBE7B-582B-34A1-9614-579124E9F2D5}"/>
              </a:ext>
            </a:extLst>
          </p:cNvPr>
          <p:cNvPicPr>
            <a:picLocks noChangeAspect="1"/>
          </p:cNvPicPr>
          <p:nvPr/>
        </p:nvPicPr>
        <p:blipFill rotWithShape="1">
          <a:blip r:embed="rId2">
            <a:extLst>
              <a:ext uri="{28A0092B-C50C-407E-A947-70E740481C1C}">
                <a14:useLocalDpi xmlns:a14="http://schemas.microsoft.com/office/drawing/2010/main" val="0"/>
              </a:ext>
            </a:extLst>
          </a:blip>
          <a:srcRect l="48363" r="-1" b="45098"/>
          <a:stretch/>
        </p:blipFill>
        <p:spPr>
          <a:xfrm>
            <a:off x="0" y="6750969"/>
            <a:ext cx="9906000" cy="131162"/>
          </a:xfrm>
          <a:prstGeom prst="rect">
            <a:avLst/>
          </a:prstGeom>
        </p:spPr>
      </p:pic>
      <p:pic>
        <p:nvPicPr>
          <p:cNvPr id="6" name="Picture 5">
            <a:extLst>
              <a:ext uri="{FF2B5EF4-FFF2-40B4-BE49-F238E27FC236}">
                <a16:creationId xmlns:a16="http://schemas.microsoft.com/office/drawing/2014/main" id="{785F62C8-64C8-C5E7-0EBB-14C2A5A4DD35}"/>
              </a:ext>
            </a:extLst>
          </p:cNvPr>
          <p:cNvPicPr>
            <a:picLocks noChangeAspect="1"/>
          </p:cNvPicPr>
          <p:nvPr/>
        </p:nvPicPr>
        <p:blipFill rotWithShape="1">
          <a:blip r:embed="rId3"/>
          <a:srcRect b="6633"/>
          <a:stretch/>
        </p:blipFill>
        <p:spPr>
          <a:xfrm>
            <a:off x="0" y="0"/>
            <a:ext cx="3927231" cy="939765"/>
          </a:xfrm>
          <a:prstGeom prst="rect">
            <a:avLst/>
          </a:prstGeom>
        </p:spPr>
      </p:pic>
      <p:pic>
        <p:nvPicPr>
          <p:cNvPr id="7" name="Picture 6">
            <a:extLst>
              <a:ext uri="{FF2B5EF4-FFF2-40B4-BE49-F238E27FC236}">
                <a16:creationId xmlns:a16="http://schemas.microsoft.com/office/drawing/2014/main" id="{0F361BBF-8ABD-CF3A-CDBA-C0A2325E658A}"/>
              </a:ext>
            </a:extLst>
          </p:cNvPr>
          <p:cNvPicPr>
            <a:picLocks noChangeAspect="1"/>
          </p:cNvPicPr>
          <p:nvPr/>
        </p:nvPicPr>
        <p:blipFill rotWithShape="1">
          <a:blip r:embed="rId2">
            <a:extLst>
              <a:ext uri="{28A0092B-C50C-407E-A947-70E740481C1C}">
                <a14:useLocalDpi xmlns:a14="http://schemas.microsoft.com/office/drawing/2010/main" val="0"/>
              </a:ext>
            </a:extLst>
          </a:blip>
          <a:srcRect l="48363" r="-1" b="45098"/>
          <a:stretch/>
        </p:blipFill>
        <p:spPr>
          <a:xfrm>
            <a:off x="2637692" y="0"/>
            <a:ext cx="7268307" cy="525780"/>
          </a:xfrm>
          <a:prstGeom prst="rect">
            <a:avLst/>
          </a:prstGeom>
        </p:spPr>
      </p:pic>
      <p:sp>
        <p:nvSpPr>
          <p:cNvPr id="11" name="Rectangle 10">
            <a:extLst>
              <a:ext uri="{FF2B5EF4-FFF2-40B4-BE49-F238E27FC236}">
                <a16:creationId xmlns:a16="http://schemas.microsoft.com/office/drawing/2014/main" id="{EC04C029-B346-0996-B6CB-F706FCE5BBA5}"/>
              </a:ext>
            </a:extLst>
          </p:cNvPr>
          <p:cNvSpPr/>
          <p:nvPr/>
        </p:nvSpPr>
        <p:spPr>
          <a:xfrm>
            <a:off x="1652953" y="107031"/>
            <a:ext cx="8253045" cy="336631"/>
          </a:xfrm>
          <a:prstGeom prst="rect">
            <a:avLst/>
          </a:prstGeom>
        </p:spPr>
        <p:txBody>
          <a:bodyPr wrap="square">
            <a:spAutoFit/>
          </a:bodyPr>
          <a:lstStyle/>
          <a:p>
            <a:pPr algn="ctr">
              <a:lnSpc>
                <a:spcPct val="107000"/>
              </a:lnSpc>
              <a:spcAft>
                <a:spcPts val="800"/>
              </a:spcAft>
            </a:pPr>
            <a:r>
              <a:rPr lang="en-IN" sz="1600" b="1" dirty="0">
                <a:solidFill>
                  <a:schemeClr val="bg1"/>
                </a:solidFill>
                <a:latin typeface="Cambria" panose="02040503050406030204" pitchFamily="18" charset="0"/>
              </a:rPr>
              <a:t>MUKESH PATEL SCHOOL OF TECHNOLOGY MANAGEMENT &amp; ENGINEERING, SHIRPUR</a:t>
            </a:r>
            <a:endParaRPr lang="en-US" sz="1600" b="1" dirty="0">
              <a:solidFill>
                <a:schemeClr val="bg1"/>
              </a:solidFill>
              <a:latin typeface="Cambria" panose="02040503050406030204" pitchFamily="18" charset="0"/>
            </a:endParaRPr>
          </a:p>
        </p:txBody>
      </p:sp>
      <p:sp>
        <p:nvSpPr>
          <p:cNvPr id="3" name="Slide Number Placeholder 2">
            <a:extLst>
              <a:ext uri="{FF2B5EF4-FFF2-40B4-BE49-F238E27FC236}">
                <a16:creationId xmlns:a16="http://schemas.microsoft.com/office/drawing/2014/main" id="{3EA9C35F-F3CE-3ECF-53E2-3F32F512022C}"/>
              </a:ext>
            </a:extLst>
          </p:cNvPr>
          <p:cNvSpPr>
            <a:spLocks noGrp="1"/>
          </p:cNvSpPr>
          <p:nvPr>
            <p:ph type="sldNum" sz="quarter" idx="12"/>
          </p:nvPr>
        </p:nvSpPr>
        <p:spPr/>
        <p:txBody>
          <a:bodyPr/>
          <a:lstStyle/>
          <a:p>
            <a:fld id="{9DC013F7-6D70-4318-BA41-212A9B59413B}" type="slidenum">
              <a:rPr lang="en-US" smtClean="0"/>
              <a:t>4</a:t>
            </a:fld>
            <a:endParaRPr lang="en-US" dirty="0"/>
          </a:p>
        </p:txBody>
      </p:sp>
      <p:sp>
        <p:nvSpPr>
          <p:cNvPr id="2" name="AutoShape 4" descr="Neural Networks Hyperparameter tuning in tensorflow 2.0 | by SiDdhartha |  ML Book | Medium">
            <a:extLst>
              <a:ext uri="{FF2B5EF4-FFF2-40B4-BE49-F238E27FC236}">
                <a16:creationId xmlns:a16="http://schemas.microsoft.com/office/drawing/2014/main" id="{C3146348-8366-C50C-F3DC-886E52566089}"/>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8" name="Rectangle 7">
            <a:extLst>
              <a:ext uri="{FF2B5EF4-FFF2-40B4-BE49-F238E27FC236}">
                <a16:creationId xmlns:a16="http://schemas.microsoft.com/office/drawing/2014/main" id="{40493026-3C60-FF79-4552-5D4F2BF5A5B8}"/>
              </a:ext>
            </a:extLst>
          </p:cNvPr>
          <p:cNvSpPr/>
          <p:nvPr/>
        </p:nvSpPr>
        <p:spPr>
          <a:xfrm>
            <a:off x="463356" y="1046796"/>
            <a:ext cx="9418320" cy="523220"/>
          </a:xfrm>
          <a:prstGeom prst="rect">
            <a:avLst/>
          </a:prstGeom>
        </p:spPr>
        <p:txBody>
          <a:bodyPr wrap="square">
            <a:spAutoFit/>
          </a:bodyPr>
          <a:lstStyle/>
          <a:p>
            <a:pPr algn="ctr"/>
            <a:endParaRPr lang="en-US" sz="2800" b="1" dirty="0">
              <a:latin typeface="Teko SemiBold" panose="02000000000000000000" pitchFamily="2" charset="0"/>
              <a:cs typeface="Teko SemiBold" panose="02000000000000000000" pitchFamily="2" charset="0"/>
            </a:endParaRPr>
          </a:p>
        </p:txBody>
      </p:sp>
      <p:sp>
        <p:nvSpPr>
          <p:cNvPr id="5" name="Text 3">
            <a:extLst>
              <a:ext uri="{FF2B5EF4-FFF2-40B4-BE49-F238E27FC236}">
                <a16:creationId xmlns:a16="http://schemas.microsoft.com/office/drawing/2014/main" id="{B4977E8B-34BD-F46B-D9D5-FB06F2D2DBEE}"/>
              </a:ext>
            </a:extLst>
          </p:cNvPr>
          <p:cNvSpPr/>
          <p:nvPr/>
        </p:nvSpPr>
        <p:spPr>
          <a:xfrm>
            <a:off x="147030" y="1142069"/>
            <a:ext cx="11155680" cy="594360"/>
          </a:xfrm>
          <a:prstGeom prst="rect">
            <a:avLst/>
          </a:prstGeom>
          <a:noFill/>
          <a:ln/>
        </p:spPr>
        <p:txBody>
          <a:bodyPr wrap="square" lIns="0" tIns="0" rIns="0" bIns="0" rtlCol="0" anchor="ctr"/>
          <a:lstStyle/>
          <a:p>
            <a:pPr marL="0" indent="0" algn="l">
              <a:buNone/>
            </a:pPr>
            <a:r>
              <a:rPr lang="en-US" sz="2700" b="1" dirty="0">
                <a:solidFill>
                  <a:srgbClr val="BC312C"/>
                </a:solidFill>
                <a:latin typeface="Times New Roman" panose="02020603050405020304" pitchFamily="18" charset="0"/>
                <a:ea typeface="Cambria" pitchFamily="34" charset="-122"/>
                <a:cs typeface="Times New Roman" panose="02020603050405020304" pitchFamily="18" charset="0"/>
              </a:rPr>
              <a:t>Problem Statement</a:t>
            </a:r>
            <a:endParaRPr lang="en-US" sz="2700" dirty="0">
              <a:latin typeface="Times New Roman" panose="02020603050405020304" pitchFamily="18" charset="0"/>
              <a:cs typeface="Times New Roman" panose="02020603050405020304" pitchFamily="18" charset="0"/>
            </a:endParaRPr>
          </a:p>
        </p:txBody>
      </p:sp>
      <p:sp>
        <p:nvSpPr>
          <p:cNvPr id="14" name="Shape 4">
            <a:extLst>
              <a:ext uri="{FF2B5EF4-FFF2-40B4-BE49-F238E27FC236}">
                <a16:creationId xmlns:a16="http://schemas.microsoft.com/office/drawing/2014/main" id="{6641322A-A277-ACED-BBA4-31E26207618B}"/>
              </a:ext>
            </a:extLst>
          </p:cNvPr>
          <p:cNvSpPr/>
          <p:nvPr/>
        </p:nvSpPr>
        <p:spPr>
          <a:xfrm flipV="1">
            <a:off x="529583" y="1736429"/>
            <a:ext cx="8709164" cy="18288"/>
          </a:xfrm>
          <a:prstGeom prst="line">
            <a:avLst/>
          </a:prstGeom>
          <a:noFill/>
          <a:ln w="12700">
            <a:solidFill>
              <a:srgbClr val="E0DAD8"/>
            </a:solidFill>
            <a:prstDash val="solid"/>
          </a:ln>
        </p:spPr>
        <p:txBody>
          <a:bodyPr/>
          <a:lstStyle/>
          <a:p>
            <a:endParaRPr lang="en-IN"/>
          </a:p>
        </p:txBody>
      </p:sp>
      <p:sp>
        <p:nvSpPr>
          <p:cNvPr id="16" name="Text 5">
            <a:extLst>
              <a:ext uri="{FF2B5EF4-FFF2-40B4-BE49-F238E27FC236}">
                <a16:creationId xmlns:a16="http://schemas.microsoft.com/office/drawing/2014/main" id="{845C03B6-916D-5502-50A0-3C6E63AAABE2}"/>
              </a:ext>
            </a:extLst>
          </p:cNvPr>
          <p:cNvSpPr/>
          <p:nvPr/>
        </p:nvSpPr>
        <p:spPr>
          <a:xfrm>
            <a:off x="529583" y="2002914"/>
            <a:ext cx="8995042" cy="640080"/>
          </a:xfrm>
          <a:prstGeom prst="rect">
            <a:avLst/>
          </a:prstGeom>
          <a:noFill/>
          <a:ln/>
        </p:spPr>
        <p:txBody>
          <a:bodyPr wrap="square" lIns="0" tIns="0" rIns="0" bIns="0" rtlCol="0" anchor="ctr"/>
          <a:lstStyle/>
          <a:p>
            <a:pPr marL="0" indent="0">
              <a:lnSpc>
                <a:spcPct val="115000"/>
              </a:lnSpc>
              <a:buNone/>
            </a:pPr>
            <a:r>
              <a:rPr lang="en-US" sz="1800" dirty="0">
                <a:solidFill>
                  <a:srgbClr val="262626"/>
                </a:solidFill>
                <a:latin typeface="Times New Roman" panose="02020603050405020304" pitchFamily="18" charset="0"/>
                <a:ea typeface="Calibri" pitchFamily="34" charset="-122"/>
                <a:cs typeface="Times New Roman" panose="02020603050405020304" pitchFamily="18" charset="0"/>
              </a:rPr>
              <a:t>Small food businesses like cafes, bakeries, independent restaurants make daily purchasing decisions with no reliable way to predict tomorrow's demand.</a:t>
            </a:r>
            <a:endParaRPr lang="en-US" sz="1800" dirty="0">
              <a:latin typeface="Times New Roman" panose="02020603050405020304" pitchFamily="18" charset="0"/>
              <a:cs typeface="Times New Roman" panose="02020603050405020304" pitchFamily="18" charset="0"/>
            </a:endParaRPr>
          </a:p>
        </p:txBody>
      </p:sp>
      <p:sp>
        <p:nvSpPr>
          <p:cNvPr id="18" name="Shape 6">
            <a:extLst>
              <a:ext uri="{FF2B5EF4-FFF2-40B4-BE49-F238E27FC236}">
                <a16:creationId xmlns:a16="http://schemas.microsoft.com/office/drawing/2014/main" id="{E42DFE1E-63F0-B663-F880-4A8231176C2B}"/>
              </a:ext>
            </a:extLst>
          </p:cNvPr>
          <p:cNvSpPr/>
          <p:nvPr/>
        </p:nvSpPr>
        <p:spPr>
          <a:xfrm>
            <a:off x="529583" y="2761866"/>
            <a:ext cx="8778732" cy="1188720"/>
          </a:xfrm>
          <a:prstGeom prst="rect">
            <a:avLst/>
          </a:prstGeom>
          <a:solidFill>
            <a:srgbClr val="F7F5F4"/>
          </a:solidFill>
          <a:ln/>
        </p:spPr>
        <p:txBody>
          <a:bodyPr/>
          <a:lstStyle/>
          <a:p>
            <a:endParaRPr lang="en-IN" sz="1500"/>
          </a:p>
        </p:txBody>
      </p:sp>
      <p:sp>
        <p:nvSpPr>
          <p:cNvPr id="20" name="Text 7">
            <a:extLst>
              <a:ext uri="{FF2B5EF4-FFF2-40B4-BE49-F238E27FC236}">
                <a16:creationId xmlns:a16="http://schemas.microsoft.com/office/drawing/2014/main" id="{08A38051-F361-4B19-387B-D676770D18E9}"/>
              </a:ext>
            </a:extLst>
          </p:cNvPr>
          <p:cNvSpPr/>
          <p:nvPr/>
        </p:nvSpPr>
        <p:spPr>
          <a:xfrm>
            <a:off x="776717" y="2866933"/>
            <a:ext cx="8284464" cy="777240"/>
          </a:xfrm>
          <a:prstGeom prst="rect">
            <a:avLst/>
          </a:prstGeom>
          <a:noFill/>
          <a:ln/>
        </p:spPr>
        <p:txBody>
          <a:bodyPr wrap="square" lIns="0" tIns="0" rIns="0" bIns="0" rtlCol="0" anchor="t"/>
          <a:lstStyle/>
          <a:p>
            <a:pPr marL="0" indent="0">
              <a:lnSpc>
                <a:spcPct val="115000"/>
              </a:lnSpc>
              <a:buNone/>
            </a:pPr>
            <a:r>
              <a:rPr lang="en-US" sz="1500" b="1" dirty="0">
                <a:solidFill>
                  <a:srgbClr val="BC312C"/>
                </a:solidFill>
                <a:latin typeface="Times New Roman" panose="02020603050405020304" pitchFamily="18" charset="0"/>
                <a:ea typeface="Calibri" pitchFamily="34" charset="-122"/>
                <a:cs typeface="Times New Roman" panose="02020603050405020304" pitchFamily="18" charset="0"/>
              </a:rPr>
              <a:t>The core disconnect: </a:t>
            </a:r>
            <a:r>
              <a:rPr lang="en-US" sz="1500" dirty="0">
                <a:solidFill>
                  <a:srgbClr val="262626"/>
                </a:solidFill>
                <a:latin typeface="Times New Roman" panose="02020603050405020304" pitchFamily="18" charset="0"/>
                <a:ea typeface="Calibri" pitchFamily="34" charset="-122"/>
                <a:cs typeface="Times New Roman" panose="02020603050405020304" pitchFamily="18" charset="0"/>
              </a:rPr>
              <a:t>a cafe owner does not think in RMSE or MAPE — they want to know exactly how many loaves of bread, croissants, or cups of coffee to order tomorrow or make. Across the forecasting literature we reviewed, most studies (Aqila et al., Jatte et al., Gartner et al., Susanto et al.) stop at computing an error metric and never take the final step of producing a purchase quantity.</a:t>
            </a:r>
            <a:endParaRPr lang="en-US" sz="1500" dirty="0">
              <a:latin typeface="Times New Roman" panose="02020603050405020304" pitchFamily="18" charset="0"/>
              <a:cs typeface="Times New Roman" panose="02020603050405020304" pitchFamily="18" charset="0"/>
            </a:endParaRPr>
          </a:p>
        </p:txBody>
      </p:sp>
      <p:sp>
        <p:nvSpPr>
          <p:cNvPr id="22" name="Shape 8">
            <a:extLst>
              <a:ext uri="{FF2B5EF4-FFF2-40B4-BE49-F238E27FC236}">
                <a16:creationId xmlns:a16="http://schemas.microsoft.com/office/drawing/2014/main" id="{85E035F8-C61B-7AE2-DE85-A72C50D6F009}"/>
              </a:ext>
            </a:extLst>
          </p:cNvPr>
          <p:cNvSpPr/>
          <p:nvPr/>
        </p:nvSpPr>
        <p:spPr>
          <a:xfrm>
            <a:off x="572114" y="4221479"/>
            <a:ext cx="1928020" cy="1984641"/>
          </a:xfrm>
          <a:prstGeom prst="roundRect">
            <a:avLst>
              <a:gd name="adj" fmla="val 4103"/>
            </a:avLst>
          </a:prstGeom>
          <a:solidFill>
            <a:srgbClr val="FFFFFF"/>
          </a:solidFill>
          <a:ln w="15875">
            <a:solidFill>
              <a:srgbClr val="BC312C"/>
            </a:solidFill>
            <a:prstDash val="solid"/>
          </a:ln>
        </p:spPr>
        <p:txBody>
          <a:bodyPr/>
          <a:lstStyle/>
          <a:p>
            <a:endParaRPr lang="en-IN"/>
          </a:p>
        </p:txBody>
      </p:sp>
      <p:sp>
        <p:nvSpPr>
          <p:cNvPr id="24" name="Shape 9">
            <a:extLst>
              <a:ext uri="{FF2B5EF4-FFF2-40B4-BE49-F238E27FC236}">
                <a16:creationId xmlns:a16="http://schemas.microsoft.com/office/drawing/2014/main" id="{D79A823A-75D2-0CE3-FD23-B541F41FFBAC}"/>
              </a:ext>
            </a:extLst>
          </p:cNvPr>
          <p:cNvSpPr/>
          <p:nvPr/>
        </p:nvSpPr>
        <p:spPr>
          <a:xfrm>
            <a:off x="572114" y="4221480"/>
            <a:ext cx="1928020" cy="457994"/>
          </a:xfrm>
          <a:prstGeom prst="rect">
            <a:avLst/>
          </a:prstGeom>
          <a:solidFill>
            <a:srgbClr val="BC312C"/>
          </a:solidFill>
          <a:ln/>
        </p:spPr>
        <p:txBody>
          <a:bodyPr/>
          <a:lstStyle/>
          <a:p>
            <a:endParaRPr lang="en-IN"/>
          </a:p>
        </p:txBody>
      </p:sp>
      <p:sp>
        <p:nvSpPr>
          <p:cNvPr id="26" name="Text 10">
            <a:extLst>
              <a:ext uri="{FF2B5EF4-FFF2-40B4-BE49-F238E27FC236}">
                <a16:creationId xmlns:a16="http://schemas.microsoft.com/office/drawing/2014/main" id="{94CC21EB-081C-698E-11E3-8E610288CD30}"/>
              </a:ext>
            </a:extLst>
          </p:cNvPr>
          <p:cNvSpPr/>
          <p:nvPr/>
        </p:nvSpPr>
        <p:spPr>
          <a:xfrm>
            <a:off x="650542" y="4221480"/>
            <a:ext cx="1928020" cy="457994"/>
          </a:xfrm>
          <a:prstGeom prst="rect">
            <a:avLst/>
          </a:prstGeom>
          <a:noFill/>
          <a:ln/>
        </p:spPr>
        <p:txBody>
          <a:bodyPr wrap="square" lIns="0" tIns="0" rIns="0" bIns="0" rtlCol="0" anchor="ctr"/>
          <a:lstStyle/>
          <a:p>
            <a:pPr marL="0" indent="0">
              <a:buNone/>
            </a:pPr>
            <a:r>
              <a:rPr lang="en-US" sz="1400" b="1" dirty="0">
                <a:solidFill>
                  <a:srgbClr val="FFFFFF"/>
                </a:solidFill>
                <a:latin typeface="Times New Roman" panose="02020603050405020304" pitchFamily="18" charset="0"/>
                <a:ea typeface="Calibri" pitchFamily="34" charset="-122"/>
                <a:cs typeface="Times New Roman" panose="02020603050405020304" pitchFamily="18" charset="0"/>
              </a:rPr>
              <a:t>Forecast-to-Action Gap</a:t>
            </a:r>
            <a:endParaRPr lang="en-US" sz="1400" dirty="0">
              <a:latin typeface="Times New Roman" panose="02020603050405020304" pitchFamily="18" charset="0"/>
              <a:cs typeface="Times New Roman" panose="02020603050405020304" pitchFamily="18" charset="0"/>
            </a:endParaRPr>
          </a:p>
        </p:txBody>
      </p:sp>
      <p:sp>
        <p:nvSpPr>
          <p:cNvPr id="28" name="Text 11">
            <a:extLst>
              <a:ext uri="{FF2B5EF4-FFF2-40B4-BE49-F238E27FC236}">
                <a16:creationId xmlns:a16="http://schemas.microsoft.com/office/drawing/2014/main" id="{05BEA8FE-B93E-5277-8401-222FA0E978F0}"/>
              </a:ext>
            </a:extLst>
          </p:cNvPr>
          <p:cNvSpPr/>
          <p:nvPr/>
        </p:nvSpPr>
        <p:spPr>
          <a:xfrm>
            <a:off x="670149" y="4724400"/>
            <a:ext cx="1731950" cy="1323094"/>
          </a:xfrm>
          <a:prstGeom prst="rect">
            <a:avLst/>
          </a:prstGeom>
          <a:noFill/>
          <a:ln/>
        </p:spPr>
        <p:txBody>
          <a:bodyPr wrap="square" lIns="0" tIns="0" rIns="0" bIns="0" rtlCol="0" anchor="t"/>
          <a:lstStyle/>
          <a:p>
            <a:pPr marL="0" indent="0">
              <a:lnSpc>
                <a:spcPct val="110000"/>
              </a:lnSpc>
              <a:buNone/>
            </a:pPr>
            <a:r>
              <a:rPr lang="en-US" sz="1600" dirty="0">
                <a:solidFill>
                  <a:srgbClr val="262626"/>
                </a:solidFill>
                <a:latin typeface="Times New Roman" panose="02020603050405020304" pitchFamily="18" charset="0"/>
                <a:ea typeface="Calibri" pitchFamily="34" charset="-122"/>
                <a:cs typeface="Times New Roman" panose="02020603050405020304" pitchFamily="18" charset="0"/>
              </a:rPr>
              <a:t>Predictions rarely convert into an operational restock quantity.</a:t>
            </a:r>
            <a:endParaRPr lang="en-US" sz="1600" dirty="0">
              <a:latin typeface="Times New Roman" panose="02020603050405020304" pitchFamily="18" charset="0"/>
              <a:cs typeface="Times New Roman" panose="02020603050405020304" pitchFamily="18" charset="0"/>
            </a:endParaRPr>
          </a:p>
        </p:txBody>
      </p:sp>
      <p:sp>
        <p:nvSpPr>
          <p:cNvPr id="30" name="Shape 12">
            <a:extLst>
              <a:ext uri="{FF2B5EF4-FFF2-40B4-BE49-F238E27FC236}">
                <a16:creationId xmlns:a16="http://schemas.microsoft.com/office/drawing/2014/main" id="{17CD5A46-D604-FD02-0B1D-59F7A9278354}"/>
              </a:ext>
            </a:extLst>
          </p:cNvPr>
          <p:cNvSpPr/>
          <p:nvPr/>
        </p:nvSpPr>
        <p:spPr>
          <a:xfrm>
            <a:off x="2799218" y="4221479"/>
            <a:ext cx="1928020" cy="1984641"/>
          </a:xfrm>
          <a:prstGeom prst="roundRect">
            <a:avLst>
              <a:gd name="adj" fmla="val 4103"/>
            </a:avLst>
          </a:prstGeom>
          <a:solidFill>
            <a:srgbClr val="FFFFFF"/>
          </a:solidFill>
          <a:ln w="15875">
            <a:solidFill>
              <a:srgbClr val="BC312C"/>
            </a:solidFill>
            <a:prstDash val="solid"/>
          </a:ln>
        </p:spPr>
        <p:txBody>
          <a:bodyPr/>
          <a:lstStyle/>
          <a:p>
            <a:endParaRPr lang="en-IN"/>
          </a:p>
        </p:txBody>
      </p:sp>
      <p:sp>
        <p:nvSpPr>
          <p:cNvPr id="32" name="Shape 13">
            <a:extLst>
              <a:ext uri="{FF2B5EF4-FFF2-40B4-BE49-F238E27FC236}">
                <a16:creationId xmlns:a16="http://schemas.microsoft.com/office/drawing/2014/main" id="{63B18C03-9CCE-EB94-7AEA-EAA4D9CF11E8}"/>
              </a:ext>
            </a:extLst>
          </p:cNvPr>
          <p:cNvSpPr/>
          <p:nvPr/>
        </p:nvSpPr>
        <p:spPr>
          <a:xfrm>
            <a:off x="2799218" y="4221480"/>
            <a:ext cx="1928020" cy="457994"/>
          </a:xfrm>
          <a:prstGeom prst="rect">
            <a:avLst/>
          </a:prstGeom>
          <a:solidFill>
            <a:srgbClr val="BC312C"/>
          </a:solidFill>
          <a:ln/>
        </p:spPr>
        <p:txBody>
          <a:bodyPr/>
          <a:lstStyle/>
          <a:p>
            <a:endParaRPr lang="en-IN"/>
          </a:p>
        </p:txBody>
      </p:sp>
      <p:sp>
        <p:nvSpPr>
          <p:cNvPr id="34" name="Text 14">
            <a:extLst>
              <a:ext uri="{FF2B5EF4-FFF2-40B4-BE49-F238E27FC236}">
                <a16:creationId xmlns:a16="http://schemas.microsoft.com/office/drawing/2014/main" id="{FCD2AE15-605D-3DAE-E2E4-ADD4F2F03A2D}"/>
              </a:ext>
            </a:extLst>
          </p:cNvPr>
          <p:cNvSpPr/>
          <p:nvPr/>
        </p:nvSpPr>
        <p:spPr>
          <a:xfrm>
            <a:off x="2877646" y="4221480"/>
            <a:ext cx="1771164" cy="457994"/>
          </a:xfrm>
          <a:prstGeom prst="rect">
            <a:avLst/>
          </a:prstGeom>
          <a:noFill/>
          <a:ln/>
        </p:spPr>
        <p:txBody>
          <a:bodyPr wrap="square" lIns="0" tIns="0" rIns="0" bIns="0" rtlCol="0" anchor="ctr"/>
          <a:lstStyle/>
          <a:p>
            <a:pPr marL="0" indent="0">
              <a:buNone/>
            </a:pPr>
            <a:r>
              <a:rPr lang="en-US" sz="1400" b="1" dirty="0">
                <a:solidFill>
                  <a:srgbClr val="FFFFFF"/>
                </a:solidFill>
                <a:latin typeface="Times New Roman" panose="02020603050405020304" pitchFamily="18" charset="0"/>
                <a:ea typeface="Calibri" pitchFamily="34" charset="-122"/>
                <a:cs typeface="Times New Roman" panose="02020603050405020304" pitchFamily="18" charset="0"/>
              </a:rPr>
              <a:t>Accessibility Gap</a:t>
            </a:r>
            <a:endParaRPr lang="en-US" sz="1400" dirty="0">
              <a:latin typeface="Times New Roman" panose="02020603050405020304" pitchFamily="18" charset="0"/>
              <a:cs typeface="Times New Roman" panose="02020603050405020304" pitchFamily="18" charset="0"/>
            </a:endParaRPr>
          </a:p>
        </p:txBody>
      </p:sp>
      <p:sp>
        <p:nvSpPr>
          <p:cNvPr id="36" name="Text 15">
            <a:extLst>
              <a:ext uri="{FF2B5EF4-FFF2-40B4-BE49-F238E27FC236}">
                <a16:creationId xmlns:a16="http://schemas.microsoft.com/office/drawing/2014/main" id="{ECE66CA8-4D0B-57F9-77C1-2BA329DF40E1}"/>
              </a:ext>
            </a:extLst>
          </p:cNvPr>
          <p:cNvSpPr/>
          <p:nvPr/>
        </p:nvSpPr>
        <p:spPr>
          <a:xfrm>
            <a:off x="2897253" y="4724400"/>
            <a:ext cx="1731950" cy="1323094"/>
          </a:xfrm>
          <a:prstGeom prst="rect">
            <a:avLst/>
          </a:prstGeom>
          <a:noFill/>
          <a:ln/>
        </p:spPr>
        <p:txBody>
          <a:bodyPr wrap="square" lIns="0" tIns="0" rIns="0" bIns="0" rtlCol="0" anchor="t"/>
          <a:lstStyle/>
          <a:p>
            <a:pPr marL="0" indent="0">
              <a:lnSpc>
                <a:spcPct val="110000"/>
              </a:lnSpc>
              <a:buNone/>
            </a:pPr>
            <a:r>
              <a:rPr lang="en-US" sz="1600" dirty="0">
                <a:solidFill>
                  <a:srgbClr val="262626"/>
                </a:solidFill>
                <a:latin typeface="Times New Roman" panose="02020603050405020304" pitchFamily="18" charset="0"/>
                <a:ea typeface="Calibri" pitchFamily="34" charset="-122"/>
                <a:cs typeface="Times New Roman" panose="02020603050405020304" pitchFamily="18" charset="0"/>
              </a:rPr>
              <a:t>Accurate tools assume enterprise dashboards and IT staff.</a:t>
            </a:r>
            <a:endParaRPr lang="en-US" sz="1600" dirty="0">
              <a:latin typeface="Times New Roman" panose="02020603050405020304" pitchFamily="18" charset="0"/>
              <a:cs typeface="Times New Roman" panose="02020603050405020304" pitchFamily="18" charset="0"/>
            </a:endParaRPr>
          </a:p>
        </p:txBody>
      </p:sp>
      <p:sp>
        <p:nvSpPr>
          <p:cNvPr id="38" name="Shape 16">
            <a:extLst>
              <a:ext uri="{FF2B5EF4-FFF2-40B4-BE49-F238E27FC236}">
                <a16:creationId xmlns:a16="http://schemas.microsoft.com/office/drawing/2014/main" id="{B5A749D2-F325-E38C-EC8C-DFE1D6125E5E}"/>
              </a:ext>
            </a:extLst>
          </p:cNvPr>
          <p:cNvSpPr/>
          <p:nvPr/>
        </p:nvSpPr>
        <p:spPr>
          <a:xfrm>
            <a:off x="5074481" y="4221479"/>
            <a:ext cx="1928020" cy="1984641"/>
          </a:xfrm>
          <a:prstGeom prst="roundRect">
            <a:avLst>
              <a:gd name="adj" fmla="val 4103"/>
            </a:avLst>
          </a:prstGeom>
          <a:solidFill>
            <a:srgbClr val="FFFFFF"/>
          </a:solidFill>
          <a:ln w="15875">
            <a:solidFill>
              <a:srgbClr val="BC312C"/>
            </a:solidFill>
            <a:prstDash val="solid"/>
          </a:ln>
        </p:spPr>
        <p:txBody>
          <a:bodyPr/>
          <a:lstStyle/>
          <a:p>
            <a:endParaRPr lang="en-IN"/>
          </a:p>
        </p:txBody>
      </p:sp>
      <p:sp>
        <p:nvSpPr>
          <p:cNvPr id="40" name="Shape 17">
            <a:extLst>
              <a:ext uri="{FF2B5EF4-FFF2-40B4-BE49-F238E27FC236}">
                <a16:creationId xmlns:a16="http://schemas.microsoft.com/office/drawing/2014/main" id="{223210BB-5FDB-C8F1-DDEF-80DD6E421395}"/>
              </a:ext>
            </a:extLst>
          </p:cNvPr>
          <p:cNvSpPr/>
          <p:nvPr/>
        </p:nvSpPr>
        <p:spPr>
          <a:xfrm>
            <a:off x="5074481" y="4221480"/>
            <a:ext cx="1928020" cy="457994"/>
          </a:xfrm>
          <a:prstGeom prst="rect">
            <a:avLst/>
          </a:prstGeom>
          <a:solidFill>
            <a:srgbClr val="BC312C"/>
          </a:solidFill>
          <a:ln/>
        </p:spPr>
        <p:txBody>
          <a:bodyPr/>
          <a:lstStyle/>
          <a:p>
            <a:endParaRPr lang="en-IN"/>
          </a:p>
        </p:txBody>
      </p:sp>
      <p:sp>
        <p:nvSpPr>
          <p:cNvPr id="42" name="Text 18">
            <a:extLst>
              <a:ext uri="{FF2B5EF4-FFF2-40B4-BE49-F238E27FC236}">
                <a16:creationId xmlns:a16="http://schemas.microsoft.com/office/drawing/2014/main" id="{A8B4FF82-78D6-94FD-105F-13C969F37BE9}"/>
              </a:ext>
            </a:extLst>
          </p:cNvPr>
          <p:cNvSpPr/>
          <p:nvPr/>
        </p:nvSpPr>
        <p:spPr>
          <a:xfrm>
            <a:off x="5152909" y="4221480"/>
            <a:ext cx="1771164" cy="457994"/>
          </a:xfrm>
          <a:prstGeom prst="rect">
            <a:avLst/>
          </a:prstGeom>
          <a:noFill/>
          <a:ln/>
        </p:spPr>
        <p:txBody>
          <a:bodyPr wrap="square" lIns="0" tIns="0" rIns="0" bIns="0" rtlCol="0" anchor="ctr"/>
          <a:lstStyle/>
          <a:p>
            <a:pPr marL="0" indent="0">
              <a:buNone/>
            </a:pPr>
            <a:r>
              <a:rPr lang="en-US" sz="1400" b="1" dirty="0">
                <a:solidFill>
                  <a:srgbClr val="FFFFFF"/>
                </a:solidFill>
                <a:latin typeface="Times New Roman" panose="02020603050405020304" pitchFamily="18" charset="0"/>
                <a:ea typeface="Calibri" pitchFamily="34" charset="-122"/>
                <a:cs typeface="Times New Roman" panose="02020603050405020304" pitchFamily="18" charset="0"/>
              </a:rPr>
              <a:t>Infrastructure Gap</a:t>
            </a:r>
            <a:endParaRPr lang="en-US" sz="1400" dirty="0">
              <a:latin typeface="Times New Roman" panose="02020603050405020304" pitchFamily="18" charset="0"/>
              <a:cs typeface="Times New Roman" panose="02020603050405020304" pitchFamily="18" charset="0"/>
            </a:endParaRPr>
          </a:p>
        </p:txBody>
      </p:sp>
      <p:sp>
        <p:nvSpPr>
          <p:cNvPr id="44" name="Text 19">
            <a:extLst>
              <a:ext uri="{FF2B5EF4-FFF2-40B4-BE49-F238E27FC236}">
                <a16:creationId xmlns:a16="http://schemas.microsoft.com/office/drawing/2014/main" id="{20FAE579-7D08-554C-860B-CE9F51C55B47}"/>
              </a:ext>
            </a:extLst>
          </p:cNvPr>
          <p:cNvSpPr/>
          <p:nvPr/>
        </p:nvSpPr>
        <p:spPr>
          <a:xfrm>
            <a:off x="5172516" y="4724400"/>
            <a:ext cx="1731950" cy="1323094"/>
          </a:xfrm>
          <a:prstGeom prst="rect">
            <a:avLst/>
          </a:prstGeom>
          <a:noFill/>
          <a:ln/>
        </p:spPr>
        <p:txBody>
          <a:bodyPr wrap="square" lIns="0" tIns="0" rIns="0" bIns="0" rtlCol="0" anchor="t"/>
          <a:lstStyle/>
          <a:p>
            <a:pPr marL="0" indent="0">
              <a:lnSpc>
                <a:spcPct val="110000"/>
              </a:lnSpc>
              <a:buNone/>
            </a:pPr>
            <a:r>
              <a:rPr lang="en-US" sz="1600" dirty="0">
                <a:solidFill>
                  <a:srgbClr val="262626"/>
                </a:solidFill>
                <a:latin typeface="Times New Roman" panose="02020603050405020304" pitchFamily="18" charset="0"/>
                <a:ea typeface="Calibri" pitchFamily="34" charset="-122"/>
                <a:cs typeface="Times New Roman" panose="02020603050405020304" pitchFamily="18" charset="0"/>
              </a:rPr>
              <a:t>Best-performing systems assume IoT hardware or heavy compute.</a:t>
            </a:r>
            <a:endParaRPr lang="en-US" sz="1600" dirty="0">
              <a:latin typeface="Times New Roman" panose="02020603050405020304" pitchFamily="18" charset="0"/>
              <a:cs typeface="Times New Roman" panose="02020603050405020304" pitchFamily="18" charset="0"/>
            </a:endParaRPr>
          </a:p>
        </p:txBody>
      </p:sp>
      <p:sp>
        <p:nvSpPr>
          <p:cNvPr id="46" name="Shape 20">
            <a:extLst>
              <a:ext uri="{FF2B5EF4-FFF2-40B4-BE49-F238E27FC236}">
                <a16:creationId xmlns:a16="http://schemas.microsoft.com/office/drawing/2014/main" id="{7161F564-B837-37F7-9925-8908C73B2E15}"/>
              </a:ext>
            </a:extLst>
          </p:cNvPr>
          <p:cNvSpPr/>
          <p:nvPr/>
        </p:nvSpPr>
        <p:spPr>
          <a:xfrm>
            <a:off x="7391082" y="4221479"/>
            <a:ext cx="1928020" cy="1984641"/>
          </a:xfrm>
          <a:prstGeom prst="roundRect">
            <a:avLst>
              <a:gd name="adj" fmla="val 4103"/>
            </a:avLst>
          </a:prstGeom>
          <a:solidFill>
            <a:srgbClr val="FFFFFF"/>
          </a:solidFill>
          <a:ln w="15875">
            <a:solidFill>
              <a:srgbClr val="BC312C"/>
            </a:solidFill>
            <a:prstDash val="solid"/>
          </a:ln>
        </p:spPr>
        <p:txBody>
          <a:bodyPr/>
          <a:lstStyle/>
          <a:p>
            <a:endParaRPr lang="en-IN"/>
          </a:p>
        </p:txBody>
      </p:sp>
      <p:sp>
        <p:nvSpPr>
          <p:cNvPr id="48" name="Shape 21">
            <a:extLst>
              <a:ext uri="{FF2B5EF4-FFF2-40B4-BE49-F238E27FC236}">
                <a16:creationId xmlns:a16="http://schemas.microsoft.com/office/drawing/2014/main" id="{3BF03896-D2E2-E2A9-F79B-1F3202679A38}"/>
              </a:ext>
            </a:extLst>
          </p:cNvPr>
          <p:cNvSpPr/>
          <p:nvPr/>
        </p:nvSpPr>
        <p:spPr>
          <a:xfrm>
            <a:off x="7391082" y="4221480"/>
            <a:ext cx="1928020" cy="457994"/>
          </a:xfrm>
          <a:prstGeom prst="rect">
            <a:avLst/>
          </a:prstGeom>
          <a:solidFill>
            <a:srgbClr val="BC312C"/>
          </a:solidFill>
          <a:ln/>
        </p:spPr>
        <p:txBody>
          <a:bodyPr/>
          <a:lstStyle/>
          <a:p>
            <a:endParaRPr lang="en-IN"/>
          </a:p>
        </p:txBody>
      </p:sp>
      <p:sp>
        <p:nvSpPr>
          <p:cNvPr id="50" name="Text 22">
            <a:extLst>
              <a:ext uri="{FF2B5EF4-FFF2-40B4-BE49-F238E27FC236}">
                <a16:creationId xmlns:a16="http://schemas.microsoft.com/office/drawing/2014/main" id="{959181A3-580B-83B2-40FD-BB3705CA389F}"/>
              </a:ext>
            </a:extLst>
          </p:cNvPr>
          <p:cNvSpPr/>
          <p:nvPr/>
        </p:nvSpPr>
        <p:spPr>
          <a:xfrm>
            <a:off x="7469510" y="4221480"/>
            <a:ext cx="1771164" cy="457994"/>
          </a:xfrm>
          <a:prstGeom prst="rect">
            <a:avLst/>
          </a:prstGeom>
          <a:noFill/>
          <a:ln/>
        </p:spPr>
        <p:txBody>
          <a:bodyPr wrap="square" lIns="0" tIns="0" rIns="0" bIns="0" rtlCol="0" anchor="ctr"/>
          <a:lstStyle/>
          <a:p>
            <a:pPr marL="0" indent="0">
              <a:buNone/>
            </a:pPr>
            <a:r>
              <a:rPr lang="en-US" sz="1400" b="1" dirty="0">
                <a:solidFill>
                  <a:srgbClr val="FFFFFF"/>
                </a:solidFill>
                <a:latin typeface="Times New Roman" panose="02020603050405020304" pitchFamily="18" charset="0"/>
                <a:ea typeface="Calibri" pitchFamily="34" charset="-122"/>
                <a:cs typeface="Times New Roman" panose="02020603050405020304" pitchFamily="18" charset="0"/>
              </a:rPr>
              <a:t>Cold-Start Gap</a:t>
            </a:r>
            <a:endParaRPr lang="en-US" sz="1400" dirty="0">
              <a:latin typeface="Times New Roman" panose="02020603050405020304" pitchFamily="18" charset="0"/>
              <a:cs typeface="Times New Roman" panose="02020603050405020304" pitchFamily="18" charset="0"/>
            </a:endParaRPr>
          </a:p>
        </p:txBody>
      </p:sp>
      <p:sp>
        <p:nvSpPr>
          <p:cNvPr id="52" name="Text 23">
            <a:extLst>
              <a:ext uri="{FF2B5EF4-FFF2-40B4-BE49-F238E27FC236}">
                <a16:creationId xmlns:a16="http://schemas.microsoft.com/office/drawing/2014/main" id="{6300D305-542B-FC46-AFF2-91D214B60418}"/>
              </a:ext>
            </a:extLst>
          </p:cNvPr>
          <p:cNvSpPr/>
          <p:nvPr/>
        </p:nvSpPr>
        <p:spPr>
          <a:xfrm>
            <a:off x="7489117" y="4724400"/>
            <a:ext cx="1731950" cy="1323094"/>
          </a:xfrm>
          <a:prstGeom prst="rect">
            <a:avLst/>
          </a:prstGeom>
          <a:noFill/>
          <a:ln/>
        </p:spPr>
        <p:txBody>
          <a:bodyPr wrap="square" lIns="0" tIns="0" rIns="0" bIns="0" rtlCol="0" anchor="t"/>
          <a:lstStyle/>
          <a:p>
            <a:pPr marL="0" indent="0">
              <a:lnSpc>
                <a:spcPct val="110000"/>
              </a:lnSpc>
              <a:buNone/>
            </a:pPr>
            <a:r>
              <a:rPr lang="en-US" sz="1600" dirty="0">
                <a:solidFill>
                  <a:srgbClr val="262626"/>
                </a:solidFill>
                <a:latin typeface="Times New Roman" panose="02020603050405020304" pitchFamily="18" charset="0"/>
                <a:ea typeface="Calibri" pitchFamily="34" charset="-122"/>
                <a:cs typeface="Times New Roman" panose="02020603050405020304" pitchFamily="18" charset="0"/>
              </a:rPr>
              <a:t>Deep learning models fail on the short, sparse histories real SMEs.</a:t>
            </a:r>
            <a:endParaRPr lang="en-US"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302507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7D39A5-B164-C187-87B4-77BDB92A93D1}"/>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98FA9D51-D16A-B0AE-045B-A390168F3FE5}"/>
              </a:ext>
            </a:extLst>
          </p:cNvPr>
          <p:cNvPicPr>
            <a:picLocks noChangeAspect="1"/>
          </p:cNvPicPr>
          <p:nvPr/>
        </p:nvPicPr>
        <p:blipFill rotWithShape="1">
          <a:blip r:embed="rId2">
            <a:extLst>
              <a:ext uri="{28A0092B-C50C-407E-A947-70E740481C1C}">
                <a14:useLocalDpi xmlns:a14="http://schemas.microsoft.com/office/drawing/2010/main" val="0"/>
              </a:ext>
            </a:extLst>
          </a:blip>
          <a:srcRect l="48363" r="-1" b="45098"/>
          <a:stretch/>
        </p:blipFill>
        <p:spPr>
          <a:xfrm>
            <a:off x="0" y="6750969"/>
            <a:ext cx="9906000" cy="131162"/>
          </a:xfrm>
          <a:prstGeom prst="rect">
            <a:avLst/>
          </a:prstGeom>
        </p:spPr>
      </p:pic>
      <p:pic>
        <p:nvPicPr>
          <p:cNvPr id="6" name="Picture 5">
            <a:extLst>
              <a:ext uri="{FF2B5EF4-FFF2-40B4-BE49-F238E27FC236}">
                <a16:creationId xmlns:a16="http://schemas.microsoft.com/office/drawing/2014/main" id="{39828D41-49B8-ACCD-7914-083C12CD9B18}"/>
              </a:ext>
            </a:extLst>
          </p:cNvPr>
          <p:cNvPicPr>
            <a:picLocks noChangeAspect="1"/>
          </p:cNvPicPr>
          <p:nvPr/>
        </p:nvPicPr>
        <p:blipFill rotWithShape="1">
          <a:blip r:embed="rId3"/>
          <a:srcRect b="6633"/>
          <a:stretch/>
        </p:blipFill>
        <p:spPr>
          <a:xfrm>
            <a:off x="0" y="0"/>
            <a:ext cx="3927231" cy="939765"/>
          </a:xfrm>
          <a:prstGeom prst="rect">
            <a:avLst/>
          </a:prstGeom>
        </p:spPr>
      </p:pic>
      <p:pic>
        <p:nvPicPr>
          <p:cNvPr id="7" name="Picture 6">
            <a:extLst>
              <a:ext uri="{FF2B5EF4-FFF2-40B4-BE49-F238E27FC236}">
                <a16:creationId xmlns:a16="http://schemas.microsoft.com/office/drawing/2014/main" id="{7311459A-85E6-FC40-6186-7472698C18EE}"/>
              </a:ext>
            </a:extLst>
          </p:cNvPr>
          <p:cNvPicPr>
            <a:picLocks noChangeAspect="1"/>
          </p:cNvPicPr>
          <p:nvPr/>
        </p:nvPicPr>
        <p:blipFill rotWithShape="1">
          <a:blip r:embed="rId2">
            <a:extLst>
              <a:ext uri="{28A0092B-C50C-407E-A947-70E740481C1C}">
                <a14:useLocalDpi xmlns:a14="http://schemas.microsoft.com/office/drawing/2010/main" val="0"/>
              </a:ext>
            </a:extLst>
          </a:blip>
          <a:srcRect l="48363" r="-1" b="45098"/>
          <a:stretch/>
        </p:blipFill>
        <p:spPr>
          <a:xfrm>
            <a:off x="2637692" y="0"/>
            <a:ext cx="7268307" cy="525780"/>
          </a:xfrm>
          <a:prstGeom prst="rect">
            <a:avLst/>
          </a:prstGeom>
        </p:spPr>
      </p:pic>
      <p:sp>
        <p:nvSpPr>
          <p:cNvPr id="11" name="Rectangle 10">
            <a:extLst>
              <a:ext uri="{FF2B5EF4-FFF2-40B4-BE49-F238E27FC236}">
                <a16:creationId xmlns:a16="http://schemas.microsoft.com/office/drawing/2014/main" id="{DD981F05-DCA4-73F9-1FDC-E8EF54217F55}"/>
              </a:ext>
            </a:extLst>
          </p:cNvPr>
          <p:cNvSpPr/>
          <p:nvPr/>
        </p:nvSpPr>
        <p:spPr>
          <a:xfrm>
            <a:off x="1652953" y="107031"/>
            <a:ext cx="8253045" cy="336631"/>
          </a:xfrm>
          <a:prstGeom prst="rect">
            <a:avLst/>
          </a:prstGeom>
        </p:spPr>
        <p:txBody>
          <a:bodyPr wrap="square">
            <a:spAutoFit/>
          </a:bodyPr>
          <a:lstStyle/>
          <a:p>
            <a:pPr algn="ctr">
              <a:lnSpc>
                <a:spcPct val="107000"/>
              </a:lnSpc>
              <a:spcAft>
                <a:spcPts val="800"/>
              </a:spcAft>
            </a:pPr>
            <a:r>
              <a:rPr lang="en-IN" sz="1600" b="1" dirty="0">
                <a:solidFill>
                  <a:schemeClr val="bg1"/>
                </a:solidFill>
                <a:latin typeface="Cambria" panose="02040503050406030204" pitchFamily="18" charset="0"/>
              </a:rPr>
              <a:t>MUKESH PATEL SCHOOL OF TECHNOLOGY MANAGEMENT &amp; ENGINEERING, SHIRPUR</a:t>
            </a:r>
            <a:endParaRPr lang="en-US" sz="1600" b="1" dirty="0">
              <a:solidFill>
                <a:schemeClr val="bg1"/>
              </a:solidFill>
              <a:latin typeface="Cambria" panose="02040503050406030204" pitchFamily="18" charset="0"/>
            </a:endParaRPr>
          </a:p>
        </p:txBody>
      </p:sp>
      <p:sp>
        <p:nvSpPr>
          <p:cNvPr id="3" name="Slide Number Placeholder 2">
            <a:extLst>
              <a:ext uri="{FF2B5EF4-FFF2-40B4-BE49-F238E27FC236}">
                <a16:creationId xmlns:a16="http://schemas.microsoft.com/office/drawing/2014/main" id="{ACCE0146-E531-9D44-6013-7B65565B6189}"/>
              </a:ext>
            </a:extLst>
          </p:cNvPr>
          <p:cNvSpPr>
            <a:spLocks noGrp="1"/>
          </p:cNvSpPr>
          <p:nvPr>
            <p:ph type="sldNum" sz="quarter" idx="12"/>
          </p:nvPr>
        </p:nvSpPr>
        <p:spPr/>
        <p:txBody>
          <a:bodyPr/>
          <a:lstStyle/>
          <a:p>
            <a:fld id="{9DC013F7-6D70-4318-BA41-212A9B59413B}" type="slidenum">
              <a:rPr lang="en-US" smtClean="0"/>
              <a:t>5</a:t>
            </a:fld>
            <a:endParaRPr lang="en-US" dirty="0"/>
          </a:p>
        </p:txBody>
      </p:sp>
      <p:sp>
        <p:nvSpPr>
          <p:cNvPr id="2" name="AutoShape 4" descr="Neural Networks Hyperparameter tuning in tensorflow 2.0 | by SiDdhartha |  ML Book | Medium">
            <a:extLst>
              <a:ext uri="{FF2B5EF4-FFF2-40B4-BE49-F238E27FC236}">
                <a16:creationId xmlns:a16="http://schemas.microsoft.com/office/drawing/2014/main" id="{183D9E79-9CD9-246C-2AFC-1002D69CDF51}"/>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8" name="Rectangle 7">
            <a:extLst>
              <a:ext uri="{FF2B5EF4-FFF2-40B4-BE49-F238E27FC236}">
                <a16:creationId xmlns:a16="http://schemas.microsoft.com/office/drawing/2014/main" id="{E6E0332E-C9FB-AED3-0DCD-29078A742C25}"/>
              </a:ext>
            </a:extLst>
          </p:cNvPr>
          <p:cNvSpPr/>
          <p:nvPr/>
        </p:nvSpPr>
        <p:spPr>
          <a:xfrm>
            <a:off x="-85226" y="1155959"/>
            <a:ext cx="9418320" cy="523220"/>
          </a:xfrm>
          <a:prstGeom prst="rect">
            <a:avLst/>
          </a:prstGeom>
        </p:spPr>
        <p:txBody>
          <a:bodyPr wrap="square">
            <a:spAutoFit/>
          </a:bodyPr>
          <a:lstStyle/>
          <a:p>
            <a:pPr algn="ctr"/>
            <a:endParaRPr lang="en-US" sz="2800" b="1" dirty="0">
              <a:latin typeface="Teko SemiBold" panose="02000000000000000000" pitchFamily="2" charset="0"/>
              <a:cs typeface="Teko SemiBold" panose="02000000000000000000" pitchFamily="2" charset="0"/>
            </a:endParaRPr>
          </a:p>
        </p:txBody>
      </p:sp>
      <p:sp>
        <p:nvSpPr>
          <p:cNvPr id="5" name="Text 3">
            <a:extLst>
              <a:ext uri="{FF2B5EF4-FFF2-40B4-BE49-F238E27FC236}">
                <a16:creationId xmlns:a16="http://schemas.microsoft.com/office/drawing/2014/main" id="{EB9F7392-7C7C-4A66-7285-CF9045B40850}"/>
              </a:ext>
            </a:extLst>
          </p:cNvPr>
          <p:cNvSpPr/>
          <p:nvPr/>
        </p:nvSpPr>
        <p:spPr>
          <a:xfrm>
            <a:off x="316306" y="1148594"/>
            <a:ext cx="8939660" cy="594360"/>
          </a:xfrm>
          <a:prstGeom prst="rect">
            <a:avLst/>
          </a:prstGeom>
          <a:noFill/>
          <a:ln/>
        </p:spPr>
        <p:txBody>
          <a:bodyPr wrap="square" lIns="0" tIns="0" rIns="0" bIns="0" rtlCol="0" anchor="ctr"/>
          <a:lstStyle/>
          <a:p>
            <a:pPr marL="0" indent="0" algn="l">
              <a:buNone/>
            </a:pPr>
            <a:r>
              <a:rPr lang="en-US" sz="2700" b="1" dirty="0">
                <a:solidFill>
                  <a:srgbClr val="BC312C"/>
                </a:solidFill>
                <a:latin typeface="Cambria" pitchFamily="34" charset="0"/>
                <a:ea typeface="Cambria" pitchFamily="34" charset="-122"/>
                <a:cs typeface="Cambria" pitchFamily="34" charset="-120"/>
              </a:rPr>
              <a:t>Literature Review (Brief)</a:t>
            </a:r>
            <a:endParaRPr lang="en-US" sz="2700" dirty="0"/>
          </a:p>
        </p:txBody>
      </p:sp>
      <p:sp>
        <p:nvSpPr>
          <p:cNvPr id="12" name="Shape 4">
            <a:extLst>
              <a:ext uri="{FF2B5EF4-FFF2-40B4-BE49-F238E27FC236}">
                <a16:creationId xmlns:a16="http://schemas.microsoft.com/office/drawing/2014/main" id="{6F6CE02E-0790-B411-6C41-516F55366C8E}"/>
              </a:ext>
            </a:extLst>
          </p:cNvPr>
          <p:cNvSpPr/>
          <p:nvPr/>
        </p:nvSpPr>
        <p:spPr>
          <a:xfrm>
            <a:off x="316306" y="1761242"/>
            <a:ext cx="8939660" cy="0"/>
          </a:xfrm>
          <a:prstGeom prst="line">
            <a:avLst/>
          </a:prstGeom>
          <a:noFill/>
          <a:ln w="12700">
            <a:solidFill>
              <a:srgbClr val="E0DAD8"/>
            </a:solidFill>
            <a:prstDash val="solid"/>
          </a:ln>
        </p:spPr>
        <p:txBody>
          <a:bodyPr/>
          <a:lstStyle/>
          <a:p>
            <a:endParaRPr lang="en-IN"/>
          </a:p>
        </p:txBody>
      </p:sp>
      <p:sp>
        <p:nvSpPr>
          <p:cNvPr id="14" name="Text 5">
            <a:extLst>
              <a:ext uri="{FF2B5EF4-FFF2-40B4-BE49-F238E27FC236}">
                <a16:creationId xmlns:a16="http://schemas.microsoft.com/office/drawing/2014/main" id="{ABFEA0C2-D3DD-56F4-E4F9-C3A95F9244CA}"/>
              </a:ext>
            </a:extLst>
          </p:cNvPr>
          <p:cNvSpPr/>
          <p:nvPr/>
        </p:nvSpPr>
        <p:spPr>
          <a:xfrm>
            <a:off x="505374" y="1928177"/>
            <a:ext cx="8939660" cy="411480"/>
          </a:xfrm>
          <a:prstGeom prst="rect">
            <a:avLst/>
          </a:prstGeom>
          <a:noFill/>
          <a:ln/>
        </p:spPr>
        <p:txBody>
          <a:bodyPr wrap="square" lIns="0" tIns="0" rIns="0" bIns="0" rtlCol="0" anchor="ctr"/>
          <a:lstStyle/>
          <a:p>
            <a:pPr marL="0" indent="0">
              <a:buNone/>
            </a:pPr>
            <a:r>
              <a:rPr lang="en-US" sz="1400" dirty="0">
                <a:solidFill>
                  <a:srgbClr val="262626"/>
                </a:solidFill>
                <a:latin typeface="Calibri" pitchFamily="34" charset="0"/>
                <a:ea typeface="Calibri" pitchFamily="34" charset="-122"/>
                <a:cs typeface="Calibri" pitchFamily="34" charset="-120"/>
              </a:rPr>
              <a:t>25 papers reviewed (2024–2026) across five themes: forecasting methods, external regressors, SME data challenges, inventory-to-action, and technology adoption.</a:t>
            </a:r>
            <a:endParaRPr lang="en-US" sz="1400" dirty="0"/>
          </a:p>
        </p:txBody>
      </p:sp>
      <p:graphicFrame>
        <p:nvGraphicFramePr>
          <p:cNvPr id="16" name="Table 0">
            <a:extLst>
              <a:ext uri="{FF2B5EF4-FFF2-40B4-BE49-F238E27FC236}">
                <a16:creationId xmlns:a16="http://schemas.microsoft.com/office/drawing/2014/main" id="{A38DB46D-5B1C-A3FC-92C6-3261734D6EFE}"/>
              </a:ext>
            </a:extLst>
          </p:cNvPr>
          <p:cNvGraphicFramePr>
            <a:graphicFrameLocks noGrp="1"/>
          </p:cNvGraphicFramePr>
          <p:nvPr>
            <p:extLst>
              <p:ext uri="{D42A27DB-BD31-4B8C-83A1-F6EECF244321}">
                <p14:modId xmlns:p14="http://schemas.microsoft.com/office/powerpoint/2010/main" val="2698227140"/>
              </p:ext>
            </p:extLst>
          </p:nvPr>
        </p:nvGraphicFramePr>
        <p:xfrm>
          <a:off x="484263" y="2456373"/>
          <a:ext cx="8939659" cy="4148388"/>
        </p:xfrm>
        <a:graphic>
          <a:graphicData uri="http://schemas.openxmlformats.org/drawingml/2006/table">
            <a:tbl>
              <a:tblPr/>
              <a:tblGrid>
                <a:gridCol w="1905174">
                  <a:extLst>
                    <a:ext uri="{9D8B030D-6E8A-4147-A177-3AD203B41FA5}">
                      <a16:colId xmlns:a16="http://schemas.microsoft.com/office/drawing/2014/main" val="20000"/>
                    </a:ext>
                  </a:extLst>
                </a:gridCol>
                <a:gridCol w="1758621">
                  <a:extLst>
                    <a:ext uri="{9D8B030D-6E8A-4147-A177-3AD203B41FA5}">
                      <a16:colId xmlns:a16="http://schemas.microsoft.com/office/drawing/2014/main" val="20001"/>
                    </a:ext>
                  </a:extLst>
                </a:gridCol>
                <a:gridCol w="1685345">
                  <a:extLst>
                    <a:ext uri="{9D8B030D-6E8A-4147-A177-3AD203B41FA5}">
                      <a16:colId xmlns:a16="http://schemas.microsoft.com/office/drawing/2014/main" val="20002"/>
                    </a:ext>
                  </a:extLst>
                </a:gridCol>
                <a:gridCol w="1538794">
                  <a:extLst>
                    <a:ext uri="{9D8B030D-6E8A-4147-A177-3AD203B41FA5}">
                      <a16:colId xmlns:a16="http://schemas.microsoft.com/office/drawing/2014/main" val="20003"/>
                    </a:ext>
                  </a:extLst>
                </a:gridCol>
                <a:gridCol w="2051725">
                  <a:extLst>
                    <a:ext uri="{9D8B030D-6E8A-4147-A177-3AD203B41FA5}">
                      <a16:colId xmlns:a16="http://schemas.microsoft.com/office/drawing/2014/main" val="20004"/>
                    </a:ext>
                  </a:extLst>
                </a:gridCol>
              </a:tblGrid>
              <a:tr h="429828">
                <a:tc>
                  <a:txBody>
                    <a:bodyPr/>
                    <a:lstStyle/>
                    <a:p>
                      <a:pPr marL="0" indent="0">
                        <a:buNone/>
                      </a:pPr>
                      <a:r>
                        <a:rPr lang="en-US" sz="1600" dirty="0">
                          <a:solidFill>
                            <a:srgbClr val="262626"/>
                          </a:solidFill>
                          <a:latin typeface="Calibri" panose="020F0502020204030204" pitchFamily="34" charset="0"/>
                          <a:ea typeface="Calibri" panose="020F0502020204030204" pitchFamily="34" charset="0"/>
                          <a:cs typeface="Calibri" panose="020F0502020204030204" pitchFamily="34" charset="0"/>
                        </a:rPr>
                        <a:t>Study</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tc>
                  <a:txBody>
                    <a:bodyPr/>
                    <a:lstStyle/>
                    <a:p>
                      <a:pPr marL="0" indent="0">
                        <a:buNone/>
                      </a:pPr>
                      <a:r>
                        <a:rPr lang="en-US" sz="1600" dirty="0">
                          <a:solidFill>
                            <a:srgbClr val="262626"/>
                          </a:solidFill>
                          <a:latin typeface="Calibri" panose="020F0502020204030204" pitchFamily="34" charset="0"/>
                          <a:ea typeface="Calibri" panose="020F0502020204030204" pitchFamily="34" charset="0"/>
                          <a:cs typeface="Calibri" panose="020F0502020204030204" pitchFamily="34" charset="0"/>
                        </a:rPr>
                        <a:t>Model</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tc>
                  <a:txBody>
                    <a:bodyPr/>
                    <a:lstStyle/>
                    <a:p>
                      <a:pPr marL="0" indent="0">
                        <a:buNone/>
                      </a:pPr>
                      <a:r>
                        <a:rPr lang="en-US" sz="1600" dirty="0">
                          <a:solidFill>
                            <a:srgbClr val="262626"/>
                          </a:solidFill>
                          <a:latin typeface="Calibri" panose="020F0502020204030204" pitchFamily="34" charset="0"/>
                          <a:ea typeface="Calibri" panose="020F0502020204030204" pitchFamily="34" charset="0"/>
                          <a:cs typeface="Calibri" panose="020F0502020204030204" pitchFamily="34" charset="0"/>
                        </a:rPr>
                        <a:t>Context</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tc>
                  <a:txBody>
                    <a:bodyPr/>
                    <a:lstStyle/>
                    <a:p>
                      <a:pPr marL="0" indent="0">
                        <a:buNone/>
                      </a:pPr>
                      <a:r>
                        <a:rPr lang="en-US" sz="1600" dirty="0">
                          <a:solidFill>
                            <a:srgbClr val="262626"/>
                          </a:solidFill>
                          <a:latin typeface="Calibri" panose="020F0502020204030204" pitchFamily="34" charset="0"/>
                          <a:ea typeface="Calibri" panose="020F0502020204030204" pitchFamily="34" charset="0"/>
                          <a:cs typeface="Calibri" panose="020F0502020204030204" pitchFamily="34" charset="0"/>
                        </a:rPr>
                        <a:t>Best Metric</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tc>
                  <a:txBody>
                    <a:bodyPr/>
                    <a:lstStyle/>
                    <a:p>
                      <a:pPr marL="0" indent="0">
                        <a:buNone/>
                      </a:pPr>
                      <a:r>
                        <a:rPr lang="en-US" sz="1600" dirty="0">
                          <a:solidFill>
                            <a:srgbClr val="262626"/>
                          </a:solidFill>
                          <a:latin typeface="Calibri" panose="020F0502020204030204" pitchFamily="34" charset="0"/>
                          <a:ea typeface="Calibri" panose="020F0502020204030204" pitchFamily="34" charset="0"/>
                          <a:cs typeface="Calibri" panose="020F0502020204030204" pitchFamily="34" charset="0"/>
                        </a:rPr>
                        <a:t>Gap Left Open</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575456">
                <a:tc>
                  <a:txBody>
                    <a:bodyPr/>
                    <a:lstStyle/>
                    <a:p>
                      <a:pPr marL="0" indent="0">
                        <a:buNone/>
                      </a:pPr>
                      <a:r>
                        <a:rPr lang="en-US" sz="1600" dirty="0">
                          <a:solidFill>
                            <a:srgbClr val="262626"/>
                          </a:solidFill>
                          <a:latin typeface="Calibri" panose="020F0502020204030204" pitchFamily="34" charset="0"/>
                          <a:ea typeface="Calibri" panose="020F0502020204030204" pitchFamily="34" charset="0"/>
                          <a:cs typeface="Calibri" panose="020F0502020204030204" pitchFamily="34" charset="0"/>
                        </a:rPr>
                        <a:t>Susanto et al. (2026)</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tc>
                  <a:txBody>
                    <a:bodyPr/>
                    <a:lstStyle/>
                    <a:p>
                      <a:pPr marL="0" indent="0">
                        <a:buNone/>
                      </a:pPr>
                      <a:r>
                        <a:rPr lang="en-US" sz="1600" dirty="0">
                          <a:solidFill>
                            <a:srgbClr val="262626"/>
                          </a:solidFill>
                          <a:latin typeface="Calibri" panose="020F0502020204030204" pitchFamily="34" charset="0"/>
                          <a:ea typeface="Calibri" panose="020F0502020204030204" pitchFamily="34" charset="0"/>
                          <a:cs typeface="Calibri" panose="020F0502020204030204" pitchFamily="34" charset="0"/>
                        </a:rPr>
                        <a:t>XGBoost vs MA(7)</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tc>
                  <a:txBody>
                    <a:bodyPr/>
                    <a:lstStyle/>
                    <a:p>
                      <a:pPr marL="0" indent="0">
                        <a:buNone/>
                      </a:pPr>
                      <a:r>
                        <a:rPr lang="en-US" sz="1600" dirty="0">
                          <a:solidFill>
                            <a:srgbClr val="262626"/>
                          </a:solidFill>
                          <a:latin typeface="Calibri" panose="020F0502020204030204" pitchFamily="34" charset="0"/>
                          <a:ea typeface="Calibri" panose="020F0502020204030204" pitchFamily="34" charset="0"/>
                          <a:cs typeface="Calibri" panose="020F0502020204030204" pitchFamily="34" charset="0"/>
                        </a:rPr>
                        <a:t>SME pre-order, sparse</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tc>
                  <a:txBody>
                    <a:bodyPr/>
                    <a:lstStyle/>
                    <a:p>
                      <a:pPr marL="0" indent="0">
                        <a:buNone/>
                      </a:pPr>
                      <a:r>
                        <a:rPr lang="en-IN" sz="1600" b="0" i="0" u="none" strike="noStrike" cap="none" dirty="0">
                          <a:solidFill>
                            <a:schemeClr val="tx1"/>
                          </a:solidFill>
                          <a:effectLst/>
                          <a:latin typeface="Calibri" panose="020F0502020204030204" pitchFamily="34" charset="0"/>
                          <a:ea typeface="Calibri" panose="020F0502020204030204" pitchFamily="34" charset="0"/>
                          <a:cs typeface="Calibri" panose="020F0502020204030204" pitchFamily="34" charset="0"/>
                          <a:sym typeface="Arial"/>
                        </a:rPr>
                        <a:t>MAPE 54.20% (MA7)</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tc>
                  <a:txBody>
                    <a:bodyPr/>
                    <a:lstStyle/>
                    <a:p>
                      <a:pPr marL="0" indent="0">
                        <a:buNone/>
                      </a:pPr>
                      <a:r>
                        <a:rPr lang="en-US" sz="1600" dirty="0">
                          <a:solidFill>
                            <a:srgbClr val="262626"/>
                          </a:solidFill>
                          <a:latin typeface="Calibri" panose="020F0502020204030204" pitchFamily="34" charset="0"/>
                          <a:ea typeface="Calibri" panose="020F0502020204030204" pitchFamily="34" charset="0"/>
                          <a:cs typeface="Calibri" panose="020F0502020204030204" pitchFamily="34" charset="0"/>
                        </a:rPr>
                        <a:t>Regression fails on sparse data</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extLst>
                  <a:ext uri="{0D108BD9-81ED-4DB2-BD59-A6C34878D82A}">
                    <a16:rowId xmlns:a16="http://schemas.microsoft.com/office/drawing/2014/main" val="834516399"/>
                  </a:ext>
                </a:extLst>
              </a:tr>
              <a:tr h="575456">
                <a:tc>
                  <a:txBody>
                    <a:bodyPr/>
                    <a:lstStyle/>
                    <a:p>
                      <a:pPr marL="0" indent="0">
                        <a:buNone/>
                      </a:pPr>
                      <a:r>
                        <a:rPr lang="en-US" sz="1600" dirty="0">
                          <a:solidFill>
                            <a:srgbClr val="262626"/>
                          </a:solidFill>
                          <a:latin typeface="Calibri" panose="020F0502020204030204" pitchFamily="34" charset="0"/>
                          <a:ea typeface="Calibri" panose="020F0502020204030204" pitchFamily="34" charset="0"/>
                          <a:cs typeface="Calibri" panose="020F0502020204030204" pitchFamily="34" charset="0"/>
                        </a:rPr>
                        <a:t>Rahmatillah et al. (2026)</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tc>
                  <a:txBody>
                    <a:bodyPr/>
                    <a:lstStyle/>
                    <a:p>
                      <a:pPr marL="0" indent="0">
                        <a:buNone/>
                      </a:pPr>
                      <a:r>
                        <a:rPr lang="en-US" sz="1600" dirty="0">
                          <a:solidFill>
                            <a:srgbClr val="262626"/>
                          </a:solidFill>
                          <a:latin typeface="Calibri" panose="020F0502020204030204" pitchFamily="34" charset="0"/>
                          <a:ea typeface="Calibri" panose="020F0502020204030204" pitchFamily="34" charset="0"/>
                          <a:cs typeface="Calibri" panose="020F0502020204030204" pitchFamily="34" charset="0"/>
                        </a:rPr>
                        <a:t>Optimized LSTM</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tc>
                  <a:txBody>
                    <a:bodyPr/>
                    <a:lstStyle/>
                    <a:p>
                      <a:pPr marL="0" indent="0">
                        <a:buNone/>
                      </a:pPr>
                      <a:r>
                        <a:rPr lang="en-US" sz="1600" dirty="0">
                          <a:solidFill>
                            <a:srgbClr val="262626"/>
                          </a:solidFill>
                          <a:latin typeface="Calibri" panose="020F0502020204030204" pitchFamily="34" charset="0"/>
                          <a:ea typeface="Calibri" panose="020F0502020204030204" pitchFamily="34" charset="0"/>
                          <a:cs typeface="Calibri" panose="020F0502020204030204" pitchFamily="34" charset="0"/>
                        </a:rPr>
                        <a:t>SME ice cream</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tc>
                  <a:txBody>
                    <a:bodyPr/>
                    <a:lstStyle/>
                    <a:p>
                      <a:pPr marL="0" indent="0">
                        <a:buNone/>
                      </a:pPr>
                      <a:r>
                        <a:rPr lang="en-IN" sz="1600" b="0" i="0" u="none" strike="noStrike" cap="none" dirty="0">
                          <a:solidFill>
                            <a:schemeClr val="tx1"/>
                          </a:solidFill>
                          <a:effectLst/>
                          <a:latin typeface="Calibri" panose="020F0502020204030204" pitchFamily="34" charset="0"/>
                          <a:ea typeface="Calibri" panose="020F0502020204030204" pitchFamily="34" charset="0"/>
                          <a:cs typeface="Calibri" panose="020F0502020204030204" pitchFamily="34" charset="0"/>
                          <a:sym typeface="Arial"/>
                        </a:rPr>
                        <a:t>MAPE 45.06% (LSTM)</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tc>
                  <a:txBody>
                    <a:bodyPr/>
                    <a:lstStyle/>
                    <a:p>
                      <a:pPr marL="0" indent="0">
                        <a:buNone/>
                      </a:pPr>
                      <a:r>
                        <a:rPr lang="en-US" sz="1600" dirty="0">
                          <a:solidFill>
                            <a:srgbClr val="262626"/>
                          </a:solidFill>
                          <a:latin typeface="Calibri" panose="020F0502020204030204" pitchFamily="34" charset="0"/>
                          <a:ea typeface="Calibri" panose="020F0502020204030204" pitchFamily="34" charset="0"/>
                          <a:cs typeface="Calibri" panose="020F0502020204030204" pitchFamily="34" charset="0"/>
                        </a:rPr>
                        <a:t>Needs ~1,000 days of history</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extLst>
                  <a:ext uri="{0D108BD9-81ED-4DB2-BD59-A6C34878D82A}">
                    <a16:rowId xmlns:a16="http://schemas.microsoft.com/office/drawing/2014/main" val="3162092361"/>
                  </a:ext>
                </a:extLst>
              </a:tr>
              <a:tr h="773690">
                <a:tc>
                  <a:txBody>
                    <a:bodyPr/>
                    <a:lstStyle/>
                    <a:p>
                      <a:pPr marL="0" indent="0">
                        <a:buNone/>
                      </a:pPr>
                      <a:r>
                        <a:rPr lang="en-US" sz="1600" dirty="0">
                          <a:solidFill>
                            <a:srgbClr val="262626"/>
                          </a:solidFill>
                          <a:latin typeface="Calibri" panose="020F0502020204030204" pitchFamily="34" charset="0"/>
                          <a:ea typeface="Calibri" panose="020F0502020204030204" pitchFamily="34" charset="0"/>
                          <a:cs typeface="Calibri" panose="020F0502020204030204" pitchFamily="34" charset="0"/>
                        </a:rPr>
                        <a:t>Aqila et al. (2026)</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tc>
                  <a:txBody>
                    <a:bodyPr/>
                    <a:lstStyle/>
                    <a:p>
                      <a:pPr marL="0" indent="0">
                        <a:buNone/>
                      </a:pPr>
                      <a:r>
                        <a:rPr lang="en-US" sz="1600" dirty="0">
                          <a:solidFill>
                            <a:srgbClr val="262626"/>
                          </a:solidFill>
                          <a:latin typeface="Calibri" panose="020F0502020204030204" pitchFamily="34" charset="0"/>
                          <a:ea typeface="Calibri" panose="020F0502020204030204" pitchFamily="34" charset="0"/>
                          <a:cs typeface="Calibri" panose="020F0502020204030204" pitchFamily="34" charset="0"/>
                        </a:rPr>
                        <a:t>SARIMA / Prophet / LSTM</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tc>
                  <a:txBody>
                    <a:bodyPr/>
                    <a:lstStyle/>
                    <a:p>
                      <a:pPr marL="0" indent="0">
                        <a:buNone/>
                      </a:pPr>
                      <a:r>
                        <a:rPr lang="en-US" sz="1600" dirty="0">
                          <a:solidFill>
                            <a:srgbClr val="262626"/>
                          </a:solidFill>
                          <a:latin typeface="Calibri" panose="020F0502020204030204" pitchFamily="34" charset="0"/>
                          <a:ea typeface="Calibri" panose="020F0502020204030204" pitchFamily="34" charset="0"/>
                          <a:cs typeface="Calibri" panose="020F0502020204030204" pitchFamily="34" charset="0"/>
                        </a:rPr>
                        <a:t>Coffee shop, hourly</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tc>
                  <a:txBody>
                    <a:bodyPr/>
                    <a:lstStyle/>
                    <a:p>
                      <a:pPr lvl="0"/>
                      <a:r>
                        <a:rPr lang="en-IN" sz="1600" b="0" i="0" u="none" strike="noStrike" cap="none" dirty="0">
                          <a:solidFill>
                            <a:schemeClr val="tx1"/>
                          </a:solidFill>
                          <a:effectLst/>
                          <a:latin typeface="Calibri" panose="020F0502020204030204" pitchFamily="34" charset="0"/>
                          <a:ea typeface="Calibri" panose="020F0502020204030204" pitchFamily="34" charset="0"/>
                          <a:cs typeface="Calibri" panose="020F0502020204030204" pitchFamily="34" charset="0"/>
                          <a:sym typeface="Arial"/>
                        </a:rPr>
                        <a:t>RMSE 0.15 (LSTM) / MAPE 25% (SARIMA)</a:t>
                      </a: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tc>
                  <a:txBody>
                    <a:bodyPr/>
                    <a:lstStyle/>
                    <a:p>
                      <a:pPr marL="0" indent="0">
                        <a:buNone/>
                      </a:pPr>
                      <a:r>
                        <a:rPr lang="en-US" sz="1600" dirty="0">
                          <a:solidFill>
                            <a:srgbClr val="262626"/>
                          </a:solidFill>
                          <a:latin typeface="Calibri" panose="020F0502020204030204" pitchFamily="34" charset="0"/>
                          <a:ea typeface="Calibri" panose="020F0502020204030204" pitchFamily="34" charset="0"/>
                          <a:cs typeface="Calibri" panose="020F0502020204030204" pitchFamily="34" charset="0"/>
                        </a:rPr>
                        <a:t>Forecast-only, no restock</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44449">
                <a:tc>
                  <a:txBody>
                    <a:bodyPr/>
                    <a:lstStyle/>
                    <a:p>
                      <a:pPr marL="0" indent="0">
                        <a:buNone/>
                      </a:pPr>
                      <a:r>
                        <a:rPr lang="en-US" sz="1600" dirty="0">
                          <a:solidFill>
                            <a:srgbClr val="262626"/>
                          </a:solidFill>
                          <a:latin typeface="Calibri" panose="020F0502020204030204" pitchFamily="34" charset="0"/>
                          <a:ea typeface="Calibri" panose="020F0502020204030204" pitchFamily="34" charset="0"/>
                          <a:cs typeface="Calibri" panose="020F0502020204030204" pitchFamily="34" charset="0"/>
                        </a:rPr>
                        <a:t>Janchidfah et al. (2026)</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tc>
                  <a:txBody>
                    <a:bodyPr/>
                    <a:lstStyle/>
                    <a:p>
                      <a:pPr marL="0" indent="0">
                        <a:buNone/>
                      </a:pPr>
                      <a:r>
                        <a:rPr lang="en-US" sz="1600" dirty="0">
                          <a:solidFill>
                            <a:srgbClr val="262626"/>
                          </a:solidFill>
                          <a:latin typeface="Calibri" panose="020F0502020204030204" pitchFamily="34" charset="0"/>
                          <a:ea typeface="Calibri" panose="020F0502020204030204" pitchFamily="34" charset="0"/>
                          <a:cs typeface="Calibri" panose="020F0502020204030204" pitchFamily="34" charset="0"/>
                        </a:rPr>
                        <a:t>TAM (no ML)</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tc>
                  <a:txBody>
                    <a:bodyPr/>
                    <a:lstStyle/>
                    <a:p>
                      <a:pPr marL="0" indent="0">
                        <a:buNone/>
                      </a:pPr>
                      <a:r>
                        <a:rPr lang="en-US" sz="1600" dirty="0">
                          <a:solidFill>
                            <a:srgbClr val="262626"/>
                          </a:solidFill>
                          <a:latin typeface="Calibri" panose="020F0502020204030204" pitchFamily="34" charset="0"/>
                          <a:ea typeface="Calibri" panose="020F0502020204030204" pitchFamily="34" charset="0"/>
                          <a:cs typeface="Calibri" panose="020F0502020204030204" pitchFamily="34" charset="0"/>
                        </a:rPr>
                        <a:t>Small retail, survey</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tc>
                  <a:txBody>
                    <a:bodyPr/>
                    <a:lstStyle/>
                    <a:p>
                      <a:pPr marL="0" indent="0">
                        <a:buNone/>
                      </a:pPr>
                      <a:r>
                        <a:rPr lang="en-US" sz="1600" dirty="0">
                          <a:solidFill>
                            <a:srgbClr val="262626"/>
                          </a:solidFill>
                          <a:latin typeface="Calibri" panose="020F0502020204030204" pitchFamily="34" charset="0"/>
                          <a:ea typeface="Calibri" panose="020F0502020204030204" pitchFamily="34" charset="0"/>
                          <a:cs typeface="Calibri" panose="020F0502020204030204" pitchFamily="34" charset="0"/>
                        </a:rPr>
                        <a:t>r = 0.76 satisfaction</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tc>
                  <a:txBody>
                    <a:bodyPr/>
                    <a:lstStyle/>
                    <a:p>
                      <a:pPr marL="0" indent="0">
                        <a:buNone/>
                      </a:pPr>
                      <a:r>
                        <a:rPr lang="en-US" sz="1600" dirty="0">
                          <a:solidFill>
                            <a:srgbClr val="262626"/>
                          </a:solidFill>
                          <a:latin typeface="Calibri" panose="020F0502020204030204" pitchFamily="34" charset="0"/>
                          <a:ea typeface="Calibri" panose="020F0502020204030204" pitchFamily="34" charset="0"/>
                          <a:cs typeface="Calibri" panose="020F0502020204030204" pitchFamily="34" charset="0"/>
                        </a:rPr>
                        <a:t>No predictive capability</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extLst>
                  <a:ext uri="{0D108BD9-81ED-4DB2-BD59-A6C34878D82A}">
                    <a16:rowId xmlns:a16="http://schemas.microsoft.com/office/drawing/2014/main" val="4174570514"/>
                  </a:ext>
                </a:extLst>
              </a:tr>
              <a:tr h="544449">
                <a:tc>
                  <a:txBody>
                    <a:bodyPr/>
                    <a:lstStyle/>
                    <a:p>
                      <a:pPr marL="0" indent="0">
                        <a:buNone/>
                      </a:pPr>
                      <a:r>
                        <a:rPr lang="en-US" sz="1600" dirty="0">
                          <a:solidFill>
                            <a:srgbClr val="262626"/>
                          </a:solidFill>
                          <a:latin typeface="Calibri" panose="020F0502020204030204" pitchFamily="34" charset="0"/>
                          <a:ea typeface="Calibri" panose="020F0502020204030204" pitchFamily="34" charset="0"/>
                          <a:cs typeface="Calibri" panose="020F0502020204030204" pitchFamily="34" charset="0"/>
                        </a:rPr>
                        <a:t>Kamboj et al. (2025)</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tc>
                  <a:txBody>
                    <a:bodyPr/>
                    <a:lstStyle/>
                    <a:p>
                      <a:pPr marL="0" indent="0">
                        <a:buNone/>
                      </a:pPr>
                      <a:r>
                        <a:rPr lang="en-US" sz="1600" dirty="0">
                          <a:solidFill>
                            <a:srgbClr val="262626"/>
                          </a:solidFill>
                          <a:latin typeface="Calibri" panose="020F0502020204030204" pitchFamily="34" charset="0"/>
                          <a:ea typeface="Calibri" panose="020F0502020204030204" pitchFamily="34" charset="0"/>
                          <a:cs typeface="Calibri" panose="020F0502020204030204" pitchFamily="34" charset="0"/>
                        </a:rPr>
                        <a:t>Prophet + XGBoost</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tc>
                  <a:txBody>
                    <a:bodyPr/>
                    <a:lstStyle/>
                    <a:p>
                      <a:pPr marL="0" indent="0">
                        <a:buNone/>
                      </a:pPr>
                      <a:r>
                        <a:rPr lang="en-US" sz="1600" dirty="0">
                          <a:solidFill>
                            <a:srgbClr val="262626"/>
                          </a:solidFill>
                          <a:latin typeface="Calibri" panose="020F0502020204030204" pitchFamily="34" charset="0"/>
                          <a:ea typeface="Calibri" panose="020F0502020204030204" pitchFamily="34" charset="0"/>
                          <a:cs typeface="Calibri" panose="020F0502020204030204" pitchFamily="34" charset="0"/>
                        </a:rPr>
                        <a:t>Drug retail, state-level (Germany)</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tc>
                  <a:txBody>
                    <a:bodyPr/>
                    <a:lstStyle/>
                    <a:p>
                      <a:pPr marL="0" indent="0">
                        <a:buNone/>
                      </a:pPr>
                      <a:r>
                        <a:rPr lang="en-US" sz="1600" dirty="0">
                          <a:solidFill>
                            <a:srgbClr val="262626"/>
                          </a:solidFill>
                          <a:latin typeface="Calibri" panose="020F0502020204030204" pitchFamily="34" charset="0"/>
                          <a:ea typeface="Calibri" panose="020F0502020204030204" pitchFamily="34" charset="0"/>
                          <a:cs typeface="Calibri" panose="020F0502020204030204" pitchFamily="34" charset="0"/>
                        </a:rPr>
                        <a:t>12–18% MAPE cut (hybrid)</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tc>
                  <a:txBody>
                    <a:bodyPr/>
                    <a:lstStyle/>
                    <a:p>
                      <a:pPr marL="0" indent="0">
                        <a:buNone/>
                      </a:pPr>
                      <a:r>
                        <a:rPr lang="en-US" sz="1600" dirty="0">
                          <a:solidFill>
                            <a:srgbClr val="262626"/>
                          </a:solidFill>
                          <a:latin typeface="Calibri" panose="020F0502020204030204" pitchFamily="34" charset="0"/>
                          <a:ea typeface="Calibri" panose="020F0502020204030204" pitchFamily="34" charset="0"/>
                          <a:cs typeface="Calibri" panose="020F0502020204030204" pitchFamily="34" charset="0"/>
                        </a:rPr>
                        <a:t>Retail-scale, not SME/food-specific</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extLst>
                  <a:ext uri="{0D108BD9-81ED-4DB2-BD59-A6C34878D82A}">
                    <a16:rowId xmlns:a16="http://schemas.microsoft.com/office/drawing/2014/main" val="2125893827"/>
                  </a:ext>
                </a:extLst>
              </a:tr>
              <a:tr h="544449">
                <a:tc>
                  <a:txBody>
                    <a:bodyPr/>
                    <a:lstStyle/>
                    <a:p>
                      <a:pPr marL="0" indent="0">
                        <a:buNone/>
                      </a:pPr>
                      <a:r>
                        <a:rPr lang="en-US" sz="1600" dirty="0">
                          <a:solidFill>
                            <a:srgbClr val="262626"/>
                          </a:solidFill>
                          <a:latin typeface="Calibri" panose="020F0502020204030204" pitchFamily="34" charset="0"/>
                          <a:ea typeface="Calibri" panose="020F0502020204030204" pitchFamily="34" charset="0"/>
                          <a:cs typeface="Calibri" panose="020F0502020204030204" pitchFamily="34" charset="0"/>
                        </a:rPr>
                        <a:t>Guler et al. (</a:t>
                      </a:r>
                      <a:r>
                        <a:rPr lang="en-IN" sz="1600" dirty="0">
                          <a:solidFill>
                            <a:srgbClr val="262626"/>
                          </a:solidFill>
                          <a:latin typeface="Calibri" panose="020F0502020204030204" pitchFamily="34" charset="0"/>
                          <a:ea typeface="Calibri" panose="020F0502020204030204" pitchFamily="34" charset="0"/>
                          <a:cs typeface="Calibri" panose="020F0502020204030204" pitchFamily="34" charset="0"/>
                        </a:rPr>
                        <a:t>2024</a:t>
                      </a:r>
                      <a:r>
                        <a:rPr lang="en-US" sz="1600" dirty="0">
                          <a:solidFill>
                            <a:srgbClr val="262626"/>
                          </a:solidFill>
                          <a:latin typeface="Calibri" panose="020F0502020204030204" pitchFamily="34" charset="0"/>
                          <a:ea typeface="Calibri" panose="020F0502020204030204" pitchFamily="34" charset="0"/>
                          <a:cs typeface="Calibri" panose="020F0502020204030204" pitchFamily="34" charset="0"/>
                        </a:rPr>
                        <a:t>)</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tc>
                  <a:txBody>
                    <a:bodyPr/>
                    <a:lstStyle/>
                    <a:p>
                      <a:pPr marL="0" indent="0">
                        <a:buNone/>
                      </a:pPr>
                      <a:r>
                        <a:rPr lang="en-US" sz="1600" dirty="0">
                          <a:solidFill>
                            <a:srgbClr val="262626"/>
                          </a:solidFill>
                          <a:latin typeface="Calibri" panose="020F0502020204030204" pitchFamily="34" charset="0"/>
                          <a:ea typeface="Calibri" panose="020F0502020204030204" pitchFamily="34" charset="0"/>
                          <a:cs typeface="Calibri" panose="020F0502020204030204" pitchFamily="34" charset="0"/>
                        </a:rPr>
                        <a:t>Facebook Prophet</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tc>
                  <a:txBody>
                    <a:bodyPr/>
                    <a:lstStyle/>
                    <a:p>
                      <a:pPr marL="0" indent="0">
                        <a:buNone/>
                      </a:pPr>
                      <a:r>
                        <a:rPr lang="en-US" sz="1600" dirty="0">
                          <a:solidFill>
                            <a:srgbClr val="262626"/>
                          </a:solidFill>
                          <a:latin typeface="Calibri" panose="020F0502020204030204" pitchFamily="34" charset="0"/>
                          <a:ea typeface="Calibri" panose="020F0502020204030204" pitchFamily="34" charset="0"/>
                          <a:cs typeface="Calibri" panose="020F0502020204030204" pitchFamily="34" charset="0"/>
                        </a:rPr>
                        <a:t>Restaurant, daily</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tc>
                  <a:txBody>
                    <a:bodyPr/>
                    <a:lstStyle/>
                    <a:p>
                      <a:pPr marL="0" indent="0">
                        <a:buNone/>
                      </a:pPr>
                      <a:r>
                        <a:rPr lang="en-US" sz="1600" dirty="0">
                          <a:solidFill>
                            <a:srgbClr val="262626"/>
                          </a:solidFill>
                          <a:latin typeface="Calibri" panose="020F0502020204030204" pitchFamily="34" charset="0"/>
                          <a:ea typeface="Calibri" panose="020F0502020204030204" pitchFamily="34" charset="0"/>
                          <a:cs typeface="Calibri" panose="020F0502020204030204" pitchFamily="34" charset="0"/>
                        </a:rPr>
                        <a:t>MAE 0.76</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tc>
                  <a:txBody>
                    <a:bodyPr/>
                    <a:lstStyle/>
                    <a:p>
                      <a:pPr marL="0" indent="0">
                        <a:buNone/>
                      </a:pPr>
                      <a:r>
                        <a:rPr lang="en-US" sz="1600" dirty="0">
                          <a:solidFill>
                            <a:srgbClr val="262626"/>
                          </a:solidFill>
                          <a:latin typeface="Calibri" panose="020F0502020204030204" pitchFamily="34" charset="0"/>
                          <a:ea typeface="Calibri" panose="020F0502020204030204" pitchFamily="34" charset="0"/>
                          <a:cs typeface="Calibri" panose="020F0502020204030204" pitchFamily="34" charset="0"/>
                        </a:rPr>
                        <a:t>No restock, no mobile delivery</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extLst>
                  <a:ext uri="{0D108BD9-81ED-4DB2-BD59-A6C34878D82A}">
                    <a16:rowId xmlns:a16="http://schemas.microsoft.com/office/drawing/2014/main" val="2994890863"/>
                  </a:ext>
                </a:extLst>
              </a:tr>
            </a:tbl>
          </a:graphicData>
        </a:graphic>
      </p:graphicFrame>
      <p:sp>
        <p:nvSpPr>
          <p:cNvPr id="18" name="Shape 6">
            <a:extLst>
              <a:ext uri="{FF2B5EF4-FFF2-40B4-BE49-F238E27FC236}">
                <a16:creationId xmlns:a16="http://schemas.microsoft.com/office/drawing/2014/main" id="{955A0026-2DEF-3F8D-262F-7D6F3BC9ACE9}"/>
              </a:ext>
            </a:extLst>
          </p:cNvPr>
          <p:cNvSpPr/>
          <p:nvPr/>
        </p:nvSpPr>
        <p:spPr>
          <a:xfrm>
            <a:off x="484263" y="2456373"/>
            <a:ext cx="8939660" cy="457200"/>
          </a:xfrm>
          <a:prstGeom prst="rect">
            <a:avLst/>
          </a:prstGeom>
          <a:solidFill>
            <a:srgbClr val="BC312C"/>
          </a:solidFill>
          <a:ln/>
        </p:spPr>
        <p:txBody>
          <a:bodyPr/>
          <a:lstStyle/>
          <a:p>
            <a:endParaRPr lang="en-IN" dirty="0"/>
          </a:p>
        </p:txBody>
      </p:sp>
      <p:sp>
        <p:nvSpPr>
          <p:cNvPr id="20" name="Text 7">
            <a:extLst>
              <a:ext uri="{FF2B5EF4-FFF2-40B4-BE49-F238E27FC236}">
                <a16:creationId xmlns:a16="http://schemas.microsoft.com/office/drawing/2014/main" id="{1D7803C5-D076-3245-778C-3C1DC91E9BD8}"/>
              </a:ext>
            </a:extLst>
          </p:cNvPr>
          <p:cNvSpPr/>
          <p:nvPr/>
        </p:nvSpPr>
        <p:spPr>
          <a:xfrm>
            <a:off x="484264" y="2456373"/>
            <a:ext cx="1905174" cy="457200"/>
          </a:xfrm>
          <a:prstGeom prst="rect">
            <a:avLst/>
          </a:prstGeom>
          <a:noFill/>
          <a:ln/>
        </p:spPr>
        <p:txBody>
          <a:bodyPr wrap="square" lIns="0" tIns="5080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Study</a:t>
            </a:r>
            <a:endParaRPr lang="en-US" sz="2400" dirty="0"/>
          </a:p>
        </p:txBody>
      </p:sp>
      <p:sp>
        <p:nvSpPr>
          <p:cNvPr id="22" name="Text 8">
            <a:extLst>
              <a:ext uri="{FF2B5EF4-FFF2-40B4-BE49-F238E27FC236}">
                <a16:creationId xmlns:a16="http://schemas.microsoft.com/office/drawing/2014/main" id="{377570CA-6929-B52C-65E8-7A6BC04E6272}"/>
              </a:ext>
            </a:extLst>
          </p:cNvPr>
          <p:cNvSpPr/>
          <p:nvPr/>
        </p:nvSpPr>
        <p:spPr>
          <a:xfrm>
            <a:off x="2385840" y="2456373"/>
            <a:ext cx="1758621" cy="457200"/>
          </a:xfrm>
          <a:prstGeom prst="rect">
            <a:avLst/>
          </a:prstGeom>
          <a:noFill/>
          <a:ln/>
        </p:spPr>
        <p:txBody>
          <a:bodyPr wrap="square" lIns="0" tIns="5080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Model</a:t>
            </a:r>
            <a:endParaRPr lang="en-US" sz="2400" dirty="0"/>
          </a:p>
        </p:txBody>
      </p:sp>
      <p:sp>
        <p:nvSpPr>
          <p:cNvPr id="24" name="Text 9">
            <a:extLst>
              <a:ext uri="{FF2B5EF4-FFF2-40B4-BE49-F238E27FC236}">
                <a16:creationId xmlns:a16="http://schemas.microsoft.com/office/drawing/2014/main" id="{9FCB9C98-9C1B-6EEB-8145-7557C510FF06}"/>
              </a:ext>
            </a:extLst>
          </p:cNvPr>
          <p:cNvSpPr/>
          <p:nvPr/>
        </p:nvSpPr>
        <p:spPr>
          <a:xfrm>
            <a:off x="4132532" y="2456373"/>
            <a:ext cx="1685345" cy="457200"/>
          </a:xfrm>
          <a:prstGeom prst="rect">
            <a:avLst/>
          </a:prstGeom>
          <a:noFill/>
          <a:ln/>
        </p:spPr>
        <p:txBody>
          <a:bodyPr wrap="square" lIns="0" tIns="5080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Context</a:t>
            </a:r>
            <a:endParaRPr lang="en-US" sz="2400" dirty="0"/>
          </a:p>
        </p:txBody>
      </p:sp>
      <p:sp>
        <p:nvSpPr>
          <p:cNvPr id="26" name="Text 10">
            <a:extLst>
              <a:ext uri="{FF2B5EF4-FFF2-40B4-BE49-F238E27FC236}">
                <a16:creationId xmlns:a16="http://schemas.microsoft.com/office/drawing/2014/main" id="{6D1DE0B1-E685-106A-17BB-7AA11266160D}"/>
              </a:ext>
            </a:extLst>
          </p:cNvPr>
          <p:cNvSpPr/>
          <p:nvPr/>
        </p:nvSpPr>
        <p:spPr>
          <a:xfrm>
            <a:off x="5856132" y="2456373"/>
            <a:ext cx="1538794" cy="457200"/>
          </a:xfrm>
          <a:prstGeom prst="rect">
            <a:avLst/>
          </a:prstGeom>
          <a:noFill/>
          <a:ln/>
        </p:spPr>
        <p:txBody>
          <a:bodyPr wrap="square" lIns="0" tIns="5080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Best Metric</a:t>
            </a:r>
            <a:endParaRPr lang="en-US" sz="2000" dirty="0"/>
          </a:p>
        </p:txBody>
      </p:sp>
      <p:sp>
        <p:nvSpPr>
          <p:cNvPr id="28" name="Text 11">
            <a:extLst>
              <a:ext uri="{FF2B5EF4-FFF2-40B4-BE49-F238E27FC236}">
                <a16:creationId xmlns:a16="http://schemas.microsoft.com/office/drawing/2014/main" id="{67339973-CE03-AEB9-AE28-8B4C1A2FBACA}"/>
              </a:ext>
            </a:extLst>
          </p:cNvPr>
          <p:cNvSpPr/>
          <p:nvPr/>
        </p:nvSpPr>
        <p:spPr>
          <a:xfrm>
            <a:off x="7422918" y="2456373"/>
            <a:ext cx="2051725" cy="457200"/>
          </a:xfrm>
          <a:prstGeom prst="rect">
            <a:avLst/>
          </a:prstGeom>
          <a:noFill/>
          <a:ln/>
        </p:spPr>
        <p:txBody>
          <a:bodyPr wrap="square" lIns="0" tIns="5080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Gap Left Open</a:t>
            </a:r>
            <a:endParaRPr lang="en-US" sz="2000" dirty="0"/>
          </a:p>
        </p:txBody>
      </p:sp>
    </p:spTree>
    <p:extLst>
      <p:ext uri="{BB962C8B-B14F-4D97-AF65-F5344CB8AC3E}">
        <p14:creationId xmlns:p14="http://schemas.microsoft.com/office/powerpoint/2010/main" val="21623768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B1034F-E46D-92BD-739C-8F411EC59BA1}"/>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7B20CE97-F067-29E7-E8CF-EF2C6834B336}"/>
              </a:ext>
            </a:extLst>
          </p:cNvPr>
          <p:cNvPicPr>
            <a:picLocks noChangeAspect="1"/>
          </p:cNvPicPr>
          <p:nvPr/>
        </p:nvPicPr>
        <p:blipFill rotWithShape="1">
          <a:blip r:embed="rId2">
            <a:extLst>
              <a:ext uri="{28A0092B-C50C-407E-A947-70E740481C1C}">
                <a14:useLocalDpi xmlns:a14="http://schemas.microsoft.com/office/drawing/2010/main" val="0"/>
              </a:ext>
            </a:extLst>
          </a:blip>
          <a:srcRect l="48363" r="-1" b="45098"/>
          <a:stretch/>
        </p:blipFill>
        <p:spPr>
          <a:xfrm>
            <a:off x="0" y="6750969"/>
            <a:ext cx="9906000" cy="131162"/>
          </a:xfrm>
          <a:prstGeom prst="rect">
            <a:avLst/>
          </a:prstGeom>
        </p:spPr>
      </p:pic>
      <p:pic>
        <p:nvPicPr>
          <p:cNvPr id="6" name="Picture 5">
            <a:extLst>
              <a:ext uri="{FF2B5EF4-FFF2-40B4-BE49-F238E27FC236}">
                <a16:creationId xmlns:a16="http://schemas.microsoft.com/office/drawing/2014/main" id="{07D32B60-698B-2D28-A1DA-5D93577AB770}"/>
              </a:ext>
            </a:extLst>
          </p:cNvPr>
          <p:cNvPicPr>
            <a:picLocks noChangeAspect="1"/>
          </p:cNvPicPr>
          <p:nvPr/>
        </p:nvPicPr>
        <p:blipFill rotWithShape="1">
          <a:blip r:embed="rId3"/>
          <a:srcRect b="6633"/>
          <a:stretch/>
        </p:blipFill>
        <p:spPr>
          <a:xfrm>
            <a:off x="0" y="0"/>
            <a:ext cx="3927231" cy="939765"/>
          </a:xfrm>
          <a:prstGeom prst="rect">
            <a:avLst/>
          </a:prstGeom>
        </p:spPr>
      </p:pic>
      <p:pic>
        <p:nvPicPr>
          <p:cNvPr id="7" name="Picture 6">
            <a:extLst>
              <a:ext uri="{FF2B5EF4-FFF2-40B4-BE49-F238E27FC236}">
                <a16:creationId xmlns:a16="http://schemas.microsoft.com/office/drawing/2014/main" id="{CBD9C920-902F-CA9A-26FC-D63C57977912}"/>
              </a:ext>
            </a:extLst>
          </p:cNvPr>
          <p:cNvPicPr>
            <a:picLocks noChangeAspect="1"/>
          </p:cNvPicPr>
          <p:nvPr/>
        </p:nvPicPr>
        <p:blipFill rotWithShape="1">
          <a:blip r:embed="rId2">
            <a:extLst>
              <a:ext uri="{28A0092B-C50C-407E-A947-70E740481C1C}">
                <a14:useLocalDpi xmlns:a14="http://schemas.microsoft.com/office/drawing/2010/main" val="0"/>
              </a:ext>
            </a:extLst>
          </a:blip>
          <a:srcRect l="48363" r="-1" b="45098"/>
          <a:stretch/>
        </p:blipFill>
        <p:spPr>
          <a:xfrm>
            <a:off x="2637692" y="0"/>
            <a:ext cx="7268307" cy="525780"/>
          </a:xfrm>
          <a:prstGeom prst="rect">
            <a:avLst/>
          </a:prstGeom>
        </p:spPr>
      </p:pic>
      <p:sp>
        <p:nvSpPr>
          <p:cNvPr id="11" name="Rectangle 10">
            <a:extLst>
              <a:ext uri="{FF2B5EF4-FFF2-40B4-BE49-F238E27FC236}">
                <a16:creationId xmlns:a16="http://schemas.microsoft.com/office/drawing/2014/main" id="{1292D09C-32B9-B0B1-850A-C054022A2267}"/>
              </a:ext>
            </a:extLst>
          </p:cNvPr>
          <p:cNvSpPr/>
          <p:nvPr/>
        </p:nvSpPr>
        <p:spPr>
          <a:xfrm>
            <a:off x="1652953" y="107031"/>
            <a:ext cx="8253045" cy="336631"/>
          </a:xfrm>
          <a:prstGeom prst="rect">
            <a:avLst/>
          </a:prstGeom>
        </p:spPr>
        <p:txBody>
          <a:bodyPr wrap="square">
            <a:spAutoFit/>
          </a:bodyPr>
          <a:lstStyle/>
          <a:p>
            <a:pPr algn="ctr">
              <a:lnSpc>
                <a:spcPct val="107000"/>
              </a:lnSpc>
              <a:spcAft>
                <a:spcPts val="800"/>
              </a:spcAft>
            </a:pPr>
            <a:r>
              <a:rPr lang="en-IN" sz="1600" b="1" dirty="0">
                <a:solidFill>
                  <a:schemeClr val="bg1"/>
                </a:solidFill>
                <a:latin typeface="Cambria" panose="02040503050406030204" pitchFamily="18" charset="0"/>
              </a:rPr>
              <a:t>MUKESH PATEL SCHOOL OF TECHNOLOGY MANAGEMENT &amp; ENGINEERING, SHIRPUR</a:t>
            </a:r>
            <a:endParaRPr lang="en-US" sz="1600" b="1" dirty="0">
              <a:solidFill>
                <a:schemeClr val="bg1"/>
              </a:solidFill>
              <a:latin typeface="Cambria" panose="02040503050406030204" pitchFamily="18" charset="0"/>
            </a:endParaRPr>
          </a:p>
        </p:txBody>
      </p:sp>
      <p:sp>
        <p:nvSpPr>
          <p:cNvPr id="3" name="Slide Number Placeholder 2">
            <a:extLst>
              <a:ext uri="{FF2B5EF4-FFF2-40B4-BE49-F238E27FC236}">
                <a16:creationId xmlns:a16="http://schemas.microsoft.com/office/drawing/2014/main" id="{E0928891-608A-48D9-379E-F13332EAF81B}"/>
              </a:ext>
            </a:extLst>
          </p:cNvPr>
          <p:cNvSpPr>
            <a:spLocks noGrp="1"/>
          </p:cNvSpPr>
          <p:nvPr>
            <p:ph type="sldNum" sz="quarter" idx="12"/>
          </p:nvPr>
        </p:nvSpPr>
        <p:spPr/>
        <p:txBody>
          <a:bodyPr/>
          <a:lstStyle/>
          <a:p>
            <a:fld id="{9DC013F7-6D70-4318-BA41-212A9B59413B}" type="slidenum">
              <a:rPr lang="en-US" smtClean="0"/>
              <a:t>6</a:t>
            </a:fld>
            <a:endParaRPr lang="en-US" dirty="0"/>
          </a:p>
        </p:txBody>
      </p:sp>
      <p:sp>
        <p:nvSpPr>
          <p:cNvPr id="2" name="AutoShape 4" descr="Neural Networks Hyperparameter tuning in tensorflow 2.0 | by SiDdhartha |  ML Book | Medium">
            <a:extLst>
              <a:ext uri="{FF2B5EF4-FFF2-40B4-BE49-F238E27FC236}">
                <a16:creationId xmlns:a16="http://schemas.microsoft.com/office/drawing/2014/main" id="{3E44EB45-2A49-E6E2-0268-2B6B0DFF13A3}"/>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8" name="Rectangle 7">
            <a:extLst>
              <a:ext uri="{FF2B5EF4-FFF2-40B4-BE49-F238E27FC236}">
                <a16:creationId xmlns:a16="http://schemas.microsoft.com/office/drawing/2014/main" id="{C74EDA66-9DE9-F8A7-CBB9-E459E7DFBDD6}"/>
              </a:ext>
            </a:extLst>
          </p:cNvPr>
          <p:cNvSpPr/>
          <p:nvPr/>
        </p:nvSpPr>
        <p:spPr>
          <a:xfrm>
            <a:off x="82731" y="1165290"/>
            <a:ext cx="9418320" cy="523220"/>
          </a:xfrm>
          <a:prstGeom prst="rect">
            <a:avLst/>
          </a:prstGeom>
        </p:spPr>
        <p:txBody>
          <a:bodyPr wrap="square">
            <a:spAutoFit/>
          </a:bodyPr>
          <a:lstStyle/>
          <a:p>
            <a:pPr algn="ctr"/>
            <a:endParaRPr lang="en-US" sz="2800" b="1" dirty="0">
              <a:latin typeface="Teko SemiBold" panose="02000000000000000000" pitchFamily="2" charset="0"/>
              <a:cs typeface="Teko SemiBold" panose="02000000000000000000" pitchFamily="2" charset="0"/>
            </a:endParaRPr>
          </a:p>
        </p:txBody>
      </p:sp>
      <p:sp>
        <p:nvSpPr>
          <p:cNvPr id="10" name="Text 4">
            <a:extLst>
              <a:ext uri="{FF2B5EF4-FFF2-40B4-BE49-F238E27FC236}">
                <a16:creationId xmlns:a16="http://schemas.microsoft.com/office/drawing/2014/main" id="{E5ADF7F8-BC7B-D57C-445C-93AEA18082F5}"/>
              </a:ext>
            </a:extLst>
          </p:cNvPr>
          <p:cNvSpPr txBox="1"/>
          <p:nvPr/>
        </p:nvSpPr>
        <p:spPr>
          <a:xfrm>
            <a:off x="274320" y="841248"/>
            <a:ext cx="6858000" cy="457200"/>
          </a:xfrm>
          <a:prstGeom prst="rect">
            <a:avLst/>
          </a:prstGeom>
          <a:noFill/>
          <a:ln/>
        </p:spPr>
        <p:txBody>
          <a:bodyPr wrap="square" lIns="0" tIns="0" rIns="0" bIns="0" rtlCol="0" anchor="ctr"/>
          <a:lstStyle/>
          <a:p>
            <a:pPr marL="0" indent="0">
              <a:buNone/>
            </a:pPr>
            <a:r>
              <a:rPr lang="en-US" sz="2500" b="1" dirty="0">
                <a:solidFill>
                  <a:srgbClr val="BB302C"/>
                </a:solidFill>
                <a:latin typeface="Georgia" pitchFamily="34" charset="0"/>
                <a:ea typeface="Georgia" pitchFamily="34" charset="-122"/>
                <a:cs typeface="Georgia" pitchFamily="34" charset="-120"/>
              </a:rPr>
              <a:t>Proposed Methodology</a:t>
            </a:r>
            <a:endParaRPr lang="en-US" sz="2500" dirty="0"/>
          </a:p>
        </p:txBody>
      </p:sp>
      <p:sp>
        <p:nvSpPr>
          <p:cNvPr id="15" name="Shape 5">
            <a:extLst>
              <a:ext uri="{FF2B5EF4-FFF2-40B4-BE49-F238E27FC236}">
                <a16:creationId xmlns:a16="http://schemas.microsoft.com/office/drawing/2014/main" id="{978B341C-1E09-8871-1260-1C7F846558F0}"/>
              </a:ext>
            </a:extLst>
          </p:cNvPr>
          <p:cNvSpPr/>
          <p:nvPr/>
        </p:nvSpPr>
        <p:spPr>
          <a:xfrm>
            <a:off x="292608" y="1335024"/>
            <a:ext cx="9326880" cy="0"/>
          </a:xfrm>
          <a:prstGeom prst="line">
            <a:avLst/>
          </a:prstGeom>
          <a:noFill/>
          <a:ln w="12700">
            <a:solidFill>
              <a:srgbClr val="D9D9D9"/>
            </a:solidFill>
            <a:prstDash val="solid"/>
          </a:ln>
        </p:spPr>
      </p:sp>
      <p:sp>
        <p:nvSpPr>
          <p:cNvPr id="19" name="Text 6">
            <a:extLst>
              <a:ext uri="{FF2B5EF4-FFF2-40B4-BE49-F238E27FC236}">
                <a16:creationId xmlns:a16="http://schemas.microsoft.com/office/drawing/2014/main" id="{16FC2CD5-4476-760A-2F8E-9657F5AEF147}"/>
              </a:ext>
            </a:extLst>
          </p:cNvPr>
          <p:cNvSpPr txBox="1"/>
          <p:nvPr/>
        </p:nvSpPr>
        <p:spPr>
          <a:xfrm>
            <a:off x="292608" y="1399032"/>
            <a:ext cx="9326880" cy="384048"/>
          </a:xfrm>
          <a:prstGeom prst="rect">
            <a:avLst/>
          </a:prstGeom>
          <a:noFill/>
          <a:ln/>
        </p:spPr>
        <p:txBody>
          <a:bodyPr wrap="square" lIns="0" tIns="0" rIns="0" bIns="0" rtlCol="0" anchor="ctr"/>
          <a:lstStyle/>
          <a:p>
            <a:pPr marL="0" indent="0">
              <a:buNone/>
            </a:pPr>
            <a:r>
              <a:rPr lang="en-US" sz="1350" i="1" dirty="0">
                <a:solidFill>
                  <a:srgbClr val="2E3B7D"/>
                </a:solidFill>
                <a:latin typeface="Georgia" pitchFamily="34" charset="0"/>
                <a:ea typeface="Georgia" pitchFamily="34" charset="-122"/>
                <a:cs typeface="Georgia" pitchFamily="34" charset="-120"/>
              </a:rPr>
              <a:t>An end-to-end architecture that turns raw sales data into both a restock quantity and a waste-reduction action, explained in plain language.</a:t>
            </a:r>
            <a:endParaRPr lang="en-US" sz="1350" dirty="0"/>
          </a:p>
        </p:txBody>
      </p:sp>
      <p:sp>
        <p:nvSpPr>
          <p:cNvPr id="23" name="Shape 7">
            <a:extLst>
              <a:ext uri="{FF2B5EF4-FFF2-40B4-BE49-F238E27FC236}">
                <a16:creationId xmlns:a16="http://schemas.microsoft.com/office/drawing/2014/main" id="{51D4EA04-AACD-BC79-C158-72E6E7E58347}"/>
              </a:ext>
            </a:extLst>
          </p:cNvPr>
          <p:cNvSpPr/>
          <p:nvPr/>
        </p:nvSpPr>
        <p:spPr>
          <a:xfrm>
            <a:off x="274320" y="1965960"/>
            <a:ext cx="1371600" cy="1463040"/>
          </a:xfrm>
          <a:prstGeom prst="rect">
            <a:avLst/>
          </a:prstGeom>
          <a:solidFill>
            <a:srgbClr val="F7F5F4"/>
          </a:solidFill>
          <a:ln/>
          <a:effectLst>
            <a:outerShdw blurRad="50800" dist="25400" dir="5400000" algn="bl" rotWithShape="0">
              <a:srgbClr val="888888">
                <a:alpha val="22000"/>
              </a:srgbClr>
            </a:outerShdw>
          </a:effectLst>
        </p:spPr>
      </p:sp>
      <p:sp>
        <p:nvSpPr>
          <p:cNvPr id="27" name="Text 8">
            <a:extLst>
              <a:ext uri="{FF2B5EF4-FFF2-40B4-BE49-F238E27FC236}">
                <a16:creationId xmlns:a16="http://schemas.microsoft.com/office/drawing/2014/main" id="{59EC9221-5D42-2CAE-9EAA-1C877BF1C4AB}"/>
              </a:ext>
            </a:extLst>
          </p:cNvPr>
          <p:cNvSpPr txBox="1"/>
          <p:nvPr/>
        </p:nvSpPr>
        <p:spPr>
          <a:xfrm>
            <a:off x="356616" y="2029968"/>
            <a:ext cx="1207008" cy="475488"/>
          </a:xfrm>
          <a:prstGeom prst="rect">
            <a:avLst/>
          </a:prstGeom>
          <a:noFill/>
          <a:ln/>
        </p:spPr>
        <p:txBody>
          <a:bodyPr wrap="square" lIns="0" tIns="0" rIns="0" bIns="0" rtlCol="0" anchor="t"/>
          <a:lstStyle/>
          <a:p>
            <a:pPr marL="0" indent="0" algn="l">
              <a:lnSpc>
                <a:spcPct val="100000"/>
              </a:lnSpc>
              <a:buNone/>
            </a:pPr>
            <a:r>
              <a:rPr lang="en-US" sz="1100" b="1" dirty="0">
                <a:solidFill>
                  <a:srgbClr val="2E3B7D"/>
                </a:solidFill>
                <a:latin typeface="Georgia" pitchFamily="34" charset="0"/>
                <a:ea typeface="Georgia" pitchFamily="34" charset="-122"/>
                <a:cs typeface="Georgia" pitchFamily="34" charset="-120"/>
              </a:rPr>
              <a:t>Historical Sales Data</a:t>
            </a:r>
            <a:endParaRPr lang="en-US" sz="1100" dirty="0"/>
          </a:p>
        </p:txBody>
      </p:sp>
      <p:sp>
        <p:nvSpPr>
          <p:cNvPr id="31" name="Text 9">
            <a:extLst>
              <a:ext uri="{FF2B5EF4-FFF2-40B4-BE49-F238E27FC236}">
                <a16:creationId xmlns:a16="http://schemas.microsoft.com/office/drawing/2014/main" id="{5A642A16-FCFD-D383-16A1-848473F79994}"/>
              </a:ext>
            </a:extLst>
          </p:cNvPr>
          <p:cNvSpPr txBox="1"/>
          <p:nvPr/>
        </p:nvSpPr>
        <p:spPr>
          <a:xfrm>
            <a:off x="356616" y="2514600"/>
            <a:ext cx="1207008" cy="841248"/>
          </a:xfrm>
          <a:prstGeom prst="rect">
            <a:avLst/>
          </a:prstGeom>
          <a:noFill/>
          <a:ln/>
        </p:spPr>
        <p:txBody>
          <a:bodyPr wrap="square" lIns="0" tIns="0" rIns="0" bIns="0" rtlCol="0" anchor="t"/>
          <a:lstStyle/>
          <a:p>
            <a:pPr marL="0" indent="0" algn="l">
              <a:lnSpc>
                <a:spcPct val="105000"/>
              </a:lnSpc>
              <a:buNone/>
            </a:pPr>
            <a:r>
              <a:rPr lang="en-US" sz="1100" dirty="0">
                <a:solidFill>
                  <a:srgbClr val="3A3A3A"/>
                </a:solidFill>
                <a:latin typeface="Georgia" pitchFamily="34" charset="0"/>
                <a:ea typeface="Georgia" pitchFamily="34" charset="-122"/>
                <a:cs typeface="Georgia" pitchFamily="34" charset="-120"/>
              </a:rPr>
              <a:t>Daily item-level sales (bakery dataset)</a:t>
            </a:r>
            <a:endParaRPr lang="en-US" sz="1100" dirty="0"/>
          </a:p>
        </p:txBody>
      </p:sp>
      <p:sp>
        <p:nvSpPr>
          <p:cNvPr id="35" name="Shape 10">
            <a:extLst>
              <a:ext uri="{FF2B5EF4-FFF2-40B4-BE49-F238E27FC236}">
                <a16:creationId xmlns:a16="http://schemas.microsoft.com/office/drawing/2014/main" id="{D91493A9-D439-FA1B-9680-6FF1931D662B}"/>
              </a:ext>
            </a:extLst>
          </p:cNvPr>
          <p:cNvSpPr/>
          <p:nvPr/>
        </p:nvSpPr>
        <p:spPr>
          <a:xfrm>
            <a:off x="1664208" y="2624328"/>
            <a:ext cx="146304" cy="146304"/>
          </a:xfrm>
          <a:prstGeom prst="rightArrow">
            <a:avLst/>
          </a:prstGeom>
          <a:solidFill>
            <a:srgbClr val="9A9A9A"/>
          </a:solidFill>
          <a:ln/>
        </p:spPr>
      </p:sp>
      <p:sp>
        <p:nvSpPr>
          <p:cNvPr id="39" name="Shape 11">
            <a:extLst>
              <a:ext uri="{FF2B5EF4-FFF2-40B4-BE49-F238E27FC236}">
                <a16:creationId xmlns:a16="http://schemas.microsoft.com/office/drawing/2014/main" id="{12A13960-F4D6-6C3A-1051-FA7CE1C1C29D}"/>
              </a:ext>
            </a:extLst>
          </p:cNvPr>
          <p:cNvSpPr/>
          <p:nvPr/>
        </p:nvSpPr>
        <p:spPr>
          <a:xfrm>
            <a:off x="1828800" y="1965960"/>
            <a:ext cx="1371600" cy="1463040"/>
          </a:xfrm>
          <a:prstGeom prst="rect">
            <a:avLst/>
          </a:prstGeom>
          <a:solidFill>
            <a:srgbClr val="F7F5F4"/>
          </a:solidFill>
          <a:ln/>
          <a:effectLst>
            <a:outerShdw blurRad="50800" dist="25400" dir="5400000" algn="bl" rotWithShape="0">
              <a:srgbClr val="888888">
                <a:alpha val="22000"/>
              </a:srgbClr>
            </a:outerShdw>
          </a:effectLst>
        </p:spPr>
      </p:sp>
      <p:sp>
        <p:nvSpPr>
          <p:cNvPr id="43" name="Text 12">
            <a:extLst>
              <a:ext uri="{FF2B5EF4-FFF2-40B4-BE49-F238E27FC236}">
                <a16:creationId xmlns:a16="http://schemas.microsoft.com/office/drawing/2014/main" id="{2757A7C8-F956-3022-2E58-17F03D523662}"/>
              </a:ext>
            </a:extLst>
          </p:cNvPr>
          <p:cNvSpPr txBox="1"/>
          <p:nvPr/>
        </p:nvSpPr>
        <p:spPr>
          <a:xfrm>
            <a:off x="1911096" y="2029968"/>
            <a:ext cx="1207008" cy="475488"/>
          </a:xfrm>
          <a:prstGeom prst="rect">
            <a:avLst/>
          </a:prstGeom>
          <a:noFill/>
          <a:ln/>
        </p:spPr>
        <p:txBody>
          <a:bodyPr wrap="square" lIns="0" tIns="0" rIns="0" bIns="0" rtlCol="0" anchor="t"/>
          <a:lstStyle/>
          <a:p>
            <a:pPr marL="0" indent="0" algn="l">
              <a:lnSpc>
                <a:spcPct val="100000"/>
              </a:lnSpc>
              <a:buNone/>
            </a:pPr>
            <a:r>
              <a:rPr lang="en-US" sz="1100" b="1" dirty="0">
                <a:solidFill>
                  <a:srgbClr val="2E3B7D"/>
                </a:solidFill>
                <a:latin typeface="Georgia" pitchFamily="34" charset="0"/>
                <a:ea typeface="Georgia" pitchFamily="34" charset="-122"/>
                <a:cs typeface="Georgia" pitchFamily="34" charset="-120"/>
              </a:rPr>
              <a:t>Cold-Start Handling</a:t>
            </a:r>
            <a:endParaRPr lang="en-US" sz="1100" dirty="0"/>
          </a:p>
        </p:txBody>
      </p:sp>
      <p:sp>
        <p:nvSpPr>
          <p:cNvPr id="47" name="Text 13">
            <a:extLst>
              <a:ext uri="{FF2B5EF4-FFF2-40B4-BE49-F238E27FC236}">
                <a16:creationId xmlns:a16="http://schemas.microsoft.com/office/drawing/2014/main" id="{1E6E94B2-8980-C24D-C6E4-A69D31C68761}"/>
              </a:ext>
            </a:extLst>
          </p:cNvPr>
          <p:cNvSpPr txBox="1"/>
          <p:nvPr/>
        </p:nvSpPr>
        <p:spPr>
          <a:xfrm>
            <a:off x="1911096" y="2514600"/>
            <a:ext cx="1307592" cy="841248"/>
          </a:xfrm>
          <a:prstGeom prst="rect">
            <a:avLst/>
          </a:prstGeom>
          <a:noFill/>
          <a:ln/>
        </p:spPr>
        <p:txBody>
          <a:bodyPr wrap="square" lIns="0" tIns="0" rIns="0" bIns="0" rtlCol="0" anchor="t"/>
          <a:lstStyle/>
          <a:p>
            <a:pPr marL="0" indent="0" algn="l">
              <a:lnSpc>
                <a:spcPct val="105000"/>
              </a:lnSpc>
              <a:buNone/>
            </a:pPr>
            <a:r>
              <a:rPr lang="en-US" sz="1100" dirty="0">
                <a:solidFill>
                  <a:srgbClr val="3A3A3A"/>
                </a:solidFill>
                <a:latin typeface="Georgia" pitchFamily="34" charset="0"/>
                <a:ea typeface="Georgia" pitchFamily="34" charset="-122"/>
                <a:cs typeface="Georgia" pitchFamily="34" charset="-120"/>
              </a:rPr>
              <a:t>Day 1–13: category priors</a:t>
            </a:r>
            <a:endParaRPr lang="en-US" sz="1100" dirty="0"/>
          </a:p>
          <a:p>
            <a:pPr marL="0" indent="0" algn="l">
              <a:lnSpc>
                <a:spcPct val="105000"/>
              </a:lnSpc>
              <a:buNone/>
            </a:pPr>
            <a:r>
              <a:rPr lang="en-US" sz="1100" dirty="0">
                <a:solidFill>
                  <a:srgbClr val="3A3A3A"/>
                </a:solidFill>
                <a:latin typeface="Georgia" pitchFamily="34" charset="0"/>
                <a:ea typeface="Georgia" pitchFamily="34" charset="-122"/>
                <a:cs typeface="Georgia" pitchFamily="34" charset="-120"/>
              </a:rPr>
              <a:t>Day 14–30: blended</a:t>
            </a:r>
            <a:endParaRPr lang="en-US" sz="1100" dirty="0"/>
          </a:p>
          <a:p>
            <a:pPr marL="0" indent="0" algn="l">
              <a:lnSpc>
                <a:spcPct val="105000"/>
              </a:lnSpc>
              <a:buNone/>
            </a:pPr>
            <a:r>
              <a:rPr lang="en-US" sz="1100" dirty="0">
                <a:solidFill>
                  <a:srgbClr val="3A3A3A"/>
                </a:solidFill>
                <a:latin typeface="Georgia" pitchFamily="34" charset="0"/>
                <a:ea typeface="Georgia" pitchFamily="34" charset="-122"/>
                <a:cs typeface="Georgia" pitchFamily="34" charset="-120"/>
              </a:rPr>
              <a:t>Day 30+: personal model</a:t>
            </a:r>
            <a:endParaRPr lang="en-US" sz="1100" dirty="0"/>
          </a:p>
        </p:txBody>
      </p:sp>
      <p:sp>
        <p:nvSpPr>
          <p:cNvPr id="51" name="Shape 14">
            <a:extLst>
              <a:ext uri="{FF2B5EF4-FFF2-40B4-BE49-F238E27FC236}">
                <a16:creationId xmlns:a16="http://schemas.microsoft.com/office/drawing/2014/main" id="{94165CB7-F5FC-5F2B-25C5-6BD55DEF9A83}"/>
              </a:ext>
            </a:extLst>
          </p:cNvPr>
          <p:cNvSpPr/>
          <p:nvPr/>
        </p:nvSpPr>
        <p:spPr>
          <a:xfrm>
            <a:off x="2688336" y="1828800"/>
            <a:ext cx="512064" cy="219456"/>
          </a:xfrm>
          <a:prstGeom prst="roundRect">
            <a:avLst>
              <a:gd name="adj" fmla="val 20833"/>
            </a:avLst>
          </a:prstGeom>
          <a:solidFill>
            <a:srgbClr val="BB302C"/>
          </a:solidFill>
          <a:ln/>
        </p:spPr>
      </p:sp>
      <p:sp>
        <p:nvSpPr>
          <p:cNvPr id="55" name="Text 15">
            <a:extLst>
              <a:ext uri="{FF2B5EF4-FFF2-40B4-BE49-F238E27FC236}">
                <a16:creationId xmlns:a16="http://schemas.microsoft.com/office/drawing/2014/main" id="{3C54FEAF-592A-0A9C-CB89-476F69D47D98}"/>
              </a:ext>
            </a:extLst>
          </p:cNvPr>
          <p:cNvSpPr txBox="1"/>
          <p:nvPr/>
        </p:nvSpPr>
        <p:spPr>
          <a:xfrm>
            <a:off x="2688336" y="1819656"/>
            <a:ext cx="512064" cy="219456"/>
          </a:xfrm>
          <a:prstGeom prst="rect">
            <a:avLst/>
          </a:prstGeom>
          <a:noFill/>
          <a:ln/>
        </p:spPr>
        <p:txBody>
          <a:bodyPr wrap="square" lIns="0" tIns="0" rIns="0" bIns="0" rtlCol="0" anchor="ctr"/>
          <a:lstStyle/>
          <a:p>
            <a:pPr marL="0" indent="0" algn="ctr">
              <a:buNone/>
            </a:pPr>
            <a:r>
              <a:rPr lang="en-US" sz="1050" b="1" dirty="0">
                <a:solidFill>
                  <a:srgbClr val="FFFFFF"/>
                </a:solidFill>
                <a:latin typeface="Georgia" pitchFamily="34" charset="0"/>
                <a:ea typeface="Georgia" pitchFamily="34" charset="-122"/>
                <a:cs typeface="Georgia" pitchFamily="34" charset="-120"/>
              </a:rPr>
              <a:t>NEW</a:t>
            </a:r>
            <a:endParaRPr lang="en-US" sz="1050" dirty="0"/>
          </a:p>
        </p:txBody>
      </p:sp>
      <p:sp>
        <p:nvSpPr>
          <p:cNvPr id="59" name="Shape 16">
            <a:extLst>
              <a:ext uri="{FF2B5EF4-FFF2-40B4-BE49-F238E27FC236}">
                <a16:creationId xmlns:a16="http://schemas.microsoft.com/office/drawing/2014/main" id="{4E1F89F6-D7BF-CCC5-EC10-A3F4090E6553}"/>
              </a:ext>
            </a:extLst>
          </p:cNvPr>
          <p:cNvSpPr/>
          <p:nvPr/>
        </p:nvSpPr>
        <p:spPr>
          <a:xfrm>
            <a:off x="3218688" y="2624328"/>
            <a:ext cx="146304" cy="146304"/>
          </a:xfrm>
          <a:prstGeom prst="rightArrow">
            <a:avLst/>
          </a:prstGeom>
          <a:solidFill>
            <a:srgbClr val="9A9A9A"/>
          </a:solidFill>
          <a:ln/>
        </p:spPr>
      </p:sp>
      <p:sp>
        <p:nvSpPr>
          <p:cNvPr id="61" name="Shape 17">
            <a:extLst>
              <a:ext uri="{FF2B5EF4-FFF2-40B4-BE49-F238E27FC236}">
                <a16:creationId xmlns:a16="http://schemas.microsoft.com/office/drawing/2014/main" id="{65E04CFE-84D6-949D-F65D-EEEDFE74DC18}"/>
              </a:ext>
            </a:extLst>
          </p:cNvPr>
          <p:cNvSpPr/>
          <p:nvPr/>
        </p:nvSpPr>
        <p:spPr>
          <a:xfrm>
            <a:off x="3383280" y="1965960"/>
            <a:ext cx="1371600" cy="1463040"/>
          </a:xfrm>
          <a:prstGeom prst="rect">
            <a:avLst/>
          </a:prstGeom>
          <a:solidFill>
            <a:srgbClr val="F7F5F4"/>
          </a:solidFill>
          <a:ln/>
          <a:effectLst>
            <a:outerShdw blurRad="50800" dist="25400" dir="5400000" algn="bl" rotWithShape="0">
              <a:srgbClr val="888888">
                <a:alpha val="22000"/>
              </a:srgbClr>
            </a:outerShdw>
          </a:effectLst>
        </p:spPr>
      </p:sp>
      <p:sp>
        <p:nvSpPr>
          <p:cNvPr id="64" name="Text 18">
            <a:extLst>
              <a:ext uri="{FF2B5EF4-FFF2-40B4-BE49-F238E27FC236}">
                <a16:creationId xmlns:a16="http://schemas.microsoft.com/office/drawing/2014/main" id="{4C690B21-3DA3-AD66-1371-300EDDA8EAF2}"/>
              </a:ext>
            </a:extLst>
          </p:cNvPr>
          <p:cNvSpPr txBox="1"/>
          <p:nvPr/>
        </p:nvSpPr>
        <p:spPr>
          <a:xfrm>
            <a:off x="3465576" y="2029968"/>
            <a:ext cx="1207008" cy="475488"/>
          </a:xfrm>
          <a:prstGeom prst="rect">
            <a:avLst/>
          </a:prstGeom>
          <a:noFill/>
          <a:ln/>
        </p:spPr>
        <p:txBody>
          <a:bodyPr wrap="square" lIns="0" tIns="0" rIns="0" bIns="0" rtlCol="0" anchor="t"/>
          <a:lstStyle/>
          <a:p>
            <a:pPr marL="0" indent="0" algn="l">
              <a:lnSpc>
                <a:spcPct val="100000"/>
              </a:lnSpc>
              <a:buNone/>
            </a:pPr>
            <a:r>
              <a:rPr lang="en-US" sz="1100" b="1" dirty="0">
                <a:solidFill>
                  <a:srgbClr val="2E3B7D"/>
                </a:solidFill>
                <a:latin typeface="Georgia" pitchFamily="34" charset="0"/>
                <a:ea typeface="Georgia" pitchFamily="34" charset="-122"/>
                <a:cs typeface="Georgia" pitchFamily="34" charset="-120"/>
              </a:rPr>
              <a:t>Prophet + XGBoost</a:t>
            </a:r>
            <a:endParaRPr lang="en-US" sz="1100" dirty="0"/>
          </a:p>
        </p:txBody>
      </p:sp>
      <p:sp>
        <p:nvSpPr>
          <p:cNvPr id="66" name="Text 19">
            <a:extLst>
              <a:ext uri="{FF2B5EF4-FFF2-40B4-BE49-F238E27FC236}">
                <a16:creationId xmlns:a16="http://schemas.microsoft.com/office/drawing/2014/main" id="{A640BBE8-2552-CE59-F85A-D43CE8BC54FE}"/>
              </a:ext>
            </a:extLst>
          </p:cNvPr>
          <p:cNvSpPr txBox="1"/>
          <p:nvPr/>
        </p:nvSpPr>
        <p:spPr>
          <a:xfrm>
            <a:off x="3465576" y="2514600"/>
            <a:ext cx="1207008" cy="841248"/>
          </a:xfrm>
          <a:prstGeom prst="rect">
            <a:avLst/>
          </a:prstGeom>
          <a:noFill/>
          <a:ln/>
        </p:spPr>
        <p:txBody>
          <a:bodyPr wrap="square" lIns="0" tIns="0" rIns="0" bIns="0" rtlCol="0" anchor="t"/>
          <a:lstStyle/>
          <a:p>
            <a:pPr marL="0" indent="0" algn="l">
              <a:lnSpc>
                <a:spcPct val="105000"/>
              </a:lnSpc>
              <a:buNone/>
            </a:pPr>
            <a:r>
              <a:rPr lang="en-US" sz="1100" dirty="0">
                <a:solidFill>
                  <a:srgbClr val="3A3A3A"/>
                </a:solidFill>
                <a:latin typeface="Georgia" pitchFamily="34" charset="0"/>
                <a:ea typeface="Georgia" pitchFamily="34" charset="-122"/>
                <a:cs typeface="Georgia" pitchFamily="34" charset="-120"/>
              </a:rPr>
              <a:t>Prophet: trend + seasonality</a:t>
            </a:r>
            <a:endParaRPr lang="en-US" sz="1100" dirty="0"/>
          </a:p>
          <a:p>
            <a:pPr marL="0" indent="0" algn="l">
              <a:lnSpc>
                <a:spcPct val="105000"/>
              </a:lnSpc>
              <a:buNone/>
            </a:pPr>
            <a:r>
              <a:rPr lang="en-US" sz="1100" dirty="0">
                <a:solidFill>
                  <a:srgbClr val="3A3A3A"/>
                </a:solidFill>
                <a:latin typeface="Georgia" pitchFamily="34" charset="0"/>
                <a:ea typeface="Georgia" pitchFamily="34" charset="-122"/>
                <a:cs typeface="Georgia" pitchFamily="34" charset="-120"/>
              </a:rPr>
              <a:t>XGBoost: residual correction only</a:t>
            </a:r>
            <a:endParaRPr lang="en-US" sz="1100" dirty="0"/>
          </a:p>
        </p:txBody>
      </p:sp>
      <p:sp>
        <p:nvSpPr>
          <p:cNvPr id="68" name="Shape 20">
            <a:extLst>
              <a:ext uri="{FF2B5EF4-FFF2-40B4-BE49-F238E27FC236}">
                <a16:creationId xmlns:a16="http://schemas.microsoft.com/office/drawing/2014/main" id="{73389D26-95A7-45C9-E852-C69916CED9C4}"/>
              </a:ext>
            </a:extLst>
          </p:cNvPr>
          <p:cNvSpPr/>
          <p:nvPr/>
        </p:nvSpPr>
        <p:spPr>
          <a:xfrm>
            <a:off x="4773168" y="2624328"/>
            <a:ext cx="146304" cy="146304"/>
          </a:xfrm>
          <a:prstGeom prst="rightArrow">
            <a:avLst/>
          </a:prstGeom>
          <a:solidFill>
            <a:srgbClr val="9A9A9A"/>
          </a:solidFill>
          <a:ln/>
        </p:spPr>
      </p:sp>
      <p:sp>
        <p:nvSpPr>
          <p:cNvPr id="70" name="Shape 21">
            <a:extLst>
              <a:ext uri="{FF2B5EF4-FFF2-40B4-BE49-F238E27FC236}">
                <a16:creationId xmlns:a16="http://schemas.microsoft.com/office/drawing/2014/main" id="{A88B4914-2723-A935-EC72-B0A5643ACF7E}"/>
              </a:ext>
            </a:extLst>
          </p:cNvPr>
          <p:cNvSpPr/>
          <p:nvPr/>
        </p:nvSpPr>
        <p:spPr>
          <a:xfrm>
            <a:off x="4937760" y="1965960"/>
            <a:ext cx="1371600" cy="1463040"/>
          </a:xfrm>
          <a:prstGeom prst="rect">
            <a:avLst/>
          </a:prstGeom>
          <a:solidFill>
            <a:srgbClr val="F7F5F4"/>
          </a:solidFill>
          <a:ln/>
          <a:effectLst>
            <a:outerShdw blurRad="50800" dist="25400" dir="5400000" algn="bl" rotWithShape="0">
              <a:srgbClr val="888888">
                <a:alpha val="22000"/>
              </a:srgbClr>
            </a:outerShdw>
          </a:effectLst>
        </p:spPr>
      </p:sp>
      <p:sp>
        <p:nvSpPr>
          <p:cNvPr id="72" name="Text 22">
            <a:extLst>
              <a:ext uri="{FF2B5EF4-FFF2-40B4-BE49-F238E27FC236}">
                <a16:creationId xmlns:a16="http://schemas.microsoft.com/office/drawing/2014/main" id="{8C65A9E8-969E-EC24-AC36-E95D1888149F}"/>
              </a:ext>
            </a:extLst>
          </p:cNvPr>
          <p:cNvSpPr txBox="1"/>
          <p:nvPr/>
        </p:nvSpPr>
        <p:spPr>
          <a:xfrm>
            <a:off x="5020056" y="2029968"/>
            <a:ext cx="1207008" cy="475488"/>
          </a:xfrm>
          <a:prstGeom prst="rect">
            <a:avLst/>
          </a:prstGeom>
          <a:noFill/>
          <a:ln/>
        </p:spPr>
        <p:txBody>
          <a:bodyPr wrap="square" lIns="0" tIns="0" rIns="0" bIns="0" rtlCol="0" anchor="t"/>
          <a:lstStyle/>
          <a:p>
            <a:pPr marL="0" indent="0" algn="l">
              <a:lnSpc>
                <a:spcPct val="100000"/>
              </a:lnSpc>
              <a:buNone/>
            </a:pPr>
            <a:r>
              <a:rPr lang="en-US" sz="1100" b="1" dirty="0">
                <a:solidFill>
                  <a:srgbClr val="2E3B7D"/>
                </a:solidFill>
                <a:latin typeface="Georgia" pitchFamily="34" charset="0"/>
                <a:ea typeface="Georgia" pitchFamily="34" charset="-122"/>
                <a:cs typeface="Georgia" pitchFamily="34" charset="-120"/>
              </a:rPr>
              <a:t>Hybrid Forecast</a:t>
            </a:r>
            <a:endParaRPr lang="en-US" sz="1100" dirty="0"/>
          </a:p>
        </p:txBody>
      </p:sp>
      <p:sp>
        <p:nvSpPr>
          <p:cNvPr id="74" name="Text 23">
            <a:extLst>
              <a:ext uri="{FF2B5EF4-FFF2-40B4-BE49-F238E27FC236}">
                <a16:creationId xmlns:a16="http://schemas.microsoft.com/office/drawing/2014/main" id="{A3E7FA24-7356-E950-9C57-AF2FB8DD4B78}"/>
              </a:ext>
            </a:extLst>
          </p:cNvPr>
          <p:cNvSpPr txBox="1"/>
          <p:nvPr/>
        </p:nvSpPr>
        <p:spPr>
          <a:xfrm>
            <a:off x="5020056" y="2514600"/>
            <a:ext cx="1207008" cy="841248"/>
          </a:xfrm>
          <a:prstGeom prst="rect">
            <a:avLst/>
          </a:prstGeom>
          <a:noFill/>
          <a:ln/>
        </p:spPr>
        <p:txBody>
          <a:bodyPr wrap="square" lIns="0" tIns="0" rIns="0" bIns="0" rtlCol="0" anchor="t"/>
          <a:lstStyle/>
          <a:p>
            <a:pPr marL="0" indent="0" algn="l">
              <a:lnSpc>
                <a:spcPct val="105000"/>
              </a:lnSpc>
              <a:buNone/>
            </a:pPr>
            <a:r>
              <a:rPr lang="en-US" sz="1100" dirty="0">
                <a:solidFill>
                  <a:srgbClr val="3A3A3A"/>
                </a:solidFill>
                <a:latin typeface="Georgia" pitchFamily="34" charset="0"/>
                <a:ea typeface="Georgia" pitchFamily="34" charset="-122"/>
                <a:cs typeface="Georgia" pitchFamily="34" charset="-120"/>
              </a:rPr>
              <a:t>Corrected point prediction, per item, per day</a:t>
            </a:r>
            <a:endParaRPr lang="en-US" sz="1100" dirty="0"/>
          </a:p>
        </p:txBody>
      </p:sp>
      <p:sp>
        <p:nvSpPr>
          <p:cNvPr id="76" name="Shape 24">
            <a:extLst>
              <a:ext uri="{FF2B5EF4-FFF2-40B4-BE49-F238E27FC236}">
                <a16:creationId xmlns:a16="http://schemas.microsoft.com/office/drawing/2014/main" id="{B3E5D2CB-335E-603F-6F21-D52A8B95BFF5}"/>
              </a:ext>
            </a:extLst>
          </p:cNvPr>
          <p:cNvSpPr/>
          <p:nvPr/>
        </p:nvSpPr>
        <p:spPr>
          <a:xfrm>
            <a:off x="6327648" y="2624328"/>
            <a:ext cx="146304" cy="146304"/>
          </a:xfrm>
          <a:prstGeom prst="rightArrow">
            <a:avLst/>
          </a:prstGeom>
          <a:solidFill>
            <a:srgbClr val="9A9A9A"/>
          </a:solidFill>
          <a:ln/>
        </p:spPr>
      </p:sp>
      <p:sp>
        <p:nvSpPr>
          <p:cNvPr id="78" name="Shape 25">
            <a:extLst>
              <a:ext uri="{FF2B5EF4-FFF2-40B4-BE49-F238E27FC236}">
                <a16:creationId xmlns:a16="http://schemas.microsoft.com/office/drawing/2014/main" id="{6FAACCC9-788C-1A85-FF53-DD4C649D7840}"/>
              </a:ext>
            </a:extLst>
          </p:cNvPr>
          <p:cNvSpPr/>
          <p:nvPr/>
        </p:nvSpPr>
        <p:spPr>
          <a:xfrm>
            <a:off x="6492240" y="1965960"/>
            <a:ext cx="1371600" cy="1463040"/>
          </a:xfrm>
          <a:prstGeom prst="rect">
            <a:avLst/>
          </a:prstGeom>
          <a:solidFill>
            <a:srgbClr val="F7F5F4"/>
          </a:solidFill>
          <a:ln/>
          <a:effectLst>
            <a:outerShdw blurRad="50800" dist="25400" dir="5400000" algn="bl" rotWithShape="0">
              <a:srgbClr val="888888">
                <a:alpha val="22000"/>
              </a:srgbClr>
            </a:outerShdw>
          </a:effectLst>
        </p:spPr>
      </p:sp>
      <p:sp>
        <p:nvSpPr>
          <p:cNvPr id="80" name="Text 26">
            <a:extLst>
              <a:ext uri="{FF2B5EF4-FFF2-40B4-BE49-F238E27FC236}">
                <a16:creationId xmlns:a16="http://schemas.microsoft.com/office/drawing/2014/main" id="{E7CF237C-ED06-AEFD-6961-7FC174D50209}"/>
              </a:ext>
            </a:extLst>
          </p:cNvPr>
          <p:cNvSpPr txBox="1"/>
          <p:nvPr/>
        </p:nvSpPr>
        <p:spPr>
          <a:xfrm>
            <a:off x="6574536" y="2029968"/>
            <a:ext cx="1207008" cy="475488"/>
          </a:xfrm>
          <a:prstGeom prst="rect">
            <a:avLst/>
          </a:prstGeom>
          <a:noFill/>
          <a:ln/>
        </p:spPr>
        <p:txBody>
          <a:bodyPr wrap="square" lIns="0" tIns="0" rIns="0" bIns="0" rtlCol="0" anchor="t"/>
          <a:lstStyle/>
          <a:p>
            <a:pPr marL="0" indent="0" algn="l">
              <a:lnSpc>
                <a:spcPct val="100000"/>
              </a:lnSpc>
              <a:buNone/>
            </a:pPr>
            <a:r>
              <a:rPr lang="en-US" sz="1100" b="1" dirty="0">
                <a:solidFill>
                  <a:srgbClr val="2E3B7D"/>
                </a:solidFill>
                <a:latin typeface="Georgia" pitchFamily="34" charset="0"/>
                <a:ea typeface="Georgia" pitchFamily="34" charset="-122"/>
                <a:cs typeface="Georgia" pitchFamily="34" charset="-120"/>
              </a:rPr>
              <a:t>Restock Logic</a:t>
            </a:r>
            <a:endParaRPr lang="en-US" sz="1100" dirty="0"/>
          </a:p>
        </p:txBody>
      </p:sp>
      <p:sp>
        <p:nvSpPr>
          <p:cNvPr id="82" name="Text 27">
            <a:extLst>
              <a:ext uri="{FF2B5EF4-FFF2-40B4-BE49-F238E27FC236}">
                <a16:creationId xmlns:a16="http://schemas.microsoft.com/office/drawing/2014/main" id="{09F56F86-F492-144A-B5E6-9961CC832156}"/>
              </a:ext>
            </a:extLst>
          </p:cNvPr>
          <p:cNvSpPr txBox="1"/>
          <p:nvPr/>
        </p:nvSpPr>
        <p:spPr>
          <a:xfrm>
            <a:off x="6574536" y="2514600"/>
            <a:ext cx="1207008" cy="841248"/>
          </a:xfrm>
          <a:prstGeom prst="rect">
            <a:avLst/>
          </a:prstGeom>
          <a:noFill/>
          <a:ln/>
        </p:spPr>
        <p:txBody>
          <a:bodyPr wrap="square" lIns="0" tIns="0" rIns="0" bIns="0" rtlCol="0" anchor="t"/>
          <a:lstStyle/>
          <a:p>
            <a:pPr marL="0" indent="0" algn="l">
              <a:lnSpc>
                <a:spcPct val="105000"/>
              </a:lnSpc>
              <a:buNone/>
            </a:pPr>
            <a:r>
              <a:rPr lang="en-US" sz="1100" dirty="0">
                <a:solidFill>
                  <a:srgbClr val="3A3A3A"/>
                </a:solidFill>
                <a:latin typeface="Georgia" pitchFamily="34" charset="0"/>
                <a:ea typeface="Georgia" pitchFamily="34" charset="-122"/>
                <a:cs typeface="Georgia" pitchFamily="34" charset="-120"/>
              </a:rPr>
              <a:t>Safety-stock buffer + current inventory</a:t>
            </a:r>
            <a:endParaRPr lang="en-US" sz="1100" dirty="0"/>
          </a:p>
        </p:txBody>
      </p:sp>
      <p:sp>
        <p:nvSpPr>
          <p:cNvPr id="84" name="Shape 28">
            <a:extLst>
              <a:ext uri="{FF2B5EF4-FFF2-40B4-BE49-F238E27FC236}">
                <a16:creationId xmlns:a16="http://schemas.microsoft.com/office/drawing/2014/main" id="{E5C7F250-B6C2-E3FB-E6F0-07432CB68CFB}"/>
              </a:ext>
            </a:extLst>
          </p:cNvPr>
          <p:cNvSpPr/>
          <p:nvPr/>
        </p:nvSpPr>
        <p:spPr>
          <a:xfrm>
            <a:off x="7882128" y="2624328"/>
            <a:ext cx="146304" cy="146304"/>
          </a:xfrm>
          <a:prstGeom prst="rightArrow">
            <a:avLst/>
          </a:prstGeom>
          <a:solidFill>
            <a:srgbClr val="9A9A9A"/>
          </a:solidFill>
          <a:ln/>
        </p:spPr>
      </p:sp>
      <p:sp>
        <p:nvSpPr>
          <p:cNvPr id="86" name="Shape 29">
            <a:extLst>
              <a:ext uri="{FF2B5EF4-FFF2-40B4-BE49-F238E27FC236}">
                <a16:creationId xmlns:a16="http://schemas.microsoft.com/office/drawing/2014/main" id="{0812798B-D9D6-84A4-9F2B-7F6D908FCEA9}"/>
              </a:ext>
            </a:extLst>
          </p:cNvPr>
          <p:cNvSpPr/>
          <p:nvPr/>
        </p:nvSpPr>
        <p:spPr>
          <a:xfrm>
            <a:off x="8046720" y="1965960"/>
            <a:ext cx="1371600" cy="1463040"/>
          </a:xfrm>
          <a:prstGeom prst="rect">
            <a:avLst/>
          </a:prstGeom>
          <a:solidFill>
            <a:srgbClr val="BB302C"/>
          </a:solidFill>
          <a:ln/>
          <a:effectLst>
            <a:outerShdw blurRad="50800" dist="25400" dir="5400000" algn="bl" rotWithShape="0">
              <a:srgbClr val="888888">
                <a:alpha val="22000"/>
              </a:srgbClr>
            </a:outerShdw>
          </a:effectLst>
        </p:spPr>
      </p:sp>
      <p:sp>
        <p:nvSpPr>
          <p:cNvPr id="88" name="Text 30">
            <a:extLst>
              <a:ext uri="{FF2B5EF4-FFF2-40B4-BE49-F238E27FC236}">
                <a16:creationId xmlns:a16="http://schemas.microsoft.com/office/drawing/2014/main" id="{3DC96A07-2520-48D9-6E2A-5F9496DC01DE}"/>
              </a:ext>
            </a:extLst>
          </p:cNvPr>
          <p:cNvSpPr txBox="1"/>
          <p:nvPr/>
        </p:nvSpPr>
        <p:spPr>
          <a:xfrm>
            <a:off x="8129016" y="2029968"/>
            <a:ext cx="1301466" cy="475488"/>
          </a:xfrm>
          <a:prstGeom prst="rect">
            <a:avLst/>
          </a:prstGeom>
          <a:noFill/>
          <a:ln/>
        </p:spPr>
        <p:txBody>
          <a:bodyPr wrap="square" lIns="0" tIns="0" rIns="0" bIns="0" rtlCol="0" anchor="t"/>
          <a:lstStyle/>
          <a:p>
            <a:pPr marL="0" indent="0" algn="l">
              <a:lnSpc>
                <a:spcPct val="100000"/>
              </a:lnSpc>
              <a:buNone/>
            </a:pPr>
            <a:r>
              <a:rPr lang="en-US" sz="1100" b="1" dirty="0">
                <a:solidFill>
                  <a:srgbClr val="FFFFFF"/>
                </a:solidFill>
                <a:latin typeface="Georgia" pitchFamily="34" charset="0"/>
                <a:ea typeface="Georgia" pitchFamily="34" charset="-122"/>
                <a:cs typeface="Georgia" pitchFamily="34" charset="-120"/>
              </a:rPr>
              <a:t>Recommendation</a:t>
            </a:r>
            <a:endParaRPr lang="en-US" sz="1100" dirty="0"/>
          </a:p>
        </p:txBody>
      </p:sp>
      <p:sp>
        <p:nvSpPr>
          <p:cNvPr id="90" name="Text 31">
            <a:extLst>
              <a:ext uri="{FF2B5EF4-FFF2-40B4-BE49-F238E27FC236}">
                <a16:creationId xmlns:a16="http://schemas.microsoft.com/office/drawing/2014/main" id="{4FCC0F8E-CF3D-E5C2-7450-8D9CFA4C5A76}"/>
              </a:ext>
            </a:extLst>
          </p:cNvPr>
          <p:cNvSpPr txBox="1"/>
          <p:nvPr/>
        </p:nvSpPr>
        <p:spPr>
          <a:xfrm>
            <a:off x="8129016" y="2514600"/>
            <a:ext cx="1207008" cy="841248"/>
          </a:xfrm>
          <a:prstGeom prst="rect">
            <a:avLst/>
          </a:prstGeom>
          <a:noFill/>
          <a:ln/>
        </p:spPr>
        <p:txBody>
          <a:bodyPr wrap="square" lIns="0" tIns="0" rIns="0" bIns="0" rtlCol="0" anchor="t"/>
          <a:lstStyle/>
          <a:p>
            <a:pPr marL="0" indent="0" algn="l">
              <a:lnSpc>
                <a:spcPct val="105000"/>
              </a:lnSpc>
              <a:buNone/>
            </a:pPr>
            <a:r>
              <a:rPr lang="en-US" sz="1100" dirty="0">
                <a:solidFill>
                  <a:srgbClr val="FFEDEC"/>
                </a:solidFill>
                <a:latin typeface="Georgia" pitchFamily="34" charset="0"/>
                <a:ea typeface="Georgia" pitchFamily="34" charset="-122"/>
                <a:cs typeface="Georgia" pitchFamily="34" charset="-120"/>
              </a:rPr>
              <a:t>e.g. “Order 15 croissants”</a:t>
            </a:r>
            <a:endParaRPr lang="en-US" sz="1100" dirty="0"/>
          </a:p>
        </p:txBody>
      </p:sp>
      <p:sp>
        <p:nvSpPr>
          <p:cNvPr id="92" name="Shape 32">
            <a:extLst>
              <a:ext uri="{FF2B5EF4-FFF2-40B4-BE49-F238E27FC236}">
                <a16:creationId xmlns:a16="http://schemas.microsoft.com/office/drawing/2014/main" id="{4601B186-9331-C3CE-7197-651601DF6970}"/>
              </a:ext>
            </a:extLst>
          </p:cNvPr>
          <p:cNvSpPr/>
          <p:nvPr/>
        </p:nvSpPr>
        <p:spPr>
          <a:xfrm>
            <a:off x="3383280" y="3794760"/>
            <a:ext cx="1371600" cy="1463040"/>
          </a:xfrm>
          <a:prstGeom prst="rect">
            <a:avLst/>
          </a:prstGeom>
          <a:solidFill>
            <a:srgbClr val="F7F5F4"/>
          </a:solidFill>
          <a:ln/>
          <a:effectLst>
            <a:outerShdw blurRad="50800" dist="25400" dir="5400000" algn="bl" rotWithShape="0">
              <a:srgbClr val="888888">
                <a:alpha val="22000"/>
              </a:srgbClr>
            </a:outerShdw>
          </a:effectLst>
        </p:spPr>
      </p:sp>
      <p:sp>
        <p:nvSpPr>
          <p:cNvPr id="94" name="Text 33">
            <a:extLst>
              <a:ext uri="{FF2B5EF4-FFF2-40B4-BE49-F238E27FC236}">
                <a16:creationId xmlns:a16="http://schemas.microsoft.com/office/drawing/2014/main" id="{6140CBBB-9641-6B91-5916-B1F3F96F0641}"/>
              </a:ext>
            </a:extLst>
          </p:cNvPr>
          <p:cNvSpPr txBox="1"/>
          <p:nvPr/>
        </p:nvSpPr>
        <p:spPr>
          <a:xfrm>
            <a:off x="3465576" y="3858768"/>
            <a:ext cx="1207008" cy="475488"/>
          </a:xfrm>
          <a:prstGeom prst="rect">
            <a:avLst/>
          </a:prstGeom>
          <a:noFill/>
          <a:ln/>
        </p:spPr>
        <p:txBody>
          <a:bodyPr wrap="square" lIns="0" tIns="0" rIns="0" bIns="0" rtlCol="0" anchor="t"/>
          <a:lstStyle/>
          <a:p>
            <a:pPr marL="0" indent="0" algn="l">
              <a:lnSpc>
                <a:spcPct val="100000"/>
              </a:lnSpc>
              <a:buNone/>
            </a:pPr>
            <a:r>
              <a:rPr lang="en-US" sz="1100" b="1" dirty="0">
                <a:solidFill>
                  <a:srgbClr val="2E3B7D"/>
                </a:solidFill>
                <a:latin typeface="Georgia" pitchFamily="34" charset="0"/>
                <a:ea typeface="Georgia" pitchFamily="34" charset="-122"/>
                <a:cs typeface="Georgia" pitchFamily="34" charset="-120"/>
              </a:rPr>
              <a:t>Inventory Aging Check</a:t>
            </a:r>
            <a:endParaRPr lang="en-US" sz="1100" dirty="0"/>
          </a:p>
        </p:txBody>
      </p:sp>
      <p:sp>
        <p:nvSpPr>
          <p:cNvPr id="96" name="Text 34">
            <a:extLst>
              <a:ext uri="{FF2B5EF4-FFF2-40B4-BE49-F238E27FC236}">
                <a16:creationId xmlns:a16="http://schemas.microsoft.com/office/drawing/2014/main" id="{D01B6B34-DD54-30D8-FAAC-A9137D32B619}"/>
              </a:ext>
            </a:extLst>
          </p:cNvPr>
          <p:cNvSpPr txBox="1"/>
          <p:nvPr/>
        </p:nvSpPr>
        <p:spPr>
          <a:xfrm>
            <a:off x="3465576" y="4343400"/>
            <a:ext cx="1207008" cy="841248"/>
          </a:xfrm>
          <a:prstGeom prst="rect">
            <a:avLst/>
          </a:prstGeom>
          <a:noFill/>
          <a:ln/>
        </p:spPr>
        <p:txBody>
          <a:bodyPr wrap="square" lIns="0" tIns="0" rIns="0" bIns="0" rtlCol="0" anchor="t"/>
          <a:lstStyle/>
          <a:p>
            <a:pPr marL="0" indent="0" algn="l">
              <a:lnSpc>
                <a:spcPct val="105000"/>
              </a:lnSpc>
              <a:buNone/>
            </a:pPr>
            <a:r>
              <a:rPr lang="en-US" sz="1100" dirty="0">
                <a:solidFill>
                  <a:srgbClr val="3A3A3A"/>
                </a:solidFill>
                <a:latin typeface="Georgia" pitchFamily="34" charset="0"/>
                <a:ea typeface="Georgia" pitchFamily="34" charset="-122"/>
                <a:cs typeface="Georgia" pitchFamily="34" charset="-120"/>
              </a:rPr>
              <a:t>Flags stock nearing sell-by or low turnover</a:t>
            </a:r>
            <a:endParaRPr lang="en-US" sz="1100" dirty="0"/>
          </a:p>
        </p:txBody>
      </p:sp>
      <p:sp>
        <p:nvSpPr>
          <p:cNvPr id="98" name="Shape 35">
            <a:extLst>
              <a:ext uri="{FF2B5EF4-FFF2-40B4-BE49-F238E27FC236}">
                <a16:creationId xmlns:a16="http://schemas.microsoft.com/office/drawing/2014/main" id="{D43EC5D9-67BF-4AC8-5554-FF38D697FF98}"/>
              </a:ext>
            </a:extLst>
          </p:cNvPr>
          <p:cNvSpPr/>
          <p:nvPr/>
        </p:nvSpPr>
        <p:spPr>
          <a:xfrm>
            <a:off x="4773168" y="4453128"/>
            <a:ext cx="146304" cy="146304"/>
          </a:xfrm>
          <a:prstGeom prst="rightArrow">
            <a:avLst/>
          </a:prstGeom>
          <a:solidFill>
            <a:srgbClr val="9A9A9A"/>
          </a:solidFill>
          <a:ln/>
        </p:spPr>
      </p:sp>
      <p:sp>
        <p:nvSpPr>
          <p:cNvPr id="100" name="Shape 36">
            <a:extLst>
              <a:ext uri="{FF2B5EF4-FFF2-40B4-BE49-F238E27FC236}">
                <a16:creationId xmlns:a16="http://schemas.microsoft.com/office/drawing/2014/main" id="{B40FA1B5-5BAF-EB08-6DA8-F5AB82EBF708}"/>
              </a:ext>
            </a:extLst>
          </p:cNvPr>
          <p:cNvSpPr/>
          <p:nvPr/>
        </p:nvSpPr>
        <p:spPr>
          <a:xfrm>
            <a:off x="4937760" y="3794760"/>
            <a:ext cx="1371600" cy="1463040"/>
          </a:xfrm>
          <a:prstGeom prst="rect">
            <a:avLst/>
          </a:prstGeom>
          <a:solidFill>
            <a:srgbClr val="F7F5F4"/>
          </a:solidFill>
          <a:ln/>
          <a:effectLst>
            <a:outerShdw blurRad="50800" dist="25400" dir="5400000" algn="bl" rotWithShape="0">
              <a:srgbClr val="888888">
                <a:alpha val="22000"/>
              </a:srgbClr>
            </a:outerShdw>
          </a:effectLst>
        </p:spPr>
      </p:sp>
      <p:sp>
        <p:nvSpPr>
          <p:cNvPr id="102" name="Text 37">
            <a:extLst>
              <a:ext uri="{FF2B5EF4-FFF2-40B4-BE49-F238E27FC236}">
                <a16:creationId xmlns:a16="http://schemas.microsoft.com/office/drawing/2014/main" id="{D27524A6-BDC1-40FE-AA3B-C451E273C668}"/>
              </a:ext>
            </a:extLst>
          </p:cNvPr>
          <p:cNvSpPr txBox="1"/>
          <p:nvPr/>
        </p:nvSpPr>
        <p:spPr>
          <a:xfrm>
            <a:off x="5020056" y="3858768"/>
            <a:ext cx="1207008" cy="475488"/>
          </a:xfrm>
          <a:prstGeom prst="rect">
            <a:avLst/>
          </a:prstGeom>
          <a:noFill/>
          <a:ln/>
        </p:spPr>
        <p:txBody>
          <a:bodyPr wrap="square" lIns="0" tIns="0" rIns="0" bIns="0" rtlCol="0" anchor="t"/>
          <a:lstStyle/>
          <a:p>
            <a:pPr marL="0" indent="0" algn="l">
              <a:lnSpc>
                <a:spcPct val="100000"/>
              </a:lnSpc>
              <a:buNone/>
            </a:pPr>
            <a:r>
              <a:rPr lang="en-US" sz="1100" b="1" dirty="0">
                <a:solidFill>
                  <a:srgbClr val="2E3B7D"/>
                </a:solidFill>
                <a:latin typeface="Georgia" pitchFamily="34" charset="0"/>
                <a:ea typeface="Georgia" pitchFamily="34" charset="-122"/>
                <a:cs typeface="Georgia" pitchFamily="34" charset="-120"/>
              </a:rPr>
              <a:t>Waste Action Engine</a:t>
            </a:r>
            <a:endParaRPr lang="en-US" sz="1100" dirty="0"/>
          </a:p>
        </p:txBody>
      </p:sp>
      <p:sp>
        <p:nvSpPr>
          <p:cNvPr id="104" name="Text 38">
            <a:extLst>
              <a:ext uri="{FF2B5EF4-FFF2-40B4-BE49-F238E27FC236}">
                <a16:creationId xmlns:a16="http://schemas.microsoft.com/office/drawing/2014/main" id="{980DA04C-7CEF-D530-7A08-F79FCEE15401}"/>
              </a:ext>
            </a:extLst>
          </p:cNvPr>
          <p:cNvSpPr txBox="1"/>
          <p:nvPr/>
        </p:nvSpPr>
        <p:spPr>
          <a:xfrm>
            <a:off x="5020056" y="4343400"/>
            <a:ext cx="1207008" cy="841248"/>
          </a:xfrm>
          <a:prstGeom prst="rect">
            <a:avLst/>
          </a:prstGeom>
          <a:noFill/>
          <a:ln/>
        </p:spPr>
        <p:txBody>
          <a:bodyPr wrap="square" lIns="0" tIns="0" rIns="0" bIns="0" rtlCol="0" anchor="t"/>
          <a:lstStyle/>
          <a:p>
            <a:pPr marL="0" indent="0" algn="l">
              <a:lnSpc>
                <a:spcPct val="105000"/>
              </a:lnSpc>
              <a:buNone/>
            </a:pPr>
            <a:r>
              <a:rPr lang="en-US" sz="1100" dirty="0">
                <a:solidFill>
                  <a:srgbClr val="3A3A3A"/>
                </a:solidFill>
                <a:latin typeface="Georgia" pitchFamily="34" charset="0"/>
                <a:ea typeface="Georgia" pitchFamily="34" charset="-122"/>
                <a:cs typeface="Georgia" pitchFamily="34" charset="-120"/>
              </a:rPr>
              <a:t>Uses price-elasticity data to size the discount</a:t>
            </a:r>
            <a:endParaRPr lang="en-US" sz="1100" dirty="0"/>
          </a:p>
        </p:txBody>
      </p:sp>
      <p:sp>
        <p:nvSpPr>
          <p:cNvPr id="106" name="Shape 39">
            <a:extLst>
              <a:ext uri="{FF2B5EF4-FFF2-40B4-BE49-F238E27FC236}">
                <a16:creationId xmlns:a16="http://schemas.microsoft.com/office/drawing/2014/main" id="{15BF11B7-844F-B6F3-68A8-A1B40662BC07}"/>
              </a:ext>
            </a:extLst>
          </p:cNvPr>
          <p:cNvSpPr/>
          <p:nvPr/>
        </p:nvSpPr>
        <p:spPr>
          <a:xfrm>
            <a:off x="6327648" y="4453128"/>
            <a:ext cx="146304" cy="146304"/>
          </a:xfrm>
          <a:prstGeom prst="rightArrow">
            <a:avLst/>
          </a:prstGeom>
          <a:solidFill>
            <a:srgbClr val="9A9A9A"/>
          </a:solidFill>
          <a:ln/>
        </p:spPr>
      </p:sp>
      <p:sp>
        <p:nvSpPr>
          <p:cNvPr id="108" name="Shape 40">
            <a:extLst>
              <a:ext uri="{FF2B5EF4-FFF2-40B4-BE49-F238E27FC236}">
                <a16:creationId xmlns:a16="http://schemas.microsoft.com/office/drawing/2014/main" id="{F66776AA-187F-3407-A075-3AB97EF654BB}"/>
              </a:ext>
            </a:extLst>
          </p:cNvPr>
          <p:cNvSpPr/>
          <p:nvPr/>
        </p:nvSpPr>
        <p:spPr>
          <a:xfrm>
            <a:off x="6492240" y="3794760"/>
            <a:ext cx="1371600" cy="1463040"/>
          </a:xfrm>
          <a:prstGeom prst="rect">
            <a:avLst/>
          </a:prstGeom>
          <a:solidFill>
            <a:srgbClr val="BB302C"/>
          </a:solidFill>
          <a:ln/>
          <a:effectLst>
            <a:outerShdw blurRad="50800" dist="25400" dir="5400000" algn="bl" rotWithShape="0">
              <a:srgbClr val="888888">
                <a:alpha val="22000"/>
              </a:srgbClr>
            </a:outerShdw>
          </a:effectLst>
        </p:spPr>
      </p:sp>
      <p:sp>
        <p:nvSpPr>
          <p:cNvPr id="110" name="Text 41">
            <a:extLst>
              <a:ext uri="{FF2B5EF4-FFF2-40B4-BE49-F238E27FC236}">
                <a16:creationId xmlns:a16="http://schemas.microsoft.com/office/drawing/2014/main" id="{79A47FD7-4425-3BE0-D384-6B3DFB697E52}"/>
              </a:ext>
            </a:extLst>
          </p:cNvPr>
          <p:cNvSpPr txBox="1"/>
          <p:nvPr/>
        </p:nvSpPr>
        <p:spPr>
          <a:xfrm>
            <a:off x="6574536" y="3858768"/>
            <a:ext cx="1207008" cy="475488"/>
          </a:xfrm>
          <a:prstGeom prst="rect">
            <a:avLst/>
          </a:prstGeom>
          <a:noFill/>
          <a:ln/>
        </p:spPr>
        <p:txBody>
          <a:bodyPr wrap="square" lIns="0" tIns="0" rIns="0" bIns="0" rtlCol="0" anchor="t"/>
          <a:lstStyle/>
          <a:p>
            <a:pPr marL="0" indent="0" algn="l">
              <a:lnSpc>
                <a:spcPct val="100000"/>
              </a:lnSpc>
              <a:buNone/>
            </a:pPr>
            <a:r>
              <a:rPr lang="en-US" sz="1100" b="1" dirty="0">
                <a:solidFill>
                  <a:srgbClr val="FFFFFF"/>
                </a:solidFill>
                <a:latin typeface="Georgia" pitchFamily="34" charset="0"/>
                <a:ea typeface="Georgia" pitchFamily="34" charset="-122"/>
                <a:cs typeface="Georgia" pitchFamily="34" charset="-120"/>
              </a:rPr>
              <a:t>Waste Action</a:t>
            </a:r>
            <a:endParaRPr lang="en-US" sz="1100" dirty="0"/>
          </a:p>
        </p:txBody>
      </p:sp>
      <p:sp>
        <p:nvSpPr>
          <p:cNvPr id="112" name="Text 42">
            <a:extLst>
              <a:ext uri="{FF2B5EF4-FFF2-40B4-BE49-F238E27FC236}">
                <a16:creationId xmlns:a16="http://schemas.microsoft.com/office/drawing/2014/main" id="{A2132B71-808E-0948-C18B-E0806CE14653}"/>
              </a:ext>
            </a:extLst>
          </p:cNvPr>
          <p:cNvSpPr txBox="1"/>
          <p:nvPr/>
        </p:nvSpPr>
        <p:spPr>
          <a:xfrm>
            <a:off x="6574536" y="4343400"/>
            <a:ext cx="1207008" cy="841248"/>
          </a:xfrm>
          <a:prstGeom prst="rect">
            <a:avLst/>
          </a:prstGeom>
          <a:noFill/>
          <a:ln/>
        </p:spPr>
        <p:txBody>
          <a:bodyPr wrap="square" lIns="0" tIns="0" rIns="0" bIns="0" rtlCol="0" anchor="t"/>
          <a:lstStyle/>
          <a:p>
            <a:pPr marL="0" indent="0" algn="l">
              <a:lnSpc>
                <a:spcPct val="105000"/>
              </a:lnSpc>
              <a:buNone/>
            </a:pPr>
            <a:r>
              <a:rPr lang="en-US" sz="1100" dirty="0">
                <a:solidFill>
                  <a:srgbClr val="FFEDEC"/>
                </a:solidFill>
                <a:latin typeface="Georgia" pitchFamily="34" charset="0"/>
                <a:ea typeface="Georgia" pitchFamily="34" charset="-122"/>
                <a:cs typeface="Georgia" pitchFamily="34" charset="-120"/>
              </a:rPr>
              <a:t>e.g. “Mark down 8 croissants 30% today”</a:t>
            </a:r>
            <a:endParaRPr lang="en-US" sz="1100" dirty="0"/>
          </a:p>
        </p:txBody>
      </p:sp>
      <p:sp>
        <p:nvSpPr>
          <p:cNvPr id="114" name="Shape 43">
            <a:extLst>
              <a:ext uri="{FF2B5EF4-FFF2-40B4-BE49-F238E27FC236}">
                <a16:creationId xmlns:a16="http://schemas.microsoft.com/office/drawing/2014/main" id="{EA7ACB55-B1EC-6201-6DC7-A1773AED248C}"/>
              </a:ext>
            </a:extLst>
          </p:cNvPr>
          <p:cNvSpPr/>
          <p:nvPr/>
        </p:nvSpPr>
        <p:spPr>
          <a:xfrm>
            <a:off x="5550408" y="3474720"/>
            <a:ext cx="146304" cy="256032"/>
          </a:xfrm>
          <a:prstGeom prst="downArrow">
            <a:avLst/>
          </a:prstGeom>
          <a:solidFill>
            <a:srgbClr val="9A9A9A"/>
          </a:solidFill>
          <a:ln/>
        </p:spPr>
      </p:sp>
      <p:sp>
        <p:nvSpPr>
          <p:cNvPr id="116" name="Shape 44">
            <a:extLst>
              <a:ext uri="{FF2B5EF4-FFF2-40B4-BE49-F238E27FC236}">
                <a16:creationId xmlns:a16="http://schemas.microsoft.com/office/drawing/2014/main" id="{025C99CE-8C0D-E3AA-DF80-E7A82E8A7B43}"/>
              </a:ext>
            </a:extLst>
          </p:cNvPr>
          <p:cNvSpPr/>
          <p:nvPr/>
        </p:nvSpPr>
        <p:spPr>
          <a:xfrm>
            <a:off x="4846320" y="3456432"/>
            <a:ext cx="1554480" cy="219456"/>
          </a:xfrm>
          <a:prstGeom prst="roundRect">
            <a:avLst>
              <a:gd name="adj" fmla="val 20833"/>
            </a:avLst>
          </a:prstGeom>
          <a:solidFill>
            <a:srgbClr val="BB302C"/>
          </a:solidFill>
          <a:ln/>
        </p:spPr>
      </p:sp>
      <p:sp>
        <p:nvSpPr>
          <p:cNvPr id="118" name="Text 45">
            <a:extLst>
              <a:ext uri="{FF2B5EF4-FFF2-40B4-BE49-F238E27FC236}">
                <a16:creationId xmlns:a16="http://schemas.microsoft.com/office/drawing/2014/main" id="{B05A4C98-4FDF-8500-240F-0BEEBFF76DAD}"/>
              </a:ext>
            </a:extLst>
          </p:cNvPr>
          <p:cNvSpPr txBox="1"/>
          <p:nvPr/>
        </p:nvSpPr>
        <p:spPr>
          <a:xfrm>
            <a:off x="4846320" y="3447288"/>
            <a:ext cx="1554480" cy="219456"/>
          </a:xfrm>
          <a:prstGeom prst="rect">
            <a:avLst/>
          </a:prstGeom>
          <a:noFill/>
          <a:ln/>
        </p:spPr>
        <p:txBody>
          <a:bodyPr wrap="square" lIns="0" tIns="0" rIns="0" bIns="0" rtlCol="0" anchor="ctr"/>
          <a:lstStyle/>
          <a:p>
            <a:pPr marL="0" indent="0" algn="ctr">
              <a:buNone/>
            </a:pPr>
            <a:r>
              <a:rPr lang="en-US" sz="1050" b="1" dirty="0">
                <a:solidFill>
                  <a:srgbClr val="FFFFFF"/>
                </a:solidFill>
                <a:latin typeface="Georgia" pitchFamily="34" charset="0"/>
                <a:ea typeface="Georgia" pitchFamily="34" charset="-122"/>
                <a:cs typeface="Georgia" pitchFamily="34" charset="-120"/>
              </a:rPr>
              <a:t>NEW — WASTE PATH</a:t>
            </a:r>
            <a:endParaRPr lang="en-US" sz="1050" dirty="0"/>
          </a:p>
        </p:txBody>
      </p:sp>
      <p:sp>
        <p:nvSpPr>
          <p:cNvPr id="120" name="Shape 46">
            <a:extLst>
              <a:ext uri="{FF2B5EF4-FFF2-40B4-BE49-F238E27FC236}">
                <a16:creationId xmlns:a16="http://schemas.microsoft.com/office/drawing/2014/main" id="{4A970EE6-65C1-F470-B065-A7CE2B402BE2}"/>
              </a:ext>
            </a:extLst>
          </p:cNvPr>
          <p:cNvSpPr/>
          <p:nvPr/>
        </p:nvSpPr>
        <p:spPr>
          <a:xfrm>
            <a:off x="274320" y="5477256"/>
            <a:ext cx="9357330" cy="713232"/>
          </a:xfrm>
          <a:prstGeom prst="rect">
            <a:avLst/>
          </a:prstGeom>
          <a:solidFill>
            <a:srgbClr val="2E3B7D"/>
          </a:solidFill>
          <a:ln/>
          <a:effectLst>
            <a:outerShdw blurRad="50800" dist="25400" dir="5400000" algn="bl" rotWithShape="0">
              <a:srgbClr val="888888">
                <a:alpha val="25000"/>
              </a:srgbClr>
            </a:outerShdw>
          </a:effectLst>
        </p:spPr>
      </p:sp>
      <p:sp>
        <p:nvSpPr>
          <p:cNvPr id="122" name="Text 47">
            <a:extLst>
              <a:ext uri="{FF2B5EF4-FFF2-40B4-BE49-F238E27FC236}">
                <a16:creationId xmlns:a16="http://schemas.microsoft.com/office/drawing/2014/main" id="{729FDD5E-27F6-416A-77D8-14CAD96BDAAE}"/>
              </a:ext>
            </a:extLst>
          </p:cNvPr>
          <p:cNvSpPr txBox="1"/>
          <p:nvPr/>
        </p:nvSpPr>
        <p:spPr>
          <a:xfrm>
            <a:off x="475488" y="5477256"/>
            <a:ext cx="8954994" cy="713232"/>
          </a:xfrm>
          <a:prstGeom prst="rect">
            <a:avLst/>
          </a:prstGeom>
          <a:noFill/>
          <a:ln/>
        </p:spPr>
        <p:txBody>
          <a:bodyPr wrap="square" lIns="0" tIns="0" rIns="0" bIns="0" rtlCol="0" anchor="ctr"/>
          <a:lstStyle/>
          <a:p>
            <a:pPr marL="0" indent="0" algn="l">
              <a:lnSpc>
                <a:spcPct val="110000"/>
              </a:lnSpc>
              <a:buNone/>
            </a:pPr>
            <a:r>
              <a:rPr lang="en-US" sz="1250" b="1" dirty="0">
                <a:solidFill>
                  <a:srgbClr val="FFFFFF"/>
                </a:solidFill>
                <a:latin typeface="Georgia" pitchFamily="34" charset="0"/>
                <a:ea typeface="Georgia" pitchFamily="34" charset="-122"/>
                <a:cs typeface="Georgia" pitchFamily="34" charset="-120"/>
              </a:rPr>
              <a:t>Forecast Narrator (LLM)   </a:t>
            </a:r>
            <a:r>
              <a:rPr lang="en-US" sz="1050" dirty="0">
                <a:solidFill>
                  <a:srgbClr val="E4E8F5"/>
                </a:solidFill>
                <a:latin typeface="Georgia" pitchFamily="34" charset="0"/>
                <a:ea typeface="Georgia" pitchFamily="34" charset="-122"/>
                <a:cs typeface="Georgia" pitchFamily="34" charset="-120"/>
              </a:rPr>
              <a:t>Translates the restock quantity and the waste action into plain-language advice for a non-technical owner narration only, never touches the forecasting math.</a:t>
            </a:r>
            <a:endParaRPr lang="en-US" sz="1250" dirty="0"/>
          </a:p>
        </p:txBody>
      </p:sp>
      <p:sp>
        <p:nvSpPr>
          <p:cNvPr id="124" name="Shape 48">
            <a:extLst>
              <a:ext uri="{FF2B5EF4-FFF2-40B4-BE49-F238E27FC236}">
                <a16:creationId xmlns:a16="http://schemas.microsoft.com/office/drawing/2014/main" id="{B4C79E3C-4BD7-F1B2-1ACF-2102E2A5E48D}"/>
              </a:ext>
            </a:extLst>
          </p:cNvPr>
          <p:cNvSpPr/>
          <p:nvPr/>
        </p:nvSpPr>
        <p:spPr>
          <a:xfrm>
            <a:off x="8659368" y="3474720"/>
            <a:ext cx="146304" cy="1993392"/>
          </a:xfrm>
          <a:prstGeom prst="downArrow">
            <a:avLst/>
          </a:prstGeom>
          <a:solidFill>
            <a:srgbClr val="9A9A9A"/>
          </a:solidFill>
          <a:ln/>
        </p:spPr>
      </p:sp>
      <p:sp>
        <p:nvSpPr>
          <p:cNvPr id="126" name="Shape 49">
            <a:extLst>
              <a:ext uri="{FF2B5EF4-FFF2-40B4-BE49-F238E27FC236}">
                <a16:creationId xmlns:a16="http://schemas.microsoft.com/office/drawing/2014/main" id="{B9BE8EAE-2700-8660-35D0-09E65ECBDFFD}"/>
              </a:ext>
            </a:extLst>
          </p:cNvPr>
          <p:cNvSpPr/>
          <p:nvPr/>
        </p:nvSpPr>
        <p:spPr>
          <a:xfrm>
            <a:off x="7104888" y="5303520"/>
            <a:ext cx="146304" cy="164592"/>
          </a:xfrm>
          <a:prstGeom prst="downArrow">
            <a:avLst/>
          </a:prstGeom>
          <a:solidFill>
            <a:srgbClr val="9A9A9A"/>
          </a:solidFill>
          <a:ln/>
        </p:spPr>
      </p:sp>
    </p:spTree>
    <p:extLst>
      <p:ext uri="{BB962C8B-B14F-4D97-AF65-F5344CB8AC3E}">
        <p14:creationId xmlns:p14="http://schemas.microsoft.com/office/powerpoint/2010/main" val="2066260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7BD7FB-2B22-C9FA-FA11-E3687F4D17BA}"/>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CF5CBC2-A869-C049-76D6-53BA9B0E8DF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65363" y="2103121"/>
            <a:ext cx="2943278" cy="4327172"/>
          </a:xfrm>
          <a:prstGeom prst="rect">
            <a:avLst/>
          </a:prstGeom>
        </p:spPr>
      </p:pic>
      <p:sp>
        <p:nvSpPr>
          <p:cNvPr id="20" name="Shape 10">
            <a:extLst>
              <a:ext uri="{FF2B5EF4-FFF2-40B4-BE49-F238E27FC236}">
                <a16:creationId xmlns:a16="http://schemas.microsoft.com/office/drawing/2014/main" id="{4AC85F5B-66CD-0FE6-62C1-DB8D09687345}"/>
              </a:ext>
            </a:extLst>
          </p:cNvPr>
          <p:cNvSpPr/>
          <p:nvPr/>
        </p:nvSpPr>
        <p:spPr>
          <a:xfrm>
            <a:off x="365363" y="4389119"/>
            <a:ext cx="2943278" cy="2041173"/>
          </a:xfrm>
          <a:prstGeom prst="rect">
            <a:avLst/>
          </a:prstGeom>
          <a:solidFill>
            <a:srgbClr val="2E3B7D"/>
          </a:solidFill>
          <a:ln/>
          <a:effectLst>
            <a:outerShdw blurRad="63500" dist="38100" dir="2700000" algn="bl" rotWithShape="0">
              <a:srgbClr val="666666">
                <a:alpha val="30000"/>
              </a:srgbClr>
            </a:outerShdw>
          </a:effectLst>
        </p:spPr>
        <p:txBody>
          <a:bodyPr/>
          <a:lstStyle/>
          <a:p>
            <a:endParaRPr lang="en-IN" dirty="0"/>
          </a:p>
        </p:txBody>
      </p:sp>
      <p:pic>
        <p:nvPicPr>
          <p:cNvPr id="9" name="Picture 8">
            <a:extLst>
              <a:ext uri="{FF2B5EF4-FFF2-40B4-BE49-F238E27FC236}">
                <a16:creationId xmlns:a16="http://schemas.microsoft.com/office/drawing/2014/main" id="{6252E175-6CED-BC31-C596-1815A3067DA8}"/>
              </a:ext>
            </a:extLst>
          </p:cNvPr>
          <p:cNvPicPr>
            <a:picLocks noChangeAspect="1"/>
          </p:cNvPicPr>
          <p:nvPr/>
        </p:nvPicPr>
        <p:blipFill rotWithShape="1">
          <a:blip r:embed="rId3">
            <a:extLst>
              <a:ext uri="{28A0092B-C50C-407E-A947-70E740481C1C}">
                <a14:useLocalDpi xmlns:a14="http://schemas.microsoft.com/office/drawing/2010/main" val="0"/>
              </a:ext>
            </a:extLst>
          </a:blip>
          <a:srcRect l="48363" r="-1" b="45098"/>
          <a:stretch/>
        </p:blipFill>
        <p:spPr>
          <a:xfrm>
            <a:off x="0" y="6750969"/>
            <a:ext cx="9906000" cy="131162"/>
          </a:xfrm>
          <a:prstGeom prst="rect">
            <a:avLst/>
          </a:prstGeom>
        </p:spPr>
      </p:pic>
      <p:pic>
        <p:nvPicPr>
          <p:cNvPr id="6" name="Picture 5">
            <a:extLst>
              <a:ext uri="{FF2B5EF4-FFF2-40B4-BE49-F238E27FC236}">
                <a16:creationId xmlns:a16="http://schemas.microsoft.com/office/drawing/2014/main" id="{F58FA1E1-3FC5-2FD6-0AB3-B385EDC82F62}"/>
              </a:ext>
            </a:extLst>
          </p:cNvPr>
          <p:cNvPicPr>
            <a:picLocks noChangeAspect="1"/>
          </p:cNvPicPr>
          <p:nvPr/>
        </p:nvPicPr>
        <p:blipFill rotWithShape="1">
          <a:blip r:embed="rId4"/>
          <a:srcRect b="6633"/>
          <a:stretch/>
        </p:blipFill>
        <p:spPr>
          <a:xfrm>
            <a:off x="0" y="0"/>
            <a:ext cx="3927231" cy="939765"/>
          </a:xfrm>
          <a:prstGeom prst="rect">
            <a:avLst/>
          </a:prstGeom>
        </p:spPr>
      </p:pic>
      <p:pic>
        <p:nvPicPr>
          <p:cNvPr id="7" name="Picture 6">
            <a:extLst>
              <a:ext uri="{FF2B5EF4-FFF2-40B4-BE49-F238E27FC236}">
                <a16:creationId xmlns:a16="http://schemas.microsoft.com/office/drawing/2014/main" id="{AC721274-7357-D25E-82FD-677F69CBF064}"/>
              </a:ext>
            </a:extLst>
          </p:cNvPr>
          <p:cNvPicPr>
            <a:picLocks noChangeAspect="1"/>
          </p:cNvPicPr>
          <p:nvPr/>
        </p:nvPicPr>
        <p:blipFill rotWithShape="1">
          <a:blip r:embed="rId3">
            <a:extLst>
              <a:ext uri="{28A0092B-C50C-407E-A947-70E740481C1C}">
                <a14:useLocalDpi xmlns:a14="http://schemas.microsoft.com/office/drawing/2010/main" val="0"/>
              </a:ext>
            </a:extLst>
          </a:blip>
          <a:srcRect l="48363" r="-1" b="45098"/>
          <a:stretch/>
        </p:blipFill>
        <p:spPr>
          <a:xfrm>
            <a:off x="2637692" y="0"/>
            <a:ext cx="7268307" cy="525780"/>
          </a:xfrm>
          <a:prstGeom prst="rect">
            <a:avLst/>
          </a:prstGeom>
        </p:spPr>
      </p:pic>
      <p:sp>
        <p:nvSpPr>
          <p:cNvPr id="11" name="Rectangle 10">
            <a:extLst>
              <a:ext uri="{FF2B5EF4-FFF2-40B4-BE49-F238E27FC236}">
                <a16:creationId xmlns:a16="http://schemas.microsoft.com/office/drawing/2014/main" id="{7CA16063-0F93-ED14-DCEF-95480895A405}"/>
              </a:ext>
            </a:extLst>
          </p:cNvPr>
          <p:cNvSpPr/>
          <p:nvPr/>
        </p:nvSpPr>
        <p:spPr>
          <a:xfrm>
            <a:off x="1652953" y="107031"/>
            <a:ext cx="8253045" cy="336631"/>
          </a:xfrm>
          <a:prstGeom prst="rect">
            <a:avLst/>
          </a:prstGeom>
        </p:spPr>
        <p:txBody>
          <a:bodyPr wrap="square">
            <a:spAutoFit/>
          </a:bodyPr>
          <a:lstStyle/>
          <a:p>
            <a:pPr algn="ctr">
              <a:lnSpc>
                <a:spcPct val="107000"/>
              </a:lnSpc>
              <a:spcAft>
                <a:spcPts val="800"/>
              </a:spcAft>
            </a:pPr>
            <a:r>
              <a:rPr lang="en-IN" sz="1600" b="1" dirty="0">
                <a:solidFill>
                  <a:schemeClr val="bg1"/>
                </a:solidFill>
                <a:latin typeface="Cambria" panose="02040503050406030204" pitchFamily="18" charset="0"/>
              </a:rPr>
              <a:t>MUKESH PATEL SCHOOL OF TECHNOLOGY MANAGEMENT &amp; ENGINEERING, SHIRPUR</a:t>
            </a:r>
            <a:endParaRPr lang="en-US" sz="1600" b="1" dirty="0">
              <a:solidFill>
                <a:schemeClr val="bg1"/>
              </a:solidFill>
              <a:latin typeface="Cambria" panose="02040503050406030204" pitchFamily="18" charset="0"/>
            </a:endParaRPr>
          </a:p>
        </p:txBody>
      </p:sp>
      <p:sp>
        <p:nvSpPr>
          <p:cNvPr id="3" name="Slide Number Placeholder 2">
            <a:extLst>
              <a:ext uri="{FF2B5EF4-FFF2-40B4-BE49-F238E27FC236}">
                <a16:creationId xmlns:a16="http://schemas.microsoft.com/office/drawing/2014/main" id="{B002F201-32C0-DF53-8399-46A10BDF8CCA}"/>
              </a:ext>
            </a:extLst>
          </p:cNvPr>
          <p:cNvSpPr>
            <a:spLocks noGrp="1"/>
          </p:cNvSpPr>
          <p:nvPr>
            <p:ph type="sldNum" sz="quarter" idx="12"/>
          </p:nvPr>
        </p:nvSpPr>
        <p:spPr/>
        <p:txBody>
          <a:bodyPr/>
          <a:lstStyle/>
          <a:p>
            <a:fld id="{9DC013F7-6D70-4318-BA41-212A9B59413B}" type="slidenum">
              <a:rPr lang="en-US" smtClean="0"/>
              <a:t>7</a:t>
            </a:fld>
            <a:endParaRPr lang="en-US" dirty="0"/>
          </a:p>
        </p:txBody>
      </p:sp>
      <p:sp>
        <p:nvSpPr>
          <p:cNvPr id="2" name="AutoShape 4" descr="Neural Networks Hyperparameter tuning in tensorflow 2.0 | by SiDdhartha |  ML Book | Medium">
            <a:extLst>
              <a:ext uri="{FF2B5EF4-FFF2-40B4-BE49-F238E27FC236}">
                <a16:creationId xmlns:a16="http://schemas.microsoft.com/office/drawing/2014/main" id="{7131B66C-4AA1-0F49-8C17-552C01ED9334}"/>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0" name="Text 6">
            <a:extLst>
              <a:ext uri="{FF2B5EF4-FFF2-40B4-BE49-F238E27FC236}">
                <a16:creationId xmlns:a16="http://schemas.microsoft.com/office/drawing/2014/main" id="{50023F1E-E944-11D5-7997-A4DB9786D834}"/>
              </a:ext>
            </a:extLst>
          </p:cNvPr>
          <p:cNvSpPr txBox="1"/>
          <p:nvPr/>
        </p:nvSpPr>
        <p:spPr>
          <a:xfrm>
            <a:off x="365760" y="822960"/>
            <a:ext cx="9144000" cy="457200"/>
          </a:xfrm>
          <a:prstGeom prst="rect">
            <a:avLst/>
          </a:prstGeom>
          <a:noFill/>
          <a:ln/>
        </p:spPr>
        <p:txBody>
          <a:bodyPr wrap="square" lIns="0" tIns="0" rIns="0" bIns="0" rtlCol="0" anchor="ctr"/>
          <a:lstStyle/>
          <a:p>
            <a:pPr marL="0" indent="0">
              <a:buNone/>
            </a:pPr>
            <a:r>
              <a:rPr lang="en-US" sz="2600" b="1" dirty="0">
                <a:solidFill>
                  <a:srgbClr val="BB302C"/>
                </a:solidFill>
                <a:latin typeface="Georgia" pitchFamily="34" charset="0"/>
                <a:ea typeface="Georgia" pitchFamily="34" charset="-122"/>
                <a:cs typeface="Georgia" pitchFamily="34" charset="-120"/>
              </a:rPr>
              <a:t>Requirement Analysis</a:t>
            </a:r>
            <a:endParaRPr lang="en-US" sz="2600" dirty="0"/>
          </a:p>
        </p:txBody>
      </p:sp>
      <p:sp>
        <p:nvSpPr>
          <p:cNvPr id="14" name="Shape 7">
            <a:extLst>
              <a:ext uri="{FF2B5EF4-FFF2-40B4-BE49-F238E27FC236}">
                <a16:creationId xmlns:a16="http://schemas.microsoft.com/office/drawing/2014/main" id="{8827F409-DB3B-1174-CAA2-ADDA0D625608}"/>
              </a:ext>
            </a:extLst>
          </p:cNvPr>
          <p:cNvSpPr/>
          <p:nvPr/>
        </p:nvSpPr>
        <p:spPr>
          <a:xfrm>
            <a:off x="365760" y="1325880"/>
            <a:ext cx="1371600" cy="36576"/>
          </a:xfrm>
          <a:prstGeom prst="rect">
            <a:avLst/>
          </a:prstGeom>
          <a:solidFill>
            <a:srgbClr val="C62829"/>
          </a:solidFill>
          <a:ln/>
        </p:spPr>
      </p:sp>
      <p:sp>
        <p:nvSpPr>
          <p:cNvPr id="16" name="Shape 8">
            <a:extLst>
              <a:ext uri="{FF2B5EF4-FFF2-40B4-BE49-F238E27FC236}">
                <a16:creationId xmlns:a16="http://schemas.microsoft.com/office/drawing/2014/main" id="{0AE7D86C-0669-ECD4-5C60-2436A169B13E}"/>
              </a:ext>
            </a:extLst>
          </p:cNvPr>
          <p:cNvSpPr/>
          <p:nvPr/>
        </p:nvSpPr>
        <p:spPr>
          <a:xfrm>
            <a:off x="1737360" y="1325880"/>
            <a:ext cx="7772400" cy="9144"/>
          </a:xfrm>
          <a:prstGeom prst="rect">
            <a:avLst/>
          </a:prstGeom>
          <a:solidFill>
            <a:srgbClr val="D9D9D9"/>
          </a:solidFill>
          <a:ln/>
        </p:spPr>
      </p:sp>
      <p:sp>
        <p:nvSpPr>
          <p:cNvPr id="18" name="Text 9">
            <a:extLst>
              <a:ext uri="{FF2B5EF4-FFF2-40B4-BE49-F238E27FC236}">
                <a16:creationId xmlns:a16="http://schemas.microsoft.com/office/drawing/2014/main" id="{042F121F-56A0-7230-923A-9DF4F5778E47}"/>
              </a:ext>
            </a:extLst>
          </p:cNvPr>
          <p:cNvSpPr txBox="1"/>
          <p:nvPr/>
        </p:nvSpPr>
        <p:spPr>
          <a:xfrm>
            <a:off x="365760" y="1417320"/>
            <a:ext cx="9144000" cy="320040"/>
          </a:xfrm>
          <a:prstGeom prst="rect">
            <a:avLst/>
          </a:prstGeom>
          <a:noFill/>
          <a:ln/>
        </p:spPr>
        <p:txBody>
          <a:bodyPr wrap="square" lIns="0" tIns="0" rIns="0" bIns="0" rtlCol="0" anchor="ctr"/>
          <a:lstStyle/>
          <a:p>
            <a:pPr marL="0" indent="0">
              <a:buNone/>
            </a:pPr>
            <a:r>
              <a:rPr lang="en-US" sz="1400" i="1" dirty="0">
                <a:solidFill>
                  <a:srgbClr val="2E3B7D"/>
                </a:solidFill>
                <a:latin typeface="Georgia" pitchFamily="34" charset="0"/>
                <a:ea typeface="Georgia" pitchFamily="34" charset="-122"/>
                <a:cs typeface="Georgia" pitchFamily="34" charset="-120"/>
              </a:rPr>
              <a:t>Object-Oriented Analysis</a:t>
            </a:r>
            <a:endParaRPr lang="en-US" sz="1400" dirty="0"/>
          </a:p>
        </p:txBody>
      </p:sp>
      <p:sp>
        <p:nvSpPr>
          <p:cNvPr id="28" name="Text 14">
            <a:extLst>
              <a:ext uri="{FF2B5EF4-FFF2-40B4-BE49-F238E27FC236}">
                <a16:creationId xmlns:a16="http://schemas.microsoft.com/office/drawing/2014/main" id="{6012679D-59EC-1CA1-6291-118D9C47AF54}"/>
              </a:ext>
            </a:extLst>
          </p:cNvPr>
          <p:cNvSpPr/>
          <p:nvPr/>
        </p:nvSpPr>
        <p:spPr>
          <a:xfrm>
            <a:off x="365760" y="4434840"/>
            <a:ext cx="2926080" cy="274320"/>
          </a:xfrm>
          <a:prstGeom prst="rect">
            <a:avLst/>
          </a:prstGeom>
          <a:noFill/>
          <a:ln/>
        </p:spPr>
        <p:txBody>
          <a:bodyPr wrap="square" rtlCol="0" anchor="ctr"/>
          <a:lstStyle/>
          <a:p>
            <a:pPr marL="0" indent="0" algn="ctr">
              <a:buNone/>
            </a:pPr>
            <a:r>
              <a:rPr lang="en-US" sz="1100" b="1" kern="0" spc="200" dirty="0">
                <a:solidFill>
                  <a:srgbClr val="00B0F0"/>
                </a:solidFill>
                <a:latin typeface="Georgia" pitchFamily="34" charset="0"/>
                <a:ea typeface="Georgia" pitchFamily="34" charset="-122"/>
                <a:cs typeface="Georgia" pitchFamily="34" charset="-120"/>
              </a:rPr>
              <a:t>PRIMARY ACTOR</a:t>
            </a:r>
            <a:endParaRPr lang="en-US" sz="1100" dirty="0">
              <a:solidFill>
                <a:srgbClr val="00B0F0"/>
              </a:solidFill>
            </a:endParaRPr>
          </a:p>
        </p:txBody>
      </p:sp>
      <p:sp>
        <p:nvSpPr>
          <p:cNvPr id="30" name="Text 15">
            <a:extLst>
              <a:ext uri="{FF2B5EF4-FFF2-40B4-BE49-F238E27FC236}">
                <a16:creationId xmlns:a16="http://schemas.microsoft.com/office/drawing/2014/main" id="{AF639E7D-2B5E-AF59-9C40-8E36B7183A4D}"/>
              </a:ext>
            </a:extLst>
          </p:cNvPr>
          <p:cNvSpPr/>
          <p:nvPr/>
        </p:nvSpPr>
        <p:spPr>
          <a:xfrm>
            <a:off x="365760" y="4663440"/>
            <a:ext cx="2926080" cy="457200"/>
          </a:xfrm>
          <a:prstGeom prst="rect">
            <a:avLst/>
          </a:prstGeom>
          <a:noFill/>
          <a:ln/>
        </p:spPr>
        <p:txBody>
          <a:bodyPr wrap="square" rtlCol="0" anchor="ctr"/>
          <a:lstStyle/>
          <a:p>
            <a:pPr marL="0" indent="0" algn="ctr">
              <a:buNone/>
            </a:pPr>
            <a:r>
              <a:rPr lang="en-US" sz="2200" b="1" dirty="0">
                <a:solidFill>
                  <a:srgbClr val="FFFFFF"/>
                </a:solidFill>
                <a:latin typeface="Georgia" pitchFamily="34" charset="0"/>
                <a:ea typeface="Georgia" pitchFamily="34" charset="-122"/>
                <a:cs typeface="Georgia" pitchFamily="34" charset="-120"/>
              </a:rPr>
              <a:t>Business Owner</a:t>
            </a:r>
            <a:endParaRPr lang="en-US" sz="2200" dirty="0"/>
          </a:p>
        </p:txBody>
      </p:sp>
      <p:sp>
        <p:nvSpPr>
          <p:cNvPr id="34" name="Text 17">
            <a:extLst>
              <a:ext uri="{FF2B5EF4-FFF2-40B4-BE49-F238E27FC236}">
                <a16:creationId xmlns:a16="http://schemas.microsoft.com/office/drawing/2014/main" id="{8456292B-7729-82CF-5DAA-EF1FA29EDD6E}"/>
              </a:ext>
            </a:extLst>
          </p:cNvPr>
          <p:cNvSpPr/>
          <p:nvPr/>
        </p:nvSpPr>
        <p:spPr>
          <a:xfrm>
            <a:off x="640080" y="5349240"/>
            <a:ext cx="2377440" cy="731520"/>
          </a:xfrm>
          <a:prstGeom prst="rect">
            <a:avLst/>
          </a:prstGeom>
          <a:noFill/>
          <a:ln/>
        </p:spPr>
        <p:txBody>
          <a:bodyPr wrap="square" rtlCol="0" anchor="ctr"/>
          <a:lstStyle/>
          <a:p>
            <a:pPr marL="0" indent="0" algn="ctr">
              <a:lnSpc>
                <a:spcPct val="120000"/>
              </a:lnSpc>
              <a:buNone/>
            </a:pPr>
            <a:r>
              <a:rPr lang="en-US" sz="1100" dirty="0">
                <a:solidFill>
                  <a:srgbClr val="FFFFFF"/>
                </a:solidFill>
                <a:latin typeface="Georgia" pitchFamily="34" charset="0"/>
                <a:ea typeface="Georgia" pitchFamily="34" charset="-122"/>
                <a:cs typeface="Georgia" pitchFamily="34" charset="-120"/>
              </a:rPr>
              <a:t>Small food-business owner (e.g., cafe, bakery, or independent restaurant). Requires simple, actionable insights without deep technical expertise.</a:t>
            </a:r>
            <a:endParaRPr lang="en-US" sz="1100" dirty="0"/>
          </a:p>
        </p:txBody>
      </p:sp>
      <p:sp>
        <p:nvSpPr>
          <p:cNvPr id="36" name="Text 18">
            <a:extLst>
              <a:ext uri="{FF2B5EF4-FFF2-40B4-BE49-F238E27FC236}">
                <a16:creationId xmlns:a16="http://schemas.microsoft.com/office/drawing/2014/main" id="{5E2A3F5A-23B1-6F6E-1F76-92F6A746B2FA}"/>
              </a:ext>
            </a:extLst>
          </p:cNvPr>
          <p:cNvSpPr/>
          <p:nvPr/>
        </p:nvSpPr>
        <p:spPr>
          <a:xfrm>
            <a:off x="3657600" y="1920240"/>
            <a:ext cx="5882610" cy="365760"/>
          </a:xfrm>
          <a:prstGeom prst="rect">
            <a:avLst/>
          </a:prstGeom>
          <a:noFill/>
          <a:ln/>
        </p:spPr>
        <p:txBody>
          <a:bodyPr wrap="square" rtlCol="0" anchor="ctr"/>
          <a:lstStyle/>
          <a:p>
            <a:pPr marL="0" indent="0">
              <a:buNone/>
            </a:pPr>
            <a:r>
              <a:rPr lang="en-US" sz="2400" b="1" dirty="0">
                <a:solidFill>
                  <a:srgbClr val="BB302C"/>
                </a:solidFill>
                <a:latin typeface="Georgia" pitchFamily="34" charset="0"/>
                <a:ea typeface="Georgia" pitchFamily="34" charset="-122"/>
                <a:cs typeface="Georgia" pitchFamily="34" charset="-120"/>
              </a:rPr>
              <a:t>System Requirements</a:t>
            </a:r>
            <a:endParaRPr lang="en-US" sz="2400" dirty="0"/>
          </a:p>
        </p:txBody>
      </p:sp>
      <p:sp>
        <p:nvSpPr>
          <p:cNvPr id="38" name="Text 19">
            <a:extLst>
              <a:ext uri="{FF2B5EF4-FFF2-40B4-BE49-F238E27FC236}">
                <a16:creationId xmlns:a16="http://schemas.microsoft.com/office/drawing/2014/main" id="{A291432C-055F-0C55-4622-822F55FF2A15}"/>
              </a:ext>
            </a:extLst>
          </p:cNvPr>
          <p:cNvSpPr/>
          <p:nvPr/>
        </p:nvSpPr>
        <p:spPr>
          <a:xfrm>
            <a:off x="3657600" y="2286000"/>
            <a:ext cx="5882610" cy="274320"/>
          </a:xfrm>
          <a:prstGeom prst="rect">
            <a:avLst/>
          </a:prstGeom>
          <a:noFill/>
          <a:ln/>
        </p:spPr>
        <p:txBody>
          <a:bodyPr wrap="square" rtlCol="0" anchor="ctr"/>
          <a:lstStyle/>
          <a:p>
            <a:pPr marL="0" indent="0">
              <a:buNone/>
            </a:pPr>
            <a:r>
              <a:rPr lang="en-US" sz="1600" i="1" dirty="0">
                <a:solidFill>
                  <a:srgbClr val="3A3A3A"/>
                </a:solidFill>
                <a:latin typeface="Georgia" pitchFamily="34" charset="0"/>
                <a:ea typeface="Georgia" pitchFamily="34" charset="-122"/>
                <a:cs typeface="Georgia" pitchFamily="34" charset="-120"/>
              </a:rPr>
              <a:t>The system should allow the owner to securely and easily:</a:t>
            </a:r>
            <a:endParaRPr lang="en-US" sz="1600" dirty="0"/>
          </a:p>
        </p:txBody>
      </p:sp>
      <p:sp>
        <p:nvSpPr>
          <p:cNvPr id="40" name="Shape 20">
            <a:extLst>
              <a:ext uri="{FF2B5EF4-FFF2-40B4-BE49-F238E27FC236}">
                <a16:creationId xmlns:a16="http://schemas.microsoft.com/office/drawing/2014/main" id="{78C72C4E-E7EE-785E-268A-AE0FA39CEB6A}"/>
              </a:ext>
            </a:extLst>
          </p:cNvPr>
          <p:cNvSpPr/>
          <p:nvPr/>
        </p:nvSpPr>
        <p:spPr>
          <a:xfrm>
            <a:off x="3657600" y="2743200"/>
            <a:ext cx="2849865" cy="594360"/>
          </a:xfrm>
          <a:prstGeom prst="rect">
            <a:avLst/>
          </a:prstGeom>
          <a:solidFill>
            <a:srgbClr val="F7F5F4"/>
          </a:solidFill>
          <a:ln w="6350">
            <a:solidFill>
              <a:srgbClr val="D9D9D9"/>
            </a:solidFill>
            <a:prstDash val="solid"/>
          </a:ln>
        </p:spPr>
      </p:sp>
      <p:sp>
        <p:nvSpPr>
          <p:cNvPr id="42" name="Shape 21">
            <a:extLst>
              <a:ext uri="{FF2B5EF4-FFF2-40B4-BE49-F238E27FC236}">
                <a16:creationId xmlns:a16="http://schemas.microsoft.com/office/drawing/2014/main" id="{A28F96AD-F194-AD3A-12F7-A1A7D4F9BE21}"/>
              </a:ext>
            </a:extLst>
          </p:cNvPr>
          <p:cNvSpPr/>
          <p:nvPr/>
        </p:nvSpPr>
        <p:spPr>
          <a:xfrm>
            <a:off x="3657600" y="2743200"/>
            <a:ext cx="73152" cy="594360"/>
          </a:xfrm>
          <a:prstGeom prst="rect">
            <a:avLst/>
          </a:prstGeom>
          <a:solidFill>
            <a:srgbClr val="2E3B7D"/>
          </a:solidFill>
          <a:ln/>
        </p:spPr>
      </p:sp>
      <p:sp>
        <p:nvSpPr>
          <p:cNvPr id="44" name="Shape 22">
            <a:extLst>
              <a:ext uri="{FF2B5EF4-FFF2-40B4-BE49-F238E27FC236}">
                <a16:creationId xmlns:a16="http://schemas.microsoft.com/office/drawing/2014/main" id="{D2A25580-7B50-A09E-679B-D9CC42BB8A8C}"/>
              </a:ext>
            </a:extLst>
          </p:cNvPr>
          <p:cNvSpPr/>
          <p:nvPr/>
        </p:nvSpPr>
        <p:spPr>
          <a:xfrm>
            <a:off x="3794760" y="2994660"/>
            <a:ext cx="91440" cy="91440"/>
          </a:xfrm>
          <a:prstGeom prst="ellipse">
            <a:avLst/>
          </a:prstGeom>
          <a:solidFill>
            <a:srgbClr val="BB302C"/>
          </a:solidFill>
          <a:ln/>
        </p:spPr>
      </p:sp>
      <p:sp>
        <p:nvSpPr>
          <p:cNvPr id="46" name="Text 23">
            <a:extLst>
              <a:ext uri="{FF2B5EF4-FFF2-40B4-BE49-F238E27FC236}">
                <a16:creationId xmlns:a16="http://schemas.microsoft.com/office/drawing/2014/main" id="{3E048401-F75B-0951-9F9A-5E429A9ABACD}"/>
              </a:ext>
            </a:extLst>
          </p:cNvPr>
          <p:cNvSpPr/>
          <p:nvPr/>
        </p:nvSpPr>
        <p:spPr>
          <a:xfrm>
            <a:off x="3977640" y="2788920"/>
            <a:ext cx="2484105" cy="502920"/>
          </a:xfrm>
          <a:prstGeom prst="rect">
            <a:avLst/>
          </a:prstGeom>
          <a:noFill/>
          <a:ln/>
        </p:spPr>
        <p:txBody>
          <a:bodyPr wrap="square" rtlCol="0" anchor="ctr"/>
          <a:lstStyle/>
          <a:p>
            <a:pPr marL="0" indent="0" algn="l">
              <a:buNone/>
            </a:pPr>
            <a:r>
              <a:rPr lang="en-US" sz="1400" dirty="0">
                <a:solidFill>
                  <a:srgbClr val="3A3A3A"/>
                </a:solidFill>
                <a:latin typeface="Georgia" pitchFamily="34" charset="0"/>
                <a:ea typeface="Georgia" pitchFamily="34" charset="-122"/>
                <a:cs typeface="Georgia" pitchFamily="34" charset="-120"/>
              </a:rPr>
              <a:t>Register and log in securely.</a:t>
            </a:r>
            <a:endParaRPr lang="en-US" sz="1400" dirty="0"/>
          </a:p>
        </p:txBody>
      </p:sp>
      <p:sp>
        <p:nvSpPr>
          <p:cNvPr id="48" name="Shape 24">
            <a:extLst>
              <a:ext uri="{FF2B5EF4-FFF2-40B4-BE49-F238E27FC236}">
                <a16:creationId xmlns:a16="http://schemas.microsoft.com/office/drawing/2014/main" id="{86CC5BC4-0C07-9C78-CBF6-188DE823B816}"/>
              </a:ext>
            </a:extLst>
          </p:cNvPr>
          <p:cNvSpPr/>
          <p:nvPr/>
        </p:nvSpPr>
        <p:spPr>
          <a:xfrm>
            <a:off x="6690345" y="2743200"/>
            <a:ext cx="2849865" cy="594360"/>
          </a:xfrm>
          <a:prstGeom prst="rect">
            <a:avLst/>
          </a:prstGeom>
          <a:solidFill>
            <a:srgbClr val="F7F5F4"/>
          </a:solidFill>
          <a:ln w="6350">
            <a:solidFill>
              <a:srgbClr val="D9D9D9"/>
            </a:solidFill>
            <a:prstDash val="solid"/>
          </a:ln>
        </p:spPr>
      </p:sp>
      <p:sp>
        <p:nvSpPr>
          <p:cNvPr id="50" name="Shape 25">
            <a:extLst>
              <a:ext uri="{FF2B5EF4-FFF2-40B4-BE49-F238E27FC236}">
                <a16:creationId xmlns:a16="http://schemas.microsoft.com/office/drawing/2014/main" id="{D6FB12D8-6D73-A91E-23DC-F3F113D0E181}"/>
              </a:ext>
            </a:extLst>
          </p:cNvPr>
          <p:cNvSpPr/>
          <p:nvPr/>
        </p:nvSpPr>
        <p:spPr>
          <a:xfrm>
            <a:off x="6690345" y="2743200"/>
            <a:ext cx="73152" cy="594360"/>
          </a:xfrm>
          <a:prstGeom prst="rect">
            <a:avLst/>
          </a:prstGeom>
          <a:solidFill>
            <a:srgbClr val="2E3B7D"/>
          </a:solidFill>
          <a:ln/>
        </p:spPr>
      </p:sp>
      <p:sp>
        <p:nvSpPr>
          <p:cNvPr id="52" name="Shape 26">
            <a:extLst>
              <a:ext uri="{FF2B5EF4-FFF2-40B4-BE49-F238E27FC236}">
                <a16:creationId xmlns:a16="http://schemas.microsoft.com/office/drawing/2014/main" id="{4A8C977B-97AD-49A4-C29D-7043FBA67EF9}"/>
              </a:ext>
            </a:extLst>
          </p:cNvPr>
          <p:cNvSpPr/>
          <p:nvPr/>
        </p:nvSpPr>
        <p:spPr>
          <a:xfrm>
            <a:off x="6827505" y="2994660"/>
            <a:ext cx="91440" cy="91440"/>
          </a:xfrm>
          <a:prstGeom prst="ellipse">
            <a:avLst/>
          </a:prstGeom>
          <a:solidFill>
            <a:srgbClr val="BB302C"/>
          </a:solidFill>
          <a:ln/>
        </p:spPr>
      </p:sp>
      <p:sp>
        <p:nvSpPr>
          <p:cNvPr id="54" name="Text 27">
            <a:extLst>
              <a:ext uri="{FF2B5EF4-FFF2-40B4-BE49-F238E27FC236}">
                <a16:creationId xmlns:a16="http://schemas.microsoft.com/office/drawing/2014/main" id="{90E71C08-4790-7AA5-E537-76E15E21E4A8}"/>
              </a:ext>
            </a:extLst>
          </p:cNvPr>
          <p:cNvSpPr/>
          <p:nvPr/>
        </p:nvSpPr>
        <p:spPr>
          <a:xfrm>
            <a:off x="7010385" y="2788920"/>
            <a:ext cx="2484105" cy="502920"/>
          </a:xfrm>
          <a:prstGeom prst="rect">
            <a:avLst/>
          </a:prstGeom>
          <a:noFill/>
          <a:ln/>
        </p:spPr>
        <p:txBody>
          <a:bodyPr wrap="square" rtlCol="0" anchor="ctr"/>
          <a:lstStyle/>
          <a:p>
            <a:pPr marL="0" indent="0" algn="l">
              <a:buNone/>
            </a:pPr>
            <a:r>
              <a:rPr lang="en-US" sz="1400" dirty="0">
                <a:solidFill>
                  <a:srgbClr val="3A3A3A"/>
                </a:solidFill>
                <a:latin typeface="Georgia" pitchFamily="34" charset="0"/>
                <a:ea typeface="Georgia" pitchFamily="34" charset="-122"/>
                <a:cs typeface="Georgia" pitchFamily="34" charset="-120"/>
              </a:rPr>
              <a:t>Create and manage shop information.</a:t>
            </a:r>
            <a:endParaRPr lang="en-US" sz="1400" dirty="0"/>
          </a:p>
        </p:txBody>
      </p:sp>
      <p:sp>
        <p:nvSpPr>
          <p:cNvPr id="56" name="Shape 28">
            <a:extLst>
              <a:ext uri="{FF2B5EF4-FFF2-40B4-BE49-F238E27FC236}">
                <a16:creationId xmlns:a16="http://schemas.microsoft.com/office/drawing/2014/main" id="{001B299D-3F5A-CD69-13C0-57CE8D67AE18}"/>
              </a:ext>
            </a:extLst>
          </p:cNvPr>
          <p:cNvSpPr/>
          <p:nvPr/>
        </p:nvSpPr>
        <p:spPr>
          <a:xfrm>
            <a:off x="3657600" y="3474720"/>
            <a:ext cx="2849865" cy="594360"/>
          </a:xfrm>
          <a:prstGeom prst="rect">
            <a:avLst/>
          </a:prstGeom>
          <a:solidFill>
            <a:srgbClr val="F7F5F4"/>
          </a:solidFill>
          <a:ln w="6350">
            <a:solidFill>
              <a:srgbClr val="D9D9D9"/>
            </a:solidFill>
            <a:prstDash val="solid"/>
          </a:ln>
        </p:spPr>
      </p:sp>
      <p:sp>
        <p:nvSpPr>
          <p:cNvPr id="58" name="Shape 29">
            <a:extLst>
              <a:ext uri="{FF2B5EF4-FFF2-40B4-BE49-F238E27FC236}">
                <a16:creationId xmlns:a16="http://schemas.microsoft.com/office/drawing/2014/main" id="{198DC65E-1714-6DA2-B86E-98F516ABCC2C}"/>
              </a:ext>
            </a:extLst>
          </p:cNvPr>
          <p:cNvSpPr/>
          <p:nvPr/>
        </p:nvSpPr>
        <p:spPr>
          <a:xfrm>
            <a:off x="3657600" y="3474720"/>
            <a:ext cx="73152" cy="594360"/>
          </a:xfrm>
          <a:prstGeom prst="rect">
            <a:avLst/>
          </a:prstGeom>
          <a:solidFill>
            <a:srgbClr val="2E3B7D"/>
          </a:solidFill>
          <a:ln/>
        </p:spPr>
      </p:sp>
      <p:sp>
        <p:nvSpPr>
          <p:cNvPr id="60" name="Shape 30">
            <a:extLst>
              <a:ext uri="{FF2B5EF4-FFF2-40B4-BE49-F238E27FC236}">
                <a16:creationId xmlns:a16="http://schemas.microsoft.com/office/drawing/2014/main" id="{C6E55BB2-F7D9-1BBC-0D6C-92762EAB4E7C}"/>
              </a:ext>
            </a:extLst>
          </p:cNvPr>
          <p:cNvSpPr/>
          <p:nvPr/>
        </p:nvSpPr>
        <p:spPr>
          <a:xfrm>
            <a:off x="3794760" y="3726180"/>
            <a:ext cx="91440" cy="91440"/>
          </a:xfrm>
          <a:prstGeom prst="ellipse">
            <a:avLst/>
          </a:prstGeom>
          <a:solidFill>
            <a:srgbClr val="BB302C"/>
          </a:solidFill>
          <a:ln/>
        </p:spPr>
      </p:sp>
      <p:sp>
        <p:nvSpPr>
          <p:cNvPr id="62" name="Text 31">
            <a:extLst>
              <a:ext uri="{FF2B5EF4-FFF2-40B4-BE49-F238E27FC236}">
                <a16:creationId xmlns:a16="http://schemas.microsoft.com/office/drawing/2014/main" id="{D03246CE-712C-3375-BD55-1AE85B67C9B2}"/>
              </a:ext>
            </a:extLst>
          </p:cNvPr>
          <p:cNvSpPr/>
          <p:nvPr/>
        </p:nvSpPr>
        <p:spPr>
          <a:xfrm>
            <a:off x="3977640" y="3520440"/>
            <a:ext cx="2484105" cy="502920"/>
          </a:xfrm>
          <a:prstGeom prst="rect">
            <a:avLst/>
          </a:prstGeom>
          <a:noFill/>
          <a:ln/>
        </p:spPr>
        <p:txBody>
          <a:bodyPr wrap="square" rtlCol="0" anchor="ctr"/>
          <a:lstStyle/>
          <a:p>
            <a:pPr marL="0" indent="0" algn="l">
              <a:buNone/>
            </a:pPr>
            <a:r>
              <a:rPr lang="en-US" sz="1400" dirty="0">
                <a:solidFill>
                  <a:srgbClr val="3A3A3A"/>
                </a:solidFill>
                <a:latin typeface="Georgia" pitchFamily="34" charset="0"/>
                <a:ea typeface="Georgia" pitchFamily="34" charset="-122"/>
                <a:cs typeface="Georgia" pitchFamily="34" charset="-120"/>
              </a:rPr>
              <a:t>Upload/enter historical sales data.</a:t>
            </a:r>
            <a:endParaRPr lang="en-US" sz="1400" dirty="0"/>
          </a:p>
        </p:txBody>
      </p:sp>
      <p:sp>
        <p:nvSpPr>
          <p:cNvPr id="64" name="Shape 32">
            <a:extLst>
              <a:ext uri="{FF2B5EF4-FFF2-40B4-BE49-F238E27FC236}">
                <a16:creationId xmlns:a16="http://schemas.microsoft.com/office/drawing/2014/main" id="{95972E19-48D0-23AC-59F3-F7882C2A4199}"/>
              </a:ext>
            </a:extLst>
          </p:cNvPr>
          <p:cNvSpPr/>
          <p:nvPr/>
        </p:nvSpPr>
        <p:spPr>
          <a:xfrm>
            <a:off x="6690345" y="3474720"/>
            <a:ext cx="2849865" cy="594360"/>
          </a:xfrm>
          <a:prstGeom prst="rect">
            <a:avLst/>
          </a:prstGeom>
          <a:solidFill>
            <a:srgbClr val="F7F5F4"/>
          </a:solidFill>
          <a:ln w="6350">
            <a:solidFill>
              <a:srgbClr val="D9D9D9"/>
            </a:solidFill>
            <a:prstDash val="solid"/>
          </a:ln>
        </p:spPr>
      </p:sp>
      <p:sp>
        <p:nvSpPr>
          <p:cNvPr id="66" name="Shape 33">
            <a:extLst>
              <a:ext uri="{FF2B5EF4-FFF2-40B4-BE49-F238E27FC236}">
                <a16:creationId xmlns:a16="http://schemas.microsoft.com/office/drawing/2014/main" id="{08FA45EB-8F6F-B439-A291-FCC1C1C31251}"/>
              </a:ext>
            </a:extLst>
          </p:cNvPr>
          <p:cNvSpPr/>
          <p:nvPr/>
        </p:nvSpPr>
        <p:spPr>
          <a:xfrm>
            <a:off x="6690345" y="3474720"/>
            <a:ext cx="73152" cy="594360"/>
          </a:xfrm>
          <a:prstGeom prst="rect">
            <a:avLst/>
          </a:prstGeom>
          <a:solidFill>
            <a:srgbClr val="2E3B7D"/>
          </a:solidFill>
          <a:ln/>
        </p:spPr>
      </p:sp>
      <p:sp>
        <p:nvSpPr>
          <p:cNvPr id="68" name="Shape 34">
            <a:extLst>
              <a:ext uri="{FF2B5EF4-FFF2-40B4-BE49-F238E27FC236}">
                <a16:creationId xmlns:a16="http://schemas.microsoft.com/office/drawing/2014/main" id="{0EA143D5-BB08-CF8C-F647-E446A74AA149}"/>
              </a:ext>
            </a:extLst>
          </p:cNvPr>
          <p:cNvSpPr/>
          <p:nvPr/>
        </p:nvSpPr>
        <p:spPr>
          <a:xfrm>
            <a:off x="6827505" y="3726180"/>
            <a:ext cx="91440" cy="91440"/>
          </a:xfrm>
          <a:prstGeom prst="ellipse">
            <a:avLst/>
          </a:prstGeom>
          <a:solidFill>
            <a:srgbClr val="BB302C"/>
          </a:solidFill>
          <a:ln/>
        </p:spPr>
      </p:sp>
      <p:sp>
        <p:nvSpPr>
          <p:cNvPr id="70" name="Text 35">
            <a:extLst>
              <a:ext uri="{FF2B5EF4-FFF2-40B4-BE49-F238E27FC236}">
                <a16:creationId xmlns:a16="http://schemas.microsoft.com/office/drawing/2014/main" id="{8E03D896-74AB-DF78-80CD-0AA167458E20}"/>
              </a:ext>
            </a:extLst>
          </p:cNvPr>
          <p:cNvSpPr/>
          <p:nvPr/>
        </p:nvSpPr>
        <p:spPr>
          <a:xfrm>
            <a:off x="7010385" y="3520440"/>
            <a:ext cx="2484105" cy="502920"/>
          </a:xfrm>
          <a:prstGeom prst="rect">
            <a:avLst/>
          </a:prstGeom>
          <a:noFill/>
          <a:ln/>
        </p:spPr>
        <p:txBody>
          <a:bodyPr wrap="square" rtlCol="0" anchor="ctr"/>
          <a:lstStyle/>
          <a:p>
            <a:pPr marL="0" indent="0" algn="l">
              <a:buNone/>
            </a:pPr>
            <a:r>
              <a:rPr lang="en-US" sz="1400" dirty="0">
                <a:solidFill>
                  <a:srgbClr val="3A3A3A"/>
                </a:solidFill>
                <a:latin typeface="Georgia" pitchFamily="34" charset="0"/>
                <a:ea typeface="Georgia" pitchFamily="34" charset="-122"/>
                <a:cs typeface="Georgia" pitchFamily="34" charset="-120"/>
              </a:rPr>
              <a:t>Maintain current inventory records.</a:t>
            </a:r>
            <a:endParaRPr lang="en-US" sz="1400" dirty="0"/>
          </a:p>
        </p:txBody>
      </p:sp>
      <p:sp>
        <p:nvSpPr>
          <p:cNvPr id="72" name="Shape 36">
            <a:extLst>
              <a:ext uri="{FF2B5EF4-FFF2-40B4-BE49-F238E27FC236}">
                <a16:creationId xmlns:a16="http://schemas.microsoft.com/office/drawing/2014/main" id="{DB06D70C-78C9-48BA-58CE-64040F3A2B5E}"/>
              </a:ext>
            </a:extLst>
          </p:cNvPr>
          <p:cNvSpPr/>
          <p:nvPr/>
        </p:nvSpPr>
        <p:spPr>
          <a:xfrm>
            <a:off x="3657600" y="4206240"/>
            <a:ext cx="2849865" cy="594360"/>
          </a:xfrm>
          <a:prstGeom prst="rect">
            <a:avLst/>
          </a:prstGeom>
          <a:solidFill>
            <a:srgbClr val="F7F5F4"/>
          </a:solidFill>
          <a:ln w="6350">
            <a:solidFill>
              <a:srgbClr val="D9D9D9"/>
            </a:solidFill>
            <a:prstDash val="solid"/>
          </a:ln>
        </p:spPr>
      </p:sp>
      <p:sp>
        <p:nvSpPr>
          <p:cNvPr id="74" name="Shape 37">
            <a:extLst>
              <a:ext uri="{FF2B5EF4-FFF2-40B4-BE49-F238E27FC236}">
                <a16:creationId xmlns:a16="http://schemas.microsoft.com/office/drawing/2014/main" id="{FD0F628C-A18D-F21F-90ED-D31B6CACB304}"/>
              </a:ext>
            </a:extLst>
          </p:cNvPr>
          <p:cNvSpPr/>
          <p:nvPr/>
        </p:nvSpPr>
        <p:spPr>
          <a:xfrm>
            <a:off x="3657600" y="4206240"/>
            <a:ext cx="73152" cy="594360"/>
          </a:xfrm>
          <a:prstGeom prst="rect">
            <a:avLst/>
          </a:prstGeom>
          <a:solidFill>
            <a:srgbClr val="2E3B7D"/>
          </a:solidFill>
          <a:ln/>
        </p:spPr>
      </p:sp>
      <p:sp>
        <p:nvSpPr>
          <p:cNvPr id="76" name="Shape 38">
            <a:extLst>
              <a:ext uri="{FF2B5EF4-FFF2-40B4-BE49-F238E27FC236}">
                <a16:creationId xmlns:a16="http://schemas.microsoft.com/office/drawing/2014/main" id="{11ED75B5-23BB-66A1-BFCC-19F802FAE77A}"/>
              </a:ext>
            </a:extLst>
          </p:cNvPr>
          <p:cNvSpPr/>
          <p:nvPr/>
        </p:nvSpPr>
        <p:spPr>
          <a:xfrm>
            <a:off x="3794760" y="4457700"/>
            <a:ext cx="91440" cy="91440"/>
          </a:xfrm>
          <a:prstGeom prst="ellipse">
            <a:avLst/>
          </a:prstGeom>
          <a:solidFill>
            <a:srgbClr val="BB302C"/>
          </a:solidFill>
          <a:ln/>
        </p:spPr>
      </p:sp>
      <p:sp>
        <p:nvSpPr>
          <p:cNvPr id="78" name="Text 39">
            <a:extLst>
              <a:ext uri="{FF2B5EF4-FFF2-40B4-BE49-F238E27FC236}">
                <a16:creationId xmlns:a16="http://schemas.microsoft.com/office/drawing/2014/main" id="{0BD84BBF-D073-5E1F-EAA5-3DE80C617368}"/>
              </a:ext>
            </a:extLst>
          </p:cNvPr>
          <p:cNvSpPr/>
          <p:nvPr/>
        </p:nvSpPr>
        <p:spPr>
          <a:xfrm>
            <a:off x="3977640" y="4251960"/>
            <a:ext cx="2484105" cy="502920"/>
          </a:xfrm>
          <a:prstGeom prst="rect">
            <a:avLst/>
          </a:prstGeom>
          <a:noFill/>
          <a:ln/>
        </p:spPr>
        <p:txBody>
          <a:bodyPr wrap="square" rtlCol="0" anchor="ctr"/>
          <a:lstStyle/>
          <a:p>
            <a:pPr marL="0" indent="0" algn="l">
              <a:buNone/>
            </a:pPr>
            <a:r>
              <a:rPr lang="en-US" sz="1400" dirty="0">
                <a:solidFill>
                  <a:srgbClr val="3A3A3A"/>
                </a:solidFill>
                <a:latin typeface="Georgia" pitchFamily="34" charset="0"/>
                <a:ea typeface="Georgia" pitchFamily="34" charset="-122"/>
                <a:cs typeface="Georgia" pitchFamily="34" charset="-120"/>
              </a:rPr>
              <a:t>Select specific food items for tracking.</a:t>
            </a:r>
            <a:endParaRPr lang="en-US" sz="1400" dirty="0"/>
          </a:p>
        </p:txBody>
      </p:sp>
      <p:sp>
        <p:nvSpPr>
          <p:cNvPr id="80" name="Shape 40">
            <a:extLst>
              <a:ext uri="{FF2B5EF4-FFF2-40B4-BE49-F238E27FC236}">
                <a16:creationId xmlns:a16="http://schemas.microsoft.com/office/drawing/2014/main" id="{50DE6B43-97B0-D30F-6ECF-B22D2D2BC4E1}"/>
              </a:ext>
            </a:extLst>
          </p:cNvPr>
          <p:cNvSpPr/>
          <p:nvPr/>
        </p:nvSpPr>
        <p:spPr>
          <a:xfrm>
            <a:off x="6690345" y="4206240"/>
            <a:ext cx="2849865" cy="594360"/>
          </a:xfrm>
          <a:prstGeom prst="rect">
            <a:avLst/>
          </a:prstGeom>
          <a:solidFill>
            <a:srgbClr val="F7F5F4"/>
          </a:solidFill>
          <a:ln w="6350">
            <a:solidFill>
              <a:srgbClr val="D9D9D9"/>
            </a:solidFill>
            <a:prstDash val="solid"/>
          </a:ln>
        </p:spPr>
      </p:sp>
      <p:sp>
        <p:nvSpPr>
          <p:cNvPr id="82" name="Shape 41">
            <a:extLst>
              <a:ext uri="{FF2B5EF4-FFF2-40B4-BE49-F238E27FC236}">
                <a16:creationId xmlns:a16="http://schemas.microsoft.com/office/drawing/2014/main" id="{E731843A-70CA-DB83-DE1F-0EC39CDECB08}"/>
              </a:ext>
            </a:extLst>
          </p:cNvPr>
          <p:cNvSpPr/>
          <p:nvPr/>
        </p:nvSpPr>
        <p:spPr>
          <a:xfrm>
            <a:off x="6690345" y="4206240"/>
            <a:ext cx="73152" cy="594360"/>
          </a:xfrm>
          <a:prstGeom prst="rect">
            <a:avLst/>
          </a:prstGeom>
          <a:solidFill>
            <a:srgbClr val="2E3B7D"/>
          </a:solidFill>
          <a:ln/>
        </p:spPr>
      </p:sp>
      <p:sp>
        <p:nvSpPr>
          <p:cNvPr id="84" name="Shape 42">
            <a:extLst>
              <a:ext uri="{FF2B5EF4-FFF2-40B4-BE49-F238E27FC236}">
                <a16:creationId xmlns:a16="http://schemas.microsoft.com/office/drawing/2014/main" id="{5EB72C27-4143-117B-BACD-7F2F435FDC2E}"/>
              </a:ext>
            </a:extLst>
          </p:cNvPr>
          <p:cNvSpPr/>
          <p:nvPr/>
        </p:nvSpPr>
        <p:spPr>
          <a:xfrm>
            <a:off x="6827505" y="4457700"/>
            <a:ext cx="91440" cy="91440"/>
          </a:xfrm>
          <a:prstGeom prst="ellipse">
            <a:avLst/>
          </a:prstGeom>
          <a:solidFill>
            <a:srgbClr val="BB302C"/>
          </a:solidFill>
          <a:ln/>
        </p:spPr>
      </p:sp>
      <p:sp>
        <p:nvSpPr>
          <p:cNvPr id="86" name="Text 43">
            <a:extLst>
              <a:ext uri="{FF2B5EF4-FFF2-40B4-BE49-F238E27FC236}">
                <a16:creationId xmlns:a16="http://schemas.microsoft.com/office/drawing/2014/main" id="{BE425126-BCDD-AF3F-08BE-44D5E4CF2451}"/>
              </a:ext>
            </a:extLst>
          </p:cNvPr>
          <p:cNvSpPr/>
          <p:nvPr/>
        </p:nvSpPr>
        <p:spPr>
          <a:xfrm>
            <a:off x="7010385" y="4251960"/>
            <a:ext cx="2484105" cy="502920"/>
          </a:xfrm>
          <a:prstGeom prst="rect">
            <a:avLst/>
          </a:prstGeom>
          <a:noFill/>
          <a:ln/>
        </p:spPr>
        <p:txBody>
          <a:bodyPr wrap="square" rtlCol="0" anchor="ctr"/>
          <a:lstStyle/>
          <a:p>
            <a:pPr marL="0" indent="0" algn="l">
              <a:buNone/>
            </a:pPr>
            <a:r>
              <a:rPr lang="en-US" sz="1400" dirty="0">
                <a:solidFill>
                  <a:srgbClr val="3A3A3A"/>
                </a:solidFill>
                <a:latin typeface="Georgia" pitchFamily="34" charset="0"/>
                <a:ea typeface="Georgia" pitchFamily="34" charset="-122"/>
                <a:cs typeface="Georgia" pitchFamily="34" charset="-120"/>
              </a:rPr>
              <a:t>Generate item-level demand forecasts.</a:t>
            </a:r>
            <a:endParaRPr lang="en-US" sz="1400" dirty="0"/>
          </a:p>
        </p:txBody>
      </p:sp>
      <p:sp>
        <p:nvSpPr>
          <p:cNvPr id="88" name="Shape 44">
            <a:extLst>
              <a:ext uri="{FF2B5EF4-FFF2-40B4-BE49-F238E27FC236}">
                <a16:creationId xmlns:a16="http://schemas.microsoft.com/office/drawing/2014/main" id="{98BA7B53-75D0-C71B-3967-53E98AA12F84}"/>
              </a:ext>
            </a:extLst>
          </p:cNvPr>
          <p:cNvSpPr/>
          <p:nvPr/>
        </p:nvSpPr>
        <p:spPr>
          <a:xfrm>
            <a:off x="3657600" y="4937760"/>
            <a:ext cx="2849865" cy="594360"/>
          </a:xfrm>
          <a:prstGeom prst="rect">
            <a:avLst/>
          </a:prstGeom>
          <a:solidFill>
            <a:srgbClr val="F7F5F4"/>
          </a:solidFill>
          <a:ln w="6350">
            <a:solidFill>
              <a:srgbClr val="D9D9D9"/>
            </a:solidFill>
            <a:prstDash val="solid"/>
          </a:ln>
        </p:spPr>
      </p:sp>
      <p:sp>
        <p:nvSpPr>
          <p:cNvPr id="90" name="Shape 45">
            <a:extLst>
              <a:ext uri="{FF2B5EF4-FFF2-40B4-BE49-F238E27FC236}">
                <a16:creationId xmlns:a16="http://schemas.microsoft.com/office/drawing/2014/main" id="{828CC07D-1C2B-104F-64D6-693B49131FC0}"/>
              </a:ext>
            </a:extLst>
          </p:cNvPr>
          <p:cNvSpPr/>
          <p:nvPr/>
        </p:nvSpPr>
        <p:spPr>
          <a:xfrm>
            <a:off x="3657600" y="4937760"/>
            <a:ext cx="73152" cy="594360"/>
          </a:xfrm>
          <a:prstGeom prst="rect">
            <a:avLst/>
          </a:prstGeom>
          <a:solidFill>
            <a:srgbClr val="2E3B7D"/>
          </a:solidFill>
          <a:ln/>
        </p:spPr>
      </p:sp>
      <p:sp>
        <p:nvSpPr>
          <p:cNvPr id="92" name="Shape 46">
            <a:extLst>
              <a:ext uri="{FF2B5EF4-FFF2-40B4-BE49-F238E27FC236}">
                <a16:creationId xmlns:a16="http://schemas.microsoft.com/office/drawing/2014/main" id="{F91E0C96-2F70-11EA-5B9F-C0556A8EAB2B}"/>
              </a:ext>
            </a:extLst>
          </p:cNvPr>
          <p:cNvSpPr/>
          <p:nvPr/>
        </p:nvSpPr>
        <p:spPr>
          <a:xfrm>
            <a:off x="3794760" y="5189220"/>
            <a:ext cx="91440" cy="91440"/>
          </a:xfrm>
          <a:prstGeom prst="ellipse">
            <a:avLst/>
          </a:prstGeom>
          <a:solidFill>
            <a:srgbClr val="BB302C"/>
          </a:solidFill>
          <a:ln/>
        </p:spPr>
      </p:sp>
      <p:sp>
        <p:nvSpPr>
          <p:cNvPr id="94" name="Text 47">
            <a:extLst>
              <a:ext uri="{FF2B5EF4-FFF2-40B4-BE49-F238E27FC236}">
                <a16:creationId xmlns:a16="http://schemas.microsoft.com/office/drawing/2014/main" id="{9F48663B-EF37-A10D-367C-AF466F336AA3}"/>
              </a:ext>
            </a:extLst>
          </p:cNvPr>
          <p:cNvSpPr/>
          <p:nvPr/>
        </p:nvSpPr>
        <p:spPr>
          <a:xfrm>
            <a:off x="3977640" y="4983480"/>
            <a:ext cx="2484105" cy="502920"/>
          </a:xfrm>
          <a:prstGeom prst="rect">
            <a:avLst/>
          </a:prstGeom>
          <a:noFill/>
          <a:ln/>
        </p:spPr>
        <p:txBody>
          <a:bodyPr wrap="square" rtlCol="0" anchor="ctr"/>
          <a:lstStyle/>
          <a:p>
            <a:pPr marL="0" indent="0" algn="l">
              <a:buNone/>
            </a:pPr>
            <a:r>
              <a:rPr lang="en-US" sz="1400" dirty="0">
                <a:solidFill>
                  <a:srgbClr val="3A3A3A"/>
                </a:solidFill>
                <a:latin typeface="Georgia" pitchFamily="34" charset="0"/>
                <a:ea typeface="Georgia" pitchFamily="34" charset="-122"/>
                <a:cs typeface="Georgia" pitchFamily="34" charset="-120"/>
              </a:rPr>
              <a:t>View predicted demand visually.</a:t>
            </a:r>
            <a:endParaRPr lang="en-US" sz="1400" dirty="0"/>
          </a:p>
        </p:txBody>
      </p:sp>
      <p:sp>
        <p:nvSpPr>
          <p:cNvPr id="96" name="Shape 48">
            <a:extLst>
              <a:ext uri="{FF2B5EF4-FFF2-40B4-BE49-F238E27FC236}">
                <a16:creationId xmlns:a16="http://schemas.microsoft.com/office/drawing/2014/main" id="{2E508515-2308-C9B0-AA97-F0EE4B1F5632}"/>
              </a:ext>
            </a:extLst>
          </p:cNvPr>
          <p:cNvSpPr/>
          <p:nvPr/>
        </p:nvSpPr>
        <p:spPr>
          <a:xfrm>
            <a:off x="6690345" y="4937760"/>
            <a:ext cx="2849865" cy="594360"/>
          </a:xfrm>
          <a:prstGeom prst="rect">
            <a:avLst/>
          </a:prstGeom>
          <a:solidFill>
            <a:srgbClr val="F7F5F4"/>
          </a:solidFill>
          <a:ln w="6350">
            <a:solidFill>
              <a:srgbClr val="D9D9D9"/>
            </a:solidFill>
            <a:prstDash val="solid"/>
          </a:ln>
        </p:spPr>
      </p:sp>
      <p:sp>
        <p:nvSpPr>
          <p:cNvPr id="98" name="Shape 49">
            <a:extLst>
              <a:ext uri="{FF2B5EF4-FFF2-40B4-BE49-F238E27FC236}">
                <a16:creationId xmlns:a16="http://schemas.microsoft.com/office/drawing/2014/main" id="{A4C786C7-FFD8-E906-9030-EEF2102173C0}"/>
              </a:ext>
            </a:extLst>
          </p:cNvPr>
          <p:cNvSpPr/>
          <p:nvPr/>
        </p:nvSpPr>
        <p:spPr>
          <a:xfrm>
            <a:off x="6690345" y="4937760"/>
            <a:ext cx="73152" cy="594360"/>
          </a:xfrm>
          <a:prstGeom prst="rect">
            <a:avLst/>
          </a:prstGeom>
          <a:solidFill>
            <a:srgbClr val="2E3B7D"/>
          </a:solidFill>
          <a:ln/>
        </p:spPr>
      </p:sp>
      <p:sp>
        <p:nvSpPr>
          <p:cNvPr id="100" name="Shape 50">
            <a:extLst>
              <a:ext uri="{FF2B5EF4-FFF2-40B4-BE49-F238E27FC236}">
                <a16:creationId xmlns:a16="http://schemas.microsoft.com/office/drawing/2014/main" id="{3A6780C0-2695-9DFA-76B7-83E1AAA3B088}"/>
              </a:ext>
            </a:extLst>
          </p:cNvPr>
          <p:cNvSpPr/>
          <p:nvPr/>
        </p:nvSpPr>
        <p:spPr>
          <a:xfrm>
            <a:off x="6827505" y="5189220"/>
            <a:ext cx="91440" cy="91440"/>
          </a:xfrm>
          <a:prstGeom prst="ellipse">
            <a:avLst/>
          </a:prstGeom>
          <a:solidFill>
            <a:srgbClr val="BB302C"/>
          </a:solidFill>
          <a:ln/>
        </p:spPr>
      </p:sp>
      <p:sp>
        <p:nvSpPr>
          <p:cNvPr id="102" name="Text 51">
            <a:extLst>
              <a:ext uri="{FF2B5EF4-FFF2-40B4-BE49-F238E27FC236}">
                <a16:creationId xmlns:a16="http://schemas.microsoft.com/office/drawing/2014/main" id="{F5848C32-739A-3D90-C235-619D25E41E4B}"/>
              </a:ext>
            </a:extLst>
          </p:cNvPr>
          <p:cNvSpPr/>
          <p:nvPr/>
        </p:nvSpPr>
        <p:spPr>
          <a:xfrm>
            <a:off x="7010385" y="4983480"/>
            <a:ext cx="2484105" cy="502920"/>
          </a:xfrm>
          <a:prstGeom prst="rect">
            <a:avLst/>
          </a:prstGeom>
          <a:noFill/>
          <a:ln/>
        </p:spPr>
        <p:txBody>
          <a:bodyPr wrap="square" rtlCol="0" anchor="ctr"/>
          <a:lstStyle/>
          <a:p>
            <a:pPr marL="0" indent="0" algn="l">
              <a:buNone/>
            </a:pPr>
            <a:r>
              <a:rPr lang="en-US" sz="1400" dirty="0">
                <a:solidFill>
                  <a:srgbClr val="3A3A3A"/>
                </a:solidFill>
                <a:latin typeface="Georgia" pitchFamily="34" charset="0"/>
                <a:ea typeface="Georgia" pitchFamily="34" charset="-122"/>
                <a:cs typeface="Georgia" pitchFamily="34" charset="-120"/>
              </a:rPr>
              <a:t>Receive daily restock recommendations.</a:t>
            </a:r>
            <a:endParaRPr lang="en-US" sz="1400" dirty="0"/>
          </a:p>
        </p:txBody>
      </p:sp>
      <p:sp>
        <p:nvSpPr>
          <p:cNvPr id="104" name="Shape 52">
            <a:extLst>
              <a:ext uri="{FF2B5EF4-FFF2-40B4-BE49-F238E27FC236}">
                <a16:creationId xmlns:a16="http://schemas.microsoft.com/office/drawing/2014/main" id="{9749FB42-D82E-E6A5-191D-3D0D8DBF8270}"/>
              </a:ext>
            </a:extLst>
          </p:cNvPr>
          <p:cNvSpPr/>
          <p:nvPr/>
        </p:nvSpPr>
        <p:spPr>
          <a:xfrm>
            <a:off x="3657600" y="5669280"/>
            <a:ext cx="2849865" cy="594360"/>
          </a:xfrm>
          <a:prstGeom prst="rect">
            <a:avLst/>
          </a:prstGeom>
          <a:solidFill>
            <a:srgbClr val="F7F5F4"/>
          </a:solidFill>
          <a:ln w="6350">
            <a:solidFill>
              <a:srgbClr val="D9D9D9"/>
            </a:solidFill>
            <a:prstDash val="solid"/>
          </a:ln>
        </p:spPr>
      </p:sp>
      <p:sp>
        <p:nvSpPr>
          <p:cNvPr id="106" name="Shape 53">
            <a:extLst>
              <a:ext uri="{FF2B5EF4-FFF2-40B4-BE49-F238E27FC236}">
                <a16:creationId xmlns:a16="http://schemas.microsoft.com/office/drawing/2014/main" id="{76D9AC46-43EB-6EBA-1708-B30093EA700F}"/>
              </a:ext>
            </a:extLst>
          </p:cNvPr>
          <p:cNvSpPr/>
          <p:nvPr/>
        </p:nvSpPr>
        <p:spPr>
          <a:xfrm>
            <a:off x="3657600" y="5669280"/>
            <a:ext cx="73152" cy="594360"/>
          </a:xfrm>
          <a:prstGeom prst="rect">
            <a:avLst/>
          </a:prstGeom>
          <a:solidFill>
            <a:srgbClr val="2E3B7D"/>
          </a:solidFill>
          <a:ln/>
        </p:spPr>
      </p:sp>
      <p:sp>
        <p:nvSpPr>
          <p:cNvPr id="108" name="Shape 54">
            <a:extLst>
              <a:ext uri="{FF2B5EF4-FFF2-40B4-BE49-F238E27FC236}">
                <a16:creationId xmlns:a16="http://schemas.microsoft.com/office/drawing/2014/main" id="{4F8ADE95-6F7B-9343-ED7B-F4B58E38AF0B}"/>
              </a:ext>
            </a:extLst>
          </p:cNvPr>
          <p:cNvSpPr/>
          <p:nvPr/>
        </p:nvSpPr>
        <p:spPr>
          <a:xfrm>
            <a:off x="3794760" y="5920740"/>
            <a:ext cx="91440" cy="91440"/>
          </a:xfrm>
          <a:prstGeom prst="ellipse">
            <a:avLst/>
          </a:prstGeom>
          <a:solidFill>
            <a:srgbClr val="BB302C"/>
          </a:solidFill>
          <a:ln/>
        </p:spPr>
      </p:sp>
      <p:sp>
        <p:nvSpPr>
          <p:cNvPr id="110" name="Text 55">
            <a:extLst>
              <a:ext uri="{FF2B5EF4-FFF2-40B4-BE49-F238E27FC236}">
                <a16:creationId xmlns:a16="http://schemas.microsoft.com/office/drawing/2014/main" id="{E7E608F3-7804-B0FA-D66D-20D67F92933C}"/>
              </a:ext>
            </a:extLst>
          </p:cNvPr>
          <p:cNvSpPr/>
          <p:nvPr/>
        </p:nvSpPr>
        <p:spPr>
          <a:xfrm>
            <a:off x="3977640" y="5715000"/>
            <a:ext cx="2484105" cy="502920"/>
          </a:xfrm>
          <a:prstGeom prst="rect">
            <a:avLst/>
          </a:prstGeom>
          <a:noFill/>
          <a:ln/>
        </p:spPr>
        <p:txBody>
          <a:bodyPr wrap="square" rtlCol="0" anchor="ctr"/>
          <a:lstStyle/>
          <a:p>
            <a:pPr marL="0" indent="0" algn="l">
              <a:buNone/>
            </a:pPr>
            <a:r>
              <a:rPr lang="en-US" sz="1400" dirty="0">
                <a:solidFill>
                  <a:srgbClr val="3A3A3A"/>
                </a:solidFill>
                <a:latin typeface="Georgia" pitchFamily="34" charset="0"/>
                <a:ea typeface="Georgia" pitchFamily="34" charset="-122"/>
                <a:cs typeface="Georgia" pitchFamily="34" charset="-120"/>
              </a:rPr>
              <a:t>View plain-language explanations of forecasts.</a:t>
            </a:r>
            <a:endParaRPr lang="en-US" sz="1400" dirty="0"/>
          </a:p>
        </p:txBody>
      </p:sp>
      <p:sp>
        <p:nvSpPr>
          <p:cNvPr id="112" name="Shape 56">
            <a:extLst>
              <a:ext uri="{FF2B5EF4-FFF2-40B4-BE49-F238E27FC236}">
                <a16:creationId xmlns:a16="http://schemas.microsoft.com/office/drawing/2014/main" id="{9A7E1963-2773-B1F3-F08E-30319CEAD552}"/>
              </a:ext>
            </a:extLst>
          </p:cNvPr>
          <p:cNvSpPr/>
          <p:nvPr/>
        </p:nvSpPr>
        <p:spPr>
          <a:xfrm>
            <a:off x="6690345" y="5669280"/>
            <a:ext cx="2849865" cy="594360"/>
          </a:xfrm>
          <a:prstGeom prst="rect">
            <a:avLst/>
          </a:prstGeom>
          <a:solidFill>
            <a:srgbClr val="F7F5F4"/>
          </a:solidFill>
          <a:ln w="6350">
            <a:solidFill>
              <a:srgbClr val="D9D9D9"/>
            </a:solidFill>
            <a:prstDash val="solid"/>
          </a:ln>
        </p:spPr>
      </p:sp>
      <p:sp>
        <p:nvSpPr>
          <p:cNvPr id="114" name="Shape 57">
            <a:extLst>
              <a:ext uri="{FF2B5EF4-FFF2-40B4-BE49-F238E27FC236}">
                <a16:creationId xmlns:a16="http://schemas.microsoft.com/office/drawing/2014/main" id="{B7FB6F0F-11F8-A092-D3E6-599B11A526BE}"/>
              </a:ext>
            </a:extLst>
          </p:cNvPr>
          <p:cNvSpPr/>
          <p:nvPr/>
        </p:nvSpPr>
        <p:spPr>
          <a:xfrm>
            <a:off x="6690345" y="5669280"/>
            <a:ext cx="73152" cy="594360"/>
          </a:xfrm>
          <a:prstGeom prst="rect">
            <a:avLst/>
          </a:prstGeom>
          <a:solidFill>
            <a:srgbClr val="2E3B7D"/>
          </a:solidFill>
          <a:ln/>
        </p:spPr>
      </p:sp>
      <p:sp>
        <p:nvSpPr>
          <p:cNvPr id="116" name="Shape 58">
            <a:extLst>
              <a:ext uri="{FF2B5EF4-FFF2-40B4-BE49-F238E27FC236}">
                <a16:creationId xmlns:a16="http://schemas.microsoft.com/office/drawing/2014/main" id="{3E8F6B98-6F96-531A-64A8-8C18C320781E}"/>
              </a:ext>
            </a:extLst>
          </p:cNvPr>
          <p:cNvSpPr/>
          <p:nvPr/>
        </p:nvSpPr>
        <p:spPr>
          <a:xfrm>
            <a:off x="6827505" y="5920740"/>
            <a:ext cx="91440" cy="91440"/>
          </a:xfrm>
          <a:prstGeom prst="ellipse">
            <a:avLst/>
          </a:prstGeom>
          <a:solidFill>
            <a:srgbClr val="BB302C"/>
          </a:solidFill>
          <a:ln/>
        </p:spPr>
      </p:sp>
      <p:sp>
        <p:nvSpPr>
          <p:cNvPr id="118" name="Text 59">
            <a:extLst>
              <a:ext uri="{FF2B5EF4-FFF2-40B4-BE49-F238E27FC236}">
                <a16:creationId xmlns:a16="http://schemas.microsoft.com/office/drawing/2014/main" id="{9FDA50EA-3418-E171-FF62-361A2920332A}"/>
              </a:ext>
            </a:extLst>
          </p:cNvPr>
          <p:cNvSpPr/>
          <p:nvPr/>
        </p:nvSpPr>
        <p:spPr>
          <a:xfrm>
            <a:off x="7010385" y="5715000"/>
            <a:ext cx="2484105" cy="502920"/>
          </a:xfrm>
          <a:prstGeom prst="rect">
            <a:avLst/>
          </a:prstGeom>
          <a:noFill/>
          <a:ln/>
        </p:spPr>
        <p:txBody>
          <a:bodyPr wrap="square" rtlCol="0" anchor="ctr"/>
          <a:lstStyle/>
          <a:p>
            <a:pPr marL="0" indent="0" algn="l">
              <a:buNone/>
            </a:pPr>
            <a:r>
              <a:rPr lang="en-US" sz="1400" dirty="0">
                <a:solidFill>
                  <a:srgbClr val="3A3A3A"/>
                </a:solidFill>
                <a:latin typeface="Georgia" pitchFamily="34" charset="0"/>
                <a:ea typeface="Georgia" pitchFamily="34" charset="-122"/>
                <a:cs typeface="Georgia" pitchFamily="34" charset="-120"/>
              </a:rPr>
              <a:t>Access historical forecasting &amp; inventory logs.</a:t>
            </a:r>
            <a:endParaRPr lang="en-US" sz="1400" dirty="0"/>
          </a:p>
        </p:txBody>
      </p:sp>
    </p:spTree>
    <p:extLst>
      <p:ext uri="{BB962C8B-B14F-4D97-AF65-F5344CB8AC3E}">
        <p14:creationId xmlns:p14="http://schemas.microsoft.com/office/powerpoint/2010/main" val="6172643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7BD7FB-2B22-C9FA-FA11-E3687F4D17BA}"/>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6252E175-6CED-BC31-C596-1815A3067DA8}"/>
              </a:ext>
            </a:extLst>
          </p:cNvPr>
          <p:cNvPicPr>
            <a:picLocks noChangeAspect="1"/>
          </p:cNvPicPr>
          <p:nvPr/>
        </p:nvPicPr>
        <p:blipFill rotWithShape="1">
          <a:blip r:embed="rId2">
            <a:extLst>
              <a:ext uri="{28A0092B-C50C-407E-A947-70E740481C1C}">
                <a14:useLocalDpi xmlns:a14="http://schemas.microsoft.com/office/drawing/2010/main" val="0"/>
              </a:ext>
            </a:extLst>
          </a:blip>
          <a:srcRect l="48363" r="-1" b="45098"/>
          <a:stretch/>
        </p:blipFill>
        <p:spPr>
          <a:xfrm>
            <a:off x="0" y="6750969"/>
            <a:ext cx="9906000" cy="131162"/>
          </a:xfrm>
          <a:prstGeom prst="rect">
            <a:avLst/>
          </a:prstGeom>
        </p:spPr>
      </p:pic>
      <p:pic>
        <p:nvPicPr>
          <p:cNvPr id="6" name="Picture 5">
            <a:extLst>
              <a:ext uri="{FF2B5EF4-FFF2-40B4-BE49-F238E27FC236}">
                <a16:creationId xmlns:a16="http://schemas.microsoft.com/office/drawing/2014/main" id="{F58FA1E1-3FC5-2FD6-0AB3-B385EDC82F62}"/>
              </a:ext>
            </a:extLst>
          </p:cNvPr>
          <p:cNvPicPr>
            <a:picLocks noChangeAspect="1"/>
          </p:cNvPicPr>
          <p:nvPr/>
        </p:nvPicPr>
        <p:blipFill rotWithShape="1">
          <a:blip r:embed="rId3"/>
          <a:srcRect b="6633"/>
          <a:stretch/>
        </p:blipFill>
        <p:spPr>
          <a:xfrm>
            <a:off x="0" y="0"/>
            <a:ext cx="3927231" cy="939765"/>
          </a:xfrm>
          <a:prstGeom prst="rect">
            <a:avLst/>
          </a:prstGeom>
        </p:spPr>
      </p:pic>
      <p:pic>
        <p:nvPicPr>
          <p:cNvPr id="7" name="Picture 6">
            <a:extLst>
              <a:ext uri="{FF2B5EF4-FFF2-40B4-BE49-F238E27FC236}">
                <a16:creationId xmlns:a16="http://schemas.microsoft.com/office/drawing/2014/main" id="{AC721274-7357-D25E-82FD-677F69CBF064}"/>
              </a:ext>
            </a:extLst>
          </p:cNvPr>
          <p:cNvPicPr>
            <a:picLocks noChangeAspect="1"/>
          </p:cNvPicPr>
          <p:nvPr/>
        </p:nvPicPr>
        <p:blipFill rotWithShape="1">
          <a:blip r:embed="rId2">
            <a:extLst>
              <a:ext uri="{28A0092B-C50C-407E-A947-70E740481C1C}">
                <a14:useLocalDpi xmlns:a14="http://schemas.microsoft.com/office/drawing/2010/main" val="0"/>
              </a:ext>
            </a:extLst>
          </a:blip>
          <a:srcRect l="48363" r="-1" b="45098"/>
          <a:stretch/>
        </p:blipFill>
        <p:spPr>
          <a:xfrm>
            <a:off x="2637692" y="0"/>
            <a:ext cx="7268307" cy="525780"/>
          </a:xfrm>
          <a:prstGeom prst="rect">
            <a:avLst/>
          </a:prstGeom>
        </p:spPr>
      </p:pic>
      <p:sp>
        <p:nvSpPr>
          <p:cNvPr id="11" name="Rectangle 10">
            <a:extLst>
              <a:ext uri="{FF2B5EF4-FFF2-40B4-BE49-F238E27FC236}">
                <a16:creationId xmlns:a16="http://schemas.microsoft.com/office/drawing/2014/main" id="{7CA16063-0F93-ED14-DCEF-95480895A405}"/>
              </a:ext>
            </a:extLst>
          </p:cNvPr>
          <p:cNvSpPr/>
          <p:nvPr/>
        </p:nvSpPr>
        <p:spPr>
          <a:xfrm>
            <a:off x="1652953" y="107031"/>
            <a:ext cx="8253045" cy="336631"/>
          </a:xfrm>
          <a:prstGeom prst="rect">
            <a:avLst/>
          </a:prstGeom>
        </p:spPr>
        <p:txBody>
          <a:bodyPr wrap="square">
            <a:spAutoFit/>
          </a:bodyPr>
          <a:lstStyle/>
          <a:p>
            <a:pPr algn="ctr">
              <a:lnSpc>
                <a:spcPct val="107000"/>
              </a:lnSpc>
              <a:spcAft>
                <a:spcPts val="800"/>
              </a:spcAft>
            </a:pPr>
            <a:r>
              <a:rPr lang="en-IN" sz="1600" b="1" dirty="0">
                <a:solidFill>
                  <a:schemeClr val="bg1"/>
                </a:solidFill>
                <a:latin typeface="Cambria" panose="02040503050406030204" pitchFamily="18" charset="0"/>
              </a:rPr>
              <a:t>MUKESH PATEL SCHOOL OF TECHNOLOGY MANAGEMENT &amp; ENGINEERING, SHIRPUR</a:t>
            </a:r>
            <a:endParaRPr lang="en-US" sz="1600" b="1" dirty="0">
              <a:solidFill>
                <a:schemeClr val="bg1"/>
              </a:solidFill>
              <a:latin typeface="Cambria" panose="02040503050406030204" pitchFamily="18" charset="0"/>
            </a:endParaRPr>
          </a:p>
        </p:txBody>
      </p:sp>
      <p:sp>
        <p:nvSpPr>
          <p:cNvPr id="3" name="Slide Number Placeholder 2">
            <a:extLst>
              <a:ext uri="{FF2B5EF4-FFF2-40B4-BE49-F238E27FC236}">
                <a16:creationId xmlns:a16="http://schemas.microsoft.com/office/drawing/2014/main" id="{B002F201-32C0-DF53-8399-46A10BDF8CCA}"/>
              </a:ext>
            </a:extLst>
          </p:cNvPr>
          <p:cNvSpPr>
            <a:spLocks noGrp="1"/>
          </p:cNvSpPr>
          <p:nvPr>
            <p:ph type="sldNum" sz="quarter" idx="12"/>
          </p:nvPr>
        </p:nvSpPr>
        <p:spPr/>
        <p:txBody>
          <a:bodyPr/>
          <a:lstStyle/>
          <a:p>
            <a:fld id="{9DC013F7-6D70-4318-BA41-212A9B59413B}" type="slidenum">
              <a:rPr lang="en-US" smtClean="0"/>
              <a:t>8</a:t>
            </a:fld>
            <a:endParaRPr lang="en-US" dirty="0"/>
          </a:p>
        </p:txBody>
      </p:sp>
      <p:sp>
        <p:nvSpPr>
          <p:cNvPr id="2" name="AutoShape 4" descr="Neural Networks Hyperparameter tuning in tensorflow 2.0 | by SiDdhartha |  ML Book | Medium">
            <a:extLst>
              <a:ext uri="{FF2B5EF4-FFF2-40B4-BE49-F238E27FC236}">
                <a16:creationId xmlns:a16="http://schemas.microsoft.com/office/drawing/2014/main" id="{7131B66C-4AA1-0F49-8C17-552C01ED9334}"/>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8" name="Text 6">
            <a:extLst>
              <a:ext uri="{FF2B5EF4-FFF2-40B4-BE49-F238E27FC236}">
                <a16:creationId xmlns:a16="http://schemas.microsoft.com/office/drawing/2014/main" id="{25A62729-84C7-2487-4D48-7F25F60E5768}"/>
              </a:ext>
            </a:extLst>
          </p:cNvPr>
          <p:cNvSpPr txBox="1"/>
          <p:nvPr/>
        </p:nvSpPr>
        <p:spPr>
          <a:xfrm>
            <a:off x="365760" y="822960"/>
            <a:ext cx="9144000" cy="457200"/>
          </a:xfrm>
          <a:prstGeom prst="rect">
            <a:avLst/>
          </a:prstGeom>
          <a:noFill/>
          <a:ln/>
        </p:spPr>
        <p:txBody>
          <a:bodyPr wrap="square" lIns="0" tIns="0" rIns="0" bIns="0" rtlCol="0" anchor="ctr"/>
          <a:lstStyle/>
          <a:p>
            <a:pPr marL="0" indent="0">
              <a:buNone/>
            </a:pPr>
            <a:r>
              <a:rPr lang="en-US" sz="2600" b="1" dirty="0">
                <a:solidFill>
                  <a:srgbClr val="BB302C"/>
                </a:solidFill>
                <a:latin typeface="Georgia" pitchFamily="34" charset="0"/>
                <a:ea typeface="Georgia" pitchFamily="34" charset="-122"/>
                <a:cs typeface="Georgia" pitchFamily="34" charset="-120"/>
              </a:rPr>
              <a:t>Functional &amp; Non-Functional Requirements</a:t>
            </a:r>
            <a:endParaRPr lang="en-US" sz="2600" dirty="0"/>
          </a:p>
        </p:txBody>
      </p:sp>
      <p:sp>
        <p:nvSpPr>
          <p:cNvPr id="12" name="Shape 7">
            <a:extLst>
              <a:ext uri="{FF2B5EF4-FFF2-40B4-BE49-F238E27FC236}">
                <a16:creationId xmlns:a16="http://schemas.microsoft.com/office/drawing/2014/main" id="{02FF933F-4A54-B1F2-FDC2-CEE34BA7D8C8}"/>
              </a:ext>
            </a:extLst>
          </p:cNvPr>
          <p:cNvSpPr/>
          <p:nvPr/>
        </p:nvSpPr>
        <p:spPr>
          <a:xfrm>
            <a:off x="365760" y="1325880"/>
            <a:ext cx="1371600" cy="36576"/>
          </a:xfrm>
          <a:prstGeom prst="rect">
            <a:avLst/>
          </a:prstGeom>
          <a:solidFill>
            <a:srgbClr val="C62829"/>
          </a:solidFill>
          <a:ln/>
        </p:spPr>
      </p:sp>
      <p:sp>
        <p:nvSpPr>
          <p:cNvPr id="14" name="Shape 8">
            <a:extLst>
              <a:ext uri="{FF2B5EF4-FFF2-40B4-BE49-F238E27FC236}">
                <a16:creationId xmlns:a16="http://schemas.microsoft.com/office/drawing/2014/main" id="{506301AD-D1B7-AF43-33CB-1C0B7E4D6033}"/>
              </a:ext>
            </a:extLst>
          </p:cNvPr>
          <p:cNvSpPr/>
          <p:nvPr/>
        </p:nvSpPr>
        <p:spPr>
          <a:xfrm>
            <a:off x="1737360" y="1325880"/>
            <a:ext cx="7772400" cy="9144"/>
          </a:xfrm>
          <a:prstGeom prst="rect">
            <a:avLst/>
          </a:prstGeom>
          <a:solidFill>
            <a:srgbClr val="D9D9D9"/>
          </a:solidFill>
          <a:ln/>
        </p:spPr>
      </p:sp>
      <p:sp>
        <p:nvSpPr>
          <p:cNvPr id="16" name="Text 9">
            <a:extLst>
              <a:ext uri="{FF2B5EF4-FFF2-40B4-BE49-F238E27FC236}">
                <a16:creationId xmlns:a16="http://schemas.microsoft.com/office/drawing/2014/main" id="{CF71EFE2-318E-8A82-449E-A1A7A7C8049F}"/>
              </a:ext>
            </a:extLst>
          </p:cNvPr>
          <p:cNvSpPr txBox="1"/>
          <p:nvPr/>
        </p:nvSpPr>
        <p:spPr>
          <a:xfrm>
            <a:off x="365760" y="1417320"/>
            <a:ext cx="9144000" cy="320040"/>
          </a:xfrm>
          <a:prstGeom prst="rect">
            <a:avLst/>
          </a:prstGeom>
          <a:noFill/>
          <a:ln/>
        </p:spPr>
        <p:txBody>
          <a:bodyPr wrap="square" lIns="0" tIns="0" rIns="0" bIns="0" rtlCol="0" anchor="ctr"/>
          <a:lstStyle/>
          <a:p>
            <a:pPr marL="0" indent="0">
              <a:buNone/>
            </a:pPr>
            <a:r>
              <a:rPr lang="en-US" sz="1400" i="1" dirty="0">
                <a:solidFill>
                  <a:srgbClr val="2E3B7D"/>
                </a:solidFill>
                <a:latin typeface="Georgia" pitchFamily="34" charset="0"/>
                <a:ea typeface="Georgia" pitchFamily="34" charset="-122"/>
                <a:cs typeface="Georgia" pitchFamily="34" charset="-120"/>
              </a:rPr>
              <a:t>System Specifications</a:t>
            </a:r>
            <a:endParaRPr lang="en-US" sz="1400" dirty="0"/>
          </a:p>
        </p:txBody>
      </p:sp>
      <p:sp>
        <p:nvSpPr>
          <p:cNvPr id="18" name="Shape 10">
            <a:extLst>
              <a:ext uri="{FF2B5EF4-FFF2-40B4-BE49-F238E27FC236}">
                <a16:creationId xmlns:a16="http://schemas.microsoft.com/office/drawing/2014/main" id="{C16C25EA-0DF1-559E-7A22-38EF45D1E99E}"/>
              </a:ext>
            </a:extLst>
          </p:cNvPr>
          <p:cNvSpPr/>
          <p:nvPr/>
        </p:nvSpPr>
        <p:spPr>
          <a:xfrm>
            <a:off x="365760" y="1920240"/>
            <a:ext cx="4389120" cy="457200"/>
          </a:xfrm>
          <a:prstGeom prst="rect">
            <a:avLst/>
          </a:prstGeom>
          <a:solidFill>
            <a:srgbClr val="BB302C"/>
          </a:solidFill>
          <a:ln/>
        </p:spPr>
      </p:sp>
      <p:sp>
        <p:nvSpPr>
          <p:cNvPr id="20" name="Text 11">
            <a:extLst>
              <a:ext uri="{FF2B5EF4-FFF2-40B4-BE49-F238E27FC236}">
                <a16:creationId xmlns:a16="http://schemas.microsoft.com/office/drawing/2014/main" id="{FA70E767-9D22-9FBD-EC43-A999B33D9C93}"/>
              </a:ext>
            </a:extLst>
          </p:cNvPr>
          <p:cNvSpPr/>
          <p:nvPr/>
        </p:nvSpPr>
        <p:spPr>
          <a:xfrm>
            <a:off x="365760" y="1920240"/>
            <a:ext cx="4389120" cy="457200"/>
          </a:xfrm>
          <a:prstGeom prst="rect">
            <a:avLst/>
          </a:prstGeom>
          <a:noFill/>
          <a:ln/>
        </p:spPr>
        <p:txBody>
          <a:bodyPr wrap="square" rtlCol="0" anchor="ctr"/>
          <a:lstStyle/>
          <a:p>
            <a:pPr marL="0" indent="0" algn="ctr">
              <a:buNone/>
            </a:pPr>
            <a:r>
              <a:rPr lang="en-US" b="1" dirty="0">
                <a:solidFill>
                  <a:srgbClr val="FFFFFF"/>
                </a:solidFill>
                <a:latin typeface="Georgia" pitchFamily="34" charset="0"/>
                <a:ea typeface="Georgia" pitchFamily="34" charset="-122"/>
                <a:cs typeface="Georgia" pitchFamily="34" charset="-120"/>
              </a:rPr>
              <a:t>Functional Requirements</a:t>
            </a:r>
            <a:endParaRPr lang="en-US" dirty="0"/>
          </a:p>
        </p:txBody>
      </p:sp>
      <p:sp>
        <p:nvSpPr>
          <p:cNvPr id="22" name="Shape 12">
            <a:extLst>
              <a:ext uri="{FF2B5EF4-FFF2-40B4-BE49-F238E27FC236}">
                <a16:creationId xmlns:a16="http://schemas.microsoft.com/office/drawing/2014/main" id="{DFB0C4C8-26D6-9FF8-A9C2-944926B44F93}"/>
              </a:ext>
            </a:extLst>
          </p:cNvPr>
          <p:cNvSpPr/>
          <p:nvPr/>
        </p:nvSpPr>
        <p:spPr>
          <a:xfrm>
            <a:off x="5120640" y="1892732"/>
            <a:ext cx="4389120" cy="457200"/>
          </a:xfrm>
          <a:prstGeom prst="rect">
            <a:avLst/>
          </a:prstGeom>
          <a:solidFill>
            <a:srgbClr val="2E3B7D"/>
          </a:solidFill>
          <a:ln/>
        </p:spPr>
      </p:sp>
      <p:sp>
        <p:nvSpPr>
          <p:cNvPr id="24" name="Text 13">
            <a:extLst>
              <a:ext uri="{FF2B5EF4-FFF2-40B4-BE49-F238E27FC236}">
                <a16:creationId xmlns:a16="http://schemas.microsoft.com/office/drawing/2014/main" id="{81A73BC4-5264-A781-298C-0268A91597F8}"/>
              </a:ext>
            </a:extLst>
          </p:cNvPr>
          <p:cNvSpPr/>
          <p:nvPr/>
        </p:nvSpPr>
        <p:spPr>
          <a:xfrm>
            <a:off x="5120640" y="1892732"/>
            <a:ext cx="4389120" cy="457200"/>
          </a:xfrm>
          <a:prstGeom prst="rect">
            <a:avLst/>
          </a:prstGeom>
          <a:noFill/>
          <a:ln/>
        </p:spPr>
        <p:txBody>
          <a:bodyPr wrap="square" rtlCol="0" anchor="ctr"/>
          <a:lstStyle/>
          <a:p>
            <a:pPr marL="0" indent="0" algn="ctr">
              <a:buNone/>
            </a:pPr>
            <a:r>
              <a:rPr lang="en-US" b="1" dirty="0">
                <a:solidFill>
                  <a:srgbClr val="FFFFFF"/>
                </a:solidFill>
                <a:latin typeface="Georgia" pitchFamily="34" charset="0"/>
                <a:ea typeface="Georgia" pitchFamily="34" charset="-122"/>
                <a:cs typeface="Georgia" pitchFamily="34" charset="-120"/>
              </a:rPr>
              <a:t>Non-Functional Requirements</a:t>
            </a:r>
            <a:endParaRPr lang="en-US" dirty="0"/>
          </a:p>
        </p:txBody>
      </p:sp>
      <p:sp>
        <p:nvSpPr>
          <p:cNvPr id="26" name="Shape 14">
            <a:extLst>
              <a:ext uri="{FF2B5EF4-FFF2-40B4-BE49-F238E27FC236}">
                <a16:creationId xmlns:a16="http://schemas.microsoft.com/office/drawing/2014/main" id="{773FFC52-0397-7526-7D1D-DB5D688AE893}"/>
              </a:ext>
            </a:extLst>
          </p:cNvPr>
          <p:cNvSpPr/>
          <p:nvPr/>
        </p:nvSpPr>
        <p:spPr>
          <a:xfrm>
            <a:off x="365760" y="2560320"/>
            <a:ext cx="4389120" cy="438912"/>
          </a:xfrm>
          <a:prstGeom prst="rect">
            <a:avLst/>
          </a:prstGeom>
          <a:solidFill>
            <a:srgbClr val="FFFFFF"/>
          </a:solidFill>
          <a:ln w="6350">
            <a:solidFill>
              <a:srgbClr val="D9D9D9"/>
            </a:solidFill>
            <a:prstDash val="solid"/>
          </a:ln>
          <a:effectLst>
            <a:outerShdw blurRad="38100" dist="25400" dir="5400000" algn="bl" rotWithShape="0">
              <a:srgbClr val="999999">
                <a:alpha val="15000"/>
              </a:srgbClr>
            </a:outerShdw>
          </a:effectLst>
        </p:spPr>
      </p:sp>
      <p:sp>
        <p:nvSpPr>
          <p:cNvPr id="28" name="Shape 15">
            <a:extLst>
              <a:ext uri="{FF2B5EF4-FFF2-40B4-BE49-F238E27FC236}">
                <a16:creationId xmlns:a16="http://schemas.microsoft.com/office/drawing/2014/main" id="{51770A90-A8E2-8BEA-4896-D6EAF09A2B21}"/>
              </a:ext>
            </a:extLst>
          </p:cNvPr>
          <p:cNvSpPr/>
          <p:nvPr/>
        </p:nvSpPr>
        <p:spPr>
          <a:xfrm>
            <a:off x="457200" y="2651760"/>
            <a:ext cx="548640" cy="228600"/>
          </a:xfrm>
          <a:prstGeom prst="rect">
            <a:avLst/>
          </a:prstGeom>
          <a:solidFill>
            <a:srgbClr val="BB302C"/>
          </a:solidFill>
          <a:ln/>
        </p:spPr>
      </p:sp>
      <p:sp>
        <p:nvSpPr>
          <p:cNvPr id="30" name="Text 16">
            <a:extLst>
              <a:ext uri="{FF2B5EF4-FFF2-40B4-BE49-F238E27FC236}">
                <a16:creationId xmlns:a16="http://schemas.microsoft.com/office/drawing/2014/main" id="{03C1B376-AF1C-FCAE-C990-8993144EF09B}"/>
              </a:ext>
            </a:extLst>
          </p:cNvPr>
          <p:cNvSpPr/>
          <p:nvPr/>
        </p:nvSpPr>
        <p:spPr>
          <a:xfrm>
            <a:off x="457200" y="2651760"/>
            <a:ext cx="548640" cy="228600"/>
          </a:xfrm>
          <a:prstGeom prst="rect">
            <a:avLst/>
          </a:prstGeom>
          <a:noFill/>
          <a:ln/>
        </p:spPr>
        <p:txBody>
          <a:bodyPr wrap="square" rtlCol="0" anchor="ctr"/>
          <a:lstStyle/>
          <a:p>
            <a:pPr marL="0" indent="0" algn="ctr">
              <a:buNone/>
            </a:pPr>
            <a:r>
              <a:rPr lang="en-US" sz="1000" b="1" dirty="0">
                <a:solidFill>
                  <a:srgbClr val="FFFFFF"/>
                </a:solidFill>
                <a:latin typeface="Georgia" pitchFamily="34" charset="0"/>
                <a:ea typeface="Georgia" pitchFamily="34" charset="-122"/>
                <a:cs typeface="Georgia" pitchFamily="34" charset="-120"/>
              </a:rPr>
              <a:t>FR1</a:t>
            </a:r>
            <a:endParaRPr lang="en-US" sz="1000" dirty="0"/>
          </a:p>
        </p:txBody>
      </p:sp>
      <p:sp>
        <p:nvSpPr>
          <p:cNvPr id="32" name="Text 17">
            <a:extLst>
              <a:ext uri="{FF2B5EF4-FFF2-40B4-BE49-F238E27FC236}">
                <a16:creationId xmlns:a16="http://schemas.microsoft.com/office/drawing/2014/main" id="{954F7E78-C21A-1A13-5412-8503D0AF4554}"/>
              </a:ext>
            </a:extLst>
          </p:cNvPr>
          <p:cNvSpPr/>
          <p:nvPr/>
        </p:nvSpPr>
        <p:spPr>
          <a:xfrm>
            <a:off x="1097280" y="2575560"/>
            <a:ext cx="3566160" cy="274320"/>
          </a:xfrm>
          <a:prstGeom prst="rect">
            <a:avLst/>
          </a:prstGeom>
          <a:noFill/>
          <a:ln/>
        </p:spPr>
        <p:txBody>
          <a:bodyPr wrap="square" rtlCol="0" anchor="ctr"/>
          <a:lstStyle/>
          <a:p>
            <a:pPr marL="0" indent="0" algn="l">
              <a:buNone/>
            </a:pPr>
            <a:r>
              <a:rPr lang="en-US" sz="1200" b="1" dirty="0">
                <a:solidFill>
                  <a:srgbClr val="3A3A3A"/>
                </a:solidFill>
                <a:latin typeface="Georgia" pitchFamily="34" charset="0"/>
                <a:ea typeface="Georgia" pitchFamily="34" charset="-122"/>
                <a:cs typeface="Georgia" pitchFamily="34" charset="-120"/>
              </a:rPr>
              <a:t>User Authentication</a:t>
            </a:r>
            <a:endParaRPr lang="en-US" sz="1200" dirty="0"/>
          </a:p>
        </p:txBody>
      </p:sp>
      <p:sp>
        <p:nvSpPr>
          <p:cNvPr id="34" name="Text 18">
            <a:extLst>
              <a:ext uri="{FF2B5EF4-FFF2-40B4-BE49-F238E27FC236}">
                <a16:creationId xmlns:a16="http://schemas.microsoft.com/office/drawing/2014/main" id="{D7C34D09-9687-7152-1E97-BC820C3B2006}"/>
              </a:ext>
            </a:extLst>
          </p:cNvPr>
          <p:cNvSpPr/>
          <p:nvPr/>
        </p:nvSpPr>
        <p:spPr>
          <a:xfrm>
            <a:off x="1097280" y="2788920"/>
            <a:ext cx="3566160" cy="164592"/>
          </a:xfrm>
          <a:prstGeom prst="rect">
            <a:avLst/>
          </a:prstGeom>
          <a:noFill/>
          <a:ln/>
        </p:spPr>
        <p:txBody>
          <a:bodyPr wrap="square" rtlCol="0" anchor="t"/>
          <a:lstStyle/>
          <a:p>
            <a:pPr marL="0" indent="0" algn="l">
              <a:lnSpc>
                <a:spcPct val="110000"/>
              </a:lnSpc>
              <a:buNone/>
            </a:pPr>
            <a:r>
              <a:rPr lang="en-US" sz="1050" dirty="0">
                <a:solidFill>
                  <a:srgbClr val="555555"/>
                </a:solidFill>
                <a:latin typeface="Georgia" pitchFamily="34" charset="0"/>
                <a:ea typeface="Georgia" pitchFamily="34" charset="-122"/>
                <a:cs typeface="Georgia" pitchFamily="34" charset="-120"/>
              </a:rPr>
              <a:t>Register and securely log in.</a:t>
            </a:r>
            <a:endParaRPr lang="en-US" sz="1050" dirty="0"/>
          </a:p>
        </p:txBody>
      </p:sp>
      <p:sp>
        <p:nvSpPr>
          <p:cNvPr id="36" name="Shape 19">
            <a:extLst>
              <a:ext uri="{FF2B5EF4-FFF2-40B4-BE49-F238E27FC236}">
                <a16:creationId xmlns:a16="http://schemas.microsoft.com/office/drawing/2014/main" id="{7AD4F838-C756-BDE7-3B47-C84DAE0766AC}"/>
              </a:ext>
            </a:extLst>
          </p:cNvPr>
          <p:cNvSpPr/>
          <p:nvPr/>
        </p:nvSpPr>
        <p:spPr>
          <a:xfrm>
            <a:off x="365760" y="3063240"/>
            <a:ext cx="4389120" cy="438912"/>
          </a:xfrm>
          <a:prstGeom prst="rect">
            <a:avLst/>
          </a:prstGeom>
          <a:solidFill>
            <a:srgbClr val="FFFFFF"/>
          </a:solidFill>
          <a:ln w="6350">
            <a:solidFill>
              <a:srgbClr val="D9D9D9"/>
            </a:solidFill>
            <a:prstDash val="solid"/>
          </a:ln>
          <a:effectLst>
            <a:outerShdw blurRad="38100" dist="25400" dir="5400000" algn="bl" rotWithShape="0">
              <a:srgbClr val="999999">
                <a:alpha val="15000"/>
              </a:srgbClr>
            </a:outerShdw>
          </a:effectLst>
        </p:spPr>
      </p:sp>
      <p:sp>
        <p:nvSpPr>
          <p:cNvPr id="38" name="Shape 20">
            <a:extLst>
              <a:ext uri="{FF2B5EF4-FFF2-40B4-BE49-F238E27FC236}">
                <a16:creationId xmlns:a16="http://schemas.microsoft.com/office/drawing/2014/main" id="{611459EA-A7FE-95F8-0E20-04BC3BB09F6C}"/>
              </a:ext>
            </a:extLst>
          </p:cNvPr>
          <p:cNvSpPr/>
          <p:nvPr/>
        </p:nvSpPr>
        <p:spPr>
          <a:xfrm>
            <a:off x="457200" y="3154680"/>
            <a:ext cx="548640" cy="228600"/>
          </a:xfrm>
          <a:prstGeom prst="rect">
            <a:avLst/>
          </a:prstGeom>
          <a:solidFill>
            <a:srgbClr val="BB302C"/>
          </a:solidFill>
          <a:ln/>
        </p:spPr>
      </p:sp>
      <p:sp>
        <p:nvSpPr>
          <p:cNvPr id="40" name="Text 21">
            <a:extLst>
              <a:ext uri="{FF2B5EF4-FFF2-40B4-BE49-F238E27FC236}">
                <a16:creationId xmlns:a16="http://schemas.microsoft.com/office/drawing/2014/main" id="{BE0BFA7F-7096-5AF4-64C5-2EF7AD06AEBD}"/>
              </a:ext>
            </a:extLst>
          </p:cNvPr>
          <p:cNvSpPr/>
          <p:nvPr/>
        </p:nvSpPr>
        <p:spPr>
          <a:xfrm>
            <a:off x="457200" y="3154680"/>
            <a:ext cx="548640" cy="228600"/>
          </a:xfrm>
          <a:prstGeom prst="rect">
            <a:avLst/>
          </a:prstGeom>
          <a:noFill/>
          <a:ln/>
        </p:spPr>
        <p:txBody>
          <a:bodyPr wrap="square" rtlCol="0" anchor="ctr"/>
          <a:lstStyle/>
          <a:p>
            <a:pPr marL="0" indent="0" algn="ctr">
              <a:buNone/>
            </a:pPr>
            <a:r>
              <a:rPr lang="en-US" sz="1000" b="1" dirty="0">
                <a:solidFill>
                  <a:srgbClr val="FFFFFF"/>
                </a:solidFill>
                <a:latin typeface="Georgia" pitchFamily="34" charset="0"/>
                <a:ea typeface="Georgia" pitchFamily="34" charset="-122"/>
                <a:cs typeface="Georgia" pitchFamily="34" charset="-120"/>
              </a:rPr>
              <a:t>FR2</a:t>
            </a:r>
            <a:endParaRPr lang="en-US" sz="1000" dirty="0"/>
          </a:p>
        </p:txBody>
      </p:sp>
      <p:sp>
        <p:nvSpPr>
          <p:cNvPr id="42" name="Text 22">
            <a:extLst>
              <a:ext uri="{FF2B5EF4-FFF2-40B4-BE49-F238E27FC236}">
                <a16:creationId xmlns:a16="http://schemas.microsoft.com/office/drawing/2014/main" id="{4A74836D-E3F9-9ED6-2DFB-5E540297214A}"/>
              </a:ext>
            </a:extLst>
          </p:cNvPr>
          <p:cNvSpPr/>
          <p:nvPr/>
        </p:nvSpPr>
        <p:spPr>
          <a:xfrm>
            <a:off x="1097280" y="3078480"/>
            <a:ext cx="3566160" cy="274320"/>
          </a:xfrm>
          <a:prstGeom prst="rect">
            <a:avLst/>
          </a:prstGeom>
          <a:noFill/>
          <a:ln/>
        </p:spPr>
        <p:txBody>
          <a:bodyPr wrap="square" rtlCol="0" anchor="ctr"/>
          <a:lstStyle/>
          <a:p>
            <a:pPr marL="0" indent="0" algn="l">
              <a:buNone/>
            </a:pPr>
            <a:r>
              <a:rPr lang="en-US" sz="1200" b="1" dirty="0">
                <a:solidFill>
                  <a:srgbClr val="3A3A3A"/>
                </a:solidFill>
                <a:latin typeface="Georgia" pitchFamily="34" charset="0"/>
                <a:ea typeface="Georgia" pitchFamily="34" charset="-122"/>
                <a:cs typeface="Georgia" pitchFamily="34" charset="-120"/>
              </a:rPr>
              <a:t>Shop Management</a:t>
            </a:r>
            <a:endParaRPr lang="en-US" sz="1200" dirty="0"/>
          </a:p>
        </p:txBody>
      </p:sp>
      <p:sp>
        <p:nvSpPr>
          <p:cNvPr id="44" name="Text 23">
            <a:extLst>
              <a:ext uri="{FF2B5EF4-FFF2-40B4-BE49-F238E27FC236}">
                <a16:creationId xmlns:a16="http://schemas.microsoft.com/office/drawing/2014/main" id="{D67D579B-6D29-8CC8-2A95-A9DD5B94A911}"/>
              </a:ext>
            </a:extLst>
          </p:cNvPr>
          <p:cNvSpPr/>
          <p:nvPr/>
        </p:nvSpPr>
        <p:spPr>
          <a:xfrm>
            <a:off x="1097280" y="3291840"/>
            <a:ext cx="3566160" cy="164592"/>
          </a:xfrm>
          <a:prstGeom prst="rect">
            <a:avLst/>
          </a:prstGeom>
          <a:noFill/>
          <a:ln/>
        </p:spPr>
        <p:txBody>
          <a:bodyPr wrap="square" rtlCol="0" anchor="t"/>
          <a:lstStyle/>
          <a:p>
            <a:pPr marL="0" indent="0" algn="l">
              <a:lnSpc>
                <a:spcPct val="110000"/>
              </a:lnSpc>
              <a:buNone/>
            </a:pPr>
            <a:r>
              <a:rPr lang="en-US" sz="1050" dirty="0">
                <a:solidFill>
                  <a:srgbClr val="555555"/>
                </a:solidFill>
                <a:latin typeface="Georgia" pitchFamily="34" charset="0"/>
                <a:ea typeface="Georgia" pitchFamily="34" charset="-122"/>
                <a:cs typeface="Georgia" pitchFamily="34" charset="-120"/>
              </a:rPr>
              <a:t>Create and manage shop information.</a:t>
            </a:r>
            <a:endParaRPr lang="en-US" sz="1050" dirty="0"/>
          </a:p>
        </p:txBody>
      </p:sp>
      <p:sp>
        <p:nvSpPr>
          <p:cNvPr id="46" name="Shape 24">
            <a:extLst>
              <a:ext uri="{FF2B5EF4-FFF2-40B4-BE49-F238E27FC236}">
                <a16:creationId xmlns:a16="http://schemas.microsoft.com/office/drawing/2014/main" id="{8F92EE52-B6F0-56A9-CB6E-0818D68D1EE0}"/>
              </a:ext>
            </a:extLst>
          </p:cNvPr>
          <p:cNvSpPr/>
          <p:nvPr/>
        </p:nvSpPr>
        <p:spPr>
          <a:xfrm>
            <a:off x="365760" y="3566160"/>
            <a:ext cx="4389120" cy="438912"/>
          </a:xfrm>
          <a:prstGeom prst="rect">
            <a:avLst/>
          </a:prstGeom>
          <a:solidFill>
            <a:srgbClr val="FFFFFF"/>
          </a:solidFill>
          <a:ln w="6350">
            <a:solidFill>
              <a:srgbClr val="D9D9D9"/>
            </a:solidFill>
            <a:prstDash val="solid"/>
          </a:ln>
          <a:effectLst>
            <a:outerShdw blurRad="38100" dist="25400" dir="5400000" algn="bl" rotWithShape="0">
              <a:srgbClr val="999999">
                <a:alpha val="15000"/>
              </a:srgbClr>
            </a:outerShdw>
          </a:effectLst>
        </p:spPr>
      </p:sp>
      <p:sp>
        <p:nvSpPr>
          <p:cNvPr id="48" name="Shape 25">
            <a:extLst>
              <a:ext uri="{FF2B5EF4-FFF2-40B4-BE49-F238E27FC236}">
                <a16:creationId xmlns:a16="http://schemas.microsoft.com/office/drawing/2014/main" id="{23F25787-6E43-A849-1B0B-5A9BEDF4A19F}"/>
              </a:ext>
            </a:extLst>
          </p:cNvPr>
          <p:cNvSpPr/>
          <p:nvPr/>
        </p:nvSpPr>
        <p:spPr>
          <a:xfrm>
            <a:off x="457200" y="3657600"/>
            <a:ext cx="548640" cy="228600"/>
          </a:xfrm>
          <a:prstGeom prst="rect">
            <a:avLst/>
          </a:prstGeom>
          <a:solidFill>
            <a:srgbClr val="BB302C"/>
          </a:solidFill>
          <a:ln/>
        </p:spPr>
      </p:sp>
      <p:sp>
        <p:nvSpPr>
          <p:cNvPr id="50" name="Text 26">
            <a:extLst>
              <a:ext uri="{FF2B5EF4-FFF2-40B4-BE49-F238E27FC236}">
                <a16:creationId xmlns:a16="http://schemas.microsoft.com/office/drawing/2014/main" id="{D36FD7E5-A04E-65C7-2144-6EF94003352A}"/>
              </a:ext>
            </a:extLst>
          </p:cNvPr>
          <p:cNvSpPr/>
          <p:nvPr/>
        </p:nvSpPr>
        <p:spPr>
          <a:xfrm>
            <a:off x="457200" y="3657600"/>
            <a:ext cx="548640" cy="228600"/>
          </a:xfrm>
          <a:prstGeom prst="rect">
            <a:avLst/>
          </a:prstGeom>
          <a:noFill/>
          <a:ln/>
        </p:spPr>
        <p:txBody>
          <a:bodyPr wrap="square" rtlCol="0" anchor="ctr"/>
          <a:lstStyle/>
          <a:p>
            <a:pPr marL="0" indent="0" algn="ctr">
              <a:buNone/>
            </a:pPr>
            <a:r>
              <a:rPr lang="en-US" sz="1000" b="1" dirty="0">
                <a:solidFill>
                  <a:srgbClr val="FFFFFF"/>
                </a:solidFill>
                <a:latin typeface="Georgia" pitchFamily="34" charset="0"/>
                <a:ea typeface="Georgia" pitchFamily="34" charset="-122"/>
                <a:cs typeface="Georgia" pitchFamily="34" charset="-120"/>
              </a:rPr>
              <a:t>FR3</a:t>
            </a:r>
            <a:endParaRPr lang="en-US" sz="1000" dirty="0"/>
          </a:p>
        </p:txBody>
      </p:sp>
      <p:sp>
        <p:nvSpPr>
          <p:cNvPr id="52" name="Text 27">
            <a:extLst>
              <a:ext uri="{FF2B5EF4-FFF2-40B4-BE49-F238E27FC236}">
                <a16:creationId xmlns:a16="http://schemas.microsoft.com/office/drawing/2014/main" id="{36C35307-05E2-6960-A780-5FD876EAE3FB}"/>
              </a:ext>
            </a:extLst>
          </p:cNvPr>
          <p:cNvSpPr/>
          <p:nvPr/>
        </p:nvSpPr>
        <p:spPr>
          <a:xfrm>
            <a:off x="1097280" y="3581400"/>
            <a:ext cx="3566160" cy="274320"/>
          </a:xfrm>
          <a:prstGeom prst="rect">
            <a:avLst/>
          </a:prstGeom>
          <a:noFill/>
          <a:ln/>
        </p:spPr>
        <p:txBody>
          <a:bodyPr wrap="square" rtlCol="0" anchor="ctr"/>
          <a:lstStyle/>
          <a:p>
            <a:pPr marL="0" indent="0" algn="l">
              <a:buNone/>
            </a:pPr>
            <a:r>
              <a:rPr lang="en-US" sz="1200" b="1" dirty="0">
                <a:solidFill>
                  <a:srgbClr val="3A3A3A"/>
                </a:solidFill>
                <a:latin typeface="Georgia" pitchFamily="34" charset="0"/>
                <a:ea typeface="Georgia" pitchFamily="34" charset="-122"/>
                <a:cs typeface="Georgia" pitchFamily="34" charset="-120"/>
              </a:rPr>
              <a:t>Sales Data</a:t>
            </a:r>
            <a:endParaRPr lang="en-US" sz="1200" dirty="0"/>
          </a:p>
        </p:txBody>
      </p:sp>
      <p:sp>
        <p:nvSpPr>
          <p:cNvPr id="54" name="Text 28">
            <a:extLst>
              <a:ext uri="{FF2B5EF4-FFF2-40B4-BE49-F238E27FC236}">
                <a16:creationId xmlns:a16="http://schemas.microsoft.com/office/drawing/2014/main" id="{8855EAC9-C5FC-EEFD-A5CE-F8A51D24D513}"/>
              </a:ext>
            </a:extLst>
          </p:cNvPr>
          <p:cNvSpPr/>
          <p:nvPr/>
        </p:nvSpPr>
        <p:spPr>
          <a:xfrm>
            <a:off x="1097280" y="3794760"/>
            <a:ext cx="3566160" cy="164592"/>
          </a:xfrm>
          <a:prstGeom prst="rect">
            <a:avLst/>
          </a:prstGeom>
          <a:noFill/>
          <a:ln/>
        </p:spPr>
        <p:txBody>
          <a:bodyPr wrap="square" rtlCol="0" anchor="t"/>
          <a:lstStyle/>
          <a:p>
            <a:pPr marL="0" indent="0" algn="l">
              <a:lnSpc>
                <a:spcPct val="110000"/>
              </a:lnSpc>
              <a:buNone/>
            </a:pPr>
            <a:r>
              <a:rPr lang="en-US" sz="1050" dirty="0">
                <a:solidFill>
                  <a:srgbClr val="555555"/>
                </a:solidFill>
                <a:latin typeface="Georgia" pitchFamily="34" charset="0"/>
                <a:ea typeface="Georgia" pitchFamily="34" charset="-122"/>
                <a:cs typeface="Georgia" pitchFamily="34" charset="-120"/>
              </a:rPr>
              <a:t>Upload or enter historical item-level sales data.</a:t>
            </a:r>
            <a:endParaRPr lang="en-US" sz="1050" dirty="0"/>
          </a:p>
        </p:txBody>
      </p:sp>
      <p:sp>
        <p:nvSpPr>
          <p:cNvPr id="56" name="Shape 29">
            <a:extLst>
              <a:ext uri="{FF2B5EF4-FFF2-40B4-BE49-F238E27FC236}">
                <a16:creationId xmlns:a16="http://schemas.microsoft.com/office/drawing/2014/main" id="{56871037-FFBC-EF42-596C-CC5C75EFBC84}"/>
              </a:ext>
            </a:extLst>
          </p:cNvPr>
          <p:cNvSpPr/>
          <p:nvPr/>
        </p:nvSpPr>
        <p:spPr>
          <a:xfrm>
            <a:off x="365760" y="4069080"/>
            <a:ext cx="4389120" cy="438912"/>
          </a:xfrm>
          <a:prstGeom prst="rect">
            <a:avLst/>
          </a:prstGeom>
          <a:solidFill>
            <a:srgbClr val="FFFFFF"/>
          </a:solidFill>
          <a:ln w="6350">
            <a:solidFill>
              <a:srgbClr val="D9D9D9"/>
            </a:solidFill>
            <a:prstDash val="solid"/>
          </a:ln>
          <a:effectLst>
            <a:outerShdw blurRad="38100" dist="25400" dir="5400000" algn="bl" rotWithShape="0">
              <a:srgbClr val="999999">
                <a:alpha val="15000"/>
              </a:srgbClr>
            </a:outerShdw>
          </a:effectLst>
        </p:spPr>
      </p:sp>
      <p:sp>
        <p:nvSpPr>
          <p:cNvPr id="58" name="Shape 30">
            <a:extLst>
              <a:ext uri="{FF2B5EF4-FFF2-40B4-BE49-F238E27FC236}">
                <a16:creationId xmlns:a16="http://schemas.microsoft.com/office/drawing/2014/main" id="{BF8ED397-6635-ADCD-F9B4-21C059E41EAD}"/>
              </a:ext>
            </a:extLst>
          </p:cNvPr>
          <p:cNvSpPr/>
          <p:nvPr/>
        </p:nvSpPr>
        <p:spPr>
          <a:xfrm>
            <a:off x="457200" y="4160520"/>
            <a:ext cx="548640" cy="228600"/>
          </a:xfrm>
          <a:prstGeom prst="rect">
            <a:avLst/>
          </a:prstGeom>
          <a:solidFill>
            <a:srgbClr val="BB302C"/>
          </a:solidFill>
          <a:ln/>
        </p:spPr>
      </p:sp>
      <p:sp>
        <p:nvSpPr>
          <p:cNvPr id="60" name="Text 31">
            <a:extLst>
              <a:ext uri="{FF2B5EF4-FFF2-40B4-BE49-F238E27FC236}">
                <a16:creationId xmlns:a16="http://schemas.microsoft.com/office/drawing/2014/main" id="{C5E9717C-0C4F-8A9E-D2BF-DA093DFBCBF9}"/>
              </a:ext>
            </a:extLst>
          </p:cNvPr>
          <p:cNvSpPr/>
          <p:nvPr/>
        </p:nvSpPr>
        <p:spPr>
          <a:xfrm>
            <a:off x="457200" y="4160520"/>
            <a:ext cx="548640" cy="228600"/>
          </a:xfrm>
          <a:prstGeom prst="rect">
            <a:avLst/>
          </a:prstGeom>
          <a:noFill/>
          <a:ln/>
        </p:spPr>
        <p:txBody>
          <a:bodyPr wrap="square" rtlCol="0" anchor="ctr"/>
          <a:lstStyle/>
          <a:p>
            <a:pPr marL="0" indent="0" algn="ctr">
              <a:buNone/>
            </a:pPr>
            <a:r>
              <a:rPr lang="en-US" sz="1000" b="1" dirty="0">
                <a:solidFill>
                  <a:srgbClr val="FFFFFF"/>
                </a:solidFill>
                <a:latin typeface="Georgia" pitchFamily="34" charset="0"/>
                <a:ea typeface="Georgia" pitchFamily="34" charset="-122"/>
                <a:cs typeface="Georgia" pitchFamily="34" charset="-120"/>
              </a:rPr>
              <a:t>FR4</a:t>
            </a:r>
            <a:endParaRPr lang="en-US" sz="1000" dirty="0"/>
          </a:p>
        </p:txBody>
      </p:sp>
      <p:sp>
        <p:nvSpPr>
          <p:cNvPr id="62" name="Text 32">
            <a:extLst>
              <a:ext uri="{FF2B5EF4-FFF2-40B4-BE49-F238E27FC236}">
                <a16:creationId xmlns:a16="http://schemas.microsoft.com/office/drawing/2014/main" id="{2CF9CB1D-2306-1AF6-86B0-60DE2F114E3E}"/>
              </a:ext>
            </a:extLst>
          </p:cNvPr>
          <p:cNvSpPr/>
          <p:nvPr/>
        </p:nvSpPr>
        <p:spPr>
          <a:xfrm>
            <a:off x="1097280" y="4084320"/>
            <a:ext cx="3566160" cy="274320"/>
          </a:xfrm>
          <a:prstGeom prst="rect">
            <a:avLst/>
          </a:prstGeom>
          <a:noFill/>
          <a:ln/>
        </p:spPr>
        <p:txBody>
          <a:bodyPr wrap="square" rtlCol="0" anchor="ctr"/>
          <a:lstStyle/>
          <a:p>
            <a:pPr marL="0" indent="0" algn="l">
              <a:buNone/>
            </a:pPr>
            <a:r>
              <a:rPr lang="en-US" sz="1200" b="1" dirty="0">
                <a:solidFill>
                  <a:srgbClr val="3A3A3A"/>
                </a:solidFill>
                <a:latin typeface="Georgia" pitchFamily="34" charset="0"/>
                <a:ea typeface="Georgia" pitchFamily="34" charset="-122"/>
                <a:cs typeface="Georgia" pitchFamily="34" charset="-120"/>
              </a:rPr>
              <a:t>Inventory Mgmt.</a:t>
            </a:r>
            <a:endParaRPr lang="en-US" sz="1200" dirty="0"/>
          </a:p>
        </p:txBody>
      </p:sp>
      <p:sp>
        <p:nvSpPr>
          <p:cNvPr id="64" name="Text 33">
            <a:extLst>
              <a:ext uri="{FF2B5EF4-FFF2-40B4-BE49-F238E27FC236}">
                <a16:creationId xmlns:a16="http://schemas.microsoft.com/office/drawing/2014/main" id="{DF88FBCE-E21F-081A-950D-BE66487D41DE}"/>
              </a:ext>
            </a:extLst>
          </p:cNvPr>
          <p:cNvSpPr/>
          <p:nvPr/>
        </p:nvSpPr>
        <p:spPr>
          <a:xfrm>
            <a:off x="1097280" y="4297680"/>
            <a:ext cx="3566160" cy="164592"/>
          </a:xfrm>
          <a:prstGeom prst="rect">
            <a:avLst/>
          </a:prstGeom>
          <a:noFill/>
          <a:ln/>
        </p:spPr>
        <p:txBody>
          <a:bodyPr wrap="square" rtlCol="0" anchor="t"/>
          <a:lstStyle/>
          <a:p>
            <a:pPr marL="0" indent="0" algn="l">
              <a:lnSpc>
                <a:spcPct val="110000"/>
              </a:lnSpc>
              <a:buNone/>
            </a:pPr>
            <a:r>
              <a:rPr lang="en-US" sz="1050" dirty="0">
                <a:solidFill>
                  <a:srgbClr val="555555"/>
                </a:solidFill>
                <a:latin typeface="Georgia" pitchFamily="34" charset="0"/>
                <a:ea typeface="Georgia" pitchFamily="34" charset="-122"/>
                <a:cs typeface="Georgia" pitchFamily="34" charset="-120"/>
              </a:rPr>
              <a:t>Provide and manage current inventory information.</a:t>
            </a:r>
            <a:endParaRPr lang="en-US" sz="1050" dirty="0"/>
          </a:p>
        </p:txBody>
      </p:sp>
      <p:sp>
        <p:nvSpPr>
          <p:cNvPr id="66" name="Shape 34">
            <a:extLst>
              <a:ext uri="{FF2B5EF4-FFF2-40B4-BE49-F238E27FC236}">
                <a16:creationId xmlns:a16="http://schemas.microsoft.com/office/drawing/2014/main" id="{22CD2657-C247-D9F2-52C1-55C488C4320C}"/>
              </a:ext>
            </a:extLst>
          </p:cNvPr>
          <p:cNvSpPr/>
          <p:nvPr/>
        </p:nvSpPr>
        <p:spPr>
          <a:xfrm>
            <a:off x="365760" y="4572000"/>
            <a:ext cx="4389120" cy="438912"/>
          </a:xfrm>
          <a:prstGeom prst="rect">
            <a:avLst/>
          </a:prstGeom>
          <a:solidFill>
            <a:srgbClr val="FFFFFF"/>
          </a:solidFill>
          <a:ln w="6350">
            <a:solidFill>
              <a:srgbClr val="D9D9D9"/>
            </a:solidFill>
            <a:prstDash val="solid"/>
          </a:ln>
          <a:effectLst>
            <a:outerShdw blurRad="38100" dist="25400" dir="5400000" algn="bl" rotWithShape="0">
              <a:srgbClr val="999999">
                <a:alpha val="15000"/>
              </a:srgbClr>
            </a:outerShdw>
          </a:effectLst>
        </p:spPr>
      </p:sp>
      <p:sp>
        <p:nvSpPr>
          <p:cNvPr id="68" name="Shape 35">
            <a:extLst>
              <a:ext uri="{FF2B5EF4-FFF2-40B4-BE49-F238E27FC236}">
                <a16:creationId xmlns:a16="http://schemas.microsoft.com/office/drawing/2014/main" id="{A4F1B157-95F2-FF54-C717-4FC45A148B32}"/>
              </a:ext>
            </a:extLst>
          </p:cNvPr>
          <p:cNvSpPr/>
          <p:nvPr/>
        </p:nvSpPr>
        <p:spPr>
          <a:xfrm>
            <a:off x="457200" y="4663440"/>
            <a:ext cx="548640" cy="228600"/>
          </a:xfrm>
          <a:prstGeom prst="rect">
            <a:avLst/>
          </a:prstGeom>
          <a:solidFill>
            <a:srgbClr val="BB302C"/>
          </a:solidFill>
          <a:ln/>
        </p:spPr>
      </p:sp>
      <p:sp>
        <p:nvSpPr>
          <p:cNvPr id="70" name="Text 36">
            <a:extLst>
              <a:ext uri="{FF2B5EF4-FFF2-40B4-BE49-F238E27FC236}">
                <a16:creationId xmlns:a16="http://schemas.microsoft.com/office/drawing/2014/main" id="{95BF9DEA-7FFF-BBFA-DCD0-1785B081FAD9}"/>
              </a:ext>
            </a:extLst>
          </p:cNvPr>
          <p:cNvSpPr/>
          <p:nvPr/>
        </p:nvSpPr>
        <p:spPr>
          <a:xfrm>
            <a:off x="457200" y="4663440"/>
            <a:ext cx="548640" cy="228600"/>
          </a:xfrm>
          <a:prstGeom prst="rect">
            <a:avLst/>
          </a:prstGeom>
          <a:noFill/>
          <a:ln/>
        </p:spPr>
        <p:txBody>
          <a:bodyPr wrap="square" rtlCol="0" anchor="ctr"/>
          <a:lstStyle/>
          <a:p>
            <a:pPr marL="0" indent="0" algn="ctr">
              <a:buNone/>
            </a:pPr>
            <a:r>
              <a:rPr lang="en-US" sz="1000" b="1" dirty="0">
                <a:solidFill>
                  <a:srgbClr val="FFFFFF"/>
                </a:solidFill>
                <a:latin typeface="Georgia" pitchFamily="34" charset="0"/>
                <a:ea typeface="Georgia" pitchFamily="34" charset="-122"/>
                <a:cs typeface="Georgia" pitchFamily="34" charset="-120"/>
              </a:rPr>
              <a:t>FR5</a:t>
            </a:r>
            <a:endParaRPr lang="en-US" sz="1000" dirty="0"/>
          </a:p>
        </p:txBody>
      </p:sp>
      <p:sp>
        <p:nvSpPr>
          <p:cNvPr id="72" name="Text 37">
            <a:extLst>
              <a:ext uri="{FF2B5EF4-FFF2-40B4-BE49-F238E27FC236}">
                <a16:creationId xmlns:a16="http://schemas.microsoft.com/office/drawing/2014/main" id="{0F07AD35-61B7-9ED3-B23E-6865514583A3}"/>
              </a:ext>
            </a:extLst>
          </p:cNvPr>
          <p:cNvSpPr/>
          <p:nvPr/>
        </p:nvSpPr>
        <p:spPr>
          <a:xfrm>
            <a:off x="1097280" y="4587240"/>
            <a:ext cx="3566160" cy="274320"/>
          </a:xfrm>
          <a:prstGeom prst="rect">
            <a:avLst/>
          </a:prstGeom>
          <a:noFill/>
          <a:ln/>
        </p:spPr>
        <p:txBody>
          <a:bodyPr wrap="square" rtlCol="0" anchor="ctr"/>
          <a:lstStyle/>
          <a:p>
            <a:pPr marL="0" indent="0" algn="l">
              <a:buNone/>
            </a:pPr>
            <a:r>
              <a:rPr lang="en-US" sz="1200" b="1" dirty="0">
                <a:solidFill>
                  <a:srgbClr val="3A3A3A"/>
                </a:solidFill>
                <a:latin typeface="Georgia" pitchFamily="34" charset="0"/>
                <a:ea typeface="Georgia" pitchFamily="34" charset="-122"/>
                <a:cs typeface="Georgia" pitchFamily="34" charset="-120"/>
              </a:rPr>
              <a:t>Forecast Gen.</a:t>
            </a:r>
            <a:endParaRPr lang="en-US" sz="1200" dirty="0"/>
          </a:p>
        </p:txBody>
      </p:sp>
      <p:sp>
        <p:nvSpPr>
          <p:cNvPr id="74" name="Text 38">
            <a:extLst>
              <a:ext uri="{FF2B5EF4-FFF2-40B4-BE49-F238E27FC236}">
                <a16:creationId xmlns:a16="http://schemas.microsoft.com/office/drawing/2014/main" id="{8558E3B7-7328-1625-9E7C-21C5D0E2B1A5}"/>
              </a:ext>
            </a:extLst>
          </p:cNvPr>
          <p:cNvSpPr/>
          <p:nvPr/>
        </p:nvSpPr>
        <p:spPr>
          <a:xfrm>
            <a:off x="1097280" y="4800600"/>
            <a:ext cx="3566160" cy="164592"/>
          </a:xfrm>
          <a:prstGeom prst="rect">
            <a:avLst/>
          </a:prstGeom>
          <a:noFill/>
          <a:ln/>
        </p:spPr>
        <p:txBody>
          <a:bodyPr wrap="square" rtlCol="0" anchor="t"/>
          <a:lstStyle/>
          <a:p>
            <a:pPr marL="0" indent="0" algn="l">
              <a:lnSpc>
                <a:spcPct val="110000"/>
              </a:lnSpc>
              <a:buNone/>
            </a:pPr>
            <a:r>
              <a:rPr lang="en-US" sz="1050" dirty="0">
                <a:solidFill>
                  <a:srgbClr val="555555"/>
                </a:solidFill>
                <a:latin typeface="Georgia" pitchFamily="34" charset="0"/>
                <a:ea typeface="Georgia" pitchFamily="34" charset="-122"/>
                <a:cs typeface="Georgia" pitchFamily="34" charset="-120"/>
              </a:rPr>
              <a:t>Generate item-level daily demand forecasts.</a:t>
            </a:r>
            <a:endParaRPr lang="en-US" sz="1050" dirty="0"/>
          </a:p>
        </p:txBody>
      </p:sp>
      <p:sp>
        <p:nvSpPr>
          <p:cNvPr id="76" name="Shape 39">
            <a:extLst>
              <a:ext uri="{FF2B5EF4-FFF2-40B4-BE49-F238E27FC236}">
                <a16:creationId xmlns:a16="http://schemas.microsoft.com/office/drawing/2014/main" id="{3C5D60CA-DD1E-461F-8730-9C3A1BE9E9E9}"/>
              </a:ext>
            </a:extLst>
          </p:cNvPr>
          <p:cNvSpPr/>
          <p:nvPr/>
        </p:nvSpPr>
        <p:spPr>
          <a:xfrm>
            <a:off x="365760" y="5074920"/>
            <a:ext cx="4389120" cy="438912"/>
          </a:xfrm>
          <a:prstGeom prst="rect">
            <a:avLst/>
          </a:prstGeom>
          <a:solidFill>
            <a:srgbClr val="FFFFFF"/>
          </a:solidFill>
          <a:ln w="6350">
            <a:solidFill>
              <a:srgbClr val="D9D9D9"/>
            </a:solidFill>
            <a:prstDash val="solid"/>
          </a:ln>
          <a:effectLst>
            <a:outerShdw blurRad="38100" dist="25400" dir="5400000" algn="bl" rotWithShape="0">
              <a:srgbClr val="999999">
                <a:alpha val="15000"/>
              </a:srgbClr>
            </a:outerShdw>
          </a:effectLst>
        </p:spPr>
      </p:sp>
      <p:sp>
        <p:nvSpPr>
          <p:cNvPr id="78" name="Shape 40">
            <a:extLst>
              <a:ext uri="{FF2B5EF4-FFF2-40B4-BE49-F238E27FC236}">
                <a16:creationId xmlns:a16="http://schemas.microsoft.com/office/drawing/2014/main" id="{6B662E97-D21D-49EE-B4EE-F626AC59CFE1}"/>
              </a:ext>
            </a:extLst>
          </p:cNvPr>
          <p:cNvSpPr/>
          <p:nvPr/>
        </p:nvSpPr>
        <p:spPr>
          <a:xfrm>
            <a:off x="457200" y="5166360"/>
            <a:ext cx="548640" cy="228600"/>
          </a:xfrm>
          <a:prstGeom prst="rect">
            <a:avLst/>
          </a:prstGeom>
          <a:solidFill>
            <a:srgbClr val="BB302C"/>
          </a:solidFill>
          <a:ln/>
        </p:spPr>
      </p:sp>
      <p:sp>
        <p:nvSpPr>
          <p:cNvPr id="80" name="Text 41">
            <a:extLst>
              <a:ext uri="{FF2B5EF4-FFF2-40B4-BE49-F238E27FC236}">
                <a16:creationId xmlns:a16="http://schemas.microsoft.com/office/drawing/2014/main" id="{FE89DCA6-E48B-A91E-94A4-E4FEFFB01EE1}"/>
              </a:ext>
            </a:extLst>
          </p:cNvPr>
          <p:cNvSpPr/>
          <p:nvPr/>
        </p:nvSpPr>
        <p:spPr>
          <a:xfrm>
            <a:off x="457200" y="5166360"/>
            <a:ext cx="548640" cy="228600"/>
          </a:xfrm>
          <a:prstGeom prst="rect">
            <a:avLst/>
          </a:prstGeom>
          <a:noFill/>
          <a:ln/>
        </p:spPr>
        <p:txBody>
          <a:bodyPr wrap="square" rtlCol="0" anchor="ctr"/>
          <a:lstStyle/>
          <a:p>
            <a:pPr marL="0" indent="0" algn="ctr">
              <a:buNone/>
            </a:pPr>
            <a:r>
              <a:rPr lang="en-US" sz="1000" b="1" dirty="0">
                <a:solidFill>
                  <a:srgbClr val="FFFFFF"/>
                </a:solidFill>
                <a:latin typeface="Georgia" pitchFamily="34" charset="0"/>
                <a:ea typeface="Georgia" pitchFamily="34" charset="-122"/>
                <a:cs typeface="Georgia" pitchFamily="34" charset="-120"/>
              </a:rPr>
              <a:t>FR6</a:t>
            </a:r>
            <a:endParaRPr lang="en-US" sz="1000" dirty="0"/>
          </a:p>
        </p:txBody>
      </p:sp>
      <p:sp>
        <p:nvSpPr>
          <p:cNvPr id="82" name="Text 42">
            <a:extLst>
              <a:ext uri="{FF2B5EF4-FFF2-40B4-BE49-F238E27FC236}">
                <a16:creationId xmlns:a16="http://schemas.microsoft.com/office/drawing/2014/main" id="{B9DC432B-A937-40DB-23CD-6D8C90CC88DF}"/>
              </a:ext>
            </a:extLst>
          </p:cNvPr>
          <p:cNvSpPr/>
          <p:nvPr/>
        </p:nvSpPr>
        <p:spPr>
          <a:xfrm>
            <a:off x="1097280" y="5090160"/>
            <a:ext cx="3566160" cy="274320"/>
          </a:xfrm>
          <a:prstGeom prst="rect">
            <a:avLst/>
          </a:prstGeom>
          <a:noFill/>
          <a:ln/>
        </p:spPr>
        <p:txBody>
          <a:bodyPr wrap="square" rtlCol="0" anchor="ctr"/>
          <a:lstStyle/>
          <a:p>
            <a:pPr marL="0" indent="0" algn="l">
              <a:buNone/>
            </a:pPr>
            <a:r>
              <a:rPr lang="en-US" sz="1200" b="1" dirty="0">
                <a:solidFill>
                  <a:srgbClr val="3A3A3A"/>
                </a:solidFill>
                <a:latin typeface="Georgia" pitchFamily="34" charset="0"/>
                <a:ea typeface="Georgia" pitchFamily="34" charset="-122"/>
                <a:cs typeface="Georgia" pitchFamily="34" charset="-120"/>
              </a:rPr>
              <a:t>External Data</a:t>
            </a:r>
            <a:endParaRPr lang="en-US" sz="1200" dirty="0"/>
          </a:p>
        </p:txBody>
      </p:sp>
      <p:sp>
        <p:nvSpPr>
          <p:cNvPr id="84" name="Text 43">
            <a:extLst>
              <a:ext uri="{FF2B5EF4-FFF2-40B4-BE49-F238E27FC236}">
                <a16:creationId xmlns:a16="http://schemas.microsoft.com/office/drawing/2014/main" id="{A69BB382-C705-E6AA-1492-7AEA850DCE80}"/>
              </a:ext>
            </a:extLst>
          </p:cNvPr>
          <p:cNvSpPr/>
          <p:nvPr/>
        </p:nvSpPr>
        <p:spPr>
          <a:xfrm>
            <a:off x="1097280" y="5303520"/>
            <a:ext cx="3566160" cy="164592"/>
          </a:xfrm>
          <a:prstGeom prst="rect">
            <a:avLst/>
          </a:prstGeom>
          <a:noFill/>
          <a:ln/>
        </p:spPr>
        <p:txBody>
          <a:bodyPr wrap="square" rtlCol="0" anchor="t"/>
          <a:lstStyle/>
          <a:p>
            <a:pPr marL="0" indent="0" algn="l">
              <a:lnSpc>
                <a:spcPct val="110000"/>
              </a:lnSpc>
              <a:buNone/>
            </a:pPr>
            <a:r>
              <a:rPr lang="en-US" sz="1050" dirty="0">
                <a:solidFill>
                  <a:srgbClr val="555555"/>
                </a:solidFill>
                <a:latin typeface="Georgia" pitchFamily="34" charset="0"/>
                <a:ea typeface="Georgia" pitchFamily="34" charset="-122"/>
                <a:cs typeface="Georgia" pitchFamily="34" charset="-120"/>
              </a:rPr>
              <a:t>Use weather/holiday info as external factors (Planned).</a:t>
            </a:r>
            <a:endParaRPr lang="en-US" sz="1050" dirty="0"/>
          </a:p>
        </p:txBody>
      </p:sp>
      <p:sp>
        <p:nvSpPr>
          <p:cNvPr id="86" name="Shape 44">
            <a:extLst>
              <a:ext uri="{FF2B5EF4-FFF2-40B4-BE49-F238E27FC236}">
                <a16:creationId xmlns:a16="http://schemas.microsoft.com/office/drawing/2014/main" id="{713EA52E-500D-26FA-26B0-3E309F95BD64}"/>
              </a:ext>
            </a:extLst>
          </p:cNvPr>
          <p:cNvSpPr/>
          <p:nvPr/>
        </p:nvSpPr>
        <p:spPr>
          <a:xfrm>
            <a:off x="365760" y="5577840"/>
            <a:ext cx="4389120" cy="438912"/>
          </a:xfrm>
          <a:prstGeom prst="rect">
            <a:avLst/>
          </a:prstGeom>
          <a:solidFill>
            <a:srgbClr val="FFFFFF"/>
          </a:solidFill>
          <a:ln w="6350">
            <a:solidFill>
              <a:srgbClr val="D9D9D9"/>
            </a:solidFill>
            <a:prstDash val="solid"/>
          </a:ln>
          <a:effectLst>
            <a:outerShdw blurRad="38100" dist="25400" dir="5400000" algn="bl" rotWithShape="0">
              <a:srgbClr val="999999">
                <a:alpha val="15000"/>
              </a:srgbClr>
            </a:outerShdw>
          </a:effectLst>
        </p:spPr>
      </p:sp>
      <p:sp>
        <p:nvSpPr>
          <p:cNvPr id="88" name="Shape 45">
            <a:extLst>
              <a:ext uri="{FF2B5EF4-FFF2-40B4-BE49-F238E27FC236}">
                <a16:creationId xmlns:a16="http://schemas.microsoft.com/office/drawing/2014/main" id="{175A1276-60BF-39A1-7627-ACC4066989C0}"/>
              </a:ext>
            </a:extLst>
          </p:cNvPr>
          <p:cNvSpPr/>
          <p:nvPr/>
        </p:nvSpPr>
        <p:spPr>
          <a:xfrm>
            <a:off x="457200" y="5669280"/>
            <a:ext cx="548640" cy="228600"/>
          </a:xfrm>
          <a:prstGeom prst="rect">
            <a:avLst/>
          </a:prstGeom>
          <a:solidFill>
            <a:srgbClr val="BB302C"/>
          </a:solidFill>
          <a:ln/>
        </p:spPr>
      </p:sp>
      <p:sp>
        <p:nvSpPr>
          <p:cNvPr id="90" name="Text 46">
            <a:extLst>
              <a:ext uri="{FF2B5EF4-FFF2-40B4-BE49-F238E27FC236}">
                <a16:creationId xmlns:a16="http://schemas.microsoft.com/office/drawing/2014/main" id="{9F75B079-1EA4-4A36-015E-02F72227F45A}"/>
              </a:ext>
            </a:extLst>
          </p:cNvPr>
          <p:cNvSpPr/>
          <p:nvPr/>
        </p:nvSpPr>
        <p:spPr>
          <a:xfrm>
            <a:off x="457200" y="5669280"/>
            <a:ext cx="548640" cy="228600"/>
          </a:xfrm>
          <a:prstGeom prst="rect">
            <a:avLst/>
          </a:prstGeom>
          <a:noFill/>
          <a:ln/>
        </p:spPr>
        <p:txBody>
          <a:bodyPr wrap="square" rtlCol="0" anchor="ctr"/>
          <a:lstStyle/>
          <a:p>
            <a:pPr marL="0" indent="0" algn="ctr">
              <a:buNone/>
            </a:pPr>
            <a:r>
              <a:rPr lang="en-US" sz="1000" b="1" dirty="0">
                <a:solidFill>
                  <a:srgbClr val="FFFFFF"/>
                </a:solidFill>
                <a:latin typeface="Georgia" pitchFamily="34" charset="0"/>
                <a:ea typeface="Georgia" pitchFamily="34" charset="-122"/>
                <a:cs typeface="Georgia" pitchFamily="34" charset="-120"/>
              </a:rPr>
              <a:t>FR7</a:t>
            </a:r>
            <a:endParaRPr lang="en-US" sz="1000" dirty="0"/>
          </a:p>
        </p:txBody>
      </p:sp>
      <p:sp>
        <p:nvSpPr>
          <p:cNvPr id="92" name="Text 47">
            <a:extLst>
              <a:ext uri="{FF2B5EF4-FFF2-40B4-BE49-F238E27FC236}">
                <a16:creationId xmlns:a16="http://schemas.microsoft.com/office/drawing/2014/main" id="{8E6DF307-9088-CAB0-2582-7CC1CA5F5E51}"/>
              </a:ext>
            </a:extLst>
          </p:cNvPr>
          <p:cNvSpPr/>
          <p:nvPr/>
        </p:nvSpPr>
        <p:spPr>
          <a:xfrm>
            <a:off x="1097280" y="5593080"/>
            <a:ext cx="3566160" cy="274320"/>
          </a:xfrm>
          <a:prstGeom prst="rect">
            <a:avLst/>
          </a:prstGeom>
          <a:noFill/>
          <a:ln/>
        </p:spPr>
        <p:txBody>
          <a:bodyPr wrap="square" rtlCol="0" anchor="ctr"/>
          <a:lstStyle/>
          <a:p>
            <a:pPr marL="0" indent="0" algn="l">
              <a:buNone/>
            </a:pPr>
            <a:r>
              <a:rPr lang="en-US" sz="1200" b="1" dirty="0">
                <a:solidFill>
                  <a:srgbClr val="3A3A3A"/>
                </a:solidFill>
                <a:latin typeface="Georgia" pitchFamily="34" charset="0"/>
                <a:ea typeface="Georgia" pitchFamily="34" charset="-122"/>
                <a:cs typeface="Georgia" pitchFamily="34" charset="-120"/>
              </a:rPr>
              <a:t>Restock </a:t>
            </a:r>
            <a:r>
              <a:rPr lang="en-IN" sz="1200" b="1" dirty="0">
                <a:solidFill>
                  <a:srgbClr val="3A3A3A"/>
                </a:solidFill>
                <a:latin typeface="Georgia" pitchFamily="34" charset="0"/>
                <a:ea typeface="Georgia" pitchFamily="34" charset="-122"/>
                <a:cs typeface="Georgia" pitchFamily="34" charset="-120"/>
              </a:rPr>
              <a:t>Recommendation </a:t>
            </a:r>
            <a:endParaRPr lang="en-US" sz="1200" dirty="0"/>
          </a:p>
        </p:txBody>
      </p:sp>
      <p:sp>
        <p:nvSpPr>
          <p:cNvPr id="94" name="Text 48">
            <a:extLst>
              <a:ext uri="{FF2B5EF4-FFF2-40B4-BE49-F238E27FC236}">
                <a16:creationId xmlns:a16="http://schemas.microsoft.com/office/drawing/2014/main" id="{0A8B2998-70A6-C172-1254-1558118B6781}"/>
              </a:ext>
            </a:extLst>
          </p:cNvPr>
          <p:cNvSpPr/>
          <p:nvPr/>
        </p:nvSpPr>
        <p:spPr>
          <a:xfrm>
            <a:off x="1097280" y="5806440"/>
            <a:ext cx="3566160" cy="164592"/>
          </a:xfrm>
          <a:prstGeom prst="rect">
            <a:avLst/>
          </a:prstGeom>
          <a:noFill/>
          <a:ln/>
        </p:spPr>
        <p:txBody>
          <a:bodyPr wrap="square" rtlCol="0" anchor="t"/>
          <a:lstStyle/>
          <a:p>
            <a:pPr marL="0" indent="0" algn="l">
              <a:lnSpc>
                <a:spcPct val="110000"/>
              </a:lnSpc>
              <a:buNone/>
            </a:pPr>
            <a:r>
              <a:rPr lang="en-US" sz="1050" dirty="0">
                <a:solidFill>
                  <a:srgbClr val="555555"/>
                </a:solidFill>
                <a:latin typeface="Georgia" pitchFamily="34" charset="0"/>
                <a:ea typeface="Georgia" pitchFamily="34" charset="-122"/>
                <a:cs typeface="Georgia" pitchFamily="34" charset="-120"/>
              </a:rPr>
              <a:t>Calculate restock using demand, stock &amp; safety limits.</a:t>
            </a:r>
            <a:endParaRPr lang="en-US" sz="1050" dirty="0"/>
          </a:p>
        </p:txBody>
      </p:sp>
      <p:sp>
        <p:nvSpPr>
          <p:cNvPr id="96" name="Shape 49">
            <a:extLst>
              <a:ext uri="{FF2B5EF4-FFF2-40B4-BE49-F238E27FC236}">
                <a16:creationId xmlns:a16="http://schemas.microsoft.com/office/drawing/2014/main" id="{A9B75BE9-4DDA-5DA3-E104-CC617B58899E}"/>
              </a:ext>
            </a:extLst>
          </p:cNvPr>
          <p:cNvSpPr/>
          <p:nvPr/>
        </p:nvSpPr>
        <p:spPr>
          <a:xfrm>
            <a:off x="365760" y="6080760"/>
            <a:ext cx="4389120" cy="438912"/>
          </a:xfrm>
          <a:prstGeom prst="rect">
            <a:avLst/>
          </a:prstGeom>
          <a:solidFill>
            <a:srgbClr val="FFFFFF"/>
          </a:solidFill>
          <a:ln w="6350">
            <a:solidFill>
              <a:srgbClr val="D9D9D9"/>
            </a:solidFill>
            <a:prstDash val="solid"/>
          </a:ln>
          <a:effectLst>
            <a:outerShdw blurRad="38100" dist="25400" dir="5400000" algn="bl" rotWithShape="0">
              <a:srgbClr val="999999">
                <a:alpha val="15000"/>
              </a:srgbClr>
            </a:outerShdw>
          </a:effectLst>
        </p:spPr>
      </p:sp>
      <p:sp>
        <p:nvSpPr>
          <p:cNvPr id="98" name="Shape 50">
            <a:extLst>
              <a:ext uri="{FF2B5EF4-FFF2-40B4-BE49-F238E27FC236}">
                <a16:creationId xmlns:a16="http://schemas.microsoft.com/office/drawing/2014/main" id="{A1FDF43A-7183-8B6D-A781-AC78A9D06AD1}"/>
              </a:ext>
            </a:extLst>
          </p:cNvPr>
          <p:cNvSpPr/>
          <p:nvPr/>
        </p:nvSpPr>
        <p:spPr>
          <a:xfrm>
            <a:off x="457200" y="6172200"/>
            <a:ext cx="548640" cy="228600"/>
          </a:xfrm>
          <a:prstGeom prst="rect">
            <a:avLst/>
          </a:prstGeom>
          <a:solidFill>
            <a:srgbClr val="BB302C"/>
          </a:solidFill>
          <a:ln/>
        </p:spPr>
      </p:sp>
      <p:sp>
        <p:nvSpPr>
          <p:cNvPr id="100" name="Text 51">
            <a:extLst>
              <a:ext uri="{FF2B5EF4-FFF2-40B4-BE49-F238E27FC236}">
                <a16:creationId xmlns:a16="http://schemas.microsoft.com/office/drawing/2014/main" id="{F05C3B15-949B-1DC1-20EE-7A180FCC8E10}"/>
              </a:ext>
            </a:extLst>
          </p:cNvPr>
          <p:cNvSpPr/>
          <p:nvPr/>
        </p:nvSpPr>
        <p:spPr>
          <a:xfrm>
            <a:off x="457200" y="6172200"/>
            <a:ext cx="548640" cy="228600"/>
          </a:xfrm>
          <a:prstGeom prst="rect">
            <a:avLst/>
          </a:prstGeom>
          <a:noFill/>
          <a:ln/>
        </p:spPr>
        <p:txBody>
          <a:bodyPr wrap="square" rtlCol="0" anchor="ctr"/>
          <a:lstStyle/>
          <a:p>
            <a:pPr marL="0" indent="0" algn="ctr">
              <a:buNone/>
            </a:pPr>
            <a:r>
              <a:rPr lang="en-US" sz="1000" b="1" dirty="0">
                <a:solidFill>
                  <a:srgbClr val="FFFFFF"/>
                </a:solidFill>
                <a:latin typeface="Georgia" pitchFamily="34" charset="0"/>
                <a:ea typeface="Georgia" pitchFamily="34" charset="-122"/>
                <a:cs typeface="Georgia" pitchFamily="34" charset="-120"/>
              </a:rPr>
              <a:t>FR8</a:t>
            </a:r>
            <a:endParaRPr lang="en-US" sz="1000" dirty="0"/>
          </a:p>
        </p:txBody>
      </p:sp>
      <p:sp>
        <p:nvSpPr>
          <p:cNvPr id="102" name="Text 52">
            <a:extLst>
              <a:ext uri="{FF2B5EF4-FFF2-40B4-BE49-F238E27FC236}">
                <a16:creationId xmlns:a16="http://schemas.microsoft.com/office/drawing/2014/main" id="{D7F474D7-89D6-B89D-84FC-A14BCEDD734B}"/>
              </a:ext>
            </a:extLst>
          </p:cNvPr>
          <p:cNvSpPr/>
          <p:nvPr/>
        </p:nvSpPr>
        <p:spPr>
          <a:xfrm>
            <a:off x="1097280" y="6096000"/>
            <a:ext cx="3566160" cy="274320"/>
          </a:xfrm>
          <a:prstGeom prst="rect">
            <a:avLst/>
          </a:prstGeom>
          <a:noFill/>
          <a:ln/>
        </p:spPr>
        <p:txBody>
          <a:bodyPr wrap="square" rtlCol="0" anchor="ctr"/>
          <a:lstStyle/>
          <a:p>
            <a:pPr marL="0" indent="0" algn="l">
              <a:buNone/>
            </a:pPr>
            <a:r>
              <a:rPr lang="en-US" sz="1200" b="1" dirty="0">
                <a:solidFill>
                  <a:srgbClr val="3A3A3A"/>
                </a:solidFill>
                <a:latin typeface="Georgia" pitchFamily="34" charset="0"/>
                <a:ea typeface="Georgia" pitchFamily="34" charset="-122"/>
                <a:cs typeface="Georgia" pitchFamily="34" charset="-120"/>
              </a:rPr>
              <a:t>Explanation</a:t>
            </a:r>
            <a:endParaRPr lang="en-US" sz="1200" dirty="0"/>
          </a:p>
        </p:txBody>
      </p:sp>
      <p:sp>
        <p:nvSpPr>
          <p:cNvPr id="104" name="Text 53">
            <a:extLst>
              <a:ext uri="{FF2B5EF4-FFF2-40B4-BE49-F238E27FC236}">
                <a16:creationId xmlns:a16="http://schemas.microsoft.com/office/drawing/2014/main" id="{DE9C97E1-8092-40C3-01D9-3D523961A529}"/>
              </a:ext>
            </a:extLst>
          </p:cNvPr>
          <p:cNvSpPr/>
          <p:nvPr/>
        </p:nvSpPr>
        <p:spPr>
          <a:xfrm>
            <a:off x="1097280" y="6309360"/>
            <a:ext cx="3566160" cy="164592"/>
          </a:xfrm>
          <a:prstGeom prst="rect">
            <a:avLst/>
          </a:prstGeom>
          <a:noFill/>
          <a:ln/>
        </p:spPr>
        <p:txBody>
          <a:bodyPr wrap="square" rtlCol="0" anchor="t"/>
          <a:lstStyle/>
          <a:p>
            <a:pPr marL="0" indent="0" algn="l">
              <a:lnSpc>
                <a:spcPct val="110000"/>
              </a:lnSpc>
              <a:buNone/>
            </a:pPr>
            <a:r>
              <a:rPr lang="en-US" sz="1050" dirty="0">
                <a:solidFill>
                  <a:srgbClr val="555555"/>
                </a:solidFill>
                <a:latin typeface="Georgia" pitchFamily="34" charset="0"/>
                <a:ea typeface="Georgia" pitchFamily="34" charset="-122"/>
                <a:cs typeface="Georgia" pitchFamily="34" charset="-120"/>
              </a:rPr>
              <a:t>Provide plain-language explanation of recommendations.</a:t>
            </a:r>
            <a:endParaRPr lang="en-US" sz="1050" dirty="0"/>
          </a:p>
        </p:txBody>
      </p:sp>
      <p:sp>
        <p:nvSpPr>
          <p:cNvPr id="106" name="Shape 54">
            <a:extLst>
              <a:ext uri="{FF2B5EF4-FFF2-40B4-BE49-F238E27FC236}">
                <a16:creationId xmlns:a16="http://schemas.microsoft.com/office/drawing/2014/main" id="{095EA0E6-3A0A-7A18-D635-1081A816CF8D}"/>
              </a:ext>
            </a:extLst>
          </p:cNvPr>
          <p:cNvSpPr/>
          <p:nvPr/>
        </p:nvSpPr>
        <p:spPr>
          <a:xfrm>
            <a:off x="5120640" y="2532812"/>
            <a:ext cx="4389120" cy="438912"/>
          </a:xfrm>
          <a:prstGeom prst="rect">
            <a:avLst/>
          </a:prstGeom>
          <a:solidFill>
            <a:srgbClr val="FFFFFF"/>
          </a:solidFill>
          <a:ln w="6350">
            <a:solidFill>
              <a:srgbClr val="D9D9D9"/>
            </a:solidFill>
            <a:prstDash val="solid"/>
          </a:ln>
          <a:effectLst>
            <a:outerShdw blurRad="38100" dist="25400" dir="5400000" algn="bl" rotWithShape="0">
              <a:srgbClr val="999999">
                <a:alpha val="15000"/>
              </a:srgbClr>
            </a:outerShdw>
          </a:effectLst>
        </p:spPr>
      </p:sp>
      <p:sp>
        <p:nvSpPr>
          <p:cNvPr id="108" name="Shape 55">
            <a:extLst>
              <a:ext uri="{FF2B5EF4-FFF2-40B4-BE49-F238E27FC236}">
                <a16:creationId xmlns:a16="http://schemas.microsoft.com/office/drawing/2014/main" id="{4A0452ED-13DE-37DC-CB2F-B4E40AFAF64C}"/>
              </a:ext>
            </a:extLst>
          </p:cNvPr>
          <p:cNvSpPr/>
          <p:nvPr/>
        </p:nvSpPr>
        <p:spPr>
          <a:xfrm>
            <a:off x="5212080" y="2624252"/>
            <a:ext cx="548640" cy="228600"/>
          </a:xfrm>
          <a:prstGeom prst="rect">
            <a:avLst/>
          </a:prstGeom>
          <a:solidFill>
            <a:srgbClr val="2E3B7D"/>
          </a:solidFill>
          <a:ln/>
        </p:spPr>
      </p:sp>
      <p:sp>
        <p:nvSpPr>
          <p:cNvPr id="110" name="Text 56">
            <a:extLst>
              <a:ext uri="{FF2B5EF4-FFF2-40B4-BE49-F238E27FC236}">
                <a16:creationId xmlns:a16="http://schemas.microsoft.com/office/drawing/2014/main" id="{D9019E7E-D7CC-0093-8B02-2278881D8E2C}"/>
              </a:ext>
            </a:extLst>
          </p:cNvPr>
          <p:cNvSpPr/>
          <p:nvPr/>
        </p:nvSpPr>
        <p:spPr>
          <a:xfrm>
            <a:off x="5212080" y="2624252"/>
            <a:ext cx="548640" cy="228600"/>
          </a:xfrm>
          <a:prstGeom prst="rect">
            <a:avLst/>
          </a:prstGeom>
          <a:noFill/>
          <a:ln/>
        </p:spPr>
        <p:txBody>
          <a:bodyPr wrap="square" rtlCol="0" anchor="ctr"/>
          <a:lstStyle/>
          <a:p>
            <a:pPr marL="0" indent="0" algn="ctr">
              <a:buNone/>
            </a:pPr>
            <a:r>
              <a:rPr lang="en-US" sz="1000" b="1" dirty="0">
                <a:solidFill>
                  <a:srgbClr val="FFFFFF"/>
                </a:solidFill>
                <a:latin typeface="Georgia" pitchFamily="34" charset="0"/>
                <a:ea typeface="Georgia" pitchFamily="34" charset="-122"/>
                <a:cs typeface="Georgia" pitchFamily="34" charset="-120"/>
              </a:rPr>
              <a:t>NFR1</a:t>
            </a:r>
            <a:endParaRPr lang="en-US" sz="1000" dirty="0"/>
          </a:p>
        </p:txBody>
      </p:sp>
      <p:sp>
        <p:nvSpPr>
          <p:cNvPr id="112" name="Text 57">
            <a:extLst>
              <a:ext uri="{FF2B5EF4-FFF2-40B4-BE49-F238E27FC236}">
                <a16:creationId xmlns:a16="http://schemas.microsoft.com/office/drawing/2014/main" id="{ADC07BF3-2AF6-F18D-3553-3B5D20457BF8}"/>
              </a:ext>
            </a:extLst>
          </p:cNvPr>
          <p:cNvSpPr/>
          <p:nvPr/>
        </p:nvSpPr>
        <p:spPr>
          <a:xfrm>
            <a:off x="5852160" y="2532812"/>
            <a:ext cx="3566160" cy="274320"/>
          </a:xfrm>
          <a:prstGeom prst="rect">
            <a:avLst/>
          </a:prstGeom>
          <a:noFill/>
          <a:ln/>
        </p:spPr>
        <p:txBody>
          <a:bodyPr wrap="square" rtlCol="0" anchor="ctr"/>
          <a:lstStyle/>
          <a:p>
            <a:pPr marL="0" indent="0" algn="l">
              <a:buNone/>
            </a:pPr>
            <a:r>
              <a:rPr lang="en-US" sz="1200" b="1" dirty="0">
                <a:solidFill>
                  <a:srgbClr val="3A3A3A"/>
                </a:solidFill>
                <a:latin typeface="Georgia" pitchFamily="34" charset="0"/>
                <a:ea typeface="Georgia" pitchFamily="34" charset="-122"/>
                <a:cs typeface="Georgia" pitchFamily="34" charset="-120"/>
              </a:rPr>
              <a:t>Performance</a:t>
            </a:r>
            <a:endParaRPr lang="en-US" sz="1200" dirty="0"/>
          </a:p>
        </p:txBody>
      </p:sp>
      <p:sp>
        <p:nvSpPr>
          <p:cNvPr id="114" name="Text 58">
            <a:extLst>
              <a:ext uri="{FF2B5EF4-FFF2-40B4-BE49-F238E27FC236}">
                <a16:creationId xmlns:a16="http://schemas.microsoft.com/office/drawing/2014/main" id="{D995E58D-902D-34DE-FE7C-BFECFEE263A8}"/>
              </a:ext>
            </a:extLst>
          </p:cNvPr>
          <p:cNvSpPr/>
          <p:nvPr/>
        </p:nvSpPr>
        <p:spPr>
          <a:xfrm>
            <a:off x="5852160" y="2755392"/>
            <a:ext cx="4287520" cy="155372"/>
          </a:xfrm>
          <a:prstGeom prst="rect">
            <a:avLst/>
          </a:prstGeom>
          <a:noFill/>
          <a:ln/>
        </p:spPr>
        <p:txBody>
          <a:bodyPr wrap="square" rtlCol="0" anchor="t"/>
          <a:lstStyle/>
          <a:p>
            <a:pPr marL="0" indent="0" algn="l">
              <a:lnSpc>
                <a:spcPct val="110000"/>
              </a:lnSpc>
              <a:buNone/>
            </a:pPr>
            <a:r>
              <a:rPr lang="en-US" sz="1050" dirty="0">
                <a:solidFill>
                  <a:srgbClr val="555555"/>
                </a:solidFill>
                <a:latin typeface="Georgia" pitchFamily="34" charset="0"/>
                <a:ea typeface="Georgia" pitchFamily="34" charset="-122"/>
                <a:cs typeface="Georgia" pitchFamily="34" charset="-120"/>
              </a:rPr>
              <a:t>Forecast generation should complete within reasonable time.</a:t>
            </a:r>
            <a:endParaRPr lang="en-US" sz="1050" dirty="0"/>
          </a:p>
        </p:txBody>
      </p:sp>
      <p:sp>
        <p:nvSpPr>
          <p:cNvPr id="116" name="Shape 59">
            <a:extLst>
              <a:ext uri="{FF2B5EF4-FFF2-40B4-BE49-F238E27FC236}">
                <a16:creationId xmlns:a16="http://schemas.microsoft.com/office/drawing/2014/main" id="{3546BC60-DEBB-3B42-F859-5F793D0C6CF0}"/>
              </a:ext>
            </a:extLst>
          </p:cNvPr>
          <p:cNvSpPr/>
          <p:nvPr/>
        </p:nvSpPr>
        <p:spPr>
          <a:xfrm>
            <a:off x="5120640" y="3035732"/>
            <a:ext cx="4389120" cy="438912"/>
          </a:xfrm>
          <a:prstGeom prst="rect">
            <a:avLst/>
          </a:prstGeom>
          <a:solidFill>
            <a:srgbClr val="FFFFFF"/>
          </a:solidFill>
          <a:ln w="6350">
            <a:solidFill>
              <a:srgbClr val="D9D9D9"/>
            </a:solidFill>
            <a:prstDash val="solid"/>
          </a:ln>
          <a:effectLst>
            <a:outerShdw blurRad="38100" dist="25400" dir="5400000" algn="bl" rotWithShape="0">
              <a:srgbClr val="999999">
                <a:alpha val="15000"/>
              </a:srgbClr>
            </a:outerShdw>
          </a:effectLst>
        </p:spPr>
      </p:sp>
      <p:sp>
        <p:nvSpPr>
          <p:cNvPr id="118" name="Shape 60">
            <a:extLst>
              <a:ext uri="{FF2B5EF4-FFF2-40B4-BE49-F238E27FC236}">
                <a16:creationId xmlns:a16="http://schemas.microsoft.com/office/drawing/2014/main" id="{747578C0-A706-A67D-C26F-5F9B57AA3775}"/>
              </a:ext>
            </a:extLst>
          </p:cNvPr>
          <p:cNvSpPr/>
          <p:nvPr/>
        </p:nvSpPr>
        <p:spPr>
          <a:xfrm>
            <a:off x="5212080" y="3127172"/>
            <a:ext cx="548640" cy="228600"/>
          </a:xfrm>
          <a:prstGeom prst="rect">
            <a:avLst/>
          </a:prstGeom>
          <a:solidFill>
            <a:srgbClr val="2E3B7D"/>
          </a:solidFill>
          <a:ln/>
        </p:spPr>
      </p:sp>
      <p:sp>
        <p:nvSpPr>
          <p:cNvPr id="120" name="Text 61">
            <a:extLst>
              <a:ext uri="{FF2B5EF4-FFF2-40B4-BE49-F238E27FC236}">
                <a16:creationId xmlns:a16="http://schemas.microsoft.com/office/drawing/2014/main" id="{2375F9E0-B773-49BA-4037-72BD9B88D995}"/>
              </a:ext>
            </a:extLst>
          </p:cNvPr>
          <p:cNvSpPr/>
          <p:nvPr/>
        </p:nvSpPr>
        <p:spPr>
          <a:xfrm>
            <a:off x="5166360" y="3127172"/>
            <a:ext cx="640080" cy="228600"/>
          </a:xfrm>
          <a:prstGeom prst="rect">
            <a:avLst/>
          </a:prstGeom>
          <a:noFill/>
          <a:ln/>
        </p:spPr>
        <p:txBody>
          <a:bodyPr wrap="square" rtlCol="0" anchor="ctr"/>
          <a:lstStyle/>
          <a:p>
            <a:pPr marL="0" indent="0" algn="ctr">
              <a:buNone/>
            </a:pPr>
            <a:r>
              <a:rPr lang="en-US" sz="1000" b="1" dirty="0">
                <a:solidFill>
                  <a:srgbClr val="FFFFFF"/>
                </a:solidFill>
                <a:latin typeface="Georgia" pitchFamily="34" charset="0"/>
                <a:ea typeface="Georgia" pitchFamily="34" charset="-122"/>
                <a:cs typeface="Georgia" pitchFamily="34" charset="-120"/>
              </a:rPr>
              <a:t>NFR2</a:t>
            </a:r>
            <a:endParaRPr lang="en-US" sz="1000" dirty="0"/>
          </a:p>
        </p:txBody>
      </p:sp>
      <p:sp>
        <p:nvSpPr>
          <p:cNvPr id="122" name="Text 62">
            <a:extLst>
              <a:ext uri="{FF2B5EF4-FFF2-40B4-BE49-F238E27FC236}">
                <a16:creationId xmlns:a16="http://schemas.microsoft.com/office/drawing/2014/main" id="{122230FA-295F-BD14-78C0-4C8C28BEC5D8}"/>
              </a:ext>
            </a:extLst>
          </p:cNvPr>
          <p:cNvSpPr/>
          <p:nvPr/>
        </p:nvSpPr>
        <p:spPr>
          <a:xfrm>
            <a:off x="5852160" y="3035732"/>
            <a:ext cx="3566160" cy="274320"/>
          </a:xfrm>
          <a:prstGeom prst="rect">
            <a:avLst/>
          </a:prstGeom>
          <a:noFill/>
          <a:ln/>
        </p:spPr>
        <p:txBody>
          <a:bodyPr wrap="square" rtlCol="0" anchor="ctr"/>
          <a:lstStyle/>
          <a:p>
            <a:pPr marL="0" indent="0" algn="l">
              <a:buNone/>
            </a:pPr>
            <a:r>
              <a:rPr lang="en-US" sz="1200" b="1" dirty="0">
                <a:solidFill>
                  <a:srgbClr val="3A3A3A"/>
                </a:solidFill>
                <a:latin typeface="Georgia" pitchFamily="34" charset="0"/>
                <a:ea typeface="Georgia" pitchFamily="34" charset="-122"/>
                <a:cs typeface="Georgia" pitchFamily="34" charset="-120"/>
              </a:rPr>
              <a:t>Usability</a:t>
            </a:r>
            <a:endParaRPr lang="en-US" sz="1200" dirty="0"/>
          </a:p>
        </p:txBody>
      </p:sp>
      <p:sp>
        <p:nvSpPr>
          <p:cNvPr id="124" name="Text 63">
            <a:extLst>
              <a:ext uri="{FF2B5EF4-FFF2-40B4-BE49-F238E27FC236}">
                <a16:creationId xmlns:a16="http://schemas.microsoft.com/office/drawing/2014/main" id="{A2FFD03B-CCFC-61D3-70A0-6062742BA650}"/>
              </a:ext>
            </a:extLst>
          </p:cNvPr>
          <p:cNvSpPr/>
          <p:nvPr/>
        </p:nvSpPr>
        <p:spPr>
          <a:xfrm>
            <a:off x="5836920" y="3252254"/>
            <a:ext cx="3703320" cy="201092"/>
          </a:xfrm>
          <a:prstGeom prst="rect">
            <a:avLst/>
          </a:prstGeom>
          <a:noFill/>
          <a:ln/>
        </p:spPr>
        <p:txBody>
          <a:bodyPr wrap="square" rtlCol="0" anchor="t"/>
          <a:lstStyle/>
          <a:p>
            <a:pPr marL="0" indent="0" algn="l">
              <a:lnSpc>
                <a:spcPct val="110000"/>
              </a:lnSpc>
              <a:buNone/>
            </a:pPr>
            <a:r>
              <a:rPr lang="en-US" sz="1050" dirty="0">
                <a:solidFill>
                  <a:srgbClr val="555555"/>
                </a:solidFill>
                <a:latin typeface="Georgia" pitchFamily="34" charset="0"/>
                <a:ea typeface="Georgia" pitchFamily="34" charset="-122"/>
                <a:cs typeface="Georgia" pitchFamily="34" charset="-120"/>
              </a:rPr>
              <a:t>Simple and easy to use for non-technical business owners.</a:t>
            </a:r>
            <a:endParaRPr lang="en-US" sz="1050" dirty="0"/>
          </a:p>
        </p:txBody>
      </p:sp>
      <p:sp>
        <p:nvSpPr>
          <p:cNvPr id="126" name="Shape 64">
            <a:extLst>
              <a:ext uri="{FF2B5EF4-FFF2-40B4-BE49-F238E27FC236}">
                <a16:creationId xmlns:a16="http://schemas.microsoft.com/office/drawing/2014/main" id="{FA9BB51D-33F8-4E77-050D-F2E0558B0CA0}"/>
              </a:ext>
            </a:extLst>
          </p:cNvPr>
          <p:cNvSpPr/>
          <p:nvPr/>
        </p:nvSpPr>
        <p:spPr>
          <a:xfrm>
            <a:off x="5120640" y="3538652"/>
            <a:ext cx="4389120" cy="438912"/>
          </a:xfrm>
          <a:prstGeom prst="rect">
            <a:avLst/>
          </a:prstGeom>
          <a:solidFill>
            <a:srgbClr val="FFFFFF"/>
          </a:solidFill>
          <a:ln w="6350">
            <a:solidFill>
              <a:srgbClr val="D9D9D9"/>
            </a:solidFill>
            <a:prstDash val="solid"/>
          </a:ln>
          <a:effectLst>
            <a:outerShdw blurRad="38100" dist="25400" dir="5400000" algn="bl" rotWithShape="0">
              <a:srgbClr val="999999">
                <a:alpha val="15000"/>
              </a:srgbClr>
            </a:outerShdw>
          </a:effectLst>
        </p:spPr>
      </p:sp>
      <p:sp>
        <p:nvSpPr>
          <p:cNvPr id="128" name="Shape 65">
            <a:extLst>
              <a:ext uri="{FF2B5EF4-FFF2-40B4-BE49-F238E27FC236}">
                <a16:creationId xmlns:a16="http://schemas.microsoft.com/office/drawing/2014/main" id="{1B2E1C56-085B-91E4-E32D-33FEE04787B7}"/>
              </a:ext>
            </a:extLst>
          </p:cNvPr>
          <p:cNvSpPr/>
          <p:nvPr/>
        </p:nvSpPr>
        <p:spPr>
          <a:xfrm>
            <a:off x="5212080" y="3630092"/>
            <a:ext cx="548640" cy="228600"/>
          </a:xfrm>
          <a:prstGeom prst="rect">
            <a:avLst/>
          </a:prstGeom>
          <a:solidFill>
            <a:srgbClr val="2E3B7D"/>
          </a:solidFill>
          <a:ln/>
        </p:spPr>
      </p:sp>
      <p:sp>
        <p:nvSpPr>
          <p:cNvPr id="130" name="Text 66">
            <a:extLst>
              <a:ext uri="{FF2B5EF4-FFF2-40B4-BE49-F238E27FC236}">
                <a16:creationId xmlns:a16="http://schemas.microsoft.com/office/drawing/2014/main" id="{E906BB4A-0744-3666-0F2B-4D16A20E2D93}"/>
              </a:ext>
            </a:extLst>
          </p:cNvPr>
          <p:cNvSpPr/>
          <p:nvPr/>
        </p:nvSpPr>
        <p:spPr>
          <a:xfrm>
            <a:off x="5105400" y="3658202"/>
            <a:ext cx="762000" cy="193721"/>
          </a:xfrm>
          <a:prstGeom prst="rect">
            <a:avLst/>
          </a:prstGeom>
          <a:noFill/>
          <a:ln/>
        </p:spPr>
        <p:txBody>
          <a:bodyPr wrap="square" rtlCol="0" anchor="ctr"/>
          <a:lstStyle/>
          <a:p>
            <a:pPr marL="0" indent="0" algn="ctr">
              <a:buNone/>
            </a:pPr>
            <a:r>
              <a:rPr lang="en-US" sz="1000" b="1" dirty="0">
                <a:solidFill>
                  <a:srgbClr val="FFFFFF"/>
                </a:solidFill>
                <a:latin typeface="Georgia" pitchFamily="34" charset="0"/>
                <a:ea typeface="Georgia" pitchFamily="34" charset="-122"/>
                <a:cs typeface="Georgia" pitchFamily="34" charset="-120"/>
              </a:rPr>
              <a:t>NFR3</a:t>
            </a:r>
            <a:endParaRPr lang="en-US" sz="1000" dirty="0"/>
          </a:p>
        </p:txBody>
      </p:sp>
      <p:sp>
        <p:nvSpPr>
          <p:cNvPr id="132" name="Text 67">
            <a:extLst>
              <a:ext uri="{FF2B5EF4-FFF2-40B4-BE49-F238E27FC236}">
                <a16:creationId xmlns:a16="http://schemas.microsoft.com/office/drawing/2014/main" id="{8ACABBFA-DC49-43E4-EC19-6BE217F90935}"/>
              </a:ext>
            </a:extLst>
          </p:cNvPr>
          <p:cNvSpPr/>
          <p:nvPr/>
        </p:nvSpPr>
        <p:spPr>
          <a:xfrm>
            <a:off x="5852160" y="3538652"/>
            <a:ext cx="3566160" cy="274320"/>
          </a:xfrm>
          <a:prstGeom prst="rect">
            <a:avLst/>
          </a:prstGeom>
          <a:noFill/>
          <a:ln/>
        </p:spPr>
        <p:txBody>
          <a:bodyPr wrap="square" rtlCol="0" anchor="ctr"/>
          <a:lstStyle/>
          <a:p>
            <a:pPr marL="0" indent="0" algn="l">
              <a:buNone/>
            </a:pPr>
            <a:r>
              <a:rPr lang="en-US" sz="1200" b="1" dirty="0">
                <a:solidFill>
                  <a:srgbClr val="3A3A3A"/>
                </a:solidFill>
                <a:latin typeface="Georgia" pitchFamily="34" charset="0"/>
                <a:ea typeface="Georgia" pitchFamily="34" charset="-122"/>
                <a:cs typeface="Georgia" pitchFamily="34" charset="-120"/>
              </a:rPr>
              <a:t>Scalability</a:t>
            </a:r>
            <a:endParaRPr lang="en-US" sz="1200" dirty="0"/>
          </a:p>
        </p:txBody>
      </p:sp>
      <p:sp>
        <p:nvSpPr>
          <p:cNvPr id="134" name="Text 68">
            <a:extLst>
              <a:ext uri="{FF2B5EF4-FFF2-40B4-BE49-F238E27FC236}">
                <a16:creationId xmlns:a16="http://schemas.microsoft.com/office/drawing/2014/main" id="{B5C7A2AA-50D8-00D9-C47E-4DA921E09B03}"/>
              </a:ext>
            </a:extLst>
          </p:cNvPr>
          <p:cNvSpPr/>
          <p:nvPr/>
        </p:nvSpPr>
        <p:spPr>
          <a:xfrm>
            <a:off x="5852159" y="3752012"/>
            <a:ext cx="4179863" cy="45719"/>
          </a:xfrm>
          <a:prstGeom prst="rect">
            <a:avLst/>
          </a:prstGeom>
          <a:noFill/>
          <a:ln/>
        </p:spPr>
        <p:txBody>
          <a:bodyPr wrap="square" rtlCol="0" anchor="t"/>
          <a:lstStyle/>
          <a:p>
            <a:pPr marL="0" indent="0" algn="l">
              <a:lnSpc>
                <a:spcPct val="110000"/>
              </a:lnSpc>
              <a:buNone/>
            </a:pPr>
            <a:r>
              <a:rPr lang="en-US" sz="1050" dirty="0">
                <a:solidFill>
                  <a:srgbClr val="555555"/>
                </a:solidFill>
                <a:latin typeface="Georgia" pitchFamily="34" charset="0"/>
                <a:ea typeface="Georgia" pitchFamily="34" charset="-122"/>
                <a:cs typeface="Georgia" pitchFamily="34" charset="-120"/>
              </a:rPr>
              <a:t>Support multiple food items for a single business effortlessly.</a:t>
            </a:r>
            <a:endParaRPr lang="en-US" sz="1050" dirty="0"/>
          </a:p>
        </p:txBody>
      </p:sp>
      <p:sp>
        <p:nvSpPr>
          <p:cNvPr id="136" name="Shape 69">
            <a:extLst>
              <a:ext uri="{FF2B5EF4-FFF2-40B4-BE49-F238E27FC236}">
                <a16:creationId xmlns:a16="http://schemas.microsoft.com/office/drawing/2014/main" id="{BC2AB003-A41D-A476-BDFF-B66167E86A3C}"/>
              </a:ext>
            </a:extLst>
          </p:cNvPr>
          <p:cNvSpPr/>
          <p:nvPr/>
        </p:nvSpPr>
        <p:spPr>
          <a:xfrm>
            <a:off x="5120640" y="4041572"/>
            <a:ext cx="4389120" cy="438912"/>
          </a:xfrm>
          <a:prstGeom prst="rect">
            <a:avLst/>
          </a:prstGeom>
          <a:solidFill>
            <a:srgbClr val="FFFFFF"/>
          </a:solidFill>
          <a:ln w="6350">
            <a:solidFill>
              <a:srgbClr val="D9D9D9"/>
            </a:solidFill>
            <a:prstDash val="solid"/>
          </a:ln>
          <a:effectLst>
            <a:outerShdw blurRad="38100" dist="25400" dir="5400000" algn="bl" rotWithShape="0">
              <a:srgbClr val="999999">
                <a:alpha val="15000"/>
              </a:srgbClr>
            </a:outerShdw>
          </a:effectLst>
        </p:spPr>
      </p:sp>
      <p:sp>
        <p:nvSpPr>
          <p:cNvPr id="138" name="Shape 70">
            <a:extLst>
              <a:ext uri="{FF2B5EF4-FFF2-40B4-BE49-F238E27FC236}">
                <a16:creationId xmlns:a16="http://schemas.microsoft.com/office/drawing/2014/main" id="{D72C4103-578F-767F-D952-3475283AF8F9}"/>
              </a:ext>
            </a:extLst>
          </p:cNvPr>
          <p:cNvSpPr/>
          <p:nvPr/>
        </p:nvSpPr>
        <p:spPr>
          <a:xfrm>
            <a:off x="5212080" y="4133012"/>
            <a:ext cx="548640" cy="228600"/>
          </a:xfrm>
          <a:prstGeom prst="rect">
            <a:avLst/>
          </a:prstGeom>
          <a:solidFill>
            <a:srgbClr val="2E3B7D"/>
          </a:solidFill>
          <a:ln/>
        </p:spPr>
        <p:txBody>
          <a:bodyPr/>
          <a:lstStyle/>
          <a:p>
            <a:endParaRPr lang="en-IN"/>
          </a:p>
        </p:txBody>
      </p:sp>
      <p:sp>
        <p:nvSpPr>
          <p:cNvPr id="140" name="Text 71">
            <a:extLst>
              <a:ext uri="{FF2B5EF4-FFF2-40B4-BE49-F238E27FC236}">
                <a16:creationId xmlns:a16="http://schemas.microsoft.com/office/drawing/2014/main" id="{76B0D111-DD3A-41D2-5DA6-848A014DD1D7}"/>
              </a:ext>
            </a:extLst>
          </p:cNvPr>
          <p:cNvSpPr/>
          <p:nvPr/>
        </p:nvSpPr>
        <p:spPr>
          <a:xfrm>
            <a:off x="5212080" y="4133012"/>
            <a:ext cx="640080" cy="228600"/>
          </a:xfrm>
          <a:prstGeom prst="rect">
            <a:avLst/>
          </a:prstGeom>
          <a:noFill/>
          <a:ln/>
        </p:spPr>
        <p:txBody>
          <a:bodyPr wrap="square" rtlCol="0" anchor="ctr"/>
          <a:lstStyle/>
          <a:p>
            <a:pPr marL="0" indent="0" algn="ctr">
              <a:buNone/>
            </a:pPr>
            <a:r>
              <a:rPr lang="en-US" sz="1000" b="1" dirty="0">
                <a:solidFill>
                  <a:srgbClr val="FFFFFF"/>
                </a:solidFill>
                <a:latin typeface="Georgia" pitchFamily="34" charset="0"/>
                <a:ea typeface="Georgia" pitchFamily="34" charset="-122"/>
                <a:cs typeface="Georgia" pitchFamily="34" charset="-120"/>
              </a:rPr>
              <a:t>NFR4</a:t>
            </a:r>
            <a:endParaRPr lang="en-US" sz="1000" dirty="0"/>
          </a:p>
        </p:txBody>
      </p:sp>
      <p:sp>
        <p:nvSpPr>
          <p:cNvPr id="142" name="Text 72">
            <a:extLst>
              <a:ext uri="{FF2B5EF4-FFF2-40B4-BE49-F238E27FC236}">
                <a16:creationId xmlns:a16="http://schemas.microsoft.com/office/drawing/2014/main" id="{CC01B93A-3FEA-29CD-8451-2E87A752AA58}"/>
              </a:ext>
            </a:extLst>
          </p:cNvPr>
          <p:cNvSpPr/>
          <p:nvPr/>
        </p:nvSpPr>
        <p:spPr>
          <a:xfrm>
            <a:off x="5852160" y="4041572"/>
            <a:ext cx="3566160" cy="274320"/>
          </a:xfrm>
          <a:prstGeom prst="rect">
            <a:avLst/>
          </a:prstGeom>
          <a:noFill/>
          <a:ln/>
        </p:spPr>
        <p:txBody>
          <a:bodyPr wrap="square" rtlCol="0" anchor="ctr"/>
          <a:lstStyle/>
          <a:p>
            <a:pPr marL="0" indent="0" algn="l">
              <a:buNone/>
            </a:pPr>
            <a:r>
              <a:rPr lang="en-US" sz="1200" b="1" dirty="0">
                <a:solidFill>
                  <a:srgbClr val="3A3A3A"/>
                </a:solidFill>
                <a:latin typeface="Georgia" pitchFamily="34" charset="0"/>
                <a:ea typeface="Georgia" pitchFamily="34" charset="-122"/>
                <a:cs typeface="Georgia" pitchFamily="34" charset="-120"/>
              </a:rPr>
              <a:t>Reliability</a:t>
            </a:r>
            <a:endParaRPr lang="en-US" sz="1200" dirty="0"/>
          </a:p>
        </p:txBody>
      </p:sp>
      <p:sp>
        <p:nvSpPr>
          <p:cNvPr id="144" name="Text 73">
            <a:extLst>
              <a:ext uri="{FF2B5EF4-FFF2-40B4-BE49-F238E27FC236}">
                <a16:creationId xmlns:a16="http://schemas.microsoft.com/office/drawing/2014/main" id="{BCF2262D-3E75-55E8-F129-A66C47F94C29}"/>
              </a:ext>
            </a:extLst>
          </p:cNvPr>
          <p:cNvSpPr/>
          <p:nvPr/>
        </p:nvSpPr>
        <p:spPr>
          <a:xfrm>
            <a:off x="5852160" y="4254932"/>
            <a:ext cx="3566160" cy="164592"/>
          </a:xfrm>
          <a:prstGeom prst="rect">
            <a:avLst/>
          </a:prstGeom>
          <a:noFill/>
          <a:ln/>
        </p:spPr>
        <p:txBody>
          <a:bodyPr wrap="square" rtlCol="0" anchor="t"/>
          <a:lstStyle/>
          <a:p>
            <a:pPr marL="0" indent="0" algn="l">
              <a:lnSpc>
                <a:spcPct val="110000"/>
              </a:lnSpc>
              <a:buNone/>
            </a:pPr>
            <a:r>
              <a:rPr lang="en-US" sz="1050" dirty="0">
                <a:solidFill>
                  <a:srgbClr val="555555"/>
                </a:solidFill>
                <a:latin typeface="Georgia" pitchFamily="34" charset="0"/>
                <a:ea typeface="Georgia" pitchFamily="34" charset="-122"/>
                <a:cs typeface="Georgia" pitchFamily="34" charset="-120"/>
              </a:rPr>
              <a:t>Provide consistent and accurate results for valid inputs.</a:t>
            </a:r>
            <a:endParaRPr lang="en-US" sz="1050" dirty="0"/>
          </a:p>
        </p:txBody>
      </p:sp>
      <p:sp>
        <p:nvSpPr>
          <p:cNvPr id="146" name="Shape 74">
            <a:extLst>
              <a:ext uri="{FF2B5EF4-FFF2-40B4-BE49-F238E27FC236}">
                <a16:creationId xmlns:a16="http://schemas.microsoft.com/office/drawing/2014/main" id="{B85DC027-D058-CF2F-FB33-B4B996E06525}"/>
              </a:ext>
            </a:extLst>
          </p:cNvPr>
          <p:cNvSpPr/>
          <p:nvPr/>
        </p:nvSpPr>
        <p:spPr>
          <a:xfrm>
            <a:off x="5120640" y="4544492"/>
            <a:ext cx="4389120" cy="438912"/>
          </a:xfrm>
          <a:prstGeom prst="rect">
            <a:avLst/>
          </a:prstGeom>
          <a:solidFill>
            <a:srgbClr val="FFFFFF"/>
          </a:solidFill>
          <a:ln w="6350">
            <a:solidFill>
              <a:srgbClr val="D9D9D9"/>
            </a:solidFill>
            <a:prstDash val="solid"/>
          </a:ln>
          <a:effectLst>
            <a:outerShdw blurRad="38100" dist="25400" dir="5400000" algn="bl" rotWithShape="0">
              <a:srgbClr val="999999">
                <a:alpha val="15000"/>
              </a:srgbClr>
            </a:outerShdw>
          </a:effectLst>
        </p:spPr>
      </p:sp>
      <p:sp>
        <p:nvSpPr>
          <p:cNvPr id="148" name="Shape 75">
            <a:extLst>
              <a:ext uri="{FF2B5EF4-FFF2-40B4-BE49-F238E27FC236}">
                <a16:creationId xmlns:a16="http://schemas.microsoft.com/office/drawing/2014/main" id="{1B3305C5-738E-B6E6-51AF-718FD234621C}"/>
              </a:ext>
            </a:extLst>
          </p:cNvPr>
          <p:cNvSpPr/>
          <p:nvPr/>
        </p:nvSpPr>
        <p:spPr>
          <a:xfrm>
            <a:off x="5212080" y="4635932"/>
            <a:ext cx="548640" cy="228600"/>
          </a:xfrm>
          <a:prstGeom prst="rect">
            <a:avLst/>
          </a:prstGeom>
          <a:solidFill>
            <a:srgbClr val="2E3B7D"/>
          </a:solidFill>
          <a:ln/>
        </p:spPr>
      </p:sp>
      <p:sp>
        <p:nvSpPr>
          <p:cNvPr id="150" name="Text 76">
            <a:extLst>
              <a:ext uri="{FF2B5EF4-FFF2-40B4-BE49-F238E27FC236}">
                <a16:creationId xmlns:a16="http://schemas.microsoft.com/office/drawing/2014/main" id="{BC7A881A-77B1-3485-8822-3EC2A0FEEAE8}"/>
              </a:ext>
            </a:extLst>
          </p:cNvPr>
          <p:cNvSpPr/>
          <p:nvPr/>
        </p:nvSpPr>
        <p:spPr>
          <a:xfrm>
            <a:off x="5212080" y="4635932"/>
            <a:ext cx="640080" cy="228600"/>
          </a:xfrm>
          <a:prstGeom prst="rect">
            <a:avLst/>
          </a:prstGeom>
          <a:noFill/>
          <a:ln/>
        </p:spPr>
        <p:txBody>
          <a:bodyPr wrap="square" rtlCol="0" anchor="ctr"/>
          <a:lstStyle/>
          <a:p>
            <a:pPr marL="0" indent="0" algn="ctr">
              <a:buNone/>
            </a:pPr>
            <a:r>
              <a:rPr lang="en-US" sz="1000" b="1" dirty="0">
                <a:solidFill>
                  <a:srgbClr val="FFFFFF"/>
                </a:solidFill>
                <a:latin typeface="Georgia" pitchFamily="34" charset="0"/>
                <a:ea typeface="Georgia" pitchFamily="34" charset="-122"/>
                <a:cs typeface="Georgia" pitchFamily="34" charset="-120"/>
              </a:rPr>
              <a:t>NFR5</a:t>
            </a:r>
            <a:endParaRPr lang="en-US" sz="1000" dirty="0"/>
          </a:p>
        </p:txBody>
      </p:sp>
      <p:sp>
        <p:nvSpPr>
          <p:cNvPr id="152" name="Text 77">
            <a:extLst>
              <a:ext uri="{FF2B5EF4-FFF2-40B4-BE49-F238E27FC236}">
                <a16:creationId xmlns:a16="http://schemas.microsoft.com/office/drawing/2014/main" id="{953BB4DE-67F8-0AD0-4AE9-25161E43072A}"/>
              </a:ext>
            </a:extLst>
          </p:cNvPr>
          <p:cNvSpPr/>
          <p:nvPr/>
        </p:nvSpPr>
        <p:spPr>
          <a:xfrm>
            <a:off x="5852160" y="4544492"/>
            <a:ext cx="3566160" cy="274320"/>
          </a:xfrm>
          <a:prstGeom prst="rect">
            <a:avLst/>
          </a:prstGeom>
          <a:noFill/>
          <a:ln/>
        </p:spPr>
        <p:txBody>
          <a:bodyPr wrap="square" rtlCol="0" anchor="ctr"/>
          <a:lstStyle/>
          <a:p>
            <a:pPr marL="0" indent="0" algn="l">
              <a:buNone/>
            </a:pPr>
            <a:r>
              <a:rPr lang="en-US" sz="1200" b="1" dirty="0">
                <a:solidFill>
                  <a:srgbClr val="3A3A3A"/>
                </a:solidFill>
                <a:latin typeface="Georgia" pitchFamily="34" charset="0"/>
                <a:ea typeface="Georgia" pitchFamily="34" charset="-122"/>
                <a:cs typeface="Georgia" pitchFamily="34" charset="-120"/>
              </a:rPr>
              <a:t>Security</a:t>
            </a:r>
            <a:endParaRPr lang="en-US" sz="1200" dirty="0"/>
          </a:p>
        </p:txBody>
      </p:sp>
      <p:sp>
        <p:nvSpPr>
          <p:cNvPr id="154" name="Text 78">
            <a:extLst>
              <a:ext uri="{FF2B5EF4-FFF2-40B4-BE49-F238E27FC236}">
                <a16:creationId xmlns:a16="http://schemas.microsoft.com/office/drawing/2014/main" id="{B846C916-9CBB-BBE0-6F99-0D42B82AC35C}"/>
              </a:ext>
            </a:extLst>
          </p:cNvPr>
          <p:cNvSpPr/>
          <p:nvPr/>
        </p:nvSpPr>
        <p:spPr>
          <a:xfrm>
            <a:off x="5852160" y="4757852"/>
            <a:ext cx="3566160" cy="164592"/>
          </a:xfrm>
          <a:prstGeom prst="rect">
            <a:avLst/>
          </a:prstGeom>
          <a:noFill/>
          <a:ln/>
        </p:spPr>
        <p:txBody>
          <a:bodyPr wrap="square" rtlCol="0" anchor="t"/>
          <a:lstStyle/>
          <a:p>
            <a:pPr marL="0" indent="0" algn="l">
              <a:lnSpc>
                <a:spcPct val="110000"/>
              </a:lnSpc>
              <a:buNone/>
            </a:pPr>
            <a:r>
              <a:rPr lang="en-US" sz="1050" dirty="0">
                <a:solidFill>
                  <a:srgbClr val="555555"/>
                </a:solidFill>
                <a:latin typeface="Georgia" pitchFamily="34" charset="0"/>
                <a:ea typeface="Georgia" pitchFamily="34" charset="-122"/>
                <a:cs typeface="Georgia" pitchFamily="34" charset="-120"/>
              </a:rPr>
              <a:t>Protect user authentication and sensitive business data.</a:t>
            </a:r>
            <a:endParaRPr lang="en-US" sz="1050" dirty="0"/>
          </a:p>
        </p:txBody>
      </p:sp>
      <p:sp>
        <p:nvSpPr>
          <p:cNvPr id="156" name="Shape 79">
            <a:extLst>
              <a:ext uri="{FF2B5EF4-FFF2-40B4-BE49-F238E27FC236}">
                <a16:creationId xmlns:a16="http://schemas.microsoft.com/office/drawing/2014/main" id="{F2CD5FB4-8044-9057-692E-974786FE989A}"/>
              </a:ext>
            </a:extLst>
          </p:cNvPr>
          <p:cNvSpPr/>
          <p:nvPr/>
        </p:nvSpPr>
        <p:spPr>
          <a:xfrm>
            <a:off x="5120640" y="5047412"/>
            <a:ext cx="4389120" cy="438912"/>
          </a:xfrm>
          <a:prstGeom prst="rect">
            <a:avLst/>
          </a:prstGeom>
          <a:solidFill>
            <a:srgbClr val="FFFFFF"/>
          </a:solidFill>
          <a:ln w="6350">
            <a:solidFill>
              <a:srgbClr val="D9D9D9"/>
            </a:solidFill>
            <a:prstDash val="solid"/>
          </a:ln>
          <a:effectLst>
            <a:outerShdw blurRad="38100" dist="25400" dir="5400000" algn="bl" rotWithShape="0">
              <a:srgbClr val="999999">
                <a:alpha val="15000"/>
              </a:srgbClr>
            </a:outerShdw>
          </a:effectLst>
        </p:spPr>
      </p:sp>
      <p:sp>
        <p:nvSpPr>
          <p:cNvPr id="158" name="Shape 80">
            <a:extLst>
              <a:ext uri="{FF2B5EF4-FFF2-40B4-BE49-F238E27FC236}">
                <a16:creationId xmlns:a16="http://schemas.microsoft.com/office/drawing/2014/main" id="{B4E25C88-B19E-98DB-4594-F5DDE61A68D1}"/>
              </a:ext>
            </a:extLst>
          </p:cNvPr>
          <p:cNvSpPr/>
          <p:nvPr/>
        </p:nvSpPr>
        <p:spPr>
          <a:xfrm>
            <a:off x="5212080" y="5138852"/>
            <a:ext cx="548640" cy="228600"/>
          </a:xfrm>
          <a:prstGeom prst="rect">
            <a:avLst/>
          </a:prstGeom>
          <a:solidFill>
            <a:srgbClr val="2E3B7D"/>
          </a:solidFill>
          <a:ln/>
        </p:spPr>
      </p:sp>
      <p:sp>
        <p:nvSpPr>
          <p:cNvPr id="160" name="Text 81">
            <a:extLst>
              <a:ext uri="{FF2B5EF4-FFF2-40B4-BE49-F238E27FC236}">
                <a16:creationId xmlns:a16="http://schemas.microsoft.com/office/drawing/2014/main" id="{E4094348-0FFB-FAB2-605B-1E01CD4C3272}"/>
              </a:ext>
            </a:extLst>
          </p:cNvPr>
          <p:cNvSpPr/>
          <p:nvPr/>
        </p:nvSpPr>
        <p:spPr>
          <a:xfrm>
            <a:off x="5212080" y="5138852"/>
            <a:ext cx="640080" cy="228600"/>
          </a:xfrm>
          <a:prstGeom prst="rect">
            <a:avLst/>
          </a:prstGeom>
          <a:noFill/>
          <a:ln/>
        </p:spPr>
        <p:txBody>
          <a:bodyPr wrap="square" rtlCol="0" anchor="ctr"/>
          <a:lstStyle/>
          <a:p>
            <a:pPr marL="0" indent="0" algn="ctr">
              <a:buNone/>
            </a:pPr>
            <a:r>
              <a:rPr lang="en-US" sz="1000" b="1" dirty="0">
                <a:solidFill>
                  <a:srgbClr val="FFFFFF"/>
                </a:solidFill>
                <a:latin typeface="Georgia" pitchFamily="34" charset="0"/>
                <a:ea typeface="Georgia" pitchFamily="34" charset="-122"/>
                <a:cs typeface="Georgia" pitchFamily="34" charset="-120"/>
              </a:rPr>
              <a:t>NFR6</a:t>
            </a:r>
            <a:endParaRPr lang="en-US" sz="1000" dirty="0"/>
          </a:p>
        </p:txBody>
      </p:sp>
      <p:sp>
        <p:nvSpPr>
          <p:cNvPr id="162" name="Text 82">
            <a:extLst>
              <a:ext uri="{FF2B5EF4-FFF2-40B4-BE49-F238E27FC236}">
                <a16:creationId xmlns:a16="http://schemas.microsoft.com/office/drawing/2014/main" id="{AAE7B613-0A95-BE25-06D0-322CE80BFC6B}"/>
              </a:ext>
            </a:extLst>
          </p:cNvPr>
          <p:cNvSpPr/>
          <p:nvPr/>
        </p:nvSpPr>
        <p:spPr>
          <a:xfrm>
            <a:off x="5852160" y="5047412"/>
            <a:ext cx="3566160" cy="274320"/>
          </a:xfrm>
          <a:prstGeom prst="rect">
            <a:avLst/>
          </a:prstGeom>
          <a:noFill/>
          <a:ln/>
        </p:spPr>
        <p:txBody>
          <a:bodyPr wrap="square" rtlCol="0" anchor="ctr"/>
          <a:lstStyle/>
          <a:p>
            <a:pPr marL="0" indent="0" algn="l">
              <a:buNone/>
            </a:pPr>
            <a:r>
              <a:rPr lang="en-US" sz="1200" b="1" dirty="0">
                <a:solidFill>
                  <a:srgbClr val="3A3A3A"/>
                </a:solidFill>
                <a:latin typeface="Georgia" pitchFamily="34" charset="0"/>
                <a:ea typeface="Georgia" pitchFamily="34" charset="-122"/>
                <a:cs typeface="Georgia" pitchFamily="34" charset="-120"/>
              </a:rPr>
              <a:t>Maintainability</a:t>
            </a:r>
            <a:endParaRPr lang="en-US" sz="1200" dirty="0"/>
          </a:p>
        </p:txBody>
      </p:sp>
      <p:sp>
        <p:nvSpPr>
          <p:cNvPr id="164" name="Text 83">
            <a:extLst>
              <a:ext uri="{FF2B5EF4-FFF2-40B4-BE49-F238E27FC236}">
                <a16:creationId xmlns:a16="http://schemas.microsoft.com/office/drawing/2014/main" id="{548C8939-9FAB-EEBA-F6DD-6DC3105B6875}"/>
              </a:ext>
            </a:extLst>
          </p:cNvPr>
          <p:cNvSpPr/>
          <p:nvPr/>
        </p:nvSpPr>
        <p:spPr>
          <a:xfrm>
            <a:off x="5852160" y="5260772"/>
            <a:ext cx="3566160" cy="164592"/>
          </a:xfrm>
          <a:prstGeom prst="rect">
            <a:avLst/>
          </a:prstGeom>
          <a:noFill/>
          <a:ln/>
        </p:spPr>
        <p:txBody>
          <a:bodyPr wrap="square" rtlCol="0" anchor="t"/>
          <a:lstStyle/>
          <a:p>
            <a:pPr marL="0" indent="0" algn="l">
              <a:lnSpc>
                <a:spcPct val="110000"/>
              </a:lnSpc>
              <a:buNone/>
            </a:pPr>
            <a:r>
              <a:rPr lang="en-US" sz="1050" dirty="0">
                <a:solidFill>
                  <a:srgbClr val="555555"/>
                </a:solidFill>
                <a:latin typeface="Georgia" pitchFamily="34" charset="0"/>
                <a:ea typeface="Georgia" pitchFamily="34" charset="-122"/>
                <a:cs typeface="Georgia" pitchFamily="34" charset="-120"/>
              </a:rPr>
              <a:t>Modular architecture separating ML, API, and UI layers.</a:t>
            </a:r>
            <a:endParaRPr lang="en-US" sz="1050" dirty="0"/>
          </a:p>
        </p:txBody>
      </p:sp>
      <p:sp>
        <p:nvSpPr>
          <p:cNvPr id="166" name="Shape 84">
            <a:extLst>
              <a:ext uri="{FF2B5EF4-FFF2-40B4-BE49-F238E27FC236}">
                <a16:creationId xmlns:a16="http://schemas.microsoft.com/office/drawing/2014/main" id="{CA071F71-8D0E-65FD-105F-4E9FD711F48C}"/>
              </a:ext>
            </a:extLst>
          </p:cNvPr>
          <p:cNvSpPr/>
          <p:nvPr/>
        </p:nvSpPr>
        <p:spPr>
          <a:xfrm>
            <a:off x="5120640" y="5550332"/>
            <a:ext cx="4389120" cy="438912"/>
          </a:xfrm>
          <a:prstGeom prst="rect">
            <a:avLst/>
          </a:prstGeom>
          <a:solidFill>
            <a:srgbClr val="FFFFFF"/>
          </a:solidFill>
          <a:ln w="6350">
            <a:solidFill>
              <a:srgbClr val="D9D9D9"/>
            </a:solidFill>
            <a:prstDash val="solid"/>
          </a:ln>
          <a:effectLst>
            <a:outerShdw blurRad="38100" dist="25400" dir="5400000" algn="bl" rotWithShape="0">
              <a:srgbClr val="999999">
                <a:alpha val="15000"/>
              </a:srgbClr>
            </a:outerShdw>
          </a:effectLst>
        </p:spPr>
      </p:sp>
      <p:sp>
        <p:nvSpPr>
          <p:cNvPr id="168" name="Shape 85">
            <a:extLst>
              <a:ext uri="{FF2B5EF4-FFF2-40B4-BE49-F238E27FC236}">
                <a16:creationId xmlns:a16="http://schemas.microsoft.com/office/drawing/2014/main" id="{21546ADB-7964-33D6-03D5-08C3F1DB5616}"/>
              </a:ext>
            </a:extLst>
          </p:cNvPr>
          <p:cNvSpPr/>
          <p:nvPr/>
        </p:nvSpPr>
        <p:spPr>
          <a:xfrm>
            <a:off x="5212080" y="5641772"/>
            <a:ext cx="548640" cy="228600"/>
          </a:xfrm>
          <a:prstGeom prst="rect">
            <a:avLst/>
          </a:prstGeom>
          <a:solidFill>
            <a:srgbClr val="2E3B7D"/>
          </a:solidFill>
          <a:ln/>
        </p:spPr>
      </p:sp>
      <p:sp>
        <p:nvSpPr>
          <p:cNvPr id="170" name="Text 86">
            <a:extLst>
              <a:ext uri="{FF2B5EF4-FFF2-40B4-BE49-F238E27FC236}">
                <a16:creationId xmlns:a16="http://schemas.microsoft.com/office/drawing/2014/main" id="{B7170946-ACF6-0020-CDB3-8917927E4E4C}"/>
              </a:ext>
            </a:extLst>
          </p:cNvPr>
          <p:cNvSpPr/>
          <p:nvPr/>
        </p:nvSpPr>
        <p:spPr>
          <a:xfrm>
            <a:off x="5212080" y="5641772"/>
            <a:ext cx="548640" cy="228600"/>
          </a:xfrm>
          <a:prstGeom prst="rect">
            <a:avLst/>
          </a:prstGeom>
          <a:noFill/>
          <a:ln/>
        </p:spPr>
        <p:txBody>
          <a:bodyPr wrap="square" rtlCol="0" anchor="ctr"/>
          <a:lstStyle/>
          <a:p>
            <a:pPr marL="0" indent="0" algn="ctr">
              <a:buNone/>
            </a:pPr>
            <a:r>
              <a:rPr lang="en-US" sz="1000" b="1" dirty="0">
                <a:solidFill>
                  <a:srgbClr val="FFFFFF"/>
                </a:solidFill>
                <a:latin typeface="Georgia" pitchFamily="34" charset="0"/>
                <a:ea typeface="Georgia" pitchFamily="34" charset="-122"/>
                <a:cs typeface="Georgia" pitchFamily="34" charset="-120"/>
              </a:rPr>
              <a:t>NFR7</a:t>
            </a:r>
            <a:endParaRPr lang="en-US" sz="1000" dirty="0"/>
          </a:p>
        </p:txBody>
      </p:sp>
      <p:sp>
        <p:nvSpPr>
          <p:cNvPr id="172" name="Text 87">
            <a:extLst>
              <a:ext uri="{FF2B5EF4-FFF2-40B4-BE49-F238E27FC236}">
                <a16:creationId xmlns:a16="http://schemas.microsoft.com/office/drawing/2014/main" id="{D80F53E1-1F1F-B6CD-7A91-7677E7D6F27D}"/>
              </a:ext>
            </a:extLst>
          </p:cNvPr>
          <p:cNvSpPr/>
          <p:nvPr/>
        </p:nvSpPr>
        <p:spPr>
          <a:xfrm>
            <a:off x="5852160" y="5550332"/>
            <a:ext cx="3566160" cy="274320"/>
          </a:xfrm>
          <a:prstGeom prst="rect">
            <a:avLst/>
          </a:prstGeom>
          <a:noFill/>
          <a:ln/>
        </p:spPr>
        <p:txBody>
          <a:bodyPr wrap="square" rtlCol="0" anchor="ctr"/>
          <a:lstStyle/>
          <a:p>
            <a:pPr marL="0" indent="0" algn="l">
              <a:buNone/>
            </a:pPr>
            <a:r>
              <a:rPr lang="en-US" sz="1200" b="1" dirty="0">
                <a:solidFill>
                  <a:srgbClr val="3A3A3A"/>
                </a:solidFill>
                <a:latin typeface="Georgia" pitchFamily="34" charset="0"/>
                <a:ea typeface="Georgia" pitchFamily="34" charset="-122"/>
                <a:cs typeface="Georgia" pitchFamily="34" charset="-120"/>
              </a:rPr>
              <a:t>Portability</a:t>
            </a:r>
            <a:endParaRPr lang="en-US" sz="1200" dirty="0"/>
          </a:p>
        </p:txBody>
      </p:sp>
      <p:sp>
        <p:nvSpPr>
          <p:cNvPr id="174" name="Text 88">
            <a:extLst>
              <a:ext uri="{FF2B5EF4-FFF2-40B4-BE49-F238E27FC236}">
                <a16:creationId xmlns:a16="http://schemas.microsoft.com/office/drawing/2014/main" id="{5FF84897-284B-6BA5-2711-E0E329FA5044}"/>
              </a:ext>
            </a:extLst>
          </p:cNvPr>
          <p:cNvSpPr/>
          <p:nvPr/>
        </p:nvSpPr>
        <p:spPr>
          <a:xfrm>
            <a:off x="5852160" y="5764964"/>
            <a:ext cx="3672840" cy="163320"/>
          </a:xfrm>
          <a:prstGeom prst="rect">
            <a:avLst/>
          </a:prstGeom>
          <a:noFill/>
          <a:ln/>
        </p:spPr>
        <p:txBody>
          <a:bodyPr wrap="square" rtlCol="0" anchor="t"/>
          <a:lstStyle/>
          <a:p>
            <a:pPr marL="0" indent="0" algn="l">
              <a:lnSpc>
                <a:spcPct val="110000"/>
              </a:lnSpc>
              <a:buNone/>
            </a:pPr>
            <a:r>
              <a:rPr lang="en-US" sz="1050" dirty="0">
                <a:solidFill>
                  <a:srgbClr val="555555"/>
                </a:solidFill>
                <a:latin typeface="Georgia" pitchFamily="34" charset="0"/>
                <a:ea typeface="Georgia" pitchFamily="34" charset="-122"/>
                <a:cs typeface="Georgia" pitchFamily="34" charset="-120"/>
              </a:rPr>
              <a:t>Support cross-platform deployment natively using Flutter.</a:t>
            </a:r>
            <a:endParaRPr lang="en-US" sz="1050" dirty="0"/>
          </a:p>
        </p:txBody>
      </p:sp>
    </p:spTree>
    <p:extLst>
      <p:ext uri="{BB962C8B-B14F-4D97-AF65-F5344CB8AC3E}">
        <p14:creationId xmlns:p14="http://schemas.microsoft.com/office/powerpoint/2010/main" val="282371555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7BD7FB-2B22-C9FA-FA11-E3687F4D17BA}"/>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6252E175-6CED-BC31-C596-1815A3067DA8}"/>
              </a:ext>
            </a:extLst>
          </p:cNvPr>
          <p:cNvPicPr>
            <a:picLocks noChangeAspect="1"/>
          </p:cNvPicPr>
          <p:nvPr/>
        </p:nvPicPr>
        <p:blipFill rotWithShape="1">
          <a:blip r:embed="rId2">
            <a:extLst>
              <a:ext uri="{28A0092B-C50C-407E-A947-70E740481C1C}">
                <a14:useLocalDpi xmlns:a14="http://schemas.microsoft.com/office/drawing/2010/main" val="0"/>
              </a:ext>
            </a:extLst>
          </a:blip>
          <a:srcRect l="48363" r="-1" b="45098"/>
          <a:stretch/>
        </p:blipFill>
        <p:spPr>
          <a:xfrm>
            <a:off x="0" y="6750969"/>
            <a:ext cx="9906000" cy="131162"/>
          </a:xfrm>
          <a:prstGeom prst="rect">
            <a:avLst/>
          </a:prstGeom>
        </p:spPr>
      </p:pic>
      <p:pic>
        <p:nvPicPr>
          <p:cNvPr id="6" name="Picture 5">
            <a:extLst>
              <a:ext uri="{FF2B5EF4-FFF2-40B4-BE49-F238E27FC236}">
                <a16:creationId xmlns:a16="http://schemas.microsoft.com/office/drawing/2014/main" id="{F58FA1E1-3FC5-2FD6-0AB3-B385EDC82F62}"/>
              </a:ext>
            </a:extLst>
          </p:cNvPr>
          <p:cNvPicPr>
            <a:picLocks noChangeAspect="1"/>
          </p:cNvPicPr>
          <p:nvPr/>
        </p:nvPicPr>
        <p:blipFill rotWithShape="1">
          <a:blip r:embed="rId3"/>
          <a:srcRect b="6633"/>
          <a:stretch/>
        </p:blipFill>
        <p:spPr>
          <a:xfrm>
            <a:off x="0" y="0"/>
            <a:ext cx="3927231" cy="939765"/>
          </a:xfrm>
          <a:prstGeom prst="rect">
            <a:avLst/>
          </a:prstGeom>
        </p:spPr>
      </p:pic>
      <p:pic>
        <p:nvPicPr>
          <p:cNvPr id="7" name="Picture 6">
            <a:extLst>
              <a:ext uri="{FF2B5EF4-FFF2-40B4-BE49-F238E27FC236}">
                <a16:creationId xmlns:a16="http://schemas.microsoft.com/office/drawing/2014/main" id="{AC721274-7357-D25E-82FD-677F69CBF064}"/>
              </a:ext>
            </a:extLst>
          </p:cNvPr>
          <p:cNvPicPr>
            <a:picLocks noChangeAspect="1"/>
          </p:cNvPicPr>
          <p:nvPr/>
        </p:nvPicPr>
        <p:blipFill rotWithShape="1">
          <a:blip r:embed="rId2">
            <a:extLst>
              <a:ext uri="{28A0092B-C50C-407E-A947-70E740481C1C}">
                <a14:useLocalDpi xmlns:a14="http://schemas.microsoft.com/office/drawing/2010/main" val="0"/>
              </a:ext>
            </a:extLst>
          </a:blip>
          <a:srcRect l="48363" r="-1" b="45098"/>
          <a:stretch/>
        </p:blipFill>
        <p:spPr>
          <a:xfrm>
            <a:off x="2637692" y="0"/>
            <a:ext cx="7268307" cy="525780"/>
          </a:xfrm>
          <a:prstGeom prst="rect">
            <a:avLst/>
          </a:prstGeom>
        </p:spPr>
      </p:pic>
      <p:sp>
        <p:nvSpPr>
          <p:cNvPr id="11" name="Rectangle 10">
            <a:extLst>
              <a:ext uri="{FF2B5EF4-FFF2-40B4-BE49-F238E27FC236}">
                <a16:creationId xmlns:a16="http://schemas.microsoft.com/office/drawing/2014/main" id="{7CA16063-0F93-ED14-DCEF-95480895A405}"/>
              </a:ext>
            </a:extLst>
          </p:cNvPr>
          <p:cNvSpPr/>
          <p:nvPr/>
        </p:nvSpPr>
        <p:spPr>
          <a:xfrm>
            <a:off x="1652953" y="107031"/>
            <a:ext cx="8253045" cy="336631"/>
          </a:xfrm>
          <a:prstGeom prst="rect">
            <a:avLst/>
          </a:prstGeom>
        </p:spPr>
        <p:txBody>
          <a:bodyPr wrap="square">
            <a:spAutoFit/>
          </a:bodyPr>
          <a:lstStyle/>
          <a:p>
            <a:pPr algn="ctr">
              <a:lnSpc>
                <a:spcPct val="107000"/>
              </a:lnSpc>
              <a:spcAft>
                <a:spcPts val="800"/>
              </a:spcAft>
            </a:pPr>
            <a:r>
              <a:rPr lang="en-IN" sz="1600" b="1" dirty="0">
                <a:solidFill>
                  <a:schemeClr val="bg1"/>
                </a:solidFill>
                <a:latin typeface="Cambria" panose="02040503050406030204" pitchFamily="18" charset="0"/>
              </a:rPr>
              <a:t>MUKESH PATEL SCHOOL OF TECHNOLOGY MANAGEMENT &amp; ENGINEERING, SHIRPUR</a:t>
            </a:r>
            <a:endParaRPr lang="en-US" sz="1600" b="1" dirty="0">
              <a:solidFill>
                <a:schemeClr val="bg1"/>
              </a:solidFill>
              <a:latin typeface="Cambria" panose="02040503050406030204" pitchFamily="18" charset="0"/>
            </a:endParaRPr>
          </a:p>
        </p:txBody>
      </p:sp>
      <p:sp>
        <p:nvSpPr>
          <p:cNvPr id="3" name="Slide Number Placeholder 2">
            <a:extLst>
              <a:ext uri="{FF2B5EF4-FFF2-40B4-BE49-F238E27FC236}">
                <a16:creationId xmlns:a16="http://schemas.microsoft.com/office/drawing/2014/main" id="{B002F201-32C0-DF53-8399-46A10BDF8CCA}"/>
              </a:ext>
            </a:extLst>
          </p:cNvPr>
          <p:cNvSpPr>
            <a:spLocks noGrp="1"/>
          </p:cNvSpPr>
          <p:nvPr>
            <p:ph type="sldNum" sz="quarter" idx="12"/>
          </p:nvPr>
        </p:nvSpPr>
        <p:spPr/>
        <p:txBody>
          <a:bodyPr/>
          <a:lstStyle/>
          <a:p>
            <a:fld id="{9DC013F7-6D70-4318-BA41-212A9B59413B}" type="slidenum">
              <a:rPr lang="en-US" smtClean="0"/>
              <a:t>9</a:t>
            </a:fld>
            <a:endParaRPr lang="en-US" dirty="0"/>
          </a:p>
        </p:txBody>
      </p:sp>
      <p:sp>
        <p:nvSpPr>
          <p:cNvPr id="2" name="AutoShape 4" descr="Neural Networks Hyperparameter tuning in tensorflow 2.0 | by SiDdhartha |  ML Book | Medium">
            <a:extLst>
              <a:ext uri="{FF2B5EF4-FFF2-40B4-BE49-F238E27FC236}">
                <a16:creationId xmlns:a16="http://schemas.microsoft.com/office/drawing/2014/main" id="{7131B66C-4AA1-0F49-8C17-552C01ED9334}"/>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4" name="TextBox 3"/>
          <p:cNvSpPr txBox="1"/>
          <p:nvPr/>
        </p:nvSpPr>
        <p:spPr>
          <a:xfrm>
            <a:off x="155575" y="1466103"/>
            <a:ext cx="2666756" cy="5355312"/>
          </a:xfrm>
          <a:prstGeom prst="rect">
            <a:avLst/>
          </a:prstGeom>
          <a:noFill/>
        </p:spPr>
        <p:txBody>
          <a:bodyPr wrap="square" rtlCol="0">
            <a:spAutoFit/>
          </a:bodyPr>
          <a:lstStyle/>
          <a:p>
            <a:r>
              <a:rPr lang="en-US" b="1" dirty="0">
                <a:latin typeface="Georgia" panose="02040502050405020303" pitchFamily="18" charset="0"/>
              </a:rPr>
              <a:t>Primary Actor</a:t>
            </a:r>
          </a:p>
          <a:p>
            <a:pPr marL="285750" indent="-285750">
              <a:buFont typeface="Arial" panose="020B0604020202020204" pitchFamily="34" charset="0"/>
              <a:buChar char="•"/>
            </a:pPr>
            <a:r>
              <a:rPr lang="en-US" dirty="0">
                <a:latin typeface="Georgia" panose="02040502050405020303" pitchFamily="18" charset="0"/>
              </a:rPr>
              <a:t>Business Owner</a:t>
            </a:r>
          </a:p>
          <a:p>
            <a:r>
              <a:rPr lang="en-US" b="1" dirty="0">
                <a:latin typeface="Georgia" panose="02040502050405020303" pitchFamily="18" charset="0"/>
              </a:rPr>
              <a:t>Functionalities:</a:t>
            </a:r>
          </a:p>
          <a:p>
            <a:pPr marL="285750" indent="-285750">
              <a:buFont typeface="Arial" panose="020B0604020202020204" pitchFamily="34" charset="0"/>
              <a:buChar char="•"/>
            </a:pPr>
            <a:r>
              <a:rPr lang="en-US" dirty="0">
                <a:latin typeface="Georgia" panose="02040502050405020303" pitchFamily="18" charset="0"/>
              </a:rPr>
              <a:t>Register/Login </a:t>
            </a:r>
          </a:p>
          <a:p>
            <a:pPr marL="285750" indent="-285750">
              <a:buFont typeface="Arial" panose="020B0604020202020204" pitchFamily="34" charset="0"/>
              <a:buChar char="•"/>
            </a:pPr>
            <a:r>
              <a:rPr lang="en-US" dirty="0">
                <a:latin typeface="Georgia" panose="02040502050405020303" pitchFamily="18" charset="0"/>
              </a:rPr>
              <a:t>Manage Shop </a:t>
            </a:r>
          </a:p>
          <a:p>
            <a:pPr marL="285750" indent="-285750">
              <a:buFont typeface="Arial" panose="020B0604020202020204" pitchFamily="34" charset="0"/>
              <a:buChar char="•"/>
            </a:pPr>
            <a:r>
              <a:rPr lang="en-US" dirty="0">
                <a:latin typeface="Georgia" panose="02040502050405020303" pitchFamily="18" charset="0"/>
              </a:rPr>
              <a:t>Upload Sales Data </a:t>
            </a:r>
          </a:p>
          <a:p>
            <a:pPr marL="285750" indent="-285750">
              <a:buFont typeface="Arial" panose="020B0604020202020204" pitchFamily="34" charset="0"/>
              <a:buChar char="•"/>
            </a:pPr>
            <a:r>
              <a:rPr lang="en-US" dirty="0">
                <a:latin typeface="Georgia" panose="02040502050405020303" pitchFamily="18" charset="0"/>
              </a:rPr>
              <a:t>Manage Inventory </a:t>
            </a:r>
          </a:p>
          <a:p>
            <a:pPr marL="285750" indent="-285750">
              <a:buFont typeface="Arial" panose="020B0604020202020204" pitchFamily="34" charset="0"/>
              <a:buChar char="•"/>
            </a:pPr>
            <a:r>
              <a:rPr lang="en-US" dirty="0">
                <a:latin typeface="Georgia" panose="02040502050405020303" pitchFamily="18" charset="0"/>
              </a:rPr>
              <a:t>Generate Forecast </a:t>
            </a:r>
          </a:p>
          <a:p>
            <a:pPr marL="285750" indent="-285750">
              <a:buFont typeface="Arial" panose="020B0604020202020204" pitchFamily="34" charset="0"/>
              <a:buChar char="•"/>
            </a:pPr>
            <a:r>
              <a:rPr lang="en-US" dirty="0">
                <a:latin typeface="Georgia" panose="02040502050405020303" pitchFamily="18" charset="0"/>
              </a:rPr>
              <a:t>View Forecast </a:t>
            </a:r>
          </a:p>
          <a:p>
            <a:pPr marL="285750" indent="-285750">
              <a:buFont typeface="Arial" panose="020B0604020202020204" pitchFamily="34" charset="0"/>
              <a:buChar char="•"/>
            </a:pPr>
            <a:r>
              <a:rPr lang="en-US" dirty="0">
                <a:latin typeface="Georgia" panose="02040502050405020303" pitchFamily="18" charset="0"/>
              </a:rPr>
              <a:t>View Restock Recommendation </a:t>
            </a:r>
          </a:p>
          <a:p>
            <a:pPr marL="285750" indent="-285750">
              <a:buFont typeface="Arial" panose="020B0604020202020204" pitchFamily="34" charset="0"/>
              <a:buChar char="•"/>
            </a:pPr>
            <a:r>
              <a:rPr lang="en-US" dirty="0">
                <a:latin typeface="Georgia" panose="02040502050405020303" pitchFamily="18" charset="0"/>
              </a:rPr>
              <a:t>View Explanation </a:t>
            </a:r>
          </a:p>
          <a:p>
            <a:pPr marL="285750" indent="-285750">
              <a:buFont typeface="Arial" panose="020B0604020202020204" pitchFamily="34" charset="0"/>
              <a:buChar char="•"/>
            </a:pPr>
            <a:r>
              <a:rPr lang="en-US" dirty="0">
                <a:latin typeface="Georgia" panose="02040502050405020303" pitchFamily="18" charset="0"/>
              </a:rPr>
              <a:t>View Waste Action</a:t>
            </a:r>
          </a:p>
          <a:p>
            <a:r>
              <a:rPr lang="en-US" b="1" dirty="0">
                <a:latin typeface="Georgia" panose="02040502050405020303" pitchFamily="18" charset="0"/>
              </a:rPr>
              <a:t>Supporting Systems</a:t>
            </a:r>
          </a:p>
          <a:p>
            <a:pPr marL="285750" indent="-285750">
              <a:buFont typeface="Arial" panose="020B0604020202020204" pitchFamily="34" charset="0"/>
              <a:buChar char="•"/>
            </a:pPr>
            <a:r>
              <a:rPr lang="en-US" dirty="0">
                <a:latin typeface="Georgia" panose="02040502050405020303" pitchFamily="18" charset="0"/>
              </a:rPr>
              <a:t>Weather API </a:t>
            </a:r>
          </a:p>
          <a:p>
            <a:pPr marL="285750" indent="-285750">
              <a:buFont typeface="Arial" panose="020B0604020202020204" pitchFamily="34" charset="0"/>
              <a:buChar char="•"/>
            </a:pPr>
            <a:r>
              <a:rPr lang="en-US" dirty="0">
                <a:latin typeface="Georgia" panose="02040502050405020303" pitchFamily="18" charset="0"/>
              </a:rPr>
              <a:t>Forecasting Engine </a:t>
            </a:r>
          </a:p>
          <a:p>
            <a:pPr marL="285750" indent="-285750">
              <a:buFont typeface="Arial" panose="020B0604020202020204" pitchFamily="34" charset="0"/>
              <a:buChar char="•"/>
            </a:pPr>
            <a:r>
              <a:rPr lang="en-US" dirty="0">
                <a:latin typeface="Georgia" panose="02040502050405020303" pitchFamily="18" charset="0"/>
              </a:rPr>
              <a:t>Database </a:t>
            </a:r>
          </a:p>
          <a:p>
            <a:pPr marL="285750" indent="-285750">
              <a:buFont typeface="Arial" panose="020B0604020202020204" pitchFamily="34" charset="0"/>
              <a:buChar char="•"/>
            </a:pPr>
            <a:r>
              <a:rPr lang="en-US" dirty="0">
                <a:latin typeface="Georgia" panose="02040502050405020303" pitchFamily="18" charset="0"/>
              </a:rPr>
              <a:t>LLM Narrator</a:t>
            </a:r>
          </a:p>
          <a:p>
            <a:endParaRPr lang="en-US" dirty="0">
              <a:latin typeface="Georgia" panose="02040502050405020303" pitchFamily="18" charset="0"/>
            </a:endParaRPr>
          </a:p>
        </p:txBody>
      </p:sp>
      <p:sp>
        <p:nvSpPr>
          <p:cNvPr id="5" name="TextBox 4"/>
          <p:cNvSpPr txBox="1"/>
          <p:nvPr/>
        </p:nvSpPr>
        <p:spPr>
          <a:xfrm>
            <a:off x="1599738" y="723035"/>
            <a:ext cx="8695348" cy="492443"/>
          </a:xfrm>
          <a:prstGeom prst="rect">
            <a:avLst/>
          </a:prstGeom>
          <a:noFill/>
        </p:spPr>
        <p:txBody>
          <a:bodyPr wrap="square" rtlCol="0">
            <a:spAutoFit/>
          </a:bodyPr>
          <a:lstStyle/>
          <a:p>
            <a:r>
              <a:rPr lang="en-US" sz="2600" b="1" dirty="0">
                <a:solidFill>
                  <a:srgbClr val="C00000"/>
                </a:solidFill>
                <a:latin typeface="Georgia" panose="02040502050405020303" pitchFamily="18" charset="0"/>
              </a:rPr>
              <a:t>Actors , Functionalities and Use Case Diagram</a:t>
            </a:r>
          </a:p>
        </p:txBody>
      </p:sp>
      <p:sp>
        <p:nvSpPr>
          <p:cNvPr id="8" name="AutoShape 2" descr="Mobile App Demand Forecasting UML Diagram"/>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0" name="Picture 9">
            <a:extLst>
              <a:ext uri="{FF2B5EF4-FFF2-40B4-BE49-F238E27FC236}">
                <a16:creationId xmlns:a16="http://schemas.microsoft.com/office/drawing/2014/main" id="{89014C8A-A8F8-59AF-684A-FB8F5C78AC69}"/>
              </a:ex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2637691" y="1391687"/>
            <a:ext cx="7112733" cy="4840853"/>
          </a:xfrm>
          <a:prstGeom prst="rect">
            <a:avLst/>
          </a:prstGeom>
        </p:spPr>
      </p:pic>
      <p:pic>
        <p:nvPicPr>
          <p:cNvPr id="12" name="Picture 11">
            <a:extLst>
              <a:ext uri="{FF2B5EF4-FFF2-40B4-BE49-F238E27FC236}">
                <a16:creationId xmlns:a16="http://schemas.microsoft.com/office/drawing/2014/main" id="{ADC32D62-F8A4-584B-66C9-25F523E4280B}"/>
              </a:ext>
            </a:extLst>
          </p:cNvPr>
          <p:cNvPicPr>
            <a:picLocks noChangeAspect="1"/>
          </p:cNvPicPr>
          <p:nvPr/>
        </p:nvPicPr>
        <p:blipFill>
          <a:blip r:embed="rId5"/>
          <a:stretch>
            <a:fillRect/>
          </a:stretch>
        </p:blipFill>
        <p:spPr>
          <a:xfrm>
            <a:off x="4035456" y="1494851"/>
            <a:ext cx="4317202" cy="239057"/>
          </a:xfrm>
          <a:prstGeom prst="rect">
            <a:avLst/>
          </a:prstGeom>
        </p:spPr>
      </p:pic>
      <p:pic>
        <p:nvPicPr>
          <p:cNvPr id="13" name="Picture 12"/>
          <p:cNvPicPr>
            <a:picLocks noChangeAspect="1"/>
          </p:cNvPicPr>
          <p:nvPr/>
        </p:nvPicPr>
        <p:blipFill>
          <a:blip r:embed="rId6"/>
          <a:stretch>
            <a:fillRect/>
          </a:stretch>
        </p:blipFill>
        <p:spPr>
          <a:xfrm>
            <a:off x="6713756" y="3502871"/>
            <a:ext cx="1452291" cy="110768"/>
          </a:xfrm>
          <a:prstGeom prst="rect">
            <a:avLst/>
          </a:prstGeom>
        </p:spPr>
      </p:pic>
    </p:spTree>
    <p:extLst>
      <p:ext uri="{BB962C8B-B14F-4D97-AF65-F5344CB8AC3E}">
        <p14:creationId xmlns:p14="http://schemas.microsoft.com/office/powerpoint/2010/main" val="128662229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7BD7FB-2B22-C9FA-FA11-E3687F4D17BA}"/>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6252E175-6CED-BC31-C596-1815A3067DA8}"/>
              </a:ext>
            </a:extLst>
          </p:cNvPr>
          <p:cNvPicPr>
            <a:picLocks noChangeAspect="1"/>
          </p:cNvPicPr>
          <p:nvPr/>
        </p:nvPicPr>
        <p:blipFill rotWithShape="1">
          <a:blip r:embed="rId2">
            <a:extLst>
              <a:ext uri="{28A0092B-C50C-407E-A947-70E740481C1C}">
                <a14:useLocalDpi xmlns:a14="http://schemas.microsoft.com/office/drawing/2010/main" val="0"/>
              </a:ext>
            </a:extLst>
          </a:blip>
          <a:srcRect l="48363" r="-1" b="45098"/>
          <a:stretch/>
        </p:blipFill>
        <p:spPr>
          <a:xfrm>
            <a:off x="0" y="6750969"/>
            <a:ext cx="9906000" cy="131162"/>
          </a:xfrm>
          <a:prstGeom prst="rect">
            <a:avLst/>
          </a:prstGeom>
        </p:spPr>
      </p:pic>
      <p:pic>
        <p:nvPicPr>
          <p:cNvPr id="6" name="Picture 5">
            <a:extLst>
              <a:ext uri="{FF2B5EF4-FFF2-40B4-BE49-F238E27FC236}">
                <a16:creationId xmlns:a16="http://schemas.microsoft.com/office/drawing/2014/main" id="{F58FA1E1-3FC5-2FD6-0AB3-B385EDC82F62}"/>
              </a:ext>
            </a:extLst>
          </p:cNvPr>
          <p:cNvPicPr>
            <a:picLocks noChangeAspect="1"/>
          </p:cNvPicPr>
          <p:nvPr/>
        </p:nvPicPr>
        <p:blipFill rotWithShape="1">
          <a:blip r:embed="rId3"/>
          <a:srcRect b="6633"/>
          <a:stretch/>
        </p:blipFill>
        <p:spPr>
          <a:xfrm>
            <a:off x="0" y="0"/>
            <a:ext cx="3927231" cy="939765"/>
          </a:xfrm>
          <a:prstGeom prst="rect">
            <a:avLst/>
          </a:prstGeom>
        </p:spPr>
      </p:pic>
      <p:pic>
        <p:nvPicPr>
          <p:cNvPr id="7" name="Picture 6">
            <a:extLst>
              <a:ext uri="{FF2B5EF4-FFF2-40B4-BE49-F238E27FC236}">
                <a16:creationId xmlns:a16="http://schemas.microsoft.com/office/drawing/2014/main" id="{AC721274-7357-D25E-82FD-677F69CBF064}"/>
              </a:ext>
            </a:extLst>
          </p:cNvPr>
          <p:cNvPicPr>
            <a:picLocks noChangeAspect="1"/>
          </p:cNvPicPr>
          <p:nvPr/>
        </p:nvPicPr>
        <p:blipFill rotWithShape="1">
          <a:blip r:embed="rId2">
            <a:extLst>
              <a:ext uri="{28A0092B-C50C-407E-A947-70E740481C1C}">
                <a14:useLocalDpi xmlns:a14="http://schemas.microsoft.com/office/drawing/2010/main" val="0"/>
              </a:ext>
            </a:extLst>
          </a:blip>
          <a:srcRect l="48363" r="-1" b="45098"/>
          <a:stretch/>
        </p:blipFill>
        <p:spPr>
          <a:xfrm>
            <a:off x="2637692" y="0"/>
            <a:ext cx="7268307" cy="525780"/>
          </a:xfrm>
          <a:prstGeom prst="rect">
            <a:avLst/>
          </a:prstGeom>
        </p:spPr>
      </p:pic>
      <p:sp>
        <p:nvSpPr>
          <p:cNvPr id="11" name="Rectangle 10">
            <a:extLst>
              <a:ext uri="{FF2B5EF4-FFF2-40B4-BE49-F238E27FC236}">
                <a16:creationId xmlns:a16="http://schemas.microsoft.com/office/drawing/2014/main" id="{7CA16063-0F93-ED14-DCEF-95480895A405}"/>
              </a:ext>
            </a:extLst>
          </p:cNvPr>
          <p:cNvSpPr/>
          <p:nvPr/>
        </p:nvSpPr>
        <p:spPr>
          <a:xfrm>
            <a:off x="1652953" y="107031"/>
            <a:ext cx="8253045" cy="336631"/>
          </a:xfrm>
          <a:prstGeom prst="rect">
            <a:avLst/>
          </a:prstGeom>
        </p:spPr>
        <p:txBody>
          <a:bodyPr wrap="square">
            <a:spAutoFit/>
          </a:bodyPr>
          <a:lstStyle/>
          <a:p>
            <a:pPr algn="ctr">
              <a:lnSpc>
                <a:spcPct val="107000"/>
              </a:lnSpc>
              <a:spcAft>
                <a:spcPts val="800"/>
              </a:spcAft>
            </a:pPr>
            <a:r>
              <a:rPr lang="en-IN" sz="1600" b="1" dirty="0">
                <a:solidFill>
                  <a:schemeClr val="bg1"/>
                </a:solidFill>
                <a:latin typeface="Cambria" panose="02040503050406030204" pitchFamily="18" charset="0"/>
              </a:rPr>
              <a:t>MUKESH PATEL SCHOOL OF TECHNOLOGY MANAGEMENT &amp; ENGINEERING, SHIRPUR</a:t>
            </a:r>
            <a:endParaRPr lang="en-US" sz="1600" b="1" dirty="0">
              <a:solidFill>
                <a:schemeClr val="bg1"/>
              </a:solidFill>
              <a:latin typeface="Cambria" panose="02040503050406030204" pitchFamily="18" charset="0"/>
            </a:endParaRPr>
          </a:p>
        </p:txBody>
      </p:sp>
      <p:sp>
        <p:nvSpPr>
          <p:cNvPr id="3" name="Slide Number Placeholder 2">
            <a:extLst>
              <a:ext uri="{FF2B5EF4-FFF2-40B4-BE49-F238E27FC236}">
                <a16:creationId xmlns:a16="http://schemas.microsoft.com/office/drawing/2014/main" id="{B002F201-32C0-DF53-8399-46A10BDF8CCA}"/>
              </a:ext>
            </a:extLst>
          </p:cNvPr>
          <p:cNvSpPr>
            <a:spLocks noGrp="1"/>
          </p:cNvSpPr>
          <p:nvPr>
            <p:ph type="sldNum" sz="quarter" idx="12"/>
          </p:nvPr>
        </p:nvSpPr>
        <p:spPr/>
        <p:txBody>
          <a:bodyPr/>
          <a:lstStyle/>
          <a:p>
            <a:fld id="{9DC013F7-6D70-4318-BA41-212A9B59413B}" type="slidenum">
              <a:rPr lang="en-US" smtClean="0"/>
              <a:t>10</a:t>
            </a:fld>
            <a:endParaRPr lang="en-US" dirty="0"/>
          </a:p>
        </p:txBody>
      </p:sp>
      <p:sp>
        <p:nvSpPr>
          <p:cNvPr id="2" name="AutoShape 4" descr="Neural Networks Hyperparameter tuning in tensorflow 2.0 | by SiDdhartha |  ML Book | Medium">
            <a:extLst>
              <a:ext uri="{FF2B5EF4-FFF2-40B4-BE49-F238E27FC236}">
                <a16:creationId xmlns:a16="http://schemas.microsoft.com/office/drawing/2014/main" id="{7131B66C-4AA1-0F49-8C17-552C01ED9334}"/>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4" name="TextBox 3"/>
          <p:cNvSpPr txBox="1"/>
          <p:nvPr/>
        </p:nvSpPr>
        <p:spPr>
          <a:xfrm>
            <a:off x="2844890" y="622136"/>
            <a:ext cx="4216219" cy="492443"/>
          </a:xfrm>
          <a:prstGeom prst="rect">
            <a:avLst/>
          </a:prstGeom>
          <a:noFill/>
        </p:spPr>
        <p:txBody>
          <a:bodyPr wrap="none" rtlCol="0">
            <a:spAutoFit/>
          </a:bodyPr>
          <a:lstStyle/>
          <a:p>
            <a:r>
              <a:rPr lang="en-US" sz="2600" b="1" dirty="0">
                <a:solidFill>
                  <a:srgbClr val="C00000"/>
                </a:solidFill>
                <a:latin typeface="Georgia" panose="02040502050405020303" pitchFamily="18" charset="0"/>
              </a:rPr>
              <a:t>Object-Oriented Design</a:t>
            </a:r>
          </a:p>
        </p:txBody>
      </p:sp>
      <p:sp>
        <p:nvSpPr>
          <p:cNvPr id="5" name="TextBox 4"/>
          <p:cNvSpPr txBox="1"/>
          <p:nvPr/>
        </p:nvSpPr>
        <p:spPr>
          <a:xfrm>
            <a:off x="155575" y="1129325"/>
            <a:ext cx="3409908" cy="461665"/>
          </a:xfrm>
          <a:prstGeom prst="rect">
            <a:avLst/>
          </a:prstGeom>
          <a:noFill/>
        </p:spPr>
        <p:txBody>
          <a:bodyPr wrap="none" rtlCol="0">
            <a:spAutoFit/>
          </a:bodyPr>
          <a:lstStyle/>
          <a:p>
            <a:r>
              <a:rPr lang="en-US" sz="2400" b="1" dirty="0">
                <a:latin typeface="Georgia" panose="02040502050405020303" pitchFamily="18" charset="0"/>
              </a:rPr>
              <a:t>System Architecture</a:t>
            </a:r>
          </a:p>
        </p:txBody>
      </p:sp>
      <p:pic>
        <p:nvPicPr>
          <p:cNvPr id="2050" name="Picture 2">
            <a:extLst>
              <a:ext uri="{FF2B5EF4-FFF2-40B4-BE49-F238E27FC236}">
                <a16:creationId xmlns:a16="http://schemas.microsoft.com/office/drawing/2014/main" id="{ABFFC7AF-806E-4B48-B14E-223811158F04}"/>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10401"/>
          <a:stretch/>
        </p:blipFill>
        <p:spPr bwMode="auto">
          <a:xfrm>
            <a:off x="55441" y="1590989"/>
            <a:ext cx="9753600" cy="48766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781696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7BD7FB-2B22-C9FA-FA11-E3687F4D17BA}"/>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6252E175-6CED-BC31-C596-1815A3067DA8}"/>
              </a:ext>
            </a:extLst>
          </p:cNvPr>
          <p:cNvPicPr>
            <a:picLocks noChangeAspect="1"/>
          </p:cNvPicPr>
          <p:nvPr/>
        </p:nvPicPr>
        <p:blipFill rotWithShape="1">
          <a:blip r:embed="rId2">
            <a:extLst>
              <a:ext uri="{28A0092B-C50C-407E-A947-70E740481C1C}">
                <a14:useLocalDpi xmlns:a14="http://schemas.microsoft.com/office/drawing/2010/main" val="0"/>
              </a:ext>
            </a:extLst>
          </a:blip>
          <a:srcRect l="48363" r="-1" b="45098"/>
          <a:stretch/>
        </p:blipFill>
        <p:spPr>
          <a:xfrm>
            <a:off x="0" y="6750969"/>
            <a:ext cx="9906000" cy="131162"/>
          </a:xfrm>
          <a:prstGeom prst="rect">
            <a:avLst/>
          </a:prstGeom>
        </p:spPr>
      </p:pic>
      <p:pic>
        <p:nvPicPr>
          <p:cNvPr id="6" name="Picture 5">
            <a:extLst>
              <a:ext uri="{FF2B5EF4-FFF2-40B4-BE49-F238E27FC236}">
                <a16:creationId xmlns:a16="http://schemas.microsoft.com/office/drawing/2014/main" id="{F58FA1E1-3FC5-2FD6-0AB3-B385EDC82F62}"/>
              </a:ext>
            </a:extLst>
          </p:cNvPr>
          <p:cNvPicPr>
            <a:picLocks noChangeAspect="1"/>
          </p:cNvPicPr>
          <p:nvPr/>
        </p:nvPicPr>
        <p:blipFill rotWithShape="1">
          <a:blip r:embed="rId3"/>
          <a:srcRect b="6633"/>
          <a:stretch/>
        </p:blipFill>
        <p:spPr>
          <a:xfrm>
            <a:off x="0" y="-310"/>
            <a:ext cx="3927231" cy="939765"/>
          </a:xfrm>
          <a:prstGeom prst="rect">
            <a:avLst/>
          </a:prstGeom>
        </p:spPr>
      </p:pic>
      <p:pic>
        <p:nvPicPr>
          <p:cNvPr id="7" name="Picture 6">
            <a:extLst>
              <a:ext uri="{FF2B5EF4-FFF2-40B4-BE49-F238E27FC236}">
                <a16:creationId xmlns:a16="http://schemas.microsoft.com/office/drawing/2014/main" id="{AC721274-7357-D25E-82FD-677F69CBF064}"/>
              </a:ext>
            </a:extLst>
          </p:cNvPr>
          <p:cNvPicPr>
            <a:picLocks noChangeAspect="1"/>
          </p:cNvPicPr>
          <p:nvPr/>
        </p:nvPicPr>
        <p:blipFill rotWithShape="1">
          <a:blip r:embed="rId2">
            <a:extLst>
              <a:ext uri="{28A0092B-C50C-407E-A947-70E740481C1C}">
                <a14:useLocalDpi xmlns:a14="http://schemas.microsoft.com/office/drawing/2010/main" val="0"/>
              </a:ext>
            </a:extLst>
          </a:blip>
          <a:srcRect l="48363" r="-1" b="45098"/>
          <a:stretch/>
        </p:blipFill>
        <p:spPr>
          <a:xfrm>
            <a:off x="2637692" y="0"/>
            <a:ext cx="7268307" cy="525780"/>
          </a:xfrm>
          <a:prstGeom prst="rect">
            <a:avLst/>
          </a:prstGeom>
        </p:spPr>
      </p:pic>
      <p:sp>
        <p:nvSpPr>
          <p:cNvPr id="11" name="Rectangle 10">
            <a:extLst>
              <a:ext uri="{FF2B5EF4-FFF2-40B4-BE49-F238E27FC236}">
                <a16:creationId xmlns:a16="http://schemas.microsoft.com/office/drawing/2014/main" id="{7CA16063-0F93-ED14-DCEF-95480895A405}"/>
              </a:ext>
            </a:extLst>
          </p:cNvPr>
          <p:cNvSpPr/>
          <p:nvPr/>
        </p:nvSpPr>
        <p:spPr>
          <a:xfrm>
            <a:off x="1652953" y="107031"/>
            <a:ext cx="8253045" cy="336631"/>
          </a:xfrm>
          <a:prstGeom prst="rect">
            <a:avLst/>
          </a:prstGeom>
        </p:spPr>
        <p:txBody>
          <a:bodyPr wrap="square">
            <a:spAutoFit/>
          </a:bodyPr>
          <a:lstStyle/>
          <a:p>
            <a:pPr algn="ctr">
              <a:lnSpc>
                <a:spcPct val="107000"/>
              </a:lnSpc>
              <a:spcAft>
                <a:spcPts val="800"/>
              </a:spcAft>
            </a:pPr>
            <a:r>
              <a:rPr lang="en-IN" sz="1600" b="1" dirty="0">
                <a:solidFill>
                  <a:schemeClr val="bg1"/>
                </a:solidFill>
                <a:latin typeface="Cambria" panose="02040503050406030204" pitchFamily="18" charset="0"/>
              </a:rPr>
              <a:t>MUKESH PATEL SCHOOL OF TECHNOLOGY MANAGEMENT &amp; ENGINEERING, SHIRPUR</a:t>
            </a:r>
            <a:endParaRPr lang="en-US" sz="1600" b="1" dirty="0">
              <a:solidFill>
                <a:schemeClr val="bg1"/>
              </a:solidFill>
              <a:latin typeface="Cambria" panose="02040503050406030204" pitchFamily="18" charset="0"/>
            </a:endParaRPr>
          </a:p>
        </p:txBody>
      </p:sp>
      <p:sp>
        <p:nvSpPr>
          <p:cNvPr id="3" name="Slide Number Placeholder 2">
            <a:extLst>
              <a:ext uri="{FF2B5EF4-FFF2-40B4-BE49-F238E27FC236}">
                <a16:creationId xmlns:a16="http://schemas.microsoft.com/office/drawing/2014/main" id="{B002F201-32C0-DF53-8399-46A10BDF8CCA}"/>
              </a:ext>
            </a:extLst>
          </p:cNvPr>
          <p:cNvSpPr>
            <a:spLocks noGrp="1"/>
          </p:cNvSpPr>
          <p:nvPr>
            <p:ph type="sldNum" sz="quarter" idx="12"/>
          </p:nvPr>
        </p:nvSpPr>
        <p:spPr/>
        <p:txBody>
          <a:bodyPr/>
          <a:lstStyle/>
          <a:p>
            <a:fld id="{9DC013F7-6D70-4318-BA41-212A9B59413B}" type="slidenum">
              <a:rPr lang="en-US" smtClean="0"/>
              <a:t>11</a:t>
            </a:fld>
            <a:endParaRPr lang="en-US" dirty="0"/>
          </a:p>
        </p:txBody>
      </p:sp>
      <p:sp>
        <p:nvSpPr>
          <p:cNvPr id="2" name="AutoShape 4" descr="Neural Networks Hyperparameter tuning in tensorflow 2.0 | by SiDdhartha |  ML Book | Medium">
            <a:extLst>
              <a:ext uri="{FF2B5EF4-FFF2-40B4-BE49-F238E27FC236}">
                <a16:creationId xmlns:a16="http://schemas.microsoft.com/office/drawing/2014/main" id="{7131B66C-4AA1-0F49-8C17-552C01ED9334}"/>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4" name="Rectangle 3"/>
          <p:cNvSpPr/>
          <p:nvPr/>
        </p:nvSpPr>
        <p:spPr>
          <a:xfrm>
            <a:off x="155575" y="969257"/>
            <a:ext cx="3406702" cy="492443"/>
          </a:xfrm>
          <a:prstGeom prst="rect">
            <a:avLst/>
          </a:prstGeom>
        </p:spPr>
        <p:txBody>
          <a:bodyPr wrap="none">
            <a:spAutoFit/>
          </a:bodyPr>
          <a:lstStyle/>
          <a:p>
            <a:r>
              <a:rPr lang="en-US" sz="2600" b="1" dirty="0">
                <a:latin typeface="Georgia" panose="02040502050405020303" pitchFamily="18" charset="0"/>
              </a:rPr>
              <a:t>Sequence Diagram</a:t>
            </a:r>
          </a:p>
        </p:txBody>
      </p:sp>
      <p:pic>
        <p:nvPicPr>
          <p:cNvPr id="5" name="Picture 4">
            <a:extLst>
              <a:ext uri="{FF2B5EF4-FFF2-40B4-BE49-F238E27FC236}">
                <a16:creationId xmlns:a16="http://schemas.microsoft.com/office/drawing/2014/main" id="{F49D27AF-0285-87C6-9693-BACDCC257404}"/>
              </a:ex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0" y="1521304"/>
            <a:ext cx="9695891" cy="5017610"/>
          </a:xfrm>
          <a:prstGeom prst="rect">
            <a:avLst/>
          </a:prstGeom>
        </p:spPr>
      </p:pic>
    </p:spTree>
    <p:extLst>
      <p:ext uri="{BB962C8B-B14F-4D97-AF65-F5344CB8AC3E}">
        <p14:creationId xmlns:p14="http://schemas.microsoft.com/office/powerpoint/2010/main" val="237641309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7BD7FB-2B22-C9FA-FA11-E3687F4D17BA}"/>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6252E175-6CED-BC31-C596-1815A3067DA8}"/>
              </a:ext>
            </a:extLst>
          </p:cNvPr>
          <p:cNvPicPr>
            <a:picLocks noChangeAspect="1"/>
          </p:cNvPicPr>
          <p:nvPr/>
        </p:nvPicPr>
        <p:blipFill rotWithShape="1">
          <a:blip r:embed="rId2">
            <a:extLst>
              <a:ext uri="{28A0092B-C50C-407E-A947-70E740481C1C}">
                <a14:useLocalDpi xmlns:a14="http://schemas.microsoft.com/office/drawing/2010/main" val="0"/>
              </a:ext>
            </a:extLst>
          </a:blip>
          <a:srcRect l="48363" r="-1" b="45098"/>
          <a:stretch/>
        </p:blipFill>
        <p:spPr>
          <a:xfrm>
            <a:off x="0" y="6750969"/>
            <a:ext cx="9906000" cy="131162"/>
          </a:xfrm>
          <a:prstGeom prst="rect">
            <a:avLst/>
          </a:prstGeom>
        </p:spPr>
      </p:pic>
      <p:pic>
        <p:nvPicPr>
          <p:cNvPr id="6" name="Picture 5">
            <a:extLst>
              <a:ext uri="{FF2B5EF4-FFF2-40B4-BE49-F238E27FC236}">
                <a16:creationId xmlns:a16="http://schemas.microsoft.com/office/drawing/2014/main" id="{F58FA1E1-3FC5-2FD6-0AB3-B385EDC82F62}"/>
              </a:ext>
            </a:extLst>
          </p:cNvPr>
          <p:cNvPicPr>
            <a:picLocks noChangeAspect="1"/>
          </p:cNvPicPr>
          <p:nvPr/>
        </p:nvPicPr>
        <p:blipFill rotWithShape="1">
          <a:blip r:embed="rId3"/>
          <a:srcRect b="6633"/>
          <a:stretch/>
        </p:blipFill>
        <p:spPr>
          <a:xfrm>
            <a:off x="0" y="0"/>
            <a:ext cx="3927231" cy="939765"/>
          </a:xfrm>
          <a:prstGeom prst="rect">
            <a:avLst/>
          </a:prstGeom>
        </p:spPr>
      </p:pic>
      <p:pic>
        <p:nvPicPr>
          <p:cNvPr id="7" name="Picture 6">
            <a:extLst>
              <a:ext uri="{FF2B5EF4-FFF2-40B4-BE49-F238E27FC236}">
                <a16:creationId xmlns:a16="http://schemas.microsoft.com/office/drawing/2014/main" id="{AC721274-7357-D25E-82FD-677F69CBF064}"/>
              </a:ext>
            </a:extLst>
          </p:cNvPr>
          <p:cNvPicPr>
            <a:picLocks noChangeAspect="1"/>
          </p:cNvPicPr>
          <p:nvPr/>
        </p:nvPicPr>
        <p:blipFill rotWithShape="1">
          <a:blip r:embed="rId2">
            <a:extLst>
              <a:ext uri="{28A0092B-C50C-407E-A947-70E740481C1C}">
                <a14:useLocalDpi xmlns:a14="http://schemas.microsoft.com/office/drawing/2010/main" val="0"/>
              </a:ext>
            </a:extLst>
          </a:blip>
          <a:srcRect l="48363" r="-1" b="45098"/>
          <a:stretch/>
        </p:blipFill>
        <p:spPr>
          <a:xfrm>
            <a:off x="2637692" y="0"/>
            <a:ext cx="7268307" cy="525780"/>
          </a:xfrm>
          <a:prstGeom prst="rect">
            <a:avLst/>
          </a:prstGeom>
        </p:spPr>
      </p:pic>
      <p:sp>
        <p:nvSpPr>
          <p:cNvPr id="11" name="Rectangle 10">
            <a:extLst>
              <a:ext uri="{FF2B5EF4-FFF2-40B4-BE49-F238E27FC236}">
                <a16:creationId xmlns:a16="http://schemas.microsoft.com/office/drawing/2014/main" id="{7CA16063-0F93-ED14-DCEF-95480895A405}"/>
              </a:ext>
            </a:extLst>
          </p:cNvPr>
          <p:cNvSpPr/>
          <p:nvPr/>
        </p:nvSpPr>
        <p:spPr>
          <a:xfrm>
            <a:off x="1652953" y="107031"/>
            <a:ext cx="8253045" cy="336631"/>
          </a:xfrm>
          <a:prstGeom prst="rect">
            <a:avLst/>
          </a:prstGeom>
        </p:spPr>
        <p:txBody>
          <a:bodyPr wrap="square">
            <a:spAutoFit/>
          </a:bodyPr>
          <a:lstStyle/>
          <a:p>
            <a:pPr algn="ctr">
              <a:lnSpc>
                <a:spcPct val="107000"/>
              </a:lnSpc>
              <a:spcAft>
                <a:spcPts val="800"/>
              </a:spcAft>
            </a:pPr>
            <a:r>
              <a:rPr lang="en-IN" sz="1600" b="1" dirty="0">
                <a:solidFill>
                  <a:schemeClr val="bg1"/>
                </a:solidFill>
                <a:latin typeface="Cambria" panose="02040503050406030204" pitchFamily="18" charset="0"/>
              </a:rPr>
              <a:t>MUKESH PATEL SCHOOL OF TECHNOLOGY MANAGEMENT &amp; ENGINEERING, SHIRPUR</a:t>
            </a:r>
            <a:endParaRPr lang="en-US" sz="1600" b="1" dirty="0">
              <a:solidFill>
                <a:schemeClr val="bg1"/>
              </a:solidFill>
              <a:latin typeface="Cambria" panose="02040503050406030204" pitchFamily="18" charset="0"/>
            </a:endParaRPr>
          </a:p>
        </p:txBody>
      </p:sp>
      <p:sp>
        <p:nvSpPr>
          <p:cNvPr id="3" name="Slide Number Placeholder 2">
            <a:extLst>
              <a:ext uri="{FF2B5EF4-FFF2-40B4-BE49-F238E27FC236}">
                <a16:creationId xmlns:a16="http://schemas.microsoft.com/office/drawing/2014/main" id="{B002F201-32C0-DF53-8399-46A10BDF8CCA}"/>
              </a:ext>
            </a:extLst>
          </p:cNvPr>
          <p:cNvSpPr>
            <a:spLocks noGrp="1"/>
          </p:cNvSpPr>
          <p:nvPr>
            <p:ph type="sldNum" sz="quarter" idx="12"/>
          </p:nvPr>
        </p:nvSpPr>
        <p:spPr/>
        <p:txBody>
          <a:bodyPr/>
          <a:lstStyle/>
          <a:p>
            <a:fld id="{9DC013F7-6D70-4318-BA41-212A9B59413B}" type="slidenum">
              <a:rPr lang="en-US" smtClean="0"/>
              <a:t>12</a:t>
            </a:fld>
            <a:endParaRPr lang="en-US" dirty="0"/>
          </a:p>
        </p:txBody>
      </p:sp>
      <p:sp>
        <p:nvSpPr>
          <p:cNvPr id="2" name="AutoShape 4" descr="Neural Networks Hyperparameter tuning in tensorflow 2.0 | by SiDdhartha |  ML Book | Medium">
            <a:extLst>
              <a:ext uri="{FF2B5EF4-FFF2-40B4-BE49-F238E27FC236}">
                <a16:creationId xmlns:a16="http://schemas.microsoft.com/office/drawing/2014/main" id="{7131B66C-4AA1-0F49-8C17-552C01ED9334}"/>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4" name="Rectangle 3"/>
          <p:cNvSpPr/>
          <p:nvPr/>
        </p:nvSpPr>
        <p:spPr>
          <a:xfrm>
            <a:off x="155575" y="969257"/>
            <a:ext cx="3078087" cy="492443"/>
          </a:xfrm>
          <a:prstGeom prst="rect">
            <a:avLst/>
          </a:prstGeom>
        </p:spPr>
        <p:txBody>
          <a:bodyPr wrap="none">
            <a:spAutoFit/>
          </a:bodyPr>
          <a:lstStyle/>
          <a:p>
            <a:r>
              <a:rPr lang="en-US" sz="2600" b="1" dirty="0">
                <a:latin typeface="Georgia" panose="02040502050405020303" pitchFamily="18" charset="0"/>
              </a:rPr>
              <a:t>Activity Diagram</a:t>
            </a:r>
          </a:p>
        </p:txBody>
      </p:sp>
      <p:pic>
        <p:nvPicPr>
          <p:cNvPr id="5122" name="Picture 2">
            <a:extLst>
              <a:ext uri="{FF2B5EF4-FFF2-40B4-BE49-F238E27FC236}">
                <a16:creationId xmlns:a16="http://schemas.microsoft.com/office/drawing/2014/main" id="{7FA83DAB-CCD3-4EDD-B0F9-12D0CD848500}"/>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11029"/>
          <a:stretch/>
        </p:blipFill>
        <p:spPr bwMode="auto">
          <a:xfrm>
            <a:off x="0" y="1619129"/>
            <a:ext cx="9753600" cy="473722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8119085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7BD7FB-2B22-C9FA-FA11-E3687F4D17BA}"/>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6252E175-6CED-BC31-C596-1815A3067DA8}"/>
              </a:ext>
            </a:extLst>
          </p:cNvPr>
          <p:cNvPicPr>
            <a:picLocks noChangeAspect="1"/>
          </p:cNvPicPr>
          <p:nvPr/>
        </p:nvPicPr>
        <p:blipFill rotWithShape="1">
          <a:blip r:embed="rId2">
            <a:extLst>
              <a:ext uri="{28A0092B-C50C-407E-A947-70E740481C1C}">
                <a14:useLocalDpi xmlns:a14="http://schemas.microsoft.com/office/drawing/2010/main" val="0"/>
              </a:ext>
            </a:extLst>
          </a:blip>
          <a:srcRect l="48363" r="-1" b="45098"/>
          <a:stretch/>
        </p:blipFill>
        <p:spPr>
          <a:xfrm>
            <a:off x="0" y="6750969"/>
            <a:ext cx="9906000" cy="131162"/>
          </a:xfrm>
          <a:prstGeom prst="rect">
            <a:avLst/>
          </a:prstGeom>
        </p:spPr>
      </p:pic>
      <p:pic>
        <p:nvPicPr>
          <p:cNvPr id="6" name="Picture 5">
            <a:extLst>
              <a:ext uri="{FF2B5EF4-FFF2-40B4-BE49-F238E27FC236}">
                <a16:creationId xmlns:a16="http://schemas.microsoft.com/office/drawing/2014/main" id="{F58FA1E1-3FC5-2FD6-0AB3-B385EDC82F62}"/>
              </a:ext>
            </a:extLst>
          </p:cNvPr>
          <p:cNvPicPr>
            <a:picLocks noChangeAspect="1"/>
          </p:cNvPicPr>
          <p:nvPr/>
        </p:nvPicPr>
        <p:blipFill rotWithShape="1">
          <a:blip r:embed="rId3"/>
          <a:srcRect b="6633"/>
          <a:stretch/>
        </p:blipFill>
        <p:spPr>
          <a:xfrm>
            <a:off x="0" y="0"/>
            <a:ext cx="3927231" cy="939765"/>
          </a:xfrm>
          <a:prstGeom prst="rect">
            <a:avLst/>
          </a:prstGeom>
        </p:spPr>
      </p:pic>
      <p:pic>
        <p:nvPicPr>
          <p:cNvPr id="7" name="Picture 6">
            <a:extLst>
              <a:ext uri="{FF2B5EF4-FFF2-40B4-BE49-F238E27FC236}">
                <a16:creationId xmlns:a16="http://schemas.microsoft.com/office/drawing/2014/main" id="{AC721274-7357-D25E-82FD-677F69CBF064}"/>
              </a:ext>
            </a:extLst>
          </p:cNvPr>
          <p:cNvPicPr>
            <a:picLocks noChangeAspect="1"/>
          </p:cNvPicPr>
          <p:nvPr/>
        </p:nvPicPr>
        <p:blipFill rotWithShape="1">
          <a:blip r:embed="rId2">
            <a:extLst>
              <a:ext uri="{28A0092B-C50C-407E-A947-70E740481C1C}">
                <a14:useLocalDpi xmlns:a14="http://schemas.microsoft.com/office/drawing/2010/main" val="0"/>
              </a:ext>
            </a:extLst>
          </a:blip>
          <a:srcRect l="48363" r="-1" b="45098"/>
          <a:stretch/>
        </p:blipFill>
        <p:spPr>
          <a:xfrm>
            <a:off x="2637692" y="0"/>
            <a:ext cx="7268307" cy="525780"/>
          </a:xfrm>
          <a:prstGeom prst="rect">
            <a:avLst/>
          </a:prstGeom>
        </p:spPr>
      </p:pic>
      <p:sp>
        <p:nvSpPr>
          <p:cNvPr id="11" name="Rectangle 10">
            <a:extLst>
              <a:ext uri="{FF2B5EF4-FFF2-40B4-BE49-F238E27FC236}">
                <a16:creationId xmlns:a16="http://schemas.microsoft.com/office/drawing/2014/main" id="{7CA16063-0F93-ED14-DCEF-95480895A405}"/>
              </a:ext>
            </a:extLst>
          </p:cNvPr>
          <p:cNvSpPr/>
          <p:nvPr/>
        </p:nvSpPr>
        <p:spPr>
          <a:xfrm>
            <a:off x="1652953" y="107031"/>
            <a:ext cx="8253045" cy="336631"/>
          </a:xfrm>
          <a:prstGeom prst="rect">
            <a:avLst/>
          </a:prstGeom>
        </p:spPr>
        <p:txBody>
          <a:bodyPr wrap="square">
            <a:spAutoFit/>
          </a:bodyPr>
          <a:lstStyle/>
          <a:p>
            <a:pPr algn="ctr">
              <a:lnSpc>
                <a:spcPct val="107000"/>
              </a:lnSpc>
              <a:spcAft>
                <a:spcPts val="800"/>
              </a:spcAft>
            </a:pPr>
            <a:r>
              <a:rPr lang="en-IN" sz="1600" b="1" dirty="0">
                <a:solidFill>
                  <a:schemeClr val="bg1"/>
                </a:solidFill>
                <a:latin typeface="Cambria" panose="02040503050406030204" pitchFamily="18" charset="0"/>
              </a:rPr>
              <a:t>MUKESH PATEL SCHOOL OF TECHNOLOGY MANAGEMENT &amp; ENGINEERING, SHIRPUR</a:t>
            </a:r>
            <a:endParaRPr lang="en-US" sz="1600" b="1" dirty="0">
              <a:solidFill>
                <a:schemeClr val="bg1"/>
              </a:solidFill>
              <a:latin typeface="Cambria" panose="02040503050406030204" pitchFamily="18" charset="0"/>
            </a:endParaRPr>
          </a:p>
        </p:txBody>
      </p:sp>
      <p:sp>
        <p:nvSpPr>
          <p:cNvPr id="3" name="Slide Number Placeholder 2">
            <a:extLst>
              <a:ext uri="{FF2B5EF4-FFF2-40B4-BE49-F238E27FC236}">
                <a16:creationId xmlns:a16="http://schemas.microsoft.com/office/drawing/2014/main" id="{B002F201-32C0-DF53-8399-46A10BDF8CCA}"/>
              </a:ext>
            </a:extLst>
          </p:cNvPr>
          <p:cNvSpPr>
            <a:spLocks noGrp="1"/>
          </p:cNvSpPr>
          <p:nvPr>
            <p:ph type="sldNum" sz="quarter" idx="12"/>
          </p:nvPr>
        </p:nvSpPr>
        <p:spPr/>
        <p:txBody>
          <a:bodyPr/>
          <a:lstStyle/>
          <a:p>
            <a:fld id="{9DC013F7-6D70-4318-BA41-212A9B59413B}" type="slidenum">
              <a:rPr lang="en-US" smtClean="0"/>
              <a:t>13</a:t>
            </a:fld>
            <a:endParaRPr lang="en-US" dirty="0"/>
          </a:p>
        </p:txBody>
      </p:sp>
      <p:sp>
        <p:nvSpPr>
          <p:cNvPr id="2" name="AutoShape 4" descr="Neural Networks Hyperparameter tuning in tensorflow 2.0 | by SiDdhartha |  ML Book | Medium">
            <a:extLst>
              <a:ext uri="{FF2B5EF4-FFF2-40B4-BE49-F238E27FC236}">
                <a16:creationId xmlns:a16="http://schemas.microsoft.com/office/drawing/2014/main" id="{7131B66C-4AA1-0F49-8C17-552C01ED9334}"/>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4" name="TextBox 3"/>
          <p:cNvSpPr txBox="1"/>
          <p:nvPr/>
        </p:nvSpPr>
        <p:spPr>
          <a:xfrm>
            <a:off x="155575" y="1046796"/>
            <a:ext cx="2273379" cy="492443"/>
          </a:xfrm>
          <a:prstGeom prst="rect">
            <a:avLst/>
          </a:prstGeom>
          <a:noFill/>
        </p:spPr>
        <p:txBody>
          <a:bodyPr wrap="none" rtlCol="0">
            <a:spAutoFit/>
          </a:bodyPr>
          <a:lstStyle/>
          <a:p>
            <a:r>
              <a:rPr lang="en-US" sz="2600" b="1" dirty="0">
                <a:latin typeface="Georgia" panose="02040502050405020303" pitchFamily="18" charset="0"/>
              </a:rPr>
              <a:t>ER Diagram</a:t>
            </a:r>
          </a:p>
        </p:txBody>
      </p:sp>
      <p:pic>
        <p:nvPicPr>
          <p:cNvPr id="5" name="Picture 4"/>
          <p:cNvPicPr>
            <a:picLocks noChangeAspect="1"/>
          </p:cNvPicPr>
          <p:nvPr/>
        </p:nvPicPr>
        <p:blipFill>
          <a:blip r:embed="rId4"/>
          <a:stretch>
            <a:fillRect/>
          </a:stretch>
        </p:blipFill>
        <p:spPr>
          <a:xfrm>
            <a:off x="5981559" y="4959285"/>
            <a:ext cx="1685333" cy="1295581"/>
          </a:xfrm>
          <a:prstGeom prst="rect">
            <a:avLst/>
          </a:prstGeom>
        </p:spPr>
      </p:pic>
      <p:pic>
        <p:nvPicPr>
          <p:cNvPr id="10" name="Picture 9"/>
          <p:cNvPicPr>
            <a:picLocks noChangeAspect="1"/>
          </p:cNvPicPr>
          <p:nvPr/>
        </p:nvPicPr>
        <p:blipFill>
          <a:blip r:embed="rId5"/>
          <a:stretch>
            <a:fillRect/>
          </a:stretch>
        </p:blipFill>
        <p:spPr>
          <a:xfrm>
            <a:off x="5715000" y="4274174"/>
            <a:ext cx="1547446" cy="747141"/>
          </a:xfrm>
          <a:prstGeom prst="rect">
            <a:avLst/>
          </a:prstGeom>
        </p:spPr>
      </p:pic>
      <p:pic>
        <p:nvPicPr>
          <p:cNvPr id="14" name="Picture 13"/>
          <p:cNvPicPr>
            <a:picLocks noChangeAspect="1"/>
          </p:cNvPicPr>
          <p:nvPr/>
        </p:nvPicPr>
        <p:blipFill rotWithShape="1">
          <a:blip r:embed="rId6">
            <a:extLst>
              <a:ext uri="{28A0092B-C50C-407E-A947-70E740481C1C}">
                <a14:useLocalDpi xmlns:a14="http://schemas.microsoft.com/office/drawing/2010/main" val="0"/>
              </a:ext>
            </a:extLst>
          </a:blip>
          <a:srcRect t="9912"/>
          <a:stretch/>
        </p:blipFill>
        <p:spPr>
          <a:xfrm>
            <a:off x="0" y="1539241"/>
            <a:ext cx="9906000" cy="4787620"/>
          </a:xfrm>
          <a:prstGeom prst="rect">
            <a:avLst/>
          </a:prstGeom>
        </p:spPr>
      </p:pic>
      <p:pic>
        <p:nvPicPr>
          <p:cNvPr id="15" name="Picture 14"/>
          <p:cNvPicPr>
            <a:picLocks noChangeAspect="1"/>
          </p:cNvPicPr>
          <p:nvPr/>
        </p:nvPicPr>
        <p:blipFill>
          <a:blip r:embed="rId7"/>
          <a:stretch>
            <a:fillRect/>
          </a:stretch>
        </p:blipFill>
        <p:spPr>
          <a:xfrm>
            <a:off x="6388696" y="2473652"/>
            <a:ext cx="200053" cy="181000"/>
          </a:xfrm>
          <a:prstGeom prst="rect">
            <a:avLst/>
          </a:prstGeom>
        </p:spPr>
      </p:pic>
      <p:pic>
        <p:nvPicPr>
          <p:cNvPr id="16" name="Picture 15"/>
          <p:cNvPicPr>
            <a:picLocks noChangeAspect="1"/>
          </p:cNvPicPr>
          <p:nvPr/>
        </p:nvPicPr>
        <p:blipFill>
          <a:blip r:embed="rId8"/>
          <a:stretch>
            <a:fillRect/>
          </a:stretch>
        </p:blipFill>
        <p:spPr>
          <a:xfrm>
            <a:off x="4060932" y="2942112"/>
            <a:ext cx="219106" cy="200053"/>
          </a:xfrm>
          <a:prstGeom prst="rect">
            <a:avLst/>
          </a:prstGeom>
        </p:spPr>
      </p:pic>
      <p:pic>
        <p:nvPicPr>
          <p:cNvPr id="17" name="Picture 16"/>
          <p:cNvPicPr>
            <a:picLocks noChangeAspect="1"/>
          </p:cNvPicPr>
          <p:nvPr/>
        </p:nvPicPr>
        <p:blipFill>
          <a:blip r:embed="rId8"/>
          <a:stretch>
            <a:fillRect/>
          </a:stretch>
        </p:blipFill>
        <p:spPr>
          <a:xfrm>
            <a:off x="5605447" y="4244683"/>
            <a:ext cx="219106" cy="200053"/>
          </a:xfrm>
          <a:prstGeom prst="rect">
            <a:avLst/>
          </a:prstGeom>
        </p:spPr>
      </p:pic>
    </p:spTree>
    <p:extLst>
      <p:ext uri="{BB962C8B-B14F-4D97-AF65-F5344CB8AC3E}">
        <p14:creationId xmlns:p14="http://schemas.microsoft.com/office/powerpoint/2010/main" val="244767720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1A14F4-1DA5-3A14-695D-65199F9BB25D}"/>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8BFC3007-2971-043E-2BE3-3C53B61CA10B}"/>
              </a:ext>
            </a:extLst>
          </p:cNvPr>
          <p:cNvPicPr>
            <a:picLocks noChangeAspect="1"/>
          </p:cNvPicPr>
          <p:nvPr/>
        </p:nvPicPr>
        <p:blipFill rotWithShape="1">
          <a:blip r:embed="rId2">
            <a:extLst>
              <a:ext uri="{28A0092B-C50C-407E-A947-70E740481C1C}">
                <a14:useLocalDpi xmlns:a14="http://schemas.microsoft.com/office/drawing/2010/main" val="0"/>
              </a:ext>
            </a:extLst>
          </a:blip>
          <a:srcRect l="48363" r="-1" b="45098"/>
          <a:stretch/>
        </p:blipFill>
        <p:spPr>
          <a:xfrm>
            <a:off x="0" y="6750969"/>
            <a:ext cx="9906000" cy="131162"/>
          </a:xfrm>
          <a:prstGeom prst="rect">
            <a:avLst/>
          </a:prstGeom>
        </p:spPr>
      </p:pic>
      <p:pic>
        <p:nvPicPr>
          <p:cNvPr id="6" name="Picture 5">
            <a:extLst>
              <a:ext uri="{FF2B5EF4-FFF2-40B4-BE49-F238E27FC236}">
                <a16:creationId xmlns:a16="http://schemas.microsoft.com/office/drawing/2014/main" id="{E7555D82-4538-145B-E280-8315A9597B0E}"/>
              </a:ext>
            </a:extLst>
          </p:cNvPr>
          <p:cNvPicPr>
            <a:picLocks noChangeAspect="1"/>
          </p:cNvPicPr>
          <p:nvPr/>
        </p:nvPicPr>
        <p:blipFill rotWithShape="1">
          <a:blip r:embed="rId3"/>
          <a:srcRect b="6633"/>
          <a:stretch/>
        </p:blipFill>
        <p:spPr>
          <a:xfrm>
            <a:off x="0" y="0"/>
            <a:ext cx="3927231" cy="939765"/>
          </a:xfrm>
          <a:prstGeom prst="rect">
            <a:avLst/>
          </a:prstGeom>
        </p:spPr>
      </p:pic>
      <p:pic>
        <p:nvPicPr>
          <p:cNvPr id="7" name="Picture 6">
            <a:extLst>
              <a:ext uri="{FF2B5EF4-FFF2-40B4-BE49-F238E27FC236}">
                <a16:creationId xmlns:a16="http://schemas.microsoft.com/office/drawing/2014/main" id="{77BBB5B2-1C0F-718D-7919-9CAA31C0145E}"/>
              </a:ext>
            </a:extLst>
          </p:cNvPr>
          <p:cNvPicPr>
            <a:picLocks noChangeAspect="1"/>
          </p:cNvPicPr>
          <p:nvPr/>
        </p:nvPicPr>
        <p:blipFill rotWithShape="1">
          <a:blip r:embed="rId2">
            <a:extLst>
              <a:ext uri="{28A0092B-C50C-407E-A947-70E740481C1C}">
                <a14:useLocalDpi xmlns:a14="http://schemas.microsoft.com/office/drawing/2010/main" val="0"/>
              </a:ext>
            </a:extLst>
          </a:blip>
          <a:srcRect l="48363" r="-1" b="45098"/>
          <a:stretch/>
        </p:blipFill>
        <p:spPr>
          <a:xfrm>
            <a:off x="2637692" y="0"/>
            <a:ext cx="7268307" cy="525780"/>
          </a:xfrm>
          <a:prstGeom prst="rect">
            <a:avLst/>
          </a:prstGeom>
        </p:spPr>
      </p:pic>
      <p:sp>
        <p:nvSpPr>
          <p:cNvPr id="11" name="Rectangle 10">
            <a:extLst>
              <a:ext uri="{FF2B5EF4-FFF2-40B4-BE49-F238E27FC236}">
                <a16:creationId xmlns:a16="http://schemas.microsoft.com/office/drawing/2014/main" id="{A7E9CFB4-0160-D836-B277-EDE02129A5A9}"/>
              </a:ext>
            </a:extLst>
          </p:cNvPr>
          <p:cNvSpPr/>
          <p:nvPr/>
        </p:nvSpPr>
        <p:spPr>
          <a:xfrm>
            <a:off x="1652953" y="107031"/>
            <a:ext cx="8253045" cy="336631"/>
          </a:xfrm>
          <a:prstGeom prst="rect">
            <a:avLst/>
          </a:prstGeom>
        </p:spPr>
        <p:txBody>
          <a:bodyPr wrap="square">
            <a:spAutoFit/>
          </a:bodyPr>
          <a:lstStyle/>
          <a:p>
            <a:pPr algn="ctr">
              <a:lnSpc>
                <a:spcPct val="107000"/>
              </a:lnSpc>
              <a:spcAft>
                <a:spcPts val="800"/>
              </a:spcAft>
            </a:pPr>
            <a:r>
              <a:rPr lang="en-IN" sz="1600" b="1" dirty="0">
                <a:solidFill>
                  <a:schemeClr val="bg1"/>
                </a:solidFill>
                <a:latin typeface="Cambria" panose="02040503050406030204" pitchFamily="18" charset="0"/>
              </a:rPr>
              <a:t>MUKESH PATEL SCHOOL OF TECHNOLOGY MANAGEMENT &amp; ENGINEERING, SHIRPUR</a:t>
            </a:r>
            <a:endParaRPr lang="en-US" sz="1600" b="1" dirty="0">
              <a:solidFill>
                <a:schemeClr val="bg1"/>
              </a:solidFill>
              <a:latin typeface="Cambria" panose="02040503050406030204" pitchFamily="18" charset="0"/>
            </a:endParaRPr>
          </a:p>
        </p:txBody>
      </p:sp>
      <p:sp>
        <p:nvSpPr>
          <p:cNvPr id="3" name="Slide Number Placeholder 2">
            <a:extLst>
              <a:ext uri="{FF2B5EF4-FFF2-40B4-BE49-F238E27FC236}">
                <a16:creationId xmlns:a16="http://schemas.microsoft.com/office/drawing/2014/main" id="{DA83F21E-5495-5CE8-71D0-F72DD05C62B3}"/>
              </a:ext>
            </a:extLst>
          </p:cNvPr>
          <p:cNvSpPr>
            <a:spLocks noGrp="1"/>
          </p:cNvSpPr>
          <p:nvPr>
            <p:ph type="sldNum" sz="quarter" idx="12"/>
          </p:nvPr>
        </p:nvSpPr>
        <p:spPr/>
        <p:txBody>
          <a:bodyPr/>
          <a:lstStyle/>
          <a:p>
            <a:fld id="{9DC013F7-6D70-4318-BA41-212A9B59413B}" type="slidenum">
              <a:rPr lang="en-US" smtClean="0"/>
              <a:t>14</a:t>
            </a:fld>
            <a:endParaRPr lang="en-US" dirty="0"/>
          </a:p>
        </p:txBody>
      </p:sp>
      <p:sp>
        <p:nvSpPr>
          <p:cNvPr id="2" name="AutoShape 4" descr="Neural Networks Hyperparameter tuning in tensorflow 2.0 | by SiDdhartha |  ML Book | Medium">
            <a:extLst>
              <a:ext uri="{FF2B5EF4-FFF2-40B4-BE49-F238E27FC236}">
                <a16:creationId xmlns:a16="http://schemas.microsoft.com/office/drawing/2014/main" id="{485CD39B-8E62-A894-894E-AC9A3CBBC006}"/>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8" name="Rectangle 7">
            <a:extLst>
              <a:ext uri="{FF2B5EF4-FFF2-40B4-BE49-F238E27FC236}">
                <a16:creationId xmlns:a16="http://schemas.microsoft.com/office/drawing/2014/main" id="{B7A6876A-FCAD-77C9-E31A-89D15EF39D48}"/>
              </a:ext>
            </a:extLst>
          </p:cNvPr>
          <p:cNvSpPr/>
          <p:nvPr/>
        </p:nvSpPr>
        <p:spPr>
          <a:xfrm>
            <a:off x="-178529" y="1174621"/>
            <a:ext cx="9418320" cy="523220"/>
          </a:xfrm>
          <a:prstGeom prst="rect">
            <a:avLst/>
          </a:prstGeom>
        </p:spPr>
        <p:txBody>
          <a:bodyPr wrap="square">
            <a:spAutoFit/>
          </a:bodyPr>
          <a:lstStyle/>
          <a:p>
            <a:pPr algn="ctr"/>
            <a:endParaRPr lang="en-US" sz="2800" b="1" dirty="0">
              <a:latin typeface="Teko SemiBold" panose="02000000000000000000" pitchFamily="2" charset="0"/>
              <a:cs typeface="Teko SemiBold" panose="02000000000000000000" pitchFamily="2" charset="0"/>
            </a:endParaRPr>
          </a:p>
        </p:txBody>
      </p:sp>
      <p:sp>
        <p:nvSpPr>
          <p:cNvPr id="5" name="Text 3">
            <a:extLst>
              <a:ext uri="{FF2B5EF4-FFF2-40B4-BE49-F238E27FC236}">
                <a16:creationId xmlns:a16="http://schemas.microsoft.com/office/drawing/2014/main" id="{FFAA5FB4-2353-B853-D731-B4F79BCA2EDD}"/>
              </a:ext>
            </a:extLst>
          </p:cNvPr>
          <p:cNvSpPr/>
          <p:nvPr/>
        </p:nvSpPr>
        <p:spPr>
          <a:xfrm>
            <a:off x="306971" y="1241904"/>
            <a:ext cx="9010473" cy="594360"/>
          </a:xfrm>
          <a:prstGeom prst="rect">
            <a:avLst/>
          </a:prstGeom>
          <a:noFill/>
          <a:ln/>
        </p:spPr>
        <p:txBody>
          <a:bodyPr wrap="square" lIns="0" tIns="0" rIns="0" bIns="0" rtlCol="0" anchor="ctr"/>
          <a:lstStyle/>
          <a:p>
            <a:r>
              <a:rPr lang="en-US" sz="2700" b="1" dirty="0">
                <a:solidFill>
                  <a:srgbClr val="BC312C"/>
                </a:solidFill>
                <a:latin typeface="Cambria" pitchFamily="34" charset="0"/>
                <a:ea typeface="Cambria" pitchFamily="34" charset="-122"/>
                <a:cs typeface="Cambria" pitchFamily="34" charset="-120"/>
              </a:rPr>
              <a:t>Tools, Technologies and Software</a:t>
            </a:r>
            <a:endParaRPr lang="en-US" sz="2700" dirty="0"/>
          </a:p>
        </p:txBody>
      </p:sp>
      <p:sp>
        <p:nvSpPr>
          <p:cNvPr id="12" name="Shape 4">
            <a:extLst>
              <a:ext uri="{FF2B5EF4-FFF2-40B4-BE49-F238E27FC236}">
                <a16:creationId xmlns:a16="http://schemas.microsoft.com/office/drawing/2014/main" id="{F254803E-9B27-839E-D398-582A9CFF3C9E}"/>
              </a:ext>
            </a:extLst>
          </p:cNvPr>
          <p:cNvSpPr/>
          <p:nvPr/>
        </p:nvSpPr>
        <p:spPr>
          <a:xfrm>
            <a:off x="306033" y="1836264"/>
            <a:ext cx="8548419" cy="0"/>
          </a:xfrm>
          <a:prstGeom prst="line">
            <a:avLst/>
          </a:prstGeom>
          <a:noFill/>
          <a:ln w="12700">
            <a:solidFill>
              <a:srgbClr val="E0DAD8"/>
            </a:solidFill>
            <a:prstDash val="solid"/>
          </a:ln>
        </p:spPr>
        <p:txBody>
          <a:bodyPr/>
          <a:lstStyle/>
          <a:p>
            <a:endParaRPr lang="en-IN"/>
          </a:p>
        </p:txBody>
      </p:sp>
      <p:sp>
        <p:nvSpPr>
          <p:cNvPr id="14" name="Shape 5">
            <a:extLst>
              <a:ext uri="{FF2B5EF4-FFF2-40B4-BE49-F238E27FC236}">
                <a16:creationId xmlns:a16="http://schemas.microsoft.com/office/drawing/2014/main" id="{C1645358-FEC7-8FAD-CD1A-51370C6F5D6A}"/>
              </a:ext>
            </a:extLst>
          </p:cNvPr>
          <p:cNvSpPr/>
          <p:nvPr/>
        </p:nvSpPr>
        <p:spPr>
          <a:xfrm>
            <a:off x="521574" y="2175315"/>
            <a:ext cx="2082619" cy="1837778"/>
          </a:xfrm>
          <a:prstGeom prst="rect">
            <a:avLst/>
          </a:prstGeom>
          <a:solidFill>
            <a:srgbClr val="FFFFFF"/>
          </a:solidFill>
          <a:ln w="12700">
            <a:solidFill>
              <a:srgbClr val="BC312C"/>
            </a:solidFill>
            <a:prstDash val="solid"/>
          </a:ln>
        </p:spPr>
        <p:txBody>
          <a:bodyPr/>
          <a:lstStyle/>
          <a:p>
            <a:endParaRPr lang="en-IN"/>
          </a:p>
        </p:txBody>
      </p:sp>
      <p:sp>
        <p:nvSpPr>
          <p:cNvPr id="16" name="Shape 6">
            <a:extLst>
              <a:ext uri="{FF2B5EF4-FFF2-40B4-BE49-F238E27FC236}">
                <a16:creationId xmlns:a16="http://schemas.microsoft.com/office/drawing/2014/main" id="{A00F0501-417C-F55E-B88C-56DB610B7899}"/>
              </a:ext>
            </a:extLst>
          </p:cNvPr>
          <p:cNvSpPr/>
          <p:nvPr/>
        </p:nvSpPr>
        <p:spPr>
          <a:xfrm>
            <a:off x="521574" y="2175315"/>
            <a:ext cx="45719" cy="1837778"/>
          </a:xfrm>
          <a:prstGeom prst="rect">
            <a:avLst/>
          </a:prstGeom>
          <a:solidFill>
            <a:srgbClr val="BC312C"/>
          </a:solidFill>
          <a:ln/>
        </p:spPr>
        <p:txBody>
          <a:bodyPr/>
          <a:lstStyle/>
          <a:p>
            <a:endParaRPr lang="en-IN"/>
          </a:p>
        </p:txBody>
      </p:sp>
      <p:sp>
        <p:nvSpPr>
          <p:cNvPr id="18" name="Text 7">
            <a:extLst>
              <a:ext uri="{FF2B5EF4-FFF2-40B4-BE49-F238E27FC236}">
                <a16:creationId xmlns:a16="http://schemas.microsoft.com/office/drawing/2014/main" id="{C8102C8D-0BE3-E4A1-1551-BA2CE71DDE93}"/>
              </a:ext>
            </a:extLst>
          </p:cNvPr>
          <p:cNvSpPr/>
          <p:nvPr/>
        </p:nvSpPr>
        <p:spPr>
          <a:xfrm>
            <a:off x="675529" y="2285043"/>
            <a:ext cx="1871721" cy="317886"/>
          </a:xfrm>
          <a:prstGeom prst="rect">
            <a:avLst/>
          </a:prstGeom>
          <a:noFill/>
          <a:ln/>
        </p:spPr>
        <p:txBody>
          <a:bodyPr wrap="square" lIns="0" tIns="0" rIns="0" bIns="0" rtlCol="0" anchor="ctr"/>
          <a:lstStyle/>
          <a:p>
            <a:pPr marL="0" indent="0">
              <a:buNone/>
            </a:pPr>
            <a:r>
              <a:rPr lang="en-US" b="1" dirty="0">
                <a:solidFill>
                  <a:srgbClr val="2F3C7E"/>
                </a:solidFill>
                <a:latin typeface="Calibri" pitchFamily="34" charset="0"/>
                <a:ea typeface="Calibri" pitchFamily="34" charset="-122"/>
                <a:cs typeface="Calibri" pitchFamily="34" charset="-120"/>
              </a:rPr>
              <a:t>Mobile Frontend</a:t>
            </a:r>
            <a:endParaRPr lang="en-US" dirty="0"/>
          </a:p>
        </p:txBody>
      </p:sp>
      <p:sp>
        <p:nvSpPr>
          <p:cNvPr id="20" name="Text 8">
            <a:extLst>
              <a:ext uri="{FF2B5EF4-FFF2-40B4-BE49-F238E27FC236}">
                <a16:creationId xmlns:a16="http://schemas.microsoft.com/office/drawing/2014/main" id="{9D0F70B9-4DF2-A683-ED1B-AF8C18D950E0}"/>
              </a:ext>
            </a:extLst>
          </p:cNvPr>
          <p:cNvSpPr/>
          <p:nvPr/>
        </p:nvSpPr>
        <p:spPr>
          <a:xfrm>
            <a:off x="675529" y="2614226"/>
            <a:ext cx="1871721" cy="496697"/>
          </a:xfrm>
          <a:prstGeom prst="rect">
            <a:avLst/>
          </a:prstGeom>
          <a:noFill/>
          <a:ln/>
        </p:spPr>
        <p:txBody>
          <a:bodyPr wrap="square" lIns="0" tIns="0" rIns="0" bIns="0" rtlCol="0" anchor="ctr"/>
          <a:lstStyle/>
          <a:p>
            <a:pPr marL="0" indent="0">
              <a:lnSpc>
                <a:spcPct val="100000"/>
              </a:lnSpc>
              <a:buNone/>
            </a:pPr>
            <a:r>
              <a:rPr lang="en-US" sz="1400" b="1" dirty="0">
                <a:solidFill>
                  <a:srgbClr val="BC312C"/>
                </a:solidFill>
                <a:latin typeface="Calibri" pitchFamily="34" charset="0"/>
                <a:ea typeface="Calibri" pitchFamily="34" charset="-122"/>
                <a:cs typeface="Calibri" pitchFamily="34" charset="-120"/>
              </a:rPr>
              <a:t>Flutter (Dart)</a:t>
            </a:r>
            <a:endParaRPr lang="en-US" sz="1400" dirty="0"/>
          </a:p>
        </p:txBody>
      </p:sp>
      <p:sp>
        <p:nvSpPr>
          <p:cNvPr id="22" name="Text 9">
            <a:extLst>
              <a:ext uri="{FF2B5EF4-FFF2-40B4-BE49-F238E27FC236}">
                <a16:creationId xmlns:a16="http://schemas.microsoft.com/office/drawing/2014/main" id="{FB1BD70B-B35C-63C6-CFEF-ED487030449C}"/>
              </a:ext>
            </a:extLst>
          </p:cNvPr>
          <p:cNvSpPr/>
          <p:nvPr/>
        </p:nvSpPr>
        <p:spPr>
          <a:xfrm>
            <a:off x="675529" y="3089714"/>
            <a:ext cx="1871721" cy="794715"/>
          </a:xfrm>
          <a:prstGeom prst="rect">
            <a:avLst/>
          </a:prstGeom>
          <a:noFill/>
          <a:ln/>
        </p:spPr>
        <p:txBody>
          <a:bodyPr wrap="square" lIns="0" tIns="0" rIns="0" bIns="0" rtlCol="0" anchor="t"/>
          <a:lstStyle/>
          <a:p>
            <a:pPr marL="0" indent="0">
              <a:lnSpc>
                <a:spcPct val="108000"/>
              </a:lnSpc>
              <a:buNone/>
            </a:pPr>
            <a:r>
              <a:rPr lang="en-US" sz="1200" dirty="0">
                <a:solidFill>
                  <a:srgbClr val="262626"/>
                </a:solidFill>
                <a:latin typeface="Calibri" pitchFamily="34" charset="0"/>
                <a:ea typeface="Calibri" pitchFamily="34" charset="-122"/>
                <a:cs typeface="Calibri" pitchFamily="34" charset="-120"/>
              </a:rPr>
              <a:t>Cross-platform app so zero-install friction interface for non-technical owners</a:t>
            </a:r>
            <a:endParaRPr lang="en-US" sz="1200" dirty="0"/>
          </a:p>
        </p:txBody>
      </p:sp>
      <p:sp>
        <p:nvSpPr>
          <p:cNvPr id="24" name="Shape 10">
            <a:extLst>
              <a:ext uri="{FF2B5EF4-FFF2-40B4-BE49-F238E27FC236}">
                <a16:creationId xmlns:a16="http://schemas.microsoft.com/office/drawing/2014/main" id="{248982C2-7596-4B3F-AA81-312E21D4EF5B}"/>
              </a:ext>
            </a:extLst>
          </p:cNvPr>
          <p:cNvSpPr/>
          <p:nvPr/>
        </p:nvSpPr>
        <p:spPr>
          <a:xfrm>
            <a:off x="2768377" y="2175315"/>
            <a:ext cx="2082619" cy="1837778"/>
          </a:xfrm>
          <a:prstGeom prst="rect">
            <a:avLst/>
          </a:prstGeom>
          <a:solidFill>
            <a:srgbClr val="FFFFFF"/>
          </a:solidFill>
          <a:ln w="12700">
            <a:solidFill>
              <a:srgbClr val="BC312C"/>
            </a:solidFill>
            <a:prstDash val="solid"/>
          </a:ln>
        </p:spPr>
        <p:txBody>
          <a:bodyPr/>
          <a:lstStyle/>
          <a:p>
            <a:endParaRPr lang="en-IN"/>
          </a:p>
        </p:txBody>
      </p:sp>
      <p:sp>
        <p:nvSpPr>
          <p:cNvPr id="26" name="Shape 11">
            <a:extLst>
              <a:ext uri="{FF2B5EF4-FFF2-40B4-BE49-F238E27FC236}">
                <a16:creationId xmlns:a16="http://schemas.microsoft.com/office/drawing/2014/main" id="{841AAD53-A0FA-7174-9F95-B9E5014D48B1}"/>
              </a:ext>
            </a:extLst>
          </p:cNvPr>
          <p:cNvSpPr/>
          <p:nvPr/>
        </p:nvSpPr>
        <p:spPr>
          <a:xfrm>
            <a:off x="2768377" y="2175315"/>
            <a:ext cx="45719" cy="1837778"/>
          </a:xfrm>
          <a:prstGeom prst="rect">
            <a:avLst/>
          </a:prstGeom>
          <a:solidFill>
            <a:srgbClr val="BC312C"/>
          </a:solidFill>
          <a:ln/>
        </p:spPr>
        <p:txBody>
          <a:bodyPr/>
          <a:lstStyle/>
          <a:p>
            <a:endParaRPr lang="en-IN"/>
          </a:p>
        </p:txBody>
      </p:sp>
      <p:sp>
        <p:nvSpPr>
          <p:cNvPr id="28" name="Text 12">
            <a:extLst>
              <a:ext uri="{FF2B5EF4-FFF2-40B4-BE49-F238E27FC236}">
                <a16:creationId xmlns:a16="http://schemas.microsoft.com/office/drawing/2014/main" id="{FA90CEB9-E861-75D8-056C-9C67438A0766}"/>
              </a:ext>
            </a:extLst>
          </p:cNvPr>
          <p:cNvSpPr/>
          <p:nvPr/>
        </p:nvSpPr>
        <p:spPr>
          <a:xfrm>
            <a:off x="2922332" y="2285043"/>
            <a:ext cx="1871721" cy="317886"/>
          </a:xfrm>
          <a:prstGeom prst="rect">
            <a:avLst/>
          </a:prstGeom>
          <a:noFill/>
          <a:ln/>
        </p:spPr>
        <p:txBody>
          <a:bodyPr wrap="square" lIns="0" tIns="0" rIns="0" bIns="0" rtlCol="0" anchor="ctr"/>
          <a:lstStyle/>
          <a:p>
            <a:pPr marL="0" indent="0">
              <a:buNone/>
            </a:pPr>
            <a:r>
              <a:rPr lang="en-US" b="1" dirty="0">
                <a:solidFill>
                  <a:srgbClr val="2F3C7E"/>
                </a:solidFill>
                <a:latin typeface="Calibri" pitchFamily="34" charset="0"/>
                <a:ea typeface="Calibri" pitchFamily="34" charset="-122"/>
                <a:cs typeface="Calibri" pitchFamily="34" charset="-120"/>
              </a:rPr>
              <a:t>Forecasting Engine</a:t>
            </a:r>
            <a:endParaRPr lang="en-US" dirty="0"/>
          </a:p>
        </p:txBody>
      </p:sp>
      <p:sp>
        <p:nvSpPr>
          <p:cNvPr id="30" name="Text 13">
            <a:extLst>
              <a:ext uri="{FF2B5EF4-FFF2-40B4-BE49-F238E27FC236}">
                <a16:creationId xmlns:a16="http://schemas.microsoft.com/office/drawing/2014/main" id="{985DAB09-0710-B3D5-6C2F-2E7732ED2872}"/>
              </a:ext>
            </a:extLst>
          </p:cNvPr>
          <p:cNvSpPr/>
          <p:nvPr/>
        </p:nvSpPr>
        <p:spPr>
          <a:xfrm>
            <a:off x="2922332" y="2614226"/>
            <a:ext cx="1871721" cy="496697"/>
          </a:xfrm>
          <a:prstGeom prst="rect">
            <a:avLst/>
          </a:prstGeom>
          <a:noFill/>
          <a:ln/>
        </p:spPr>
        <p:txBody>
          <a:bodyPr wrap="square" lIns="0" tIns="0" rIns="0" bIns="0" rtlCol="0" anchor="ctr"/>
          <a:lstStyle/>
          <a:p>
            <a:pPr marL="0" indent="0">
              <a:lnSpc>
                <a:spcPct val="100000"/>
              </a:lnSpc>
              <a:buNone/>
            </a:pPr>
            <a:r>
              <a:rPr lang="en-US" sz="1400" b="1" dirty="0">
                <a:solidFill>
                  <a:srgbClr val="BC312C"/>
                </a:solidFill>
                <a:latin typeface="Calibri" pitchFamily="34" charset="0"/>
                <a:ea typeface="Calibri" pitchFamily="34" charset="-122"/>
                <a:cs typeface="Calibri" pitchFamily="34" charset="-120"/>
              </a:rPr>
              <a:t>Facebook Prophet + XGBoost (Python)</a:t>
            </a:r>
            <a:endParaRPr lang="en-US" sz="1400" dirty="0"/>
          </a:p>
        </p:txBody>
      </p:sp>
      <p:sp>
        <p:nvSpPr>
          <p:cNvPr id="32" name="Text 14">
            <a:extLst>
              <a:ext uri="{FF2B5EF4-FFF2-40B4-BE49-F238E27FC236}">
                <a16:creationId xmlns:a16="http://schemas.microsoft.com/office/drawing/2014/main" id="{FB1DA546-E63F-5717-02D9-BD17CED9DA42}"/>
              </a:ext>
            </a:extLst>
          </p:cNvPr>
          <p:cNvSpPr/>
          <p:nvPr/>
        </p:nvSpPr>
        <p:spPr>
          <a:xfrm>
            <a:off x="2922332" y="3089714"/>
            <a:ext cx="1871721" cy="794715"/>
          </a:xfrm>
          <a:prstGeom prst="rect">
            <a:avLst/>
          </a:prstGeom>
          <a:noFill/>
          <a:ln/>
        </p:spPr>
        <p:txBody>
          <a:bodyPr wrap="square" lIns="0" tIns="0" rIns="0" bIns="0" rtlCol="0" anchor="t"/>
          <a:lstStyle/>
          <a:p>
            <a:pPr marL="0" indent="0">
              <a:lnSpc>
                <a:spcPct val="108000"/>
              </a:lnSpc>
              <a:buNone/>
            </a:pPr>
            <a:r>
              <a:rPr lang="en-US" sz="1200" dirty="0">
                <a:solidFill>
                  <a:srgbClr val="262626"/>
                </a:solidFill>
                <a:latin typeface="Calibri" pitchFamily="34" charset="0"/>
                <a:ea typeface="Calibri" pitchFamily="34" charset="-122"/>
                <a:cs typeface="Calibri" pitchFamily="34" charset="-120"/>
              </a:rPr>
              <a:t>Prophet handles trend/seasonality; XGBoost models the residuals — CPU only, no GPU needed</a:t>
            </a:r>
            <a:endParaRPr lang="en-US" sz="1200" dirty="0"/>
          </a:p>
        </p:txBody>
      </p:sp>
      <p:sp>
        <p:nvSpPr>
          <p:cNvPr id="34" name="Shape 15">
            <a:extLst>
              <a:ext uri="{FF2B5EF4-FFF2-40B4-BE49-F238E27FC236}">
                <a16:creationId xmlns:a16="http://schemas.microsoft.com/office/drawing/2014/main" id="{3E3A93E5-0CE7-EFD6-17A1-679F53FE8FAF}"/>
              </a:ext>
            </a:extLst>
          </p:cNvPr>
          <p:cNvSpPr/>
          <p:nvPr/>
        </p:nvSpPr>
        <p:spPr>
          <a:xfrm>
            <a:off x="5033843" y="2175315"/>
            <a:ext cx="2082619" cy="1837778"/>
          </a:xfrm>
          <a:prstGeom prst="rect">
            <a:avLst/>
          </a:prstGeom>
          <a:solidFill>
            <a:srgbClr val="FFFFFF"/>
          </a:solidFill>
          <a:ln w="12700">
            <a:solidFill>
              <a:srgbClr val="BC312C"/>
            </a:solidFill>
            <a:prstDash val="solid"/>
          </a:ln>
        </p:spPr>
        <p:txBody>
          <a:bodyPr/>
          <a:lstStyle/>
          <a:p>
            <a:endParaRPr lang="en-IN"/>
          </a:p>
        </p:txBody>
      </p:sp>
      <p:sp>
        <p:nvSpPr>
          <p:cNvPr id="36" name="Shape 16">
            <a:extLst>
              <a:ext uri="{FF2B5EF4-FFF2-40B4-BE49-F238E27FC236}">
                <a16:creationId xmlns:a16="http://schemas.microsoft.com/office/drawing/2014/main" id="{B813A8D5-73FF-2D6C-DD04-E8E5DAE00DE0}"/>
              </a:ext>
            </a:extLst>
          </p:cNvPr>
          <p:cNvSpPr/>
          <p:nvPr/>
        </p:nvSpPr>
        <p:spPr>
          <a:xfrm>
            <a:off x="5033843" y="2175315"/>
            <a:ext cx="45719" cy="1837778"/>
          </a:xfrm>
          <a:prstGeom prst="rect">
            <a:avLst/>
          </a:prstGeom>
          <a:solidFill>
            <a:srgbClr val="BC312C"/>
          </a:solidFill>
          <a:ln/>
        </p:spPr>
        <p:txBody>
          <a:bodyPr/>
          <a:lstStyle/>
          <a:p>
            <a:endParaRPr lang="en-IN"/>
          </a:p>
        </p:txBody>
      </p:sp>
      <p:sp>
        <p:nvSpPr>
          <p:cNvPr id="38" name="Text 17">
            <a:extLst>
              <a:ext uri="{FF2B5EF4-FFF2-40B4-BE49-F238E27FC236}">
                <a16:creationId xmlns:a16="http://schemas.microsoft.com/office/drawing/2014/main" id="{972C71A3-4126-1B03-1975-0583164AE7EF}"/>
              </a:ext>
            </a:extLst>
          </p:cNvPr>
          <p:cNvSpPr/>
          <p:nvPr/>
        </p:nvSpPr>
        <p:spPr>
          <a:xfrm>
            <a:off x="5187798" y="2285043"/>
            <a:ext cx="1871721" cy="317886"/>
          </a:xfrm>
          <a:prstGeom prst="rect">
            <a:avLst/>
          </a:prstGeom>
          <a:noFill/>
          <a:ln/>
        </p:spPr>
        <p:txBody>
          <a:bodyPr wrap="square" lIns="0" tIns="0" rIns="0" bIns="0" rtlCol="0" anchor="ctr"/>
          <a:lstStyle/>
          <a:p>
            <a:pPr marL="0" indent="0">
              <a:buNone/>
            </a:pPr>
            <a:r>
              <a:rPr lang="en-US" b="1" dirty="0">
                <a:solidFill>
                  <a:srgbClr val="2F3C7E"/>
                </a:solidFill>
                <a:latin typeface="Calibri" pitchFamily="34" charset="0"/>
                <a:ea typeface="Calibri" pitchFamily="34" charset="-122"/>
                <a:cs typeface="Calibri" pitchFamily="34" charset="-120"/>
              </a:rPr>
              <a:t>External Regressors</a:t>
            </a:r>
            <a:endParaRPr lang="en-US" dirty="0"/>
          </a:p>
        </p:txBody>
      </p:sp>
      <p:sp>
        <p:nvSpPr>
          <p:cNvPr id="40" name="Text 18">
            <a:extLst>
              <a:ext uri="{FF2B5EF4-FFF2-40B4-BE49-F238E27FC236}">
                <a16:creationId xmlns:a16="http://schemas.microsoft.com/office/drawing/2014/main" id="{9089B26B-281F-EBA2-C5C5-B5469033F2D1}"/>
              </a:ext>
            </a:extLst>
          </p:cNvPr>
          <p:cNvSpPr/>
          <p:nvPr/>
        </p:nvSpPr>
        <p:spPr>
          <a:xfrm>
            <a:off x="5187798" y="2614226"/>
            <a:ext cx="1871721" cy="496697"/>
          </a:xfrm>
          <a:prstGeom prst="rect">
            <a:avLst/>
          </a:prstGeom>
          <a:noFill/>
          <a:ln/>
        </p:spPr>
        <p:txBody>
          <a:bodyPr wrap="square" lIns="0" tIns="0" rIns="0" bIns="0" rtlCol="0" anchor="ctr"/>
          <a:lstStyle/>
          <a:p>
            <a:pPr marL="0" indent="0">
              <a:lnSpc>
                <a:spcPct val="100000"/>
              </a:lnSpc>
              <a:buNone/>
            </a:pPr>
            <a:r>
              <a:rPr lang="en-US" sz="1400" b="1" dirty="0" err="1">
                <a:solidFill>
                  <a:srgbClr val="BC312C"/>
                </a:solidFill>
                <a:latin typeface="Calibri" pitchFamily="34" charset="0"/>
                <a:ea typeface="Calibri" pitchFamily="34" charset="-122"/>
                <a:cs typeface="Calibri" pitchFamily="34" charset="-120"/>
              </a:rPr>
              <a:t>WeatherAPI</a:t>
            </a:r>
            <a:r>
              <a:rPr lang="en-US" sz="1400" b="1" dirty="0">
                <a:solidFill>
                  <a:srgbClr val="BC312C"/>
                </a:solidFill>
                <a:latin typeface="Calibri" pitchFamily="34" charset="0"/>
                <a:ea typeface="Calibri" pitchFamily="34" charset="-122"/>
                <a:cs typeface="Calibri" pitchFamily="34" charset="-120"/>
              </a:rPr>
              <a:t>, Python `holidays` library</a:t>
            </a:r>
            <a:endParaRPr lang="en-US" sz="1400" dirty="0"/>
          </a:p>
        </p:txBody>
      </p:sp>
      <p:sp>
        <p:nvSpPr>
          <p:cNvPr id="42" name="Text 19">
            <a:extLst>
              <a:ext uri="{FF2B5EF4-FFF2-40B4-BE49-F238E27FC236}">
                <a16:creationId xmlns:a16="http://schemas.microsoft.com/office/drawing/2014/main" id="{D760D88C-514E-E222-2E37-53AEF8EF6B61}"/>
              </a:ext>
            </a:extLst>
          </p:cNvPr>
          <p:cNvSpPr/>
          <p:nvPr/>
        </p:nvSpPr>
        <p:spPr>
          <a:xfrm>
            <a:off x="5197721" y="3211604"/>
            <a:ext cx="1871721" cy="794715"/>
          </a:xfrm>
          <a:prstGeom prst="rect">
            <a:avLst/>
          </a:prstGeom>
          <a:noFill/>
          <a:ln/>
        </p:spPr>
        <p:txBody>
          <a:bodyPr wrap="square" lIns="0" tIns="0" rIns="0" bIns="0" rtlCol="0" anchor="t"/>
          <a:lstStyle/>
          <a:p>
            <a:pPr marL="0" indent="0">
              <a:lnSpc>
                <a:spcPct val="108000"/>
              </a:lnSpc>
              <a:buNone/>
            </a:pPr>
            <a:r>
              <a:rPr lang="en-US" sz="1200" dirty="0">
                <a:solidFill>
                  <a:srgbClr val="262626"/>
                </a:solidFill>
                <a:latin typeface="Calibri" pitchFamily="34" charset="0"/>
                <a:ea typeface="Calibri" pitchFamily="34" charset="-122"/>
                <a:cs typeface="Calibri" pitchFamily="34" charset="-120"/>
              </a:rPr>
              <a:t>Feeds weather and public-holiday signals into Prophet</a:t>
            </a:r>
            <a:endParaRPr lang="en-US" sz="1200" dirty="0"/>
          </a:p>
        </p:txBody>
      </p:sp>
      <p:sp>
        <p:nvSpPr>
          <p:cNvPr id="44" name="Shape 20">
            <a:extLst>
              <a:ext uri="{FF2B5EF4-FFF2-40B4-BE49-F238E27FC236}">
                <a16:creationId xmlns:a16="http://schemas.microsoft.com/office/drawing/2014/main" id="{E1AC1F50-7FB8-2967-7D66-ACBFA1E4E51A}"/>
              </a:ext>
            </a:extLst>
          </p:cNvPr>
          <p:cNvSpPr/>
          <p:nvPr/>
        </p:nvSpPr>
        <p:spPr>
          <a:xfrm>
            <a:off x="521574" y="4479045"/>
            <a:ext cx="2082619" cy="1837778"/>
          </a:xfrm>
          <a:prstGeom prst="rect">
            <a:avLst/>
          </a:prstGeom>
          <a:solidFill>
            <a:srgbClr val="FFFFFF"/>
          </a:solidFill>
          <a:ln w="12700">
            <a:solidFill>
              <a:srgbClr val="BC312C"/>
            </a:solidFill>
            <a:prstDash val="solid"/>
          </a:ln>
        </p:spPr>
        <p:txBody>
          <a:bodyPr/>
          <a:lstStyle/>
          <a:p>
            <a:endParaRPr lang="en-IN"/>
          </a:p>
        </p:txBody>
      </p:sp>
      <p:sp>
        <p:nvSpPr>
          <p:cNvPr id="46" name="Shape 21">
            <a:extLst>
              <a:ext uri="{FF2B5EF4-FFF2-40B4-BE49-F238E27FC236}">
                <a16:creationId xmlns:a16="http://schemas.microsoft.com/office/drawing/2014/main" id="{052DB586-A6E5-78A8-CD3C-B034A29017D8}"/>
              </a:ext>
            </a:extLst>
          </p:cNvPr>
          <p:cNvSpPr/>
          <p:nvPr/>
        </p:nvSpPr>
        <p:spPr>
          <a:xfrm>
            <a:off x="521574" y="4479045"/>
            <a:ext cx="45719" cy="1837778"/>
          </a:xfrm>
          <a:prstGeom prst="rect">
            <a:avLst/>
          </a:prstGeom>
          <a:solidFill>
            <a:srgbClr val="BC312C"/>
          </a:solidFill>
          <a:ln/>
        </p:spPr>
        <p:txBody>
          <a:bodyPr/>
          <a:lstStyle/>
          <a:p>
            <a:endParaRPr lang="en-IN"/>
          </a:p>
        </p:txBody>
      </p:sp>
      <p:sp>
        <p:nvSpPr>
          <p:cNvPr id="48" name="Text 22">
            <a:extLst>
              <a:ext uri="{FF2B5EF4-FFF2-40B4-BE49-F238E27FC236}">
                <a16:creationId xmlns:a16="http://schemas.microsoft.com/office/drawing/2014/main" id="{86A10AC1-B586-05DC-ECB8-42C5F07D11B6}"/>
              </a:ext>
            </a:extLst>
          </p:cNvPr>
          <p:cNvSpPr/>
          <p:nvPr/>
        </p:nvSpPr>
        <p:spPr>
          <a:xfrm>
            <a:off x="656864" y="4588773"/>
            <a:ext cx="1871721" cy="317886"/>
          </a:xfrm>
          <a:prstGeom prst="rect">
            <a:avLst/>
          </a:prstGeom>
          <a:noFill/>
          <a:ln/>
        </p:spPr>
        <p:txBody>
          <a:bodyPr wrap="square" lIns="0" tIns="0" rIns="0" bIns="0" rtlCol="0" anchor="ctr"/>
          <a:lstStyle/>
          <a:p>
            <a:pPr marL="0" indent="0">
              <a:buNone/>
            </a:pPr>
            <a:r>
              <a:rPr lang="en-US" b="1" dirty="0">
                <a:solidFill>
                  <a:srgbClr val="2F3C7E"/>
                </a:solidFill>
                <a:latin typeface="Calibri" pitchFamily="34" charset="0"/>
                <a:ea typeface="Calibri" pitchFamily="34" charset="-122"/>
                <a:cs typeface="Calibri" pitchFamily="34" charset="-120"/>
              </a:rPr>
              <a:t>Restock Logic</a:t>
            </a:r>
            <a:endParaRPr lang="en-US" dirty="0"/>
          </a:p>
        </p:txBody>
      </p:sp>
      <p:sp>
        <p:nvSpPr>
          <p:cNvPr id="50" name="Text 23">
            <a:extLst>
              <a:ext uri="{FF2B5EF4-FFF2-40B4-BE49-F238E27FC236}">
                <a16:creationId xmlns:a16="http://schemas.microsoft.com/office/drawing/2014/main" id="{83E4F515-F7F5-2D28-BB7E-00D837798C3C}"/>
              </a:ext>
            </a:extLst>
          </p:cNvPr>
          <p:cNvSpPr/>
          <p:nvPr/>
        </p:nvSpPr>
        <p:spPr>
          <a:xfrm>
            <a:off x="656864" y="4917956"/>
            <a:ext cx="1871721" cy="496697"/>
          </a:xfrm>
          <a:prstGeom prst="rect">
            <a:avLst/>
          </a:prstGeom>
          <a:noFill/>
          <a:ln/>
        </p:spPr>
        <p:txBody>
          <a:bodyPr wrap="square" lIns="0" tIns="0" rIns="0" bIns="0" rtlCol="0" anchor="ctr"/>
          <a:lstStyle/>
          <a:p>
            <a:pPr marL="0" indent="0">
              <a:lnSpc>
                <a:spcPct val="100000"/>
              </a:lnSpc>
              <a:buNone/>
            </a:pPr>
            <a:r>
              <a:rPr lang="en-US" sz="1400" b="1" dirty="0">
                <a:solidFill>
                  <a:srgbClr val="BC312C"/>
                </a:solidFill>
                <a:latin typeface="Calibri" pitchFamily="34" charset="0"/>
                <a:ea typeface="Calibri" pitchFamily="34" charset="-122"/>
                <a:cs typeface="Calibri" pitchFamily="34" charset="-120"/>
              </a:rPr>
              <a:t>Python (Pandas, NumPy)</a:t>
            </a:r>
            <a:endParaRPr lang="en-US" sz="1400" dirty="0"/>
          </a:p>
        </p:txBody>
      </p:sp>
      <p:sp>
        <p:nvSpPr>
          <p:cNvPr id="52" name="Text 24">
            <a:extLst>
              <a:ext uri="{FF2B5EF4-FFF2-40B4-BE49-F238E27FC236}">
                <a16:creationId xmlns:a16="http://schemas.microsoft.com/office/drawing/2014/main" id="{25415EF8-2E89-93FE-F2CA-C55B5E2420A7}"/>
              </a:ext>
            </a:extLst>
          </p:cNvPr>
          <p:cNvSpPr/>
          <p:nvPr/>
        </p:nvSpPr>
        <p:spPr>
          <a:xfrm>
            <a:off x="656864" y="5393444"/>
            <a:ext cx="1871721" cy="794715"/>
          </a:xfrm>
          <a:prstGeom prst="rect">
            <a:avLst/>
          </a:prstGeom>
          <a:noFill/>
          <a:ln/>
        </p:spPr>
        <p:txBody>
          <a:bodyPr wrap="square" lIns="0" tIns="0" rIns="0" bIns="0" rtlCol="0" anchor="t"/>
          <a:lstStyle/>
          <a:p>
            <a:pPr marL="0" indent="0">
              <a:lnSpc>
                <a:spcPct val="108000"/>
              </a:lnSpc>
              <a:buNone/>
            </a:pPr>
            <a:r>
              <a:rPr lang="en-US" sz="1200" dirty="0">
                <a:solidFill>
                  <a:srgbClr val="262626"/>
                </a:solidFill>
                <a:latin typeface="Calibri" pitchFamily="34" charset="0"/>
                <a:ea typeface="Calibri" pitchFamily="34" charset="-122"/>
                <a:cs typeface="Calibri" pitchFamily="34" charset="-120"/>
              </a:rPr>
              <a:t>Deterministic safety-stock buffer calculation — not a second ML model</a:t>
            </a:r>
            <a:endParaRPr lang="en-US" sz="1200" dirty="0"/>
          </a:p>
        </p:txBody>
      </p:sp>
      <p:sp>
        <p:nvSpPr>
          <p:cNvPr id="54" name="Shape 25">
            <a:extLst>
              <a:ext uri="{FF2B5EF4-FFF2-40B4-BE49-F238E27FC236}">
                <a16:creationId xmlns:a16="http://schemas.microsoft.com/office/drawing/2014/main" id="{CA62526B-AD31-B787-0E54-5FCA69E0D2F9}"/>
              </a:ext>
            </a:extLst>
          </p:cNvPr>
          <p:cNvSpPr/>
          <p:nvPr/>
        </p:nvSpPr>
        <p:spPr>
          <a:xfrm>
            <a:off x="2768377" y="4479045"/>
            <a:ext cx="2082619" cy="1837778"/>
          </a:xfrm>
          <a:prstGeom prst="rect">
            <a:avLst/>
          </a:prstGeom>
          <a:solidFill>
            <a:srgbClr val="FFFFFF"/>
          </a:solidFill>
          <a:ln w="12700">
            <a:solidFill>
              <a:srgbClr val="BC312C"/>
            </a:solidFill>
            <a:prstDash val="solid"/>
          </a:ln>
        </p:spPr>
        <p:txBody>
          <a:bodyPr/>
          <a:lstStyle/>
          <a:p>
            <a:endParaRPr lang="en-IN"/>
          </a:p>
        </p:txBody>
      </p:sp>
      <p:sp>
        <p:nvSpPr>
          <p:cNvPr id="56" name="Shape 26">
            <a:extLst>
              <a:ext uri="{FF2B5EF4-FFF2-40B4-BE49-F238E27FC236}">
                <a16:creationId xmlns:a16="http://schemas.microsoft.com/office/drawing/2014/main" id="{B34D5FE2-452F-8374-3DD2-8E0F16FB854D}"/>
              </a:ext>
            </a:extLst>
          </p:cNvPr>
          <p:cNvSpPr/>
          <p:nvPr/>
        </p:nvSpPr>
        <p:spPr>
          <a:xfrm>
            <a:off x="2768377" y="4479045"/>
            <a:ext cx="45719" cy="1837778"/>
          </a:xfrm>
          <a:prstGeom prst="rect">
            <a:avLst/>
          </a:prstGeom>
          <a:solidFill>
            <a:srgbClr val="BC312C"/>
          </a:solidFill>
          <a:ln/>
        </p:spPr>
        <p:txBody>
          <a:bodyPr/>
          <a:lstStyle/>
          <a:p>
            <a:endParaRPr lang="en-IN"/>
          </a:p>
        </p:txBody>
      </p:sp>
      <p:sp>
        <p:nvSpPr>
          <p:cNvPr id="58" name="Text 27">
            <a:extLst>
              <a:ext uri="{FF2B5EF4-FFF2-40B4-BE49-F238E27FC236}">
                <a16:creationId xmlns:a16="http://schemas.microsoft.com/office/drawing/2014/main" id="{54E53DBD-C56A-E417-92A3-2F1F0ACBFD16}"/>
              </a:ext>
            </a:extLst>
          </p:cNvPr>
          <p:cNvSpPr/>
          <p:nvPr/>
        </p:nvSpPr>
        <p:spPr>
          <a:xfrm>
            <a:off x="2903667" y="4588773"/>
            <a:ext cx="1871721" cy="317886"/>
          </a:xfrm>
          <a:prstGeom prst="rect">
            <a:avLst/>
          </a:prstGeom>
          <a:noFill/>
          <a:ln/>
        </p:spPr>
        <p:txBody>
          <a:bodyPr wrap="square" lIns="0" tIns="0" rIns="0" bIns="0" rtlCol="0" anchor="ctr"/>
          <a:lstStyle/>
          <a:p>
            <a:pPr marL="0" indent="0">
              <a:buNone/>
            </a:pPr>
            <a:r>
              <a:rPr lang="en-US" b="1" dirty="0">
                <a:solidFill>
                  <a:srgbClr val="2F3C7E"/>
                </a:solidFill>
                <a:latin typeface="Calibri" pitchFamily="34" charset="0"/>
                <a:ea typeface="Calibri" pitchFamily="34" charset="-122"/>
                <a:cs typeface="Calibri" pitchFamily="34" charset="-120"/>
              </a:rPr>
              <a:t>Backend API</a:t>
            </a:r>
            <a:endParaRPr lang="en-US" dirty="0"/>
          </a:p>
        </p:txBody>
      </p:sp>
      <p:sp>
        <p:nvSpPr>
          <p:cNvPr id="60" name="Text 28">
            <a:extLst>
              <a:ext uri="{FF2B5EF4-FFF2-40B4-BE49-F238E27FC236}">
                <a16:creationId xmlns:a16="http://schemas.microsoft.com/office/drawing/2014/main" id="{AA496FB8-9F88-C677-7D4B-2C9C674BAA4D}"/>
              </a:ext>
            </a:extLst>
          </p:cNvPr>
          <p:cNvSpPr/>
          <p:nvPr/>
        </p:nvSpPr>
        <p:spPr>
          <a:xfrm>
            <a:off x="2903667" y="4917956"/>
            <a:ext cx="1871721" cy="496697"/>
          </a:xfrm>
          <a:prstGeom prst="rect">
            <a:avLst/>
          </a:prstGeom>
          <a:noFill/>
          <a:ln/>
        </p:spPr>
        <p:txBody>
          <a:bodyPr wrap="square" lIns="0" tIns="0" rIns="0" bIns="0" rtlCol="0" anchor="ctr"/>
          <a:lstStyle/>
          <a:p>
            <a:pPr marL="0" indent="0">
              <a:lnSpc>
                <a:spcPct val="100000"/>
              </a:lnSpc>
              <a:buNone/>
            </a:pPr>
            <a:r>
              <a:rPr lang="en-US" sz="1400" b="1" dirty="0">
                <a:solidFill>
                  <a:srgbClr val="BC312C"/>
                </a:solidFill>
                <a:latin typeface="Calibri" pitchFamily="34" charset="0"/>
                <a:ea typeface="Calibri" pitchFamily="34" charset="-122"/>
                <a:cs typeface="Calibri" pitchFamily="34" charset="-120"/>
              </a:rPr>
              <a:t>FastAPI / Flask, hosted on Render / AWS </a:t>
            </a:r>
            <a:endParaRPr lang="en-US" sz="1400" dirty="0"/>
          </a:p>
        </p:txBody>
      </p:sp>
      <p:sp>
        <p:nvSpPr>
          <p:cNvPr id="62" name="Text 29">
            <a:extLst>
              <a:ext uri="{FF2B5EF4-FFF2-40B4-BE49-F238E27FC236}">
                <a16:creationId xmlns:a16="http://schemas.microsoft.com/office/drawing/2014/main" id="{52131326-FD29-3973-DB36-90D650AAE1AD}"/>
              </a:ext>
            </a:extLst>
          </p:cNvPr>
          <p:cNvSpPr/>
          <p:nvPr/>
        </p:nvSpPr>
        <p:spPr>
          <a:xfrm>
            <a:off x="2903667" y="5393444"/>
            <a:ext cx="1871721" cy="794715"/>
          </a:xfrm>
          <a:prstGeom prst="rect">
            <a:avLst/>
          </a:prstGeom>
          <a:noFill/>
          <a:ln/>
        </p:spPr>
        <p:txBody>
          <a:bodyPr wrap="square" lIns="0" tIns="0" rIns="0" bIns="0" rtlCol="0" anchor="t"/>
          <a:lstStyle/>
          <a:p>
            <a:pPr marL="0" indent="0">
              <a:lnSpc>
                <a:spcPct val="108000"/>
              </a:lnSpc>
              <a:buNone/>
            </a:pPr>
            <a:r>
              <a:rPr lang="en-US" sz="1200" dirty="0">
                <a:solidFill>
                  <a:srgbClr val="262626"/>
                </a:solidFill>
                <a:latin typeface="Calibri" pitchFamily="34" charset="0"/>
                <a:ea typeface="Calibri" pitchFamily="34" charset="-122"/>
                <a:cs typeface="Calibri" pitchFamily="34" charset="-120"/>
              </a:rPr>
              <a:t>Connects Flutter app to the Python forecasting pipeline</a:t>
            </a:r>
            <a:endParaRPr lang="en-US" sz="1200" dirty="0"/>
          </a:p>
        </p:txBody>
      </p:sp>
      <p:sp>
        <p:nvSpPr>
          <p:cNvPr id="64" name="Shape 30">
            <a:extLst>
              <a:ext uri="{FF2B5EF4-FFF2-40B4-BE49-F238E27FC236}">
                <a16:creationId xmlns:a16="http://schemas.microsoft.com/office/drawing/2014/main" id="{D5479092-5CF1-EBFF-43AF-8C25986DF4BB}"/>
              </a:ext>
            </a:extLst>
          </p:cNvPr>
          <p:cNvSpPr/>
          <p:nvPr/>
        </p:nvSpPr>
        <p:spPr>
          <a:xfrm>
            <a:off x="5033843" y="4479045"/>
            <a:ext cx="2082619" cy="1837778"/>
          </a:xfrm>
          <a:prstGeom prst="rect">
            <a:avLst/>
          </a:prstGeom>
          <a:solidFill>
            <a:srgbClr val="FFFFFF"/>
          </a:solidFill>
          <a:ln w="12700">
            <a:solidFill>
              <a:srgbClr val="BC312C"/>
            </a:solidFill>
            <a:prstDash val="solid"/>
          </a:ln>
        </p:spPr>
        <p:txBody>
          <a:bodyPr/>
          <a:lstStyle/>
          <a:p>
            <a:endParaRPr lang="en-IN"/>
          </a:p>
        </p:txBody>
      </p:sp>
      <p:sp>
        <p:nvSpPr>
          <p:cNvPr id="66" name="Shape 31">
            <a:extLst>
              <a:ext uri="{FF2B5EF4-FFF2-40B4-BE49-F238E27FC236}">
                <a16:creationId xmlns:a16="http://schemas.microsoft.com/office/drawing/2014/main" id="{7A3AB7C8-427D-73CB-8861-586056133888}"/>
              </a:ext>
            </a:extLst>
          </p:cNvPr>
          <p:cNvSpPr/>
          <p:nvPr/>
        </p:nvSpPr>
        <p:spPr>
          <a:xfrm>
            <a:off x="5033843" y="4479045"/>
            <a:ext cx="45719" cy="1837778"/>
          </a:xfrm>
          <a:prstGeom prst="rect">
            <a:avLst/>
          </a:prstGeom>
          <a:solidFill>
            <a:srgbClr val="BC312C"/>
          </a:solidFill>
          <a:ln/>
        </p:spPr>
        <p:txBody>
          <a:bodyPr/>
          <a:lstStyle/>
          <a:p>
            <a:endParaRPr lang="en-IN"/>
          </a:p>
        </p:txBody>
      </p:sp>
      <p:sp>
        <p:nvSpPr>
          <p:cNvPr id="68" name="Text 32">
            <a:extLst>
              <a:ext uri="{FF2B5EF4-FFF2-40B4-BE49-F238E27FC236}">
                <a16:creationId xmlns:a16="http://schemas.microsoft.com/office/drawing/2014/main" id="{2DE12F82-4A24-56F7-F8E5-8CACE9D542BA}"/>
              </a:ext>
            </a:extLst>
          </p:cNvPr>
          <p:cNvSpPr/>
          <p:nvPr/>
        </p:nvSpPr>
        <p:spPr>
          <a:xfrm>
            <a:off x="5169133" y="4588773"/>
            <a:ext cx="1871721" cy="317886"/>
          </a:xfrm>
          <a:prstGeom prst="rect">
            <a:avLst/>
          </a:prstGeom>
          <a:noFill/>
          <a:ln/>
        </p:spPr>
        <p:txBody>
          <a:bodyPr wrap="square" lIns="0" tIns="0" rIns="0" bIns="0" rtlCol="0" anchor="ctr"/>
          <a:lstStyle/>
          <a:p>
            <a:pPr marL="0" indent="0">
              <a:buNone/>
            </a:pPr>
            <a:r>
              <a:rPr lang="en-US" b="1" dirty="0">
                <a:solidFill>
                  <a:srgbClr val="2F3C7E"/>
                </a:solidFill>
                <a:latin typeface="Calibri" pitchFamily="34" charset="0"/>
                <a:ea typeface="Calibri" pitchFamily="34" charset="-122"/>
                <a:cs typeface="Calibri" pitchFamily="34" charset="-120"/>
              </a:rPr>
              <a:t>Database</a:t>
            </a:r>
            <a:endParaRPr lang="en-US" dirty="0"/>
          </a:p>
        </p:txBody>
      </p:sp>
      <p:sp>
        <p:nvSpPr>
          <p:cNvPr id="70" name="Text 33">
            <a:extLst>
              <a:ext uri="{FF2B5EF4-FFF2-40B4-BE49-F238E27FC236}">
                <a16:creationId xmlns:a16="http://schemas.microsoft.com/office/drawing/2014/main" id="{FB5688B8-40C6-756C-9014-13DE832A2D7E}"/>
              </a:ext>
            </a:extLst>
          </p:cNvPr>
          <p:cNvSpPr/>
          <p:nvPr/>
        </p:nvSpPr>
        <p:spPr>
          <a:xfrm>
            <a:off x="5169133" y="4917956"/>
            <a:ext cx="1871721" cy="496697"/>
          </a:xfrm>
          <a:prstGeom prst="rect">
            <a:avLst/>
          </a:prstGeom>
          <a:noFill/>
          <a:ln/>
        </p:spPr>
        <p:txBody>
          <a:bodyPr wrap="square" lIns="0" tIns="0" rIns="0" bIns="0" rtlCol="0" anchor="ctr"/>
          <a:lstStyle/>
          <a:p>
            <a:pPr marL="0" indent="0">
              <a:lnSpc>
                <a:spcPct val="100000"/>
              </a:lnSpc>
              <a:buNone/>
            </a:pPr>
            <a:r>
              <a:rPr lang="en-US" sz="1400" b="1" dirty="0">
                <a:solidFill>
                  <a:srgbClr val="BC312C"/>
                </a:solidFill>
                <a:latin typeface="Calibri" pitchFamily="34" charset="0"/>
                <a:ea typeface="Calibri" pitchFamily="34" charset="-122"/>
                <a:cs typeface="Calibri" pitchFamily="34" charset="-120"/>
              </a:rPr>
              <a:t>MongoDB</a:t>
            </a:r>
            <a:endParaRPr lang="en-US" sz="1400" dirty="0"/>
          </a:p>
        </p:txBody>
      </p:sp>
      <p:sp>
        <p:nvSpPr>
          <p:cNvPr id="72" name="Text 34">
            <a:extLst>
              <a:ext uri="{FF2B5EF4-FFF2-40B4-BE49-F238E27FC236}">
                <a16:creationId xmlns:a16="http://schemas.microsoft.com/office/drawing/2014/main" id="{1BDCC6E1-16B0-DB80-116A-8F9470E135BB}"/>
              </a:ext>
            </a:extLst>
          </p:cNvPr>
          <p:cNvSpPr/>
          <p:nvPr/>
        </p:nvSpPr>
        <p:spPr>
          <a:xfrm>
            <a:off x="5169133" y="5393444"/>
            <a:ext cx="1871721" cy="794715"/>
          </a:xfrm>
          <a:prstGeom prst="rect">
            <a:avLst/>
          </a:prstGeom>
          <a:noFill/>
          <a:ln/>
        </p:spPr>
        <p:txBody>
          <a:bodyPr wrap="square" lIns="0" tIns="0" rIns="0" bIns="0" rtlCol="0" anchor="t"/>
          <a:lstStyle/>
          <a:p>
            <a:pPr marL="0" indent="0">
              <a:lnSpc>
                <a:spcPct val="108000"/>
              </a:lnSpc>
              <a:buNone/>
            </a:pPr>
            <a:r>
              <a:rPr lang="en-US" sz="1200" dirty="0">
                <a:solidFill>
                  <a:srgbClr val="262626"/>
                </a:solidFill>
                <a:latin typeface="Calibri" pitchFamily="34" charset="0"/>
                <a:ea typeface="Calibri" pitchFamily="34" charset="-122"/>
                <a:cs typeface="Calibri" pitchFamily="34" charset="-120"/>
              </a:rPr>
              <a:t>User auth, shop profiles, historical sales logs from CSVs</a:t>
            </a:r>
            <a:endParaRPr lang="en-US" sz="1200" dirty="0"/>
          </a:p>
        </p:txBody>
      </p:sp>
      <p:sp>
        <p:nvSpPr>
          <p:cNvPr id="74" name="Shape 15">
            <a:extLst>
              <a:ext uri="{FF2B5EF4-FFF2-40B4-BE49-F238E27FC236}">
                <a16:creationId xmlns:a16="http://schemas.microsoft.com/office/drawing/2014/main" id="{D11F1F65-C232-0CA0-AEF3-69BE454F3BD9}"/>
              </a:ext>
            </a:extLst>
          </p:cNvPr>
          <p:cNvSpPr/>
          <p:nvPr/>
        </p:nvSpPr>
        <p:spPr>
          <a:xfrm>
            <a:off x="7339628" y="2175315"/>
            <a:ext cx="2082619" cy="1837778"/>
          </a:xfrm>
          <a:prstGeom prst="rect">
            <a:avLst/>
          </a:prstGeom>
          <a:solidFill>
            <a:srgbClr val="FFFFFF"/>
          </a:solidFill>
          <a:ln w="12700">
            <a:solidFill>
              <a:srgbClr val="BC312C"/>
            </a:solidFill>
            <a:prstDash val="solid"/>
          </a:ln>
        </p:spPr>
        <p:txBody>
          <a:bodyPr/>
          <a:lstStyle/>
          <a:p>
            <a:endParaRPr lang="en-IN"/>
          </a:p>
        </p:txBody>
      </p:sp>
      <p:sp>
        <p:nvSpPr>
          <p:cNvPr id="76" name="Shape 16">
            <a:extLst>
              <a:ext uri="{FF2B5EF4-FFF2-40B4-BE49-F238E27FC236}">
                <a16:creationId xmlns:a16="http://schemas.microsoft.com/office/drawing/2014/main" id="{141D9C26-2A5D-EE7D-9D63-4B9EE9AE4490}"/>
              </a:ext>
            </a:extLst>
          </p:cNvPr>
          <p:cNvSpPr/>
          <p:nvPr/>
        </p:nvSpPr>
        <p:spPr>
          <a:xfrm>
            <a:off x="7339628" y="2175315"/>
            <a:ext cx="45719" cy="1837778"/>
          </a:xfrm>
          <a:prstGeom prst="rect">
            <a:avLst/>
          </a:prstGeom>
          <a:solidFill>
            <a:srgbClr val="BC312C"/>
          </a:solidFill>
          <a:ln/>
        </p:spPr>
        <p:txBody>
          <a:bodyPr/>
          <a:lstStyle/>
          <a:p>
            <a:endParaRPr lang="en-IN"/>
          </a:p>
        </p:txBody>
      </p:sp>
      <p:sp>
        <p:nvSpPr>
          <p:cNvPr id="78" name="Shape 30">
            <a:extLst>
              <a:ext uri="{FF2B5EF4-FFF2-40B4-BE49-F238E27FC236}">
                <a16:creationId xmlns:a16="http://schemas.microsoft.com/office/drawing/2014/main" id="{01F3E1CD-023D-2EC1-C8DA-BC9DBD6530E1}"/>
              </a:ext>
            </a:extLst>
          </p:cNvPr>
          <p:cNvSpPr/>
          <p:nvPr/>
        </p:nvSpPr>
        <p:spPr>
          <a:xfrm>
            <a:off x="7339628" y="4479045"/>
            <a:ext cx="2082619" cy="1837778"/>
          </a:xfrm>
          <a:prstGeom prst="rect">
            <a:avLst/>
          </a:prstGeom>
          <a:solidFill>
            <a:srgbClr val="FFFFFF"/>
          </a:solidFill>
          <a:ln w="12700">
            <a:solidFill>
              <a:srgbClr val="BC312C"/>
            </a:solidFill>
            <a:prstDash val="solid"/>
          </a:ln>
        </p:spPr>
        <p:txBody>
          <a:bodyPr/>
          <a:lstStyle/>
          <a:p>
            <a:endParaRPr lang="en-IN"/>
          </a:p>
        </p:txBody>
      </p:sp>
      <p:sp>
        <p:nvSpPr>
          <p:cNvPr id="80" name="Shape 31">
            <a:extLst>
              <a:ext uri="{FF2B5EF4-FFF2-40B4-BE49-F238E27FC236}">
                <a16:creationId xmlns:a16="http://schemas.microsoft.com/office/drawing/2014/main" id="{9E9C16EE-A3CD-DC35-8B87-FAE679234721}"/>
              </a:ext>
            </a:extLst>
          </p:cNvPr>
          <p:cNvSpPr/>
          <p:nvPr/>
        </p:nvSpPr>
        <p:spPr>
          <a:xfrm>
            <a:off x="7339628" y="4479045"/>
            <a:ext cx="45719" cy="1837778"/>
          </a:xfrm>
          <a:prstGeom prst="rect">
            <a:avLst/>
          </a:prstGeom>
          <a:solidFill>
            <a:srgbClr val="BC312C"/>
          </a:solidFill>
          <a:ln/>
        </p:spPr>
        <p:txBody>
          <a:bodyPr/>
          <a:lstStyle/>
          <a:p>
            <a:endParaRPr lang="en-IN"/>
          </a:p>
        </p:txBody>
      </p:sp>
      <p:sp>
        <p:nvSpPr>
          <p:cNvPr id="82" name="TextBox 81">
            <a:extLst>
              <a:ext uri="{FF2B5EF4-FFF2-40B4-BE49-F238E27FC236}">
                <a16:creationId xmlns:a16="http://schemas.microsoft.com/office/drawing/2014/main" id="{E684D31E-256B-5778-1EAB-ACC1D3E32176}"/>
              </a:ext>
            </a:extLst>
          </p:cNvPr>
          <p:cNvSpPr txBox="1"/>
          <p:nvPr/>
        </p:nvSpPr>
        <p:spPr>
          <a:xfrm>
            <a:off x="7380485" y="2253587"/>
            <a:ext cx="2077757" cy="1579920"/>
          </a:xfrm>
          <a:prstGeom prst="rect">
            <a:avLst/>
          </a:prstGeom>
          <a:noFill/>
        </p:spPr>
        <p:txBody>
          <a:bodyPr wrap="square">
            <a:spAutoFit/>
          </a:bodyPr>
          <a:lstStyle/>
          <a:p>
            <a:r>
              <a:rPr b="1" dirty="0">
                <a:solidFill>
                  <a:srgbClr val="2F3C7E"/>
                </a:solidFill>
                <a:latin typeface="Calibri"/>
              </a:rPr>
              <a:t>Development Tools</a:t>
            </a:r>
          </a:p>
          <a:p>
            <a:pPr>
              <a:spcBef>
                <a:spcPts val="1000"/>
              </a:spcBef>
            </a:pPr>
            <a:r>
              <a:rPr sz="1400" b="1" dirty="0">
                <a:solidFill>
                  <a:srgbClr val="BC312C"/>
                </a:solidFill>
                <a:latin typeface="Calibri"/>
              </a:rPr>
              <a:t>Jupyter, VS Code, Git</a:t>
            </a:r>
          </a:p>
          <a:p>
            <a:pPr>
              <a:spcBef>
                <a:spcPts val="1000"/>
              </a:spcBef>
            </a:pPr>
            <a:r>
              <a:rPr sz="1200" dirty="0">
                <a:solidFill>
                  <a:srgbClr val="333333"/>
                </a:solidFill>
                <a:latin typeface="Calibri"/>
              </a:rPr>
              <a:t>Jupyter Notebook for EDA &amp; model training</a:t>
            </a:r>
            <a:r>
              <a:rPr lang="en-IN" sz="1200" dirty="0">
                <a:solidFill>
                  <a:srgbClr val="333333"/>
                </a:solidFill>
                <a:latin typeface="Calibri"/>
              </a:rPr>
              <a:t>,</a:t>
            </a:r>
            <a:r>
              <a:rPr sz="1200" dirty="0">
                <a:solidFill>
                  <a:srgbClr val="333333"/>
                </a:solidFill>
                <a:latin typeface="Calibri"/>
              </a:rPr>
              <a:t> VS Code</a:t>
            </a:r>
            <a:r>
              <a:rPr lang="en-IN" sz="1200" dirty="0">
                <a:solidFill>
                  <a:srgbClr val="333333"/>
                </a:solidFill>
                <a:latin typeface="Calibri"/>
              </a:rPr>
              <a:t> and Android Studio for development</a:t>
            </a:r>
            <a:r>
              <a:rPr sz="1200" dirty="0">
                <a:solidFill>
                  <a:srgbClr val="333333"/>
                </a:solidFill>
                <a:latin typeface="Calibri"/>
              </a:rPr>
              <a:t>.</a:t>
            </a:r>
          </a:p>
        </p:txBody>
      </p:sp>
      <p:sp>
        <p:nvSpPr>
          <p:cNvPr id="84" name="TextBox 83">
            <a:extLst>
              <a:ext uri="{FF2B5EF4-FFF2-40B4-BE49-F238E27FC236}">
                <a16:creationId xmlns:a16="http://schemas.microsoft.com/office/drawing/2014/main" id="{C5B818F2-33E6-C154-2668-9FAB57D97A8E}"/>
              </a:ext>
            </a:extLst>
          </p:cNvPr>
          <p:cNvSpPr txBox="1"/>
          <p:nvPr/>
        </p:nvSpPr>
        <p:spPr>
          <a:xfrm>
            <a:off x="7362487" y="4576453"/>
            <a:ext cx="2228850" cy="1579920"/>
          </a:xfrm>
          <a:prstGeom prst="rect">
            <a:avLst/>
          </a:prstGeom>
          <a:noFill/>
        </p:spPr>
        <p:txBody>
          <a:bodyPr wrap="square">
            <a:spAutoFit/>
          </a:bodyPr>
          <a:lstStyle/>
          <a:p>
            <a:r>
              <a:rPr b="1" dirty="0">
                <a:solidFill>
                  <a:srgbClr val="2F3C7E"/>
                </a:solidFill>
                <a:latin typeface="Calibri"/>
              </a:rPr>
              <a:t>Hardware Specs</a:t>
            </a:r>
          </a:p>
          <a:p>
            <a:pPr>
              <a:spcBef>
                <a:spcPts val="1000"/>
              </a:spcBef>
            </a:pPr>
            <a:r>
              <a:rPr sz="1400" b="1" dirty="0">
                <a:solidFill>
                  <a:srgbClr val="BC312C"/>
                </a:solidFill>
                <a:latin typeface="Calibri"/>
              </a:rPr>
              <a:t>Standard CPU / 8GB RAM</a:t>
            </a:r>
          </a:p>
          <a:p>
            <a:pPr>
              <a:spcBef>
                <a:spcPts val="1000"/>
              </a:spcBef>
            </a:pPr>
            <a:r>
              <a:rPr sz="1200" dirty="0">
                <a:solidFill>
                  <a:srgbClr val="333333"/>
                </a:solidFill>
                <a:latin typeface="Calibri"/>
              </a:rPr>
              <a:t>No GPU required. Computationally lightweight, ensuring low cloud-inference costs.</a:t>
            </a:r>
          </a:p>
        </p:txBody>
      </p:sp>
    </p:spTree>
    <p:extLst>
      <p:ext uri="{BB962C8B-B14F-4D97-AF65-F5344CB8AC3E}">
        <p14:creationId xmlns:p14="http://schemas.microsoft.com/office/powerpoint/2010/main" val="46019195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905970" cy="658368"/>
          </a:xfrm>
          <a:prstGeom prst="rect">
            <a:avLst/>
          </a:prstGeom>
          <a:solidFill>
            <a:srgbClr val="C62829"/>
          </a:solidFill>
          <a:ln/>
        </p:spPr>
      </p:sp>
      <p:sp>
        <p:nvSpPr>
          <p:cNvPr id="3" name="Shape 1"/>
          <p:cNvSpPr/>
          <p:nvPr/>
        </p:nvSpPr>
        <p:spPr>
          <a:xfrm>
            <a:off x="0" y="0"/>
            <a:ext cx="2331720" cy="841248"/>
          </a:xfrm>
          <a:prstGeom prst="rect">
            <a:avLst/>
          </a:prstGeom>
          <a:solidFill>
            <a:srgbClr val="FFFFFF"/>
          </a:solidFill>
          <a:ln/>
        </p:spPr>
      </p:sp>
      <p:pic>
        <p:nvPicPr>
          <p:cNvPr id="4" name="Image 0" descr="/home/claude/logo_crop3.png"/>
          <p:cNvPicPr>
            <a:picLocks noChangeAspect="1"/>
          </p:cNvPicPr>
          <p:nvPr/>
        </p:nvPicPr>
        <p:blipFill>
          <a:blip r:embed="rId3"/>
          <a:stretch>
            <a:fillRect/>
          </a:stretch>
        </p:blipFill>
        <p:spPr>
          <a:xfrm>
            <a:off x="91440" y="73152"/>
            <a:ext cx="1883664" cy="685800"/>
          </a:xfrm>
          <a:prstGeom prst="rect">
            <a:avLst/>
          </a:prstGeom>
        </p:spPr>
      </p:pic>
      <p:sp>
        <p:nvSpPr>
          <p:cNvPr id="5" name="Text 2"/>
          <p:cNvSpPr txBox="1"/>
          <p:nvPr/>
        </p:nvSpPr>
        <p:spPr>
          <a:xfrm>
            <a:off x="2423160" y="0"/>
            <a:ext cx="7360920" cy="658368"/>
          </a:xfrm>
          <a:prstGeom prst="rect">
            <a:avLst/>
          </a:prstGeom>
          <a:noFill/>
          <a:ln/>
        </p:spPr>
        <p:txBody>
          <a:bodyPr wrap="square" lIns="0" tIns="0" rIns="0" bIns="0" rtlCol="0" anchor="ctr"/>
          <a:lstStyle/>
          <a:p>
            <a:pPr marL="0" indent="0" algn="l">
              <a:buNone/>
            </a:pPr>
            <a:r>
              <a:rPr lang="en-US" sz="1100" b="1" dirty="0">
                <a:solidFill>
                  <a:srgbClr val="FFFFFF"/>
                </a:solidFill>
                <a:latin typeface="Georgia" pitchFamily="34" charset="0"/>
                <a:ea typeface="Georgia" pitchFamily="34" charset="-122"/>
                <a:cs typeface="Georgia" pitchFamily="34" charset="-120"/>
              </a:rPr>
              <a:t>MUKESH PATEL SCHOOL OF TECHNOLOGY MANAGEMENT &amp; ENGINEERING, SHIRPUR</a:t>
            </a:r>
            <a:endParaRPr lang="en-US" sz="1100" dirty="0"/>
          </a:p>
        </p:txBody>
      </p:sp>
      <p:sp>
        <p:nvSpPr>
          <p:cNvPr id="6" name="Shape 3"/>
          <p:cNvSpPr/>
          <p:nvPr/>
        </p:nvSpPr>
        <p:spPr>
          <a:xfrm>
            <a:off x="0" y="6784848"/>
            <a:ext cx="9905970" cy="73152"/>
          </a:xfrm>
          <a:prstGeom prst="rect">
            <a:avLst/>
          </a:prstGeom>
          <a:solidFill>
            <a:srgbClr val="C62829"/>
          </a:solidFill>
          <a:ln/>
        </p:spPr>
      </p:sp>
      <p:sp>
        <p:nvSpPr>
          <p:cNvPr id="7" name="Text 4"/>
          <p:cNvSpPr txBox="1"/>
          <p:nvPr/>
        </p:nvSpPr>
        <p:spPr>
          <a:xfrm>
            <a:off x="274320" y="822960"/>
            <a:ext cx="9326880" cy="438912"/>
          </a:xfrm>
          <a:prstGeom prst="rect">
            <a:avLst/>
          </a:prstGeom>
          <a:noFill/>
          <a:ln/>
        </p:spPr>
        <p:txBody>
          <a:bodyPr wrap="square" lIns="0" tIns="0" rIns="0" bIns="0" rtlCol="0" anchor="ctr"/>
          <a:lstStyle/>
          <a:p>
            <a:pPr marL="0" indent="0">
              <a:buNone/>
            </a:pPr>
            <a:r>
              <a:rPr lang="en-US" sz="2400" b="1" dirty="0">
                <a:solidFill>
                  <a:srgbClr val="BB302C"/>
                </a:solidFill>
                <a:latin typeface="Georgia" pitchFamily="34" charset="0"/>
                <a:ea typeface="Georgia" pitchFamily="34" charset="-122"/>
                <a:cs typeface="Georgia" pitchFamily="34" charset="-120"/>
              </a:rPr>
              <a:t>Working Demonstration </a:t>
            </a:r>
            <a:endParaRPr lang="en-US" sz="2400" dirty="0"/>
          </a:p>
        </p:txBody>
      </p:sp>
      <p:sp>
        <p:nvSpPr>
          <p:cNvPr id="8" name="Shape 5"/>
          <p:cNvSpPr/>
          <p:nvPr/>
        </p:nvSpPr>
        <p:spPr>
          <a:xfrm>
            <a:off x="292608" y="1280160"/>
            <a:ext cx="9326880" cy="0"/>
          </a:xfrm>
          <a:prstGeom prst="line">
            <a:avLst/>
          </a:prstGeom>
          <a:noFill/>
          <a:ln w="12700">
            <a:solidFill>
              <a:srgbClr val="D9D9D9"/>
            </a:solidFill>
            <a:prstDash val="solid"/>
          </a:ln>
        </p:spPr>
      </p:sp>
      <p:sp>
        <p:nvSpPr>
          <p:cNvPr id="9" name="Text 6"/>
          <p:cNvSpPr txBox="1"/>
          <p:nvPr/>
        </p:nvSpPr>
        <p:spPr>
          <a:xfrm>
            <a:off x="289545" y="1284160"/>
            <a:ext cx="9326880" cy="365760"/>
          </a:xfrm>
          <a:prstGeom prst="rect">
            <a:avLst/>
          </a:prstGeom>
          <a:noFill/>
          <a:ln/>
        </p:spPr>
        <p:txBody>
          <a:bodyPr wrap="square" lIns="0" tIns="0" rIns="0" bIns="0" rtlCol="0" anchor="ctr"/>
          <a:lstStyle/>
          <a:p>
            <a:pPr marL="0" indent="0">
              <a:buNone/>
            </a:pPr>
            <a:r>
              <a:rPr lang="en-US" sz="1200" i="1" dirty="0">
                <a:solidFill>
                  <a:srgbClr val="2E3B7D"/>
                </a:solidFill>
                <a:latin typeface="Georgia" pitchFamily="34" charset="0"/>
                <a:ea typeface="Georgia" pitchFamily="34" charset="-122"/>
                <a:cs typeface="Georgia" pitchFamily="34" charset="-120"/>
              </a:rPr>
              <a:t>Flutter app screens built so far — UI layer only, not yet wired to the backend / live data.</a:t>
            </a:r>
            <a:endParaRPr lang="en-US" sz="1200" dirty="0"/>
          </a:p>
        </p:txBody>
      </p:sp>
      <p:sp>
        <p:nvSpPr>
          <p:cNvPr id="15" name="Text 12"/>
          <p:cNvSpPr txBox="1"/>
          <p:nvPr/>
        </p:nvSpPr>
        <p:spPr>
          <a:xfrm>
            <a:off x="274320" y="6648831"/>
            <a:ext cx="2999232" cy="548640"/>
          </a:xfrm>
          <a:prstGeom prst="rect">
            <a:avLst/>
          </a:prstGeom>
          <a:noFill/>
          <a:ln/>
        </p:spPr>
        <p:txBody>
          <a:bodyPr wrap="square" lIns="0" tIns="0" rIns="0" bIns="0" rtlCol="0" anchor="t"/>
          <a:lstStyle/>
          <a:p>
            <a:pPr marL="0" indent="0" algn="ctr">
              <a:lnSpc>
                <a:spcPct val="105000"/>
              </a:lnSpc>
              <a:buNone/>
            </a:pPr>
            <a:r>
              <a:rPr lang="en-US" sz="1050" b="1" dirty="0">
                <a:solidFill>
                  <a:srgbClr val="2E3B7D"/>
                </a:solidFill>
                <a:latin typeface="Georgia" pitchFamily="34" charset="0"/>
                <a:ea typeface="Georgia" pitchFamily="34" charset="-122"/>
                <a:cs typeface="Georgia" pitchFamily="34" charset="-120"/>
              </a:rPr>
              <a:t>Login / Home Screen</a:t>
            </a:r>
            <a:endParaRPr lang="en-US" sz="1050" dirty="0"/>
          </a:p>
        </p:txBody>
      </p:sp>
      <p:sp>
        <p:nvSpPr>
          <p:cNvPr id="21" name="Text 18"/>
          <p:cNvSpPr txBox="1"/>
          <p:nvPr/>
        </p:nvSpPr>
        <p:spPr>
          <a:xfrm>
            <a:off x="3669779" y="6631687"/>
            <a:ext cx="2999232" cy="548640"/>
          </a:xfrm>
          <a:prstGeom prst="rect">
            <a:avLst/>
          </a:prstGeom>
          <a:noFill/>
          <a:ln/>
        </p:spPr>
        <p:txBody>
          <a:bodyPr wrap="square" lIns="0" tIns="0" rIns="0" bIns="0" rtlCol="0" anchor="t"/>
          <a:lstStyle/>
          <a:p>
            <a:pPr marL="0" indent="0" algn="ctr">
              <a:lnSpc>
                <a:spcPct val="105000"/>
              </a:lnSpc>
              <a:buNone/>
            </a:pPr>
            <a:r>
              <a:rPr lang="en-US" sz="1050" b="1" dirty="0">
                <a:solidFill>
                  <a:srgbClr val="2E3B7D"/>
                </a:solidFill>
                <a:latin typeface="Georgia" pitchFamily="34" charset="0"/>
                <a:ea typeface="Georgia" pitchFamily="34" charset="-122"/>
                <a:cs typeface="Georgia" pitchFamily="34" charset="-120"/>
              </a:rPr>
              <a:t>Forecast Dashboard Screen</a:t>
            </a:r>
            <a:endParaRPr lang="en-US" sz="1050" dirty="0"/>
          </a:p>
        </p:txBody>
      </p:sp>
      <p:sp>
        <p:nvSpPr>
          <p:cNvPr id="27" name="Text 24"/>
          <p:cNvSpPr txBox="1"/>
          <p:nvPr/>
        </p:nvSpPr>
        <p:spPr>
          <a:xfrm>
            <a:off x="6784848" y="6648831"/>
            <a:ext cx="2999232" cy="548640"/>
          </a:xfrm>
          <a:prstGeom prst="rect">
            <a:avLst/>
          </a:prstGeom>
          <a:noFill/>
          <a:ln/>
        </p:spPr>
        <p:txBody>
          <a:bodyPr wrap="square" lIns="0" tIns="0" rIns="0" bIns="0" rtlCol="0" anchor="t"/>
          <a:lstStyle/>
          <a:p>
            <a:pPr marL="0" indent="0" algn="ctr">
              <a:lnSpc>
                <a:spcPct val="105000"/>
              </a:lnSpc>
              <a:buNone/>
            </a:pPr>
            <a:r>
              <a:rPr lang="en-US" sz="1050" b="1" dirty="0">
                <a:solidFill>
                  <a:srgbClr val="2E3B7D"/>
                </a:solidFill>
                <a:latin typeface="Georgia" pitchFamily="34" charset="0"/>
                <a:ea typeface="Georgia" pitchFamily="34" charset="-122"/>
                <a:cs typeface="Georgia" pitchFamily="34" charset="-120"/>
              </a:rPr>
              <a:t> Waste Action Screen</a:t>
            </a:r>
            <a:endParaRPr lang="en-US" sz="1050" dirty="0"/>
          </a:p>
        </p:txBody>
      </p:sp>
      <p:pic>
        <p:nvPicPr>
          <p:cNvPr id="35" name="Picture 34">
            <a:extLst>
              <a:ext uri="{FF2B5EF4-FFF2-40B4-BE49-F238E27FC236}">
                <a16:creationId xmlns:a16="http://schemas.microsoft.com/office/drawing/2014/main" id="{07DCBBB6-07ED-EF7D-6F9D-7A9027E6D4D5}"/>
              </a:ext>
              <a:ext uri="{C183D7F6-B498-43B3-948B-1728B52AA6E4}">
                <adec:decorative xmlns:adec="http://schemas.microsoft.com/office/drawing/2017/decorative" val="1"/>
              </a:ext>
            </a:extLst>
          </p:cNvPr>
          <p:cNvPicPr>
            <a:picLocks noChangeAspect="1"/>
          </p:cNvPicPr>
          <p:nvPr/>
        </p:nvPicPr>
        <p:blipFill rotWithShape="1">
          <a:blip r:embed="rId4"/>
          <a:srcRect t="4134"/>
          <a:stretch>
            <a:fillRect/>
          </a:stretch>
        </p:blipFill>
        <p:spPr>
          <a:xfrm>
            <a:off x="623723" y="1717928"/>
            <a:ext cx="2314575" cy="4930903"/>
          </a:xfrm>
          <a:prstGeom prst="rect">
            <a:avLst/>
          </a:prstGeom>
        </p:spPr>
      </p:pic>
      <p:pic>
        <p:nvPicPr>
          <p:cNvPr id="39" name="Picture 38">
            <a:extLst>
              <a:ext uri="{FF2B5EF4-FFF2-40B4-BE49-F238E27FC236}">
                <a16:creationId xmlns:a16="http://schemas.microsoft.com/office/drawing/2014/main" id="{66314F23-50E4-DC32-E0B4-7B1931909548}"/>
              </a:ext>
              <a:ext uri="{C183D7F6-B498-43B3-948B-1728B52AA6E4}">
                <adec:decorative xmlns:adec="http://schemas.microsoft.com/office/drawing/2017/decorative" val="1"/>
              </a:ext>
            </a:extLst>
          </p:cNvPr>
          <p:cNvPicPr>
            <a:picLocks noChangeAspect="1"/>
          </p:cNvPicPr>
          <p:nvPr/>
        </p:nvPicPr>
        <p:blipFill rotWithShape="1">
          <a:blip r:embed="rId5"/>
          <a:srcRect t="4653"/>
          <a:stretch>
            <a:fillRect/>
          </a:stretch>
        </p:blipFill>
        <p:spPr>
          <a:xfrm>
            <a:off x="4005809" y="1700784"/>
            <a:ext cx="2327171" cy="4930903"/>
          </a:xfrm>
          <a:prstGeom prst="rect">
            <a:avLst/>
          </a:prstGeom>
        </p:spPr>
      </p:pic>
      <p:pic>
        <p:nvPicPr>
          <p:cNvPr id="40" name="Picture 39">
            <a:extLst>
              <a:ext uri="{FF2B5EF4-FFF2-40B4-BE49-F238E27FC236}">
                <a16:creationId xmlns:a16="http://schemas.microsoft.com/office/drawing/2014/main" id="{CFAC56FC-DBEB-31CA-DC0A-5B24024538DE}"/>
              </a:ext>
              <a:ext uri="{C183D7F6-B498-43B3-948B-1728B52AA6E4}">
                <adec:decorative xmlns:adec="http://schemas.microsoft.com/office/drawing/2017/decorative" val="1"/>
              </a:ext>
            </a:extLst>
          </p:cNvPr>
          <p:cNvPicPr>
            <a:picLocks noChangeAspect="1"/>
          </p:cNvPicPr>
          <p:nvPr/>
        </p:nvPicPr>
        <p:blipFill rotWithShape="1">
          <a:blip r:embed="rId6"/>
          <a:srcRect t="5701"/>
          <a:stretch>
            <a:fillRect/>
          </a:stretch>
        </p:blipFill>
        <p:spPr>
          <a:xfrm>
            <a:off x="7070598" y="1543176"/>
            <a:ext cx="2427732" cy="5087366"/>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7BD7FB-2B22-C9FA-FA11-E3687F4D17BA}"/>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6252E175-6CED-BC31-C596-1815A3067DA8}"/>
              </a:ext>
            </a:extLst>
          </p:cNvPr>
          <p:cNvPicPr>
            <a:picLocks noChangeAspect="1"/>
          </p:cNvPicPr>
          <p:nvPr/>
        </p:nvPicPr>
        <p:blipFill rotWithShape="1">
          <a:blip r:embed="rId2">
            <a:extLst>
              <a:ext uri="{28A0092B-C50C-407E-A947-70E740481C1C}">
                <a14:useLocalDpi xmlns:a14="http://schemas.microsoft.com/office/drawing/2010/main" val="0"/>
              </a:ext>
            </a:extLst>
          </a:blip>
          <a:srcRect l="48363" r="-1" b="45098"/>
          <a:stretch/>
        </p:blipFill>
        <p:spPr>
          <a:xfrm>
            <a:off x="0" y="6750969"/>
            <a:ext cx="9906000" cy="131162"/>
          </a:xfrm>
          <a:prstGeom prst="rect">
            <a:avLst/>
          </a:prstGeom>
        </p:spPr>
      </p:pic>
      <p:pic>
        <p:nvPicPr>
          <p:cNvPr id="6" name="Picture 5">
            <a:extLst>
              <a:ext uri="{FF2B5EF4-FFF2-40B4-BE49-F238E27FC236}">
                <a16:creationId xmlns:a16="http://schemas.microsoft.com/office/drawing/2014/main" id="{F58FA1E1-3FC5-2FD6-0AB3-B385EDC82F62}"/>
              </a:ext>
            </a:extLst>
          </p:cNvPr>
          <p:cNvPicPr>
            <a:picLocks noChangeAspect="1"/>
          </p:cNvPicPr>
          <p:nvPr/>
        </p:nvPicPr>
        <p:blipFill rotWithShape="1">
          <a:blip r:embed="rId3"/>
          <a:srcRect b="6633"/>
          <a:stretch/>
        </p:blipFill>
        <p:spPr>
          <a:xfrm>
            <a:off x="0" y="0"/>
            <a:ext cx="3927231" cy="939765"/>
          </a:xfrm>
          <a:prstGeom prst="rect">
            <a:avLst/>
          </a:prstGeom>
        </p:spPr>
      </p:pic>
      <p:pic>
        <p:nvPicPr>
          <p:cNvPr id="7" name="Picture 6">
            <a:extLst>
              <a:ext uri="{FF2B5EF4-FFF2-40B4-BE49-F238E27FC236}">
                <a16:creationId xmlns:a16="http://schemas.microsoft.com/office/drawing/2014/main" id="{AC721274-7357-D25E-82FD-677F69CBF064}"/>
              </a:ext>
            </a:extLst>
          </p:cNvPr>
          <p:cNvPicPr>
            <a:picLocks noChangeAspect="1"/>
          </p:cNvPicPr>
          <p:nvPr/>
        </p:nvPicPr>
        <p:blipFill rotWithShape="1">
          <a:blip r:embed="rId2">
            <a:extLst>
              <a:ext uri="{28A0092B-C50C-407E-A947-70E740481C1C}">
                <a14:useLocalDpi xmlns:a14="http://schemas.microsoft.com/office/drawing/2010/main" val="0"/>
              </a:ext>
            </a:extLst>
          </a:blip>
          <a:srcRect l="48363" r="-1" b="45098"/>
          <a:stretch/>
        </p:blipFill>
        <p:spPr>
          <a:xfrm>
            <a:off x="2637692" y="0"/>
            <a:ext cx="7268307" cy="525780"/>
          </a:xfrm>
          <a:prstGeom prst="rect">
            <a:avLst/>
          </a:prstGeom>
        </p:spPr>
      </p:pic>
      <p:sp>
        <p:nvSpPr>
          <p:cNvPr id="11" name="Rectangle 10">
            <a:extLst>
              <a:ext uri="{FF2B5EF4-FFF2-40B4-BE49-F238E27FC236}">
                <a16:creationId xmlns:a16="http://schemas.microsoft.com/office/drawing/2014/main" id="{7CA16063-0F93-ED14-DCEF-95480895A405}"/>
              </a:ext>
            </a:extLst>
          </p:cNvPr>
          <p:cNvSpPr/>
          <p:nvPr/>
        </p:nvSpPr>
        <p:spPr>
          <a:xfrm>
            <a:off x="1652953" y="107031"/>
            <a:ext cx="8253045" cy="336631"/>
          </a:xfrm>
          <a:prstGeom prst="rect">
            <a:avLst/>
          </a:prstGeom>
        </p:spPr>
        <p:txBody>
          <a:bodyPr wrap="square">
            <a:spAutoFit/>
          </a:bodyPr>
          <a:lstStyle/>
          <a:p>
            <a:pPr algn="ctr">
              <a:lnSpc>
                <a:spcPct val="107000"/>
              </a:lnSpc>
              <a:spcAft>
                <a:spcPts val="800"/>
              </a:spcAft>
            </a:pPr>
            <a:r>
              <a:rPr lang="en-IN" sz="1600" b="1" dirty="0">
                <a:solidFill>
                  <a:schemeClr val="bg1"/>
                </a:solidFill>
                <a:latin typeface="Cambria" panose="02040503050406030204" pitchFamily="18" charset="0"/>
              </a:rPr>
              <a:t>MUKESH PATEL SCHOOL OF TECHNOLOGY MANAGEMENT &amp; ENGINEERING, SHIRPUR</a:t>
            </a:r>
            <a:endParaRPr lang="en-US" sz="1600" b="1" dirty="0">
              <a:solidFill>
                <a:schemeClr val="bg1"/>
              </a:solidFill>
              <a:latin typeface="Cambria" panose="02040503050406030204" pitchFamily="18" charset="0"/>
            </a:endParaRPr>
          </a:p>
        </p:txBody>
      </p:sp>
      <p:sp>
        <p:nvSpPr>
          <p:cNvPr id="3" name="Slide Number Placeholder 2">
            <a:extLst>
              <a:ext uri="{FF2B5EF4-FFF2-40B4-BE49-F238E27FC236}">
                <a16:creationId xmlns:a16="http://schemas.microsoft.com/office/drawing/2014/main" id="{B002F201-32C0-DF53-8399-46A10BDF8CCA}"/>
              </a:ext>
            </a:extLst>
          </p:cNvPr>
          <p:cNvSpPr>
            <a:spLocks noGrp="1"/>
          </p:cNvSpPr>
          <p:nvPr>
            <p:ph type="sldNum" sz="quarter" idx="12"/>
          </p:nvPr>
        </p:nvSpPr>
        <p:spPr/>
        <p:txBody>
          <a:bodyPr/>
          <a:lstStyle/>
          <a:p>
            <a:fld id="{9DC013F7-6D70-4318-BA41-212A9B59413B}" type="slidenum">
              <a:rPr lang="en-US" smtClean="0"/>
              <a:t>16</a:t>
            </a:fld>
            <a:endParaRPr lang="en-US" dirty="0"/>
          </a:p>
        </p:txBody>
      </p:sp>
      <p:sp>
        <p:nvSpPr>
          <p:cNvPr id="2" name="AutoShape 4" descr="Neural Networks Hyperparameter tuning in tensorflow 2.0 | by SiDdhartha |  ML Book | Medium">
            <a:extLst>
              <a:ext uri="{FF2B5EF4-FFF2-40B4-BE49-F238E27FC236}">
                <a16:creationId xmlns:a16="http://schemas.microsoft.com/office/drawing/2014/main" id="{7131B66C-4AA1-0F49-8C17-552C01ED9334}"/>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5" name="Text 4">
            <a:extLst>
              <a:ext uri="{FF2B5EF4-FFF2-40B4-BE49-F238E27FC236}">
                <a16:creationId xmlns:a16="http://schemas.microsoft.com/office/drawing/2014/main" id="{1F06F815-8E9F-DE08-48F5-A6D9638E92A5}"/>
              </a:ext>
            </a:extLst>
          </p:cNvPr>
          <p:cNvSpPr txBox="1"/>
          <p:nvPr/>
        </p:nvSpPr>
        <p:spPr>
          <a:xfrm>
            <a:off x="274320" y="822960"/>
            <a:ext cx="9326880" cy="438912"/>
          </a:xfrm>
          <a:prstGeom prst="rect">
            <a:avLst/>
          </a:prstGeom>
          <a:noFill/>
          <a:ln/>
        </p:spPr>
        <p:txBody>
          <a:bodyPr wrap="square" lIns="0" tIns="0" rIns="0" bIns="0" rtlCol="0" anchor="ctr"/>
          <a:lstStyle/>
          <a:p>
            <a:pPr marL="0" indent="0">
              <a:buNone/>
            </a:pPr>
            <a:r>
              <a:rPr lang="en-US" sz="2400" b="1" dirty="0">
                <a:solidFill>
                  <a:srgbClr val="BB302C"/>
                </a:solidFill>
                <a:latin typeface="Georgia" pitchFamily="34" charset="0"/>
                <a:ea typeface="Georgia" pitchFamily="34" charset="-122"/>
                <a:cs typeface="Georgia" pitchFamily="34" charset="-120"/>
              </a:rPr>
              <a:t>Project Development Timeline (Gantt Chart)</a:t>
            </a:r>
            <a:endParaRPr lang="en-US" sz="2400" dirty="0"/>
          </a:p>
        </p:txBody>
      </p:sp>
      <p:sp>
        <p:nvSpPr>
          <p:cNvPr id="10" name="Shape 5">
            <a:extLst>
              <a:ext uri="{FF2B5EF4-FFF2-40B4-BE49-F238E27FC236}">
                <a16:creationId xmlns:a16="http://schemas.microsoft.com/office/drawing/2014/main" id="{60ACD387-24EA-5617-F85A-FC56037BEE30}"/>
              </a:ext>
            </a:extLst>
          </p:cNvPr>
          <p:cNvSpPr/>
          <p:nvPr/>
        </p:nvSpPr>
        <p:spPr>
          <a:xfrm>
            <a:off x="292608" y="1280160"/>
            <a:ext cx="9326880" cy="0"/>
          </a:xfrm>
          <a:prstGeom prst="line">
            <a:avLst/>
          </a:prstGeom>
          <a:noFill/>
          <a:ln w="12700">
            <a:solidFill>
              <a:srgbClr val="D9D9D9"/>
            </a:solidFill>
            <a:prstDash val="solid"/>
          </a:ln>
        </p:spPr>
      </p:sp>
      <p:sp>
        <p:nvSpPr>
          <p:cNvPr id="13" name="Text 6">
            <a:extLst>
              <a:ext uri="{FF2B5EF4-FFF2-40B4-BE49-F238E27FC236}">
                <a16:creationId xmlns:a16="http://schemas.microsoft.com/office/drawing/2014/main" id="{30414240-2B91-6CF0-E8AA-229F8B95D591}"/>
              </a:ext>
            </a:extLst>
          </p:cNvPr>
          <p:cNvSpPr txBox="1"/>
          <p:nvPr/>
        </p:nvSpPr>
        <p:spPr>
          <a:xfrm>
            <a:off x="292608" y="1335024"/>
            <a:ext cx="9326880" cy="365760"/>
          </a:xfrm>
          <a:prstGeom prst="rect">
            <a:avLst/>
          </a:prstGeom>
          <a:noFill/>
          <a:ln/>
        </p:spPr>
        <p:txBody>
          <a:bodyPr wrap="square" lIns="0" tIns="0" rIns="0" bIns="0" rtlCol="0" anchor="ctr"/>
          <a:lstStyle/>
          <a:p>
            <a:pPr marL="0" indent="0">
              <a:buNone/>
            </a:pPr>
            <a:r>
              <a:rPr lang="en-US" sz="1200" i="1" dirty="0">
                <a:solidFill>
                  <a:srgbClr val="2E3B7D"/>
                </a:solidFill>
                <a:latin typeface="Georgia" pitchFamily="34" charset="0"/>
                <a:ea typeface="Georgia" pitchFamily="34" charset="-122"/>
                <a:cs typeface="Georgia" pitchFamily="34" charset="-120"/>
              </a:rPr>
              <a:t>Re-baselined against actual progress bars show the original plan (outline), work completed, and work still remaining before Week 15.</a:t>
            </a:r>
            <a:endParaRPr lang="en-US" sz="1200" dirty="0"/>
          </a:p>
        </p:txBody>
      </p:sp>
      <p:sp>
        <p:nvSpPr>
          <p:cNvPr id="15" name="Shape 7">
            <a:extLst>
              <a:ext uri="{FF2B5EF4-FFF2-40B4-BE49-F238E27FC236}">
                <a16:creationId xmlns:a16="http://schemas.microsoft.com/office/drawing/2014/main" id="{BD729588-982B-5B35-F888-C9FC62B9DC8D}"/>
              </a:ext>
            </a:extLst>
          </p:cNvPr>
          <p:cNvSpPr/>
          <p:nvPr/>
        </p:nvSpPr>
        <p:spPr>
          <a:xfrm>
            <a:off x="2606040" y="1828800"/>
            <a:ext cx="2343912" cy="201168"/>
          </a:xfrm>
          <a:prstGeom prst="rect">
            <a:avLst/>
          </a:prstGeom>
          <a:solidFill>
            <a:srgbClr val="BB302C"/>
          </a:solidFill>
          <a:ln/>
        </p:spPr>
      </p:sp>
      <p:sp>
        <p:nvSpPr>
          <p:cNvPr id="17" name="Text 8">
            <a:extLst>
              <a:ext uri="{FF2B5EF4-FFF2-40B4-BE49-F238E27FC236}">
                <a16:creationId xmlns:a16="http://schemas.microsoft.com/office/drawing/2014/main" id="{3E1C4163-8AD7-50C2-9F19-2C531C935DA2}"/>
              </a:ext>
            </a:extLst>
          </p:cNvPr>
          <p:cNvSpPr txBox="1"/>
          <p:nvPr/>
        </p:nvSpPr>
        <p:spPr>
          <a:xfrm>
            <a:off x="2606040" y="1828800"/>
            <a:ext cx="2343912" cy="201168"/>
          </a:xfrm>
          <a:prstGeom prst="rect">
            <a:avLst/>
          </a:prstGeom>
          <a:noFill/>
          <a:ln/>
        </p:spPr>
        <p:txBody>
          <a:bodyPr wrap="square" lIns="0" tIns="0" rIns="0" bIns="0" rtlCol="0" anchor="ctr"/>
          <a:lstStyle/>
          <a:p>
            <a:pPr marL="0" indent="0" algn="ctr">
              <a:buNone/>
            </a:pPr>
            <a:r>
              <a:rPr lang="en-US" sz="850" b="1" dirty="0">
                <a:solidFill>
                  <a:srgbClr val="FFFFFF"/>
                </a:solidFill>
                <a:latin typeface="Georgia" pitchFamily="34" charset="0"/>
                <a:ea typeface="Georgia" pitchFamily="34" charset="-122"/>
                <a:cs typeface="Georgia" pitchFamily="34" charset="-120"/>
              </a:rPr>
              <a:t>Month 1 · Weeks 1-5</a:t>
            </a:r>
            <a:endParaRPr lang="en-US" sz="850" dirty="0"/>
          </a:p>
        </p:txBody>
      </p:sp>
      <p:sp>
        <p:nvSpPr>
          <p:cNvPr id="19" name="Shape 9">
            <a:extLst>
              <a:ext uri="{FF2B5EF4-FFF2-40B4-BE49-F238E27FC236}">
                <a16:creationId xmlns:a16="http://schemas.microsoft.com/office/drawing/2014/main" id="{469F6602-12F7-A6E0-B115-9D2C0A184EB7}"/>
              </a:ext>
            </a:extLst>
          </p:cNvPr>
          <p:cNvSpPr/>
          <p:nvPr/>
        </p:nvSpPr>
        <p:spPr>
          <a:xfrm>
            <a:off x="4949952" y="1828800"/>
            <a:ext cx="2343912" cy="201168"/>
          </a:xfrm>
          <a:prstGeom prst="rect">
            <a:avLst/>
          </a:prstGeom>
          <a:solidFill>
            <a:srgbClr val="BB302C"/>
          </a:solidFill>
          <a:ln/>
        </p:spPr>
      </p:sp>
      <p:sp>
        <p:nvSpPr>
          <p:cNvPr id="21" name="Text 10">
            <a:extLst>
              <a:ext uri="{FF2B5EF4-FFF2-40B4-BE49-F238E27FC236}">
                <a16:creationId xmlns:a16="http://schemas.microsoft.com/office/drawing/2014/main" id="{C9FFE7C7-1E65-6466-DFE1-9AFEB1153AFF}"/>
              </a:ext>
            </a:extLst>
          </p:cNvPr>
          <p:cNvSpPr txBox="1"/>
          <p:nvPr/>
        </p:nvSpPr>
        <p:spPr>
          <a:xfrm>
            <a:off x="4949952" y="1828800"/>
            <a:ext cx="2343912" cy="201168"/>
          </a:xfrm>
          <a:prstGeom prst="rect">
            <a:avLst/>
          </a:prstGeom>
          <a:noFill/>
          <a:ln/>
        </p:spPr>
        <p:txBody>
          <a:bodyPr wrap="square" lIns="0" tIns="0" rIns="0" bIns="0" rtlCol="0" anchor="ctr"/>
          <a:lstStyle/>
          <a:p>
            <a:pPr marL="0" indent="0" algn="ctr">
              <a:buNone/>
            </a:pPr>
            <a:r>
              <a:rPr lang="en-US" sz="850" b="1" dirty="0">
                <a:solidFill>
                  <a:srgbClr val="FFFFFF"/>
                </a:solidFill>
                <a:latin typeface="Georgia" pitchFamily="34" charset="0"/>
                <a:ea typeface="Georgia" pitchFamily="34" charset="-122"/>
                <a:cs typeface="Georgia" pitchFamily="34" charset="-120"/>
              </a:rPr>
              <a:t>Month 2 · Weeks 6-10</a:t>
            </a:r>
            <a:endParaRPr lang="en-US" sz="850" dirty="0"/>
          </a:p>
        </p:txBody>
      </p:sp>
      <p:sp>
        <p:nvSpPr>
          <p:cNvPr id="23" name="Shape 11">
            <a:extLst>
              <a:ext uri="{FF2B5EF4-FFF2-40B4-BE49-F238E27FC236}">
                <a16:creationId xmlns:a16="http://schemas.microsoft.com/office/drawing/2014/main" id="{13E21D6D-0519-78F3-8712-90D60EF1920A}"/>
              </a:ext>
            </a:extLst>
          </p:cNvPr>
          <p:cNvSpPr/>
          <p:nvPr/>
        </p:nvSpPr>
        <p:spPr>
          <a:xfrm>
            <a:off x="7293864" y="1828800"/>
            <a:ext cx="2343912" cy="201168"/>
          </a:xfrm>
          <a:prstGeom prst="rect">
            <a:avLst/>
          </a:prstGeom>
          <a:solidFill>
            <a:srgbClr val="BB302C"/>
          </a:solidFill>
          <a:ln/>
        </p:spPr>
      </p:sp>
      <p:sp>
        <p:nvSpPr>
          <p:cNvPr id="25" name="Text 12">
            <a:extLst>
              <a:ext uri="{FF2B5EF4-FFF2-40B4-BE49-F238E27FC236}">
                <a16:creationId xmlns:a16="http://schemas.microsoft.com/office/drawing/2014/main" id="{0D82E468-E8B6-45C5-959C-706B47863E8E}"/>
              </a:ext>
            </a:extLst>
          </p:cNvPr>
          <p:cNvSpPr txBox="1"/>
          <p:nvPr/>
        </p:nvSpPr>
        <p:spPr>
          <a:xfrm>
            <a:off x="7293864" y="1828800"/>
            <a:ext cx="2343912" cy="201168"/>
          </a:xfrm>
          <a:prstGeom prst="rect">
            <a:avLst/>
          </a:prstGeom>
          <a:noFill/>
          <a:ln/>
        </p:spPr>
        <p:txBody>
          <a:bodyPr wrap="square" lIns="0" tIns="0" rIns="0" bIns="0" rtlCol="0" anchor="ctr"/>
          <a:lstStyle/>
          <a:p>
            <a:pPr marL="0" indent="0" algn="ctr">
              <a:buNone/>
            </a:pPr>
            <a:r>
              <a:rPr lang="en-US" sz="850" b="1" dirty="0">
                <a:solidFill>
                  <a:srgbClr val="FFFFFF"/>
                </a:solidFill>
                <a:latin typeface="Georgia" pitchFamily="34" charset="0"/>
                <a:ea typeface="Georgia" pitchFamily="34" charset="-122"/>
                <a:cs typeface="Georgia" pitchFamily="34" charset="-120"/>
              </a:rPr>
              <a:t>Month 3 · Weeks 11-15</a:t>
            </a:r>
            <a:endParaRPr lang="en-US" sz="850" dirty="0"/>
          </a:p>
        </p:txBody>
      </p:sp>
      <p:sp>
        <p:nvSpPr>
          <p:cNvPr id="27" name="Text 13">
            <a:extLst>
              <a:ext uri="{FF2B5EF4-FFF2-40B4-BE49-F238E27FC236}">
                <a16:creationId xmlns:a16="http://schemas.microsoft.com/office/drawing/2014/main" id="{7C3288D9-D0AD-88BD-99C9-48F2B6D1BB18}"/>
              </a:ext>
            </a:extLst>
          </p:cNvPr>
          <p:cNvSpPr txBox="1"/>
          <p:nvPr/>
        </p:nvSpPr>
        <p:spPr>
          <a:xfrm>
            <a:off x="2606040" y="2029968"/>
            <a:ext cx="468782" cy="182880"/>
          </a:xfrm>
          <a:prstGeom prst="rect">
            <a:avLst/>
          </a:prstGeom>
          <a:noFill/>
          <a:ln/>
        </p:spPr>
        <p:txBody>
          <a:bodyPr wrap="square" lIns="0" tIns="0" rIns="0" bIns="0" rtlCol="0" anchor="ctr"/>
          <a:lstStyle/>
          <a:p>
            <a:pPr marL="0" indent="0" algn="ctr">
              <a:buNone/>
            </a:pPr>
            <a:r>
              <a:rPr lang="en-US" sz="750" dirty="0">
                <a:solidFill>
                  <a:srgbClr val="3A3A3A"/>
                </a:solidFill>
                <a:latin typeface="Georgia" pitchFamily="34" charset="0"/>
                <a:ea typeface="Georgia" pitchFamily="34" charset="-122"/>
                <a:cs typeface="Georgia" pitchFamily="34" charset="-120"/>
              </a:rPr>
              <a:t>1</a:t>
            </a:r>
            <a:endParaRPr lang="en-US" sz="750" dirty="0"/>
          </a:p>
        </p:txBody>
      </p:sp>
      <p:sp>
        <p:nvSpPr>
          <p:cNvPr id="29" name="Text 14">
            <a:extLst>
              <a:ext uri="{FF2B5EF4-FFF2-40B4-BE49-F238E27FC236}">
                <a16:creationId xmlns:a16="http://schemas.microsoft.com/office/drawing/2014/main" id="{C802F5E3-A962-45C0-46BE-D8093D3C5517}"/>
              </a:ext>
            </a:extLst>
          </p:cNvPr>
          <p:cNvSpPr txBox="1"/>
          <p:nvPr/>
        </p:nvSpPr>
        <p:spPr>
          <a:xfrm>
            <a:off x="3074822" y="2029968"/>
            <a:ext cx="468782" cy="182880"/>
          </a:xfrm>
          <a:prstGeom prst="rect">
            <a:avLst/>
          </a:prstGeom>
          <a:noFill/>
          <a:ln/>
        </p:spPr>
        <p:txBody>
          <a:bodyPr wrap="square" lIns="0" tIns="0" rIns="0" bIns="0" rtlCol="0" anchor="ctr"/>
          <a:lstStyle/>
          <a:p>
            <a:pPr marL="0" indent="0" algn="ctr">
              <a:buNone/>
            </a:pPr>
            <a:r>
              <a:rPr lang="en-US" sz="750" dirty="0">
                <a:solidFill>
                  <a:srgbClr val="3A3A3A"/>
                </a:solidFill>
                <a:latin typeface="Georgia" pitchFamily="34" charset="0"/>
                <a:ea typeface="Georgia" pitchFamily="34" charset="-122"/>
                <a:cs typeface="Georgia" pitchFamily="34" charset="-120"/>
              </a:rPr>
              <a:t>2</a:t>
            </a:r>
            <a:endParaRPr lang="en-US" sz="750" dirty="0"/>
          </a:p>
        </p:txBody>
      </p:sp>
      <p:sp>
        <p:nvSpPr>
          <p:cNvPr id="31" name="Text 15">
            <a:extLst>
              <a:ext uri="{FF2B5EF4-FFF2-40B4-BE49-F238E27FC236}">
                <a16:creationId xmlns:a16="http://schemas.microsoft.com/office/drawing/2014/main" id="{707D8A14-8CFD-1C99-3A22-AF1045C54EAC}"/>
              </a:ext>
            </a:extLst>
          </p:cNvPr>
          <p:cNvSpPr txBox="1"/>
          <p:nvPr/>
        </p:nvSpPr>
        <p:spPr>
          <a:xfrm>
            <a:off x="3543605" y="2029968"/>
            <a:ext cx="468782" cy="182880"/>
          </a:xfrm>
          <a:prstGeom prst="rect">
            <a:avLst/>
          </a:prstGeom>
          <a:noFill/>
          <a:ln/>
        </p:spPr>
        <p:txBody>
          <a:bodyPr wrap="square" lIns="0" tIns="0" rIns="0" bIns="0" rtlCol="0" anchor="ctr"/>
          <a:lstStyle/>
          <a:p>
            <a:pPr marL="0" indent="0" algn="ctr">
              <a:buNone/>
            </a:pPr>
            <a:r>
              <a:rPr lang="en-US" sz="750" dirty="0">
                <a:solidFill>
                  <a:srgbClr val="3A3A3A"/>
                </a:solidFill>
                <a:latin typeface="Georgia" pitchFamily="34" charset="0"/>
                <a:ea typeface="Georgia" pitchFamily="34" charset="-122"/>
                <a:cs typeface="Georgia" pitchFamily="34" charset="-120"/>
              </a:rPr>
              <a:t>3</a:t>
            </a:r>
            <a:endParaRPr lang="en-US" sz="750" dirty="0"/>
          </a:p>
        </p:txBody>
      </p:sp>
      <p:sp>
        <p:nvSpPr>
          <p:cNvPr id="33" name="Text 16">
            <a:extLst>
              <a:ext uri="{FF2B5EF4-FFF2-40B4-BE49-F238E27FC236}">
                <a16:creationId xmlns:a16="http://schemas.microsoft.com/office/drawing/2014/main" id="{06861771-9AF4-12D3-75EF-F687F81691A3}"/>
              </a:ext>
            </a:extLst>
          </p:cNvPr>
          <p:cNvSpPr txBox="1"/>
          <p:nvPr/>
        </p:nvSpPr>
        <p:spPr>
          <a:xfrm>
            <a:off x="4012387" y="2029968"/>
            <a:ext cx="468782" cy="182880"/>
          </a:xfrm>
          <a:prstGeom prst="rect">
            <a:avLst/>
          </a:prstGeom>
          <a:noFill/>
          <a:ln/>
        </p:spPr>
        <p:txBody>
          <a:bodyPr wrap="square" lIns="0" tIns="0" rIns="0" bIns="0" rtlCol="0" anchor="ctr"/>
          <a:lstStyle/>
          <a:p>
            <a:pPr marL="0" indent="0" algn="ctr">
              <a:buNone/>
            </a:pPr>
            <a:r>
              <a:rPr lang="en-US" sz="750" dirty="0">
                <a:solidFill>
                  <a:srgbClr val="3A3A3A"/>
                </a:solidFill>
                <a:latin typeface="Georgia" pitchFamily="34" charset="0"/>
                <a:ea typeface="Georgia" pitchFamily="34" charset="-122"/>
                <a:cs typeface="Georgia" pitchFamily="34" charset="-120"/>
              </a:rPr>
              <a:t>4</a:t>
            </a:r>
            <a:endParaRPr lang="en-US" sz="750" dirty="0"/>
          </a:p>
        </p:txBody>
      </p:sp>
      <p:sp>
        <p:nvSpPr>
          <p:cNvPr id="35" name="Text 17">
            <a:extLst>
              <a:ext uri="{FF2B5EF4-FFF2-40B4-BE49-F238E27FC236}">
                <a16:creationId xmlns:a16="http://schemas.microsoft.com/office/drawing/2014/main" id="{3E7C86AD-8DFA-1159-CC2F-3C23D04EFA67}"/>
              </a:ext>
            </a:extLst>
          </p:cNvPr>
          <p:cNvSpPr txBox="1"/>
          <p:nvPr/>
        </p:nvSpPr>
        <p:spPr>
          <a:xfrm>
            <a:off x="4481170" y="2029968"/>
            <a:ext cx="468782" cy="182880"/>
          </a:xfrm>
          <a:prstGeom prst="rect">
            <a:avLst/>
          </a:prstGeom>
          <a:noFill/>
          <a:ln/>
        </p:spPr>
        <p:txBody>
          <a:bodyPr wrap="square" lIns="0" tIns="0" rIns="0" bIns="0" rtlCol="0" anchor="ctr"/>
          <a:lstStyle/>
          <a:p>
            <a:pPr marL="0" indent="0" algn="ctr">
              <a:buNone/>
            </a:pPr>
            <a:r>
              <a:rPr lang="en-US" sz="750" dirty="0">
                <a:solidFill>
                  <a:srgbClr val="3A3A3A"/>
                </a:solidFill>
                <a:latin typeface="Georgia" pitchFamily="34" charset="0"/>
                <a:ea typeface="Georgia" pitchFamily="34" charset="-122"/>
                <a:cs typeface="Georgia" pitchFamily="34" charset="-120"/>
              </a:rPr>
              <a:t>5</a:t>
            </a:r>
            <a:endParaRPr lang="en-US" sz="750" dirty="0"/>
          </a:p>
        </p:txBody>
      </p:sp>
      <p:sp>
        <p:nvSpPr>
          <p:cNvPr id="37" name="Text 18">
            <a:extLst>
              <a:ext uri="{FF2B5EF4-FFF2-40B4-BE49-F238E27FC236}">
                <a16:creationId xmlns:a16="http://schemas.microsoft.com/office/drawing/2014/main" id="{57E81306-634B-1A18-FADB-F2894C59DB11}"/>
              </a:ext>
            </a:extLst>
          </p:cNvPr>
          <p:cNvSpPr txBox="1"/>
          <p:nvPr/>
        </p:nvSpPr>
        <p:spPr>
          <a:xfrm>
            <a:off x="4949952" y="2029968"/>
            <a:ext cx="468782" cy="182880"/>
          </a:xfrm>
          <a:prstGeom prst="rect">
            <a:avLst/>
          </a:prstGeom>
          <a:noFill/>
          <a:ln/>
        </p:spPr>
        <p:txBody>
          <a:bodyPr wrap="square" lIns="0" tIns="0" rIns="0" bIns="0" rtlCol="0" anchor="ctr"/>
          <a:lstStyle/>
          <a:p>
            <a:pPr marL="0" indent="0" algn="ctr">
              <a:buNone/>
            </a:pPr>
            <a:r>
              <a:rPr lang="en-US" sz="750" dirty="0">
                <a:solidFill>
                  <a:srgbClr val="3A3A3A"/>
                </a:solidFill>
                <a:latin typeface="Georgia" pitchFamily="34" charset="0"/>
                <a:ea typeface="Georgia" pitchFamily="34" charset="-122"/>
                <a:cs typeface="Georgia" pitchFamily="34" charset="-120"/>
              </a:rPr>
              <a:t>6</a:t>
            </a:r>
            <a:endParaRPr lang="en-US" sz="750" dirty="0"/>
          </a:p>
        </p:txBody>
      </p:sp>
      <p:sp>
        <p:nvSpPr>
          <p:cNvPr id="39" name="Text 19">
            <a:extLst>
              <a:ext uri="{FF2B5EF4-FFF2-40B4-BE49-F238E27FC236}">
                <a16:creationId xmlns:a16="http://schemas.microsoft.com/office/drawing/2014/main" id="{B74A58E0-E30C-0920-2DB5-2557D5DB19CF}"/>
              </a:ext>
            </a:extLst>
          </p:cNvPr>
          <p:cNvSpPr txBox="1"/>
          <p:nvPr/>
        </p:nvSpPr>
        <p:spPr>
          <a:xfrm>
            <a:off x="5418734" y="2029968"/>
            <a:ext cx="468782" cy="182880"/>
          </a:xfrm>
          <a:prstGeom prst="rect">
            <a:avLst/>
          </a:prstGeom>
          <a:noFill/>
          <a:ln/>
        </p:spPr>
        <p:txBody>
          <a:bodyPr wrap="square" lIns="0" tIns="0" rIns="0" bIns="0" rtlCol="0" anchor="ctr"/>
          <a:lstStyle/>
          <a:p>
            <a:pPr marL="0" indent="0" algn="ctr">
              <a:buNone/>
            </a:pPr>
            <a:r>
              <a:rPr lang="en-US" sz="750" dirty="0">
                <a:solidFill>
                  <a:srgbClr val="3A3A3A"/>
                </a:solidFill>
                <a:latin typeface="Georgia" pitchFamily="34" charset="0"/>
                <a:ea typeface="Georgia" pitchFamily="34" charset="-122"/>
                <a:cs typeface="Georgia" pitchFamily="34" charset="-120"/>
              </a:rPr>
              <a:t>7</a:t>
            </a:r>
            <a:endParaRPr lang="en-US" sz="750" dirty="0"/>
          </a:p>
        </p:txBody>
      </p:sp>
      <p:sp>
        <p:nvSpPr>
          <p:cNvPr id="41" name="Text 20">
            <a:extLst>
              <a:ext uri="{FF2B5EF4-FFF2-40B4-BE49-F238E27FC236}">
                <a16:creationId xmlns:a16="http://schemas.microsoft.com/office/drawing/2014/main" id="{5BD3C9A7-0A65-CEAD-2613-954B611FE2F0}"/>
              </a:ext>
            </a:extLst>
          </p:cNvPr>
          <p:cNvSpPr txBox="1"/>
          <p:nvPr/>
        </p:nvSpPr>
        <p:spPr>
          <a:xfrm>
            <a:off x="5887517" y="2029968"/>
            <a:ext cx="468782" cy="182880"/>
          </a:xfrm>
          <a:prstGeom prst="rect">
            <a:avLst/>
          </a:prstGeom>
          <a:noFill/>
          <a:ln/>
        </p:spPr>
        <p:txBody>
          <a:bodyPr wrap="square" lIns="0" tIns="0" rIns="0" bIns="0" rtlCol="0" anchor="ctr"/>
          <a:lstStyle/>
          <a:p>
            <a:pPr marL="0" indent="0" algn="ctr">
              <a:buNone/>
            </a:pPr>
            <a:r>
              <a:rPr lang="en-US" sz="750" dirty="0">
                <a:solidFill>
                  <a:srgbClr val="3A3A3A"/>
                </a:solidFill>
                <a:latin typeface="Georgia" pitchFamily="34" charset="0"/>
                <a:ea typeface="Georgia" pitchFamily="34" charset="-122"/>
                <a:cs typeface="Georgia" pitchFamily="34" charset="-120"/>
              </a:rPr>
              <a:t>8</a:t>
            </a:r>
            <a:endParaRPr lang="en-US" sz="750" dirty="0"/>
          </a:p>
        </p:txBody>
      </p:sp>
      <p:sp>
        <p:nvSpPr>
          <p:cNvPr id="43" name="Text 21">
            <a:extLst>
              <a:ext uri="{FF2B5EF4-FFF2-40B4-BE49-F238E27FC236}">
                <a16:creationId xmlns:a16="http://schemas.microsoft.com/office/drawing/2014/main" id="{82F0AA1A-AEEB-B7D9-DE50-470142BB433B}"/>
              </a:ext>
            </a:extLst>
          </p:cNvPr>
          <p:cNvSpPr txBox="1"/>
          <p:nvPr/>
        </p:nvSpPr>
        <p:spPr>
          <a:xfrm>
            <a:off x="6356299" y="2029968"/>
            <a:ext cx="468782" cy="182880"/>
          </a:xfrm>
          <a:prstGeom prst="rect">
            <a:avLst/>
          </a:prstGeom>
          <a:noFill/>
          <a:ln/>
        </p:spPr>
        <p:txBody>
          <a:bodyPr wrap="square" lIns="0" tIns="0" rIns="0" bIns="0" rtlCol="0" anchor="ctr"/>
          <a:lstStyle/>
          <a:p>
            <a:pPr marL="0" indent="0" algn="ctr">
              <a:buNone/>
            </a:pPr>
            <a:r>
              <a:rPr lang="en-US" sz="750" dirty="0">
                <a:solidFill>
                  <a:srgbClr val="3A3A3A"/>
                </a:solidFill>
                <a:latin typeface="Georgia" pitchFamily="34" charset="0"/>
                <a:ea typeface="Georgia" pitchFamily="34" charset="-122"/>
                <a:cs typeface="Georgia" pitchFamily="34" charset="-120"/>
              </a:rPr>
              <a:t>9</a:t>
            </a:r>
            <a:endParaRPr lang="en-US" sz="750" dirty="0"/>
          </a:p>
        </p:txBody>
      </p:sp>
      <p:sp>
        <p:nvSpPr>
          <p:cNvPr id="45" name="Text 22">
            <a:extLst>
              <a:ext uri="{FF2B5EF4-FFF2-40B4-BE49-F238E27FC236}">
                <a16:creationId xmlns:a16="http://schemas.microsoft.com/office/drawing/2014/main" id="{2D12A6D7-762D-BAD7-996F-E46FE8163361}"/>
              </a:ext>
            </a:extLst>
          </p:cNvPr>
          <p:cNvSpPr txBox="1"/>
          <p:nvPr/>
        </p:nvSpPr>
        <p:spPr>
          <a:xfrm>
            <a:off x="6825082" y="2029968"/>
            <a:ext cx="468782" cy="182880"/>
          </a:xfrm>
          <a:prstGeom prst="rect">
            <a:avLst/>
          </a:prstGeom>
          <a:noFill/>
          <a:ln/>
        </p:spPr>
        <p:txBody>
          <a:bodyPr wrap="square" lIns="0" tIns="0" rIns="0" bIns="0" rtlCol="0" anchor="ctr"/>
          <a:lstStyle/>
          <a:p>
            <a:pPr marL="0" indent="0" algn="ctr">
              <a:buNone/>
            </a:pPr>
            <a:r>
              <a:rPr lang="en-US" sz="750" dirty="0">
                <a:solidFill>
                  <a:srgbClr val="3A3A3A"/>
                </a:solidFill>
                <a:latin typeface="Georgia" pitchFamily="34" charset="0"/>
                <a:ea typeface="Georgia" pitchFamily="34" charset="-122"/>
                <a:cs typeface="Georgia" pitchFamily="34" charset="-120"/>
              </a:rPr>
              <a:t>10</a:t>
            </a:r>
            <a:endParaRPr lang="en-US" sz="750" dirty="0"/>
          </a:p>
        </p:txBody>
      </p:sp>
      <p:sp>
        <p:nvSpPr>
          <p:cNvPr id="47" name="Text 23">
            <a:extLst>
              <a:ext uri="{FF2B5EF4-FFF2-40B4-BE49-F238E27FC236}">
                <a16:creationId xmlns:a16="http://schemas.microsoft.com/office/drawing/2014/main" id="{3AE8C01B-14EC-AB61-19E5-1B11FA355E83}"/>
              </a:ext>
            </a:extLst>
          </p:cNvPr>
          <p:cNvSpPr txBox="1"/>
          <p:nvPr/>
        </p:nvSpPr>
        <p:spPr>
          <a:xfrm>
            <a:off x="7293864" y="2029968"/>
            <a:ext cx="468782" cy="182880"/>
          </a:xfrm>
          <a:prstGeom prst="rect">
            <a:avLst/>
          </a:prstGeom>
          <a:noFill/>
          <a:ln/>
        </p:spPr>
        <p:txBody>
          <a:bodyPr wrap="square" lIns="0" tIns="0" rIns="0" bIns="0" rtlCol="0" anchor="ctr"/>
          <a:lstStyle/>
          <a:p>
            <a:pPr marL="0" indent="0" algn="ctr">
              <a:buNone/>
            </a:pPr>
            <a:r>
              <a:rPr lang="en-US" sz="750" dirty="0">
                <a:solidFill>
                  <a:srgbClr val="3A3A3A"/>
                </a:solidFill>
                <a:latin typeface="Georgia" pitchFamily="34" charset="0"/>
                <a:ea typeface="Georgia" pitchFamily="34" charset="-122"/>
                <a:cs typeface="Georgia" pitchFamily="34" charset="-120"/>
              </a:rPr>
              <a:t>11</a:t>
            </a:r>
            <a:endParaRPr lang="en-US" sz="750" dirty="0"/>
          </a:p>
        </p:txBody>
      </p:sp>
      <p:sp>
        <p:nvSpPr>
          <p:cNvPr id="49" name="Text 24">
            <a:extLst>
              <a:ext uri="{FF2B5EF4-FFF2-40B4-BE49-F238E27FC236}">
                <a16:creationId xmlns:a16="http://schemas.microsoft.com/office/drawing/2014/main" id="{C11F61D2-D036-E5EC-63DD-94C07E30C0E9}"/>
              </a:ext>
            </a:extLst>
          </p:cNvPr>
          <p:cNvSpPr txBox="1"/>
          <p:nvPr/>
        </p:nvSpPr>
        <p:spPr>
          <a:xfrm>
            <a:off x="7762646" y="2029968"/>
            <a:ext cx="468782" cy="182880"/>
          </a:xfrm>
          <a:prstGeom prst="rect">
            <a:avLst/>
          </a:prstGeom>
          <a:noFill/>
          <a:ln/>
        </p:spPr>
        <p:txBody>
          <a:bodyPr wrap="square" lIns="0" tIns="0" rIns="0" bIns="0" rtlCol="0" anchor="ctr"/>
          <a:lstStyle/>
          <a:p>
            <a:pPr marL="0" indent="0" algn="ctr">
              <a:buNone/>
            </a:pPr>
            <a:r>
              <a:rPr lang="en-US" sz="750" dirty="0">
                <a:solidFill>
                  <a:srgbClr val="3A3A3A"/>
                </a:solidFill>
                <a:latin typeface="Georgia" pitchFamily="34" charset="0"/>
                <a:ea typeface="Georgia" pitchFamily="34" charset="-122"/>
                <a:cs typeface="Georgia" pitchFamily="34" charset="-120"/>
              </a:rPr>
              <a:t>12</a:t>
            </a:r>
            <a:endParaRPr lang="en-US" sz="750" dirty="0"/>
          </a:p>
        </p:txBody>
      </p:sp>
      <p:sp>
        <p:nvSpPr>
          <p:cNvPr id="51" name="Text 25">
            <a:extLst>
              <a:ext uri="{FF2B5EF4-FFF2-40B4-BE49-F238E27FC236}">
                <a16:creationId xmlns:a16="http://schemas.microsoft.com/office/drawing/2014/main" id="{F3609E07-D076-BDCC-B124-FB268B69615B}"/>
              </a:ext>
            </a:extLst>
          </p:cNvPr>
          <p:cNvSpPr txBox="1"/>
          <p:nvPr/>
        </p:nvSpPr>
        <p:spPr>
          <a:xfrm>
            <a:off x="8231429" y="2029968"/>
            <a:ext cx="468782" cy="182880"/>
          </a:xfrm>
          <a:prstGeom prst="rect">
            <a:avLst/>
          </a:prstGeom>
          <a:noFill/>
          <a:ln/>
        </p:spPr>
        <p:txBody>
          <a:bodyPr wrap="square" lIns="0" tIns="0" rIns="0" bIns="0" rtlCol="0" anchor="ctr"/>
          <a:lstStyle/>
          <a:p>
            <a:pPr marL="0" indent="0" algn="ctr">
              <a:buNone/>
            </a:pPr>
            <a:r>
              <a:rPr lang="en-US" sz="750" dirty="0">
                <a:solidFill>
                  <a:srgbClr val="3A3A3A"/>
                </a:solidFill>
                <a:latin typeface="Georgia" pitchFamily="34" charset="0"/>
                <a:ea typeface="Georgia" pitchFamily="34" charset="-122"/>
                <a:cs typeface="Georgia" pitchFamily="34" charset="-120"/>
              </a:rPr>
              <a:t>13</a:t>
            </a:r>
            <a:endParaRPr lang="en-US" sz="750" dirty="0"/>
          </a:p>
        </p:txBody>
      </p:sp>
      <p:sp>
        <p:nvSpPr>
          <p:cNvPr id="53" name="Text 26">
            <a:extLst>
              <a:ext uri="{FF2B5EF4-FFF2-40B4-BE49-F238E27FC236}">
                <a16:creationId xmlns:a16="http://schemas.microsoft.com/office/drawing/2014/main" id="{5672B027-9A88-CC07-A337-CD0E16F3325B}"/>
              </a:ext>
            </a:extLst>
          </p:cNvPr>
          <p:cNvSpPr txBox="1"/>
          <p:nvPr/>
        </p:nvSpPr>
        <p:spPr>
          <a:xfrm>
            <a:off x="8700211" y="2029968"/>
            <a:ext cx="468782" cy="182880"/>
          </a:xfrm>
          <a:prstGeom prst="rect">
            <a:avLst/>
          </a:prstGeom>
          <a:noFill/>
          <a:ln/>
        </p:spPr>
        <p:txBody>
          <a:bodyPr wrap="square" lIns="0" tIns="0" rIns="0" bIns="0" rtlCol="0" anchor="ctr"/>
          <a:lstStyle/>
          <a:p>
            <a:pPr marL="0" indent="0" algn="ctr">
              <a:buNone/>
            </a:pPr>
            <a:r>
              <a:rPr lang="en-US" sz="750" dirty="0">
                <a:solidFill>
                  <a:srgbClr val="3A3A3A"/>
                </a:solidFill>
                <a:latin typeface="Georgia" pitchFamily="34" charset="0"/>
                <a:ea typeface="Georgia" pitchFamily="34" charset="-122"/>
                <a:cs typeface="Georgia" pitchFamily="34" charset="-120"/>
              </a:rPr>
              <a:t>14</a:t>
            </a:r>
            <a:endParaRPr lang="en-US" sz="750" dirty="0"/>
          </a:p>
        </p:txBody>
      </p:sp>
      <p:sp>
        <p:nvSpPr>
          <p:cNvPr id="55" name="Text 27">
            <a:extLst>
              <a:ext uri="{FF2B5EF4-FFF2-40B4-BE49-F238E27FC236}">
                <a16:creationId xmlns:a16="http://schemas.microsoft.com/office/drawing/2014/main" id="{2C5A4BA1-C811-2E86-DADE-B95D395DF759}"/>
              </a:ext>
            </a:extLst>
          </p:cNvPr>
          <p:cNvSpPr txBox="1"/>
          <p:nvPr/>
        </p:nvSpPr>
        <p:spPr>
          <a:xfrm>
            <a:off x="9168994" y="2029968"/>
            <a:ext cx="468782" cy="182880"/>
          </a:xfrm>
          <a:prstGeom prst="rect">
            <a:avLst/>
          </a:prstGeom>
          <a:noFill/>
          <a:ln/>
        </p:spPr>
        <p:txBody>
          <a:bodyPr wrap="square" lIns="0" tIns="0" rIns="0" bIns="0" rtlCol="0" anchor="ctr"/>
          <a:lstStyle/>
          <a:p>
            <a:pPr marL="0" indent="0" algn="ctr">
              <a:buNone/>
            </a:pPr>
            <a:r>
              <a:rPr lang="en-US" sz="750" dirty="0">
                <a:solidFill>
                  <a:srgbClr val="3A3A3A"/>
                </a:solidFill>
                <a:latin typeface="Georgia" pitchFamily="34" charset="0"/>
                <a:ea typeface="Georgia" pitchFamily="34" charset="-122"/>
                <a:cs typeface="Georgia" pitchFamily="34" charset="-120"/>
              </a:rPr>
              <a:t>15</a:t>
            </a:r>
            <a:endParaRPr lang="en-US" sz="750" dirty="0"/>
          </a:p>
        </p:txBody>
      </p:sp>
      <p:sp>
        <p:nvSpPr>
          <p:cNvPr id="57" name="Shape 28">
            <a:extLst>
              <a:ext uri="{FF2B5EF4-FFF2-40B4-BE49-F238E27FC236}">
                <a16:creationId xmlns:a16="http://schemas.microsoft.com/office/drawing/2014/main" id="{7F74FEEC-EE2C-3F5D-0B16-46A188E4F72A}"/>
              </a:ext>
            </a:extLst>
          </p:cNvPr>
          <p:cNvSpPr/>
          <p:nvPr/>
        </p:nvSpPr>
        <p:spPr>
          <a:xfrm>
            <a:off x="2637692" y="2249424"/>
            <a:ext cx="7031736" cy="3621024"/>
          </a:xfrm>
          <a:prstGeom prst="rect">
            <a:avLst/>
          </a:prstGeom>
          <a:solidFill>
            <a:srgbClr val="F7F5F4"/>
          </a:solidFill>
          <a:ln/>
        </p:spPr>
      </p:sp>
      <p:sp>
        <p:nvSpPr>
          <p:cNvPr id="59" name="Text 29">
            <a:extLst>
              <a:ext uri="{FF2B5EF4-FFF2-40B4-BE49-F238E27FC236}">
                <a16:creationId xmlns:a16="http://schemas.microsoft.com/office/drawing/2014/main" id="{3F69C21B-A2E9-C5A7-5D94-ECAA6142DF32}"/>
              </a:ext>
            </a:extLst>
          </p:cNvPr>
          <p:cNvSpPr txBox="1"/>
          <p:nvPr/>
        </p:nvSpPr>
        <p:spPr>
          <a:xfrm>
            <a:off x="274320" y="2240280"/>
            <a:ext cx="2240280" cy="361188"/>
          </a:xfrm>
          <a:prstGeom prst="rect">
            <a:avLst/>
          </a:prstGeom>
          <a:noFill/>
          <a:ln/>
        </p:spPr>
        <p:txBody>
          <a:bodyPr wrap="square" lIns="0" tIns="0" rIns="0" bIns="0" rtlCol="0" anchor="ctr"/>
          <a:lstStyle/>
          <a:p>
            <a:pPr marL="0" indent="0" algn="l">
              <a:buNone/>
            </a:pPr>
            <a:r>
              <a:rPr lang="en-US" sz="900" dirty="0">
                <a:solidFill>
                  <a:srgbClr val="3A3A3A"/>
                </a:solidFill>
                <a:latin typeface="Georgia" pitchFamily="34" charset="0"/>
                <a:ea typeface="Georgia" pitchFamily="34" charset="-122"/>
                <a:cs typeface="Georgia" pitchFamily="34" charset="-120"/>
              </a:rPr>
              <a:t>Literature Review &amp; Requirement Finalization</a:t>
            </a:r>
            <a:endParaRPr lang="en-US" sz="900" dirty="0"/>
          </a:p>
        </p:txBody>
      </p:sp>
      <p:sp>
        <p:nvSpPr>
          <p:cNvPr id="61" name="Shape 30">
            <a:extLst>
              <a:ext uri="{FF2B5EF4-FFF2-40B4-BE49-F238E27FC236}">
                <a16:creationId xmlns:a16="http://schemas.microsoft.com/office/drawing/2014/main" id="{62C53FAA-CA70-FC08-F4B8-6B3C0ACA9DA8}"/>
              </a:ext>
            </a:extLst>
          </p:cNvPr>
          <p:cNvSpPr/>
          <p:nvPr/>
        </p:nvSpPr>
        <p:spPr>
          <a:xfrm>
            <a:off x="2606040" y="2267712"/>
            <a:ext cx="1875130" cy="82296"/>
          </a:xfrm>
          <a:prstGeom prst="rect">
            <a:avLst/>
          </a:prstGeom>
          <a:solidFill>
            <a:srgbClr val="FFFFFF"/>
          </a:solidFill>
          <a:ln w="12700">
            <a:solidFill>
              <a:srgbClr val="B7B7B7"/>
            </a:solidFill>
            <a:prstDash val="solid"/>
          </a:ln>
        </p:spPr>
      </p:sp>
      <p:sp>
        <p:nvSpPr>
          <p:cNvPr id="63" name="Shape 31">
            <a:extLst>
              <a:ext uri="{FF2B5EF4-FFF2-40B4-BE49-F238E27FC236}">
                <a16:creationId xmlns:a16="http://schemas.microsoft.com/office/drawing/2014/main" id="{F8DBC640-2152-E8BE-8B2F-F8856C54DBB4}"/>
              </a:ext>
            </a:extLst>
          </p:cNvPr>
          <p:cNvSpPr/>
          <p:nvPr/>
        </p:nvSpPr>
        <p:spPr>
          <a:xfrm>
            <a:off x="2606040" y="2386584"/>
            <a:ext cx="1875130" cy="182880"/>
          </a:xfrm>
          <a:prstGeom prst="rect">
            <a:avLst/>
          </a:prstGeom>
          <a:solidFill>
            <a:srgbClr val="3E7D3E"/>
          </a:solidFill>
          <a:ln/>
        </p:spPr>
      </p:sp>
      <p:sp>
        <p:nvSpPr>
          <p:cNvPr id="65" name="Text 32">
            <a:extLst>
              <a:ext uri="{FF2B5EF4-FFF2-40B4-BE49-F238E27FC236}">
                <a16:creationId xmlns:a16="http://schemas.microsoft.com/office/drawing/2014/main" id="{B51ED3E9-45BE-19FA-FDAB-68B7157AC801}"/>
              </a:ext>
            </a:extLst>
          </p:cNvPr>
          <p:cNvSpPr txBox="1"/>
          <p:nvPr/>
        </p:nvSpPr>
        <p:spPr>
          <a:xfrm>
            <a:off x="4517746" y="2368296"/>
            <a:ext cx="457200" cy="219456"/>
          </a:xfrm>
          <a:prstGeom prst="rect">
            <a:avLst/>
          </a:prstGeom>
          <a:noFill/>
          <a:ln/>
        </p:spPr>
        <p:txBody>
          <a:bodyPr wrap="square" lIns="0" tIns="0" rIns="0" bIns="0" rtlCol="0" anchor="ctr"/>
          <a:lstStyle/>
          <a:p>
            <a:pPr marL="0" indent="0" algn="l">
              <a:buNone/>
            </a:pPr>
            <a:r>
              <a:rPr lang="en-US" sz="800" b="1" dirty="0">
                <a:solidFill>
                  <a:srgbClr val="3E7D3E"/>
                </a:solidFill>
                <a:latin typeface="Georgia" pitchFamily="34" charset="0"/>
                <a:ea typeface="Georgia" pitchFamily="34" charset="-122"/>
                <a:cs typeface="Georgia" pitchFamily="34" charset="-120"/>
              </a:rPr>
              <a:t>100%</a:t>
            </a:r>
            <a:endParaRPr lang="en-US" sz="800" dirty="0"/>
          </a:p>
        </p:txBody>
      </p:sp>
      <p:sp>
        <p:nvSpPr>
          <p:cNvPr id="67" name="Text 33">
            <a:extLst>
              <a:ext uri="{FF2B5EF4-FFF2-40B4-BE49-F238E27FC236}">
                <a16:creationId xmlns:a16="http://schemas.microsoft.com/office/drawing/2014/main" id="{81C6DD0C-4CFA-5B8C-9A10-B11208C708E1}"/>
              </a:ext>
            </a:extLst>
          </p:cNvPr>
          <p:cNvSpPr txBox="1"/>
          <p:nvPr/>
        </p:nvSpPr>
        <p:spPr>
          <a:xfrm>
            <a:off x="274320" y="2642616"/>
            <a:ext cx="2240280" cy="361188"/>
          </a:xfrm>
          <a:prstGeom prst="rect">
            <a:avLst/>
          </a:prstGeom>
          <a:noFill/>
          <a:ln/>
        </p:spPr>
        <p:txBody>
          <a:bodyPr wrap="square" lIns="0" tIns="0" rIns="0" bIns="0" rtlCol="0" anchor="ctr"/>
          <a:lstStyle/>
          <a:p>
            <a:pPr marL="0" indent="0" algn="l">
              <a:buNone/>
            </a:pPr>
            <a:r>
              <a:rPr lang="en-US" sz="900" dirty="0">
                <a:solidFill>
                  <a:srgbClr val="3A3A3A"/>
                </a:solidFill>
                <a:latin typeface="Georgia" pitchFamily="34" charset="0"/>
                <a:ea typeface="Georgia" pitchFamily="34" charset="-122"/>
                <a:cs typeface="Georgia" pitchFamily="34" charset="-120"/>
              </a:rPr>
              <a:t>Dataset Collection &amp; Verification</a:t>
            </a:r>
            <a:endParaRPr lang="en-US" sz="900" dirty="0"/>
          </a:p>
        </p:txBody>
      </p:sp>
      <p:sp>
        <p:nvSpPr>
          <p:cNvPr id="69" name="Shape 34">
            <a:extLst>
              <a:ext uri="{FF2B5EF4-FFF2-40B4-BE49-F238E27FC236}">
                <a16:creationId xmlns:a16="http://schemas.microsoft.com/office/drawing/2014/main" id="{6AACE83C-9A37-333A-1DC1-9044350B1318}"/>
              </a:ext>
            </a:extLst>
          </p:cNvPr>
          <p:cNvSpPr/>
          <p:nvPr/>
        </p:nvSpPr>
        <p:spPr>
          <a:xfrm>
            <a:off x="3074822" y="2670048"/>
            <a:ext cx="1875130" cy="82296"/>
          </a:xfrm>
          <a:prstGeom prst="rect">
            <a:avLst/>
          </a:prstGeom>
          <a:solidFill>
            <a:srgbClr val="FFFFFF"/>
          </a:solidFill>
          <a:ln w="12700">
            <a:solidFill>
              <a:srgbClr val="B7B7B7"/>
            </a:solidFill>
            <a:prstDash val="solid"/>
          </a:ln>
        </p:spPr>
      </p:sp>
      <p:sp>
        <p:nvSpPr>
          <p:cNvPr id="71" name="Shape 35">
            <a:extLst>
              <a:ext uri="{FF2B5EF4-FFF2-40B4-BE49-F238E27FC236}">
                <a16:creationId xmlns:a16="http://schemas.microsoft.com/office/drawing/2014/main" id="{D8476B73-E139-EF43-4169-241CF892B628}"/>
              </a:ext>
            </a:extLst>
          </p:cNvPr>
          <p:cNvSpPr/>
          <p:nvPr/>
        </p:nvSpPr>
        <p:spPr>
          <a:xfrm>
            <a:off x="3074822" y="2788920"/>
            <a:ext cx="1875130" cy="182880"/>
          </a:xfrm>
          <a:prstGeom prst="rect">
            <a:avLst/>
          </a:prstGeom>
          <a:solidFill>
            <a:srgbClr val="3E7D3E"/>
          </a:solidFill>
          <a:ln/>
        </p:spPr>
      </p:sp>
      <p:sp>
        <p:nvSpPr>
          <p:cNvPr id="73" name="Text 36">
            <a:extLst>
              <a:ext uri="{FF2B5EF4-FFF2-40B4-BE49-F238E27FC236}">
                <a16:creationId xmlns:a16="http://schemas.microsoft.com/office/drawing/2014/main" id="{27A84DE3-8945-E5E1-DB87-0FB0B941A66D}"/>
              </a:ext>
            </a:extLst>
          </p:cNvPr>
          <p:cNvSpPr txBox="1"/>
          <p:nvPr/>
        </p:nvSpPr>
        <p:spPr>
          <a:xfrm>
            <a:off x="4986528" y="2770632"/>
            <a:ext cx="457200" cy="219456"/>
          </a:xfrm>
          <a:prstGeom prst="rect">
            <a:avLst/>
          </a:prstGeom>
          <a:noFill/>
          <a:ln/>
        </p:spPr>
        <p:txBody>
          <a:bodyPr wrap="square" lIns="0" tIns="0" rIns="0" bIns="0" rtlCol="0" anchor="ctr"/>
          <a:lstStyle/>
          <a:p>
            <a:pPr marL="0" indent="0" algn="l">
              <a:buNone/>
            </a:pPr>
            <a:r>
              <a:rPr lang="en-US" sz="800" b="1" dirty="0">
                <a:solidFill>
                  <a:srgbClr val="3E7D3E"/>
                </a:solidFill>
                <a:latin typeface="Georgia" pitchFamily="34" charset="0"/>
                <a:ea typeface="Georgia" pitchFamily="34" charset="-122"/>
                <a:cs typeface="Georgia" pitchFamily="34" charset="-120"/>
              </a:rPr>
              <a:t>100%</a:t>
            </a:r>
            <a:endParaRPr lang="en-US" sz="800" dirty="0"/>
          </a:p>
        </p:txBody>
      </p:sp>
      <p:sp>
        <p:nvSpPr>
          <p:cNvPr id="75" name="Text 37">
            <a:extLst>
              <a:ext uri="{FF2B5EF4-FFF2-40B4-BE49-F238E27FC236}">
                <a16:creationId xmlns:a16="http://schemas.microsoft.com/office/drawing/2014/main" id="{2C262157-473F-37D6-0FA1-D6A95DAE6B76}"/>
              </a:ext>
            </a:extLst>
          </p:cNvPr>
          <p:cNvSpPr txBox="1"/>
          <p:nvPr/>
        </p:nvSpPr>
        <p:spPr>
          <a:xfrm>
            <a:off x="274320" y="3441192"/>
            <a:ext cx="2240280" cy="361188"/>
          </a:xfrm>
          <a:prstGeom prst="rect">
            <a:avLst/>
          </a:prstGeom>
          <a:noFill/>
          <a:ln/>
        </p:spPr>
        <p:txBody>
          <a:bodyPr wrap="square" lIns="0" tIns="0" rIns="0" bIns="0" rtlCol="0" anchor="ctr"/>
          <a:lstStyle/>
          <a:p>
            <a:pPr marL="0" indent="0" algn="l">
              <a:buNone/>
            </a:pPr>
            <a:r>
              <a:rPr lang="en-US" sz="900" dirty="0">
                <a:solidFill>
                  <a:srgbClr val="3A3A3A"/>
                </a:solidFill>
                <a:latin typeface="Georgia" pitchFamily="34" charset="0"/>
                <a:ea typeface="Georgia" pitchFamily="34" charset="-122"/>
                <a:cs typeface="Georgia" pitchFamily="34" charset="-120"/>
              </a:rPr>
              <a:t>Model Training (Prophet + XGBoost)</a:t>
            </a:r>
            <a:endParaRPr lang="en-US" sz="900" dirty="0"/>
          </a:p>
        </p:txBody>
      </p:sp>
      <p:sp>
        <p:nvSpPr>
          <p:cNvPr id="77" name="Shape 38">
            <a:extLst>
              <a:ext uri="{FF2B5EF4-FFF2-40B4-BE49-F238E27FC236}">
                <a16:creationId xmlns:a16="http://schemas.microsoft.com/office/drawing/2014/main" id="{EFC2F8F9-505D-FB4B-8A7B-5939D52809D3}"/>
              </a:ext>
            </a:extLst>
          </p:cNvPr>
          <p:cNvSpPr/>
          <p:nvPr/>
        </p:nvSpPr>
        <p:spPr>
          <a:xfrm>
            <a:off x="5135880" y="3472844"/>
            <a:ext cx="2217420" cy="78076"/>
          </a:xfrm>
          <a:prstGeom prst="rect">
            <a:avLst/>
          </a:prstGeom>
          <a:solidFill>
            <a:srgbClr val="FFFFFF"/>
          </a:solidFill>
          <a:ln w="12700">
            <a:solidFill>
              <a:srgbClr val="B7B7B7"/>
            </a:solidFill>
            <a:prstDash val="solid"/>
          </a:ln>
        </p:spPr>
      </p:sp>
      <p:sp>
        <p:nvSpPr>
          <p:cNvPr id="79" name="Shape 40">
            <a:extLst>
              <a:ext uri="{FF2B5EF4-FFF2-40B4-BE49-F238E27FC236}">
                <a16:creationId xmlns:a16="http://schemas.microsoft.com/office/drawing/2014/main" id="{7251D21E-BB41-0A35-2C64-879FA1F97767}"/>
              </a:ext>
            </a:extLst>
          </p:cNvPr>
          <p:cNvSpPr/>
          <p:nvPr/>
        </p:nvSpPr>
        <p:spPr>
          <a:xfrm>
            <a:off x="5847158" y="3600860"/>
            <a:ext cx="2019119" cy="169515"/>
          </a:xfrm>
          <a:prstGeom prst="rect">
            <a:avLst/>
          </a:prstGeom>
          <a:solidFill>
            <a:srgbClr val="BB302C"/>
          </a:solidFill>
          <a:ln/>
        </p:spPr>
      </p:sp>
      <p:sp>
        <p:nvSpPr>
          <p:cNvPr id="81" name="Text 41">
            <a:extLst>
              <a:ext uri="{FF2B5EF4-FFF2-40B4-BE49-F238E27FC236}">
                <a16:creationId xmlns:a16="http://schemas.microsoft.com/office/drawing/2014/main" id="{234E2D96-FBCD-3DB7-7366-A92635E9A4E1}"/>
              </a:ext>
            </a:extLst>
          </p:cNvPr>
          <p:cNvSpPr txBox="1"/>
          <p:nvPr/>
        </p:nvSpPr>
        <p:spPr>
          <a:xfrm>
            <a:off x="8008620" y="3566511"/>
            <a:ext cx="457200" cy="219456"/>
          </a:xfrm>
          <a:prstGeom prst="rect">
            <a:avLst/>
          </a:prstGeom>
          <a:noFill/>
          <a:ln/>
        </p:spPr>
        <p:txBody>
          <a:bodyPr wrap="square" lIns="0" tIns="0" rIns="0" bIns="0" rtlCol="0" anchor="ctr"/>
          <a:lstStyle/>
          <a:p>
            <a:pPr marL="0" indent="0" algn="l">
              <a:buNone/>
            </a:pPr>
            <a:r>
              <a:rPr lang="en-US" sz="800" b="1" dirty="0">
                <a:solidFill>
                  <a:srgbClr val="2E3B7D"/>
                </a:solidFill>
                <a:latin typeface="Georgia" pitchFamily="34" charset="0"/>
                <a:ea typeface="Georgia" pitchFamily="34" charset="-122"/>
                <a:cs typeface="Georgia" pitchFamily="34" charset="-120"/>
              </a:rPr>
              <a:t>30%</a:t>
            </a:r>
            <a:endParaRPr lang="en-US" sz="800" dirty="0"/>
          </a:p>
        </p:txBody>
      </p:sp>
      <p:sp>
        <p:nvSpPr>
          <p:cNvPr id="83" name="Text 42">
            <a:extLst>
              <a:ext uri="{FF2B5EF4-FFF2-40B4-BE49-F238E27FC236}">
                <a16:creationId xmlns:a16="http://schemas.microsoft.com/office/drawing/2014/main" id="{BF76DC33-8ACE-6C71-61E7-EE62D914EE27}"/>
              </a:ext>
            </a:extLst>
          </p:cNvPr>
          <p:cNvSpPr txBox="1"/>
          <p:nvPr/>
        </p:nvSpPr>
        <p:spPr>
          <a:xfrm>
            <a:off x="274320" y="3012948"/>
            <a:ext cx="2240280" cy="361188"/>
          </a:xfrm>
          <a:prstGeom prst="rect">
            <a:avLst/>
          </a:prstGeom>
          <a:noFill/>
          <a:ln/>
        </p:spPr>
        <p:txBody>
          <a:bodyPr wrap="square" lIns="0" tIns="0" rIns="0" bIns="0" rtlCol="0" anchor="ctr"/>
          <a:lstStyle/>
          <a:p>
            <a:pPr marL="0" indent="0" algn="l">
              <a:buNone/>
            </a:pPr>
            <a:r>
              <a:rPr lang="en-US" sz="900" dirty="0">
                <a:solidFill>
                  <a:srgbClr val="3A3A3A"/>
                </a:solidFill>
                <a:latin typeface="Georgia" pitchFamily="34" charset="0"/>
                <a:ea typeface="Georgia" pitchFamily="34" charset="-122"/>
                <a:cs typeface="Georgia" pitchFamily="34" charset="-120"/>
              </a:rPr>
              <a:t>Flutter App Development</a:t>
            </a:r>
            <a:endParaRPr lang="en-US" sz="900" dirty="0"/>
          </a:p>
        </p:txBody>
      </p:sp>
      <p:sp>
        <p:nvSpPr>
          <p:cNvPr id="85" name="Shape 43">
            <a:extLst>
              <a:ext uri="{FF2B5EF4-FFF2-40B4-BE49-F238E27FC236}">
                <a16:creationId xmlns:a16="http://schemas.microsoft.com/office/drawing/2014/main" id="{F06107DA-255D-64AB-E6CD-7861647E7CFD}"/>
              </a:ext>
            </a:extLst>
          </p:cNvPr>
          <p:cNvSpPr/>
          <p:nvPr/>
        </p:nvSpPr>
        <p:spPr>
          <a:xfrm>
            <a:off x="4618634" y="3058668"/>
            <a:ext cx="2206142" cy="64008"/>
          </a:xfrm>
          <a:prstGeom prst="rect">
            <a:avLst/>
          </a:prstGeom>
          <a:solidFill>
            <a:srgbClr val="FFFFFF"/>
          </a:solidFill>
          <a:ln w="12700">
            <a:solidFill>
              <a:srgbClr val="B7B7B7"/>
            </a:solidFill>
            <a:prstDash val="solid"/>
          </a:ln>
        </p:spPr>
      </p:sp>
      <p:sp>
        <p:nvSpPr>
          <p:cNvPr id="87" name="Shape 45">
            <a:extLst>
              <a:ext uri="{FF2B5EF4-FFF2-40B4-BE49-F238E27FC236}">
                <a16:creationId xmlns:a16="http://schemas.microsoft.com/office/drawing/2014/main" id="{B974B475-096E-8C83-7B2A-BCA741CA222B}"/>
              </a:ext>
            </a:extLst>
          </p:cNvPr>
          <p:cNvSpPr/>
          <p:nvPr/>
        </p:nvSpPr>
        <p:spPr>
          <a:xfrm>
            <a:off x="5043708" y="3159252"/>
            <a:ext cx="2019118" cy="182880"/>
          </a:xfrm>
          <a:prstGeom prst="rect">
            <a:avLst/>
          </a:prstGeom>
          <a:solidFill>
            <a:srgbClr val="BB302C"/>
          </a:solidFill>
          <a:ln/>
        </p:spPr>
      </p:sp>
      <p:sp>
        <p:nvSpPr>
          <p:cNvPr id="89" name="Text 46">
            <a:extLst>
              <a:ext uri="{FF2B5EF4-FFF2-40B4-BE49-F238E27FC236}">
                <a16:creationId xmlns:a16="http://schemas.microsoft.com/office/drawing/2014/main" id="{8ED2B389-035B-68C2-3E73-5272CD8BD7F7}"/>
              </a:ext>
            </a:extLst>
          </p:cNvPr>
          <p:cNvSpPr txBox="1"/>
          <p:nvPr/>
        </p:nvSpPr>
        <p:spPr>
          <a:xfrm>
            <a:off x="7225182" y="3122676"/>
            <a:ext cx="457200" cy="219456"/>
          </a:xfrm>
          <a:prstGeom prst="rect">
            <a:avLst/>
          </a:prstGeom>
          <a:noFill/>
          <a:ln/>
        </p:spPr>
        <p:txBody>
          <a:bodyPr wrap="square" lIns="0" tIns="0" rIns="0" bIns="0" rtlCol="0" anchor="ctr"/>
          <a:lstStyle/>
          <a:p>
            <a:pPr marL="0" indent="0" algn="l">
              <a:buNone/>
            </a:pPr>
            <a:r>
              <a:rPr lang="en-US" sz="800" b="1" dirty="0">
                <a:solidFill>
                  <a:srgbClr val="2E3B7D"/>
                </a:solidFill>
                <a:latin typeface="Georgia" pitchFamily="34" charset="0"/>
                <a:ea typeface="Georgia" pitchFamily="34" charset="-122"/>
                <a:cs typeface="Georgia" pitchFamily="34" charset="-120"/>
              </a:rPr>
              <a:t>95%</a:t>
            </a:r>
            <a:endParaRPr lang="en-US" sz="800" dirty="0"/>
          </a:p>
        </p:txBody>
      </p:sp>
      <p:sp>
        <p:nvSpPr>
          <p:cNvPr id="91" name="Text 47">
            <a:extLst>
              <a:ext uri="{FF2B5EF4-FFF2-40B4-BE49-F238E27FC236}">
                <a16:creationId xmlns:a16="http://schemas.microsoft.com/office/drawing/2014/main" id="{64A228D1-A0A4-6FC2-A07C-4BC4CC97CC7B}"/>
              </a:ext>
            </a:extLst>
          </p:cNvPr>
          <p:cNvSpPr txBox="1"/>
          <p:nvPr/>
        </p:nvSpPr>
        <p:spPr>
          <a:xfrm>
            <a:off x="274320" y="3849624"/>
            <a:ext cx="2240280" cy="361188"/>
          </a:xfrm>
          <a:prstGeom prst="rect">
            <a:avLst/>
          </a:prstGeom>
          <a:noFill/>
          <a:ln/>
        </p:spPr>
        <p:txBody>
          <a:bodyPr wrap="square" lIns="0" tIns="0" rIns="0" bIns="0" rtlCol="0" anchor="ctr"/>
          <a:lstStyle/>
          <a:p>
            <a:pPr marL="0" indent="0" algn="l">
              <a:buNone/>
            </a:pPr>
            <a:r>
              <a:rPr lang="en-US" sz="900" dirty="0">
                <a:solidFill>
                  <a:srgbClr val="3A3A3A"/>
                </a:solidFill>
                <a:latin typeface="Georgia" pitchFamily="34" charset="0"/>
                <a:ea typeface="Georgia" pitchFamily="34" charset="-122"/>
                <a:cs typeface="Georgia" pitchFamily="34" charset="-120"/>
              </a:rPr>
              <a:t>Backend API + Restock Logic + LLM Narrator</a:t>
            </a:r>
            <a:endParaRPr lang="en-US" sz="900" dirty="0"/>
          </a:p>
        </p:txBody>
      </p:sp>
      <p:sp>
        <p:nvSpPr>
          <p:cNvPr id="93" name="Shape 48">
            <a:extLst>
              <a:ext uri="{FF2B5EF4-FFF2-40B4-BE49-F238E27FC236}">
                <a16:creationId xmlns:a16="http://schemas.microsoft.com/office/drawing/2014/main" id="{62B7C364-0B26-6B43-E927-005264C2EA60}"/>
              </a:ext>
            </a:extLst>
          </p:cNvPr>
          <p:cNvSpPr/>
          <p:nvPr/>
        </p:nvSpPr>
        <p:spPr>
          <a:xfrm>
            <a:off x="6342012" y="3863164"/>
            <a:ext cx="1406347" cy="82296"/>
          </a:xfrm>
          <a:prstGeom prst="rect">
            <a:avLst/>
          </a:prstGeom>
          <a:solidFill>
            <a:srgbClr val="FFFFFF"/>
          </a:solidFill>
          <a:ln w="12700">
            <a:solidFill>
              <a:srgbClr val="B7B7B7"/>
            </a:solidFill>
            <a:prstDash val="solid"/>
          </a:ln>
        </p:spPr>
        <p:txBody>
          <a:bodyPr/>
          <a:lstStyle/>
          <a:p>
            <a:endParaRPr lang="en-IN" dirty="0"/>
          </a:p>
        </p:txBody>
      </p:sp>
      <p:sp>
        <p:nvSpPr>
          <p:cNvPr id="95" name="Shape 49">
            <a:extLst>
              <a:ext uri="{FF2B5EF4-FFF2-40B4-BE49-F238E27FC236}">
                <a16:creationId xmlns:a16="http://schemas.microsoft.com/office/drawing/2014/main" id="{8769F12A-6105-E337-9BBD-7B71B0326299}"/>
              </a:ext>
            </a:extLst>
          </p:cNvPr>
          <p:cNvSpPr/>
          <p:nvPr/>
        </p:nvSpPr>
        <p:spPr>
          <a:xfrm>
            <a:off x="6824776" y="3977640"/>
            <a:ext cx="1875435" cy="201168"/>
          </a:xfrm>
          <a:prstGeom prst="rect">
            <a:avLst/>
          </a:prstGeom>
          <a:solidFill>
            <a:srgbClr val="BB302C"/>
          </a:solidFill>
          <a:ln/>
        </p:spPr>
      </p:sp>
      <p:sp>
        <p:nvSpPr>
          <p:cNvPr id="97" name="Text 50">
            <a:extLst>
              <a:ext uri="{FF2B5EF4-FFF2-40B4-BE49-F238E27FC236}">
                <a16:creationId xmlns:a16="http://schemas.microsoft.com/office/drawing/2014/main" id="{A6FC6D5B-19D0-B52E-0476-DC3BA7335EA1}"/>
              </a:ext>
            </a:extLst>
          </p:cNvPr>
          <p:cNvSpPr txBox="1"/>
          <p:nvPr/>
        </p:nvSpPr>
        <p:spPr>
          <a:xfrm>
            <a:off x="8736787" y="3977640"/>
            <a:ext cx="457200" cy="219456"/>
          </a:xfrm>
          <a:prstGeom prst="rect">
            <a:avLst/>
          </a:prstGeom>
          <a:noFill/>
          <a:ln/>
        </p:spPr>
        <p:txBody>
          <a:bodyPr wrap="square" lIns="0" tIns="0" rIns="0" bIns="0" rtlCol="0" anchor="ctr"/>
          <a:lstStyle/>
          <a:p>
            <a:pPr marL="0" indent="0" algn="l">
              <a:buNone/>
            </a:pPr>
            <a:r>
              <a:rPr lang="en-US" sz="800" b="1" dirty="0">
                <a:solidFill>
                  <a:srgbClr val="BB302C"/>
                </a:solidFill>
                <a:latin typeface="Georgia" pitchFamily="34" charset="0"/>
                <a:ea typeface="Georgia" pitchFamily="34" charset="-122"/>
                <a:cs typeface="Georgia" pitchFamily="34" charset="-120"/>
              </a:rPr>
              <a:t>0%</a:t>
            </a:r>
            <a:endParaRPr lang="en-US" sz="800" dirty="0"/>
          </a:p>
        </p:txBody>
      </p:sp>
      <p:sp>
        <p:nvSpPr>
          <p:cNvPr id="99" name="Text 51">
            <a:extLst>
              <a:ext uri="{FF2B5EF4-FFF2-40B4-BE49-F238E27FC236}">
                <a16:creationId xmlns:a16="http://schemas.microsoft.com/office/drawing/2014/main" id="{DBBACAB2-DBE8-2009-A9E5-2E2F07D40A74}"/>
              </a:ext>
            </a:extLst>
          </p:cNvPr>
          <p:cNvSpPr txBox="1"/>
          <p:nvPr/>
        </p:nvSpPr>
        <p:spPr>
          <a:xfrm>
            <a:off x="274320" y="4251960"/>
            <a:ext cx="2240280" cy="361188"/>
          </a:xfrm>
          <a:prstGeom prst="rect">
            <a:avLst/>
          </a:prstGeom>
          <a:noFill/>
          <a:ln/>
        </p:spPr>
        <p:txBody>
          <a:bodyPr wrap="square" lIns="0" tIns="0" rIns="0" bIns="0" rtlCol="0" anchor="ctr"/>
          <a:lstStyle/>
          <a:p>
            <a:pPr marL="0" indent="0" algn="l">
              <a:buNone/>
            </a:pPr>
            <a:r>
              <a:rPr lang="en-US" sz="900" dirty="0">
                <a:solidFill>
                  <a:srgbClr val="3A3A3A"/>
                </a:solidFill>
                <a:latin typeface="Georgia" pitchFamily="34" charset="0"/>
                <a:ea typeface="Georgia" pitchFamily="34" charset="-122"/>
                <a:cs typeface="Georgia" pitchFamily="34" charset="-120"/>
              </a:rPr>
              <a:t>System Integration</a:t>
            </a:r>
            <a:endParaRPr lang="en-US" sz="900" dirty="0"/>
          </a:p>
        </p:txBody>
      </p:sp>
      <p:sp>
        <p:nvSpPr>
          <p:cNvPr id="101" name="Shape 52">
            <a:extLst>
              <a:ext uri="{FF2B5EF4-FFF2-40B4-BE49-F238E27FC236}">
                <a16:creationId xmlns:a16="http://schemas.microsoft.com/office/drawing/2014/main" id="{3DC2C712-B351-26FB-38D9-DE57F1D2E58F}"/>
              </a:ext>
            </a:extLst>
          </p:cNvPr>
          <p:cNvSpPr/>
          <p:nvPr/>
        </p:nvSpPr>
        <p:spPr>
          <a:xfrm>
            <a:off x="6342012" y="4241292"/>
            <a:ext cx="1406347" cy="82296"/>
          </a:xfrm>
          <a:prstGeom prst="rect">
            <a:avLst/>
          </a:prstGeom>
          <a:solidFill>
            <a:srgbClr val="FFFFFF"/>
          </a:solidFill>
          <a:ln w="12700">
            <a:solidFill>
              <a:srgbClr val="B7B7B7"/>
            </a:solidFill>
            <a:prstDash val="solid"/>
          </a:ln>
        </p:spPr>
      </p:sp>
      <p:sp>
        <p:nvSpPr>
          <p:cNvPr id="103" name="Shape 53">
            <a:extLst>
              <a:ext uri="{FF2B5EF4-FFF2-40B4-BE49-F238E27FC236}">
                <a16:creationId xmlns:a16="http://schemas.microsoft.com/office/drawing/2014/main" id="{46278F77-B23E-BED9-A457-C8D24292B332}"/>
              </a:ext>
            </a:extLst>
          </p:cNvPr>
          <p:cNvSpPr/>
          <p:nvPr/>
        </p:nvSpPr>
        <p:spPr>
          <a:xfrm>
            <a:off x="6814110" y="4385720"/>
            <a:ext cx="2354883" cy="195424"/>
          </a:xfrm>
          <a:prstGeom prst="rect">
            <a:avLst/>
          </a:prstGeom>
          <a:solidFill>
            <a:srgbClr val="BB302C"/>
          </a:solidFill>
          <a:ln/>
        </p:spPr>
      </p:sp>
      <p:sp>
        <p:nvSpPr>
          <p:cNvPr id="105" name="Text 54">
            <a:extLst>
              <a:ext uri="{FF2B5EF4-FFF2-40B4-BE49-F238E27FC236}">
                <a16:creationId xmlns:a16="http://schemas.microsoft.com/office/drawing/2014/main" id="{D2567F22-A5EF-B21D-11D0-B27DE4158F4E}"/>
              </a:ext>
            </a:extLst>
          </p:cNvPr>
          <p:cNvSpPr txBox="1"/>
          <p:nvPr/>
        </p:nvSpPr>
        <p:spPr>
          <a:xfrm>
            <a:off x="9205570" y="4379976"/>
            <a:ext cx="457200" cy="219456"/>
          </a:xfrm>
          <a:prstGeom prst="rect">
            <a:avLst/>
          </a:prstGeom>
          <a:noFill/>
          <a:ln/>
        </p:spPr>
        <p:txBody>
          <a:bodyPr wrap="square" lIns="0" tIns="0" rIns="0" bIns="0" rtlCol="0" anchor="ctr"/>
          <a:lstStyle/>
          <a:p>
            <a:pPr marL="0" indent="0" algn="l">
              <a:buNone/>
            </a:pPr>
            <a:r>
              <a:rPr lang="en-US" sz="800" b="1" dirty="0">
                <a:solidFill>
                  <a:srgbClr val="BB302C"/>
                </a:solidFill>
                <a:latin typeface="Georgia" pitchFamily="34" charset="0"/>
                <a:ea typeface="Georgia" pitchFamily="34" charset="-122"/>
                <a:cs typeface="Georgia" pitchFamily="34" charset="-120"/>
              </a:rPr>
              <a:t>0%</a:t>
            </a:r>
            <a:endParaRPr lang="en-US" sz="800" dirty="0"/>
          </a:p>
        </p:txBody>
      </p:sp>
      <p:sp>
        <p:nvSpPr>
          <p:cNvPr id="107" name="Text 55">
            <a:extLst>
              <a:ext uri="{FF2B5EF4-FFF2-40B4-BE49-F238E27FC236}">
                <a16:creationId xmlns:a16="http://schemas.microsoft.com/office/drawing/2014/main" id="{BCE2FDB9-F5F4-F8DC-C7A2-88F1D886D47E}"/>
              </a:ext>
            </a:extLst>
          </p:cNvPr>
          <p:cNvSpPr txBox="1"/>
          <p:nvPr/>
        </p:nvSpPr>
        <p:spPr>
          <a:xfrm>
            <a:off x="274320" y="4654296"/>
            <a:ext cx="2240280" cy="361188"/>
          </a:xfrm>
          <a:prstGeom prst="rect">
            <a:avLst/>
          </a:prstGeom>
          <a:noFill/>
          <a:ln/>
        </p:spPr>
        <p:txBody>
          <a:bodyPr wrap="square" lIns="0" tIns="0" rIns="0" bIns="0" rtlCol="0" anchor="ctr"/>
          <a:lstStyle/>
          <a:p>
            <a:pPr marL="0" indent="0" algn="l">
              <a:buNone/>
            </a:pPr>
            <a:r>
              <a:rPr lang="en-US" sz="900" dirty="0">
                <a:solidFill>
                  <a:srgbClr val="3A3A3A"/>
                </a:solidFill>
                <a:latin typeface="Georgia" pitchFamily="34" charset="0"/>
                <a:ea typeface="Georgia" pitchFamily="34" charset="-122"/>
                <a:cs typeface="Georgia" pitchFamily="34" charset="-120"/>
              </a:rPr>
              <a:t>Testing &amp; Evaluation</a:t>
            </a:r>
            <a:endParaRPr lang="en-US" sz="900" dirty="0"/>
          </a:p>
        </p:txBody>
      </p:sp>
      <p:sp>
        <p:nvSpPr>
          <p:cNvPr id="109" name="Shape 56">
            <a:extLst>
              <a:ext uri="{FF2B5EF4-FFF2-40B4-BE49-F238E27FC236}">
                <a16:creationId xmlns:a16="http://schemas.microsoft.com/office/drawing/2014/main" id="{8AC25DBF-CA95-C353-BA6D-8B254B9336DE}"/>
              </a:ext>
            </a:extLst>
          </p:cNvPr>
          <p:cNvSpPr/>
          <p:nvPr/>
        </p:nvSpPr>
        <p:spPr>
          <a:xfrm>
            <a:off x="6825082" y="4681728"/>
            <a:ext cx="1875130" cy="82296"/>
          </a:xfrm>
          <a:prstGeom prst="rect">
            <a:avLst/>
          </a:prstGeom>
          <a:solidFill>
            <a:srgbClr val="FFFFFF"/>
          </a:solidFill>
          <a:ln w="12700">
            <a:solidFill>
              <a:srgbClr val="B7B7B7"/>
            </a:solidFill>
            <a:prstDash val="solid"/>
          </a:ln>
        </p:spPr>
      </p:sp>
      <p:sp>
        <p:nvSpPr>
          <p:cNvPr id="111" name="Shape 57">
            <a:extLst>
              <a:ext uri="{FF2B5EF4-FFF2-40B4-BE49-F238E27FC236}">
                <a16:creationId xmlns:a16="http://schemas.microsoft.com/office/drawing/2014/main" id="{43BF1B89-F5C2-56CD-444C-44808500AAAE}"/>
              </a:ext>
            </a:extLst>
          </p:cNvPr>
          <p:cNvSpPr/>
          <p:nvPr/>
        </p:nvSpPr>
        <p:spPr>
          <a:xfrm>
            <a:off x="6825082" y="4800600"/>
            <a:ext cx="2812694" cy="182880"/>
          </a:xfrm>
          <a:prstGeom prst="rect">
            <a:avLst/>
          </a:prstGeom>
          <a:solidFill>
            <a:srgbClr val="BB302C"/>
          </a:solidFill>
          <a:ln/>
        </p:spPr>
      </p:sp>
      <p:sp>
        <p:nvSpPr>
          <p:cNvPr id="113" name="Text 59">
            <a:extLst>
              <a:ext uri="{FF2B5EF4-FFF2-40B4-BE49-F238E27FC236}">
                <a16:creationId xmlns:a16="http://schemas.microsoft.com/office/drawing/2014/main" id="{71718580-7528-3B2B-8F6D-8E7E76D5D3B0}"/>
              </a:ext>
            </a:extLst>
          </p:cNvPr>
          <p:cNvSpPr txBox="1"/>
          <p:nvPr/>
        </p:nvSpPr>
        <p:spPr>
          <a:xfrm>
            <a:off x="274320" y="5056632"/>
            <a:ext cx="2240280" cy="361188"/>
          </a:xfrm>
          <a:prstGeom prst="rect">
            <a:avLst/>
          </a:prstGeom>
          <a:noFill/>
          <a:ln/>
        </p:spPr>
        <p:txBody>
          <a:bodyPr wrap="square" lIns="0" tIns="0" rIns="0" bIns="0" rtlCol="0" anchor="ctr"/>
          <a:lstStyle/>
          <a:p>
            <a:pPr marL="0" indent="0" algn="l">
              <a:buNone/>
            </a:pPr>
            <a:r>
              <a:rPr lang="en-US" sz="900" dirty="0">
                <a:solidFill>
                  <a:srgbClr val="3A3A3A"/>
                </a:solidFill>
                <a:latin typeface="Georgia" pitchFamily="34" charset="0"/>
                <a:ea typeface="Georgia" pitchFamily="34" charset="-122"/>
                <a:cs typeface="Georgia" pitchFamily="34" charset="-120"/>
              </a:rPr>
              <a:t>Documentation &amp; Report Writing</a:t>
            </a:r>
            <a:endParaRPr lang="en-US" sz="900" dirty="0"/>
          </a:p>
        </p:txBody>
      </p:sp>
      <p:sp>
        <p:nvSpPr>
          <p:cNvPr id="115" name="Shape 60">
            <a:extLst>
              <a:ext uri="{FF2B5EF4-FFF2-40B4-BE49-F238E27FC236}">
                <a16:creationId xmlns:a16="http://schemas.microsoft.com/office/drawing/2014/main" id="{00C2AD94-BC83-28AC-60ED-92304F9AC3BD}"/>
              </a:ext>
            </a:extLst>
          </p:cNvPr>
          <p:cNvSpPr/>
          <p:nvPr/>
        </p:nvSpPr>
        <p:spPr>
          <a:xfrm>
            <a:off x="7293864" y="5084064"/>
            <a:ext cx="1406347" cy="82296"/>
          </a:xfrm>
          <a:prstGeom prst="rect">
            <a:avLst/>
          </a:prstGeom>
          <a:solidFill>
            <a:srgbClr val="FFFFFF"/>
          </a:solidFill>
          <a:ln w="12700">
            <a:solidFill>
              <a:srgbClr val="B7B7B7"/>
            </a:solidFill>
            <a:prstDash val="solid"/>
          </a:ln>
        </p:spPr>
      </p:sp>
      <p:sp>
        <p:nvSpPr>
          <p:cNvPr id="117" name="Shape 61">
            <a:extLst>
              <a:ext uri="{FF2B5EF4-FFF2-40B4-BE49-F238E27FC236}">
                <a16:creationId xmlns:a16="http://schemas.microsoft.com/office/drawing/2014/main" id="{FB53C905-57BB-961A-3238-C94F9985416F}"/>
              </a:ext>
            </a:extLst>
          </p:cNvPr>
          <p:cNvSpPr/>
          <p:nvPr/>
        </p:nvSpPr>
        <p:spPr>
          <a:xfrm>
            <a:off x="7293864" y="5214776"/>
            <a:ext cx="1931097" cy="171040"/>
          </a:xfrm>
          <a:prstGeom prst="rect">
            <a:avLst/>
          </a:prstGeom>
          <a:solidFill>
            <a:srgbClr val="BB302C"/>
          </a:solidFill>
          <a:ln/>
        </p:spPr>
      </p:sp>
      <p:sp>
        <p:nvSpPr>
          <p:cNvPr id="119" name="Text 63">
            <a:extLst>
              <a:ext uri="{FF2B5EF4-FFF2-40B4-BE49-F238E27FC236}">
                <a16:creationId xmlns:a16="http://schemas.microsoft.com/office/drawing/2014/main" id="{7DB5F861-212A-7635-2678-609223196559}"/>
              </a:ext>
            </a:extLst>
          </p:cNvPr>
          <p:cNvSpPr txBox="1"/>
          <p:nvPr/>
        </p:nvSpPr>
        <p:spPr>
          <a:xfrm>
            <a:off x="274320" y="5458968"/>
            <a:ext cx="2240280" cy="361188"/>
          </a:xfrm>
          <a:prstGeom prst="rect">
            <a:avLst/>
          </a:prstGeom>
          <a:noFill/>
          <a:ln/>
        </p:spPr>
        <p:txBody>
          <a:bodyPr wrap="square" lIns="0" tIns="0" rIns="0" bIns="0" rtlCol="0" anchor="ctr"/>
          <a:lstStyle/>
          <a:p>
            <a:pPr marL="0" indent="0" algn="l">
              <a:buNone/>
            </a:pPr>
            <a:r>
              <a:rPr lang="en-US" sz="900" dirty="0">
                <a:solidFill>
                  <a:srgbClr val="3A3A3A"/>
                </a:solidFill>
                <a:latin typeface="Georgia" pitchFamily="34" charset="0"/>
                <a:ea typeface="Georgia" pitchFamily="34" charset="-122"/>
                <a:cs typeface="Georgia" pitchFamily="34" charset="-120"/>
              </a:rPr>
              <a:t>Buffer / Final Presentation</a:t>
            </a:r>
            <a:endParaRPr lang="en-US" sz="900" dirty="0"/>
          </a:p>
        </p:txBody>
      </p:sp>
      <p:sp>
        <p:nvSpPr>
          <p:cNvPr id="121" name="Shape 64">
            <a:extLst>
              <a:ext uri="{FF2B5EF4-FFF2-40B4-BE49-F238E27FC236}">
                <a16:creationId xmlns:a16="http://schemas.microsoft.com/office/drawing/2014/main" id="{EB823212-B5C2-2ECF-E2B0-27450A2B1606}"/>
              </a:ext>
            </a:extLst>
          </p:cNvPr>
          <p:cNvSpPr/>
          <p:nvPr/>
        </p:nvSpPr>
        <p:spPr>
          <a:xfrm>
            <a:off x="8231429" y="5486400"/>
            <a:ext cx="1406347" cy="82296"/>
          </a:xfrm>
          <a:prstGeom prst="rect">
            <a:avLst/>
          </a:prstGeom>
          <a:solidFill>
            <a:srgbClr val="FFFFFF"/>
          </a:solidFill>
          <a:ln w="12700">
            <a:solidFill>
              <a:srgbClr val="B7B7B7"/>
            </a:solidFill>
            <a:prstDash val="solid"/>
          </a:ln>
        </p:spPr>
      </p:sp>
      <p:sp>
        <p:nvSpPr>
          <p:cNvPr id="123" name="Shape 65">
            <a:extLst>
              <a:ext uri="{FF2B5EF4-FFF2-40B4-BE49-F238E27FC236}">
                <a16:creationId xmlns:a16="http://schemas.microsoft.com/office/drawing/2014/main" id="{57C84ACA-0650-0CBC-A07F-0E0FFEE7BC08}"/>
              </a:ext>
            </a:extLst>
          </p:cNvPr>
          <p:cNvSpPr/>
          <p:nvPr/>
        </p:nvSpPr>
        <p:spPr>
          <a:xfrm>
            <a:off x="8231429" y="5605272"/>
            <a:ext cx="1406347" cy="182880"/>
          </a:xfrm>
          <a:prstGeom prst="rect">
            <a:avLst/>
          </a:prstGeom>
          <a:solidFill>
            <a:srgbClr val="BB302C"/>
          </a:solidFill>
          <a:ln/>
        </p:spPr>
      </p:sp>
      <p:sp>
        <p:nvSpPr>
          <p:cNvPr id="125" name="Shape 67">
            <a:extLst>
              <a:ext uri="{FF2B5EF4-FFF2-40B4-BE49-F238E27FC236}">
                <a16:creationId xmlns:a16="http://schemas.microsoft.com/office/drawing/2014/main" id="{DCE5AE19-7D7C-1FF4-D9A4-05ABD5E77884}"/>
              </a:ext>
            </a:extLst>
          </p:cNvPr>
          <p:cNvSpPr/>
          <p:nvPr/>
        </p:nvSpPr>
        <p:spPr>
          <a:xfrm>
            <a:off x="6825082" y="1828800"/>
            <a:ext cx="0" cy="4041648"/>
          </a:xfrm>
          <a:prstGeom prst="line">
            <a:avLst/>
          </a:prstGeom>
          <a:noFill/>
          <a:ln w="22225">
            <a:solidFill>
              <a:srgbClr val="C62829"/>
            </a:solidFill>
            <a:prstDash val="dash"/>
          </a:ln>
        </p:spPr>
      </p:sp>
      <p:sp>
        <p:nvSpPr>
          <p:cNvPr id="127" name="Shape 68">
            <a:extLst>
              <a:ext uri="{FF2B5EF4-FFF2-40B4-BE49-F238E27FC236}">
                <a16:creationId xmlns:a16="http://schemas.microsoft.com/office/drawing/2014/main" id="{D1F21F76-0CD0-D4B9-B227-61F42A2D592F}"/>
              </a:ext>
            </a:extLst>
          </p:cNvPr>
          <p:cNvSpPr/>
          <p:nvPr/>
        </p:nvSpPr>
        <p:spPr>
          <a:xfrm>
            <a:off x="6587338" y="1609344"/>
            <a:ext cx="475488" cy="182880"/>
          </a:xfrm>
          <a:prstGeom prst="rect">
            <a:avLst/>
          </a:prstGeom>
          <a:solidFill>
            <a:srgbClr val="C62829"/>
          </a:solidFill>
          <a:ln/>
        </p:spPr>
      </p:sp>
      <p:sp>
        <p:nvSpPr>
          <p:cNvPr id="129" name="Text 69">
            <a:extLst>
              <a:ext uri="{FF2B5EF4-FFF2-40B4-BE49-F238E27FC236}">
                <a16:creationId xmlns:a16="http://schemas.microsoft.com/office/drawing/2014/main" id="{9EFB79B1-B7F3-2024-2604-1BD29F1F54A3}"/>
              </a:ext>
            </a:extLst>
          </p:cNvPr>
          <p:cNvSpPr txBox="1"/>
          <p:nvPr/>
        </p:nvSpPr>
        <p:spPr>
          <a:xfrm>
            <a:off x="6587338" y="1600200"/>
            <a:ext cx="475488" cy="182880"/>
          </a:xfrm>
          <a:prstGeom prst="rect">
            <a:avLst/>
          </a:prstGeom>
          <a:noFill/>
          <a:ln/>
        </p:spPr>
        <p:txBody>
          <a:bodyPr wrap="square" lIns="0" tIns="0" rIns="0" bIns="0" rtlCol="0" anchor="ctr"/>
          <a:lstStyle/>
          <a:p>
            <a:pPr marL="0" indent="0" algn="ctr">
              <a:buNone/>
            </a:pPr>
            <a:r>
              <a:rPr lang="en-US" sz="700" b="1" dirty="0">
                <a:solidFill>
                  <a:srgbClr val="FFFFFF"/>
                </a:solidFill>
                <a:latin typeface="Georgia" pitchFamily="34" charset="0"/>
                <a:ea typeface="Georgia" pitchFamily="34" charset="-122"/>
                <a:cs typeface="Georgia" pitchFamily="34" charset="-120"/>
              </a:rPr>
              <a:t>TODAY</a:t>
            </a:r>
            <a:endParaRPr lang="en-US" sz="700" dirty="0"/>
          </a:p>
        </p:txBody>
      </p:sp>
      <p:sp>
        <p:nvSpPr>
          <p:cNvPr id="131" name="Shape 70">
            <a:extLst>
              <a:ext uri="{FF2B5EF4-FFF2-40B4-BE49-F238E27FC236}">
                <a16:creationId xmlns:a16="http://schemas.microsoft.com/office/drawing/2014/main" id="{BBFDDCE1-1DFC-2409-2BD1-E71CADACD80F}"/>
              </a:ext>
            </a:extLst>
          </p:cNvPr>
          <p:cNvSpPr/>
          <p:nvPr/>
        </p:nvSpPr>
        <p:spPr>
          <a:xfrm>
            <a:off x="274320" y="5998464"/>
            <a:ext cx="201168" cy="137160"/>
          </a:xfrm>
          <a:prstGeom prst="rect">
            <a:avLst/>
          </a:prstGeom>
          <a:solidFill>
            <a:srgbClr val="FFFFFF"/>
          </a:solidFill>
          <a:ln w="12700">
            <a:solidFill>
              <a:srgbClr val="B7B7B7"/>
            </a:solidFill>
            <a:prstDash val="solid"/>
          </a:ln>
        </p:spPr>
      </p:sp>
      <p:sp>
        <p:nvSpPr>
          <p:cNvPr id="133" name="Text 71">
            <a:extLst>
              <a:ext uri="{FF2B5EF4-FFF2-40B4-BE49-F238E27FC236}">
                <a16:creationId xmlns:a16="http://schemas.microsoft.com/office/drawing/2014/main" id="{700FFAB0-CCF6-2ABB-8E09-27DA1E93F24D}"/>
              </a:ext>
            </a:extLst>
          </p:cNvPr>
          <p:cNvSpPr txBox="1"/>
          <p:nvPr/>
        </p:nvSpPr>
        <p:spPr>
          <a:xfrm>
            <a:off x="521208" y="5971032"/>
            <a:ext cx="1828800" cy="182880"/>
          </a:xfrm>
          <a:prstGeom prst="rect">
            <a:avLst/>
          </a:prstGeom>
          <a:noFill/>
          <a:ln/>
        </p:spPr>
        <p:txBody>
          <a:bodyPr wrap="square" lIns="0" tIns="0" rIns="0" bIns="0" rtlCol="0" anchor="ctr"/>
          <a:lstStyle/>
          <a:p>
            <a:pPr marL="0" indent="0" algn="l">
              <a:buNone/>
            </a:pPr>
            <a:r>
              <a:rPr lang="en-US" sz="850" dirty="0">
                <a:solidFill>
                  <a:srgbClr val="3A3A3A"/>
                </a:solidFill>
                <a:latin typeface="Georgia" pitchFamily="34" charset="0"/>
                <a:ea typeface="Georgia" pitchFamily="34" charset="-122"/>
                <a:cs typeface="Georgia" pitchFamily="34" charset="-120"/>
              </a:rPr>
              <a:t>Original Plan</a:t>
            </a:r>
            <a:endParaRPr lang="en-US" sz="850" dirty="0"/>
          </a:p>
        </p:txBody>
      </p:sp>
      <p:sp>
        <p:nvSpPr>
          <p:cNvPr id="135" name="Shape 72">
            <a:extLst>
              <a:ext uri="{FF2B5EF4-FFF2-40B4-BE49-F238E27FC236}">
                <a16:creationId xmlns:a16="http://schemas.microsoft.com/office/drawing/2014/main" id="{E1B3BB32-A71C-DEEB-99ED-22E8B9F92182}"/>
              </a:ext>
            </a:extLst>
          </p:cNvPr>
          <p:cNvSpPr/>
          <p:nvPr/>
        </p:nvSpPr>
        <p:spPr>
          <a:xfrm>
            <a:off x="1459382" y="5998464"/>
            <a:ext cx="201168" cy="137160"/>
          </a:xfrm>
          <a:prstGeom prst="rect">
            <a:avLst/>
          </a:prstGeom>
          <a:solidFill>
            <a:srgbClr val="3E7D3E"/>
          </a:solidFill>
          <a:ln/>
        </p:spPr>
      </p:sp>
      <p:sp>
        <p:nvSpPr>
          <p:cNvPr id="137" name="Text 73">
            <a:extLst>
              <a:ext uri="{FF2B5EF4-FFF2-40B4-BE49-F238E27FC236}">
                <a16:creationId xmlns:a16="http://schemas.microsoft.com/office/drawing/2014/main" id="{D2123CED-2BAF-0923-DD66-3EE8FCC996F6}"/>
              </a:ext>
            </a:extLst>
          </p:cNvPr>
          <p:cNvSpPr txBox="1"/>
          <p:nvPr/>
        </p:nvSpPr>
        <p:spPr>
          <a:xfrm>
            <a:off x="1706270" y="5971032"/>
            <a:ext cx="1828800" cy="182880"/>
          </a:xfrm>
          <a:prstGeom prst="rect">
            <a:avLst/>
          </a:prstGeom>
          <a:noFill/>
          <a:ln/>
        </p:spPr>
        <p:txBody>
          <a:bodyPr wrap="square" lIns="0" tIns="0" rIns="0" bIns="0" rtlCol="0" anchor="ctr"/>
          <a:lstStyle/>
          <a:p>
            <a:pPr marL="0" indent="0" algn="l">
              <a:buNone/>
            </a:pPr>
            <a:r>
              <a:rPr lang="en-US" sz="850" dirty="0">
                <a:solidFill>
                  <a:srgbClr val="3A3A3A"/>
                </a:solidFill>
                <a:latin typeface="Georgia" pitchFamily="34" charset="0"/>
                <a:ea typeface="Georgia" pitchFamily="34" charset="-122"/>
                <a:cs typeface="Georgia" pitchFamily="34" charset="-120"/>
              </a:rPr>
              <a:t>Completed</a:t>
            </a:r>
            <a:endParaRPr lang="en-US" sz="850" dirty="0"/>
          </a:p>
        </p:txBody>
      </p:sp>
      <p:sp>
        <p:nvSpPr>
          <p:cNvPr id="139" name="Shape 74">
            <a:extLst>
              <a:ext uri="{FF2B5EF4-FFF2-40B4-BE49-F238E27FC236}">
                <a16:creationId xmlns:a16="http://schemas.microsoft.com/office/drawing/2014/main" id="{42CFC4B0-7977-FE59-E9D2-FFC4F4CCDD58}"/>
              </a:ext>
            </a:extLst>
          </p:cNvPr>
          <p:cNvSpPr/>
          <p:nvPr/>
        </p:nvSpPr>
        <p:spPr>
          <a:xfrm>
            <a:off x="2417674" y="5998464"/>
            <a:ext cx="201168" cy="137160"/>
          </a:xfrm>
          <a:prstGeom prst="rect">
            <a:avLst/>
          </a:prstGeom>
          <a:solidFill>
            <a:srgbClr val="2E3B7D"/>
          </a:solidFill>
          <a:ln/>
        </p:spPr>
      </p:sp>
      <p:sp>
        <p:nvSpPr>
          <p:cNvPr id="141" name="Text 75">
            <a:extLst>
              <a:ext uri="{FF2B5EF4-FFF2-40B4-BE49-F238E27FC236}">
                <a16:creationId xmlns:a16="http://schemas.microsoft.com/office/drawing/2014/main" id="{96741AD5-AA5A-DFCC-13B1-A43DAFBB0840}"/>
              </a:ext>
            </a:extLst>
          </p:cNvPr>
          <p:cNvSpPr txBox="1"/>
          <p:nvPr/>
        </p:nvSpPr>
        <p:spPr>
          <a:xfrm>
            <a:off x="2664562" y="5971032"/>
            <a:ext cx="1828800" cy="182880"/>
          </a:xfrm>
          <a:prstGeom prst="rect">
            <a:avLst/>
          </a:prstGeom>
          <a:noFill/>
          <a:ln/>
        </p:spPr>
        <p:txBody>
          <a:bodyPr wrap="square" lIns="0" tIns="0" rIns="0" bIns="0" rtlCol="0" anchor="ctr"/>
          <a:lstStyle/>
          <a:p>
            <a:pPr marL="0" indent="0" algn="l">
              <a:buNone/>
            </a:pPr>
            <a:r>
              <a:rPr lang="en-US" sz="850" dirty="0">
                <a:solidFill>
                  <a:srgbClr val="3A3A3A"/>
                </a:solidFill>
                <a:latin typeface="Georgia" pitchFamily="34" charset="0"/>
                <a:ea typeface="Georgia" pitchFamily="34" charset="-122"/>
                <a:cs typeface="Georgia" pitchFamily="34" charset="-120"/>
              </a:rPr>
              <a:t>In Progress (done portion)</a:t>
            </a:r>
            <a:endParaRPr lang="en-US" sz="850" dirty="0"/>
          </a:p>
        </p:txBody>
      </p:sp>
      <p:sp>
        <p:nvSpPr>
          <p:cNvPr id="143" name="Shape 76">
            <a:extLst>
              <a:ext uri="{FF2B5EF4-FFF2-40B4-BE49-F238E27FC236}">
                <a16:creationId xmlns:a16="http://schemas.microsoft.com/office/drawing/2014/main" id="{0DCE3142-A460-661E-C049-1FBC43455206}"/>
              </a:ext>
            </a:extLst>
          </p:cNvPr>
          <p:cNvSpPr/>
          <p:nvPr/>
        </p:nvSpPr>
        <p:spPr>
          <a:xfrm>
            <a:off x="4339742" y="5998464"/>
            <a:ext cx="201168" cy="137160"/>
          </a:xfrm>
          <a:prstGeom prst="rect">
            <a:avLst/>
          </a:prstGeom>
          <a:solidFill>
            <a:srgbClr val="BB302C"/>
          </a:solidFill>
          <a:ln/>
        </p:spPr>
      </p:sp>
      <p:sp>
        <p:nvSpPr>
          <p:cNvPr id="145" name="Text 77">
            <a:extLst>
              <a:ext uri="{FF2B5EF4-FFF2-40B4-BE49-F238E27FC236}">
                <a16:creationId xmlns:a16="http://schemas.microsoft.com/office/drawing/2014/main" id="{F2589F3E-0815-AF6F-132E-3E7EDA3ECDED}"/>
              </a:ext>
            </a:extLst>
          </p:cNvPr>
          <p:cNvSpPr txBox="1"/>
          <p:nvPr/>
        </p:nvSpPr>
        <p:spPr>
          <a:xfrm>
            <a:off x="4586630" y="5971032"/>
            <a:ext cx="1828800" cy="182880"/>
          </a:xfrm>
          <a:prstGeom prst="rect">
            <a:avLst/>
          </a:prstGeom>
          <a:noFill/>
          <a:ln/>
        </p:spPr>
        <p:txBody>
          <a:bodyPr wrap="square" lIns="0" tIns="0" rIns="0" bIns="0" rtlCol="0" anchor="ctr"/>
          <a:lstStyle/>
          <a:p>
            <a:pPr marL="0" indent="0" algn="l">
              <a:buNone/>
            </a:pPr>
            <a:r>
              <a:rPr lang="en-US" sz="850" dirty="0">
                <a:solidFill>
                  <a:srgbClr val="3A3A3A"/>
                </a:solidFill>
                <a:latin typeface="Georgia" pitchFamily="34" charset="0"/>
                <a:ea typeface="Georgia" pitchFamily="34" charset="-122"/>
                <a:cs typeface="Georgia" pitchFamily="34" charset="-120"/>
              </a:rPr>
              <a:t>Remaining</a:t>
            </a:r>
            <a:endParaRPr lang="en-US" sz="850" dirty="0"/>
          </a:p>
        </p:txBody>
      </p:sp>
      <p:sp>
        <p:nvSpPr>
          <p:cNvPr id="149" name="Shape 39">
            <a:extLst>
              <a:ext uri="{FF2B5EF4-FFF2-40B4-BE49-F238E27FC236}">
                <a16:creationId xmlns:a16="http://schemas.microsoft.com/office/drawing/2014/main" id="{C2DA02A7-1FEE-B124-6283-79DE322D327A}"/>
              </a:ext>
            </a:extLst>
          </p:cNvPr>
          <p:cNvSpPr/>
          <p:nvPr/>
        </p:nvSpPr>
        <p:spPr>
          <a:xfrm>
            <a:off x="5847158" y="3600860"/>
            <a:ext cx="988896" cy="169516"/>
          </a:xfrm>
          <a:prstGeom prst="rect">
            <a:avLst/>
          </a:prstGeom>
          <a:solidFill>
            <a:srgbClr val="2E3B7D"/>
          </a:solidFill>
          <a:ln/>
        </p:spPr>
        <p:txBody>
          <a:bodyPr/>
          <a:lstStyle/>
          <a:p>
            <a:endParaRPr lang="en-IN" dirty="0"/>
          </a:p>
        </p:txBody>
      </p:sp>
      <p:sp>
        <p:nvSpPr>
          <p:cNvPr id="151" name="Shape 44">
            <a:extLst>
              <a:ext uri="{FF2B5EF4-FFF2-40B4-BE49-F238E27FC236}">
                <a16:creationId xmlns:a16="http://schemas.microsoft.com/office/drawing/2014/main" id="{1AA655CE-206D-20CD-E772-CFCD77F5C1DD}"/>
              </a:ext>
            </a:extLst>
          </p:cNvPr>
          <p:cNvSpPr/>
          <p:nvPr/>
        </p:nvSpPr>
        <p:spPr>
          <a:xfrm>
            <a:off x="4646934" y="3143660"/>
            <a:ext cx="2189119" cy="199234"/>
          </a:xfrm>
          <a:prstGeom prst="rect">
            <a:avLst/>
          </a:prstGeom>
          <a:solidFill>
            <a:srgbClr val="2E3B7D"/>
          </a:solidFill>
          <a:ln/>
        </p:spPr>
      </p:sp>
      <p:sp>
        <p:nvSpPr>
          <p:cNvPr id="8" name="Shape 67">
            <a:extLst>
              <a:ext uri="{FF2B5EF4-FFF2-40B4-BE49-F238E27FC236}">
                <a16:creationId xmlns:a16="http://schemas.microsoft.com/office/drawing/2014/main" id="{EC2F7728-39B1-02F5-DA48-4D189CD2EF5A}"/>
              </a:ext>
            </a:extLst>
          </p:cNvPr>
          <p:cNvSpPr/>
          <p:nvPr/>
        </p:nvSpPr>
        <p:spPr>
          <a:xfrm>
            <a:off x="4615282" y="1844040"/>
            <a:ext cx="0" cy="4041648"/>
          </a:xfrm>
          <a:prstGeom prst="line">
            <a:avLst/>
          </a:prstGeom>
          <a:noFill/>
          <a:ln w="22225">
            <a:solidFill>
              <a:srgbClr val="C62829"/>
            </a:solidFill>
            <a:prstDash val="dash"/>
          </a:ln>
        </p:spPr>
      </p:sp>
      <p:sp>
        <p:nvSpPr>
          <p:cNvPr id="18" name="Shape 68">
            <a:extLst>
              <a:ext uri="{FF2B5EF4-FFF2-40B4-BE49-F238E27FC236}">
                <a16:creationId xmlns:a16="http://schemas.microsoft.com/office/drawing/2014/main" id="{8ECF9435-74E6-601C-08CF-2ED997BB6146}"/>
              </a:ext>
            </a:extLst>
          </p:cNvPr>
          <p:cNvSpPr/>
          <p:nvPr/>
        </p:nvSpPr>
        <p:spPr>
          <a:xfrm>
            <a:off x="4380890" y="1609344"/>
            <a:ext cx="662818" cy="201168"/>
          </a:xfrm>
          <a:prstGeom prst="rect">
            <a:avLst/>
          </a:prstGeom>
          <a:solidFill>
            <a:srgbClr val="C62829"/>
          </a:solidFill>
          <a:ln/>
        </p:spPr>
        <p:txBody>
          <a:bodyPr/>
          <a:lstStyle/>
          <a:p>
            <a:r>
              <a:rPr lang="en-IN" sz="900" b="1" dirty="0">
                <a:solidFill>
                  <a:schemeClr val="bg1"/>
                </a:solidFill>
              </a:rPr>
              <a:t>REVIEW 1</a:t>
            </a:r>
          </a:p>
        </p:txBody>
      </p:sp>
    </p:spTree>
    <p:extLst>
      <p:ext uri="{BB962C8B-B14F-4D97-AF65-F5344CB8AC3E}">
        <p14:creationId xmlns:p14="http://schemas.microsoft.com/office/powerpoint/2010/main" val="132959554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95D68FB-13A2-0AF1-1076-AF86712B74C0}"/>
              </a:ext>
            </a:extLst>
          </p:cNvPr>
          <p:cNvSpPr>
            <a:spLocks noGrp="1"/>
          </p:cNvSpPr>
          <p:nvPr>
            <p:ph type="sldNum" sz="quarter" idx="12"/>
          </p:nvPr>
        </p:nvSpPr>
        <p:spPr/>
        <p:txBody>
          <a:bodyPr/>
          <a:lstStyle/>
          <a:p>
            <a:fld id="{9DC013F7-6D70-4318-BA41-212A9B59413B}" type="slidenum">
              <a:rPr lang="en-US" smtClean="0"/>
              <a:t>17</a:t>
            </a:fld>
            <a:endParaRPr lang="en-US"/>
          </a:p>
        </p:txBody>
      </p:sp>
      <p:sp>
        <p:nvSpPr>
          <p:cNvPr id="4" name="Text 4">
            <a:extLst>
              <a:ext uri="{FF2B5EF4-FFF2-40B4-BE49-F238E27FC236}">
                <a16:creationId xmlns:a16="http://schemas.microsoft.com/office/drawing/2014/main" id="{B96FE56A-2CD5-E412-DCAC-C8A4E56FF7EE}"/>
              </a:ext>
            </a:extLst>
          </p:cNvPr>
          <p:cNvSpPr txBox="1"/>
          <p:nvPr/>
        </p:nvSpPr>
        <p:spPr>
          <a:xfrm>
            <a:off x="274320" y="822960"/>
            <a:ext cx="9326880" cy="438912"/>
          </a:xfrm>
          <a:prstGeom prst="rect">
            <a:avLst/>
          </a:prstGeom>
          <a:noFill/>
          <a:ln/>
        </p:spPr>
        <p:txBody>
          <a:bodyPr wrap="square" lIns="0" tIns="0" rIns="0" bIns="0" rtlCol="0" anchor="ctr"/>
          <a:lstStyle/>
          <a:p>
            <a:pPr marL="0" indent="0">
              <a:buNone/>
            </a:pPr>
            <a:r>
              <a:rPr lang="en-US" sz="2400" b="1" dirty="0">
                <a:solidFill>
                  <a:srgbClr val="BB302C"/>
                </a:solidFill>
                <a:latin typeface="Georgia" pitchFamily="34" charset="0"/>
                <a:ea typeface="Georgia" pitchFamily="34" charset="-122"/>
                <a:cs typeface="Georgia" pitchFamily="34" charset="-120"/>
              </a:rPr>
              <a:t>Challenges Encountered</a:t>
            </a:r>
            <a:endParaRPr lang="en-US" sz="2400" dirty="0"/>
          </a:p>
        </p:txBody>
      </p:sp>
      <p:sp>
        <p:nvSpPr>
          <p:cNvPr id="6" name="Shape 5">
            <a:extLst>
              <a:ext uri="{FF2B5EF4-FFF2-40B4-BE49-F238E27FC236}">
                <a16:creationId xmlns:a16="http://schemas.microsoft.com/office/drawing/2014/main" id="{C1CCFED8-71B5-868C-D0F2-2C219FAA6012}"/>
              </a:ext>
            </a:extLst>
          </p:cNvPr>
          <p:cNvSpPr/>
          <p:nvPr/>
        </p:nvSpPr>
        <p:spPr>
          <a:xfrm>
            <a:off x="292608" y="1280160"/>
            <a:ext cx="9326880" cy="0"/>
          </a:xfrm>
          <a:prstGeom prst="line">
            <a:avLst/>
          </a:prstGeom>
          <a:noFill/>
          <a:ln w="12700">
            <a:solidFill>
              <a:srgbClr val="D9D9D9"/>
            </a:solidFill>
            <a:prstDash val="solid"/>
          </a:ln>
        </p:spPr>
      </p:sp>
      <p:sp>
        <p:nvSpPr>
          <p:cNvPr id="8" name="Text 6">
            <a:extLst>
              <a:ext uri="{FF2B5EF4-FFF2-40B4-BE49-F238E27FC236}">
                <a16:creationId xmlns:a16="http://schemas.microsoft.com/office/drawing/2014/main" id="{91F2C56C-D748-F30E-85B0-FD223954D306}"/>
              </a:ext>
            </a:extLst>
          </p:cNvPr>
          <p:cNvSpPr txBox="1"/>
          <p:nvPr/>
        </p:nvSpPr>
        <p:spPr>
          <a:xfrm>
            <a:off x="292608" y="1335024"/>
            <a:ext cx="9326880" cy="365760"/>
          </a:xfrm>
          <a:prstGeom prst="rect">
            <a:avLst/>
          </a:prstGeom>
          <a:noFill/>
          <a:ln/>
        </p:spPr>
        <p:txBody>
          <a:bodyPr wrap="square" lIns="0" tIns="0" rIns="0" bIns="0" rtlCol="0" anchor="ctr"/>
          <a:lstStyle/>
          <a:p>
            <a:pPr marL="0" indent="0">
              <a:buNone/>
            </a:pPr>
            <a:r>
              <a:rPr lang="en-US" sz="1200" i="1" dirty="0">
                <a:solidFill>
                  <a:srgbClr val="2E3B7D"/>
                </a:solidFill>
                <a:latin typeface="Georgia" pitchFamily="34" charset="0"/>
                <a:ea typeface="Georgia" pitchFamily="34" charset="-122"/>
                <a:cs typeface="Georgia" pitchFamily="34" charset="-120"/>
              </a:rPr>
              <a:t>Real issues hit during implementation so far, plus the current active blocker.</a:t>
            </a:r>
            <a:endParaRPr lang="en-US" sz="1200" dirty="0"/>
          </a:p>
        </p:txBody>
      </p:sp>
      <p:sp>
        <p:nvSpPr>
          <p:cNvPr id="10" name="Shape 7">
            <a:extLst>
              <a:ext uri="{FF2B5EF4-FFF2-40B4-BE49-F238E27FC236}">
                <a16:creationId xmlns:a16="http://schemas.microsoft.com/office/drawing/2014/main" id="{0A2AF95B-DD94-B0CC-2A4B-94663A937E88}"/>
              </a:ext>
            </a:extLst>
          </p:cNvPr>
          <p:cNvSpPr/>
          <p:nvPr/>
        </p:nvSpPr>
        <p:spPr>
          <a:xfrm>
            <a:off x="292608" y="1965960"/>
            <a:ext cx="4526280" cy="457200"/>
          </a:xfrm>
          <a:prstGeom prst="rect">
            <a:avLst/>
          </a:prstGeom>
          <a:solidFill>
            <a:srgbClr val="BB302C"/>
          </a:solidFill>
          <a:ln/>
        </p:spPr>
      </p:sp>
      <p:sp>
        <p:nvSpPr>
          <p:cNvPr id="12" name="Text 8">
            <a:extLst>
              <a:ext uri="{FF2B5EF4-FFF2-40B4-BE49-F238E27FC236}">
                <a16:creationId xmlns:a16="http://schemas.microsoft.com/office/drawing/2014/main" id="{8C90B480-0720-46DA-7269-6829D96F8DEB}"/>
              </a:ext>
            </a:extLst>
          </p:cNvPr>
          <p:cNvSpPr txBox="1"/>
          <p:nvPr/>
        </p:nvSpPr>
        <p:spPr>
          <a:xfrm>
            <a:off x="429768" y="1965960"/>
            <a:ext cx="4251960" cy="457200"/>
          </a:xfrm>
          <a:prstGeom prst="rect">
            <a:avLst/>
          </a:prstGeom>
          <a:noFill/>
          <a:ln/>
        </p:spPr>
        <p:txBody>
          <a:bodyPr wrap="square" lIns="0" tIns="0" rIns="0" bIns="0" rtlCol="0" anchor="ctr"/>
          <a:lstStyle/>
          <a:p>
            <a:pPr marL="0" indent="0" algn="l">
              <a:buNone/>
            </a:pPr>
            <a:r>
              <a:rPr lang="en-US" sz="1600" b="1" dirty="0">
                <a:solidFill>
                  <a:srgbClr val="FFFFFF"/>
                </a:solidFill>
                <a:latin typeface="Georgia" pitchFamily="34" charset="0"/>
                <a:ea typeface="Georgia" pitchFamily="34" charset="-122"/>
                <a:cs typeface="Georgia" pitchFamily="34" charset="-120"/>
              </a:rPr>
              <a:t>Validation Methodology Gap</a:t>
            </a:r>
            <a:endParaRPr lang="en-US" sz="1600" dirty="0"/>
          </a:p>
        </p:txBody>
      </p:sp>
      <p:sp>
        <p:nvSpPr>
          <p:cNvPr id="14" name="Shape 9">
            <a:extLst>
              <a:ext uri="{FF2B5EF4-FFF2-40B4-BE49-F238E27FC236}">
                <a16:creationId xmlns:a16="http://schemas.microsoft.com/office/drawing/2014/main" id="{449BFE31-48F4-5E0B-CE45-D1F5DC32B2C6}"/>
              </a:ext>
            </a:extLst>
          </p:cNvPr>
          <p:cNvSpPr/>
          <p:nvPr/>
        </p:nvSpPr>
        <p:spPr>
          <a:xfrm>
            <a:off x="292608" y="2423160"/>
            <a:ext cx="4526280" cy="1097280"/>
          </a:xfrm>
          <a:prstGeom prst="rect">
            <a:avLst/>
          </a:prstGeom>
          <a:solidFill>
            <a:srgbClr val="F7F5F4"/>
          </a:solidFill>
          <a:ln/>
        </p:spPr>
      </p:sp>
      <p:sp>
        <p:nvSpPr>
          <p:cNvPr id="16" name="Text 10">
            <a:extLst>
              <a:ext uri="{FF2B5EF4-FFF2-40B4-BE49-F238E27FC236}">
                <a16:creationId xmlns:a16="http://schemas.microsoft.com/office/drawing/2014/main" id="{E89357A2-E737-3AC3-3A16-D79489B0D1EB}"/>
              </a:ext>
            </a:extLst>
          </p:cNvPr>
          <p:cNvSpPr txBox="1"/>
          <p:nvPr/>
        </p:nvSpPr>
        <p:spPr>
          <a:xfrm>
            <a:off x="457200" y="2532888"/>
            <a:ext cx="4197096" cy="877824"/>
          </a:xfrm>
          <a:prstGeom prst="rect">
            <a:avLst/>
          </a:prstGeom>
          <a:noFill/>
          <a:ln/>
        </p:spPr>
        <p:txBody>
          <a:bodyPr wrap="square" lIns="0" tIns="0" rIns="0" bIns="0" rtlCol="0" anchor="t"/>
          <a:lstStyle/>
          <a:p>
            <a:pPr marL="0" indent="0" algn="l">
              <a:lnSpc>
                <a:spcPct val="115000"/>
              </a:lnSpc>
              <a:buNone/>
            </a:pPr>
            <a:r>
              <a:rPr lang="en-US" sz="1400" dirty="0">
                <a:solidFill>
                  <a:srgbClr val="3A3A3A"/>
                </a:solidFill>
                <a:latin typeface="Georgia" pitchFamily="34" charset="0"/>
                <a:ea typeface="Georgia" pitchFamily="34" charset="-122"/>
                <a:cs typeface="Georgia" pitchFamily="34" charset="-120"/>
              </a:rPr>
              <a:t>Standard k-fold cross-validation leaks future data into training for a time series. Pivoted to strict chronological walk-forward (rolling-origin) validation instead.</a:t>
            </a:r>
            <a:endParaRPr lang="en-US" sz="1400" dirty="0"/>
          </a:p>
        </p:txBody>
      </p:sp>
      <p:sp>
        <p:nvSpPr>
          <p:cNvPr id="18" name="Shape 11">
            <a:extLst>
              <a:ext uri="{FF2B5EF4-FFF2-40B4-BE49-F238E27FC236}">
                <a16:creationId xmlns:a16="http://schemas.microsoft.com/office/drawing/2014/main" id="{3EB61985-7EF7-D915-CD75-2E5DC338C47B}"/>
              </a:ext>
            </a:extLst>
          </p:cNvPr>
          <p:cNvSpPr/>
          <p:nvPr/>
        </p:nvSpPr>
        <p:spPr>
          <a:xfrm>
            <a:off x="5129784" y="1965960"/>
            <a:ext cx="4526280" cy="457200"/>
          </a:xfrm>
          <a:prstGeom prst="rect">
            <a:avLst/>
          </a:prstGeom>
          <a:solidFill>
            <a:srgbClr val="BB302C"/>
          </a:solidFill>
          <a:ln/>
        </p:spPr>
      </p:sp>
      <p:sp>
        <p:nvSpPr>
          <p:cNvPr id="20" name="Text 12">
            <a:extLst>
              <a:ext uri="{FF2B5EF4-FFF2-40B4-BE49-F238E27FC236}">
                <a16:creationId xmlns:a16="http://schemas.microsoft.com/office/drawing/2014/main" id="{B59A0586-5B70-DCBB-CBE1-666D1E675F04}"/>
              </a:ext>
            </a:extLst>
          </p:cNvPr>
          <p:cNvSpPr txBox="1"/>
          <p:nvPr/>
        </p:nvSpPr>
        <p:spPr>
          <a:xfrm>
            <a:off x="5266944" y="1965960"/>
            <a:ext cx="4251960" cy="457200"/>
          </a:xfrm>
          <a:prstGeom prst="rect">
            <a:avLst/>
          </a:prstGeom>
          <a:noFill/>
          <a:ln/>
        </p:spPr>
        <p:txBody>
          <a:bodyPr wrap="square" lIns="0" tIns="0" rIns="0" bIns="0" rtlCol="0" anchor="ctr"/>
          <a:lstStyle/>
          <a:p>
            <a:pPr marL="0" indent="0" algn="l">
              <a:buNone/>
            </a:pPr>
            <a:r>
              <a:rPr lang="en-US" sz="1600" b="1" dirty="0">
                <a:solidFill>
                  <a:srgbClr val="FFFFFF"/>
                </a:solidFill>
                <a:latin typeface="Georgia" pitchFamily="34" charset="0"/>
                <a:ea typeface="Georgia" pitchFamily="34" charset="-122"/>
                <a:cs typeface="Georgia" pitchFamily="34" charset="-120"/>
              </a:rPr>
              <a:t>Data Sparsity / Zero-Sale Days</a:t>
            </a:r>
            <a:endParaRPr lang="en-US" sz="1600" dirty="0"/>
          </a:p>
        </p:txBody>
      </p:sp>
      <p:sp>
        <p:nvSpPr>
          <p:cNvPr id="22" name="Shape 13">
            <a:extLst>
              <a:ext uri="{FF2B5EF4-FFF2-40B4-BE49-F238E27FC236}">
                <a16:creationId xmlns:a16="http://schemas.microsoft.com/office/drawing/2014/main" id="{CBBFD0FD-4D2E-B9D8-2FEA-33EDC0B7A241}"/>
              </a:ext>
            </a:extLst>
          </p:cNvPr>
          <p:cNvSpPr/>
          <p:nvPr/>
        </p:nvSpPr>
        <p:spPr>
          <a:xfrm>
            <a:off x="5129784" y="2423160"/>
            <a:ext cx="4526280" cy="1097280"/>
          </a:xfrm>
          <a:prstGeom prst="rect">
            <a:avLst/>
          </a:prstGeom>
          <a:solidFill>
            <a:srgbClr val="F7F5F4"/>
          </a:solidFill>
          <a:ln/>
        </p:spPr>
      </p:sp>
      <p:sp>
        <p:nvSpPr>
          <p:cNvPr id="24" name="Text 14">
            <a:extLst>
              <a:ext uri="{FF2B5EF4-FFF2-40B4-BE49-F238E27FC236}">
                <a16:creationId xmlns:a16="http://schemas.microsoft.com/office/drawing/2014/main" id="{55B33D21-A0E9-17C9-60AD-CF30EC06370C}"/>
              </a:ext>
            </a:extLst>
          </p:cNvPr>
          <p:cNvSpPr txBox="1"/>
          <p:nvPr/>
        </p:nvSpPr>
        <p:spPr>
          <a:xfrm>
            <a:off x="5294376" y="2532888"/>
            <a:ext cx="4197096" cy="877824"/>
          </a:xfrm>
          <a:prstGeom prst="rect">
            <a:avLst/>
          </a:prstGeom>
          <a:noFill/>
          <a:ln/>
        </p:spPr>
        <p:txBody>
          <a:bodyPr wrap="square" lIns="0" tIns="0" rIns="0" bIns="0" rtlCol="0" anchor="t"/>
          <a:lstStyle/>
          <a:p>
            <a:pPr marL="0" indent="0" algn="l">
              <a:lnSpc>
                <a:spcPct val="115000"/>
              </a:lnSpc>
              <a:buNone/>
            </a:pPr>
            <a:r>
              <a:rPr lang="en-US" sz="1400" dirty="0">
                <a:solidFill>
                  <a:srgbClr val="3A3A3A"/>
                </a:solidFill>
                <a:latin typeface="Georgia" pitchFamily="34" charset="0"/>
                <a:ea typeface="Georgia" pitchFamily="34" charset="-122"/>
                <a:cs typeface="Georgia" pitchFamily="34" charset="-120"/>
              </a:rPr>
              <a:t>Frequent zero-sale days in the SME bakery data broke standard MAPE, producing misleading error values. Pivoting to SMAPE / RMSE for sparse-data evaluation.</a:t>
            </a:r>
            <a:endParaRPr lang="en-US" sz="1400" dirty="0"/>
          </a:p>
        </p:txBody>
      </p:sp>
      <p:sp>
        <p:nvSpPr>
          <p:cNvPr id="26" name="Shape 15">
            <a:extLst>
              <a:ext uri="{FF2B5EF4-FFF2-40B4-BE49-F238E27FC236}">
                <a16:creationId xmlns:a16="http://schemas.microsoft.com/office/drawing/2014/main" id="{10C1B5C7-A90D-150D-A595-0FFE2535798E}"/>
              </a:ext>
            </a:extLst>
          </p:cNvPr>
          <p:cNvSpPr/>
          <p:nvPr/>
        </p:nvSpPr>
        <p:spPr>
          <a:xfrm>
            <a:off x="292608" y="3813048"/>
            <a:ext cx="4526280" cy="457200"/>
          </a:xfrm>
          <a:prstGeom prst="rect">
            <a:avLst/>
          </a:prstGeom>
          <a:solidFill>
            <a:srgbClr val="BB302C"/>
          </a:solidFill>
          <a:ln/>
        </p:spPr>
      </p:sp>
      <p:sp>
        <p:nvSpPr>
          <p:cNvPr id="28" name="Text 16">
            <a:extLst>
              <a:ext uri="{FF2B5EF4-FFF2-40B4-BE49-F238E27FC236}">
                <a16:creationId xmlns:a16="http://schemas.microsoft.com/office/drawing/2014/main" id="{1D4FA18F-F843-D3EB-1A8D-065784656CF2}"/>
              </a:ext>
            </a:extLst>
          </p:cNvPr>
          <p:cNvSpPr txBox="1"/>
          <p:nvPr/>
        </p:nvSpPr>
        <p:spPr>
          <a:xfrm>
            <a:off x="429768" y="3813048"/>
            <a:ext cx="4251960" cy="457200"/>
          </a:xfrm>
          <a:prstGeom prst="rect">
            <a:avLst/>
          </a:prstGeom>
          <a:noFill/>
          <a:ln/>
        </p:spPr>
        <p:txBody>
          <a:bodyPr wrap="square" lIns="0" tIns="0" rIns="0" bIns="0" rtlCol="0" anchor="ctr"/>
          <a:lstStyle/>
          <a:p>
            <a:pPr marL="0" indent="0" algn="l">
              <a:buNone/>
            </a:pPr>
            <a:r>
              <a:rPr lang="en-US" sz="1600" b="1" dirty="0">
                <a:solidFill>
                  <a:srgbClr val="FFFFFF"/>
                </a:solidFill>
                <a:latin typeface="Georgia" pitchFamily="34" charset="0"/>
                <a:ea typeface="Georgia" pitchFamily="34" charset="-122"/>
                <a:cs typeface="Georgia" pitchFamily="34" charset="-120"/>
              </a:rPr>
              <a:t>Untuned Hyperparameters</a:t>
            </a:r>
            <a:endParaRPr lang="en-US" sz="1600" dirty="0"/>
          </a:p>
        </p:txBody>
      </p:sp>
      <p:sp>
        <p:nvSpPr>
          <p:cNvPr id="30" name="Shape 17">
            <a:extLst>
              <a:ext uri="{FF2B5EF4-FFF2-40B4-BE49-F238E27FC236}">
                <a16:creationId xmlns:a16="http://schemas.microsoft.com/office/drawing/2014/main" id="{5034C71E-6E8D-FDCA-A611-0089E2672FFA}"/>
              </a:ext>
            </a:extLst>
          </p:cNvPr>
          <p:cNvSpPr/>
          <p:nvPr/>
        </p:nvSpPr>
        <p:spPr>
          <a:xfrm>
            <a:off x="292608" y="4270248"/>
            <a:ext cx="4526280" cy="1097280"/>
          </a:xfrm>
          <a:prstGeom prst="rect">
            <a:avLst/>
          </a:prstGeom>
          <a:solidFill>
            <a:srgbClr val="F7F5F4"/>
          </a:solidFill>
          <a:ln/>
        </p:spPr>
      </p:sp>
      <p:sp>
        <p:nvSpPr>
          <p:cNvPr id="32" name="Text 18">
            <a:extLst>
              <a:ext uri="{FF2B5EF4-FFF2-40B4-BE49-F238E27FC236}">
                <a16:creationId xmlns:a16="http://schemas.microsoft.com/office/drawing/2014/main" id="{EB51B323-4E6C-00A0-997B-8C8F41DA556C}"/>
              </a:ext>
            </a:extLst>
          </p:cNvPr>
          <p:cNvSpPr txBox="1"/>
          <p:nvPr/>
        </p:nvSpPr>
        <p:spPr>
          <a:xfrm>
            <a:off x="457200" y="4379976"/>
            <a:ext cx="4197096" cy="877824"/>
          </a:xfrm>
          <a:prstGeom prst="rect">
            <a:avLst/>
          </a:prstGeom>
          <a:noFill/>
          <a:ln/>
        </p:spPr>
        <p:txBody>
          <a:bodyPr wrap="square" lIns="0" tIns="0" rIns="0" bIns="0" rtlCol="0" anchor="t"/>
          <a:lstStyle/>
          <a:p>
            <a:pPr marL="0" indent="0" algn="l">
              <a:lnSpc>
                <a:spcPct val="115000"/>
              </a:lnSpc>
              <a:buNone/>
            </a:pPr>
            <a:r>
              <a:rPr lang="en-US" sz="1400" dirty="0">
                <a:solidFill>
                  <a:srgbClr val="3A3A3A"/>
                </a:solidFill>
                <a:latin typeface="Georgia" pitchFamily="34" charset="0"/>
                <a:ea typeface="Georgia" pitchFamily="34" charset="-122"/>
                <a:cs typeface="Georgia" pitchFamily="34" charset="-120"/>
              </a:rPr>
              <a:t>changepoint_prior_scale is still inherited from an early baseline. Grid-search bounds for Prophet tuning on the bakery-specific data are not yet finalized.</a:t>
            </a:r>
            <a:endParaRPr lang="en-US" sz="1400" dirty="0"/>
          </a:p>
        </p:txBody>
      </p:sp>
      <p:sp>
        <p:nvSpPr>
          <p:cNvPr id="34" name="Shape 19">
            <a:extLst>
              <a:ext uri="{FF2B5EF4-FFF2-40B4-BE49-F238E27FC236}">
                <a16:creationId xmlns:a16="http://schemas.microsoft.com/office/drawing/2014/main" id="{2D7BB821-7552-D6DF-2BB6-A17F23BF380A}"/>
              </a:ext>
            </a:extLst>
          </p:cNvPr>
          <p:cNvSpPr/>
          <p:nvPr/>
        </p:nvSpPr>
        <p:spPr>
          <a:xfrm>
            <a:off x="5129784" y="3813048"/>
            <a:ext cx="4526280" cy="457200"/>
          </a:xfrm>
          <a:prstGeom prst="rect">
            <a:avLst/>
          </a:prstGeom>
          <a:solidFill>
            <a:srgbClr val="BB302C"/>
          </a:solidFill>
          <a:ln/>
        </p:spPr>
      </p:sp>
      <p:sp>
        <p:nvSpPr>
          <p:cNvPr id="36" name="Text 20">
            <a:extLst>
              <a:ext uri="{FF2B5EF4-FFF2-40B4-BE49-F238E27FC236}">
                <a16:creationId xmlns:a16="http://schemas.microsoft.com/office/drawing/2014/main" id="{840EF7A2-09AD-E2F2-9323-6ED4CC39A06D}"/>
              </a:ext>
            </a:extLst>
          </p:cNvPr>
          <p:cNvSpPr txBox="1"/>
          <p:nvPr/>
        </p:nvSpPr>
        <p:spPr>
          <a:xfrm>
            <a:off x="5266944" y="3813048"/>
            <a:ext cx="4251960" cy="457200"/>
          </a:xfrm>
          <a:prstGeom prst="rect">
            <a:avLst/>
          </a:prstGeom>
          <a:noFill/>
          <a:ln/>
        </p:spPr>
        <p:txBody>
          <a:bodyPr wrap="square" lIns="0" tIns="0" rIns="0" bIns="0" rtlCol="0" anchor="ctr"/>
          <a:lstStyle/>
          <a:p>
            <a:pPr marL="0" indent="0" algn="l">
              <a:buNone/>
            </a:pPr>
            <a:r>
              <a:rPr lang="en-US" sz="1600" b="1" dirty="0">
                <a:solidFill>
                  <a:srgbClr val="FFFFFF"/>
                </a:solidFill>
                <a:latin typeface="Georgia" pitchFamily="34" charset="0"/>
                <a:ea typeface="Georgia" pitchFamily="34" charset="-122"/>
                <a:cs typeface="Georgia" pitchFamily="34" charset="-120"/>
              </a:rPr>
              <a:t>Current Blocker: Backend Not Yet Built</a:t>
            </a:r>
            <a:endParaRPr lang="en-US" sz="1600" dirty="0"/>
          </a:p>
        </p:txBody>
      </p:sp>
      <p:sp>
        <p:nvSpPr>
          <p:cNvPr id="38" name="Shape 21">
            <a:extLst>
              <a:ext uri="{FF2B5EF4-FFF2-40B4-BE49-F238E27FC236}">
                <a16:creationId xmlns:a16="http://schemas.microsoft.com/office/drawing/2014/main" id="{409975D7-B136-B005-B6F6-29FE4A0BB8FB}"/>
              </a:ext>
            </a:extLst>
          </p:cNvPr>
          <p:cNvSpPr/>
          <p:nvPr/>
        </p:nvSpPr>
        <p:spPr>
          <a:xfrm>
            <a:off x="5129784" y="4270248"/>
            <a:ext cx="4526280" cy="1097280"/>
          </a:xfrm>
          <a:prstGeom prst="rect">
            <a:avLst/>
          </a:prstGeom>
          <a:solidFill>
            <a:srgbClr val="F7F5F4"/>
          </a:solidFill>
          <a:ln/>
        </p:spPr>
      </p:sp>
      <p:sp>
        <p:nvSpPr>
          <p:cNvPr id="40" name="Text 22">
            <a:extLst>
              <a:ext uri="{FF2B5EF4-FFF2-40B4-BE49-F238E27FC236}">
                <a16:creationId xmlns:a16="http://schemas.microsoft.com/office/drawing/2014/main" id="{C1F30B94-9DA6-99F8-9D87-D03C30AF0F49}"/>
              </a:ext>
            </a:extLst>
          </p:cNvPr>
          <p:cNvSpPr txBox="1"/>
          <p:nvPr/>
        </p:nvSpPr>
        <p:spPr>
          <a:xfrm>
            <a:off x="5294376" y="4379976"/>
            <a:ext cx="4197096" cy="877824"/>
          </a:xfrm>
          <a:prstGeom prst="rect">
            <a:avLst/>
          </a:prstGeom>
          <a:noFill/>
          <a:ln/>
        </p:spPr>
        <p:txBody>
          <a:bodyPr wrap="square" lIns="0" tIns="0" rIns="0" bIns="0" rtlCol="0" anchor="t"/>
          <a:lstStyle/>
          <a:p>
            <a:pPr marL="0" indent="0" algn="l">
              <a:lnSpc>
                <a:spcPct val="115000"/>
              </a:lnSpc>
              <a:buNone/>
            </a:pPr>
            <a:r>
              <a:rPr lang="en-US" sz="1400" dirty="0">
                <a:solidFill>
                  <a:srgbClr val="3A3A3A"/>
                </a:solidFill>
                <a:latin typeface="Georgia" pitchFamily="34" charset="0"/>
                <a:ea typeface="Georgia" pitchFamily="34" charset="-122"/>
                <a:cs typeface="Georgia" pitchFamily="34" charset="-120"/>
              </a:rPr>
              <a:t>The FastAPI layer and the restock_qty / waste_action JSON contract with backend still need to be defined before Flutter ↔ MongoDB integration can begin.</a:t>
            </a:r>
            <a:endParaRPr lang="en-US" sz="1400" dirty="0"/>
          </a:p>
        </p:txBody>
      </p:sp>
      <p:pic>
        <p:nvPicPr>
          <p:cNvPr id="51" name="Picture 50">
            <a:extLst>
              <a:ext uri="{FF2B5EF4-FFF2-40B4-BE49-F238E27FC236}">
                <a16:creationId xmlns:a16="http://schemas.microsoft.com/office/drawing/2014/main" id="{ADC3EBE9-635E-4C31-CA6A-C8EA63F37D77}"/>
              </a:ext>
            </a:extLst>
          </p:cNvPr>
          <p:cNvPicPr>
            <a:picLocks noChangeAspect="1"/>
          </p:cNvPicPr>
          <p:nvPr/>
        </p:nvPicPr>
        <p:blipFill rotWithShape="1">
          <a:blip r:embed="rId2">
            <a:extLst>
              <a:ext uri="{28A0092B-C50C-407E-A947-70E740481C1C}">
                <a14:useLocalDpi xmlns:a14="http://schemas.microsoft.com/office/drawing/2010/main" val="0"/>
              </a:ext>
            </a:extLst>
          </a:blip>
          <a:srcRect l="48363" r="-1" b="45098"/>
          <a:stretch/>
        </p:blipFill>
        <p:spPr>
          <a:xfrm>
            <a:off x="0" y="6740809"/>
            <a:ext cx="9906000" cy="131162"/>
          </a:xfrm>
          <a:prstGeom prst="rect">
            <a:avLst/>
          </a:prstGeom>
        </p:spPr>
      </p:pic>
      <p:pic>
        <p:nvPicPr>
          <p:cNvPr id="52" name="Picture 51">
            <a:extLst>
              <a:ext uri="{FF2B5EF4-FFF2-40B4-BE49-F238E27FC236}">
                <a16:creationId xmlns:a16="http://schemas.microsoft.com/office/drawing/2014/main" id="{090E86C0-AB02-F99C-46C3-211D28308D5D}"/>
              </a:ext>
            </a:extLst>
          </p:cNvPr>
          <p:cNvPicPr>
            <a:picLocks noChangeAspect="1"/>
          </p:cNvPicPr>
          <p:nvPr/>
        </p:nvPicPr>
        <p:blipFill rotWithShape="1">
          <a:blip r:embed="rId3"/>
          <a:srcRect b="6633"/>
          <a:stretch/>
        </p:blipFill>
        <p:spPr>
          <a:xfrm>
            <a:off x="0" y="-10160"/>
            <a:ext cx="3927231" cy="939765"/>
          </a:xfrm>
          <a:prstGeom prst="rect">
            <a:avLst/>
          </a:prstGeom>
        </p:spPr>
      </p:pic>
      <p:pic>
        <p:nvPicPr>
          <p:cNvPr id="53" name="Picture 52">
            <a:extLst>
              <a:ext uri="{FF2B5EF4-FFF2-40B4-BE49-F238E27FC236}">
                <a16:creationId xmlns:a16="http://schemas.microsoft.com/office/drawing/2014/main" id="{6A440B96-F746-24B3-9448-0FF79F30EE5E}"/>
              </a:ext>
            </a:extLst>
          </p:cNvPr>
          <p:cNvPicPr>
            <a:picLocks noChangeAspect="1"/>
          </p:cNvPicPr>
          <p:nvPr/>
        </p:nvPicPr>
        <p:blipFill rotWithShape="1">
          <a:blip r:embed="rId2">
            <a:extLst>
              <a:ext uri="{28A0092B-C50C-407E-A947-70E740481C1C}">
                <a14:useLocalDpi xmlns:a14="http://schemas.microsoft.com/office/drawing/2010/main" val="0"/>
              </a:ext>
            </a:extLst>
          </a:blip>
          <a:srcRect l="48363" r="-1" b="45098"/>
          <a:stretch/>
        </p:blipFill>
        <p:spPr>
          <a:xfrm>
            <a:off x="2637692" y="-10160"/>
            <a:ext cx="7268307" cy="525780"/>
          </a:xfrm>
          <a:prstGeom prst="rect">
            <a:avLst/>
          </a:prstGeom>
        </p:spPr>
      </p:pic>
      <p:sp>
        <p:nvSpPr>
          <p:cNvPr id="54" name="Rectangle 53">
            <a:extLst>
              <a:ext uri="{FF2B5EF4-FFF2-40B4-BE49-F238E27FC236}">
                <a16:creationId xmlns:a16="http://schemas.microsoft.com/office/drawing/2014/main" id="{47F9D9EB-FFFA-8A2F-858D-EE00CD28C594}"/>
              </a:ext>
            </a:extLst>
          </p:cNvPr>
          <p:cNvSpPr/>
          <p:nvPr/>
        </p:nvSpPr>
        <p:spPr>
          <a:xfrm>
            <a:off x="1652953" y="96871"/>
            <a:ext cx="8253045" cy="336631"/>
          </a:xfrm>
          <a:prstGeom prst="rect">
            <a:avLst/>
          </a:prstGeom>
        </p:spPr>
        <p:txBody>
          <a:bodyPr wrap="square">
            <a:spAutoFit/>
          </a:bodyPr>
          <a:lstStyle/>
          <a:p>
            <a:pPr algn="ctr">
              <a:lnSpc>
                <a:spcPct val="107000"/>
              </a:lnSpc>
              <a:spcAft>
                <a:spcPts val="800"/>
              </a:spcAft>
            </a:pPr>
            <a:r>
              <a:rPr lang="en-IN" sz="1600" b="1" dirty="0">
                <a:solidFill>
                  <a:schemeClr val="bg1"/>
                </a:solidFill>
                <a:latin typeface="Cambria" panose="02040503050406030204" pitchFamily="18" charset="0"/>
              </a:rPr>
              <a:t>MUKESH PATEL SCHOOL OF TECHNOLOGY MANAGEMENT &amp; ENGINEERING, SHIRPUR</a:t>
            </a:r>
            <a:endParaRPr lang="en-US" sz="1600" b="1" dirty="0">
              <a:solidFill>
                <a:schemeClr val="bg1"/>
              </a:solidFill>
              <a:latin typeface="Cambria" panose="02040503050406030204" pitchFamily="18" charset="0"/>
            </a:endParaRPr>
          </a:p>
        </p:txBody>
      </p:sp>
      <p:sp>
        <p:nvSpPr>
          <p:cNvPr id="55" name="Slide Number Placeholder 2">
            <a:extLst>
              <a:ext uri="{FF2B5EF4-FFF2-40B4-BE49-F238E27FC236}">
                <a16:creationId xmlns:a16="http://schemas.microsoft.com/office/drawing/2014/main" id="{BEEB3AEF-BFF3-46BB-494A-E1009E785951}"/>
              </a:ext>
            </a:extLst>
          </p:cNvPr>
          <p:cNvSpPr txBox="1">
            <a:spLocks/>
          </p:cNvSpPr>
          <p:nvPr/>
        </p:nvSpPr>
        <p:spPr>
          <a:xfrm>
            <a:off x="6996113" y="6346192"/>
            <a:ext cx="2228850" cy="365125"/>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US" dirty="0"/>
          </a:p>
        </p:txBody>
      </p:sp>
    </p:spTree>
    <p:extLst>
      <p:ext uri="{BB962C8B-B14F-4D97-AF65-F5344CB8AC3E}">
        <p14:creationId xmlns:p14="http://schemas.microsoft.com/office/powerpoint/2010/main" val="427681244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385783-801C-8175-636A-6C18153D9B98}"/>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07B6D058-215A-5F02-9D58-174CB5830AA9}"/>
              </a:ext>
            </a:extLst>
          </p:cNvPr>
          <p:cNvPicPr>
            <a:picLocks noChangeAspect="1"/>
          </p:cNvPicPr>
          <p:nvPr/>
        </p:nvPicPr>
        <p:blipFill rotWithShape="1">
          <a:blip r:embed="rId2">
            <a:extLst>
              <a:ext uri="{28A0092B-C50C-407E-A947-70E740481C1C}">
                <a14:useLocalDpi xmlns:a14="http://schemas.microsoft.com/office/drawing/2010/main" val="0"/>
              </a:ext>
            </a:extLst>
          </a:blip>
          <a:srcRect l="48363" r="-1" b="45098"/>
          <a:stretch/>
        </p:blipFill>
        <p:spPr>
          <a:xfrm>
            <a:off x="0" y="6750969"/>
            <a:ext cx="9906000" cy="131162"/>
          </a:xfrm>
          <a:prstGeom prst="rect">
            <a:avLst/>
          </a:prstGeom>
        </p:spPr>
      </p:pic>
      <p:pic>
        <p:nvPicPr>
          <p:cNvPr id="6" name="Picture 5">
            <a:extLst>
              <a:ext uri="{FF2B5EF4-FFF2-40B4-BE49-F238E27FC236}">
                <a16:creationId xmlns:a16="http://schemas.microsoft.com/office/drawing/2014/main" id="{02DF58CA-7E59-01C7-772B-00F5A01484D8}"/>
              </a:ext>
            </a:extLst>
          </p:cNvPr>
          <p:cNvPicPr>
            <a:picLocks noChangeAspect="1"/>
          </p:cNvPicPr>
          <p:nvPr/>
        </p:nvPicPr>
        <p:blipFill rotWithShape="1">
          <a:blip r:embed="rId3"/>
          <a:srcRect b="6633"/>
          <a:stretch/>
        </p:blipFill>
        <p:spPr>
          <a:xfrm>
            <a:off x="0" y="0"/>
            <a:ext cx="3927231" cy="939765"/>
          </a:xfrm>
          <a:prstGeom prst="rect">
            <a:avLst/>
          </a:prstGeom>
        </p:spPr>
      </p:pic>
      <p:pic>
        <p:nvPicPr>
          <p:cNvPr id="7" name="Picture 6">
            <a:extLst>
              <a:ext uri="{FF2B5EF4-FFF2-40B4-BE49-F238E27FC236}">
                <a16:creationId xmlns:a16="http://schemas.microsoft.com/office/drawing/2014/main" id="{0EE1D4AF-F88E-E8B9-67B9-D0A3905DFF57}"/>
              </a:ext>
            </a:extLst>
          </p:cNvPr>
          <p:cNvPicPr>
            <a:picLocks noChangeAspect="1"/>
          </p:cNvPicPr>
          <p:nvPr/>
        </p:nvPicPr>
        <p:blipFill rotWithShape="1">
          <a:blip r:embed="rId2">
            <a:extLst>
              <a:ext uri="{28A0092B-C50C-407E-A947-70E740481C1C}">
                <a14:useLocalDpi xmlns:a14="http://schemas.microsoft.com/office/drawing/2010/main" val="0"/>
              </a:ext>
            </a:extLst>
          </a:blip>
          <a:srcRect l="48363" r="-1" b="45098"/>
          <a:stretch/>
        </p:blipFill>
        <p:spPr>
          <a:xfrm>
            <a:off x="2637692" y="0"/>
            <a:ext cx="7268307" cy="525780"/>
          </a:xfrm>
          <a:prstGeom prst="rect">
            <a:avLst/>
          </a:prstGeom>
        </p:spPr>
      </p:pic>
      <p:sp>
        <p:nvSpPr>
          <p:cNvPr id="11" name="Rectangle 10">
            <a:extLst>
              <a:ext uri="{FF2B5EF4-FFF2-40B4-BE49-F238E27FC236}">
                <a16:creationId xmlns:a16="http://schemas.microsoft.com/office/drawing/2014/main" id="{3243168D-3CC4-85FA-ACAC-CF3663EF9B98}"/>
              </a:ext>
            </a:extLst>
          </p:cNvPr>
          <p:cNvSpPr/>
          <p:nvPr/>
        </p:nvSpPr>
        <p:spPr>
          <a:xfrm>
            <a:off x="1652953" y="107031"/>
            <a:ext cx="8253045" cy="336631"/>
          </a:xfrm>
          <a:prstGeom prst="rect">
            <a:avLst/>
          </a:prstGeom>
        </p:spPr>
        <p:txBody>
          <a:bodyPr wrap="square">
            <a:spAutoFit/>
          </a:bodyPr>
          <a:lstStyle/>
          <a:p>
            <a:pPr algn="ctr">
              <a:lnSpc>
                <a:spcPct val="107000"/>
              </a:lnSpc>
              <a:spcAft>
                <a:spcPts val="800"/>
              </a:spcAft>
            </a:pPr>
            <a:r>
              <a:rPr lang="en-IN" sz="1600" b="1" dirty="0">
                <a:solidFill>
                  <a:schemeClr val="bg1"/>
                </a:solidFill>
                <a:latin typeface="Cambria" panose="02040503050406030204" pitchFamily="18" charset="0"/>
              </a:rPr>
              <a:t>MUKESH PATEL SCHOOL OF TECHNOLOGY MANAGEMENT &amp; ENGINEERING, SHIRPUR</a:t>
            </a:r>
            <a:endParaRPr lang="en-US" sz="1600" b="1" dirty="0">
              <a:solidFill>
                <a:schemeClr val="bg1"/>
              </a:solidFill>
              <a:latin typeface="Cambria" panose="02040503050406030204" pitchFamily="18" charset="0"/>
            </a:endParaRPr>
          </a:p>
        </p:txBody>
      </p:sp>
      <p:sp>
        <p:nvSpPr>
          <p:cNvPr id="3" name="Slide Number Placeholder 2">
            <a:extLst>
              <a:ext uri="{FF2B5EF4-FFF2-40B4-BE49-F238E27FC236}">
                <a16:creationId xmlns:a16="http://schemas.microsoft.com/office/drawing/2014/main" id="{B71103C5-9D29-29DD-D818-CB402D81C27E}"/>
              </a:ext>
            </a:extLst>
          </p:cNvPr>
          <p:cNvSpPr>
            <a:spLocks noGrp="1"/>
          </p:cNvSpPr>
          <p:nvPr>
            <p:ph type="sldNum" sz="quarter" idx="12"/>
          </p:nvPr>
        </p:nvSpPr>
        <p:spPr/>
        <p:txBody>
          <a:bodyPr/>
          <a:lstStyle/>
          <a:p>
            <a:fld id="{9DC013F7-6D70-4318-BA41-212A9B59413B}" type="slidenum">
              <a:rPr lang="en-US" smtClean="0"/>
              <a:t>18</a:t>
            </a:fld>
            <a:endParaRPr lang="en-US" dirty="0"/>
          </a:p>
        </p:txBody>
      </p:sp>
      <p:sp>
        <p:nvSpPr>
          <p:cNvPr id="2" name="AutoShape 4" descr="Neural Networks Hyperparameter tuning in tensorflow 2.0 | by SiDdhartha |  ML Book | Medium">
            <a:extLst>
              <a:ext uri="{FF2B5EF4-FFF2-40B4-BE49-F238E27FC236}">
                <a16:creationId xmlns:a16="http://schemas.microsoft.com/office/drawing/2014/main" id="{51372748-D24B-EB39-761C-B66E509A8863}"/>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8" name="Rectangle 7">
            <a:extLst>
              <a:ext uri="{FF2B5EF4-FFF2-40B4-BE49-F238E27FC236}">
                <a16:creationId xmlns:a16="http://schemas.microsoft.com/office/drawing/2014/main" id="{8705B893-234A-69FF-C100-049393CC2B63}"/>
              </a:ext>
            </a:extLst>
          </p:cNvPr>
          <p:cNvSpPr/>
          <p:nvPr/>
        </p:nvSpPr>
        <p:spPr>
          <a:xfrm>
            <a:off x="176041" y="921450"/>
            <a:ext cx="9418320" cy="523220"/>
          </a:xfrm>
          <a:prstGeom prst="rect">
            <a:avLst/>
          </a:prstGeom>
        </p:spPr>
        <p:txBody>
          <a:bodyPr wrap="square">
            <a:spAutoFit/>
          </a:bodyPr>
          <a:lstStyle/>
          <a:p>
            <a:pPr algn="ctr"/>
            <a:endParaRPr lang="en-US" sz="2800" b="1" dirty="0">
              <a:latin typeface="Teko SemiBold" panose="02000000000000000000" pitchFamily="2" charset="0"/>
              <a:cs typeface="Teko SemiBold" panose="02000000000000000000" pitchFamily="2" charset="0"/>
            </a:endParaRPr>
          </a:p>
        </p:txBody>
      </p:sp>
      <p:sp>
        <p:nvSpPr>
          <p:cNvPr id="5" name="Text 3">
            <a:extLst>
              <a:ext uri="{FF2B5EF4-FFF2-40B4-BE49-F238E27FC236}">
                <a16:creationId xmlns:a16="http://schemas.microsoft.com/office/drawing/2014/main" id="{523B55B9-E290-A45C-844E-82414C2C8FB1}"/>
              </a:ext>
            </a:extLst>
          </p:cNvPr>
          <p:cNvSpPr/>
          <p:nvPr/>
        </p:nvSpPr>
        <p:spPr>
          <a:xfrm>
            <a:off x="311639" y="944056"/>
            <a:ext cx="9359542" cy="594360"/>
          </a:xfrm>
          <a:prstGeom prst="rect">
            <a:avLst/>
          </a:prstGeom>
          <a:noFill/>
          <a:ln/>
        </p:spPr>
        <p:txBody>
          <a:bodyPr wrap="square" lIns="0" tIns="0" rIns="0" bIns="0" rtlCol="0" anchor="ctr"/>
          <a:lstStyle/>
          <a:p>
            <a:pPr marL="0" indent="0" algn="l">
              <a:buNone/>
            </a:pPr>
            <a:r>
              <a:rPr lang="en-US" sz="2700" b="1" dirty="0">
                <a:solidFill>
                  <a:srgbClr val="BC312C"/>
                </a:solidFill>
                <a:latin typeface="Cambria" pitchFamily="34" charset="0"/>
                <a:ea typeface="Cambria" pitchFamily="34" charset="-122"/>
                <a:cs typeface="Cambria" pitchFamily="34" charset="-120"/>
              </a:rPr>
              <a:t>References (1/2)</a:t>
            </a:r>
            <a:endParaRPr lang="en-US" sz="2700" dirty="0"/>
          </a:p>
        </p:txBody>
      </p:sp>
      <p:sp>
        <p:nvSpPr>
          <p:cNvPr id="12" name="Shape 4">
            <a:extLst>
              <a:ext uri="{FF2B5EF4-FFF2-40B4-BE49-F238E27FC236}">
                <a16:creationId xmlns:a16="http://schemas.microsoft.com/office/drawing/2014/main" id="{288E3F41-028A-0327-3C64-A881C898F0C7}"/>
              </a:ext>
            </a:extLst>
          </p:cNvPr>
          <p:cNvSpPr/>
          <p:nvPr/>
        </p:nvSpPr>
        <p:spPr>
          <a:xfrm flipV="1">
            <a:off x="311639" y="1545134"/>
            <a:ext cx="8781043" cy="11570"/>
          </a:xfrm>
          <a:prstGeom prst="line">
            <a:avLst/>
          </a:prstGeom>
          <a:noFill/>
          <a:ln w="12700">
            <a:solidFill>
              <a:srgbClr val="E0DAD8"/>
            </a:solidFill>
            <a:prstDash val="solid"/>
          </a:ln>
        </p:spPr>
      </p:sp>
      <p:sp>
        <p:nvSpPr>
          <p:cNvPr id="14" name="TextBox 13">
            <a:extLst>
              <a:ext uri="{FF2B5EF4-FFF2-40B4-BE49-F238E27FC236}">
                <a16:creationId xmlns:a16="http://schemas.microsoft.com/office/drawing/2014/main" id="{2F76CC29-DF59-0BA0-E68F-2DB3CFED1BAB}"/>
              </a:ext>
            </a:extLst>
          </p:cNvPr>
          <p:cNvSpPr txBox="1"/>
          <p:nvPr/>
        </p:nvSpPr>
        <p:spPr>
          <a:xfrm>
            <a:off x="311639" y="1647507"/>
            <a:ext cx="4474965" cy="4254947"/>
          </a:xfrm>
          <a:prstGeom prst="rect">
            <a:avLst/>
          </a:prstGeom>
          <a:noFill/>
        </p:spPr>
        <p:txBody>
          <a:bodyPr wrap="square" lIns="0" tIns="0" rIns="0" bIns="0">
            <a:spAutoFit/>
          </a:bodyPr>
          <a:lstStyle/>
          <a:p>
            <a:pPr>
              <a:lnSpc>
                <a:spcPct val="105000"/>
              </a:lnSpc>
              <a:spcAft>
                <a:spcPts val="900"/>
              </a:spcAft>
            </a:pPr>
            <a:r>
              <a:rPr sz="1300" dirty="0">
                <a:solidFill>
                  <a:srgbClr val="262626"/>
                </a:solidFill>
                <a:latin typeface="Calibri"/>
              </a:rPr>
              <a:t>[1] K. S. Aqila et al., “Comparative Evaluation of SARIMA, FB Prophet, and LSTM for Hourly Demand Forecasting in </a:t>
            </a:r>
            <a:r>
              <a:rPr sz="1300" dirty="0" err="1">
                <a:solidFill>
                  <a:srgbClr val="262626"/>
                </a:solidFill>
                <a:latin typeface="Calibri"/>
              </a:rPr>
              <a:t>Saudagar</a:t>
            </a:r>
            <a:r>
              <a:rPr sz="1300" dirty="0">
                <a:solidFill>
                  <a:srgbClr val="262626"/>
                </a:solidFill>
                <a:latin typeface="Calibri"/>
              </a:rPr>
              <a:t> Kopi,” 2026.</a:t>
            </a:r>
          </a:p>
          <a:p>
            <a:pPr>
              <a:lnSpc>
                <a:spcPct val="105000"/>
              </a:lnSpc>
              <a:spcAft>
                <a:spcPts val="900"/>
              </a:spcAft>
            </a:pPr>
            <a:r>
              <a:rPr sz="1300" dirty="0">
                <a:solidFill>
                  <a:srgbClr val="262626"/>
                </a:solidFill>
                <a:latin typeface="Calibri"/>
              </a:rPr>
              <a:t>[2] Sandeep V et al., “Smart Sales Forecasting Machine Learning Models for Demand Prediction in Retail,” 2025.</a:t>
            </a:r>
          </a:p>
          <a:p>
            <a:pPr>
              <a:lnSpc>
                <a:spcPct val="105000"/>
              </a:lnSpc>
              <a:spcAft>
                <a:spcPts val="900"/>
              </a:spcAft>
            </a:pPr>
            <a:r>
              <a:rPr sz="1300" dirty="0">
                <a:solidFill>
                  <a:srgbClr val="262626"/>
                </a:solidFill>
                <a:latin typeface="Calibri"/>
              </a:rPr>
              <a:t>[3] M. Kamboj et al., “State-Level Drug Retail Sales Forecasting Using </a:t>
            </a:r>
            <a:r>
              <a:rPr sz="1300" dirty="0" err="1">
                <a:solidFill>
                  <a:srgbClr val="262626"/>
                </a:solidFill>
                <a:latin typeface="Calibri"/>
              </a:rPr>
              <a:t>XGBoost</a:t>
            </a:r>
            <a:r>
              <a:rPr sz="1300" dirty="0">
                <a:solidFill>
                  <a:srgbClr val="262626"/>
                </a:solidFill>
                <a:latin typeface="Calibri"/>
              </a:rPr>
              <a:t> and Facebook Prophet,” 2025.</a:t>
            </a:r>
          </a:p>
          <a:p>
            <a:pPr>
              <a:lnSpc>
                <a:spcPct val="105000"/>
              </a:lnSpc>
              <a:spcAft>
                <a:spcPts val="900"/>
              </a:spcAft>
            </a:pPr>
            <a:r>
              <a:rPr sz="1300" dirty="0">
                <a:solidFill>
                  <a:srgbClr val="262626"/>
                </a:solidFill>
                <a:latin typeface="Calibri"/>
              </a:rPr>
              <a:t>[4] T. Gärtner, C. Lippert, and S. </a:t>
            </a:r>
            <a:r>
              <a:rPr sz="1300" dirty="0" err="1">
                <a:solidFill>
                  <a:srgbClr val="262626"/>
                </a:solidFill>
                <a:latin typeface="Calibri"/>
              </a:rPr>
              <a:t>Konigorski</a:t>
            </a:r>
            <a:r>
              <a:rPr sz="1300" dirty="0">
                <a:solidFill>
                  <a:srgbClr val="262626"/>
                </a:solidFill>
                <a:latin typeface="Calibri"/>
              </a:rPr>
              <a:t>, “Automated Demand Forecasting in Small to Medium-Sized Enterprises,” 2024.</a:t>
            </a:r>
          </a:p>
          <a:p>
            <a:pPr>
              <a:lnSpc>
                <a:spcPct val="105000"/>
              </a:lnSpc>
              <a:spcAft>
                <a:spcPts val="900"/>
              </a:spcAft>
            </a:pPr>
            <a:r>
              <a:rPr sz="1300" dirty="0">
                <a:solidFill>
                  <a:srgbClr val="262626"/>
                </a:solidFill>
                <a:latin typeface="Calibri"/>
              </a:rPr>
              <a:t>[5] P. Ganguly and I. Mukherjee, “Enhancing Retail Sales Forecasting with Optimized Machine Learning Models,” 2024.</a:t>
            </a:r>
          </a:p>
          <a:p>
            <a:pPr>
              <a:lnSpc>
                <a:spcPct val="105000"/>
              </a:lnSpc>
              <a:spcAft>
                <a:spcPts val="900"/>
              </a:spcAft>
            </a:pPr>
            <a:r>
              <a:rPr sz="1300" dirty="0">
                <a:solidFill>
                  <a:srgbClr val="262626"/>
                </a:solidFill>
                <a:latin typeface="Calibri"/>
              </a:rPr>
              <a:t>[6] H. </a:t>
            </a:r>
            <a:r>
              <a:rPr sz="1300" dirty="0" err="1">
                <a:solidFill>
                  <a:srgbClr val="262626"/>
                </a:solidFill>
                <a:latin typeface="Calibri"/>
              </a:rPr>
              <a:t>Jatte</a:t>
            </a:r>
            <a:r>
              <a:rPr sz="1300" dirty="0">
                <a:solidFill>
                  <a:srgbClr val="262626"/>
                </a:solidFill>
                <a:latin typeface="Calibri"/>
              </a:rPr>
              <a:t> et al., “Optimization of Forecasting Performance in the Retail Sector Using Artificial Intelligence,” 2025.</a:t>
            </a:r>
          </a:p>
          <a:p>
            <a:pPr>
              <a:lnSpc>
                <a:spcPct val="105000"/>
              </a:lnSpc>
              <a:spcAft>
                <a:spcPts val="900"/>
              </a:spcAft>
            </a:pPr>
            <a:r>
              <a:rPr sz="1300" dirty="0">
                <a:solidFill>
                  <a:srgbClr val="262626"/>
                </a:solidFill>
                <a:latin typeface="Calibri"/>
              </a:rPr>
              <a:t>[7] N. Groene and S. Zakharov, “Introduction of AI-based sales forecasting: how to drive digital transformation in food and beverage outlets,” Discover Artificial Intelligence, vol. 4, no. 1, 2024.</a:t>
            </a:r>
          </a:p>
        </p:txBody>
      </p:sp>
      <p:sp>
        <p:nvSpPr>
          <p:cNvPr id="16" name="TextBox 15">
            <a:extLst>
              <a:ext uri="{FF2B5EF4-FFF2-40B4-BE49-F238E27FC236}">
                <a16:creationId xmlns:a16="http://schemas.microsoft.com/office/drawing/2014/main" id="{61873B2A-8B7E-9B9D-78E2-EB3A73903874}"/>
              </a:ext>
            </a:extLst>
          </p:cNvPr>
          <p:cNvSpPr txBox="1"/>
          <p:nvPr/>
        </p:nvSpPr>
        <p:spPr>
          <a:xfrm>
            <a:off x="5119398" y="1670195"/>
            <a:ext cx="4474964" cy="4139531"/>
          </a:xfrm>
          <a:prstGeom prst="rect">
            <a:avLst/>
          </a:prstGeom>
          <a:noFill/>
        </p:spPr>
        <p:txBody>
          <a:bodyPr wrap="square" lIns="0" tIns="0" rIns="0" bIns="0">
            <a:spAutoFit/>
          </a:bodyPr>
          <a:lstStyle/>
          <a:p>
            <a:pPr>
              <a:lnSpc>
                <a:spcPct val="105000"/>
              </a:lnSpc>
              <a:spcAft>
                <a:spcPts val="900"/>
              </a:spcAft>
            </a:pPr>
            <a:r>
              <a:rPr sz="1300" dirty="0">
                <a:solidFill>
                  <a:srgbClr val="262626"/>
                </a:solidFill>
                <a:latin typeface="Calibri"/>
              </a:rPr>
              <a:t>[8] A. K. Güler et al., “Forecasting Restaurant Sales with the Sensitivity of Weather Conditions and Special Days Using Facebook Prophet,” Journal of Data Applications, 2023.</a:t>
            </a:r>
          </a:p>
          <a:p>
            <a:pPr>
              <a:lnSpc>
                <a:spcPct val="105000"/>
              </a:lnSpc>
              <a:spcAft>
                <a:spcPts val="900"/>
              </a:spcAft>
            </a:pPr>
            <a:r>
              <a:rPr sz="1300" dirty="0">
                <a:solidFill>
                  <a:srgbClr val="262626"/>
                </a:solidFill>
                <a:latin typeface="Calibri"/>
              </a:rPr>
              <a:t>[9] J. C. Susanto et al., “Performance Analysis of Time Series Models to Predict Sales Activity of SMEs,” 2026.</a:t>
            </a:r>
          </a:p>
          <a:p>
            <a:pPr>
              <a:lnSpc>
                <a:spcPct val="105000"/>
              </a:lnSpc>
              <a:spcAft>
                <a:spcPts val="900"/>
              </a:spcAft>
            </a:pPr>
            <a:r>
              <a:rPr sz="1300" dirty="0">
                <a:solidFill>
                  <a:srgbClr val="262626"/>
                </a:solidFill>
                <a:latin typeface="Calibri"/>
              </a:rPr>
              <a:t>[10] M. A. Munawar and I. D. Sudirman, “LSTM-Based Hourly Sales Forecasting in SME Food and Beverage Retail,” 2026.</a:t>
            </a:r>
          </a:p>
          <a:p>
            <a:pPr>
              <a:lnSpc>
                <a:spcPct val="105000"/>
              </a:lnSpc>
              <a:spcAft>
                <a:spcPts val="900"/>
              </a:spcAft>
            </a:pPr>
            <a:r>
              <a:rPr sz="1300" dirty="0">
                <a:solidFill>
                  <a:srgbClr val="262626"/>
                </a:solidFill>
                <a:latin typeface="Calibri"/>
              </a:rPr>
              <a:t>[11] S. </a:t>
            </a:r>
            <a:r>
              <a:rPr sz="1300" dirty="0" err="1">
                <a:solidFill>
                  <a:srgbClr val="262626"/>
                </a:solidFill>
                <a:latin typeface="Calibri"/>
              </a:rPr>
              <a:t>Vyakarnam</a:t>
            </a:r>
            <a:r>
              <a:rPr sz="1300" dirty="0">
                <a:solidFill>
                  <a:srgbClr val="262626"/>
                </a:solidFill>
                <a:latin typeface="Calibri"/>
              </a:rPr>
              <a:t> et al., “Optimizing Supply Chain Management for Small and Medium-Sized Businesses Using AI: A Comparative Analysis of GPT-4.5, Grok 3, Gemini 2.0, and DeepSeek R-1,” SERA 2025, 2025.</a:t>
            </a:r>
          </a:p>
          <a:p>
            <a:pPr>
              <a:lnSpc>
                <a:spcPct val="105000"/>
              </a:lnSpc>
              <a:spcAft>
                <a:spcPts val="900"/>
              </a:spcAft>
            </a:pPr>
            <a:r>
              <a:rPr sz="1300" dirty="0">
                <a:solidFill>
                  <a:srgbClr val="262626"/>
                </a:solidFill>
                <a:latin typeface="Calibri"/>
              </a:rPr>
              <a:t>[12] </a:t>
            </a:r>
            <a:r>
              <a:rPr sz="1300" dirty="0" err="1">
                <a:solidFill>
                  <a:srgbClr val="262626"/>
                </a:solidFill>
                <a:latin typeface="Calibri"/>
              </a:rPr>
              <a:t>Yuniarty</a:t>
            </a:r>
            <a:r>
              <a:rPr sz="1300" dirty="0">
                <a:solidFill>
                  <a:srgbClr val="262626"/>
                </a:solidFill>
                <a:latin typeface="Calibri"/>
              </a:rPr>
              <a:t> et al., “Technology Acceptance and Security Influences on AI Adoption among Small and Medium Enterprises,” 2025.</a:t>
            </a:r>
          </a:p>
          <a:p>
            <a:pPr>
              <a:lnSpc>
                <a:spcPct val="105000"/>
              </a:lnSpc>
              <a:spcAft>
                <a:spcPts val="900"/>
              </a:spcAft>
            </a:pPr>
            <a:r>
              <a:rPr sz="1300" dirty="0">
                <a:solidFill>
                  <a:srgbClr val="262626"/>
                </a:solidFill>
                <a:latin typeface="Calibri"/>
              </a:rPr>
              <a:t>[13] T. Aree and P. </a:t>
            </a:r>
            <a:r>
              <a:rPr sz="1300" dirty="0" err="1">
                <a:solidFill>
                  <a:srgbClr val="262626"/>
                </a:solidFill>
                <a:latin typeface="Calibri"/>
              </a:rPr>
              <a:t>Ueasangkomsate</a:t>
            </a:r>
            <a:r>
              <a:rPr sz="1300" dirty="0">
                <a:solidFill>
                  <a:srgbClr val="262626"/>
                </a:solidFill>
                <a:latin typeface="Calibri"/>
              </a:rPr>
              <a:t>, “Technology Adoption of MSMEs in Food Supply Chain: The Role of AI in Traceability and Transparency,” 2025.</a:t>
            </a:r>
          </a:p>
        </p:txBody>
      </p:sp>
      <p:sp>
        <p:nvSpPr>
          <p:cNvPr id="10" name="TextBox 9">
            <a:extLst>
              <a:ext uri="{FF2B5EF4-FFF2-40B4-BE49-F238E27FC236}">
                <a16:creationId xmlns:a16="http://schemas.microsoft.com/office/drawing/2014/main" id="{31F141BA-F490-1354-C18F-BC93D7E4ACB6}"/>
              </a:ext>
            </a:extLst>
          </p:cNvPr>
          <p:cNvSpPr txBox="1"/>
          <p:nvPr/>
        </p:nvSpPr>
        <p:spPr>
          <a:xfrm>
            <a:off x="176041" y="6007782"/>
            <a:ext cx="7602220" cy="954107"/>
          </a:xfrm>
          <a:prstGeom prst="rect">
            <a:avLst/>
          </a:prstGeom>
          <a:noFill/>
        </p:spPr>
        <p:txBody>
          <a:bodyPr wrap="square">
            <a:spAutoFit/>
          </a:bodyPr>
          <a:lstStyle/>
          <a:p>
            <a:r>
              <a:rPr lang="en-IN" sz="1400" dirty="0">
                <a:solidFill>
                  <a:srgbClr val="C00000"/>
                </a:solidFill>
              </a:rPr>
              <a:t>Review paper submitted at :</a:t>
            </a:r>
          </a:p>
          <a:p>
            <a:r>
              <a:rPr lang="en-IN" sz="1400" dirty="0">
                <a:solidFill>
                  <a:srgbClr val="C00000"/>
                </a:solidFill>
              </a:rPr>
              <a:t>ICIMMI 2026 – 8</a:t>
            </a:r>
            <a:r>
              <a:rPr lang="en-IN" sz="1400" baseline="30000" dirty="0">
                <a:solidFill>
                  <a:srgbClr val="C00000"/>
                </a:solidFill>
              </a:rPr>
              <a:t>th</a:t>
            </a:r>
            <a:r>
              <a:rPr lang="en-IN" sz="1400" dirty="0">
                <a:solidFill>
                  <a:srgbClr val="C00000"/>
                </a:solidFill>
              </a:rPr>
              <a:t> International Conference on Information Management &amp; Machine Intelligence</a:t>
            </a:r>
            <a:br>
              <a:rPr lang="en-IN" sz="1400" dirty="0">
                <a:solidFill>
                  <a:srgbClr val="C00000"/>
                </a:solidFill>
              </a:rPr>
            </a:br>
            <a:r>
              <a:rPr lang="en-IN" sz="1400" dirty="0">
                <a:solidFill>
                  <a:srgbClr val="C00000"/>
                </a:solidFill>
              </a:rPr>
              <a:t>ICANET 2027 – International Conference on Artificial Intelligence and emerging Technologies</a:t>
            </a:r>
            <a:br>
              <a:rPr lang="en-IN" sz="1400" dirty="0">
                <a:solidFill>
                  <a:srgbClr val="C00000"/>
                </a:solidFill>
              </a:rPr>
            </a:br>
            <a:endParaRPr lang="en-IN" sz="1400" dirty="0">
              <a:solidFill>
                <a:srgbClr val="C00000"/>
              </a:solidFill>
            </a:endParaRPr>
          </a:p>
        </p:txBody>
      </p:sp>
    </p:spTree>
    <p:extLst>
      <p:ext uri="{BB962C8B-B14F-4D97-AF65-F5344CB8AC3E}">
        <p14:creationId xmlns:p14="http://schemas.microsoft.com/office/powerpoint/2010/main" val="362463451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509487-A311-520D-D565-A7D57124452D}"/>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76745D7B-C00A-35A9-0466-A7B294905FAF}"/>
              </a:ext>
            </a:extLst>
          </p:cNvPr>
          <p:cNvPicPr>
            <a:picLocks noChangeAspect="1"/>
          </p:cNvPicPr>
          <p:nvPr/>
        </p:nvPicPr>
        <p:blipFill rotWithShape="1">
          <a:blip r:embed="rId2">
            <a:extLst>
              <a:ext uri="{28A0092B-C50C-407E-A947-70E740481C1C}">
                <a14:useLocalDpi xmlns:a14="http://schemas.microsoft.com/office/drawing/2010/main" val="0"/>
              </a:ext>
            </a:extLst>
          </a:blip>
          <a:srcRect l="48363" r="-1" b="45098"/>
          <a:stretch/>
        </p:blipFill>
        <p:spPr>
          <a:xfrm>
            <a:off x="0" y="6750969"/>
            <a:ext cx="9906000" cy="131162"/>
          </a:xfrm>
          <a:prstGeom prst="rect">
            <a:avLst/>
          </a:prstGeom>
        </p:spPr>
      </p:pic>
      <p:pic>
        <p:nvPicPr>
          <p:cNvPr id="6" name="Picture 5">
            <a:extLst>
              <a:ext uri="{FF2B5EF4-FFF2-40B4-BE49-F238E27FC236}">
                <a16:creationId xmlns:a16="http://schemas.microsoft.com/office/drawing/2014/main" id="{6230B179-0DB1-4586-4842-CD278946AE09}"/>
              </a:ext>
            </a:extLst>
          </p:cNvPr>
          <p:cNvPicPr>
            <a:picLocks noChangeAspect="1"/>
          </p:cNvPicPr>
          <p:nvPr/>
        </p:nvPicPr>
        <p:blipFill rotWithShape="1">
          <a:blip r:embed="rId3"/>
          <a:srcRect b="6633"/>
          <a:stretch/>
        </p:blipFill>
        <p:spPr>
          <a:xfrm>
            <a:off x="0" y="0"/>
            <a:ext cx="3927231" cy="939765"/>
          </a:xfrm>
          <a:prstGeom prst="rect">
            <a:avLst/>
          </a:prstGeom>
        </p:spPr>
      </p:pic>
      <p:pic>
        <p:nvPicPr>
          <p:cNvPr id="7" name="Picture 6">
            <a:extLst>
              <a:ext uri="{FF2B5EF4-FFF2-40B4-BE49-F238E27FC236}">
                <a16:creationId xmlns:a16="http://schemas.microsoft.com/office/drawing/2014/main" id="{92C2F7DD-D9D9-08D4-06B5-CAAFF56556E0}"/>
              </a:ext>
            </a:extLst>
          </p:cNvPr>
          <p:cNvPicPr>
            <a:picLocks noChangeAspect="1"/>
          </p:cNvPicPr>
          <p:nvPr/>
        </p:nvPicPr>
        <p:blipFill rotWithShape="1">
          <a:blip r:embed="rId2">
            <a:extLst>
              <a:ext uri="{28A0092B-C50C-407E-A947-70E740481C1C}">
                <a14:useLocalDpi xmlns:a14="http://schemas.microsoft.com/office/drawing/2010/main" val="0"/>
              </a:ext>
            </a:extLst>
          </a:blip>
          <a:srcRect l="48363" r="-1" b="45098"/>
          <a:stretch/>
        </p:blipFill>
        <p:spPr>
          <a:xfrm>
            <a:off x="2637692" y="0"/>
            <a:ext cx="7268307" cy="525780"/>
          </a:xfrm>
          <a:prstGeom prst="rect">
            <a:avLst/>
          </a:prstGeom>
        </p:spPr>
      </p:pic>
      <p:sp>
        <p:nvSpPr>
          <p:cNvPr id="11" name="Rectangle 10">
            <a:extLst>
              <a:ext uri="{FF2B5EF4-FFF2-40B4-BE49-F238E27FC236}">
                <a16:creationId xmlns:a16="http://schemas.microsoft.com/office/drawing/2014/main" id="{E797B42B-420F-D5D4-8EF9-B67EB2A8A655}"/>
              </a:ext>
            </a:extLst>
          </p:cNvPr>
          <p:cNvSpPr/>
          <p:nvPr/>
        </p:nvSpPr>
        <p:spPr>
          <a:xfrm>
            <a:off x="1652953" y="107031"/>
            <a:ext cx="8253045" cy="336631"/>
          </a:xfrm>
          <a:prstGeom prst="rect">
            <a:avLst/>
          </a:prstGeom>
        </p:spPr>
        <p:txBody>
          <a:bodyPr wrap="square">
            <a:spAutoFit/>
          </a:bodyPr>
          <a:lstStyle/>
          <a:p>
            <a:pPr algn="ctr">
              <a:lnSpc>
                <a:spcPct val="107000"/>
              </a:lnSpc>
              <a:spcAft>
                <a:spcPts val="800"/>
              </a:spcAft>
            </a:pPr>
            <a:r>
              <a:rPr lang="en-IN" sz="1600" b="1" dirty="0">
                <a:solidFill>
                  <a:schemeClr val="bg1"/>
                </a:solidFill>
                <a:latin typeface="Cambria" panose="02040503050406030204" pitchFamily="18" charset="0"/>
              </a:rPr>
              <a:t>MUKESH PATEL SCHOOL OF TECHNOLOGY MANAGEMENT &amp; ENGINEERING, SHIRPUR</a:t>
            </a:r>
            <a:endParaRPr lang="en-US" sz="1600" b="1" dirty="0">
              <a:solidFill>
                <a:schemeClr val="bg1"/>
              </a:solidFill>
              <a:latin typeface="Cambria" panose="02040503050406030204" pitchFamily="18" charset="0"/>
            </a:endParaRPr>
          </a:p>
        </p:txBody>
      </p:sp>
      <p:sp>
        <p:nvSpPr>
          <p:cNvPr id="3" name="Slide Number Placeholder 2">
            <a:extLst>
              <a:ext uri="{FF2B5EF4-FFF2-40B4-BE49-F238E27FC236}">
                <a16:creationId xmlns:a16="http://schemas.microsoft.com/office/drawing/2014/main" id="{815C31CB-105C-C228-28EE-3B0DA9C42A5B}"/>
              </a:ext>
            </a:extLst>
          </p:cNvPr>
          <p:cNvSpPr>
            <a:spLocks noGrp="1"/>
          </p:cNvSpPr>
          <p:nvPr>
            <p:ph type="sldNum" sz="quarter" idx="12"/>
          </p:nvPr>
        </p:nvSpPr>
        <p:spPr/>
        <p:txBody>
          <a:bodyPr/>
          <a:lstStyle/>
          <a:p>
            <a:fld id="{9DC013F7-6D70-4318-BA41-212A9B59413B}" type="slidenum">
              <a:rPr lang="en-US" smtClean="0"/>
              <a:t>19</a:t>
            </a:fld>
            <a:endParaRPr lang="en-US" dirty="0"/>
          </a:p>
        </p:txBody>
      </p:sp>
      <p:sp>
        <p:nvSpPr>
          <p:cNvPr id="2" name="AutoShape 4" descr="Neural Networks Hyperparameter tuning in tensorflow 2.0 | by SiDdhartha |  ML Book | Medium">
            <a:extLst>
              <a:ext uri="{FF2B5EF4-FFF2-40B4-BE49-F238E27FC236}">
                <a16:creationId xmlns:a16="http://schemas.microsoft.com/office/drawing/2014/main" id="{CA5B0FEC-A4BD-1856-BC44-B0605F4DBEDB}"/>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8" name="Rectangle 7">
            <a:extLst>
              <a:ext uri="{FF2B5EF4-FFF2-40B4-BE49-F238E27FC236}">
                <a16:creationId xmlns:a16="http://schemas.microsoft.com/office/drawing/2014/main" id="{8995DAD4-C416-C5AB-DAB5-2B56D0D8166D}"/>
              </a:ext>
            </a:extLst>
          </p:cNvPr>
          <p:cNvSpPr/>
          <p:nvPr/>
        </p:nvSpPr>
        <p:spPr>
          <a:xfrm>
            <a:off x="222696" y="1000243"/>
            <a:ext cx="9418320" cy="523220"/>
          </a:xfrm>
          <a:prstGeom prst="rect">
            <a:avLst/>
          </a:prstGeom>
        </p:spPr>
        <p:txBody>
          <a:bodyPr wrap="square">
            <a:spAutoFit/>
          </a:bodyPr>
          <a:lstStyle/>
          <a:p>
            <a:pPr algn="ctr"/>
            <a:endParaRPr lang="en-US" sz="2800" b="1" dirty="0">
              <a:latin typeface="Teko SemiBold" panose="02000000000000000000" pitchFamily="2" charset="0"/>
              <a:cs typeface="Teko SemiBold" panose="02000000000000000000" pitchFamily="2" charset="0"/>
            </a:endParaRPr>
          </a:p>
        </p:txBody>
      </p:sp>
      <p:sp>
        <p:nvSpPr>
          <p:cNvPr id="5" name="Text 3">
            <a:extLst>
              <a:ext uri="{FF2B5EF4-FFF2-40B4-BE49-F238E27FC236}">
                <a16:creationId xmlns:a16="http://schemas.microsoft.com/office/drawing/2014/main" id="{F932BC5E-4777-C55C-CE76-65A834624D5C}"/>
              </a:ext>
            </a:extLst>
          </p:cNvPr>
          <p:cNvSpPr/>
          <p:nvPr/>
        </p:nvSpPr>
        <p:spPr>
          <a:xfrm>
            <a:off x="222696" y="1000243"/>
            <a:ext cx="9359542" cy="594360"/>
          </a:xfrm>
          <a:prstGeom prst="rect">
            <a:avLst/>
          </a:prstGeom>
          <a:noFill/>
          <a:ln/>
        </p:spPr>
        <p:txBody>
          <a:bodyPr wrap="square" lIns="0" tIns="0" rIns="0" bIns="0" rtlCol="0" anchor="ctr"/>
          <a:lstStyle/>
          <a:p>
            <a:pPr marL="0" indent="0" algn="l">
              <a:buNone/>
            </a:pPr>
            <a:r>
              <a:rPr lang="en-US" sz="2700" b="1" dirty="0">
                <a:solidFill>
                  <a:srgbClr val="BC312C"/>
                </a:solidFill>
                <a:latin typeface="Cambria" pitchFamily="34" charset="0"/>
                <a:ea typeface="Cambria" pitchFamily="34" charset="-122"/>
                <a:cs typeface="Cambria" pitchFamily="34" charset="-120"/>
              </a:rPr>
              <a:t>References (2/2)</a:t>
            </a:r>
            <a:endParaRPr lang="en-US" sz="2700" dirty="0"/>
          </a:p>
        </p:txBody>
      </p:sp>
      <p:sp>
        <p:nvSpPr>
          <p:cNvPr id="12" name="Shape 4">
            <a:extLst>
              <a:ext uri="{FF2B5EF4-FFF2-40B4-BE49-F238E27FC236}">
                <a16:creationId xmlns:a16="http://schemas.microsoft.com/office/drawing/2014/main" id="{C99C8616-AD1C-5FB0-2DC7-EA0F781717E9}"/>
              </a:ext>
            </a:extLst>
          </p:cNvPr>
          <p:cNvSpPr/>
          <p:nvPr/>
        </p:nvSpPr>
        <p:spPr>
          <a:xfrm flipV="1">
            <a:off x="157685" y="1565966"/>
            <a:ext cx="8781043" cy="11570"/>
          </a:xfrm>
          <a:prstGeom prst="line">
            <a:avLst/>
          </a:prstGeom>
          <a:noFill/>
          <a:ln w="12700">
            <a:solidFill>
              <a:srgbClr val="E0DAD8"/>
            </a:solidFill>
            <a:prstDash val="solid"/>
          </a:ln>
        </p:spPr>
      </p:sp>
      <p:sp>
        <p:nvSpPr>
          <p:cNvPr id="14" name="TextBox 13">
            <a:extLst>
              <a:ext uri="{FF2B5EF4-FFF2-40B4-BE49-F238E27FC236}">
                <a16:creationId xmlns:a16="http://schemas.microsoft.com/office/drawing/2014/main" id="{97BECDD1-200D-99FF-4276-3EA774324097}"/>
              </a:ext>
            </a:extLst>
          </p:cNvPr>
          <p:cNvSpPr txBox="1"/>
          <p:nvPr/>
        </p:nvSpPr>
        <p:spPr>
          <a:xfrm>
            <a:off x="222696" y="1703694"/>
            <a:ext cx="4506374" cy="4139531"/>
          </a:xfrm>
          <a:prstGeom prst="rect">
            <a:avLst/>
          </a:prstGeom>
          <a:noFill/>
        </p:spPr>
        <p:txBody>
          <a:bodyPr wrap="square" lIns="0" tIns="0" rIns="0" bIns="0">
            <a:spAutoFit/>
          </a:bodyPr>
          <a:lstStyle/>
          <a:p>
            <a:pPr>
              <a:lnSpc>
                <a:spcPct val="105000"/>
              </a:lnSpc>
              <a:spcAft>
                <a:spcPts val="900"/>
              </a:spcAft>
            </a:pPr>
            <a:r>
              <a:rPr sz="1300" dirty="0">
                <a:solidFill>
                  <a:srgbClr val="262626"/>
                </a:solidFill>
                <a:latin typeface="Calibri"/>
              </a:rPr>
              <a:t>[14] K. </a:t>
            </a:r>
            <a:r>
              <a:rPr sz="1300" dirty="0" err="1">
                <a:solidFill>
                  <a:srgbClr val="262626"/>
                </a:solidFill>
                <a:latin typeface="Calibri"/>
              </a:rPr>
              <a:t>Somjaipeng</a:t>
            </a:r>
            <a:r>
              <a:rPr sz="1300" dirty="0">
                <a:solidFill>
                  <a:srgbClr val="262626"/>
                </a:solidFill>
                <a:latin typeface="Calibri"/>
              </a:rPr>
              <a:t> and W. </a:t>
            </a:r>
            <a:r>
              <a:rPr sz="1300" dirty="0" err="1">
                <a:solidFill>
                  <a:srgbClr val="262626"/>
                </a:solidFill>
                <a:latin typeface="Calibri"/>
              </a:rPr>
              <a:t>Jitsakul</a:t>
            </a:r>
            <a:r>
              <a:rPr sz="1300" dirty="0">
                <a:solidFill>
                  <a:srgbClr val="262626"/>
                </a:solidFill>
                <a:latin typeface="Calibri"/>
              </a:rPr>
              <a:t>, “Factors influencing audit quality through the acceptance and use of AI by auditors in Thailand affiliated with SMEs audit firms,” 2026.</a:t>
            </a:r>
          </a:p>
          <a:p>
            <a:pPr>
              <a:lnSpc>
                <a:spcPct val="105000"/>
              </a:lnSpc>
              <a:spcAft>
                <a:spcPts val="900"/>
              </a:spcAft>
            </a:pPr>
            <a:r>
              <a:rPr sz="1300" dirty="0">
                <a:solidFill>
                  <a:srgbClr val="262626"/>
                </a:solidFill>
                <a:latin typeface="Calibri"/>
              </a:rPr>
              <a:t>[15] S. Srivastava et al., “Predictive Marketing and Sales Analytics Using Machine Learning for Small and Medium E-Commerce Enterprises,” 2026.</a:t>
            </a:r>
          </a:p>
          <a:p>
            <a:pPr>
              <a:lnSpc>
                <a:spcPct val="105000"/>
              </a:lnSpc>
              <a:spcAft>
                <a:spcPts val="900"/>
              </a:spcAft>
            </a:pPr>
            <a:r>
              <a:rPr sz="1300" dirty="0">
                <a:solidFill>
                  <a:srgbClr val="262626"/>
                </a:solidFill>
                <a:latin typeface="Calibri"/>
              </a:rPr>
              <a:t>[16] Lalitha R et al., “Enhanced Sales Forecasting of Perishable and Non-Perishable Goods Using Weather Data with Insights on Imports and Price Sensitivity,” 2025.</a:t>
            </a:r>
          </a:p>
          <a:p>
            <a:pPr>
              <a:lnSpc>
                <a:spcPct val="105000"/>
              </a:lnSpc>
              <a:spcAft>
                <a:spcPts val="900"/>
              </a:spcAft>
            </a:pPr>
            <a:r>
              <a:rPr sz="1300" dirty="0">
                <a:solidFill>
                  <a:srgbClr val="262626"/>
                </a:solidFill>
                <a:latin typeface="Calibri"/>
              </a:rPr>
              <a:t>[17] N. Jain et al., “Weather-Integrated Recommendations for Food Choices with SHAP Explanation,” 2024.</a:t>
            </a:r>
          </a:p>
          <a:p>
            <a:pPr>
              <a:lnSpc>
                <a:spcPct val="105000"/>
              </a:lnSpc>
              <a:spcAft>
                <a:spcPts val="900"/>
              </a:spcAft>
            </a:pPr>
            <a:r>
              <a:rPr sz="1300" dirty="0">
                <a:solidFill>
                  <a:srgbClr val="262626"/>
                </a:solidFill>
                <a:latin typeface="Calibri"/>
              </a:rPr>
              <a:t>[18] N. U. H. Qureshi et al., “Demand Forecasting in Supply Chain Management for Rossmann Stores using Weather Enhanced Deep Learning Model,” 2024.</a:t>
            </a:r>
          </a:p>
          <a:p>
            <a:pPr>
              <a:lnSpc>
                <a:spcPct val="105000"/>
              </a:lnSpc>
              <a:spcAft>
                <a:spcPts val="900"/>
              </a:spcAft>
            </a:pPr>
            <a:r>
              <a:rPr sz="1300" dirty="0">
                <a:solidFill>
                  <a:srgbClr val="262626"/>
                </a:solidFill>
                <a:latin typeface="Calibri"/>
              </a:rPr>
              <a:t>[19] I. </a:t>
            </a:r>
            <a:r>
              <a:rPr sz="1300" dirty="0" err="1">
                <a:solidFill>
                  <a:srgbClr val="262626"/>
                </a:solidFill>
                <a:latin typeface="Calibri"/>
              </a:rPr>
              <a:t>Rahmatillah</a:t>
            </a:r>
            <a:r>
              <a:rPr sz="1300" dirty="0">
                <a:solidFill>
                  <a:srgbClr val="262626"/>
                </a:solidFill>
                <a:latin typeface="Calibri"/>
              </a:rPr>
              <a:t>, </a:t>
            </a:r>
            <a:r>
              <a:rPr sz="1300" dirty="0" err="1">
                <a:solidFill>
                  <a:srgbClr val="262626"/>
                </a:solidFill>
                <a:latin typeface="Calibri"/>
              </a:rPr>
              <a:t>Herwanto</a:t>
            </a:r>
            <a:r>
              <a:rPr sz="1300" dirty="0">
                <a:solidFill>
                  <a:srgbClr val="262626"/>
                </a:solidFill>
                <a:latin typeface="Calibri"/>
              </a:rPr>
              <a:t>, and Sudirman, “Evaluation of Optimized LSTM and Moving Average in SME Inventory Forecasting and Simulation,” 2026.</a:t>
            </a:r>
          </a:p>
        </p:txBody>
      </p:sp>
      <p:sp>
        <p:nvSpPr>
          <p:cNvPr id="16" name="TextBox 15">
            <a:extLst>
              <a:ext uri="{FF2B5EF4-FFF2-40B4-BE49-F238E27FC236}">
                <a16:creationId xmlns:a16="http://schemas.microsoft.com/office/drawing/2014/main" id="{446562A5-FDB0-D14B-BEC4-1623355CF2AB}"/>
              </a:ext>
            </a:extLst>
          </p:cNvPr>
          <p:cNvSpPr txBox="1"/>
          <p:nvPr/>
        </p:nvSpPr>
        <p:spPr>
          <a:xfrm>
            <a:off x="5207795" y="1626312"/>
            <a:ext cx="4433221" cy="4139531"/>
          </a:xfrm>
          <a:prstGeom prst="rect">
            <a:avLst/>
          </a:prstGeom>
          <a:noFill/>
        </p:spPr>
        <p:txBody>
          <a:bodyPr wrap="square" lIns="0" tIns="0" rIns="0" bIns="0">
            <a:spAutoFit/>
          </a:bodyPr>
          <a:lstStyle/>
          <a:p>
            <a:pPr>
              <a:lnSpc>
                <a:spcPct val="105000"/>
              </a:lnSpc>
              <a:spcAft>
                <a:spcPts val="900"/>
              </a:spcAft>
            </a:pPr>
            <a:r>
              <a:rPr sz="1300" dirty="0">
                <a:solidFill>
                  <a:srgbClr val="262626"/>
                </a:solidFill>
                <a:latin typeface="Calibri"/>
              </a:rPr>
              <a:t>[20] M. Cherian et al., “Demand Forecasting System for Small Business Optimization,” 5th International Conference on Intelligent Technologies, 2025.</a:t>
            </a:r>
          </a:p>
          <a:p>
            <a:pPr>
              <a:lnSpc>
                <a:spcPct val="105000"/>
              </a:lnSpc>
              <a:spcAft>
                <a:spcPts val="900"/>
              </a:spcAft>
            </a:pPr>
            <a:r>
              <a:rPr sz="1300" dirty="0">
                <a:solidFill>
                  <a:srgbClr val="262626"/>
                </a:solidFill>
                <a:latin typeface="Calibri"/>
              </a:rPr>
              <a:t>[21] M. Padmavathy et al., “AI-Driven Predictive Analytics for Sustainable Restaurant Operations and Waste Minimization,” 2025.</a:t>
            </a:r>
          </a:p>
          <a:p>
            <a:pPr>
              <a:lnSpc>
                <a:spcPct val="105000"/>
              </a:lnSpc>
              <a:spcAft>
                <a:spcPts val="900"/>
              </a:spcAft>
            </a:pPr>
            <a:r>
              <a:rPr sz="1300" dirty="0">
                <a:solidFill>
                  <a:srgbClr val="262626"/>
                </a:solidFill>
                <a:latin typeface="Calibri"/>
              </a:rPr>
              <a:t>[22] K. </a:t>
            </a:r>
            <a:r>
              <a:rPr sz="1300" dirty="0" err="1">
                <a:solidFill>
                  <a:srgbClr val="262626"/>
                </a:solidFill>
                <a:latin typeface="Calibri"/>
              </a:rPr>
              <a:t>Avuduri</a:t>
            </a:r>
            <a:r>
              <a:rPr sz="1300" dirty="0">
                <a:solidFill>
                  <a:srgbClr val="262626"/>
                </a:solidFill>
                <a:latin typeface="Calibri"/>
              </a:rPr>
              <a:t> and M. L. V, “Smart Stock: Automating Inventory Management for Small Warehouses with Real-Time Intelligence,” 2025.</a:t>
            </a:r>
          </a:p>
          <a:p>
            <a:pPr>
              <a:lnSpc>
                <a:spcPct val="105000"/>
              </a:lnSpc>
              <a:spcAft>
                <a:spcPts val="900"/>
              </a:spcAft>
            </a:pPr>
            <a:r>
              <a:rPr sz="1300" dirty="0">
                <a:solidFill>
                  <a:srgbClr val="262626"/>
                </a:solidFill>
                <a:latin typeface="Calibri"/>
              </a:rPr>
              <a:t>[23] S. Chowdhury, S. Swetha, and P. Prasad, “Predictive Analytics in Food Supply Chain and Waste Management,” 2025.</a:t>
            </a:r>
          </a:p>
          <a:p>
            <a:pPr>
              <a:lnSpc>
                <a:spcPct val="105000"/>
              </a:lnSpc>
              <a:spcAft>
                <a:spcPts val="900"/>
              </a:spcAft>
            </a:pPr>
            <a:r>
              <a:rPr sz="1300" dirty="0">
                <a:solidFill>
                  <a:srgbClr val="262626"/>
                </a:solidFill>
                <a:latin typeface="Calibri"/>
              </a:rPr>
              <a:t>[24] G. Sakuda, J. Leon, and R. Rojas, “Mobile Application for the Intelligent Management of Small Shops Using the GPT-4 Model,” 2024.</a:t>
            </a:r>
          </a:p>
          <a:p>
            <a:pPr>
              <a:lnSpc>
                <a:spcPct val="105000"/>
              </a:lnSpc>
              <a:spcAft>
                <a:spcPts val="900"/>
              </a:spcAft>
            </a:pPr>
            <a:r>
              <a:rPr sz="1300" dirty="0">
                <a:solidFill>
                  <a:srgbClr val="262626"/>
                </a:solidFill>
                <a:latin typeface="Calibri"/>
              </a:rPr>
              <a:t>[25] T. </a:t>
            </a:r>
            <a:r>
              <a:rPr sz="1300" dirty="0" err="1">
                <a:solidFill>
                  <a:srgbClr val="262626"/>
                </a:solidFill>
                <a:latin typeface="Calibri"/>
              </a:rPr>
              <a:t>Janchidfah</a:t>
            </a:r>
            <a:r>
              <a:rPr sz="1300" dirty="0">
                <a:solidFill>
                  <a:srgbClr val="262626"/>
                </a:solidFill>
                <a:latin typeface="Calibri"/>
              </a:rPr>
              <a:t> et al., “A Mobile Application for Inventory Management to Support Digital Transformation in Small Retail Businesses,” 2026.</a:t>
            </a:r>
          </a:p>
        </p:txBody>
      </p:sp>
    </p:spTree>
    <p:extLst>
      <p:ext uri="{BB962C8B-B14F-4D97-AF65-F5344CB8AC3E}">
        <p14:creationId xmlns:p14="http://schemas.microsoft.com/office/powerpoint/2010/main" val="391017497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7BD7FB-2B22-C9FA-FA11-E3687F4D17BA}"/>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6252E175-6CED-BC31-C596-1815A3067DA8}"/>
              </a:ext>
            </a:extLst>
          </p:cNvPr>
          <p:cNvPicPr>
            <a:picLocks noChangeAspect="1"/>
          </p:cNvPicPr>
          <p:nvPr/>
        </p:nvPicPr>
        <p:blipFill rotWithShape="1">
          <a:blip r:embed="rId2">
            <a:extLst>
              <a:ext uri="{28A0092B-C50C-407E-A947-70E740481C1C}">
                <a14:useLocalDpi xmlns:a14="http://schemas.microsoft.com/office/drawing/2010/main" val="0"/>
              </a:ext>
            </a:extLst>
          </a:blip>
          <a:srcRect l="48363" r="-1" b="45098"/>
          <a:stretch/>
        </p:blipFill>
        <p:spPr>
          <a:xfrm>
            <a:off x="0" y="6750969"/>
            <a:ext cx="9906000" cy="131162"/>
          </a:xfrm>
          <a:prstGeom prst="rect">
            <a:avLst/>
          </a:prstGeom>
        </p:spPr>
      </p:pic>
      <p:pic>
        <p:nvPicPr>
          <p:cNvPr id="6" name="Picture 5">
            <a:extLst>
              <a:ext uri="{FF2B5EF4-FFF2-40B4-BE49-F238E27FC236}">
                <a16:creationId xmlns:a16="http://schemas.microsoft.com/office/drawing/2014/main" id="{F58FA1E1-3FC5-2FD6-0AB3-B385EDC82F62}"/>
              </a:ext>
            </a:extLst>
          </p:cNvPr>
          <p:cNvPicPr>
            <a:picLocks noChangeAspect="1"/>
          </p:cNvPicPr>
          <p:nvPr/>
        </p:nvPicPr>
        <p:blipFill rotWithShape="1">
          <a:blip r:embed="rId3"/>
          <a:srcRect b="6633"/>
          <a:stretch/>
        </p:blipFill>
        <p:spPr>
          <a:xfrm>
            <a:off x="0" y="0"/>
            <a:ext cx="3927231" cy="939765"/>
          </a:xfrm>
          <a:prstGeom prst="rect">
            <a:avLst/>
          </a:prstGeom>
        </p:spPr>
      </p:pic>
      <p:pic>
        <p:nvPicPr>
          <p:cNvPr id="7" name="Picture 6">
            <a:extLst>
              <a:ext uri="{FF2B5EF4-FFF2-40B4-BE49-F238E27FC236}">
                <a16:creationId xmlns:a16="http://schemas.microsoft.com/office/drawing/2014/main" id="{AC721274-7357-D25E-82FD-677F69CBF064}"/>
              </a:ext>
            </a:extLst>
          </p:cNvPr>
          <p:cNvPicPr>
            <a:picLocks noChangeAspect="1"/>
          </p:cNvPicPr>
          <p:nvPr/>
        </p:nvPicPr>
        <p:blipFill rotWithShape="1">
          <a:blip r:embed="rId2">
            <a:extLst>
              <a:ext uri="{28A0092B-C50C-407E-A947-70E740481C1C}">
                <a14:useLocalDpi xmlns:a14="http://schemas.microsoft.com/office/drawing/2010/main" val="0"/>
              </a:ext>
            </a:extLst>
          </a:blip>
          <a:srcRect l="48363" r="-1" b="45098"/>
          <a:stretch/>
        </p:blipFill>
        <p:spPr>
          <a:xfrm>
            <a:off x="2637692" y="0"/>
            <a:ext cx="7268307" cy="525780"/>
          </a:xfrm>
          <a:prstGeom prst="rect">
            <a:avLst/>
          </a:prstGeom>
        </p:spPr>
      </p:pic>
      <p:sp>
        <p:nvSpPr>
          <p:cNvPr id="11" name="Rectangle 10">
            <a:extLst>
              <a:ext uri="{FF2B5EF4-FFF2-40B4-BE49-F238E27FC236}">
                <a16:creationId xmlns:a16="http://schemas.microsoft.com/office/drawing/2014/main" id="{7CA16063-0F93-ED14-DCEF-95480895A405}"/>
              </a:ext>
            </a:extLst>
          </p:cNvPr>
          <p:cNvSpPr/>
          <p:nvPr/>
        </p:nvSpPr>
        <p:spPr>
          <a:xfrm>
            <a:off x="1652953" y="107031"/>
            <a:ext cx="8253045" cy="336631"/>
          </a:xfrm>
          <a:prstGeom prst="rect">
            <a:avLst/>
          </a:prstGeom>
        </p:spPr>
        <p:txBody>
          <a:bodyPr wrap="square">
            <a:spAutoFit/>
          </a:bodyPr>
          <a:lstStyle/>
          <a:p>
            <a:pPr algn="ctr">
              <a:lnSpc>
                <a:spcPct val="107000"/>
              </a:lnSpc>
              <a:spcAft>
                <a:spcPts val="800"/>
              </a:spcAft>
            </a:pPr>
            <a:r>
              <a:rPr lang="en-IN" sz="1600" b="1" dirty="0">
                <a:solidFill>
                  <a:schemeClr val="bg1"/>
                </a:solidFill>
                <a:latin typeface="Cambria" panose="02040503050406030204" pitchFamily="18" charset="0"/>
              </a:rPr>
              <a:t>MUKESH PATEL SCHOOL OF TECHNOLOGY MANAGEMENT &amp; ENGINEERING, SHIRPUR</a:t>
            </a:r>
            <a:endParaRPr lang="en-US" sz="1600" b="1" dirty="0">
              <a:solidFill>
                <a:schemeClr val="bg1"/>
              </a:solidFill>
              <a:latin typeface="Cambria" panose="02040503050406030204" pitchFamily="18" charset="0"/>
            </a:endParaRPr>
          </a:p>
        </p:txBody>
      </p:sp>
      <p:sp>
        <p:nvSpPr>
          <p:cNvPr id="3" name="Slide Number Placeholder 2">
            <a:extLst>
              <a:ext uri="{FF2B5EF4-FFF2-40B4-BE49-F238E27FC236}">
                <a16:creationId xmlns:a16="http://schemas.microsoft.com/office/drawing/2014/main" id="{B002F201-32C0-DF53-8399-46A10BDF8CCA}"/>
              </a:ext>
            </a:extLst>
          </p:cNvPr>
          <p:cNvSpPr>
            <a:spLocks noGrp="1"/>
          </p:cNvSpPr>
          <p:nvPr>
            <p:ph type="sldNum" sz="quarter" idx="12"/>
          </p:nvPr>
        </p:nvSpPr>
        <p:spPr/>
        <p:txBody>
          <a:bodyPr/>
          <a:lstStyle/>
          <a:p>
            <a:fld id="{9DC013F7-6D70-4318-BA41-212A9B59413B}" type="slidenum">
              <a:rPr lang="en-US" smtClean="0"/>
              <a:t>20</a:t>
            </a:fld>
            <a:endParaRPr lang="en-US" dirty="0"/>
          </a:p>
        </p:txBody>
      </p:sp>
      <p:sp>
        <p:nvSpPr>
          <p:cNvPr id="2" name="AutoShape 4" descr="Neural Networks Hyperparameter tuning in tensorflow 2.0 | by SiDdhartha |  ML Book | Medium">
            <a:extLst>
              <a:ext uri="{FF2B5EF4-FFF2-40B4-BE49-F238E27FC236}">
                <a16:creationId xmlns:a16="http://schemas.microsoft.com/office/drawing/2014/main" id="{7131B66C-4AA1-0F49-8C17-552C01ED9334}"/>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8" name="Rectangle 7">
            <a:extLst>
              <a:ext uri="{FF2B5EF4-FFF2-40B4-BE49-F238E27FC236}">
                <a16:creationId xmlns:a16="http://schemas.microsoft.com/office/drawing/2014/main" id="{BB9D12C0-2B1D-DD79-C784-6E764CA48022}"/>
              </a:ext>
            </a:extLst>
          </p:cNvPr>
          <p:cNvSpPr/>
          <p:nvPr/>
        </p:nvSpPr>
        <p:spPr>
          <a:xfrm>
            <a:off x="176041" y="1165290"/>
            <a:ext cx="9418320" cy="523220"/>
          </a:xfrm>
          <a:prstGeom prst="rect">
            <a:avLst/>
          </a:prstGeom>
        </p:spPr>
        <p:txBody>
          <a:bodyPr wrap="square">
            <a:spAutoFit/>
          </a:bodyPr>
          <a:lstStyle/>
          <a:p>
            <a:pPr algn="ctr"/>
            <a:endParaRPr lang="en-US" sz="2800" b="1" dirty="0">
              <a:latin typeface="Teko SemiBold" panose="02000000000000000000" pitchFamily="2" charset="0"/>
              <a:cs typeface="Teko SemiBold" panose="02000000000000000000" pitchFamily="2" charset="0"/>
            </a:endParaRPr>
          </a:p>
        </p:txBody>
      </p:sp>
      <p:sp>
        <p:nvSpPr>
          <p:cNvPr id="10" name="Google Shape;203;g22f13355470_0_53">
            <a:extLst>
              <a:ext uri="{FF2B5EF4-FFF2-40B4-BE49-F238E27FC236}">
                <a16:creationId xmlns:a16="http://schemas.microsoft.com/office/drawing/2014/main" id="{8A9D94C2-3C6F-8E28-5CB9-B8C332048D91}"/>
              </a:ext>
            </a:extLst>
          </p:cNvPr>
          <p:cNvSpPr txBox="1">
            <a:spLocks/>
          </p:cNvSpPr>
          <p:nvPr/>
        </p:nvSpPr>
        <p:spPr>
          <a:xfrm flipH="1">
            <a:off x="770401" y="1646812"/>
            <a:ext cx="8229600" cy="3648364"/>
          </a:xfrm>
          <a:prstGeom prst="rect">
            <a:avLst/>
          </a:prstGeom>
        </p:spPr>
        <p:txBody>
          <a:bodyPr spcFirstLastPara="1" vert="horz" wrap="square" lIns="91425" tIns="45700" rIns="91425" bIns="45700" rtlCol="0" anchor="ctr" anchorCtr="0">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Bef>
                <a:spcPts val="0"/>
              </a:spcBef>
            </a:pPr>
            <a:r>
              <a:rPr lang="en-IN" sz="4400" b="1" dirty="0">
                <a:latin typeface="Times New Roman" panose="02020603050405020304" pitchFamily="18" charset="0"/>
                <a:cs typeface="Times New Roman" panose="02020603050405020304" pitchFamily="18" charset="0"/>
              </a:rPr>
              <a:t>THANK YOU</a:t>
            </a:r>
          </a:p>
        </p:txBody>
      </p:sp>
    </p:spTree>
    <p:extLst>
      <p:ext uri="{BB962C8B-B14F-4D97-AF65-F5344CB8AC3E}">
        <p14:creationId xmlns:p14="http://schemas.microsoft.com/office/powerpoint/2010/main" val="1016573135"/>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2067</TotalTime>
  <Words>2539</Words>
  <Application>Microsoft Office PowerPoint</Application>
  <PresentationFormat>A4 Paper (210x297 mm)</PresentationFormat>
  <Paragraphs>354</Paragraphs>
  <Slides>20</Slides>
  <Notes>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20</vt:i4>
      </vt:variant>
    </vt:vector>
  </HeadingPairs>
  <TitlesOfParts>
    <vt:vector size="29" baseType="lpstr">
      <vt:lpstr>Arial</vt:lpstr>
      <vt:lpstr>Book Antiqua</vt:lpstr>
      <vt:lpstr>Calibri</vt:lpstr>
      <vt:lpstr>Calibri Light</vt:lpstr>
      <vt:lpstr>Cambria</vt:lpstr>
      <vt:lpstr>Georgia</vt:lpstr>
      <vt:lpstr>Teko SemiBold</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Harshal Kotwal</dc:creator>
  <cp:lastModifiedBy>YATIN PATIL</cp:lastModifiedBy>
  <cp:revision>342</cp:revision>
  <cp:lastPrinted>2021-08-30T13:16:05Z</cp:lastPrinted>
  <dcterms:created xsi:type="dcterms:W3CDTF">2021-01-07T05:11:47Z</dcterms:created>
  <dcterms:modified xsi:type="dcterms:W3CDTF">2026-09-12T08:36:36Z</dcterms:modified>
</cp:coreProperties>
</file>