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906000" cy="6858000" type="A4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2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299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5970" cy="658368"/>
          </a:xfrm>
          <a:prstGeom prst="rect">
            <a:avLst/>
          </a:prstGeom>
          <a:solidFill>
            <a:srgbClr val="C62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3172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" y="18288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NMIMS LOGO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0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MUKESH PATEL SCHOOL OF TECHNOLOGY MANAGEMENT &amp; ENGINEERING, SHIRPUR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9905970" cy="73152"/>
          </a:xfrm>
          <a:prstGeom prst="rect">
            <a:avLst/>
          </a:prstGeom>
          <a:solidFill>
            <a:srgbClr val="C628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1832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B3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 Analysis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371600" cy="36576"/>
          </a:xfrm>
          <a:prstGeom prst="rect">
            <a:avLst/>
          </a:prstGeom>
          <a:solidFill>
            <a:srgbClr val="C62829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1325880"/>
            <a:ext cx="7772400" cy="914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3B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Object-Oriented Analysis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2926080" cy="4389120"/>
          </a:xfrm>
          <a:prstGeom prst="rect">
            <a:avLst/>
          </a:prstGeom>
          <a:solidFill>
            <a:srgbClr val="2E3B7D"/>
          </a:solidFill>
          <a:ln/>
          <a:effectLst>
            <a:outerShdw blurRad="63500" dist="38100" dir="2700000" algn="bl" rotWithShape="0">
              <a:srgbClr val="666666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88720" y="2468880"/>
            <a:ext cx="1280160" cy="128016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26060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3566160"/>
            <a:ext cx="146304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389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A9B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ACTOR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Owner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" y="5284858"/>
            <a:ext cx="2560320" cy="8229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349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food-business owner (e.g., cafe, bakery, or independent restaurant). Requires simple, actionable insights without deep technical expertise.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1920240"/>
            <a:ext cx="58826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B3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Requirements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57600" y="2286000"/>
            <a:ext cx="58826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should allow the owner to securely and easily: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0" y="2743200"/>
            <a:ext cx="2849865" cy="594360"/>
          </a:xfrm>
          <a:prstGeom prst="rect">
            <a:avLst/>
          </a:prstGeom>
          <a:solidFill>
            <a:srgbClr val="F7F5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2743200"/>
            <a:ext cx="73152" cy="59436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24" name="Shape 22"/>
          <p:cNvSpPr/>
          <p:nvPr/>
        </p:nvSpPr>
        <p:spPr>
          <a:xfrm>
            <a:off x="3794760" y="2994660"/>
            <a:ext cx="91440" cy="91440"/>
          </a:xfrm>
          <a:prstGeom prst="ellipse">
            <a:avLst/>
          </a:prstGeom>
          <a:solidFill>
            <a:srgbClr val="BB302C"/>
          </a:solidFill>
          <a:ln/>
        </p:spPr>
      </p:sp>
      <p:sp>
        <p:nvSpPr>
          <p:cNvPr id="25" name="Text 23"/>
          <p:cNvSpPr/>
          <p:nvPr/>
        </p:nvSpPr>
        <p:spPr>
          <a:xfrm>
            <a:off x="3977640" y="2788920"/>
            <a:ext cx="248410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and log in securely.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90345" y="2743200"/>
            <a:ext cx="2849865" cy="594360"/>
          </a:xfrm>
          <a:prstGeom prst="rect">
            <a:avLst/>
          </a:prstGeom>
          <a:solidFill>
            <a:srgbClr val="F7F5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90345" y="2743200"/>
            <a:ext cx="73152" cy="59436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28" name="Shape 26"/>
          <p:cNvSpPr/>
          <p:nvPr/>
        </p:nvSpPr>
        <p:spPr>
          <a:xfrm>
            <a:off x="6827505" y="2994660"/>
            <a:ext cx="91440" cy="91440"/>
          </a:xfrm>
          <a:prstGeom prst="ellipse">
            <a:avLst/>
          </a:prstGeom>
          <a:solidFill>
            <a:srgbClr val="BB302C"/>
          </a:solidFill>
          <a:ln/>
        </p:spPr>
      </p:sp>
      <p:sp>
        <p:nvSpPr>
          <p:cNvPr id="29" name="Text 27"/>
          <p:cNvSpPr/>
          <p:nvPr/>
        </p:nvSpPr>
        <p:spPr>
          <a:xfrm>
            <a:off x="7010385" y="2788920"/>
            <a:ext cx="248410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and manage shop information.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3474720"/>
            <a:ext cx="2849865" cy="594360"/>
          </a:xfrm>
          <a:prstGeom prst="rect">
            <a:avLst/>
          </a:prstGeom>
          <a:solidFill>
            <a:srgbClr val="F7F5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3474720"/>
            <a:ext cx="73152" cy="59436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32" name="Shape 30"/>
          <p:cNvSpPr/>
          <p:nvPr/>
        </p:nvSpPr>
        <p:spPr>
          <a:xfrm>
            <a:off x="3794760" y="3726180"/>
            <a:ext cx="91440" cy="91440"/>
          </a:xfrm>
          <a:prstGeom prst="ellipse">
            <a:avLst/>
          </a:prstGeom>
          <a:solidFill>
            <a:srgbClr val="BB302C"/>
          </a:solidFill>
          <a:ln/>
        </p:spPr>
      </p:sp>
      <p:sp>
        <p:nvSpPr>
          <p:cNvPr id="33" name="Text 31"/>
          <p:cNvSpPr/>
          <p:nvPr/>
        </p:nvSpPr>
        <p:spPr>
          <a:xfrm>
            <a:off x="3977640" y="3520440"/>
            <a:ext cx="248410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Upload/enter historical sales data.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90345" y="3474720"/>
            <a:ext cx="2849865" cy="594360"/>
          </a:xfrm>
          <a:prstGeom prst="rect">
            <a:avLst/>
          </a:prstGeom>
          <a:solidFill>
            <a:srgbClr val="F7F5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90345" y="3474720"/>
            <a:ext cx="73152" cy="59436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36" name="Shape 34"/>
          <p:cNvSpPr/>
          <p:nvPr/>
        </p:nvSpPr>
        <p:spPr>
          <a:xfrm>
            <a:off x="6827505" y="3726180"/>
            <a:ext cx="91440" cy="91440"/>
          </a:xfrm>
          <a:prstGeom prst="ellipse">
            <a:avLst/>
          </a:prstGeom>
          <a:solidFill>
            <a:srgbClr val="BB302C"/>
          </a:solidFill>
          <a:ln/>
        </p:spPr>
      </p:sp>
      <p:sp>
        <p:nvSpPr>
          <p:cNvPr id="37" name="Text 35"/>
          <p:cNvSpPr/>
          <p:nvPr/>
        </p:nvSpPr>
        <p:spPr>
          <a:xfrm>
            <a:off x="7010385" y="3520440"/>
            <a:ext cx="248410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Maintain current inventory records.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0" y="4206240"/>
            <a:ext cx="2849865" cy="594360"/>
          </a:xfrm>
          <a:prstGeom prst="rect">
            <a:avLst/>
          </a:prstGeom>
          <a:solidFill>
            <a:srgbClr val="F7F5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0" y="4206240"/>
            <a:ext cx="73152" cy="59436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40" name="Shape 38"/>
          <p:cNvSpPr/>
          <p:nvPr/>
        </p:nvSpPr>
        <p:spPr>
          <a:xfrm>
            <a:off x="3794760" y="4457700"/>
            <a:ext cx="91440" cy="91440"/>
          </a:xfrm>
          <a:prstGeom prst="ellipse">
            <a:avLst/>
          </a:prstGeom>
          <a:solidFill>
            <a:srgbClr val="BB302C"/>
          </a:solidFill>
          <a:ln/>
        </p:spPr>
      </p:sp>
      <p:sp>
        <p:nvSpPr>
          <p:cNvPr id="41" name="Text 39"/>
          <p:cNvSpPr/>
          <p:nvPr/>
        </p:nvSpPr>
        <p:spPr>
          <a:xfrm>
            <a:off x="3977640" y="4251960"/>
            <a:ext cx="248410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specific food items for tracking.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690345" y="4206240"/>
            <a:ext cx="2849865" cy="594360"/>
          </a:xfrm>
          <a:prstGeom prst="rect">
            <a:avLst/>
          </a:prstGeom>
          <a:solidFill>
            <a:srgbClr val="F7F5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90345" y="4206240"/>
            <a:ext cx="73152" cy="59436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44" name="Shape 42"/>
          <p:cNvSpPr/>
          <p:nvPr/>
        </p:nvSpPr>
        <p:spPr>
          <a:xfrm>
            <a:off x="6827505" y="4457700"/>
            <a:ext cx="91440" cy="91440"/>
          </a:xfrm>
          <a:prstGeom prst="ellipse">
            <a:avLst/>
          </a:prstGeom>
          <a:solidFill>
            <a:srgbClr val="BB302C"/>
          </a:solidFill>
          <a:ln/>
        </p:spPr>
      </p:sp>
      <p:sp>
        <p:nvSpPr>
          <p:cNvPr id="45" name="Text 43"/>
          <p:cNvSpPr/>
          <p:nvPr/>
        </p:nvSpPr>
        <p:spPr>
          <a:xfrm>
            <a:off x="7010385" y="4251960"/>
            <a:ext cx="248410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item-level demand forecasts.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0" y="4937760"/>
            <a:ext cx="2849865" cy="594360"/>
          </a:xfrm>
          <a:prstGeom prst="rect">
            <a:avLst/>
          </a:prstGeom>
          <a:solidFill>
            <a:srgbClr val="F7F5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0" y="4937760"/>
            <a:ext cx="73152" cy="59436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48" name="Shape 46"/>
          <p:cNvSpPr/>
          <p:nvPr/>
        </p:nvSpPr>
        <p:spPr>
          <a:xfrm>
            <a:off x="3794760" y="5189220"/>
            <a:ext cx="91440" cy="91440"/>
          </a:xfrm>
          <a:prstGeom prst="ellipse">
            <a:avLst/>
          </a:prstGeom>
          <a:solidFill>
            <a:srgbClr val="BB302C"/>
          </a:solidFill>
          <a:ln/>
        </p:spPr>
      </p:sp>
      <p:sp>
        <p:nvSpPr>
          <p:cNvPr id="49" name="Text 47"/>
          <p:cNvSpPr/>
          <p:nvPr/>
        </p:nvSpPr>
        <p:spPr>
          <a:xfrm>
            <a:off x="3977640" y="4983480"/>
            <a:ext cx="248410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predicted demand visually.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690345" y="4937760"/>
            <a:ext cx="2849865" cy="594360"/>
          </a:xfrm>
          <a:prstGeom prst="rect">
            <a:avLst/>
          </a:prstGeom>
          <a:solidFill>
            <a:srgbClr val="F7F5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90345" y="4937760"/>
            <a:ext cx="73152" cy="59436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52" name="Shape 50"/>
          <p:cNvSpPr/>
          <p:nvPr/>
        </p:nvSpPr>
        <p:spPr>
          <a:xfrm>
            <a:off x="6827505" y="5189220"/>
            <a:ext cx="91440" cy="91440"/>
          </a:xfrm>
          <a:prstGeom prst="ellipse">
            <a:avLst/>
          </a:prstGeom>
          <a:solidFill>
            <a:srgbClr val="BB302C"/>
          </a:solidFill>
          <a:ln/>
        </p:spPr>
      </p:sp>
      <p:sp>
        <p:nvSpPr>
          <p:cNvPr id="53" name="Text 51"/>
          <p:cNvSpPr/>
          <p:nvPr/>
        </p:nvSpPr>
        <p:spPr>
          <a:xfrm>
            <a:off x="7010385" y="4983480"/>
            <a:ext cx="248410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 daily restock recommendations.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57600" y="5669280"/>
            <a:ext cx="2849865" cy="594360"/>
          </a:xfrm>
          <a:prstGeom prst="rect">
            <a:avLst/>
          </a:prstGeom>
          <a:solidFill>
            <a:srgbClr val="F7F5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0" y="5669280"/>
            <a:ext cx="73152" cy="59436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56" name="Shape 54"/>
          <p:cNvSpPr/>
          <p:nvPr/>
        </p:nvSpPr>
        <p:spPr>
          <a:xfrm>
            <a:off x="3794760" y="5920740"/>
            <a:ext cx="91440" cy="91440"/>
          </a:xfrm>
          <a:prstGeom prst="ellipse">
            <a:avLst/>
          </a:prstGeom>
          <a:solidFill>
            <a:srgbClr val="BB302C"/>
          </a:solidFill>
          <a:ln/>
        </p:spPr>
      </p:sp>
      <p:sp>
        <p:nvSpPr>
          <p:cNvPr id="57" name="Text 55"/>
          <p:cNvSpPr/>
          <p:nvPr/>
        </p:nvSpPr>
        <p:spPr>
          <a:xfrm>
            <a:off x="3977640" y="5715000"/>
            <a:ext cx="248410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plain-language explanations of forecasts.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690345" y="5669280"/>
            <a:ext cx="2849865" cy="594360"/>
          </a:xfrm>
          <a:prstGeom prst="rect">
            <a:avLst/>
          </a:prstGeom>
          <a:solidFill>
            <a:srgbClr val="F7F5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90345" y="5669280"/>
            <a:ext cx="73152" cy="59436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60" name="Shape 58"/>
          <p:cNvSpPr/>
          <p:nvPr/>
        </p:nvSpPr>
        <p:spPr>
          <a:xfrm>
            <a:off x="6827505" y="5920740"/>
            <a:ext cx="91440" cy="91440"/>
          </a:xfrm>
          <a:prstGeom prst="ellipse">
            <a:avLst/>
          </a:prstGeom>
          <a:solidFill>
            <a:srgbClr val="BB302C"/>
          </a:solidFill>
          <a:ln/>
        </p:spPr>
      </p:sp>
      <p:sp>
        <p:nvSpPr>
          <p:cNvPr id="61" name="Text 59"/>
          <p:cNvSpPr/>
          <p:nvPr/>
        </p:nvSpPr>
        <p:spPr>
          <a:xfrm>
            <a:off x="7010385" y="5715000"/>
            <a:ext cx="248410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historical forecasting &amp; inventory logs.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5970" cy="658368"/>
          </a:xfrm>
          <a:prstGeom prst="rect">
            <a:avLst/>
          </a:prstGeom>
          <a:solidFill>
            <a:srgbClr val="C62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3172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" y="18288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NMIMS LOGO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0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MUKESH PATEL SCHOOL OF TECHNOLOGY MANAGEMENT &amp; ENGINEERING, SHIRPUR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9905970" cy="73152"/>
          </a:xfrm>
          <a:prstGeom prst="rect">
            <a:avLst/>
          </a:prstGeom>
          <a:solidFill>
            <a:srgbClr val="C628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1832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B3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&amp; Non-Functional Requirements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1371600" cy="36576"/>
          </a:xfrm>
          <a:prstGeom prst="rect">
            <a:avLst/>
          </a:prstGeom>
          <a:solidFill>
            <a:srgbClr val="C62829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1325880"/>
            <a:ext cx="7772400" cy="914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3B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Specifications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4389120" cy="457200"/>
          </a:xfrm>
          <a:prstGeom prst="rect">
            <a:avLst/>
          </a:prstGeom>
          <a:solidFill>
            <a:srgbClr val="BB302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920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0640" y="1920240"/>
            <a:ext cx="4389120" cy="45720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920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51760"/>
            <a:ext cx="548640" cy="228600"/>
          </a:xfrm>
          <a:prstGeom prst="rect">
            <a:avLst/>
          </a:prstGeom>
          <a:solidFill>
            <a:srgbClr val="BB302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51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2606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Authentication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283464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and securely log in.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54680"/>
            <a:ext cx="548640" cy="228600"/>
          </a:xfrm>
          <a:prstGeom prst="rect">
            <a:avLst/>
          </a:prstGeom>
          <a:solidFill>
            <a:srgbClr val="BB302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154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333756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and manage shop information.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657600"/>
            <a:ext cx="548640" cy="228600"/>
          </a:xfrm>
          <a:prstGeom prst="rect">
            <a:avLst/>
          </a:prstGeom>
          <a:solidFill>
            <a:srgbClr val="BB302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57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Data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384048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or enter historical item-level sales data.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06908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160520"/>
            <a:ext cx="548640" cy="228600"/>
          </a:xfrm>
          <a:prstGeom prst="rect">
            <a:avLst/>
          </a:prstGeom>
          <a:solidFill>
            <a:srgbClr val="BB302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160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Mgmt.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7280" y="434340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 and manage current inventory information.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57200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4663440"/>
            <a:ext cx="548640" cy="228600"/>
          </a:xfrm>
          <a:prstGeom prst="rect">
            <a:avLst/>
          </a:prstGeom>
          <a:solidFill>
            <a:srgbClr val="BB302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6634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" y="4617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Gen.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97280" y="484632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item-level daily demand forecasts.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507492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5166360"/>
            <a:ext cx="548640" cy="228600"/>
          </a:xfrm>
          <a:prstGeom prst="rect">
            <a:avLst/>
          </a:prstGeom>
          <a:solidFill>
            <a:srgbClr val="BB302C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5166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5120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Data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97280" y="534924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weather/holiday info as external factors (Planned).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557784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5669280"/>
            <a:ext cx="548640" cy="228600"/>
          </a:xfrm>
          <a:prstGeom prst="rect">
            <a:avLst/>
          </a:prstGeom>
          <a:solidFill>
            <a:srgbClr val="BB302C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5669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97280" y="5623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Restock Rec.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97280" y="585216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Calculate restock using demand, stock &amp; safety limits.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608076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7200" y="6172200"/>
            <a:ext cx="548640" cy="228600"/>
          </a:xfrm>
          <a:prstGeom prst="rect">
            <a:avLst/>
          </a:prstGeom>
          <a:solidFill>
            <a:srgbClr val="BB302C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61722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97280" y="6126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Explanation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97280" y="635508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 plain-language explanation of recommendations.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120640" y="256032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212080" y="2651760"/>
            <a:ext cx="548640" cy="22860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58" name="Text 56"/>
          <p:cNvSpPr/>
          <p:nvPr/>
        </p:nvSpPr>
        <p:spPr>
          <a:xfrm>
            <a:off x="5212080" y="2651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NFR1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52160" y="2606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852160" y="283464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generation should complete within reasonable time.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20640" y="306324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212080" y="3154680"/>
            <a:ext cx="548640" cy="22860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0" y="3154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NFR2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85216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Usability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852160" y="333756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and easy to use for non-technical business owners.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120640" y="356616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212080" y="3657600"/>
            <a:ext cx="548640" cy="22860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68" name="Text 66"/>
          <p:cNvSpPr/>
          <p:nvPr/>
        </p:nvSpPr>
        <p:spPr>
          <a:xfrm>
            <a:off x="5212080" y="3657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NFR3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85216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852160" y="384048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multiple food items for a single business effortlessly.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0" y="406908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5212080" y="4160520"/>
            <a:ext cx="548640" cy="22860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73" name="Text 71"/>
          <p:cNvSpPr/>
          <p:nvPr/>
        </p:nvSpPr>
        <p:spPr>
          <a:xfrm>
            <a:off x="5212080" y="4160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NFR4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85216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852160" y="434340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 consistent and accurate results for valid inputs.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120640" y="457200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5212080" y="4663440"/>
            <a:ext cx="548640" cy="22860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0" y="46634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NFR5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852160" y="4617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852160" y="484632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user authentication and sensitive business data.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120640" y="507492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5212080" y="5166360"/>
            <a:ext cx="548640" cy="22860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83" name="Text 81"/>
          <p:cNvSpPr/>
          <p:nvPr/>
        </p:nvSpPr>
        <p:spPr>
          <a:xfrm>
            <a:off x="5212080" y="5166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NFR6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852160" y="5120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Maintainability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5852160" y="534924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architecture separating ML, API, and UI layers.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120640" y="5577840"/>
            <a:ext cx="4389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381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5212080" y="5669280"/>
            <a:ext cx="548640" cy="228600"/>
          </a:xfrm>
          <a:prstGeom prst="rect">
            <a:avLst/>
          </a:prstGeom>
          <a:solidFill>
            <a:srgbClr val="2E3B7D"/>
          </a:solidFill>
          <a:ln/>
        </p:spPr>
      </p:sp>
      <p:sp>
        <p:nvSpPr>
          <p:cNvPr id="88" name="Text 86"/>
          <p:cNvSpPr/>
          <p:nvPr/>
        </p:nvSpPr>
        <p:spPr>
          <a:xfrm>
            <a:off x="5212080" y="5669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NFR7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852160" y="5623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Portability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5852160" y="585216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cross-platform deployment natively using Flutter.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307</Words>
  <Application>Microsoft Office PowerPoint</Application>
  <PresentationFormat>A4 Paper (210x297 mm)</PresentationFormat>
  <Paragraphs>74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Georgia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YATIN PATIL</cp:lastModifiedBy>
  <cp:revision>2</cp:revision>
  <dcterms:created xsi:type="dcterms:W3CDTF">2026-09-11T20:49:39Z</dcterms:created>
  <dcterms:modified xsi:type="dcterms:W3CDTF">2026-09-11T20:55:20Z</dcterms:modified>
</cp:coreProperties>
</file>