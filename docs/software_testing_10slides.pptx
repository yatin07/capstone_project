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Overall WAPE (%)</c:v>
                </c:pt>
              </c:strCache>
            </c:strRef>
          </c:tx>
          <c:spPr>
            <a:solidFill>
              <a:srgbClr val="1B4332"/>
            </a:solidFill>
            <a:effectLst/>
          </c:spPr>
          <c:invertIfNegative val="0"/>
          <c:dLbls>
            <c:numFmt formatCode="#,##0" sourceLinked="0"/>
            <c:txPr>
              <a:bodyPr/>
              <a:lstStyle/>
              <a:p>
                <a:pPr>
                  <a:defRPr b="0" i="0" strike="noStrike" sz="13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Prophet</c:v>
                  </c:pt>
                  <c:pt idx="1">
                    <c:v>Hybrid</c:v>
                  </c:pt>
                  <c:pt idx="2">
                    <c:v>GBDT</c:v>
                  </c:pt>
                  <c:pt idx="3">
                    <c:v>MA 7d</c:v>
                  </c:pt>
                  <c:pt idx="4">
                    <c:v>SNaive</c:v>
                  </c:pt>
                  <c:pt idx="5">
                    <c:v>Wkday4W</c:v>
                  </c:pt>
                </c:lvl>
              </c:multiLvlStrCache>
            </c:multiLvlStrRef>
          </c:cat>
          <c:val>
            <c:numRef>
              <c:f>Sheet1!$B$2:$B$7</c:f>
              <c:numCache>
                <c:formatCode>General</c:formatCode>
                <c:ptCount val="6"/>
                <c:pt idx="0">
                  <c:v>21.74</c:v>
                </c:pt>
                <c:pt idx="1">
                  <c:v>23.43</c:v>
                </c:pt>
                <c:pt idx="2">
                  <c:v>27.29</c:v>
                </c:pt>
                <c:pt idx="3">
                  <c:v>30.7</c:v>
                </c:pt>
                <c:pt idx="4">
                  <c:v>32.06</c:v>
                </c:pt>
                <c:pt idx="5">
                  <c:v>41.63</c:v>
                </c:pt>
              </c:numCache>
            </c:numRef>
          </c:val>
        </c:ser>
        <c:dLbls>
          <c:numFmt formatCode="#,##0" sourceLinked="0"/>
          <c:txPr>
            <a:bodyPr/>
            <a:lstStyle/>
            <a:p>
              <a:pPr>
                <a:defRPr b="0" i="0" strike="noStrike" sz="13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I am presenting the software testing and quality engineering defense for RestockIQ. RestockIQ is a multi-tier platform that combines machine learning demand forecasting with active waste prevention for retail food businesses. This presentation covers the testing actually conducted on this project, spanning 51 automated tests and physical device smoke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RestockIQ is built across four distinct architectural tiers: the Flutter mobile client, the FastAPI backend microservice, MongoDB Atlas cloud storage, and our ML forecasting engine with Google Gemini 3 Flash. We engineered 51 automated tests covering these components. The entire local test harness runs in approximately 44 seconds without needing external internet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 examine our black-box testing techniques. On the left, boundary value analysis probes the AI assistant query endpoint at lengths 0, 1, 500, and 501 characters, confirming the API rejects empty or oversized inputs. On the right, a decision table tests the waste action engine at exact code boundaries: 0.70 triggers no discount, while 0.69 immediately activates a 20 percent price discount.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illustrates state transition testing on the dynamic waste alert system. An item transitions from unfired state S0 into active warning states S1 or S2 when evening sales pace slows. Applying a discount executes transition T3 into state S3, mutating the database item price by 20 percent. Transition T5 or T6 into state S5 permanently suppresses the alert from cluttering the manager's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Slide 5, we present white-box basis path testing for the client IP extraction function. By mapping the control flow graph, we identify 10 nodes, 13 edges, and 4 decision points, yielding a cyclomatic complexity of exactly 5. We constructed 5 unit tests covering every independent path. Running coverage.py strictly on application source files confirms 100 percent branch coverage on core security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contrasts our classical Detroit-style tests with mockist London-style tests. Classical tests verify real in-memory state mutations in our inventory providers, while mockist tests simulate 4-second API timeouts to ensure mobile screens fail over gracefully. In CI, our backend offline tests pass in 23 seconds and Render keepalive pings every 10 minutes, while the Flutter CI fix is staged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demonstrates defect lifecycle management. At the top, we illustrate the progression from human error to code defect to runtime failure using DEF-009: a developer assumed the emulator loopback IP was universally reachable, creating a defect that caused a real 76-second freeze on physical hardware. Below, our defect table shows 11 historical defects tracked: 9 are resolved and regression tested, while 2 remain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Slide 8, we review security and end-to-end testing. On the left, our 9-step E2E flow validates the entire lifecycle from authentication to restock and POS logging against MongoDB Atlas. On the right, owner-ID filtering ensures tenant data cannot cross store boundaries, tested with 100 percent isolation on a mock database. Our custom rate limiter protects against spoofed headers, with the limitation that live Render hop counts remain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reports empirical results from testing our AI models. In our 6-fold backtest, Prophet alone achieved 21.7 percent WAPE, outperforming the hybrid model at 23.4 percent; we report this negative finding transparently without claiming untested causes. We proved zero temporal leakage across all folds, verified that Gemini outputs zero hallucinated numbers, and confirmed via simulation that safety stock buffers dictate waste percentages.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on Slide 10, we summarize our achievements and remaining roadmap. We designed and executed comprehensive black-box, white-box, integration, and security test suites, fulfilling course outcomes CO1 and CO2, while CO3 on test-driven development remains partial. We acknowledge unperformed techniques including mutation and distributed load testing, and prioritize calendar alignment and commercial bundling in future work.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9F4"/>
        </a:solidFill>
      </p:bgPr>
    </p:bg>
    <p:spTree>
      <p:nvGrpSpPr>
        <p:cNvPr id="1" name=""/>
        <p:cNvGrpSpPr/>
        <p:nvPr/>
      </p:nvGrpSpPr>
      <p:grpSpPr>
        <a:xfrm>
          <a:off x="0" y="0"/>
          <a:ext cx="0" cy="0"/>
          <a:chOff x="0" y="0"/>
          <a:chExt cx="0" cy="0"/>
        </a:xfrm>
      </p:grpSpPr>
      <p:sp>
        <p:nvSpPr>
          <p:cNvPr id="2" name="Shape 0"/>
          <p:cNvSpPr/>
          <p:nvPr/>
        </p:nvSpPr>
        <p:spPr>
          <a:xfrm>
            <a:off x="914400" y="1097280"/>
            <a:ext cx="2560320" cy="411480"/>
          </a:xfrm>
          <a:prstGeom prst="rect">
            <a:avLst>
              <a:gd name="adj" fmla="val 17778"/>
            </a:avLst>
          </a:prstGeom>
          <a:solidFill>
            <a:srgbClr val="EFEAE1"/>
          </a:solidFill>
          <a:ln w="12700">
            <a:solidFill>
              <a:srgbClr val="E5E0D8"/>
            </a:solidFill>
            <a:prstDash val="solid"/>
          </a:ln>
        </p:spPr>
      </p:sp>
      <p:sp>
        <p:nvSpPr>
          <p:cNvPr id="3" name="Text 1"/>
          <p:cNvSpPr/>
          <p:nvPr/>
        </p:nvSpPr>
        <p:spPr>
          <a:xfrm>
            <a:off x="914400" y="1097280"/>
            <a:ext cx="2560320" cy="411480"/>
          </a:xfrm>
          <a:prstGeom prst="rect">
            <a:avLst/>
          </a:prstGeom>
          <a:noFill/>
          <a:ln/>
        </p:spPr>
        <p:txBody>
          <a:bodyPr wrap="square" rtlCol="0" anchor="ctr"/>
          <a:lstStyle/>
          <a:p>
            <a:pPr algn="ctr" indent="0" marL="0">
              <a:buNone/>
            </a:pPr>
            <a:r>
              <a:rPr lang="en-US" sz="1400" b="1" dirty="0">
                <a:solidFill>
                  <a:srgbClr val="1B4332"/>
                </a:solidFill>
                <a:latin typeface="Montserrat" pitchFamily="34" charset="0"/>
                <a:ea typeface="Montserrat" pitchFamily="34" charset="-122"/>
                <a:cs typeface="Montserrat" pitchFamily="34" charset="-120"/>
              </a:rPr>
              <a:t>SOFTWARE TESTING</a:t>
            </a:r>
            <a:endParaRPr lang="en-US" sz="1400" dirty="0"/>
          </a:p>
        </p:txBody>
      </p:sp>
      <p:sp>
        <p:nvSpPr>
          <p:cNvPr id="4" name="Text 2"/>
          <p:cNvSpPr/>
          <p:nvPr/>
        </p:nvSpPr>
        <p:spPr>
          <a:xfrm>
            <a:off x="914400" y="1691640"/>
            <a:ext cx="10332720" cy="1005840"/>
          </a:xfrm>
          <a:prstGeom prst="rect">
            <a:avLst/>
          </a:prstGeom>
          <a:noFill/>
          <a:ln/>
        </p:spPr>
        <p:txBody>
          <a:bodyPr wrap="square" rtlCol="0" anchor="ctr"/>
          <a:lstStyle/>
          <a:p>
            <a:pPr indent="0" marL="0">
              <a:buNone/>
            </a:pPr>
            <a:r>
              <a:rPr lang="en-US" sz="4600" b="1" dirty="0">
                <a:solidFill>
                  <a:srgbClr val="1B4332"/>
                </a:solidFill>
                <a:latin typeface="Montserrat" pitchFamily="34" charset="0"/>
                <a:ea typeface="Montserrat" pitchFamily="34" charset="-122"/>
                <a:cs typeface="Montserrat" pitchFamily="34" charset="-120"/>
              </a:rPr>
              <a:t>Testing RestockIQ</a:t>
            </a:r>
            <a:endParaRPr lang="en-US" sz="4600" dirty="0"/>
          </a:p>
        </p:txBody>
      </p:sp>
      <p:sp>
        <p:nvSpPr>
          <p:cNvPr id="5" name="Shape 3"/>
          <p:cNvSpPr/>
          <p:nvPr/>
        </p:nvSpPr>
        <p:spPr>
          <a:xfrm>
            <a:off x="914400" y="2834640"/>
            <a:ext cx="10332720" cy="0"/>
          </a:xfrm>
          <a:prstGeom prst="line">
            <a:avLst/>
          </a:prstGeom>
          <a:noFill/>
          <a:ln w="44450">
            <a:solidFill>
              <a:srgbClr val="FFB702"/>
            </a:solidFill>
            <a:prstDash val="solid"/>
          </a:ln>
        </p:spPr>
      </p:sp>
      <p:sp>
        <p:nvSpPr>
          <p:cNvPr id="6" name="Text 4"/>
          <p:cNvSpPr/>
          <p:nvPr/>
        </p:nvSpPr>
        <p:spPr>
          <a:xfrm>
            <a:off x="914400" y="3063240"/>
            <a:ext cx="10332720" cy="640080"/>
          </a:xfrm>
          <a:prstGeom prst="rect">
            <a:avLst/>
          </a:prstGeom>
          <a:noFill/>
          <a:ln/>
        </p:spPr>
        <p:txBody>
          <a:bodyPr wrap="square" rtlCol="0" anchor="ctr"/>
          <a:lstStyle/>
          <a:p>
            <a:pPr indent="0" marL="0">
              <a:buNone/>
            </a:pPr>
            <a:r>
              <a:rPr lang="en-US" sz="2200" dirty="0">
                <a:solidFill>
                  <a:srgbClr val="5A5A54"/>
                </a:solidFill>
                <a:latin typeface="Inter" pitchFamily="34" charset="0"/>
                <a:ea typeface="Inter" pitchFamily="34" charset="-122"/>
                <a:cs typeface="Inter" pitchFamily="34" charset="-120"/>
              </a:rPr>
              <a:t>AI demand forecasting and dynamic waste prevention for retail food inventory.</a:t>
            </a:r>
            <a:endParaRPr lang="en-US" sz="2200" dirty="0"/>
          </a:p>
        </p:txBody>
      </p:sp>
      <p:sp>
        <p:nvSpPr>
          <p:cNvPr id="7" name="Shape 5"/>
          <p:cNvSpPr/>
          <p:nvPr/>
        </p:nvSpPr>
        <p:spPr>
          <a:xfrm>
            <a:off x="914400" y="4023360"/>
            <a:ext cx="6217920" cy="2011680"/>
          </a:xfrm>
          <a:prstGeom prst="rect">
            <a:avLst>
              <a:gd name="adj" fmla="val 5455"/>
            </a:avLst>
          </a:prstGeom>
          <a:solidFill>
            <a:srgbClr val="FFFFFF"/>
          </a:solidFill>
          <a:ln w="19050">
            <a:solidFill>
              <a:srgbClr val="E5E0D8"/>
            </a:solidFill>
            <a:prstDash val="solid"/>
          </a:ln>
        </p:spPr>
      </p:sp>
      <p:sp>
        <p:nvSpPr>
          <p:cNvPr id="8" name="Text 6"/>
          <p:cNvSpPr/>
          <p:nvPr/>
        </p:nvSpPr>
        <p:spPr>
          <a:xfrm>
            <a:off x="1188720" y="4160520"/>
            <a:ext cx="5669280" cy="1737360"/>
          </a:xfrm>
          <a:prstGeom prst="rect">
            <a:avLst/>
          </a:prstGeom>
          <a:noFill/>
          <a:ln/>
        </p:spPr>
        <p:txBody>
          <a:bodyPr wrap="square" rtlCol="0" anchor="ctr"/>
          <a:lstStyle/>
          <a:p>
            <a:pPr indent="0" marL="0">
              <a:buNone/>
            </a:pPr>
            <a:r>
              <a:rPr lang="en-US" sz="1800" b="1" dirty="0">
                <a:solidFill>
                  <a:srgbClr val="1B4332"/>
                </a:solidFill>
                <a:latin typeface="Inter" pitchFamily="34" charset="0"/>
                <a:ea typeface="Inter" pitchFamily="34" charset="-122"/>
                <a:cs typeface="Inter" pitchFamily="34" charset="-120"/>
              </a:rPr>
              <a:t>Author: </a:t>
            </a:r>
            <a:pPr indent="0" marL="0">
              <a:buNone/>
            </a:pPr>
            <a:r>
              <a:rPr lang="en-US" sz="1800" dirty="0">
                <a:solidFill>
                  <a:srgbClr val="1C1C19"/>
                </a:solidFill>
                <a:latin typeface="Inter" pitchFamily="34" charset="0"/>
                <a:ea typeface="Inter" pitchFamily="34" charset="-122"/>
                <a:cs typeface="Inter" pitchFamily="34" charset="-120"/>
              </a:rPr>
              <a:t>Yatin Patil (Lucifer)
</a:t>
            </a:r>
            <a:pPr indent="0" marL="0">
              <a:buNone/>
            </a:pPr>
            <a:r>
              <a:rPr lang="en-US" sz="1800" b="1" dirty="0">
                <a:solidFill>
                  <a:srgbClr val="1B4332"/>
                </a:solidFill>
                <a:latin typeface="Inter" pitchFamily="34" charset="0"/>
                <a:ea typeface="Inter" pitchFamily="34" charset="-122"/>
                <a:cs typeface="Inter" pitchFamily="34" charset="-120"/>
              </a:rPr>
              <a:t>Program: </a:t>
            </a:r>
            <a:pPr indent="0" marL="0">
              <a:buNone/>
            </a:pPr>
            <a:r>
              <a:rPr lang="en-US" sz="1800" dirty="0">
                <a:solidFill>
                  <a:srgbClr val="1C1C19"/>
                </a:solidFill>
                <a:latin typeface="Inter" pitchFamily="34" charset="0"/>
                <a:ea typeface="Inter" pitchFamily="34" charset="-122"/>
                <a:cs typeface="Inter" pitchFamily="34" charset="-120"/>
              </a:rPr>
              <a:t>B.Tech Information Technology
</a:t>
            </a:r>
            <a:pPr indent="0" marL="0">
              <a:buNone/>
            </a:pPr>
            <a:r>
              <a:rPr lang="en-US" sz="1800" b="1" dirty="0">
                <a:solidFill>
                  <a:srgbClr val="1B4332"/>
                </a:solidFill>
                <a:latin typeface="Inter" pitchFamily="34" charset="0"/>
                <a:ea typeface="Inter" pitchFamily="34" charset="-122"/>
                <a:cs typeface="Inter" pitchFamily="34" charset="-120"/>
              </a:rPr>
              <a:t>College: </a:t>
            </a:r>
            <a:pPr indent="0" marL="0">
              <a:buNone/>
            </a:pPr>
            <a:r>
              <a:rPr lang="en-US" sz="1800" dirty="0">
                <a:solidFill>
                  <a:srgbClr val="1C1C19"/>
                </a:solidFill>
                <a:latin typeface="Inter" pitchFamily="34" charset="0"/>
                <a:ea typeface="Inter" pitchFamily="34" charset="-122"/>
                <a:cs typeface="Inter" pitchFamily="34" charset="-120"/>
              </a:rPr>
              <a:t>MPSTME, NMIMS University
</a:t>
            </a:r>
            <a:pPr indent="0" marL="0">
              <a:buNone/>
            </a:pPr>
            <a:r>
              <a:rPr lang="en-US" sz="1800" b="1" dirty="0">
                <a:solidFill>
                  <a:srgbClr val="1B4332"/>
                </a:solidFill>
                <a:latin typeface="Inter" pitchFamily="34" charset="0"/>
                <a:ea typeface="Inter" pitchFamily="34" charset="-122"/>
                <a:cs typeface="Inter" pitchFamily="34" charset="-120"/>
              </a:rPr>
              <a:t>Repository: </a:t>
            </a:r>
            <a:pPr indent="0" marL="0">
              <a:buNone/>
            </a:pPr>
            <a:r>
              <a:rPr lang="en-US" sz="1700" dirty="0">
                <a:solidFill>
                  <a:srgbClr val="1D4ED8"/>
                </a:solidFill>
                <a:latin typeface="Inter" pitchFamily="34" charset="0"/>
                <a:ea typeface="Inter" pitchFamily="34" charset="-122"/>
                <a:cs typeface="Inter" pitchFamily="34" charset="-120"/>
              </a:rPr>
              <a:t>github.com/Yatin07/CAPSTONE_PROJECT</a:t>
            </a:r>
            <a:endParaRPr lang="en-US" sz="1800" dirty="0"/>
          </a:p>
        </p:txBody>
      </p:sp>
      <p:sp>
        <p:nvSpPr>
          <p:cNvPr id="9" name="Shape 7"/>
          <p:cNvSpPr/>
          <p:nvPr/>
        </p:nvSpPr>
        <p:spPr>
          <a:xfrm>
            <a:off x="7498080" y="4023360"/>
            <a:ext cx="3749040" cy="2011680"/>
          </a:xfrm>
          <a:prstGeom prst="rect">
            <a:avLst>
              <a:gd name="adj" fmla="val 5455"/>
            </a:avLst>
          </a:prstGeom>
          <a:solidFill>
            <a:srgbClr val="EFEAE1"/>
          </a:solidFill>
          <a:ln w="19050">
            <a:solidFill>
              <a:srgbClr val="D8D2C6"/>
            </a:solidFill>
            <a:prstDash val="solid"/>
          </a:ln>
        </p:spPr>
      </p:sp>
      <p:sp>
        <p:nvSpPr>
          <p:cNvPr id="10" name="Text 8"/>
          <p:cNvSpPr/>
          <p:nvPr/>
        </p:nvSpPr>
        <p:spPr>
          <a:xfrm>
            <a:off x="7680960" y="4206240"/>
            <a:ext cx="3383280" cy="320040"/>
          </a:xfrm>
          <a:prstGeom prst="rect">
            <a:avLst/>
          </a:prstGeom>
          <a:noFill/>
          <a:ln/>
        </p:spPr>
        <p:txBody>
          <a:bodyPr wrap="square" rtlCol="0" anchor="ctr"/>
          <a:lstStyle/>
          <a:p>
            <a:pPr indent="0" marL="0">
              <a:buNone/>
            </a:pPr>
            <a:r>
              <a:rPr lang="en-US" sz="1400" b="1" dirty="0">
                <a:solidFill>
                  <a:srgbClr val="1B4332"/>
                </a:solidFill>
                <a:latin typeface="Montserrat" pitchFamily="34" charset="0"/>
                <a:ea typeface="Montserrat" pitchFamily="34" charset="-122"/>
                <a:cs typeface="Montserrat" pitchFamily="34" charset="-120"/>
              </a:rPr>
              <a:t>VERIFICATION SCOPE</a:t>
            </a:r>
            <a:endParaRPr lang="en-US" sz="1400" dirty="0"/>
          </a:p>
        </p:txBody>
      </p:sp>
      <p:sp>
        <p:nvSpPr>
          <p:cNvPr id="11" name="Text 9"/>
          <p:cNvSpPr/>
          <p:nvPr/>
        </p:nvSpPr>
        <p:spPr>
          <a:xfrm>
            <a:off x="7680960" y="4526280"/>
            <a:ext cx="3383280" cy="731520"/>
          </a:xfrm>
          <a:prstGeom prst="rect">
            <a:avLst/>
          </a:prstGeom>
          <a:noFill/>
          <a:ln/>
        </p:spPr>
        <p:txBody>
          <a:bodyPr wrap="square" rtlCol="0" anchor="ctr"/>
          <a:lstStyle/>
          <a:p>
            <a:pPr algn="ctr" indent="0" marL="0">
              <a:buNone/>
            </a:pPr>
            <a:r>
              <a:rPr lang="en-US" sz="4400" b="1" dirty="0">
                <a:solidFill>
                  <a:srgbClr val="1B4332"/>
                </a:solidFill>
                <a:latin typeface="Montserrat" pitchFamily="34" charset="0"/>
                <a:ea typeface="Montserrat" pitchFamily="34" charset="-122"/>
                <a:cs typeface="Montserrat" pitchFamily="34" charset="-120"/>
              </a:rPr>
              <a:t>51</a:t>
            </a:r>
            <a:endParaRPr lang="en-US" sz="4400" dirty="0"/>
          </a:p>
        </p:txBody>
      </p:sp>
      <p:sp>
        <p:nvSpPr>
          <p:cNvPr id="12" name="Text 10"/>
          <p:cNvSpPr/>
          <p:nvPr/>
        </p:nvSpPr>
        <p:spPr>
          <a:xfrm>
            <a:off x="7680960" y="5257800"/>
            <a:ext cx="3383280" cy="594360"/>
          </a:xfrm>
          <a:prstGeom prst="rect">
            <a:avLst/>
          </a:prstGeom>
          <a:noFill/>
          <a:ln/>
        </p:spPr>
        <p:txBody>
          <a:bodyPr wrap="square" rtlCol="0" anchor="ctr"/>
          <a:lstStyle/>
          <a:p>
            <a:pPr algn="ctr" indent="0" marL="0">
              <a:buNone/>
            </a:pPr>
            <a:r>
              <a:rPr lang="en-US" sz="1600" b="1" dirty="0">
                <a:solidFill>
                  <a:srgbClr val="1C1C19"/>
                </a:solidFill>
                <a:latin typeface="Inter" pitchFamily="34" charset="0"/>
                <a:ea typeface="Inter" pitchFamily="34" charset="-122"/>
                <a:cs typeface="Inter" pitchFamily="34" charset="-120"/>
              </a:rPr>
              <a:t>Automated Tests Passing</a:t>
            </a:r>
            <a:endParaRPr lang="en-US" sz="1600" dirty="0"/>
          </a:p>
          <a:p>
            <a:pPr algn="ctr" indent="0" marL="0">
              <a:buNone/>
            </a:pPr>
            <a:r>
              <a:rPr lang="en-US" sz="1600" b="1" dirty="0">
                <a:solidFill>
                  <a:srgbClr val="1C1C19"/>
                </a:solidFill>
                <a:latin typeface="Inter" pitchFamily="34" charset="0"/>
                <a:ea typeface="Inter" pitchFamily="34" charset="-122"/>
                <a:cs typeface="Inter" pitchFamily="34" charset="-120"/>
              </a:rPr>
              <a:t>+ Physical Android Audit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9F4"/>
        </a:solidFill>
      </p:bgPr>
    </p:bg>
    <p:spTree>
      <p:nvGrpSpPr>
        <p:cNvPr id="1" name=""/>
        <p:cNvGrpSpPr/>
        <p:nvPr/>
      </p:nvGrpSpPr>
      <p:grpSpPr>
        <a:xfrm>
          <a:off x="0" y="0"/>
          <a:ext cx="0" cy="0"/>
          <a:chOff x="0" y="0"/>
          <a:chExt cx="0" cy="0"/>
        </a:xfrm>
      </p:grpSpPr>
      <p:sp>
        <p:nvSpPr>
          <p:cNvPr id="2" name="Text 0"/>
          <p:cNvSpPr/>
          <p:nvPr/>
        </p:nvSpPr>
        <p:spPr>
          <a:xfrm>
            <a:off x="10515600" y="411480"/>
            <a:ext cx="1005840" cy="320040"/>
          </a:xfrm>
          <a:prstGeom prst="rect">
            <a:avLst/>
          </a:prstGeom>
          <a:noFill/>
          <a:ln/>
        </p:spPr>
        <p:txBody>
          <a:bodyPr wrap="square" rtlCol="0" anchor="ctr"/>
          <a:lstStyle/>
          <a:p>
            <a:pPr algn="r" indent="0" marL="0">
              <a:buNone/>
            </a:pPr>
            <a:r>
              <a:rPr lang="en-US" sz="1300" b="1" dirty="0">
                <a:solidFill>
                  <a:srgbClr val="5A5A54"/>
                </a:solidFill>
                <a:latin typeface="Montserrat" pitchFamily="34" charset="0"/>
                <a:ea typeface="Montserrat" pitchFamily="34" charset="-122"/>
                <a:cs typeface="Montserrat" pitchFamily="34" charset="-120"/>
              </a:rPr>
              <a:t>2 / 10</a:t>
            </a:r>
            <a:endParaRPr lang="en-US" sz="1300" dirty="0"/>
          </a:p>
        </p:txBody>
      </p:sp>
      <p:sp>
        <p:nvSpPr>
          <p:cNvPr id="3" name="Text 1"/>
          <p:cNvSpPr/>
          <p:nvPr/>
        </p:nvSpPr>
        <p:spPr>
          <a:xfrm>
            <a:off x="731520" y="365760"/>
            <a:ext cx="9692640" cy="594360"/>
          </a:xfrm>
          <a:prstGeom prst="rect">
            <a:avLst/>
          </a:prstGeom>
          <a:noFill/>
          <a:ln/>
        </p:spPr>
        <p:txBody>
          <a:bodyPr wrap="square" rtlCol="0" anchor="ctr"/>
          <a:lstStyle/>
          <a:p>
            <a:pPr indent="0" marL="0">
              <a:buNone/>
            </a:pPr>
            <a:r>
              <a:rPr lang="en-US" sz="3400" b="1" dirty="0">
                <a:solidFill>
                  <a:srgbClr val="1B4332"/>
                </a:solidFill>
                <a:latin typeface="Montserrat" pitchFamily="34" charset="0"/>
                <a:ea typeface="Montserrat" pitchFamily="34" charset="-122"/>
                <a:cs typeface="Montserrat" pitchFamily="34" charset="-120"/>
              </a:rPr>
              <a:t>What We Tested</a:t>
            </a:r>
            <a:endParaRPr lang="en-US" sz="3400" dirty="0"/>
          </a:p>
        </p:txBody>
      </p:sp>
      <p:sp>
        <p:nvSpPr>
          <p:cNvPr id="4" name="Shape 2"/>
          <p:cNvSpPr/>
          <p:nvPr/>
        </p:nvSpPr>
        <p:spPr>
          <a:xfrm>
            <a:off x="731520" y="1051560"/>
            <a:ext cx="10728655" cy="0"/>
          </a:xfrm>
          <a:prstGeom prst="line">
            <a:avLst/>
          </a:prstGeom>
          <a:noFill/>
          <a:ln w="31750">
            <a:solidFill>
              <a:srgbClr val="FFB702"/>
            </a:solidFill>
            <a:prstDash val="solid"/>
          </a:ln>
        </p:spPr>
      </p:sp>
      <p:sp>
        <p:nvSpPr>
          <p:cNvPr id="5" name="Shape 3"/>
          <p:cNvSpPr/>
          <p:nvPr/>
        </p:nvSpPr>
        <p:spPr>
          <a:xfrm>
            <a:off x="731520" y="1325880"/>
            <a:ext cx="2496312" cy="2423160"/>
          </a:xfrm>
          <a:prstGeom prst="rect">
            <a:avLst>
              <a:gd name="adj" fmla="val 4528"/>
            </a:avLst>
          </a:prstGeom>
          <a:solidFill>
            <a:srgbClr val="FFFFFF"/>
          </a:solidFill>
          <a:ln w="19050">
            <a:solidFill>
              <a:srgbClr val="E5E0D8"/>
            </a:solidFill>
            <a:prstDash val="solid"/>
          </a:ln>
        </p:spPr>
      </p:sp>
      <p:sp>
        <p:nvSpPr>
          <p:cNvPr id="6" name="Text 4"/>
          <p:cNvSpPr/>
          <p:nvPr/>
        </p:nvSpPr>
        <p:spPr>
          <a:xfrm>
            <a:off x="868680" y="1463040"/>
            <a:ext cx="2221992" cy="411480"/>
          </a:xfrm>
          <a:prstGeom prst="rect">
            <a:avLst/>
          </a:prstGeom>
          <a:noFill/>
          <a:ln/>
        </p:spPr>
        <p:txBody>
          <a:bodyPr wrap="square" rtlCol="0" anchor="ctr"/>
          <a:lstStyle/>
          <a:p>
            <a:pPr algn="ctr" indent="0" marL="0">
              <a:buNone/>
            </a:pPr>
            <a:r>
              <a:rPr lang="en-US" sz="2000" b="1" dirty="0">
                <a:solidFill>
                  <a:srgbClr val="1B4332"/>
                </a:solidFill>
                <a:latin typeface="Montserrat" pitchFamily="34" charset="0"/>
                <a:ea typeface="Montserrat" pitchFamily="34" charset="-122"/>
                <a:cs typeface="Montserrat" pitchFamily="34" charset="-120"/>
              </a:rPr>
              <a:t>Mobile App</a:t>
            </a:r>
            <a:endParaRPr lang="en-US" sz="2000" dirty="0"/>
          </a:p>
        </p:txBody>
      </p:sp>
      <p:sp>
        <p:nvSpPr>
          <p:cNvPr id="7" name="Text 5"/>
          <p:cNvSpPr/>
          <p:nvPr/>
        </p:nvSpPr>
        <p:spPr>
          <a:xfrm>
            <a:off x="868680" y="1874520"/>
            <a:ext cx="2221992" cy="320040"/>
          </a:xfrm>
          <a:prstGeom prst="rect">
            <a:avLst/>
          </a:prstGeom>
          <a:noFill/>
          <a:ln/>
        </p:spPr>
        <p:txBody>
          <a:bodyPr wrap="square" rtlCol="0" anchor="ctr"/>
          <a:lstStyle/>
          <a:p>
            <a:pPr algn="ctr" indent="0" marL="0">
              <a:buNone/>
            </a:pPr>
            <a:r>
              <a:rPr lang="en-US" sz="1400" dirty="0">
                <a:solidFill>
                  <a:srgbClr val="5A5A54"/>
                </a:solidFill>
                <a:latin typeface="Inter" pitchFamily="34" charset="0"/>
                <a:ea typeface="Inter" pitchFamily="34" charset="-122"/>
                <a:cs typeface="Inter" pitchFamily="34" charset="-120"/>
              </a:rPr>
              <a:t>Flutter 3.38+</a:t>
            </a:r>
            <a:endParaRPr lang="en-US" sz="1400" dirty="0"/>
          </a:p>
        </p:txBody>
      </p:sp>
      <p:sp>
        <p:nvSpPr>
          <p:cNvPr id="8" name="Text 6"/>
          <p:cNvSpPr/>
          <p:nvPr/>
        </p:nvSpPr>
        <p:spPr>
          <a:xfrm>
            <a:off x="868680" y="2240280"/>
            <a:ext cx="2221992" cy="502920"/>
          </a:xfrm>
          <a:prstGeom prst="rect">
            <a:avLst/>
          </a:prstGeom>
          <a:noFill/>
          <a:ln/>
        </p:spPr>
        <p:txBody>
          <a:bodyPr wrap="square" rtlCol="0" anchor="ctr"/>
          <a:lstStyle/>
          <a:p>
            <a:pPr algn="ctr" indent="0" marL="0">
              <a:buNone/>
            </a:pPr>
            <a:r>
              <a:rPr lang="en-US" sz="2400" b="1" dirty="0">
                <a:solidFill>
                  <a:srgbClr val="FFB702"/>
                </a:solidFill>
                <a:latin typeface="Montserrat" pitchFamily="34" charset="0"/>
                <a:ea typeface="Montserrat" pitchFamily="34" charset="-122"/>
                <a:cs typeface="Montserrat" pitchFamily="34" charset="-120"/>
              </a:rPr>
              <a:t>44 Tests</a:t>
            </a:r>
            <a:endParaRPr lang="en-US" sz="2400" dirty="0"/>
          </a:p>
        </p:txBody>
      </p:sp>
      <p:sp>
        <p:nvSpPr>
          <p:cNvPr id="9" name="Text 7"/>
          <p:cNvSpPr/>
          <p:nvPr/>
        </p:nvSpPr>
        <p:spPr>
          <a:xfrm>
            <a:off x="868680" y="2788920"/>
            <a:ext cx="2221992" cy="777240"/>
          </a:xfrm>
          <a:prstGeom prst="rect">
            <a:avLst/>
          </a:prstGeom>
          <a:noFill/>
          <a:ln/>
        </p:spPr>
        <p:txBody>
          <a:bodyPr wrap="square" rtlCol="0" anchor="ctr"/>
          <a:lstStyle/>
          <a:p>
            <a:pPr algn="ctr" indent="0" marL="0">
              <a:buNone/>
            </a:pPr>
            <a:r>
              <a:rPr lang="en-US" sz="1400" dirty="0">
                <a:solidFill>
                  <a:srgbClr val="1C1C19"/>
                </a:solidFill>
                <a:latin typeface="Inter" pitchFamily="34" charset="0"/>
                <a:ea typeface="Inter" pitchFamily="34" charset="-122"/>
                <a:cs typeface="Inter" pitchFamily="34" charset="-120"/>
              </a:rPr>
              <a:t>21 unit, 18 widget,</a:t>
            </a:r>
            <a:endParaRPr lang="en-US" sz="1400" dirty="0"/>
          </a:p>
          <a:p>
            <a:pPr algn="ctr" indent="0" marL="0">
              <a:buNone/>
            </a:pPr>
            <a:r>
              <a:rPr lang="en-US" sz="1400" dirty="0">
                <a:solidFill>
                  <a:srgbClr val="1C1C19"/>
                </a:solidFill>
                <a:latin typeface="Inter" pitchFamily="34" charset="0"/>
                <a:ea typeface="Inter" pitchFamily="34" charset="-122"/>
                <a:cs typeface="Inter" pitchFamily="34" charset="-120"/>
              </a:rPr>
              <a:t>5 integration tests</a:t>
            </a:r>
            <a:endParaRPr lang="en-US" sz="1400" dirty="0"/>
          </a:p>
        </p:txBody>
      </p:sp>
      <p:sp>
        <p:nvSpPr>
          <p:cNvPr id="10" name="Shape 8"/>
          <p:cNvSpPr/>
          <p:nvPr/>
        </p:nvSpPr>
        <p:spPr>
          <a:xfrm>
            <a:off x="3474720" y="1325880"/>
            <a:ext cx="2496312" cy="2423160"/>
          </a:xfrm>
          <a:prstGeom prst="rect">
            <a:avLst>
              <a:gd name="adj" fmla="val 4528"/>
            </a:avLst>
          </a:prstGeom>
          <a:solidFill>
            <a:srgbClr val="FFFFFF"/>
          </a:solidFill>
          <a:ln w="19050">
            <a:solidFill>
              <a:srgbClr val="E5E0D8"/>
            </a:solidFill>
            <a:prstDash val="solid"/>
          </a:ln>
        </p:spPr>
      </p:sp>
      <p:sp>
        <p:nvSpPr>
          <p:cNvPr id="11" name="Text 9"/>
          <p:cNvSpPr/>
          <p:nvPr/>
        </p:nvSpPr>
        <p:spPr>
          <a:xfrm>
            <a:off x="3611880" y="1463040"/>
            <a:ext cx="2221992" cy="411480"/>
          </a:xfrm>
          <a:prstGeom prst="rect">
            <a:avLst/>
          </a:prstGeom>
          <a:noFill/>
          <a:ln/>
        </p:spPr>
        <p:txBody>
          <a:bodyPr wrap="square" rtlCol="0" anchor="ctr"/>
          <a:lstStyle/>
          <a:p>
            <a:pPr algn="ctr" indent="0" marL="0">
              <a:buNone/>
            </a:pPr>
            <a:r>
              <a:rPr lang="en-US" sz="2000" b="1" dirty="0">
                <a:solidFill>
                  <a:srgbClr val="1B4332"/>
                </a:solidFill>
                <a:latin typeface="Montserrat" pitchFamily="34" charset="0"/>
                <a:ea typeface="Montserrat" pitchFamily="34" charset="-122"/>
                <a:cs typeface="Montserrat" pitchFamily="34" charset="-120"/>
              </a:rPr>
              <a:t>API Gateway</a:t>
            </a:r>
            <a:endParaRPr lang="en-US" sz="2000" dirty="0"/>
          </a:p>
        </p:txBody>
      </p:sp>
      <p:sp>
        <p:nvSpPr>
          <p:cNvPr id="12" name="Text 10"/>
          <p:cNvSpPr/>
          <p:nvPr/>
        </p:nvSpPr>
        <p:spPr>
          <a:xfrm>
            <a:off x="3611880" y="1874520"/>
            <a:ext cx="2221992" cy="320040"/>
          </a:xfrm>
          <a:prstGeom prst="rect">
            <a:avLst/>
          </a:prstGeom>
          <a:noFill/>
          <a:ln/>
        </p:spPr>
        <p:txBody>
          <a:bodyPr wrap="square" rtlCol="0" anchor="ctr"/>
          <a:lstStyle/>
          <a:p>
            <a:pPr algn="ctr" indent="0" marL="0">
              <a:buNone/>
            </a:pPr>
            <a:r>
              <a:rPr lang="en-US" sz="1400" dirty="0">
                <a:solidFill>
                  <a:srgbClr val="5A5A54"/>
                </a:solidFill>
                <a:latin typeface="Inter" pitchFamily="34" charset="0"/>
                <a:ea typeface="Inter" pitchFamily="34" charset="-122"/>
                <a:cs typeface="Inter" pitchFamily="34" charset="-120"/>
              </a:rPr>
              <a:t>FastAPI &amp; Python</a:t>
            </a:r>
            <a:endParaRPr lang="en-US" sz="1400" dirty="0"/>
          </a:p>
        </p:txBody>
      </p:sp>
      <p:sp>
        <p:nvSpPr>
          <p:cNvPr id="13" name="Text 11"/>
          <p:cNvSpPr/>
          <p:nvPr/>
        </p:nvSpPr>
        <p:spPr>
          <a:xfrm>
            <a:off x="3611880" y="2240280"/>
            <a:ext cx="2221992" cy="502920"/>
          </a:xfrm>
          <a:prstGeom prst="rect">
            <a:avLst/>
          </a:prstGeom>
          <a:noFill/>
          <a:ln/>
        </p:spPr>
        <p:txBody>
          <a:bodyPr wrap="square" rtlCol="0" anchor="ctr"/>
          <a:lstStyle/>
          <a:p>
            <a:pPr algn="ctr" indent="0" marL="0">
              <a:buNone/>
            </a:pPr>
            <a:r>
              <a:rPr lang="en-US" sz="2400" b="1" dirty="0">
                <a:solidFill>
                  <a:srgbClr val="FFB702"/>
                </a:solidFill>
                <a:latin typeface="Montserrat" pitchFamily="34" charset="0"/>
                <a:ea typeface="Montserrat" pitchFamily="34" charset="-122"/>
                <a:cs typeface="Montserrat" pitchFamily="34" charset="-120"/>
              </a:rPr>
              <a:t>7 Suites</a:t>
            </a:r>
            <a:endParaRPr lang="en-US" sz="2400" dirty="0"/>
          </a:p>
        </p:txBody>
      </p:sp>
      <p:sp>
        <p:nvSpPr>
          <p:cNvPr id="14" name="Text 12"/>
          <p:cNvSpPr/>
          <p:nvPr/>
        </p:nvSpPr>
        <p:spPr>
          <a:xfrm>
            <a:off x="3611880" y="2788920"/>
            <a:ext cx="2221992" cy="777240"/>
          </a:xfrm>
          <a:prstGeom prst="rect">
            <a:avLst/>
          </a:prstGeom>
          <a:noFill/>
          <a:ln/>
        </p:spPr>
        <p:txBody>
          <a:bodyPr wrap="square" rtlCol="0" anchor="ctr"/>
          <a:lstStyle/>
          <a:p>
            <a:pPr algn="ctr" indent="0" marL="0">
              <a:buNone/>
            </a:pPr>
            <a:r>
              <a:rPr lang="en-US" sz="1400" dirty="0">
                <a:solidFill>
                  <a:srgbClr val="1C1C19"/>
                </a:solidFill>
                <a:latin typeface="Inter" pitchFamily="34" charset="0"/>
                <a:ea typeface="Inter" pitchFamily="34" charset="-122"/>
                <a:cs typeface="Inter" pitchFamily="34" charset="-120"/>
              </a:rPr>
              <a:t>BVA, decision table,</a:t>
            </a:r>
            <a:endParaRPr lang="en-US" sz="1400" dirty="0"/>
          </a:p>
          <a:p>
            <a:pPr algn="ctr" indent="0" marL="0">
              <a:buNone/>
            </a:pPr>
            <a:r>
              <a:rPr lang="en-US" sz="1400" dirty="0">
                <a:solidFill>
                  <a:srgbClr val="1C1C19"/>
                </a:solidFill>
                <a:latin typeface="Inter" pitchFamily="34" charset="0"/>
                <a:ea typeface="Inter" pitchFamily="34" charset="-122"/>
                <a:cs typeface="Inter" pitchFamily="34" charset="-120"/>
              </a:rPr>
              <a:t>CFG, rate limiter</a:t>
            </a:r>
            <a:endParaRPr lang="en-US" sz="1400" dirty="0"/>
          </a:p>
        </p:txBody>
      </p:sp>
      <p:sp>
        <p:nvSpPr>
          <p:cNvPr id="15" name="Shape 13"/>
          <p:cNvSpPr/>
          <p:nvPr/>
        </p:nvSpPr>
        <p:spPr>
          <a:xfrm>
            <a:off x="6217920" y="1325880"/>
            <a:ext cx="2496312" cy="2423160"/>
          </a:xfrm>
          <a:prstGeom prst="rect">
            <a:avLst>
              <a:gd name="adj" fmla="val 4528"/>
            </a:avLst>
          </a:prstGeom>
          <a:solidFill>
            <a:srgbClr val="FFFFFF"/>
          </a:solidFill>
          <a:ln w="19050">
            <a:solidFill>
              <a:srgbClr val="E5E0D8"/>
            </a:solidFill>
            <a:prstDash val="solid"/>
          </a:ln>
        </p:spPr>
      </p:sp>
      <p:sp>
        <p:nvSpPr>
          <p:cNvPr id="16" name="Text 14"/>
          <p:cNvSpPr/>
          <p:nvPr/>
        </p:nvSpPr>
        <p:spPr>
          <a:xfrm>
            <a:off x="6355080" y="1463040"/>
            <a:ext cx="2221992" cy="411480"/>
          </a:xfrm>
          <a:prstGeom prst="rect">
            <a:avLst/>
          </a:prstGeom>
          <a:noFill/>
          <a:ln/>
        </p:spPr>
        <p:txBody>
          <a:bodyPr wrap="square" rtlCol="0" anchor="ctr"/>
          <a:lstStyle/>
          <a:p>
            <a:pPr algn="ctr" indent="0" marL="0">
              <a:buNone/>
            </a:pPr>
            <a:r>
              <a:rPr lang="en-US" sz="2000" b="1" dirty="0">
                <a:solidFill>
                  <a:srgbClr val="1B4332"/>
                </a:solidFill>
                <a:latin typeface="Montserrat" pitchFamily="34" charset="0"/>
                <a:ea typeface="Montserrat" pitchFamily="34" charset="-122"/>
                <a:cs typeface="Montserrat" pitchFamily="34" charset="-120"/>
              </a:rPr>
              <a:t>Cloud Database</a:t>
            </a:r>
            <a:endParaRPr lang="en-US" sz="2000" dirty="0"/>
          </a:p>
        </p:txBody>
      </p:sp>
      <p:sp>
        <p:nvSpPr>
          <p:cNvPr id="17" name="Text 15"/>
          <p:cNvSpPr/>
          <p:nvPr/>
        </p:nvSpPr>
        <p:spPr>
          <a:xfrm>
            <a:off x="6355080" y="1874520"/>
            <a:ext cx="2221992" cy="320040"/>
          </a:xfrm>
          <a:prstGeom prst="rect">
            <a:avLst/>
          </a:prstGeom>
          <a:noFill/>
          <a:ln/>
        </p:spPr>
        <p:txBody>
          <a:bodyPr wrap="square" rtlCol="0" anchor="ctr"/>
          <a:lstStyle/>
          <a:p>
            <a:pPr algn="ctr" indent="0" marL="0">
              <a:buNone/>
            </a:pPr>
            <a:r>
              <a:rPr lang="en-US" sz="1400" dirty="0">
                <a:solidFill>
                  <a:srgbClr val="5A5A54"/>
                </a:solidFill>
                <a:latin typeface="Inter" pitchFamily="34" charset="0"/>
                <a:ea typeface="Inter" pitchFamily="34" charset="-122"/>
                <a:cs typeface="Inter" pitchFamily="34" charset="-120"/>
              </a:rPr>
              <a:t>MongoDB Atlas</a:t>
            </a:r>
            <a:endParaRPr lang="en-US" sz="1400" dirty="0"/>
          </a:p>
        </p:txBody>
      </p:sp>
      <p:sp>
        <p:nvSpPr>
          <p:cNvPr id="18" name="Text 16"/>
          <p:cNvSpPr/>
          <p:nvPr/>
        </p:nvSpPr>
        <p:spPr>
          <a:xfrm>
            <a:off x="6355080" y="2240280"/>
            <a:ext cx="2221992" cy="502920"/>
          </a:xfrm>
          <a:prstGeom prst="rect">
            <a:avLst/>
          </a:prstGeom>
          <a:noFill/>
          <a:ln/>
        </p:spPr>
        <p:txBody>
          <a:bodyPr wrap="square" rtlCol="0" anchor="ctr"/>
          <a:lstStyle/>
          <a:p>
            <a:pPr algn="ctr" indent="0" marL="0">
              <a:buNone/>
            </a:pPr>
            <a:r>
              <a:rPr lang="en-US" sz="2400" b="1" dirty="0">
                <a:solidFill>
                  <a:srgbClr val="FFB702"/>
                </a:solidFill>
                <a:latin typeface="Montserrat" pitchFamily="34" charset="0"/>
                <a:ea typeface="Montserrat" pitchFamily="34" charset="-122"/>
                <a:cs typeface="Montserrat" pitchFamily="34" charset="-120"/>
              </a:rPr>
              <a:t>Live Ping</a:t>
            </a:r>
            <a:endParaRPr lang="en-US" sz="2400" dirty="0"/>
          </a:p>
        </p:txBody>
      </p:sp>
      <p:sp>
        <p:nvSpPr>
          <p:cNvPr id="19" name="Text 17"/>
          <p:cNvSpPr/>
          <p:nvPr/>
        </p:nvSpPr>
        <p:spPr>
          <a:xfrm>
            <a:off x="6355080" y="2788920"/>
            <a:ext cx="2221992" cy="777240"/>
          </a:xfrm>
          <a:prstGeom prst="rect">
            <a:avLst/>
          </a:prstGeom>
          <a:noFill/>
          <a:ln/>
        </p:spPr>
        <p:txBody>
          <a:bodyPr wrap="square" rtlCol="0" anchor="ctr"/>
          <a:lstStyle/>
          <a:p>
            <a:pPr algn="ctr" indent="0" marL="0">
              <a:buNone/>
            </a:pPr>
            <a:r>
              <a:rPr lang="en-US" sz="1400" dirty="0">
                <a:solidFill>
                  <a:srgbClr val="1C1C19"/>
                </a:solidFill>
                <a:latin typeface="Inter" pitchFamily="34" charset="0"/>
                <a:ea typeface="Inter" pitchFamily="34" charset="-122"/>
                <a:cs typeface="Inter" pitchFamily="34" charset="-120"/>
              </a:rPr>
              <a:t>Multi-tenant filter,</a:t>
            </a:r>
            <a:endParaRPr lang="en-US" sz="1400" dirty="0"/>
          </a:p>
          <a:p>
            <a:pPr algn="ctr" indent="0" marL="0">
              <a:buNone/>
            </a:pPr>
            <a:r>
              <a:rPr lang="en-US" sz="1400" dirty="0">
                <a:solidFill>
                  <a:srgbClr val="1C1C19"/>
                </a:solidFill>
                <a:latin typeface="Inter" pitchFamily="34" charset="0"/>
                <a:ea typeface="Inter" pitchFamily="34" charset="-122"/>
                <a:cs typeface="Inter" pitchFamily="34" charset="-120"/>
              </a:rPr>
              <a:t>keepalive health cron</a:t>
            </a:r>
            <a:endParaRPr lang="en-US" sz="1400" dirty="0"/>
          </a:p>
        </p:txBody>
      </p:sp>
      <p:sp>
        <p:nvSpPr>
          <p:cNvPr id="20" name="Shape 18"/>
          <p:cNvSpPr/>
          <p:nvPr/>
        </p:nvSpPr>
        <p:spPr>
          <a:xfrm>
            <a:off x="8961120" y="1325880"/>
            <a:ext cx="2496312" cy="2423160"/>
          </a:xfrm>
          <a:prstGeom prst="rect">
            <a:avLst>
              <a:gd name="adj" fmla="val 4528"/>
            </a:avLst>
          </a:prstGeom>
          <a:solidFill>
            <a:srgbClr val="FFFFFF"/>
          </a:solidFill>
          <a:ln w="19050">
            <a:solidFill>
              <a:srgbClr val="E5E0D8"/>
            </a:solidFill>
            <a:prstDash val="solid"/>
          </a:ln>
        </p:spPr>
      </p:sp>
      <p:sp>
        <p:nvSpPr>
          <p:cNvPr id="21" name="Text 19"/>
          <p:cNvSpPr/>
          <p:nvPr/>
        </p:nvSpPr>
        <p:spPr>
          <a:xfrm>
            <a:off x="9098280" y="1463040"/>
            <a:ext cx="2221992" cy="411480"/>
          </a:xfrm>
          <a:prstGeom prst="rect">
            <a:avLst/>
          </a:prstGeom>
          <a:noFill/>
          <a:ln/>
        </p:spPr>
        <p:txBody>
          <a:bodyPr wrap="square" rtlCol="0" anchor="ctr"/>
          <a:lstStyle/>
          <a:p>
            <a:pPr algn="ctr" indent="0" marL="0">
              <a:buNone/>
            </a:pPr>
            <a:r>
              <a:rPr lang="en-US" sz="2000" b="1" dirty="0">
                <a:solidFill>
                  <a:srgbClr val="1B4332"/>
                </a:solidFill>
                <a:latin typeface="Montserrat" pitchFamily="34" charset="0"/>
                <a:ea typeface="Montserrat" pitchFamily="34" charset="-122"/>
                <a:cs typeface="Montserrat" pitchFamily="34" charset="-120"/>
              </a:rPr>
              <a:t>ML &amp; Gemini</a:t>
            </a:r>
            <a:endParaRPr lang="en-US" sz="2000" dirty="0"/>
          </a:p>
        </p:txBody>
      </p:sp>
      <p:sp>
        <p:nvSpPr>
          <p:cNvPr id="22" name="Text 20"/>
          <p:cNvSpPr/>
          <p:nvPr/>
        </p:nvSpPr>
        <p:spPr>
          <a:xfrm>
            <a:off x="9098280" y="1874520"/>
            <a:ext cx="2221992" cy="320040"/>
          </a:xfrm>
          <a:prstGeom prst="rect">
            <a:avLst/>
          </a:prstGeom>
          <a:noFill/>
          <a:ln/>
        </p:spPr>
        <p:txBody>
          <a:bodyPr wrap="square" rtlCol="0" anchor="ctr"/>
          <a:lstStyle/>
          <a:p>
            <a:pPr algn="ctr" indent="0" marL="0">
              <a:buNone/>
            </a:pPr>
            <a:r>
              <a:rPr lang="en-US" sz="1400" dirty="0">
                <a:solidFill>
                  <a:srgbClr val="5A5A54"/>
                </a:solidFill>
                <a:latin typeface="Inter" pitchFamily="34" charset="0"/>
                <a:ea typeface="Inter" pitchFamily="34" charset="-122"/>
                <a:cs typeface="Inter" pitchFamily="34" charset="-120"/>
              </a:rPr>
              <a:t>Prophet + Gemini</a:t>
            </a:r>
            <a:endParaRPr lang="en-US" sz="1400" dirty="0"/>
          </a:p>
        </p:txBody>
      </p:sp>
      <p:sp>
        <p:nvSpPr>
          <p:cNvPr id="23" name="Text 21"/>
          <p:cNvSpPr/>
          <p:nvPr/>
        </p:nvSpPr>
        <p:spPr>
          <a:xfrm>
            <a:off x="9098280" y="2240280"/>
            <a:ext cx="2221992" cy="502920"/>
          </a:xfrm>
          <a:prstGeom prst="rect">
            <a:avLst/>
          </a:prstGeom>
          <a:noFill/>
          <a:ln/>
        </p:spPr>
        <p:txBody>
          <a:bodyPr wrap="square" rtlCol="0" anchor="ctr"/>
          <a:lstStyle/>
          <a:p>
            <a:pPr algn="ctr" indent="0" marL="0">
              <a:buNone/>
            </a:pPr>
            <a:r>
              <a:rPr lang="en-US" sz="2400" b="1" dirty="0">
                <a:solidFill>
                  <a:srgbClr val="FFB702"/>
                </a:solidFill>
                <a:latin typeface="Montserrat" pitchFamily="34" charset="0"/>
                <a:ea typeface="Montserrat" pitchFamily="34" charset="-122"/>
                <a:cs typeface="Montserrat" pitchFamily="34" charset="-120"/>
              </a:rPr>
              <a:t>Audited</a:t>
            </a:r>
            <a:endParaRPr lang="en-US" sz="2400" dirty="0"/>
          </a:p>
        </p:txBody>
      </p:sp>
      <p:sp>
        <p:nvSpPr>
          <p:cNvPr id="24" name="Text 22"/>
          <p:cNvSpPr/>
          <p:nvPr/>
        </p:nvSpPr>
        <p:spPr>
          <a:xfrm>
            <a:off x="9098280" y="2788920"/>
            <a:ext cx="2221992" cy="777240"/>
          </a:xfrm>
          <a:prstGeom prst="rect">
            <a:avLst/>
          </a:prstGeom>
          <a:noFill/>
          <a:ln/>
        </p:spPr>
        <p:txBody>
          <a:bodyPr wrap="square" rtlCol="0" anchor="ctr"/>
          <a:lstStyle/>
          <a:p>
            <a:pPr algn="ctr" indent="0" marL="0">
              <a:buNone/>
            </a:pPr>
            <a:r>
              <a:rPr lang="en-US" sz="1400" dirty="0">
                <a:solidFill>
                  <a:srgbClr val="1C1C19"/>
                </a:solidFill>
                <a:latin typeface="Inter" pitchFamily="34" charset="0"/>
                <a:ea typeface="Inter" pitchFamily="34" charset="-122"/>
                <a:cs typeface="Inter" pitchFamily="34" charset="-120"/>
              </a:rPr>
              <a:t>6-fold backtest,</a:t>
            </a:r>
            <a:endParaRPr lang="en-US" sz="1400" dirty="0"/>
          </a:p>
          <a:p>
            <a:pPr algn="ctr" indent="0" marL="0">
              <a:buNone/>
            </a:pPr>
            <a:r>
              <a:rPr lang="en-US" sz="1400" dirty="0">
                <a:solidFill>
                  <a:srgbClr val="1C1C19"/>
                </a:solidFill>
                <a:latin typeface="Inter" pitchFamily="34" charset="0"/>
                <a:ea typeface="Inter" pitchFamily="34" charset="-122"/>
                <a:cs typeface="Inter" pitchFamily="34" charset="-120"/>
              </a:rPr>
              <a:t>zero-math truth audit</a:t>
            </a:r>
            <a:endParaRPr lang="en-US" sz="1400" dirty="0"/>
          </a:p>
        </p:txBody>
      </p:sp>
      <p:sp>
        <p:nvSpPr>
          <p:cNvPr id="25" name="Shape 23"/>
          <p:cNvSpPr/>
          <p:nvPr/>
        </p:nvSpPr>
        <p:spPr>
          <a:xfrm>
            <a:off x="731520" y="3931920"/>
            <a:ext cx="10728655" cy="1143000"/>
          </a:xfrm>
          <a:prstGeom prst="rect">
            <a:avLst>
              <a:gd name="adj" fmla="val 9600"/>
            </a:avLst>
          </a:prstGeom>
          <a:solidFill>
            <a:srgbClr val="1B4332"/>
          </a:solidFill>
          <a:ln w="12700">
            <a:solidFill>
              <a:srgbClr val="0F291E"/>
            </a:solidFill>
            <a:prstDash val="solid"/>
          </a:ln>
        </p:spPr>
      </p:sp>
      <p:sp>
        <p:nvSpPr>
          <p:cNvPr id="26" name="Text 24"/>
          <p:cNvSpPr/>
          <p:nvPr/>
        </p:nvSpPr>
        <p:spPr>
          <a:xfrm>
            <a:off x="914400" y="4023360"/>
            <a:ext cx="7498080" cy="411480"/>
          </a:xfrm>
          <a:prstGeom prst="rect">
            <a:avLst/>
          </a:prstGeom>
          <a:noFill/>
          <a:ln/>
        </p:spPr>
        <p:txBody>
          <a:bodyPr wrap="square" rtlCol="0" anchor="ctr"/>
          <a:lstStyle/>
          <a:p>
            <a:pPr indent="0" marL="0">
              <a:buNone/>
            </a:pPr>
            <a:r>
              <a:rPr lang="en-US" sz="1800" b="1" dirty="0">
                <a:solidFill>
                  <a:srgbClr val="FFFFFF"/>
                </a:solidFill>
                <a:latin typeface="Montserrat" pitchFamily="34" charset="0"/>
                <a:ea typeface="Montserrat" pitchFamily="34" charset="-122"/>
                <a:cs typeface="Montserrat" pitchFamily="34" charset="-120"/>
              </a:rPr>
              <a:t>51 AUTOMATED TESTS + REAL PHONE CHECK</a:t>
            </a:r>
            <a:endParaRPr lang="en-US" sz="1800" dirty="0"/>
          </a:p>
        </p:txBody>
      </p:sp>
      <p:sp>
        <p:nvSpPr>
          <p:cNvPr id="27" name="Text 25"/>
          <p:cNvSpPr/>
          <p:nvPr/>
        </p:nvSpPr>
        <p:spPr>
          <a:xfrm>
            <a:off x="914400" y="4462272"/>
            <a:ext cx="7498080" cy="411480"/>
          </a:xfrm>
          <a:prstGeom prst="rect">
            <a:avLst/>
          </a:prstGeom>
          <a:noFill/>
          <a:ln/>
        </p:spPr>
        <p:txBody>
          <a:bodyPr wrap="square" rtlCol="0" anchor="ctr"/>
          <a:lstStyle/>
          <a:p>
            <a:pPr indent="0" marL="0">
              <a:buNone/>
            </a:pPr>
            <a:r>
              <a:rPr lang="en-US" sz="1450" dirty="0">
                <a:solidFill>
                  <a:srgbClr val="E5E0D8"/>
                </a:solidFill>
                <a:latin typeface="Inter" pitchFamily="34" charset="0"/>
                <a:ea typeface="Inter" pitchFamily="34" charset="-122"/>
                <a:cs typeface="Inter" pitchFamily="34" charset="-120"/>
              </a:rPr>
              <a:t>Complete local test suite executes in ~44 seconds with zero network dependencies.</a:t>
            </a:r>
            <a:endParaRPr lang="en-US" sz="1450" dirty="0"/>
          </a:p>
        </p:txBody>
      </p:sp>
      <p:sp>
        <p:nvSpPr>
          <p:cNvPr id="28" name="Text 26"/>
          <p:cNvSpPr/>
          <p:nvPr/>
        </p:nvSpPr>
        <p:spPr>
          <a:xfrm>
            <a:off x="8412480" y="4023360"/>
            <a:ext cx="2743200" cy="640080"/>
          </a:xfrm>
          <a:prstGeom prst="rect">
            <a:avLst/>
          </a:prstGeom>
          <a:noFill/>
          <a:ln/>
        </p:spPr>
        <p:txBody>
          <a:bodyPr wrap="square" rtlCol="0" anchor="ctr"/>
          <a:lstStyle/>
          <a:p>
            <a:pPr algn="ctr" indent="0" marL="0">
              <a:buNone/>
            </a:pPr>
            <a:r>
              <a:rPr lang="en-US" sz="3600" b="1" dirty="0">
                <a:solidFill>
                  <a:srgbClr val="FFB702"/>
                </a:solidFill>
                <a:latin typeface="Montserrat" pitchFamily="34" charset="0"/>
                <a:ea typeface="Montserrat" pitchFamily="34" charset="-122"/>
                <a:cs typeface="Montserrat" pitchFamily="34" charset="-120"/>
              </a:rPr>
              <a:t>44s</a:t>
            </a:r>
            <a:endParaRPr lang="en-US" sz="3600" dirty="0"/>
          </a:p>
        </p:txBody>
      </p:sp>
      <p:sp>
        <p:nvSpPr>
          <p:cNvPr id="29" name="Text 27"/>
          <p:cNvSpPr/>
          <p:nvPr/>
        </p:nvSpPr>
        <p:spPr>
          <a:xfrm>
            <a:off x="8412480" y="4663440"/>
            <a:ext cx="2743200" cy="320040"/>
          </a:xfrm>
          <a:prstGeom prst="rect">
            <a:avLst/>
          </a:prstGeom>
          <a:noFill/>
          <a:ln/>
        </p:spPr>
        <p:txBody>
          <a:bodyPr wrap="square" rtlCol="0" anchor="ctr"/>
          <a:lstStyle/>
          <a:p>
            <a:pPr algn="ctr" indent="0" marL="0">
              <a:buNone/>
            </a:pPr>
            <a:r>
              <a:rPr lang="en-US" sz="1400" dirty="0">
                <a:solidFill>
                  <a:srgbClr val="FFFFFF"/>
                </a:solidFill>
                <a:latin typeface="Inter" pitchFamily="34" charset="0"/>
                <a:ea typeface="Inter" pitchFamily="34" charset="-122"/>
                <a:cs typeface="Inter" pitchFamily="34" charset="-120"/>
              </a:rPr>
              <a:t>Total Suite Runtime</a:t>
            </a:r>
            <a:endParaRPr lang="en-US" sz="1400" dirty="0"/>
          </a:p>
        </p:txBody>
      </p:sp>
      <p:sp>
        <p:nvSpPr>
          <p:cNvPr id="30" name="Text 28"/>
          <p:cNvSpPr/>
          <p:nvPr/>
        </p:nvSpPr>
        <p:spPr>
          <a:xfrm>
            <a:off x="731520" y="5257800"/>
            <a:ext cx="10728655" cy="1234440"/>
          </a:xfrm>
          <a:prstGeom prst="rect">
            <a:avLst/>
          </a:prstGeom>
          <a:noFill/>
          <a:ln/>
        </p:spPr>
        <p:txBody>
          <a:bodyPr wrap="square" rtlCol="0" anchor="t"/>
          <a:lstStyle/>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Tested mobile UI, backend gateway, database layer, and AI services.</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Decoupled fast offline suites isolate business formulas from cloud network.</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Physical Android audit confirmed release build behavior on real hardware.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9F4"/>
        </a:solidFill>
      </p:bgPr>
    </p:bg>
    <p:spTree>
      <p:nvGrpSpPr>
        <p:cNvPr id="1" name=""/>
        <p:cNvGrpSpPr/>
        <p:nvPr/>
      </p:nvGrpSpPr>
      <p:grpSpPr>
        <a:xfrm>
          <a:off x="0" y="0"/>
          <a:ext cx="0" cy="0"/>
          <a:chOff x="0" y="0"/>
          <a:chExt cx="0" cy="0"/>
        </a:xfrm>
      </p:grpSpPr>
      <p:sp>
        <p:nvSpPr>
          <p:cNvPr id="2" name="Text 0"/>
          <p:cNvSpPr/>
          <p:nvPr/>
        </p:nvSpPr>
        <p:spPr>
          <a:xfrm>
            <a:off x="10515600" y="411480"/>
            <a:ext cx="1005840" cy="320040"/>
          </a:xfrm>
          <a:prstGeom prst="rect">
            <a:avLst/>
          </a:prstGeom>
          <a:noFill/>
          <a:ln/>
        </p:spPr>
        <p:txBody>
          <a:bodyPr wrap="square" rtlCol="0" anchor="ctr"/>
          <a:lstStyle/>
          <a:p>
            <a:pPr algn="r" indent="0" marL="0">
              <a:buNone/>
            </a:pPr>
            <a:r>
              <a:rPr lang="en-US" sz="1300" b="1" dirty="0">
                <a:solidFill>
                  <a:srgbClr val="5A5A54"/>
                </a:solidFill>
                <a:latin typeface="Montserrat" pitchFamily="34" charset="0"/>
                <a:ea typeface="Montserrat" pitchFamily="34" charset="-122"/>
                <a:cs typeface="Montserrat" pitchFamily="34" charset="-120"/>
              </a:rPr>
              <a:t>3 / 10</a:t>
            </a:r>
            <a:endParaRPr lang="en-US" sz="1300" dirty="0"/>
          </a:p>
        </p:txBody>
      </p:sp>
      <p:sp>
        <p:nvSpPr>
          <p:cNvPr id="3" name="Text 1"/>
          <p:cNvSpPr/>
          <p:nvPr/>
        </p:nvSpPr>
        <p:spPr>
          <a:xfrm>
            <a:off x="731520" y="365760"/>
            <a:ext cx="9692640" cy="594360"/>
          </a:xfrm>
          <a:prstGeom prst="rect">
            <a:avLst/>
          </a:prstGeom>
          <a:noFill/>
          <a:ln/>
        </p:spPr>
        <p:txBody>
          <a:bodyPr wrap="square" rtlCol="0" anchor="ctr"/>
          <a:lstStyle/>
          <a:p>
            <a:pPr indent="0" marL="0">
              <a:buNone/>
            </a:pPr>
            <a:r>
              <a:rPr lang="en-US" sz="3400" b="1" dirty="0">
                <a:solidFill>
                  <a:srgbClr val="1B4332"/>
                </a:solidFill>
                <a:latin typeface="Montserrat" pitchFamily="34" charset="0"/>
                <a:ea typeface="Montserrat" pitchFamily="34" charset="-122"/>
                <a:cs typeface="Montserrat" pitchFamily="34" charset="-120"/>
              </a:rPr>
              <a:t>Black-Box Testing: Bounds &amp; Decisions</a:t>
            </a:r>
            <a:endParaRPr lang="en-US" sz="3400" dirty="0"/>
          </a:p>
        </p:txBody>
      </p:sp>
      <p:sp>
        <p:nvSpPr>
          <p:cNvPr id="4" name="Shape 2"/>
          <p:cNvSpPr/>
          <p:nvPr/>
        </p:nvSpPr>
        <p:spPr>
          <a:xfrm>
            <a:off x="731520" y="1051560"/>
            <a:ext cx="10728655" cy="0"/>
          </a:xfrm>
          <a:prstGeom prst="line">
            <a:avLst/>
          </a:prstGeom>
          <a:noFill/>
          <a:ln w="31750">
            <a:solidFill>
              <a:srgbClr val="FFB702"/>
            </a:solidFill>
            <a:prstDash val="solid"/>
          </a:ln>
        </p:spPr>
      </p:sp>
      <p:sp>
        <p:nvSpPr>
          <p:cNvPr id="5" name="Shape 3"/>
          <p:cNvSpPr/>
          <p:nvPr/>
        </p:nvSpPr>
        <p:spPr>
          <a:xfrm>
            <a:off x="731520" y="1325880"/>
            <a:ext cx="5166360" cy="3703320"/>
          </a:xfrm>
          <a:prstGeom prst="rect">
            <a:avLst>
              <a:gd name="adj" fmla="val 2963"/>
            </a:avLst>
          </a:prstGeom>
          <a:solidFill>
            <a:srgbClr val="FFFFFF"/>
          </a:solidFill>
          <a:ln w="19050">
            <a:solidFill>
              <a:srgbClr val="E5E0D8"/>
            </a:solidFill>
            <a:prstDash val="solid"/>
          </a:ln>
        </p:spPr>
      </p:sp>
      <p:sp>
        <p:nvSpPr>
          <p:cNvPr id="6" name="Text 4"/>
          <p:cNvSpPr/>
          <p:nvPr/>
        </p:nvSpPr>
        <p:spPr>
          <a:xfrm>
            <a:off x="914400" y="1463040"/>
            <a:ext cx="4800600" cy="411480"/>
          </a:xfrm>
          <a:prstGeom prst="rect">
            <a:avLst/>
          </a:prstGeom>
          <a:noFill/>
          <a:ln/>
        </p:spPr>
        <p:txBody>
          <a:bodyPr wrap="square" rtlCol="0" anchor="ctr"/>
          <a:lstStyle/>
          <a:p>
            <a:pPr indent="0" marL="0">
              <a:buNone/>
            </a:pPr>
            <a:r>
              <a:rPr lang="en-US" sz="1700" b="1" dirty="0">
                <a:solidFill>
                  <a:srgbClr val="1B4332"/>
                </a:solidFill>
                <a:latin typeface="Montserrat" pitchFamily="34" charset="0"/>
                <a:ea typeface="Montserrat" pitchFamily="34" charset="-122"/>
                <a:cs typeface="Montserrat" pitchFamily="34" charset="-120"/>
              </a:rPr>
              <a:t>BVA: Assistant Query Length (1 to 500 chars)</a:t>
            </a:r>
            <a:endParaRPr lang="en-US" sz="1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14400" y="1965960"/>
          <a:ext cx="4800600" cy="2834640"/>
        </p:xfrm>
        <a:graphic>
          <a:graphicData uri="http://schemas.openxmlformats.org/drawingml/2006/table">
            <a:tbl>
              <a:tblPr/>
              <a:tblGrid>
                <a:gridCol w="1005840"/>
                <a:gridCol w="1965960"/>
                <a:gridCol w="1828800"/>
              </a:tblGrid>
              <a:tr h="502920">
                <a:tc>
                  <a:txBody>
                    <a:bodyPr/>
                    <a:lstStyle/>
                    <a:p>
                      <a:pPr algn="ctr" indent="0" marL="0">
                        <a:buNone/>
                      </a:pPr>
                      <a:r>
                        <a:rPr lang="en-US" sz="1600" b="1" dirty="0">
                          <a:solidFill>
                            <a:srgbClr val="1B4332"/>
                          </a:solidFill>
                          <a:latin typeface="Montserrat" pitchFamily="34" charset="0"/>
                          <a:ea typeface="Montserrat" pitchFamily="34" charset="-122"/>
                          <a:cs typeface="Montserrat" pitchFamily="34" charset="-120"/>
                        </a:rPr>
                        <a:t>Length</a:t>
                      </a:r>
                      <a:endParaRPr lang="en-US" sz="16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FEAE1"/>
                    </a:solidFill>
                  </a:tcPr>
                </a:tc>
                <a:tc>
                  <a:txBody>
                    <a:bodyPr/>
                    <a:lstStyle/>
                    <a:p>
                      <a:pPr indent="0" marL="0">
                        <a:buNone/>
                      </a:pPr>
                      <a:r>
                        <a:rPr lang="en-US" sz="1600" b="1" dirty="0">
                          <a:solidFill>
                            <a:srgbClr val="1B4332"/>
                          </a:solidFill>
                          <a:latin typeface="Montserrat" pitchFamily="34" charset="0"/>
                          <a:ea typeface="Montserrat" pitchFamily="34" charset="-122"/>
                          <a:cs typeface="Montserrat" pitchFamily="34" charset="-120"/>
                        </a:rPr>
                        <a:t>Tested Input</a:t>
                      </a:r>
                      <a:endParaRPr lang="en-US" sz="16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FEAE1"/>
                    </a:solidFill>
                  </a:tcPr>
                </a:tc>
                <a:tc>
                  <a:txBody>
                    <a:bodyPr/>
                    <a:lstStyle/>
                    <a:p>
                      <a:pPr indent="0" marL="0">
                        <a:buNone/>
                      </a:pPr>
                      <a:r>
                        <a:rPr lang="en-US" sz="1600" b="1" dirty="0">
                          <a:solidFill>
                            <a:srgbClr val="1B4332"/>
                          </a:solidFill>
                          <a:latin typeface="Montserrat" pitchFamily="34" charset="0"/>
                          <a:ea typeface="Montserrat" pitchFamily="34" charset="-122"/>
                          <a:cs typeface="Montserrat" pitchFamily="34" charset="-120"/>
                        </a:rPr>
                        <a:t>Expected Output</a:t>
                      </a:r>
                      <a:endParaRPr lang="en-US" sz="16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FEAE1"/>
                    </a:solidFill>
                  </a:tcPr>
                </a:tc>
              </a:tr>
              <a:tr h="548640">
                <a:tc>
                  <a:txBody>
                    <a:bodyPr/>
                    <a:lstStyle/>
                    <a:p>
                      <a:pPr indent="0" marL="0">
                        <a:buNone/>
                      </a:pPr>
                      <a:r>
                        <a:rPr lang="en-US" sz="1600" dirty="0">
                          <a:solidFill>
                            <a:srgbClr val="1C1C19"/>
                          </a:solidFill>
                          <a:latin typeface="Inter" pitchFamily="34" charset="0"/>
                          <a:ea typeface="Inter" pitchFamily="34" charset="-122"/>
                          <a:cs typeface="Inter" pitchFamily="34" charset="-120"/>
                        </a:rPr>
                        <a:t>0</a:t>
                      </a:r>
                      <a:endParaRPr lang="en-US" sz="16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600" dirty="0">
                          <a:solidFill>
                            <a:srgbClr val="1C1C19"/>
                          </a:solidFill>
                          <a:latin typeface="Inter" pitchFamily="34" charset="0"/>
                          <a:ea typeface="Inter" pitchFamily="34" charset="-122"/>
                          <a:cs typeface="Inter" pitchFamily="34" charset="-120"/>
                        </a:rPr>
                        <a:t>Empty string ""</a:t>
                      </a:r>
                      <a:endParaRPr lang="en-US" sz="16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600" dirty="0">
                          <a:solidFill>
                            <a:srgbClr val="1C1C19"/>
                          </a:solidFill>
                          <a:latin typeface="Inter" pitchFamily="34" charset="0"/>
                          <a:ea typeface="Inter" pitchFamily="34" charset="-122"/>
                          <a:cs typeface="Inter" pitchFamily="34" charset="-120"/>
                        </a:rPr>
                        <a:t>Rejects empty input</a:t>
                      </a:r>
                      <a:endParaRPr lang="en-US" sz="16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1C1C19"/>
                          </a:solidFill>
                          <a:latin typeface="Inter" pitchFamily="34" charset="0"/>
                          <a:ea typeface="Inter" pitchFamily="34" charset="-122"/>
                          <a:cs typeface="Inter" pitchFamily="34" charset="-120"/>
                        </a:rPr>
                        <a:t>1</a:t>
                      </a:r>
                      <a:endParaRPr lang="en-US" sz="16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600" dirty="0">
                          <a:solidFill>
                            <a:srgbClr val="1C1C19"/>
                          </a:solidFill>
                          <a:latin typeface="Inter" pitchFamily="34" charset="0"/>
                          <a:ea typeface="Inter" pitchFamily="34" charset="-122"/>
                          <a:cs typeface="Inter" pitchFamily="34" charset="-120"/>
                        </a:rPr>
                        <a:t>Single character "a"</a:t>
                      </a:r>
                      <a:endParaRPr lang="en-US" sz="16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600" dirty="0">
                          <a:solidFill>
                            <a:srgbClr val="1C1C19"/>
                          </a:solidFill>
                          <a:latin typeface="Inter" pitchFamily="34" charset="0"/>
                          <a:ea typeface="Inter" pitchFamily="34" charset="-122"/>
                          <a:cs typeface="Inter" pitchFamily="34" charset="-120"/>
                        </a:rPr>
                        <a:t>Accepted (Status 200)</a:t>
                      </a:r>
                      <a:endParaRPr lang="en-US" sz="16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1C1C19"/>
                          </a:solidFill>
                          <a:latin typeface="Inter" pitchFamily="34" charset="0"/>
                          <a:ea typeface="Inter" pitchFamily="34" charset="-122"/>
                          <a:cs typeface="Inter" pitchFamily="34" charset="-120"/>
                        </a:rPr>
                        <a:t>500</a:t>
                      </a:r>
                      <a:endParaRPr lang="en-US" sz="16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600" dirty="0">
                          <a:solidFill>
                            <a:srgbClr val="1C1C19"/>
                          </a:solidFill>
                          <a:latin typeface="Inter" pitchFamily="34" charset="0"/>
                          <a:ea typeface="Inter" pitchFamily="34" charset="-122"/>
                          <a:cs typeface="Inter" pitchFamily="34" charset="-120"/>
                        </a:rPr>
                        <a:t>500-character prompt</a:t>
                      </a:r>
                      <a:endParaRPr lang="en-US" sz="16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600" dirty="0">
                          <a:solidFill>
                            <a:srgbClr val="1C1C19"/>
                          </a:solidFill>
                          <a:latin typeface="Inter" pitchFamily="34" charset="0"/>
                          <a:ea typeface="Inter" pitchFamily="34" charset="-122"/>
                          <a:cs typeface="Inter" pitchFamily="34" charset="-120"/>
                        </a:rPr>
                        <a:t>Accepted (Status 200)</a:t>
                      </a:r>
                      <a:endParaRPr lang="en-US" sz="16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1C1C19"/>
                          </a:solidFill>
                          <a:latin typeface="Inter" pitchFamily="34" charset="0"/>
                          <a:ea typeface="Inter" pitchFamily="34" charset="-122"/>
                          <a:cs typeface="Inter" pitchFamily="34" charset="-120"/>
                        </a:rPr>
                        <a:t>501</a:t>
                      </a:r>
                      <a:endParaRPr lang="en-US" sz="16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600" dirty="0">
                          <a:solidFill>
                            <a:srgbClr val="1C1C19"/>
                          </a:solidFill>
                          <a:latin typeface="Inter" pitchFamily="34" charset="0"/>
                          <a:ea typeface="Inter" pitchFamily="34" charset="-122"/>
                          <a:cs typeface="Inter" pitchFamily="34" charset="-120"/>
                        </a:rPr>
                        <a:t>501-character prompt</a:t>
                      </a:r>
                      <a:endParaRPr lang="en-US" sz="16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600" dirty="0">
                          <a:solidFill>
                            <a:srgbClr val="1C1C19"/>
                          </a:solidFill>
                          <a:latin typeface="Inter" pitchFamily="34" charset="0"/>
                          <a:ea typeface="Inter" pitchFamily="34" charset="-122"/>
                          <a:cs typeface="Inter" pitchFamily="34" charset="-120"/>
                        </a:rPr>
                        <a:t>Rejects oversized input</a:t>
                      </a:r>
                      <a:endParaRPr lang="en-US" sz="16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bl>
          </a:graphicData>
        </a:graphic>
      </p:graphicFrame>
      <p:sp>
        <p:nvSpPr>
          <p:cNvPr id="8" name="Shape 5"/>
          <p:cNvSpPr/>
          <p:nvPr/>
        </p:nvSpPr>
        <p:spPr>
          <a:xfrm>
            <a:off x="6263640" y="1325880"/>
            <a:ext cx="5193792" cy="3703320"/>
          </a:xfrm>
          <a:prstGeom prst="rect">
            <a:avLst>
              <a:gd name="adj" fmla="val 2963"/>
            </a:avLst>
          </a:prstGeom>
          <a:solidFill>
            <a:srgbClr val="FFFFFF"/>
          </a:solidFill>
          <a:ln w="19050">
            <a:solidFill>
              <a:srgbClr val="E5E0D8"/>
            </a:solidFill>
            <a:prstDash val="solid"/>
          </a:ln>
        </p:spPr>
      </p:sp>
      <p:sp>
        <p:nvSpPr>
          <p:cNvPr id="9" name="Text 6"/>
          <p:cNvSpPr/>
          <p:nvPr/>
        </p:nvSpPr>
        <p:spPr>
          <a:xfrm>
            <a:off x="6446520" y="1463040"/>
            <a:ext cx="4828032" cy="411480"/>
          </a:xfrm>
          <a:prstGeom prst="rect">
            <a:avLst/>
          </a:prstGeom>
          <a:noFill/>
          <a:ln/>
        </p:spPr>
        <p:txBody>
          <a:bodyPr wrap="square" rtlCol="0" anchor="ctr"/>
          <a:lstStyle/>
          <a:p>
            <a:pPr indent="0" marL="0">
              <a:buNone/>
            </a:pPr>
            <a:r>
              <a:rPr lang="en-US" sz="1700" b="1" dirty="0">
                <a:solidFill>
                  <a:srgbClr val="1B4332"/>
                </a:solidFill>
                <a:latin typeface="Montserrat" pitchFamily="34" charset="0"/>
                <a:ea typeface="Montserrat" pitchFamily="34" charset="-122"/>
                <a:cs typeface="Montserrat" pitchFamily="34" charset="-120"/>
              </a:rPr>
              <a:t>Decision Table: Waste Action Boundaries</a:t>
            </a:r>
            <a:endParaRPr lang="en-US" sz="17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446520" y="1965960"/>
          <a:ext cx="4828032" cy="2834640"/>
        </p:xfrm>
        <a:graphic>
          <a:graphicData uri="http://schemas.openxmlformats.org/drawingml/2006/table">
            <a:tbl>
              <a:tblPr/>
              <a:tblGrid>
                <a:gridCol w="1051560"/>
                <a:gridCol w="1417320"/>
                <a:gridCol w="2359152"/>
              </a:tblGrid>
              <a:tr h="502920">
                <a:tc>
                  <a:txBody>
                    <a:bodyPr/>
                    <a:lstStyle/>
                    <a:p>
                      <a:pPr algn="ctr" indent="0" marL="0">
                        <a:buNone/>
                      </a:pPr>
                      <a:r>
                        <a:rPr lang="en-US" sz="1500" b="1" dirty="0">
                          <a:solidFill>
                            <a:srgbClr val="1B4332"/>
                          </a:solidFill>
                          <a:latin typeface="Montserrat" pitchFamily="34" charset="0"/>
                          <a:ea typeface="Montserrat" pitchFamily="34" charset="-122"/>
                          <a:cs typeface="Montserrat" pitchFamily="34" charset="-120"/>
                        </a:rPr>
                        <a:t>Pace Ratio</a:t>
                      </a:r>
                      <a:endParaRPr lang="en-US" sz="15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FEAE1"/>
                    </a:solidFill>
                  </a:tcPr>
                </a:tc>
                <a:tc>
                  <a:txBody>
                    <a:bodyPr/>
                    <a:lstStyle/>
                    <a:p>
                      <a:pPr algn="ctr" indent="0" marL="0">
                        <a:buNone/>
                      </a:pPr>
                      <a:r>
                        <a:rPr lang="en-US" sz="1500" b="1" dirty="0">
                          <a:solidFill>
                            <a:srgbClr val="1B4332"/>
                          </a:solidFill>
                          <a:latin typeface="Montserrat" pitchFamily="34" charset="0"/>
                          <a:ea typeface="Montserrat" pitchFamily="34" charset="-122"/>
                          <a:cs typeface="Montserrat" pitchFamily="34" charset="-120"/>
                        </a:rPr>
                        <a:t>Perishable</a:t>
                      </a:r>
                      <a:endParaRPr lang="en-US" sz="15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FEAE1"/>
                    </a:solidFill>
                  </a:tcPr>
                </a:tc>
                <a:tc>
                  <a:txBody>
                    <a:bodyPr/>
                    <a:lstStyle/>
                    <a:p>
                      <a:pPr indent="0" marL="0">
                        <a:buNone/>
                      </a:pPr>
                      <a:r>
                        <a:rPr lang="en-US" sz="1500" b="1" dirty="0">
                          <a:solidFill>
                            <a:srgbClr val="1B4332"/>
                          </a:solidFill>
                          <a:latin typeface="Montserrat" pitchFamily="34" charset="0"/>
                          <a:ea typeface="Montserrat" pitchFamily="34" charset="-122"/>
                          <a:cs typeface="Montserrat" pitchFamily="34" charset="-120"/>
                        </a:rPr>
                        <a:t>Action Output</a:t>
                      </a:r>
                      <a:endParaRPr lang="en-US" sz="150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FEAE1"/>
                    </a:solidFill>
                  </a:tcPr>
                </a:tc>
              </a:tr>
              <a:tr h="548640">
                <a:tc>
                  <a:txBody>
                    <a:bodyPr/>
                    <a:lstStyle/>
                    <a:p>
                      <a:pPr indent="0" marL="0">
                        <a:buNone/>
                      </a:pPr>
                      <a:r>
                        <a:rPr lang="en-US" sz="1500" dirty="0">
                          <a:solidFill>
                            <a:srgbClr val="1C1C19"/>
                          </a:solidFill>
                          <a:latin typeface="Inter" pitchFamily="34" charset="0"/>
                          <a:ea typeface="Inter" pitchFamily="34" charset="-122"/>
                          <a:cs typeface="Inter" pitchFamily="34" charset="-120"/>
                        </a:rPr>
                        <a:t>0.70</a:t>
                      </a:r>
                      <a:endParaRPr lang="en-US" sz="15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500" dirty="0">
                          <a:solidFill>
                            <a:srgbClr val="1C1C19"/>
                          </a:solidFill>
                          <a:latin typeface="Inter" pitchFamily="34" charset="0"/>
                          <a:ea typeface="Inter" pitchFamily="34" charset="-122"/>
                          <a:cs typeface="Inter" pitchFamily="34" charset="-120"/>
                        </a:rPr>
                        <a:t>True</a:t>
                      </a:r>
                      <a:endParaRPr lang="en-US" sz="15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500" dirty="0">
                          <a:solidFill>
                            <a:srgbClr val="1C1C19"/>
                          </a:solidFill>
                          <a:latin typeface="Inter" pitchFamily="34" charset="0"/>
                          <a:ea typeface="Inter" pitchFamily="34" charset="-122"/>
                          <a:cs typeface="Inter" pitchFamily="34" charset="-120"/>
                        </a:rPr>
                        <a:t>Normal pace: No alert</a:t>
                      </a:r>
                      <a:endParaRPr lang="en-US" sz="15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C1C19"/>
                          </a:solidFill>
                          <a:latin typeface="Inter" pitchFamily="34" charset="0"/>
                          <a:ea typeface="Inter" pitchFamily="34" charset="-122"/>
                          <a:cs typeface="Inter" pitchFamily="34" charset="-120"/>
                        </a:rPr>
                        <a:t>0.69</a:t>
                      </a:r>
                      <a:endParaRPr lang="en-US" sz="15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500" dirty="0">
                          <a:solidFill>
                            <a:srgbClr val="1C1C19"/>
                          </a:solidFill>
                          <a:latin typeface="Inter" pitchFamily="34" charset="0"/>
                          <a:ea typeface="Inter" pitchFamily="34" charset="-122"/>
                          <a:cs typeface="Inter" pitchFamily="34" charset="-120"/>
                        </a:rPr>
                        <a:t>True</a:t>
                      </a:r>
                      <a:endParaRPr lang="en-US" sz="15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500" dirty="0">
                          <a:solidFill>
                            <a:srgbClr val="1C1C19"/>
                          </a:solidFill>
                          <a:latin typeface="Inter" pitchFamily="34" charset="0"/>
                          <a:ea typeface="Inter" pitchFamily="34" charset="-122"/>
                          <a:cs typeface="Inter" pitchFamily="34" charset="-120"/>
                        </a:rPr>
                        <a:t>Slow pace: Suggest 20% Discount</a:t>
                      </a:r>
                      <a:endParaRPr lang="en-US" sz="15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C1C19"/>
                          </a:solidFill>
                          <a:latin typeface="Inter" pitchFamily="34" charset="0"/>
                          <a:ea typeface="Inter" pitchFamily="34" charset="-122"/>
                          <a:cs typeface="Inter" pitchFamily="34" charset="-120"/>
                        </a:rPr>
                        <a:t>0.35</a:t>
                      </a:r>
                      <a:endParaRPr lang="en-US" sz="15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500" dirty="0">
                          <a:solidFill>
                            <a:srgbClr val="1C1C19"/>
                          </a:solidFill>
                          <a:latin typeface="Inter" pitchFamily="34" charset="0"/>
                          <a:ea typeface="Inter" pitchFamily="34" charset="-122"/>
                          <a:cs typeface="Inter" pitchFamily="34" charset="-120"/>
                        </a:rPr>
                        <a:t>True</a:t>
                      </a:r>
                      <a:endParaRPr lang="en-US" sz="15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500" dirty="0">
                          <a:solidFill>
                            <a:srgbClr val="1C1C19"/>
                          </a:solidFill>
                          <a:latin typeface="Inter" pitchFamily="34" charset="0"/>
                          <a:ea typeface="Inter" pitchFamily="34" charset="-122"/>
                          <a:cs typeface="Inter" pitchFamily="34" charset="-120"/>
                        </a:rPr>
                        <a:t>Moderate risk: Suggest 20% Discount</a:t>
                      </a:r>
                      <a:endParaRPr lang="en-US" sz="15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C1C19"/>
                          </a:solidFill>
                          <a:latin typeface="Inter" pitchFamily="34" charset="0"/>
                          <a:ea typeface="Inter" pitchFamily="34" charset="-122"/>
                          <a:cs typeface="Inter" pitchFamily="34" charset="-120"/>
                        </a:rPr>
                        <a:t>0.34</a:t>
                      </a:r>
                      <a:endParaRPr lang="en-US" sz="15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500" dirty="0">
                          <a:solidFill>
                            <a:srgbClr val="1C1C19"/>
                          </a:solidFill>
                          <a:latin typeface="Inter" pitchFamily="34" charset="0"/>
                          <a:ea typeface="Inter" pitchFamily="34" charset="-122"/>
                          <a:cs typeface="Inter" pitchFamily="34" charset="-120"/>
                        </a:rPr>
                        <a:t>True</a:t>
                      </a:r>
                      <a:endParaRPr lang="en-US" sz="15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500" dirty="0">
                          <a:solidFill>
                            <a:srgbClr val="1C1C19"/>
                          </a:solidFill>
                          <a:latin typeface="Inter" pitchFamily="34" charset="0"/>
                          <a:ea typeface="Inter" pitchFamily="34" charset="-122"/>
                          <a:cs typeface="Inter" pitchFamily="34" charset="-120"/>
                        </a:rPr>
                        <a:t>Critical: Suggest 30% / Legacy Flag</a:t>
                      </a:r>
                      <a:endParaRPr lang="en-US" sz="150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bl>
          </a:graphicData>
        </a:graphic>
      </p:graphicFrame>
      <p:sp>
        <p:nvSpPr>
          <p:cNvPr id="11" name="Text 7"/>
          <p:cNvSpPr/>
          <p:nvPr/>
        </p:nvSpPr>
        <p:spPr>
          <a:xfrm>
            <a:off x="731520" y="5257800"/>
            <a:ext cx="10728655" cy="1234440"/>
          </a:xfrm>
          <a:prstGeom prst="rect">
            <a:avLst/>
          </a:prstGeom>
          <a:noFill/>
          <a:ln/>
        </p:spPr>
        <p:txBody>
          <a:bodyPr wrap="square" rtlCol="0" anchor="t"/>
          <a:lstStyle/>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Boundary value analysis validates assistant input rejects invalid lengths.</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Decision table tests exact velocity cutoffs triggering markdown actions.</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Pure offline test harnesses verify logic without calling external APIs.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9F4"/>
        </a:solidFill>
      </p:bgPr>
    </p:bg>
    <p:spTree>
      <p:nvGrpSpPr>
        <p:cNvPr id="1" name=""/>
        <p:cNvGrpSpPr/>
        <p:nvPr/>
      </p:nvGrpSpPr>
      <p:grpSpPr>
        <a:xfrm>
          <a:off x="0" y="0"/>
          <a:ext cx="0" cy="0"/>
          <a:chOff x="0" y="0"/>
          <a:chExt cx="0" cy="0"/>
        </a:xfrm>
      </p:grpSpPr>
      <p:sp>
        <p:nvSpPr>
          <p:cNvPr id="2" name="Text 0"/>
          <p:cNvSpPr/>
          <p:nvPr/>
        </p:nvSpPr>
        <p:spPr>
          <a:xfrm>
            <a:off x="10515600" y="411480"/>
            <a:ext cx="1005840" cy="320040"/>
          </a:xfrm>
          <a:prstGeom prst="rect">
            <a:avLst/>
          </a:prstGeom>
          <a:noFill/>
          <a:ln/>
        </p:spPr>
        <p:txBody>
          <a:bodyPr wrap="square" rtlCol="0" anchor="ctr"/>
          <a:lstStyle/>
          <a:p>
            <a:pPr algn="r" indent="0" marL="0">
              <a:buNone/>
            </a:pPr>
            <a:r>
              <a:rPr lang="en-US" sz="1300" b="1" dirty="0">
                <a:solidFill>
                  <a:srgbClr val="5A5A54"/>
                </a:solidFill>
                <a:latin typeface="Montserrat" pitchFamily="34" charset="0"/>
                <a:ea typeface="Montserrat" pitchFamily="34" charset="-122"/>
                <a:cs typeface="Montserrat" pitchFamily="34" charset="-120"/>
              </a:rPr>
              <a:t>4 / 10</a:t>
            </a:r>
            <a:endParaRPr lang="en-US" sz="1300" dirty="0"/>
          </a:p>
        </p:txBody>
      </p:sp>
      <p:sp>
        <p:nvSpPr>
          <p:cNvPr id="3" name="Text 1"/>
          <p:cNvSpPr/>
          <p:nvPr/>
        </p:nvSpPr>
        <p:spPr>
          <a:xfrm>
            <a:off x="731520" y="365760"/>
            <a:ext cx="9692640" cy="594360"/>
          </a:xfrm>
          <a:prstGeom prst="rect">
            <a:avLst/>
          </a:prstGeom>
          <a:noFill/>
          <a:ln/>
        </p:spPr>
        <p:txBody>
          <a:bodyPr wrap="square" rtlCol="0" anchor="ctr"/>
          <a:lstStyle/>
          <a:p>
            <a:pPr indent="0" marL="0">
              <a:buNone/>
            </a:pPr>
            <a:r>
              <a:rPr lang="en-US" sz="3400" b="1" dirty="0">
                <a:solidFill>
                  <a:srgbClr val="1B4332"/>
                </a:solidFill>
                <a:latin typeface="Montserrat" pitchFamily="34" charset="0"/>
                <a:ea typeface="Montserrat" pitchFamily="34" charset="-122"/>
                <a:cs typeface="Montserrat" pitchFamily="34" charset="-120"/>
              </a:rPr>
              <a:t>Waste Alert State Transitions</a:t>
            </a:r>
            <a:endParaRPr lang="en-US" sz="3400" dirty="0"/>
          </a:p>
        </p:txBody>
      </p:sp>
      <p:sp>
        <p:nvSpPr>
          <p:cNvPr id="4" name="Shape 2"/>
          <p:cNvSpPr/>
          <p:nvPr/>
        </p:nvSpPr>
        <p:spPr>
          <a:xfrm>
            <a:off x="731520" y="1051560"/>
            <a:ext cx="10728655" cy="0"/>
          </a:xfrm>
          <a:prstGeom prst="line">
            <a:avLst/>
          </a:prstGeom>
          <a:noFill/>
          <a:ln w="31750">
            <a:solidFill>
              <a:srgbClr val="FFB702"/>
            </a:solidFill>
            <a:prstDash val="solid"/>
          </a:ln>
        </p:spPr>
      </p:sp>
      <p:sp>
        <p:nvSpPr>
          <p:cNvPr id="5" name="Shape 3"/>
          <p:cNvSpPr/>
          <p:nvPr/>
        </p:nvSpPr>
        <p:spPr>
          <a:xfrm>
            <a:off x="731520" y="1325880"/>
            <a:ext cx="10728655" cy="3703320"/>
          </a:xfrm>
          <a:prstGeom prst="rect">
            <a:avLst>
              <a:gd name="adj" fmla="val 2963"/>
            </a:avLst>
          </a:prstGeom>
          <a:solidFill>
            <a:srgbClr val="FFFFFF"/>
          </a:solidFill>
          <a:ln w="19050">
            <a:solidFill>
              <a:srgbClr val="E5E0D8"/>
            </a:solidFill>
            <a:prstDash val="solid"/>
          </a:ln>
        </p:spPr>
      </p:sp>
      <p:sp>
        <p:nvSpPr>
          <p:cNvPr id="6" name="Shape 4"/>
          <p:cNvSpPr/>
          <p:nvPr/>
        </p:nvSpPr>
        <p:spPr>
          <a:xfrm>
            <a:off x="960120" y="2377440"/>
            <a:ext cx="1783080" cy="1371600"/>
          </a:xfrm>
          <a:prstGeom prst="rect">
            <a:avLst>
              <a:gd name="adj" fmla="val 6667"/>
            </a:avLst>
          </a:prstGeom>
          <a:solidFill>
            <a:srgbClr val="EFEAE1"/>
          </a:solidFill>
          <a:ln w="25400">
            <a:solidFill>
              <a:srgbClr val="1B4332"/>
            </a:solidFill>
            <a:prstDash val="solid"/>
          </a:ln>
        </p:spPr>
      </p:sp>
      <p:sp>
        <p:nvSpPr>
          <p:cNvPr id="7" name="Text 5"/>
          <p:cNvSpPr/>
          <p:nvPr/>
        </p:nvSpPr>
        <p:spPr>
          <a:xfrm>
            <a:off x="1005840" y="2423160"/>
            <a:ext cx="1691640" cy="1280160"/>
          </a:xfrm>
          <a:prstGeom prst="rect">
            <a:avLst/>
          </a:prstGeom>
          <a:noFill/>
          <a:ln/>
        </p:spPr>
        <p:txBody>
          <a:bodyPr wrap="square" rtlCol="0" anchor="ctr"/>
          <a:lstStyle/>
          <a:p>
            <a:pPr algn="ctr" indent="0" marL="0">
              <a:buNone/>
            </a:pPr>
            <a:r>
              <a:rPr lang="en-US" sz="1450" b="1" dirty="0">
                <a:solidFill>
                  <a:srgbClr val="1B4332"/>
                </a:solidFill>
                <a:latin typeface="Montserrat" pitchFamily="34" charset="0"/>
                <a:ea typeface="Montserrat" pitchFamily="34" charset="-122"/>
                <a:cs typeface="Montserrat" pitchFamily="34" charset="-120"/>
              </a:rPr>
              <a:t>S0: UNFIRED</a:t>
            </a:r>
            <a:endParaRPr lang="en-US" sz="1450" dirty="0"/>
          </a:p>
          <a:p>
            <a:pPr algn="ctr" indent="0" marL="0">
              <a:buNone/>
            </a:pPr>
            <a:r>
              <a:rPr lang="en-US" sz="1450" b="1" dirty="0">
                <a:solidFill>
                  <a:srgbClr val="1B4332"/>
                </a:solidFill>
                <a:latin typeface="Montserrat" pitchFamily="34" charset="0"/>
                <a:ea typeface="Montserrat" pitchFamily="34" charset="-122"/>
                <a:cs typeface="Montserrat" pitchFamily="34" charset="-120"/>
              </a:rPr>
              <a:t>Normal Pace or</a:t>
            </a:r>
            <a:endParaRPr lang="en-US" sz="1450" dirty="0"/>
          </a:p>
          <a:p>
            <a:pPr algn="ctr" indent="0" marL="0">
              <a:buNone/>
            </a:pPr>
            <a:r>
              <a:rPr lang="en-US" sz="1450" b="1" dirty="0">
                <a:solidFill>
                  <a:srgbClr val="1B4332"/>
                </a:solidFill>
                <a:latin typeface="Montserrat" pitchFamily="34" charset="0"/>
                <a:ea typeface="Montserrat" pitchFamily="34" charset="-122"/>
                <a:cs typeface="Montserrat" pitchFamily="34" charset="-120"/>
              </a:rPr>
              <a:t>Zero Stock</a:t>
            </a:r>
            <a:endParaRPr lang="en-US" sz="1450" dirty="0"/>
          </a:p>
        </p:txBody>
      </p:sp>
      <p:sp>
        <p:nvSpPr>
          <p:cNvPr id="8" name="Shape 6"/>
          <p:cNvSpPr/>
          <p:nvPr/>
        </p:nvSpPr>
        <p:spPr>
          <a:xfrm>
            <a:off x="4041648" y="1600200"/>
            <a:ext cx="2103120" cy="1234440"/>
          </a:xfrm>
          <a:prstGeom prst="rect">
            <a:avLst>
              <a:gd name="adj" fmla="val 7407"/>
            </a:avLst>
          </a:prstGeom>
          <a:solidFill>
            <a:srgbClr val="FFFFFF"/>
          </a:solidFill>
          <a:ln w="31750">
            <a:solidFill>
              <a:srgbClr val="FFB702"/>
            </a:solidFill>
            <a:prstDash val="solid"/>
          </a:ln>
        </p:spPr>
      </p:sp>
      <p:sp>
        <p:nvSpPr>
          <p:cNvPr id="9" name="Text 7"/>
          <p:cNvSpPr/>
          <p:nvPr/>
        </p:nvSpPr>
        <p:spPr>
          <a:xfrm>
            <a:off x="4087368" y="1691640"/>
            <a:ext cx="2011680" cy="1051560"/>
          </a:xfrm>
          <a:prstGeom prst="rect">
            <a:avLst/>
          </a:prstGeom>
          <a:noFill/>
          <a:ln/>
        </p:spPr>
        <p:txBody>
          <a:bodyPr wrap="square" rtlCol="0" anchor="ctr"/>
          <a:lstStyle/>
          <a:p>
            <a:pPr algn="ctr" indent="0" marL="0">
              <a:buNone/>
            </a:pPr>
            <a:r>
              <a:rPr lang="en-US" sz="1350" b="1" dirty="0">
                <a:solidFill>
                  <a:srgbClr val="1C1C19"/>
                </a:solidFill>
                <a:latin typeface="Montserrat" pitchFamily="34" charset="0"/>
                <a:ea typeface="Montserrat" pitchFamily="34" charset="-122"/>
                <a:cs typeface="Montserrat" pitchFamily="34" charset="-120"/>
              </a:rPr>
              <a:t>S1: ACTIVE (LOW PACE)</a:t>
            </a:r>
            <a:endParaRPr lang="en-US" sz="1350" dirty="0"/>
          </a:p>
          <a:p>
            <a:pPr algn="ctr" indent="0" marL="0">
              <a:buNone/>
            </a:pPr>
            <a:r>
              <a:rPr lang="en-US" sz="1350" b="1" dirty="0">
                <a:solidFill>
                  <a:srgbClr val="1C1C19"/>
                </a:solidFill>
                <a:latin typeface="Montserrat" pitchFamily="34" charset="0"/>
                <a:ea typeface="Montserrat" pitchFamily="34" charset="-122"/>
                <a:cs typeface="Montserrat" pitchFamily="34" charset="-120"/>
              </a:rPr>
              <a:t>0.35 &lt;= Pace &lt; 0.70</a:t>
            </a:r>
            <a:endParaRPr lang="en-US" sz="1350" dirty="0"/>
          </a:p>
        </p:txBody>
      </p:sp>
      <p:sp>
        <p:nvSpPr>
          <p:cNvPr id="10" name="Shape 8"/>
          <p:cNvSpPr/>
          <p:nvPr/>
        </p:nvSpPr>
        <p:spPr>
          <a:xfrm>
            <a:off x="4041648" y="3520440"/>
            <a:ext cx="2103120" cy="1234440"/>
          </a:xfrm>
          <a:prstGeom prst="rect">
            <a:avLst>
              <a:gd name="adj" fmla="val 7407"/>
            </a:avLst>
          </a:prstGeom>
          <a:solidFill>
            <a:srgbClr val="B91C1C"/>
          </a:solidFill>
          <a:ln/>
        </p:spPr>
      </p:sp>
      <p:sp>
        <p:nvSpPr>
          <p:cNvPr id="11" name="Text 9"/>
          <p:cNvSpPr/>
          <p:nvPr/>
        </p:nvSpPr>
        <p:spPr>
          <a:xfrm>
            <a:off x="4087368" y="3611880"/>
            <a:ext cx="2011680" cy="1051560"/>
          </a:xfrm>
          <a:prstGeom prst="rect">
            <a:avLst/>
          </a:prstGeom>
          <a:noFill/>
          <a:ln/>
        </p:spPr>
        <p:txBody>
          <a:bodyPr wrap="square" rtlCol="0" anchor="ctr"/>
          <a:lstStyle/>
          <a:p>
            <a:pPr algn="ctr" indent="0" marL="0">
              <a:buNone/>
            </a:pPr>
            <a:r>
              <a:rPr lang="en-US" sz="1350" b="1" dirty="0">
                <a:solidFill>
                  <a:srgbClr val="1C1C19"/>
                </a:solidFill>
                <a:latin typeface="Montserrat" pitchFamily="34" charset="0"/>
                <a:ea typeface="Montserrat" pitchFamily="34" charset="-122"/>
                <a:cs typeface="Montserrat" pitchFamily="34" charset="-120"/>
              </a:rPr>
              <a:t>S2: ACTIVE (CRITICAL)</a:t>
            </a:r>
            <a:endParaRPr lang="en-US" sz="1350" dirty="0"/>
          </a:p>
          <a:p>
            <a:pPr algn="ctr" indent="0" marL="0">
              <a:buNone/>
            </a:pPr>
            <a:r>
              <a:rPr lang="en-US" sz="1350" b="1" dirty="0">
                <a:solidFill>
                  <a:srgbClr val="1C1C19"/>
                </a:solidFill>
                <a:latin typeface="Montserrat" pitchFamily="34" charset="0"/>
                <a:ea typeface="Montserrat" pitchFamily="34" charset="-122"/>
                <a:cs typeface="Montserrat" pitchFamily="34" charset="-120"/>
              </a:rPr>
              <a:t>Pace &lt; 0.35 &amp; Stock &gt; 0</a:t>
            </a:r>
            <a:endParaRPr lang="en-US" sz="1350" dirty="0"/>
          </a:p>
        </p:txBody>
      </p:sp>
      <p:sp>
        <p:nvSpPr>
          <p:cNvPr id="12" name="Shape 10"/>
          <p:cNvSpPr/>
          <p:nvPr/>
        </p:nvSpPr>
        <p:spPr>
          <a:xfrm>
            <a:off x="7452360" y="1600200"/>
            <a:ext cx="2011680" cy="1234440"/>
          </a:xfrm>
          <a:prstGeom prst="rect">
            <a:avLst>
              <a:gd name="adj" fmla="val 7407"/>
            </a:avLst>
          </a:prstGeom>
          <a:solidFill>
            <a:srgbClr val="FFFFFF"/>
          </a:solidFill>
          <a:ln w="31750">
            <a:solidFill>
              <a:srgbClr val="2D6A4F"/>
            </a:solidFill>
            <a:prstDash val="solid"/>
          </a:ln>
        </p:spPr>
      </p:sp>
      <p:sp>
        <p:nvSpPr>
          <p:cNvPr id="13" name="Text 11"/>
          <p:cNvSpPr/>
          <p:nvPr/>
        </p:nvSpPr>
        <p:spPr>
          <a:xfrm>
            <a:off x="7498080" y="1691640"/>
            <a:ext cx="1920240" cy="1051560"/>
          </a:xfrm>
          <a:prstGeom prst="rect">
            <a:avLst/>
          </a:prstGeom>
          <a:noFill/>
          <a:ln/>
        </p:spPr>
        <p:txBody>
          <a:bodyPr wrap="square" rtlCol="0" anchor="ctr"/>
          <a:lstStyle/>
          <a:p>
            <a:pPr algn="ctr" indent="0" marL="0">
              <a:buNone/>
            </a:pPr>
            <a:r>
              <a:rPr lang="en-US" sz="1350" b="1" dirty="0">
                <a:solidFill>
                  <a:srgbClr val="2D6A4F"/>
                </a:solidFill>
                <a:latin typeface="Montserrat" pitchFamily="34" charset="0"/>
                <a:ea typeface="Montserrat" pitchFamily="34" charset="-122"/>
                <a:cs typeface="Montserrat" pitchFamily="34" charset="-120"/>
              </a:rPr>
              <a:t>S3: DISCOUNTED</a:t>
            </a:r>
            <a:endParaRPr lang="en-US" sz="1350" dirty="0"/>
          </a:p>
          <a:p>
            <a:pPr algn="ctr" indent="0" marL="0">
              <a:buNone/>
            </a:pPr>
            <a:r>
              <a:rPr lang="en-US" sz="1350" b="1" dirty="0">
                <a:solidFill>
                  <a:srgbClr val="2D6A4F"/>
                </a:solidFill>
                <a:latin typeface="Montserrat" pitchFamily="34" charset="0"/>
                <a:ea typeface="Montserrat" pitchFamily="34" charset="-122"/>
                <a:cs typeface="Montserrat" pitchFamily="34" charset="-120"/>
              </a:rPr>
              <a:t>Price * 0.80 Mutated</a:t>
            </a:r>
            <a:endParaRPr lang="en-US" sz="1350" dirty="0"/>
          </a:p>
        </p:txBody>
      </p:sp>
      <p:sp>
        <p:nvSpPr>
          <p:cNvPr id="14" name="Shape 12"/>
          <p:cNvSpPr/>
          <p:nvPr/>
        </p:nvSpPr>
        <p:spPr>
          <a:xfrm>
            <a:off x="7452360" y="3520440"/>
            <a:ext cx="2011680" cy="1234440"/>
          </a:xfrm>
          <a:prstGeom prst="rect">
            <a:avLst>
              <a:gd name="adj" fmla="val 7407"/>
            </a:avLst>
          </a:prstGeom>
          <a:solidFill>
            <a:srgbClr val="FFFFFF"/>
          </a:solidFill>
          <a:ln w="25400">
            <a:solidFill>
              <a:srgbClr val="D8D2C6"/>
            </a:solidFill>
            <a:prstDash val="solid"/>
          </a:ln>
        </p:spPr>
      </p:sp>
      <p:sp>
        <p:nvSpPr>
          <p:cNvPr id="15" name="Text 13"/>
          <p:cNvSpPr/>
          <p:nvPr/>
        </p:nvSpPr>
        <p:spPr>
          <a:xfrm>
            <a:off x="7498080" y="3611880"/>
            <a:ext cx="1920240" cy="1051560"/>
          </a:xfrm>
          <a:prstGeom prst="rect">
            <a:avLst/>
          </a:prstGeom>
          <a:noFill/>
          <a:ln/>
        </p:spPr>
        <p:txBody>
          <a:bodyPr wrap="square" rtlCol="0" anchor="ctr"/>
          <a:lstStyle/>
          <a:p>
            <a:pPr algn="ctr" indent="0" marL="0">
              <a:buNone/>
            </a:pPr>
            <a:r>
              <a:rPr lang="en-US" sz="1300" b="1" dirty="0">
                <a:solidFill>
                  <a:srgbClr val="5A5A54"/>
                </a:solidFill>
                <a:latin typeface="Montserrat" pitchFamily="34" charset="0"/>
                <a:ea typeface="Montserrat" pitchFamily="34" charset="-122"/>
                <a:cs typeface="Montserrat" pitchFamily="34" charset="-120"/>
              </a:rPr>
              <a:t>S4: LEGACY STATE (DEF-011)</a:t>
            </a:r>
            <a:endParaRPr lang="en-US" sz="1300" dirty="0"/>
          </a:p>
          <a:p>
            <a:pPr algn="ctr" indent="0" marL="0">
              <a:buNone/>
            </a:pPr>
            <a:r>
              <a:rPr lang="en-US" sz="1300" b="1" dirty="0">
                <a:solidFill>
                  <a:srgbClr val="5A5A54"/>
                </a:solidFill>
                <a:latin typeface="Montserrat" pitchFamily="34" charset="0"/>
                <a:ea typeface="Montserrat" pitchFamily="34" charset="-122"/>
                <a:cs typeface="Montserrat" pitchFamily="34" charset="-120"/>
              </a:rPr>
              <a:t>Flagged for Donation</a:t>
            </a:r>
            <a:endParaRPr lang="en-US" sz="1300" dirty="0"/>
          </a:p>
        </p:txBody>
      </p:sp>
      <p:sp>
        <p:nvSpPr>
          <p:cNvPr id="16" name="Shape 14"/>
          <p:cNvSpPr/>
          <p:nvPr/>
        </p:nvSpPr>
        <p:spPr>
          <a:xfrm>
            <a:off x="10012680" y="2377440"/>
            <a:ext cx="1325880" cy="1371600"/>
          </a:xfrm>
          <a:prstGeom prst="rect">
            <a:avLst>
              <a:gd name="adj" fmla="val 6897"/>
            </a:avLst>
          </a:prstGeom>
          <a:solidFill>
            <a:srgbClr val="EFEAE1"/>
          </a:solidFill>
          <a:ln w="25400">
            <a:solidFill>
              <a:srgbClr val="5A5A54"/>
            </a:solidFill>
            <a:prstDash val="solid"/>
          </a:ln>
        </p:spPr>
      </p:sp>
      <p:sp>
        <p:nvSpPr>
          <p:cNvPr id="17" name="Text 15"/>
          <p:cNvSpPr/>
          <p:nvPr/>
        </p:nvSpPr>
        <p:spPr>
          <a:xfrm>
            <a:off x="10058400" y="2423160"/>
            <a:ext cx="1234440" cy="1280160"/>
          </a:xfrm>
          <a:prstGeom prst="rect">
            <a:avLst/>
          </a:prstGeom>
          <a:noFill/>
          <a:ln/>
        </p:spPr>
        <p:txBody>
          <a:bodyPr wrap="square" rtlCol="0" anchor="ctr"/>
          <a:lstStyle/>
          <a:p>
            <a:pPr algn="ctr" indent="0" marL="0">
              <a:buNone/>
            </a:pPr>
            <a:r>
              <a:rPr lang="en-US" sz="1200" b="1" dirty="0">
                <a:solidFill>
                  <a:srgbClr val="1B4332"/>
                </a:solidFill>
                <a:latin typeface="Montserrat" pitchFamily="34" charset="0"/>
                <a:ea typeface="Montserrat" pitchFamily="34" charset="-122"/>
                <a:cs typeface="Montserrat" pitchFamily="34" charset="-120"/>
              </a:rPr>
              <a:t>S5: DISMISSED</a:t>
            </a:r>
            <a:endParaRPr lang="en-US" sz="1200" dirty="0"/>
          </a:p>
          <a:p>
            <a:pPr algn="ctr" indent="0" marL="0">
              <a:buNone/>
            </a:pPr>
            <a:endParaRPr lang="en-US" sz="1200" dirty="0"/>
          </a:p>
          <a:p>
            <a:pPr algn="ctr" indent="0" marL="0">
              <a:buNone/>
            </a:pPr>
            <a:r>
              <a:rPr lang="en-US" sz="1200" b="1" dirty="0">
                <a:solidFill>
                  <a:srgbClr val="1B4332"/>
                </a:solidFill>
                <a:latin typeface="Montserrat" pitchFamily="34" charset="0"/>
                <a:ea typeface="Montserrat" pitchFamily="34" charset="-122"/>
                <a:cs typeface="Montserrat" pitchFamily="34" charset="-120"/>
              </a:rPr>
              <a:t>Alert is</a:t>
            </a:r>
            <a:endParaRPr lang="en-US" sz="1200" dirty="0"/>
          </a:p>
          <a:p>
            <a:pPr algn="ctr" indent="0" marL="0">
              <a:buNone/>
            </a:pPr>
            <a:r>
              <a:rPr lang="en-US" sz="1200" b="1" dirty="0">
                <a:solidFill>
                  <a:srgbClr val="1B4332"/>
                </a:solidFill>
                <a:latin typeface="Montserrat" pitchFamily="34" charset="0"/>
                <a:ea typeface="Montserrat" pitchFamily="34" charset="-122"/>
                <a:cs typeface="Montserrat" pitchFamily="34" charset="-120"/>
              </a:rPr>
              <a:t>suppressed</a:t>
            </a:r>
            <a:endParaRPr lang="en-US" sz="1200" dirty="0"/>
          </a:p>
        </p:txBody>
      </p:sp>
      <p:sp>
        <p:nvSpPr>
          <p:cNvPr id="18" name="Text 16"/>
          <p:cNvSpPr/>
          <p:nvPr/>
        </p:nvSpPr>
        <p:spPr>
          <a:xfrm>
            <a:off x="2816352" y="1874520"/>
            <a:ext cx="1170432" cy="320040"/>
          </a:xfrm>
          <a:prstGeom prst="rect">
            <a:avLst/>
          </a:prstGeom>
          <a:noFill/>
          <a:ln/>
        </p:spPr>
        <p:txBody>
          <a:bodyPr wrap="square" rtlCol="0" anchor="ctr"/>
          <a:lstStyle/>
          <a:p>
            <a:pPr indent="0" marL="0">
              <a:buNone/>
            </a:pPr>
            <a:r>
              <a:rPr lang="en-US" sz="1150" b="1" dirty="0">
                <a:solidFill>
                  <a:srgbClr val="5A5A54"/>
                </a:solidFill>
                <a:latin typeface="Inter" pitchFamily="34" charset="0"/>
                <a:ea typeface="Inter" pitchFamily="34" charset="-122"/>
                <a:cs typeface="Inter" pitchFamily="34" charset="-120"/>
              </a:rPr>
              <a:t>T1: Pace &lt; 0.70  --&gt;</a:t>
            </a:r>
            <a:endParaRPr lang="en-US" sz="1150" dirty="0"/>
          </a:p>
        </p:txBody>
      </p:sp>
      <p:sp>
        <p:nvSpPr>
          <p:cNvPr id="19" name="Text 17"/>
          <p:cNvSpPr/>
          <p:nvPr/>
        </p:nvSpPr>
        <p:spPr>
          <a:xfrm>
            <a:off x="2816352" y="3886200"/>
            <a:ext cx="1170432" cy="320040"/>
          </a:xfrm>
          <a:prstGeom prst="rect">
            <a:avLst/>
          </a:prstGeom>
          <a:noFill/>
          <a:ln/>
        </p:spPr>
        <p:txBody>
          <a:bodyPr wrap="square" rtlCol="0" anchor="ctr"/>
          <a:lstStyle/>
          <a:p>
            <a:pPr indent="0" marL="0">
              <a:buNone/>
            </a:pPr>
            <a:r>
              <a:rPr lang="en-US" sz="1150" b="1" dirty="0">
                <a:solidFill>
                  <a:srgbClr val="5A5A54"/>
                </a:solidFill>
                <a:latin typeface="Inter" pitchFamily="34" charset="0"/>
                <a:ea typeface="Inter" pitchFamily="34" charset="-122"/>
                <a:cs typeface="Inter" pitchFamily="34" charset="-120"/>
              </a:rPr>
              <a:t>T2: Pace &lt; 0.35  --&gt;</a:t>
            </a:r>
            <a:endParaRPr lang="en-US" sz="1150" dirty="0"/>
          </a:p>
        </p:txBody>
      </p:sp>
      <p:sp>
        <p:nvSpPr>
          <p:cNvPr id="20" name="Text 18"/>
          <p:cNvSpPr/>
          <p:nvPr/>
        </p:nvSpPr>
        <p:spPr>
          <a:xfrm>
            <a:off x="6217920" y="1874520"/>
            <a:ext cx="1170432" cy="320040"/>
          </a:xfrm>
          <a:prstGeom prst="rect">
            <a:avLst/>
          </a:prstGeom>
          <a:noFill/>
          <a:ln/>
        </p:spPr>
        <p:txBody>
          <a:bodyPr wrap="square" rtlCol="0" anchor="ctr"/>
          <a:lstStyle/>
          <a:p>
            <a:pPr indent="0" marL="0">
              <a:buNone/>
            </a:pPr>
            <a:r>
              <a:rPr lang="en-US" sz="1150" b="1" dirty="0">
                <a:solidFill>
                  <a:srgbClr val="5A5A54"/>
                </a:solidFill>
                <a:latin typeface="Inter" pitchFamily="34" charset="0"/>
                <a:ea typeface="Inter" pitchFamily="34" charset="-122"/>
                <a:cs typeface="Inter" pitchFamily="34" charset="-120"/>
              </a:rPr>
              <a:t>T3: Apply Disc  --&gt;</a:t>
            </a:r>
            <a:endParaRPr lang="en-US" sz="1150" dirty="0"/>
          </a:p>
        </p:txBody>
      </p:sp>
      <p:sp>
        <p:nvSpPr>
          <p:cNvPr id="21" name="Text 19"/>
          <p:cNvSpPr/>
          <p:nvPr/>
        </p:nvSpPr>
        <p:spPr>
          <a:xfrm>
            <a:off x="6217920" y="3886200"/>
            <a:ext cx="1170432" cy="320040"/>
          </a:xfrm>
          <a:prstGeom prst="rect">
            <a:avLst/>
          </a:prstGeom>
          <a:noFill/>
          <a:ln/>
        </p:spPr>
        <p:txBody>
          <a:bodyPr wrap="square" rtlCol="0" anchor="ctr"/>
          <a:lstStyle/>
          <a:p>
            <a:pPr indent="0" marL="0">
              <a:buNone/>
            </a:pPr>
            <a:r>
              <a:rPr lang="en-US" sz="1150" b="1" dirty="0">
                <a:solidFill>
                  <a:srgbClr val="5A5A54"/>
                </a:solidFill>
                <a:latin typeface="Inter" pitchFamily="34" charset="0"/>
                <a:ea typeface="Inter" pitchFamily="34" charset="-122"/>
                <a:cs typeface="Inter" pitchFamily="34" charset="-120"/>
              </a:rPr>
              <a:t>T4: Flag Legacy --&gt;</a:t>
            </a:r>
            <a:endParaRPr lang="en-US" sz="1150" dirty="0"/>
          </a:p>
        </p:txBody>
      </p:sp>
      <p:sp>
        <p:nvSpPr>
          <p:cNvPr id="22" name="Text 20"/>
          <p:cNvSpPr/>
          <p:nvPr/>
        </p:nvSpPr>
        <p:spPr>
          <a:xfrm>
            <a:off x="9464040" y="2880360"/>
            <a:ext cx="502920" cy="320040"/>
          </a:xfrm>
          <a:prstGeom prst="rect">
            <a:avLst/>
          </a:prstGeom>
          <a:noFill/>
          <a:ln/>
        </p:spPr>
        <p:txBody>
          <a:bodyPr wrap="square" rtlCol="0" anchor="ctr"/>
          <a:lstStyle/>
          <a:p>
            <a:pPr indent="0" marL="0">
              <a:buNone/>
            </a:pPr>
            <a:r>
              <a:rPr lang="en-US" sz="1150" b="1" dirty="0">
                <a:solidFill>
                  <a:srgbClr val="5A5A54"/>
                </a:solidFill>
                <a:latin typeface="Inter" pitchFamily="34" charset="0"/>
                <a:ea typeface="Inter" pitchFamily="34" charset="-122"/>
                <a:cs typeface="Inter" pitchFamily="34" charset="-120"/>
              </a:rPr>
              <a:t>T5/T6 --&gt;</a:t>
            </a:r>
            <a:endParaRPr lang="en-US" sz="1150" dirty="0"/>
          </a:p>
        </p:txBody>
      </p:sp>
      <p:sp>
        <p:nvSpPr>
          <p:cNvPr id="23" name="Text 21"/>
          <p:cNvSpPr/>
          <p:nvPr/>
        </p:nvSpPr>
        <p:spPr>
          <a:xfrm>
            <a:off x="731520" y="5257800"/>
            <a:ext cx="10728655" cy="1234440"/>
          </a:xfrm>
          <a:prstGeom prst="rect">
            <a:avLst/>
          </a:prstGeom>
          <a:noFill/>
          <a:ln/>
        </p:spPr>
        <p:txBody>
          <a:bodyPr wrap="square" rtlCol="0" anchor="t"/>
          <a:lstStyle/>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Tested seven state transitions across active, discounted, and dismissed states.</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Verified discount action mutates database item price from $2.80 to $2.24.</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Dismissed alerts remain suppressed across subsequent dashboard polling.</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9F4"/>
        </a:solidFill>
      </p:bgPr>
    </p:bg>
    <p:spTree>
      <p:nvGrpSpPr>
        <p:cNvPr id="1" name=""/>
        <p:cNvGrpSpPr/>
        <p:nvPr/>
      </p:nvGrpSpPr>
      <p:grpSpPr>
        <a:xfrm>
          <a:off x="0" y="0"/>
          <a:ext cx="0" cy="0"/>
          <a:chOff x="0" y="0"/>
          <a:chExt cx="0" cy="0"/>
        </a:xfrm>
      </p:grpSpPr>
      <p:sp>
        <p:nvSpPr>
          <p:cNvPr id="2" name="Text 0"/>
          <p:cNvSpPr/>
          <p:nvPr/>
        </p:nvSpPr>
        <p:spPr>
          <a:xfrm>
            <a:off x="10515600" y="411480"/>
            <a:ext cx="1005840" cy="320040"/>
          </a:xfrm>
          <a:prstGeom prst="rect">
            <a:avLst/>
          </a:prstGeom>
          <a:noFill/>
          <a:ln/>
        </p:spPr>
        <p:txBody>
          <a:bodyPr wrap="square" rtlCol="0" anchor="ctr"/>
          <a:lstStyle/>
          <a:p>
            <a:pPr algn="r" indent="0" marL="0">
              <a:buNone/>
            </a:pPr>
            <a:r>
              <a:rPr lang="en-US" sz="1300" b="1" dirty="0">
                <a:solidFill>
                  <a:srgbClr val="5A5A54"/>
                </a:solidFill>
                <a:latin typeface="Montserrat" pitchFamily="34" charset="0"/>
                <a:ea typeface="Montserrat" pitchFamily="34" charset="-122"/>
                <a:cs typeface="Montserrat" pitchFamily="34" charset="-120"/>
              </a:rPr>
              <a:t>5 / 10</a:t>
            </a:r>
            <a:endParaRPr lang="en-US" sz="1300" dirty="0"/>
          </a:p>
        </p:txBody>
      </p:sp>
      <p:sp>
        <p:nvSpPr>
          <p:cNvPr id="3" name="Text 1"/>
          <p:cNvSpPr/>
          <p:nvPr/>
        </p:nvSpPr>
        <p:spPr>
          <a:xfrm>
            <a:off x="731520" y="365760"/>
            <a:ext cx="9692640" cy="594360"/>
          </a:xfrm>
          <a:prstGeom prst="rect">
            <a:avLst/>
          </a:prstGeom>
          <a:noFill/>
          <a:ln/>
        </p:spPr>
        <p:txBody>
          <a:bodyPr wrap="square" rtlCol="0" anchor="ctr"/>
          <a:lstStyle/>
          <a:p>
            <a:pPr indent="0" marL="0">
              <a:buNone/>
            </a:pPr>
            <a:r>
              <a:rPr lang="en-US" sz="3400" b="1" dirty="0">
                <a:solidFill>
                  <a:srgbClr val="1B4332"/>
                </a:solidFill>
                <a:latin typeface="Montserrat" pitchFamily="34" charset="0"/>
                <a:ea typeface="Montserrat" pitchFamily="34" charset="-122"/>
                <a:cs typeface="Montserrat" pitchFamily="34" charset="-120"/>
              </a:rPr>
              <a:t>White-Box Testing: CFG &amp; Coverage</a:t>
            </a:r>
            <a:endParaRPr lang="en-US" sz="3400" dirty="0"/>
          </a:p>
        </p:txBody>
      </p:sp>
      <p:sp>
        <p:nvSpPr>
          <p:cNvPr id="4" name="Shape 2"/>
          <p:cNvSpPr/>
          <p:nvPr/>
        </p:nvSpPr>
        <p:spPr>
          <a:xfrm>
            <a:off x="731520" y="1051560"/>
            <a:ext cx="10728655" cy="0"/>
          </a:xfrm>
          <a:prstGeom prst="line">
            <a:avLst/>
          </a:prstGeom>
          <a:noFill/>
          <a:ln w="31750">
            <a:solidFill>
              <a:srgbClr val="FFB702"/>
            </a:solidFill>
            <a:prstDash val="solid"/>
          </a:ln>
        </p:spPr>
      </p:sp>
      <p:sp>
        <p:nvSpPr>
          <p:cNvPr id="5" name="Shape 3"/>
          <p:cNvSpPr/>
          <p:nvPr/>
        </p:nvSpPr>
        <p:spPr>
          <a:xfrm>
            <a:off x="731520" y="1325880"/>
            <a:ext cx="5486400" cy="3703320"/>
          </a:xfrm>
          <a:prstGeom prst="rect">
            <a:avLst>
              <a:gd name="adj" fmla="val 2963"/>
            </a:avLst>
          </a:prstGeom>
          <a:solidFill>
            <a:srgbClr val="FFFFFF"/>
          </a:solidFill>
          <a:ln w="19050">
            <a:solidFill>
              <a:srgbClr val="E5E0D8"/>
            </a:solidFill>
            <a:prstDash val="solid"/>
          </a:ln>
        </p:spPr>
      </p:sp>
      <p:sp>
        <p:nvSpPr>
          <p:cNvPr id="6" name="Text 4"/>
          <p:cNvSpPr/>
          <p:nvPr/>
        </p:nvSpPr>
        <p:spPr>
          <a:xfrm>
            <a:off x="914400" y="1463040"/>
            <a:ext cx="5120640" cy="365760"/>
          </a:xfrm>
          <a:prstGeom prst="rect">
            <a:avLst/>
          </a:prstGeom>
          <a:noFill/>
          <a:ln/>
        </p:spPr>
        <p:txBody>
          <a:bodyPr wrap="square" rtlCol="0" anchor="ctr"/>
          <a:lstStyle/>
          <a:p>
            <a:pPr indent="0" marL="0">
              <a:buNone/>
            </a:pPr>
            <a:r>
              <a:rPr lang="en-US" sz="1700" b="1" dirty="0">
                <a:solidFill>
                  <a:srgbClr val="1B4332"/>
                </a:solidFill>
                <a:latin typeface="Montserrat" pitchFamily="34" charset="0"/>
                <a:ea typeface="Montserrat" pitchFamily="34" charset="-122"/>
                <a:cs typeface="Montserrat" pitchFamily="34" charset="-120"/>
              </a:rPr>
              <a:t>CFG: get_client_ip(request) in Backend/main.py</a:t>
            </a:r>
            <a:endParaRPr lang="en-US" sz="1700" dirty="0"/>
          </a:p>
        </p:txBody>
      </p:sp>
      <p:sp>
        <p:nvSpPr>
          <p:cNvPr id="7" name="Shape 5"/>
          <p:cNvSpPr/>
          <p:nvPr/>
        </p:nvSpPr>
        <p:spPr>
          <a:xfrm>
            <a:off x="914400" y="1920240"/>
            <a:ext cx="5120640" cy="347472"/>
          </a:xfrm>
          <a:prstGeom prst="rect">
            <a:avLst>
              <a:gd name="adj" fmla="val 15789"/>
            </a:avLst>
          </a:prstGeom>
          <a:solidFill>
            <a:srgbClr val="FFFFFF"/>
          </a:solidFill>
          <a:ln w="19050">
            <a:solidFill>
              <a:srgbClr val="D8D2C6"/>
            </a:solidFill>
            <a:prstDash val="solid"/>
          </a:ln>
        </p:spPr>
      </p:sp>
      <p:sp>
        <p:nvSpPr>
          <p:cNvPr id="8" name="Text 6"/>
          <p:cNvSpPr/>
          <p:nvPr/>
        </p:nvSpPr>
        <p:spPr>
          <a:xfrm>
            <a:off x="1051560" y="1920240"/>
            <a:ext cx="4846320" cy="347472"/>
          </a:xfrm>
          <a:prstGeom prst="rect">
            <a:avLst/>
          </a:prstGeom>
          <a:noFill/>
          <a:ln/>
        </p:spPr>
        <p:txBody>
          <a:bodyPr wrap="square" rtlCol="0" anchor="ctr"/>
          <a:lstStyle/>
          <a:p>
            <a:pPr indent="0" marL="0">
              <a:buNone/>
            </a:pPr>
            <a:r>
              <a:rPr lang="en-US" sz="1400" dirty="0">
                <a:solidFill>
                  <a:srgbClr val="1C1C19"/>
                </a:solidFill>
                <a:latin typeface="Inter" pitchFamily="34" charset="0"/>
                <a:ea typeface="Inter" pitchFamily="34" charset="-122"/>
                <a:cs typeface="Inter" pitchFamily="34" charset="-120"/>
              </a:rPr>
              <a:t>(1) Entry: Read 'x-forwarded-for' header</a:t>
            </a:r>
            <a:endParaRPr lang="en-US" sz="1400" dirty="0"/>
          </a:p>
        </p:txBody>
      </p:sp>
      <p:sp>
        <p:nvSpPr>
          <p:cNvPr id="9" name="Shape 7"/>
          <p:cNvSpPr/>
          <p:nvPr/>
        </p:nvSpPr>
        <p:spPr>
          <a:xfrm>
            <a:off x="914400" y="2322576"/>
            <a:ext cx="5120640" cy="347472"/>
          </a:xfrm>
          <a:prstGeom prst="rect">
            <a:avLst>
              <a:gd name="adj" fmla="val 15789"/>
            </a:avLst>
          </a:prstGeom>
          <a:solidFill>
            <a:srgbClr val="EFEAE1"/>
          </a:solidFill>
          <a:ln w="19050">
            <a:solidFill>
              <a:srgbClr val="FFB702"/>
            </a:solidFill>
            <a:prstDash val="solid"/>
          </a:ln>
        </p:spPr>
      </p:sp>
      <p:sp>
        <p:nvSpPr>
          <p:cNvPr id="10" name="Text 8"/>
          <p:cNvSpPr/>
          <p:nvPr/>
        </p:nvSpPr>
        <p:spPr>
          <a:xfrm>
            <a:off x="1051560" y="2322576"/>
            <a:ext cx="4846320" cy="347472"/>
          </a:xfrm>
          <a:prstGeom prst="rect">
            <a:avLst/>
          </a:prstGeom>
          <a:noFill/>
          <a:ln/>
        </p:spPr>
        <p:txBody>
          <a:bodyPr wrap="square" rtlCol="0" anchor="ctr"/>
          <a:lstStyle/>
          <a:p>
            <a:pPr indent="0" marL="0">
              <a:buNone/>
            </a:pPr>
            <a:r>
              <a:rPr lang="en-US" sz="1400" dirty="0">
                <a:solidFill>
                  <a:srgbClr val="1C1C19"/>
                </a:solidFill>
                <a:latin typeface="Inter" pitchFamily="34" charset="0"/>
                <a:ea typeface="Inter" pitchFamily="34" charset="-122"/>
                <a:cs typeface="Inter" pitchFamily="34" charset="-120"/>
              </a:rPr>
              <a:t>(2) Decision 1: Is header present and non-empty?</a:t>
            </a:r>
            <a:endParaRPr lang="en-US" sz="1400" dirty="0"/>
          </a:p>
        </p:txBody>
      </p:sp>
      <p:sp>
        <p:nvSpPr>
          <p:cNvPr id="11" name="Shape 9"/>
          <p:cNvSpPr/>
          <p:nvPr/>
        </p:nvSpPr>
        <p:spPr>
          <a:xfrm>
            <a:off x="914400" y="2724912"/>
            <a:ext cx="5120640" cy="347472"/>
          </a:xfrm>
          <a:prstGeom prst="rect">
            <a:avLst>
              <a:gd name="adj" fmla="val 15789"/>
            </a:avLst>
          </a:prstGeom>
          <a:solidFill>
            <a:srgbClr val="EFEAE1"/>
          </a:solidFill>
          <a:ln w="19050">
            <a:solidFill>
              <a:srgbClr val="FFB702"/>
            </a:solidFill>
            <a:prstDash val="solid"/>
          </a:ln>
        </p:spPr>
      </p:sp>
      <p:sp>
        <p:nvSpPr>
          <p:cNvPr id="12" name="Text 10"/>
          <p:cNvSpPr/>
          <p:nvPr/>
        </p:nvSpPr>
        <p:spPr>
          <a:xfrm>
            <a:off x="1051560" y="2724912"/>
            <a:ext cx="4846320" cy="347472"/>
          </a:xfrm>
          <a:prstGeom prst="rect">
            <a:avLst/>
          </a:prstGeom>
          <a:noFill/>
          <a:ln/>
        </p:spPr>
        <p:txBody>
          <a:bodyPr wrap="square" rtlCol="0" anchor="ctr"/>
          <a:lstStyle/>
          <a:p>
            <a:pPr indent="0" marL="0">
              <a:buNone/>
            </a:pPr>
            <a:r>
              <a:rPr lang="en-US" sz="1400" dirty="0">
                <a:solidFill>
                  <a:srgbClr val="1C1C19"/>
                </a:solidFill>
                <a:latin typeface="Inter" pitchFamily="34" charset="0"/>
                <a:ea typeface="Inter" pitchFamily="34" charset="-122"/>
                <a:cs typeface="Inter" pitchFamily="34" charset="-120"/>
              </a:rPr>
              <a:t>(3) Decision 2: Split IPs; are tokens found?</a:t>
            </a:r>
            <a:endParaRPr lang="en-US" sz="1400" dirty="0"/>
          </a:p>
        </p:txBody>
      </p:sp>
      <p:sp>
        <p:nvSpPr>
          <p:cNvPr id="13" name="Shape 11"/>
          <p:cNvSpPr/>
          <p:nvPr/>
        </p:nvSpPr>
        <p:spPr>
          <a:xfrm>
            <a:off x="914400" y="3127248"/>
            <a:ext cx="5120640" cy="347472"/>
          </a:xfrm>
          <a:prstGeom prst="rect">
            <a:avLst>
              <a:gd name="adj" fmla="val 15789"/>
            </a:avLst>
          </a:prstGeom>
          <a:solidFill>
            <a:srgbClr val="FFFFFF"/>
          </a:solidFill>
          <a:ln w="19050">
            <a:solidFill>
              <a:srgbClr val="2D6A4F"/>
            </a:solidFill>
            <a:prstDash val="solid"/>
          </a:ln>
        </p:spPr>
      </p:sp>
      <p:sp>
        <p:nvSpPr>
          <p:cNvPr id="14" name="Text 12"/>
          <p:cNvSpPr/>
          <p:nvPr/>
        </p:nvSpPr>
        <p:spPr>
          <a:xfrm>
            <a:off x="1051560" y="3127248"/>
            <a:ext cx="4846320" cy="347472"/>
          </a:xfrm>
          <a:prstGeom prst="rect">
            <a:avLst/>
          </a:prstGeom>
          <a:noFill/>
          <a:ln/>
        </p:spPr>
        <p:txBody>
          <a:bodyPr wrap="square" rtlCol="0" anchor="ctr"/>
          <a:lstStyle/>
          <a:p>
            <a:pPr indent="0" marL="0">
              <a:buNone/>
            </a:pPr>
            <a:r>
              <a:rPr lang="en-US" sz="1400" dirty="0">
                <a:solidFill>
                  <a:srgbClr val="1C1C19"/>
                </a:solidFill>
                <a:latin typeface="Inter" pitchFamily="34" charset="0"/>
                <a:ea typeface="Inter" pitchFamily="34" charset="-122"/>
                <a:cs typeface="Inter" pitchFamily="34" charset="-120"/>
              </a:rPr>
              <a:t>(4) Path 1 Exit: Return ips[-1] (Trusted Rightmost IP)</a:t>
            </a:r>
            <a:endParaRPr lang="en-US" sz="1400" dirty="0"/>
          </a:p>
        </p:txBody>
      </p:sp>
      <p:sp>
        <p:nvSpPr>
          <p:cNvPr id="15" name="Shape 13"/>
          <p:cNvSpPr/>
          <p:nvPr/>
        </p:nvSpPr>
        <p:spPr>
          <a:xfrm>
            <a:off x="914400" y="3529584"/>
            <a:ext cx="5120640" cy="347472"/>
          </a:xfrm>
          <a:prstGeom prst="rect">
            <a:avLst>
              <a:gd name="adj" fmla="val 15789"/>
            </a:avLst>
          </a:prstGeom>
          <a:solidFill>
            <a:srgbClr val="EFEAE1"/>
          </a:solidFill>
          <a:ln w="19050">
            <a:solidFill>
              <a:srgbClr val="FFB702"/>
            </a:solidFill>
            <a:prstDash val="solid"/>
          </a:ln>
        </p:spPr>
      </p:sp>
      <p:sp>
        <p:nvSpPr>
          <p:cNvPr id="16" name="Text 14"/>
          <p:cNvSpPr/>
          <p:nvPr/>
        </p:nvSpPr>
        <p:spPr>
          <a:xfrm>
            <a:off x="1051560" y="3529584"/>
            <a:ext cx="4846320" cy="347472"/>
          </a:xfrm>
          <a:prstGeom prst="rect">
            <a:avLst/>
          </a:prstGeom>
          <a:noFill/>
          <a:ln/>
        </p:spPr>
        <p:txBody>
          <a:bodyPr wrap="square" rtlCol="0" anchor="ctr"/>
          <a:lstStyle/>
          <a:p>
            <a:pPr indent="0" marL="0">
              <a:buNone/>
            </a:pPr>
            <a:r>
              <a:rPr lang="en-US" sz="1400" dirty="0">
                <a:solidFill>
                  <a:srgbClr val="1C1C19"/>
                </a:solidFill>
                <a:latin typeface="Inter" pitchFamily="34" charset="0"/>
                <a:ea typeface="Inter" pitchFamily="34" charset="-122"/>
                <a:cs typeface="Inter" pitchFamily="34" charset="-120"/>
              </a:rPr>
              <a:t>(5) Decision 3: Does request.client.host exist?</a:t>
            </a:r>
            <a:endParaRPr lang="en-US" sz="1400" dirty="0"/>
          </a:p>
        </p:txBody>
      </p:sp>
      <p:sp>
        <p:nvSpPr>
          <p:cNvPr id="17" name="Shape 15"/>
          <p:cNvSpPr/>
          <p:nvPr/>
        </p:nvSpPr>
        <p:spPr>
          <a:xfrm>
            <a:off x="914400" y="3931920"/>
            <a:ext cx="5120640" cy="347472"/>
          </a:xfrm>
          <a:prstGeom prst="rect">
            <a:avLst>
              <a:gd name="adj" fmla="val 15789"/>
            </a:avLst>
          </a:prstGeom>
          <a:solidFill>
            <a:srgbClr val="FFFFFF"/>
          </a:solidFill>
          <a:ln w="19050">
            <a:solidFill>
              <a:srgbClr val="D8D2C6"/>
            </a:solidFill>
            <a:prstDash val="solid"/>
          </a:ln>
        </p:spPr>
      </p:sp>
      <p:sp>
        <p:nvSpPr>
          <p:cNvPr id="18" name="Text 16"/>
          <p:cNvSpPr/>
          <p:nvPr/>
        </p:nvSpPr>
        <p:spPr>
          <a:xfrm>
            <a:off x="1051560" y="3931920"/>
            <a:ext cx="4846320" cy="347472"/>
          </a:xfrm>
          <a:prstGeom prst="rect">
            <a:avLst/>
          </a:prstGeom>
          <a:noFill/>
          <a:ln/>
        </p:spPr>
        <p:txBody>
          <a:bodyPr wrap="square" rtlCol="0" anchor="ctr"/>
          <a:lstStyle/>
          <a:p>
            <a:pPr indent="0" marL="0">
              <a:buNone/>
            </a:pPr>
            <a:r>
              <a:rPr lang="en-US" sz="1400" dirty="0">
                <a:solidFill>
                  <a:srgbClr val="1C1C19"/>
                </a:solidFill>
                <a:latin typeface="Inter" pitchFamily="34" charset="0"/>
                <a:ea typeface="Inter" pitchFamily="34" charset="-122"/>
                <a:cs typeface="Inter" pitchFamily="34" charset="-120"/>
              </a:rPr>
              <a:t>(6) Path 3 Exit: Return request.client.host</a:t>
            </a:r>
            <a:endParaRPr lang="en-US" sz="1400" dirty="0"/>
          </a:p>
        </p:txBody>
      </p:sp>
      <p:sp>
        <p:nvSpPr>
          <p:cNvPr id="19" name="Shape 17"/>
          <p:cNvSpPr/>
          <p:nvPr/>
        </p:nvSpPr>
        <p:spPr>
          <a:xfrm>
            <a:off x="914400" y="4334256"/>
            <a:ext cx="5120640" cy="347472"/>
          </a:xfrm>
          <a:prstGeom prst="rect">
            <a:avLst>
              <a:gd name="adj" fmla="val 15789"/>
            </a:avLst>
          </a:prstGeom>
          <a:solidFill>
            <a:srgbClr val="FFFFFF"/>
          </a:solidFill>
          <a:ln w="19050">
            <a:solidFill>
              <a:srgbClr val="D8D2C6"/>
            </a:solidFill>
            <a:prstDash val="solid"/>
          </a:ln>
        </p:spPr>
      </p:sp>
      <p:sp>
        <p:nvSpPr>
          <p:cNvPr id="20" name="Text 18"/>
          <p:cNvSpPr/>
          <p:nvPr/>
        </p:nvSpPr>
        <p:spPr>
          <a:xfrm>
            <a:off x="1051560" y="4334256"/>
            <a:ext cx="4846320" cy="347472"/>
          </a:xfrm>
          <a:prstGeom prst="rect">
            <a:avLst/>
          </a:prstGeom>
          <a:noFill/>
          <a:ln/>
        </p:spPr>
        <p:txBody>
          <a:bodyPr wrap="square" rtlCol="0" anchor="ctr"/>
          <a:lstStyle/>
          <a:p>
            <a:pPr indent="0" marL="0">
              <a:buNone/>
            </a:pPr>
            <a:r>
              <a:rPr lang="en-US" sz="1400" dirty="0">
                <a:solidFill>
                  <a:srgbClr val="1C1C19"/>
                </a:solidFill>
                <a:latin typeface="Inter" pitchFamily="34" charset="0"/>
                <a:ea typeface="Inter" pitchFamily="34" charset="-122"/>
                <a:cs typeface="Inter" pitchFamily="34" charset="-120"/>
              </a:rPr>
              <a:t>(7) Path 4/5 Exit: Return fallback '127.0.0.1'</a:t>
            </a:r>
            <a:endParaRPr lang="en-US" sz="1400" dirty="0"/>
          </a:p>
        </p:txBody>
      </p:sp>
      <p:sp>
        <p:nvSpPr>
          <p:cNvPr id="21" name="Shape 19"/>
          <p:cNvSpPr/>
          <p:nvPr/>
        </p:nvSpPr>
        <p:spPr>
          <a:xfrm>
            <a:off x="6446520" y="1325880"/>
            <a:ext cx="5010912" cy="3703320"/>
          </a:xfrm>
          <a:prstGeom prst="rect">
            <a:avLst>
              <a:gd name="adj" fmla="val 2963"/>
            </a:avLst>
          </a:prstGeom>
          <a:solidFill>
            <a:srgbClr val="FFFFFF"/>
          </a:solidFill>
          <a:ln w="19050">
            <a:solidFill>
              <a:srgbClr val="E5E0D8"/>
            </a:solidFill>
            <a:prstDash val="solid"/>
          </a:ln>
        </p:spPr>
      </p:sp>
      <p:sp>
        <p:nvSpPr>
          <p:cNvPr id="22" name="Text 20"/>
          <p:cNvSpPr/>
          <p:nvPr/>
        </p:nvSpPr>
        <p:spPr>
          <a:xfrm>
            <a:off x="6629400" y="1463040"/>
            <a:ext cx="4663440" cy="365760"/>
          </a:xfrm>
          <a:prstGeom prst="rect">
            <a:avLst/>
          </a:prstGeom>
          <a:noFill/>
          <a:ln/>
        </p:spPr>
        <p:txBody>
          <a:bodyPr wrap="square" rtlCol="0" anchor="ctr"/>
          <a:lstStyle/>
          <a:p>
            <a:pPr indent="0" marL="0">
              <a:buNone/>
            </a:pPr>
            <a:r>
              <a:rPr lang="en-US" sz="1700" b="1" dirty="0">
                <a:solidFill>
                  <a:srgbClr val="1B4332"/>
                </a:solidFill>
                <a:latin typeface="Montserrat" pitchFamily="34" charset="0"/>
                <a:ea typeface="Montserrat" pitchFamily="34" charset="-122"/>
                <a:cs typeface="Montserrat" pitchFamily="34" charset="-120"/>
              </a:rPr>
              <a:t>Complexity Proof &amp; Application Coverage</a:t>
            </a:r>
            <a:endParaRPr lang="en-US" sz="1700" dirty="0"/>
          </a:p>
        </p:txBody>
      </p:sp>
      <p:sp>
        <p:nvSpPr>
          <p:cNvPr id="23" name="Shape 21"/>
          <p:cNvSpPr/>
          <p:nvPr/>
        </p:nvSpPr>
        <p:spPr>
          <a:xfrm>
            <a:off x="6629400" y="1965960"/>
            <a:ext cx="4645152" cy="1280160"/>
          </a:xfrm>
          <a:prstGeom prst="rect">
            <a:avLst>
              <a:gd name="adj" fmla="val 5714"/>
            </a:avLst>
          </a:prstGeom>
          <a:solidFill>
            <a:srgbClr val="EFEAE1"/>
          </a:solidFill>
          <a:ln w="12700">
            <a:solidFill>
              <a:srgbClr val="E5E0D8"/>
            </a:solidFill>
            <a:prstDash val="solid"/>
          </a:ln>
        </p:spPr>
      </p:sp>
      <p:sp>
        <p:nvSpPr>
          <p:cNvPr id="24" name="Text 22"/>
          <p:cNvSpPr/>
          <p:nvPr/>
        </p:nvSpPr>
        <p:spPr>
          <a:xfrm>
            <a:off x="6766560" y="2057400"/>
            <a:ext cx="4389120" cy="1097280"/>
          </a:xfrm>
          <a:prstGeom prst="rect">
            <a:avLst/>
          </a:prstGeom>
          <a:noFill/>
          <a:ln/>
        </p:spPr>
        <p:txBody>
          <a:bodyPr wrap="square" rtlCol="0" anchor="ctr"/>
          <a:lstStyle/>
          <a:p>
            <a:pPr indent="0" marL="0">
              <a:buNone/>
            </a:pPr>
            <a:r>
              <a:rPr lang="en-US" sz="1500" b="1" dirty="0">
                <a:solidFill>
                  <a:srgbClr val="1B4332"/>
                </a:solidFill>
                <a:latin typeface="Inter" pitchFamily="34" charset="0"/>
                <a:ea typeface="Inter" pitchFamily="34" charset="-122"/>
                <a:cs typeface="Inter" pitchFamily="34" charset="-120"/>
              </a:rPr>
              <a:t>McCabe Cyclomatic Complexity Derivation:
</a:t>
            </a:r>
            <a:pPr indent="0" marL="0">
              <a:buNone/>
            </a:pPr>
            <a:r>
              <a:rPr lang="en-US" sz="1400" dirty="0">
                <a:solidFill>
                  <a:srgbClr val="1C1C19"/>
                </a:solidFill>
                <a:latin typeface="Inter" pitchFamily="34" charset="0"/>
                <a:ea typeface="Inter" pitchFamily="34" charset="-122"/>
                <a:cs typeface="Inter" pitchFamily="34" charset="-120"/>
              </a:rPr>
              <a:t>• Nodes (N) = 10, Edges (E) = 13, Component (P) = 1
</a:t>
            </a:r>
            <a:pPr indent="0" marL="0">
              <a:buNone/>
            </a:pPr>
            <a:r>
              <a:rPr lang="en-US" sz="1400" b="1" dirty="0">
                <a:solidFill>
                  <a:srgbClr val="1B4332"/>
                </a:solidFill>
                <a:latin typeface="Inter" pitchFamily="34" charset="0"/>
                <a:ea typeface="Inter" pitchFamily="34" charset="-122"/>
                <a:cs typeface="Inter" pitchFamily="34" charset="-120"/>
              </a:rPr>
              <a:t>• Formula: V(G) = E - N + 2P = 13 - 10 + 2 = 5
</a:t>
            </a:r>
            <a:pPr indent="0" marL="0">
              <a:buNone/>
            </a:pPr>
            <a:r>
              <a:rPr lang="en-US" sz="1400" dirty="0">
                <a:solidFill>
                  <a:srgbClr val="1C1C19"/>
                </a:solidFill>
                <a:latin typeface="Inter" pitchFamily="34" charset="0"/>
                <a:ea typeface="Inter" pitchFamily="34" charset="-122"/>
                <a:cs typeface="Inter" pitchFamily="34" charset="-120"/>
              </a:rPr>
              <a:t>• Result: Exactly 5 basis paths required and tested.</a:t>
            </a:r>
            <a:endParaRPr lang="en-US" sz="1500" dirty="0"/>
          </a:p>
        </p:txBody>
      </p:sp>
      <p:sp>
        <p:nvSpPr>
          <p:cNvPr id="25" name="Shape 23"/>
          <p:cNvSpPr/>
          <p:nvPr/>
        </p:nvSpPr>
        <p:spPr>
          <a:xfrm>
            <a:off x="6629400" y="3429000"/>
            <a:ext cx="4645152" cy="1417320"/>
          </a:xfrm>
          <a:prstGeom prst="rect">
            <a:avLst>
              <a:gd name="adj" fmla="val 5161"/>
            </a:avLst>
          </a:prstGeom>
          <a:solidFill>
            <a:srgbClr val="FFFFFF"/>
          </a:solidFill>
          <a:ln w="12700">
            <a:solidFill>
              <a:srgbClr val="D8D2C6"/>
            </a:solidFill>
            <a:prstDash val="solid"/>
          </a:ln>
        </p:spPr>
      </p:sp>
      <p:sp>
        <p:nvSpPr>
          <p:cNvPr id="26" name="Text 24"/>
          <p:cNvSpPr/>
          <p:nvPr/>
        </p:nvSpPr>
        <p:spPr>
          <a:xfrm>
            <a:off x="6720840" y="3474720"/>
            <a:ext cx="4462272" cy="1280160"/>
          </a:xfrm>
          <a:prstGeom prst="rect">
            <a:avLst/>
          </a:prstGeom>
          <a:noFill/>
          <a:ln/>
        </p:spPr>
        <p:txBody>
          <a:bodyPr wrap="square" rtlCol="0" anchor="ctr"/>
          <a:lstStyle/>
          <a:p>
            <a:pPr indent="0" marL="0">
              <a:buNone/>
            </a:pPr>
            <a:r>
              <a:rPr lang="en-US" sz="1450" b="1" dirty="0">
                <a:solidFill>
                  <a:srgbClr val="1B4332"/>
                </a:solidFill>
                <a:latin typeface="Inter" pitchFamily="34" charset="0"/>
                <a:ea typeface="Inter" pitchFamily="34" charset="-122"/>
                <a:cs typeface="Inter" pitchFamily="34" charset="-120"/>
              </a:rPr>
              <a:t>Real Coverage.py on Application Code Only:
</a:t>
            </a:r>
            <a:pPr indent="0" marL="0">
              <a:buNone/>
            </a:pPr>
            <a:r>
              <a:rPr lang="en-US" sz="1300" b="1" dirty="0">
                <a:solidFill>
                  <a:srgbClr val="2D6A4F"/>
                </a:solidFill>
                <a:latin typeface="Inter" pitchFamily="34" charset="0"/>
                <a:ea typeface="Inter" pitchFamily="34" charset="-122"/>
                <a:cs typeface="Inter" pitchFamily="34" charset="-120"/>
              </a:rPr>
              <a:t>• get_client_ip(): 100% statement (8/8) &amp; branch (4/4)
</a:t>
            </a:r>
            <a:pPr indent="0" marL="0">
              <a:buNone/>
            </a:pPr>
            <a:r>
              <a:rPr lang="en-US" sz="1300" b="1" dirty="0">
                <a:solidFill>
                  <a:srgbClr val="2D6A4F"/>
                </a:solidFill>
                <a:latin typeface="Inter" pitchFamily="34" charset="0"/>
                <a:ea typeface="Inter" pitchFamily="34" charset="-122"/>
                <a:cs typeface="Inter" pitchFamily="34" charset="-120"/>
              </a:rPr>
              <a:t>• evaluate_waste_alert_tier(): 100% statement &amp; branch
</a:t>
            </a:r>
            <a:pPr indent="0" marL="0">
              <a:buNone/>
            </a:pPr>
            <a:r>
              <a:rPr lang="en-US" sz="1250" dirty="0">
                <a:solidFill>
                  <a:srgbClr val="5A5A54"/>
                </a:solidFill>
                <a:latin typeface="Inter" pitchFamily="34" charset="0"/>
                <a:ea typeface="Inter" pitchFamily="34" charset="-122"/>
                <a:cs typeface="Inter" pitchFamily="34" charset="-120"/>
              </a:rPr>
              <a:t>• Total App Code: 59% (500 statements, 136 branches)</a:t>
            </a:r>
            <a:endParaRPr lang="en-US" sz="1450" dirty="0"/>
          </a:p>
        </p:txBody>
      </p:sp>
      <p:sp>
        <p:nvSpPr>
          <p:cNvPr id="27" name="Text 25"/>
          <p:cNvSpPr/>
          <p:nvPr/>
        </p:nvSpPr>
        <p:spPr>
          <a:xfrm>
            <a:off x="731520" y="5257800"/>
            <a:ext cx="10728655" cy="1234440"/>
          </a:xfrm>
          <a:prstGeom prst="rect">
            <a:avLst/>
          </a:prstGeom>
          <a:noFill/>
          <a:ln/>
        </p:spPr>
        <p:txBody>
          <a:bodyPr wrap="square" rtlCol="0" anchor="t"/>
          <a:lstStyle/>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Derived five independent basis paths from the control flow graph.</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Security logic extracts the rightmost trusted proxy IP from header chains.</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Coverage measured on application code with zero test file contamination.</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9F4"/>
        </a:solidFill>
      </p:bgPr>
    </p:bg>
    <p:spTree>
      <p:nvGrpSpPr>
        <p:cNvPr id="1" name=""/>
        <p:cNvGrpSpPr/>
        <p:nvPr/>
      </p:nvGrpSpPr>
      <p:grpSpPr>
        <a:xfrm>
          <a:off x="0" y="0"/>
          <a:ext cx="0" cy="0"/>
          <a:chOff x="0" y="0"/>
          <a:chExt cx="0" cy="0"/>
        </a:xfrm>
      </p:grpSpPr>
      <p:sp>
        <p:nvSpPr>
          <p:cNvPr id="2" name="Text 0"/>
          <p:cNvSpPr/>
          <p:nvPr/>
        </p:nvSpPr>
        <p:spPr>
          <a:xfrm>
            <a:off x="10515600" y="411480"/>
            <a:ext cx="1005840" cy="320040"/>
          </a:xfrm>
          <a:prstGeom prst="rect">
            <a:avLst/>
          </a:prstGeom>
          <a:noFill/>
          <a:ln/>
        </p:spPr>
        <p:txBody>
          <a:bodyPr wrap="square" rtlCol="0" anchor="ctr"/>
          <a:lstStyle/>
          <a:p>
            <a:pPr algn="r" indent="0" marL="0">
              <a:buNone/>
            </a:pPr>
            <a:r>
              <a:rPr lang="en-US" sz="1300" b="1" dirty="0">
                <a:solidFill>
                  <a:srgbClr val="5A5A54"/>
                </a:solidFill>
                <a:latin typeface="Montserrat" pitchFamily="34" charset="0"/>
                <a:ea typeface="Montserrat" pitchFamily="34" charset="-122"/>
                <a:cs typeface="Montserrat" pitchFamily="34" charset="-120"/>
              </a:rPr>
              <a:t>6 / 10</a:t>
            </a:r>
            <a:endParaRPr lang="en-US" sz="1300" dirty="0"/>
          </a:p>
        </p:txBody>
      </p:sp>
      <p:sp>
        <p:nvSpPr>
          <p:cNvPr id="3" name="Text 1"/>
          <p:cNvSpPr/>
          <p:nvPr/>
        </p:nvSpPr>
        <p:spPr>
          <a:xfrm>
            <a:off x="731520" y="365760"/>
            <a:ext cx="9692640" cy="594360"/>
          </a:xfrm>
          <a:prstGeom prst="rect">
            <a:avLst/>
          </a:prstGeom>
          <a:noFill/>
          <a:ln/>
        </p:spPr>
        <p:txBody>
          <a:bodyPr wrap="square" rtlCol="0" anchor="ctr"/>
          <a:lstStyle/>
          <a:p>
            <a:pPr indent="0" marL="0">
              <a:buNone/>
            </a:pPr>
            <a:r>
              <a:rPr lang="en-US" sz="3400" b="1" dirty="0">
                <a:solidFill>
                  <a:srgbClr val="1B4332"/>
                </a:solidFill>
                <a:latin typeface="Montserrat" pitchFamily="34" charset="0"/>
                <a:ea typeface="Montserrat" pitchFamily="34" charset="-122"/>
                <a:cs typeface="Montserrat" pitchFamily="34" charset="-120"/>
              </a:rPr>
              <a:t>Unit, Integration, and Regression</a:t>
            </a:r>
            <a:endParaRPr lang="en-US" sz="3400" dirty="0"/>
          </a:p>
        </p:txBody>
      </p:sp>
      <p:sp>
        <p:nvSpPr>
          <p:cNvPr id="4" name="Shape 2"/>
          <p:cNvSpPr/>
          <p:nvPr/>
        </p:nvSpPr>
        <p:spPr>
          <a:xfrm>
            <a:off x="731520" y="1051560"/>
            <a:ext cx="10728655" cy="0"/>
          </a:xfrm>
          <a:prstGeom prst="line">
            <a:avLst/>
          </a:prstGeom>
          <a:noFill/>
          <a:ln w="31750">
            <a:solidFill>
              <a:srgbClr val="FFB702"/>
            </a:solidFill>
            <a:prstDash val="solid"/>
          </a:ln>
        </p:spPr>
      </p:sp>
      <p:sp>
        <p:nvSpPr>
          <p:cNvPr id="5" name="Shape 3"/>
          <p:cNvSpPr/>
          <p:nvPr/>
        </p:nvSpPr>
        <p:spPr>
          <a:xfrm>
            <a:off x="731520" y="1325880"/>
            <a:ext cx="5166360" cy="1463040"/>
          </a:xfrm>
          <a:prstGeom prst="rect">
            <a:avLst>
              <a:gd name="adj" fmla="val 6250"/>
            </a:avLst>
          </a:prstGeom>
          <a:solidFill>
            <a:srgbClr val="FFFFFF"/>
          </a:solidFill>
          <a:ln w="25400">
            <a:solidFill>
              <a:srgbClr val="1B4332"/>
            </a:solidFill>
            <a:prstDash val="solid"/>
          </a:ln>
        </p:spPr>
      </p:sp>
      <p:sp>
        <p:nvSpPr>
          <p:cNvPr id="6" name="Text 4"/>
          <p:cNvSpPr/>
          <p:nvPr/>
        </p:nvSpPr>
        <p:spPr>
          <a:xfrm>
            <a:off x="914400" y="1417320"/>
            <a:ext cx="4800600" cy="320040"/>
          </a:xfrm>
          <a:prstGeom prst="rect">
            <a:avLst/>
          </a:prstGeom>
          <a:noFill/>
          <a:ln/>
        </p:spPr>
        <p:txBody>
          <a:bodyPr wrap="square" rtlCol="0" anchor="ctr"/>
          <a:lstStyle/>
          <a:p>
            <a:pPr indent="0" marL="0">
              <a:buNone/>
            </a:pPr>
            <a:r>
              <a:rPr lang="en-US" sz="1600" b="1" dirty="0">
                <a:solidFill>
                  <a:srgbClr val="1B4332"/>
                </a:solidFill>
                <a:latin typeface="Montserrat" pitchFamily="34" charset="0"/>
                <a:ea typeface="Montserrat" pitchFamily="34" charset="-122"/>
                <a:cs typeface="Montserrat" pitchFamily="34" charset="-120"/>
              </a:rPr>
              <a:t>CLASSICAL (DETROIT SCHOOL)</a:t>
            </a:r>
            <a:endParaRPr lang="en-US" sz="1600" dirty="0"/>
          </a:p>
        </p:txBody>
      </p:sp>
      <p:sp>
        <p:nvSpPr>
          <p:cNvPr id="7" name="Text 5"/>
          <p:cNvSpPr/>
          <p:nvPr/>
        </p:nvSpPr>
        <p:spPr>
          <a:xfrm>
            <a:off x="914400" y="1783080"/>
            <a:ext cx="4800600" cy="868680"/>
          </a:xfrm>
          <a:prstGeom prst="rect">
            <a:avLst/>
          </a:prstGeom>
          <a:noFill/>
          <a:ln/>
        </p:spPr>
        <p:txBody>
          <a:bodyPr wrap="square" rtlCol="0" anchor="ctr"/>
          <a:lstStyle/>
          <a:p>
            <a:pPr indent="0" marL="0">
              <a:buNone/>
            </a:pPr>
            <a:r>
              <a:rPr lang="en-US" sz="1400" dirty="0">
                <a:solidFill>
                  <a:srgbClr val="1C1C19"/>
                </a:solidFill>
                <a:latin typeface="Inter" pitchFamily="34" charset="0"/>
                <a:ea typeface="Inter" pitchFamily="34" charset="-122"/>
                <a:cs typeface="Inter" pitchFamily="34" charset="-120"/>
              </a:rPr>
              <a:t>Tests real object state mutations after actions execute.</a:t>
            </a:r>
            <a:endParaRPr lang="en-US" sz="1400" dirty="0"/>
          </a:p>
          <a:p>
            <a:pPr indent="0" marL="0">
              <a:buNone/>
            </a:pPr>
            <a:r>
              <a:rPr lang="en-US" sz="1400" dirty="0">
                <a:solidFill>
                  <a:srgbClr val="1C1C19"/>
                </a:solidFill>
                <a:latin typeface="Inter" pitchFamily="34" charset="0"/>
                <a:ea typeface="Inter" pitchFamily="34" charset="-122"/>
                <a:cs typeface="Inter" pitchFamily="34" charset="-120"/>
              </a:rPr>
              <a:t>Example: InventoryProvider CRUD adds 5 items and verifies mutated array length directly in memory.</a:t>
            </a:r>
            <a:endParaRPr lang="en-US" sz="1400" dirty="0"/>
          </a:p>
        </p:txBody>
      </p:sp>
      <p:sp>
        <p:nvSpPr>
          <p:cNvPr id="8" name="Shape 6"/>
          <p:cNvSpPr/>
          <p:nvPr/>
        </p:nvSpPr>
        <p:spPr>
          <a:xfrm>
            <a:off x="6263640" y="1325880"/>
            <a:ext cx="5193792" cy="1463040"/>
          </a:xfrm>
          <a:prstGeom prst="rect">
            <a:avLst>
              <a:gd name="adj" fmla="val 6250"/>
            </a:avLst>
          </a:prstGeom>
          <a:solidFill>
            <a:srgbClr val="FFFFFF"/>
          </a:solidFill>
          <a:ln w="25400">
            <a:solidFill>
              <a:srgbClr val="FFB702"/>
            </a:solidFill>
            <a:prstDash val="solid"/>
          </a:ln>
        </p:spPr>
      </p:sp>
      <p:sp>
        <p:nvSpPr>
          <p:cNvPr id="9" name="Text 7"/>
          <p:cNvSpPr/>
          <p:nvPr/>
        </p:nvSpPr>
        <p:spPr>
          <a:xfrm>
            <a:off x="6446520" y="1417320"/>
            <a:ext cx="4828032" cy="320040"/>
          </a:xfrm>
          <a:prstGeom prst="rect">
            <a:avLst/>
          </a:prstGeom>
          <a:noFill/>
          <a:ln/>
        </p:spPr>
        <p:txBody>
          <a:bodyPr wrap="square" rtlCol="0" anchor="ctr"/>
          <a:lstStyle/>
          <a:p>
            <a:pPr indent="0" marL="0">
              <a:buNone/>
            </a:pPr>
            <a:r>
              <a:rPr lang="en-US" sz="1600" b="1" dirty="0">
                <a:solidFill>
                  <a:srgbClr val="1B4332"/>
                </a:solidFill>
                <a:latin typeface="Montserrat" pitchFamily="34" charset="0"/>
                <a:ea typeface="Montserrat" pitchFamily="34" charset="-122"/>
                <a:cs typeface="Montserrat" pitchFamily="34" charset="-120"/>
              </a:rPr>
              <a:t>MOCKIST (LONDON SCHOOL)</a:t>
            </a:r>
            <a:endParaRPr lang="en-US" sz="1600" dirty="0"/>
          </a:p>
        </p:txBody>
      </p:sp>
      <p:sp>
        <p:nvSpPr>
          <p:cNvPr id="10" name="Text 8"/>
          <p:cNvSpPr/>
          <p:nvPr/>
        </p:nvSpPr>
        <p:spPr>
          <a:xfrm>
            <a:off x="6446520" y="1783080"/>
            <a:ext cx="4828032" cy="868680"/>
          </a:xfrm>
          <a:prstGeom prst="rect">
            <a:avLst/>
          </a:prstGeom>
          <a:noFill/>
          <a:ln/>
        </p:spPr>
        <p:txBody>
          <a:bodyPr wrap="square" rtlCol="0" anchor="ctr"/>
          <a:lstStyle/>
          <a:p>
            <a:pPr indent="0" marL="0">
              <a:buNone/>
            </a:pPr>
            <a:r>
              <a:rPr lang="en-US" sz="1400" dirty="0">
                <a:solidFill>
                  <a:srgbClr val="1C1C19"/>
                </a:solidFill>
                <a:latin typeface="Inter" pitchFamily="34" charset="0"/>
                <a:ea typeface="Inter" pitchFamily="34" charset="-122"/>
                <a:cs typeface="Inter" pitchFamily="34" charset="-120"/>
              </a:rPr>
              <a:t>Replaces external collaborators to verify isolated contracts.</a:t>
            </a:r>
            <a:endParaRPr lang="en-US" sz="1400" dirty="0"/>
          </a:p>
          <a:p>
            <a:pPr indent="0" marL="0">
              <a:buNone/>
            </a:pPr>
            <a:r>
              <a:rPr lang="en-US" sz="1400" dirty="0">
                <a:solidFill>
                  <a:srgbClr val="1C1C19"/>
                </a:solidFill>
                <a:latin typeface="Inter" pitchFamily="34" charset="0"/>
                <a:ea typeface="Inter" pitchFamily="34" charset="-122"/>
                <a:cs typeface="Inter" pitchFamily="34" charset="-120"/>
              </a:rPr>
              <a:t>Example: Flutter widget tests mock network timeouts (4s) to verify UI displays local fallback without crashing.</a:t>
            </a:r>
            <a:endParaRPr lang="en-US" sz="1400" dirty="0"/>
          </a:p>
        </p:txBody>
      </p:sp>
      <p:sp>
        <p:nvSpPr>
          <p:cNvPr id="11" name="Shape 9"/>
          <p:cNvSpPr/>
          <p:nvPr/>
        </p:nvSpPr>
        <p:spPr>
          <a:xfrm>
            <a:off x="731520" y="2971800"/>
            <a:ext cx="2496312" cy="1005840"/>
          </a:xfrm>
          <a:prstGeom prst="rect">
            <a:avLst>
              <a:gd name="adj" fmla="val 7273"/>
            </a:avLst>
          </a:prstGeom>
          <a:solidFill>
            <a:srgbClr val="FFFFFF"/>
          </a:solidFill>
          <a:ln w="19050">
            <a:solidFill>
              <a:srgbClr val="E5E0D8"/>
            </a:solidFill>
            <a:prstDash val="solid"/>
          </a:ln>
        </p:spPr>
      </p:sp>
      <p:sp>
        <p:nvSpPr>
          <p:cNvPr id="12" name="Text 10"/>
          <p:cNvSpPr/>
          <p:nvPr/>
        </p:nvSpPr>
        <p:spPr>
          <a:xfrm>
            <a:off x="822960" y="3063240"/>
            <a:ext cx="2313432" cy="274320"/>
          </a:xfrm>
          <a:prstGeom prst="rect">
            <a:avLst/>
          </a:prstGeom>
          <a:noFill/>
          <a:ln/>
        </p:spPr>
        <p:txBody>
          <a:bodyPr wrap="square" rtlCol="0" anchor="ctr"/>
          <a:lstStyle/>
          <a:p>
            <a:pPr algn="ctr" indent="0" marL="0">
              <a:buNone/>
            </a:pPr>
            <a:r>
              <a:rPr lang="en-US" sz="1400" b="1" dirty="0">
                <a:solidFill>
                  <a:srgbClr val="1B4332"/>
                </a:solidFill>
                <a:latin typeface="Montserrat" pitchFamily="34" charset="0"/>
                <a:ea typeface="Montserrat" pitchFamily="34" charset="-122"/>
                <a:cs typeface="Montserrat" pitchFamily="34" charset="-120"/>
              </a:rPr>
              <a:t>Flutter Unit</a:t>
            </a:r>
            <a:endParaRPr lang="en-US" sz="1400" dirty="0"/>
          </a:p>
        </p:txBody>
      </p:sp>
      <p:sp>
        <p:nvSpPr>
          <p:cNvPr id="13" name="Text 11"/>
          <p:cNvSpPr/>
          <p:nvPr/>
        </p:nvSpPr>
        <p:spPr>
          <a:xfrm>
            <a:off x="822960" y="3383280"/>
            <a:ext cx="2313432" cy="411480"/>
          </a:xfrm>
          <a:prstGeom prst="rect">
            <a:avLst/>
          </a:prstGeom>
          <a:noFill/>
          <a:ln/>
        </p:spPr>
        <p:txBody>
          <a:bodyPr wrap="square" rtlCol="0" anchor="ctr"/>
          <a:lstStyle/>
          <a:p>
            <a:pPr algn="ctr" indent="0" marL="0">
              <a:buNone/>
            </a:pPr>
            <a:r>
              <a:rPr lang="en-US" sz="1600" b="1" dirty="0">
                <a:solidFill>
                  <a:srgbClr val="2D6A4F"/>
                </a:solidFill>
                <a:latin typeface="Inter" pitchFamily="34" charset="0"/>
                <a:ea typeface="Inter" pitchFamily="34" charset="-122"/>
                <a:cs typeface="Inter" pitchFamily="34" charset="-120"/>
              </a:rPr>
              <a:t>21 Tests (13.2s)</a:t>
            </a:r>
            <a:endParaRPr lang="en-US" sz="1600" dirty="0"/>
          </a:p>
        </p:txBody>
      </p:sp>
      <p:sp>
        <p:nvSpPr>
          <p:cNvPr id="14" name="Shape 12"/>
          <p:cNvSpPr/>
          <p:nvPr/>
        </p:nvSpPr>
        <p:spPr>
          <a:xfrm>
            <a:off x="3474720" y="2971800"/>
            <a:ext cx="2496312" cy="1005840"/>
          </a:xfrm>
          <a:prstGeom prst="rect">
            <a:avLst>
              <a:gd name="adj" fmla="val 7273"/>
            </a:avLst>
          </a:prstGeom>
          <a:solidFill>
            <a:srgbClr val="FFFFFF"/>
          </a:solidFill>
          <a:ln w="19050">
            <a:solidFill>
              <a:srgbClr val="E5E0D8"/>
            </a:solidFill>
            <a:prstDash val="solid"/>
          </a:ln>
        </p:spPr>
      </p:sp>
      <p:sp>
        <p:nvSpPr>
          <p:cNvPr id="15" name="Text 13"/>
          <p:cNvSpPr/>
          <p:nvPr/>
        </p:nvSpPr>
        <p:spPr>
          <a:xfrm>
            <a:off x="3566160" y="3063240"/>
            <a:ext cx="2313432" cy="274320"/>
          </a:xfrm>
          <a:prstGeom prst="rect">
            <a:avLst/>
          </a:prstGeom>
          <a:noFill/>
          <a:ln/>
        </p:spPr>
        <p:txBody>
          <a:bodyPr wrap="square" rtlCol="0" anchor="ctr"/>
          <a:lstStyle/>
          <a:p>
            <a:pPr algn="ctr" indent="0" marL="0">
              <a:buNone/>
            </a:pPr>
            <a:r>
              <a:rPr lang="en-US" sz="1400" b="1" dirty="0">
                <a:solidFill>
                  <a:srgbClr val="1B4332"/>
                </a:solidFill>
                <a:latin typeface="Montserrat" pitchFamily="34" charset="0"/>
                <a:ea typeface="Montserrat" pitchFamily="34" charset="-122"/>
                <a:cs typeface="Montserrat" pitchFamily="34" charset="-120"/>
              </a:rPr>
              <a:t>Flutter Widget</a:t>
            </a:r>
            <a:endParaRPr lang="en-US" sz="1400" dirty="0"/>
          </a:p>
        </p:txBody>
      </p:sp>
      <p:sp>
        <p:nvSpPr>
          <p:cNvPr id="16" name="Text 14"/>
          <p:cNvSpPr/>
          <p:nvPr/>
        </p:nvSpPr>
        <p:spPr>
          <a:xfrm>
            <a:off x="3566160" y="3383280"/>
            <a:ext cx="2313432" cy="411480"/>
          </a:xfrm>
          <a:prstGeom prst="rect">
            <a:avLst/>
          </a:prstGeom>
          <a:noFill/>
          <a:ln/>
        </p:spPr>
        <p:txBody>
          <a:bodyPr wrap="square" rtlCol="0" anchor="ctr"/>
          <a:lstStyle/>
          <a:p>
            <a:pPr algn="ctr" indent="0" marL="0">
              <a:buNone/>
            </a:pPr>
            <a:r>
              <a:rPr lang="en-US" sz="1600" b="1" dirty="0">
                <a:solidFill>
                  <a:srgbClr val="2D6A4F"/>
                </a:solidFill>
                <a:latin typeface="Inter" pitchFamily="34" charset="0"/>
                <a:ea typeface="Inter" pitchFamily="34" charset="-122"/>
                <a:cs typeface="Inter" pitchFamily="34" charset="-120"/>
              </a:rPr>
              <a:t>18 Tests (24.8s)</a:t>
            </a:r>
            <a:endParaRPr lang="en-US" sz="1600" dirty="0"/>
          </a:p>
        </p:txBody>
      </p:sp>
      <p:sp>
        <p:nvSpPr>
          <p:cNvPr id="17" name="Shape 15"/>
          <p:cNvSpPr/>
          <p:nvPr/>
        </p:nvSpPr>
        <p:spPr>
          <a:xfrm>
            <a:off x="6217920" y="2971800"/>
            <a:ext cx="2496312" cy="1005840"/>
          </a:xfrm>
          <a:prstGeom prst="rect">
            <a:avLst>
              <a:gd name="adj" fmla="val 7273"/>
            </a:avLst>
          </a:prstGeom>
          <a:solidFill>
            <a:srgbClr val="FFFFFF"/>
          </a:solidFill>
          <a:ln w="19050">
            <a:solidFill>
              <a:srgbClr val="E5E0D8"/>
            </a:solidFill>
            <a:prstDash val="solid"/>
          </a:ln>
        </p:spPr>
      </p:sp>
      <p:sp>
        <p:nvSpPr>
          <p:cNvPr id="18" name="Text 16"/>
          <p:cNvSpPr/>
          <p:nvPr/>
        </p:nvSpPr>
        <p:spPr>
          <a:xfrm>
            <a:off x="6309360" y="3063240"/>
            <a:ext cx="2313432" cy="274320"/>
          </a:xfrm>
          <a:prstGeom prst="rect">
            <a:avLst/>
          </a:prstGeom>
          <a:noFill/>
          <a:ln/>
        </p:spPr>
        <p:txBody>
          <a:bodyPr wrap="square" rtlCol="0" anchor="ctr"/>
          <a:lstStyle/>
          <a:p>
            <a:pPr algn="ctr" indent="0" marL="0">
              <a:buNone/>
            </a:pPr>
            <a:r>
              <a:rPr lang="en-US" sz="1400" b="1" dirty="0">
                <a:solidFill>
                  <a:srgbClr val="1B4332"/>
                </a:solidFill>
                <a:latin typeface="Montserrat" pitchFamily="34" charset="0"/>
                <a:ea typeface="Montserrat" pitchFamily="34" charset="-122"/>
                <a:cs typeface="Montserrat" pitchFamily="34" charset="-120"/>
              </a:rPr>
              <a:t>Flutter Integration</a:t>
            </a:r>
            <a:endParaRPr lang="en-US" sz="1400" dirty="0"/>
          </a:p>
        </p:txBody>
      </p:sp>
      <p:sp>
        <p:nvSpPr>
          <p:cNvPr id="19" name="Text 17"/>
          <p:cNvSpPr/>
          <p:nvPr/>
        </p:nvSpPr>
        <p:spPr>
          <a:xfrm>
            <a:off x="6309360" y="3383280"/>
            <a:ext cx="2313432" cy="411480"/>
          </a:xfrm>
          <a:prstGeom prst="rect">
            <a:avLst/>
          </a:prstGeom>
          <a:noFill/>
          <a:ln/>
        </p:spPr>
        <p:txBody>
          <a:bodyPr wrap="square" rtlCol="0" anchor="ctr"/>
          <a:lstStyle/>
          <a:p>
            <a:pPr algn="ctr" indent="0" marL="0">
              <a:buNone/>
            </a:pPr>
            <a:r>
              <a:rPr lang="en-US" sz="1600" b="1" dirty="0">
                <a:solidFill>
                  <a:srgbClr val="2D6A4F"/>
                </a:solidFill>
                <a:latin typeface="Inter" pitchFamily="34" charset="0"/>
                <a:ea typeface="Inter" pitchFamily="34" charset="-122"/>
                <a:cs typeface="Inter" pitchFamily="34" charset="-120"/>
              </a:rPr>
              <a:t>5 Tests (11.5s)</a:t>
            </a:r>
            <a:endParaRPr lang="en-US" sz="1600" dirty="0"/>
          </a:p>
        </p:txBody>
      </p:sp>
      <p:sp>
        <p:nvSpPr>
          <p:cNvPr id="20" name="Shape 18"/>
          <p:cNvSpPr/>
          <p:nvPr/>
        </p:nvSpPr>
        <p:spPr>
          <a:xfrm>
            <a:off x="8961120" y="2971800"/>
            <a:ext cx="2496312" cy="1005840"/>
          </a:xfrm>
          <a:prstGeom prst="rect">
            <a:avLst>
              <a:gd name="adj" fmla="val 7273"/>
            </a:avLst>
          </a:prstGeom>
          <a:solidFill>
            <a:srgbClr val="FFFFFF"/>
          </a:solidFill>
          <a:ln w="19050">
            <a:solidFill>
              <a:srgbClr val="E5E0D8"/>
            </a:solidFill>
            <a:prstDash val="solid"/>
          </a:ln>
        </p:spPr>
      </p:sp>
      <p:sp>
        <p:nvSpPr>
          <p:cNvPr id="21" name="Text 19"/>
          <p:cNvSpPr/>
          <p:nvPr/>
        </p:nvSpPr>
        <p:spPr>
          <a:xfrm>
            <a:off x="9052560" y="3063240"/>
            <a:ext cx="2313432" cy="274320"/>
          </a:xfrm>
          <a:prstGeom prst="rect">
            <a:avLst/>
          </a:prstGeom>
          <a:noFill/>
          <a:ln/>
        </p:spPr>
        <p:txBody>
          <a:bodyPr wrap="square" rtlCol="0" anchor="ctr"/>
          <a:lstStyle/>
          <a:p>
            <a:pPr algn="ctr" indent="0" marL="0">
              <a:buNone/>
            </a:pPr>
            <a:r>
              <a:rPr lang="en-US" sz="1400" b="1" dirty="0">
                <a:solidFill>
                  <a:srgbClr val="1B4332"/>
                </a:solidFill>
                <a:latin typeface="Montserrat" pitchFamily="34" charset="0"/>
                <a:ea typeface="Montserrat" pitchFamily="34" charset="-122"/>
                <a:cs typeface="Montserrat" pitchFamily="34" charset="-120"/>
              </a:rPr>
              <a:t>Backend Unit (Python)</a:t>
            </a:r>
            <a:endParaRPr lang="en-US" sz="1400" dirty="0"/>
          </a:p>
        </p:txBody>
      </p:sp>
      <p:sp>
        <p:nvSpPr>
          <p:cNvPr id="22" name="Text 20"/>
          <p:cNvSpPr/>
          <p:nvPr/>
        </p:nvSpPr>
        <p:spPr>
          <a:xfrm>
            <a:off x="9052560" y="3383280"/>
            <a:ext cx="2313432" cy="411480"/>
          </a:xfrm>
          <a:prstGeom prst="rect">
            <a:avLst/>
          </a:prstGeom>
          <a:noFill/>
          <a:ln/>
        </p:spPr>
        <p:txBody>
          <a:bodyPr wrap="square" rtlCol="0" anchor="ctr"/>
          <a:lstStyle/>
          <a:p>
            <a:pPr algn="ctr" indent="0" marL="0">
              <a:buNone/>
            </a:pPr>
            <a:r>
              <a:rPr lang="en-US" sz="1600" b="1" dirty="0">
                <a:solidFill>
                  <a:srgbClr val="2D6A4F"/>
                </a:solidFill>
                <a:latin typeface="Inter" pitchFamily="34" charset="0"/>
                <a:ea typeface="Inter" pitchFamily="34" charset="-122"/>
                <a:cs typeface="Inter" pitchFamily="34" charset="-120"/>
              </a:rPr>
              <a:t>7 Suites (12.9s)</a:t>
            </a:r>
            <a:endParaRPr lang="en-US" sz="1600" dirty="0"/>
          </a:p>
        </p:txBody>
      </p:sp>
      <p:sp>
        <p:nvSpPr>
          <p:cNvPr id="23" name="Shape 21"/>
          <p:cNvSpPr/>
          <p:nvPr/>
        </p:nvSpPr>
        <p:spPr>
          <a:xfrm>
            <a:off x="731520" y="4160520"/>
            <a:ext cx="10728655" cy="868680"/>
          </a:xfrm>
          <a:prstGeom prst="rect">
            <a:avLst>
              <a:gd name="adj" fmla="val 8421"/>
            </a:avLst>
          </a:prstGeom>
          <a:solidFill>
            <a:srgbClr val="EFEAE1"/>
          </a:solidFill>
          <a:ln w="12700">
            <a:solidFill>
              <a:srgbClr val="D8D2C6"/>
            </a:solidFill>
            <a:prstDash val="solid"/>
          </a:ln>
        </p:spPr>
      </p:sp>
      <p:sp>
        <p:nvSpPr>
          <p:cNvPr id="24" name="Text 22"/>
          <p:cNvSpPr/>
          <p:nvPr/>
        </p:nvSpPr>
        <p:spPr>
          <a:xfrm>
            <a:off x="914400" y="4251960"/>
            <a:ext cx="1463040" cy="685800"/>
          </a:xfrm>
          <a:prstGeom prst="rect">
            <a:avLst/>
          </a:prstGeom>
          <a:noFill/>
          <a:ln/>
        </p:spPr>
        <p:txBody>
          <a:bodyPr wrap="square" rtlCol="0" anchor="ctr"/>
          <a:lstStyle/>
          <a:p>
            <a:pPr indent="0" marL="0">
              <a:buNone/>
            </a:pPr>
            <a:r>
              <a:rPr lang="en-US" sz="1500" b="1" dirty="0">
                <a:solidFill>
                  <a:srgbClr val="1B4332"/>
                </a:solidFill>
                <a:latin typeface="Montserrat" pitchFamily="34" charset="0"/>
                <a:ea typeface="Montserrat" pitchFamily="34" charset="-122"/>
                <a:cs typeface="Montserrat" pitchFamily="34" charset="-120"/>
              </a:rPr>
              <a:t>CI STATUS:</a:t>
            </a:r>
            <a:endParaRPr lang="en-US" sz="1500" dirty="0"/>
          </a:p>
        </p:txBody>
      </p:sp>
      <p:sp>
        <p:nvSpPr>
          <p:cNvPr id="25" name="Text 23"/>
          <p:cNvSpPr/>
          <p:nvPr/>
        </p:nvSpPr>
        <p:spPr>
          <a:xfrm>
            <a:off x="2468880" y="4206240"/>
            <a:ext cx="8778240" cy="777240"/>
          </a:xfrm>
          <a:prstGeom prst="rect">
            <a:avLst/>
          </a:prstGeom>
          <a:noFill/>
          <a:ln/>
        </p:spPr>
        <p:txBody>
          <a:bodyPr wrap="square" rtlCol="0" anchor="ctr"/>
          <a:lstStyle/>
          <a:p>
            <a:pPr indent="0" marL="0">
              <a:buNone/>
            </a:pPr>
            <a:r>
              <a:rPr lang="en-US" sz="1400" b="1" dirty="0">
                <a:solidFill>
                  <a:srgbClr val="1B4332"/>
                </a:solidFill>
                <a:latin typeface="Inter" pitchFamily="34" charset="0"/>
                <a:ea typeface="Inter" pitchFamily="34" charset="-122"/>
                <a:cs typeface="Inter" pitchFamily="34" charset="-120"/>
              </a:rPr>
              <a:t>• Backend CI: </a:t>
            </a:r>
            <a:pPr indent="0" marL="0">
              <a:buNone/>
            </a:pPr>
            <a:r>
              <a:rPr lang="en-US" sz="1400" b="1" dirty="0">
                <a:solidFill>
                  <a:srgbClr val="2D6A4F"/>
                </a:solidFill>
                <a:latin typeface="Inter" pitchFamily="34" charset="0"/>
                <a:ea typeface="Inter" pitchFamily="34" charset="-122"/>
                <a:cs typeface="Inter" pitchFamily="34" charset="-120"/>
              </a:rPr>
              <a:t>PASSING (23s runtime)
</a:t>
            </a:r>
            <a:pPr indent="0" marL="0">
              <a:buNone/>
            </a:pPr>
            <a:r>
              <a:rPr lang="en-US" sz="1400" b="1" dirty="0">
                <a:solidFill>
                  <a:srgbClr val="1B4332"/>
                </a:solidFill>
                <a:latin typeface="Inter" pitchFamily="34" charset="0"/>
                <a:ea typeface="Inter" pitchFamily="34" charset="-122"/>
                <a:cs typeface="Inter" pitchFamily="34" charset="-120"/>
              </a:rPr>
              <a:t>• Flutter CI: </a:t>
            </a:r>
            <a:pPr indent="0" marL="0">
              <a:buNone/>
            </a:pPr>
            <a:r>
              <a:rPr lang="en-US" sz="1400" dirty="0">
                <a:solidFill>
                  <a:srgbClr val="B91C1C"/>
                </a:solidFill>
                <a:latin typeface="Inter" pitchFamily="34" charset="0"/>
                <a:ea typeface="Inter" pitchFamily="34" charset="-122"/>
                <a:cs typeface="Inter" pitchFamily="34" charset="-120"/>
              </a:rPr>
              <a:t>FAILING on remote (6 unused imports fixed locally in commit 15b98b22, unpushed)
</a:t>
            </a:r>
            <a:pPr indent="0" marL="0">
              <a:buNone/>
            </a:pPr>
            <a:r>
              <a:rPr lang="en-US" sz="1400" b="1" dirty="0">
                <a:solidFill>
                  <a:srgbClr val="1B4332"/>
                </a:solidFill>
                <a:latin typeface="Inter" pitchFamily="34" charset="0"/>
                <a:ea typeface="Inter" pitchFamily="34" charset="-122"/>
                <a:cs typeface="Inter" pitchFamily="34" charset="-120"/>
              </a:rPr>
              <a:t>• Keepalive: </a:t>
            </a:r>
            <a:pPr indent="0" marL="0">
              <a:buNone/>
            </a:pPr>
            <a:r>
              <a:rPr lang="en-US" sz="1400" b="1" dirty="0">
                <a:solidFill>
                  <a:srgbClr val="2D6A4F"/>
                </a:solidFill>
                <a:latin typeface="Inter" pitchFamily="34" charset="0"/>
                <a:ea typeface="Inter" pitchFamily="34" charset="-122"/>
                <a:cs typeface="Inter" pitchFamily="34" charset="-120"/>
              </a:rPr>
              <a:t>PASSING (every 10 min cron */10 * * * *)</a:t>
            </a:r>
            <a:endParaRPr lang="en-US" sz="1400" dirty="0"/>
          </a:p>
        </p:txBody>
      </p:sp>
      <p:sp>
        <p:nvSpPr>
          <p:cNvPr id="26" name="Text 24"/>
          <p:cNvSpPr/>
          <p:nvPr/>
        </p:nvSpPr>
        <p:spPr>
          <a:xfrm>
            <a:off x="731520" y="5257800"/>
            <a:ext cx="10728655" cy="1234440"/>
          </a:xfrm>
          <a:prstGeom prst="rect">
            <a:avLst/>
          </a:prstGeom>
          <a:noFill/>
          <a:ln/>
        </p:spPr>
        <p:txBody>
          <a:bodyPr wrap="square" rtlCol="0" anchor="t"/>
          <a:lstStyle/>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Balanced classical state verification with mockist fault injection.</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51 automated offline tests pass in under 44 seconds locally.</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CI passes backend tests; Flutter fix remains staged locally.</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9F4"/>
        </a:solidFill>
      </p:bgPr>
    </p:bg>
    <p:spTree>
      <p:nvGrpSpPr>
        <p:cNvPr id="1" name=""/>
        <p:cNvGrpSpPr/>
        <p:nvPr/>
      </p:nvGrpSpPr>
      <p:grpSpPr>
        <a:xfrm>
          <a:off x="0" y="0"/>
          <a:ext cx="0" cy="0"/>
          <a:chOff x="0" y="0"/>
          <a:chExt cx="0" cy="0"/>
        </a:xfrm>
      </p:grpSpPr>
      <p:sp>
        <p:nvSpPr>
          <p:cNvPr id="2" name="Text 0"/>
          <p:cNvSpPr/>
          <p:nvPr/>
        </p:nvSpPr>
        <p:spPr>
          <a:xfrm>
            <a:off x="10515600" y="411480"/>
            <a:ext cx="1005840" cy="320040"/>
          </a:xfrm>
          <a:prstGeom prst="rect">
            <a:avLst/>
          </a:prstGeom>
          <a:noFill/>
          <a:ln/>
        </p:spPr>
        <p:txBody>
          <a:bodyPr wrap="square" rtlCol="0" anchor="ctr"/>
          <a:lstStyle/>
          <a:p>
            <a:pPr algn="r" indent="0" marL="0">
              <a:buNone/>
            </a:pPr>
            <a:r>
              <a:rPr lang="en-US" sz="1300" b="1" dirty="0">
                <a:solidFill>
                  <a:srgbClr val="5A5A54"/>
                </a:solidFill>
                <a:latin typeface="Montserrat" pitchFamily="34" charset="0"/>
                <a:ea typeface="Montserrat" pitchFamily="34" charset="-122"/>
                <a:cs typeface="Montserrat" pitchFamily="34" charset="-120"/>
              </a:rPr>
              <a:t>7 / 10</a:t>
            </a:r>
            <a:endParaRPr lang="en-US" sz="1300" dirty="0"/>
          </a:p>
        </p:txBody>
      </p:sp>
      <p:sp>
        <p:nvSpPr>
          <p:cNvPr id="3" name="Text 1"/>
          <p:cNvSpPr/>
          <p:nvPr/>
        </p:nvSpPr>
        <p:spPr>
          <a:xfrm>
            <a:off x="731520" y="365760"/>
            <a:ext cx="9692640" cy="594360"/>
          </a:xfrm>
          <a:prstGeom prst="rect">
            <a:avLst/>
          </a:prstGeom>
          <a:noFill/>
          <a:ln/>
        </p:spPr>
        <p:txBody>
          <a:bodyPr wrap="square" rtlCol="0" anchor="ctr"/>
          <a:lstStyle/>
          <a:p>
            <a:pPr indent="0" marL="0">
              <a:buNone/>
            </a:pPr>
            <a:r>
              <a:rPr lang="en-US" sz="3400" b="1" dirty="0">
                <a:solidFill>
                  <a:srgbClr val="1B4332"/>
                </a:solidFill>
                <a:latin typeface="Montserrat" pitchFamily="34" charset="0"/>
                <a:ea typeface="Montserrat" pitchFamily="34" charset="-122"/>
                <a:cs typeface="Montserrat" pitchFamily="34" charset="-120"/>
              </a:rPr>
              <a:t>Bugs We Found: Lifecycle &amp; Defect Log</a:t>
            </a:r>
            <a:endParaRPr lang="en-US" sz="3400" dirty="0"/>
          </a:p>
        </p:txBody>
      </p:sp>
      <p:sp>
        <p:nvSpPr>
          <p:cNvPr id="4" name="Shape 2"/>
          <p:cNvSpPr/>
          <p:nvPr/>
        </p:nvSpPr>
        <p:spPr>
          <a:xfrm>
            <a:off x="731520" y="1051560"/>
            <a:ext cx="10728655" cy="0"/>
          </a:xfrm>
          <a:prstGeom prst="line">
            <a:avLst/>
          </a:prstGeom>
          <a:noFill/>
          <a:ln w="31750">
            <a:solidFill>
              <a:srgbClr val="FFB702"/>
            </a:solidFill>
            <a:prstDash val="solid"/>
          </a:ln>
        </p:spPr>
      </p:sp>
      <p:sp>
        <p:nvSpPr>
          <p:cNvPr id="5" name="Shape 3"/>
          <p:cNvSpPr/>
          <p:nvPr/>
        </p:nvSpPr>
        <p:spPr>
          <a:xfrm>
            <a:off x="731520" y="1234440"/>
            <a:ext cx="10728655" cy="1051560"/>
          </a:xfrm>
          <a:prstGeom prst="rect">
            <a:avLst>
              <a:gd name="adj" fmla="val 8696"/>
            </a:avLst>
          </a:prstGeom>
          <a:solidFill>
            <a:srgbClr val="FFFFFF"/>
          </a:solidFill>
          <a:ln w="19050">
            <a:solidFill>
              <a:srgbClr val="E5E0D8"/>
            </a:solidFill>
            <a:prstDash val="solid"/>
          </a:ln>
        </p:spPr>
      </p:sp>
      <p:sp>
        <p:nvSpPr>
          <p:cNvPr id="6" name="Text 4"/>
          <p:cNvSpPr/>
          <p:nvPr/>
        </p:nvSpPr>
        <p:spPr>
          <a:xfrm>
            <a:off x="914400" y="1280160"/>
            <a:ext cx="10332720" cy="256032"/>
          </a:xfrm>
          <a:prstGeom prst="rect">
            <a:avLst/>
          </a:prstGeom>
          <a:noFill/>
          <a:ln/>
        </p:spPr>
        <p:txBody>
          <a:bodyPr wrap="square" rtlCol="0" anchor="ctr"/>
          <a:lstStyle/>
          <a:p>
            <a:pPr indent="0" marL="0">
              <a:buNone/>
            </a:pPr>
            <a:r>
              <a:rPr lang="en-US" sz="1400" b="1" dirty="0">
                <a:solidFill>
                  <a:srgbClr val="1B4332"/>
                </a:solidFill>
                <a:latin typeface="Montserrat" pitchFamily="34" charset="0"/>
                <a:ea typeface="Montserrat" pitchFamily="34" charset="-122"/>
                <a:cs typeface="Montserrat" pitchFamily="34" charset="-120"/>
              </a:rPr>
              <a:t>PROPAGATION CHAIN: DEF-009 (Physical Device Loopback Hang)</a:t>
            </a:r>
            <a:endParaRPr lang="en-US" sz="1400" dirty="0"/>
          </a:p>
        </p:txBody>
      </p:sp>
      <p:sp>
        <p:nvSpPr>
          <p:cNvPr id="7" name="Shape 5"/>
          <p:cNvSpPr/>
          <p:nvPr/>
        </p:nvSpPr>
        <p:spPr>
          <a:xfrm>
            <a:off x="914400" y="1572768"/>
            <a:ext cx="3291840" cy="621792"/>
          </a:xfrm>
          <a:prstGeom prst="rect">
            <a:avLst>
              <a:gd name="adj" fmla="val 8824"/>
            </a:avLst>
          </a:prstGeom>
          <a:solidFill>
            <a:srgbClr val="EFEAE1"/>
          </a:solidFill>
          <a:ln w="12700">
            <a:solidFill>
              <a:srgbClr val="E5E0D8"/>
            </a:solidFill>
            <a:prstDash val="solid"/>
          </a:ln>
        </p:spPr>
      </p:sp>
      <p:sp>
        <p:nvSpPr>
          <p:cNvPr id="8" name="Text 6"/>
          <p:cNvSpPr/>
          <p:nvPr/>
        </p:nvSpPr>
        <p:spPr>
          <a:xfrm>
            <a:off x="1005840" y="1600200"/>
            <a:ext cx="3108960" cy="237744"/>
          </a:xfrm>
          <a:prstGeom prst="rect">
            <a:avLst/>
          </a:prstGeom>
          <a:noFill/>
          <a:ln/>
        </p:spPr>
        <p:txBody>
          <a:bodyPr wrap="square" rtlCol="0" anchor="ctr"/>
          <a:lstStyle/>
          <a:p>
            <a:pPr indent="0" marL="0">
              <a:buNone/>
            </a:pPr>
            <a:r>
              <a:rPr lang="en-US" sz="1250" b="1" dirty="0">
                <a:solidFill>
                  <a:srgbClr val="1B4332"/>
                </a:solidFill>
                <a:latin typeface="Montserrat" pitchFamily="34" charset="0"/>
                <a:ea typeface="Montserrat" pitchFamily="34" charset="-122"/>
                <a:cs typeface="Montserrat" pitchFamily="34" charset="-120"/>
              </a:rPr>
              <a:t>1. Human Error (Mistake)</a:t>
            </a:r>
            <a:endParaRPr lang="en-US" sz="1250" dirty="0"/>
          </a:p>
        </p:txBody>
      </p:sp>
      <p:sp>
        <p:nvSpPr>
          <p:cNvPr id="9" name="Text 7"/>
          <p:cNvSpPr/>
          <p:nvPr/>
        </p:nvSpPr>
        <p:spPr>
          <a:xfrm>
            <a:off x="1005840" y="1856232"/>
            <a:ext cx="3108960" cy="292608"/>
          </a:xfrm>
          <a:prstGeom prst="rect">
            <a:avLst/>
          </a:prstGeom>
          <a:noFill/>
          <a:ln/>
        </p:spPr>
        <p:txBody>
          <a:bodyPr wrap="square" rtlCol="0" anchor="ctr"/>
          <a:lstStyle/>
          <a:p>
            <a:pPr indent="0" marL="0">
              <a:buNone/>
            </a:pPr>
            <a:r>
              <a:rPr lang="en-US" sz="1150" dirty="0">
                <a:solidFill>
                  <a:srgbClr val="1C1C19"/>
                </a:solidFill>
                <a:latin typeface="Inter" pitchFamily="34" charset="0"/>
                <a:ea typeface="Inter" pitchFamily="34" charset="-122"/>
                <a:cs typeface="Inter" pitchFamily="34" charset="-120"/>
              </a:rPr>
              <a:t>Assumed 10.0.2.2 emulator IP is valid on physical phones</a:t>
            </a:r>
            <a:endParaRPr lang="en-US" sz="1150" dirty="0"/>
          </a:p>
        </p:txBody>
      </p:sp>
      <p:sp>
        <p:nvSpPr>
          <p:cNvPr id="10" name="Shape 8"/>
          <p:cNvSpPr/>
          <p:nvPr/>
        </p:nvSpPr>
        <p:spPr>
          <a:xfrm>
            <a:off x="4434840" y="1572768"/>
            <a:ext cx="3291840" cy="621792"/>
          </a:xfrm>
          <a:prstGeom prst="rect">
            <a:avLst>
              <a:gd name="adj" fmla="val 8824"/>
            </a:avLst>
          </a:prstGeom>
          <a:solidFill>
            <a:srgbClr val="EFEAE1"/>
          </a:solidFill>
          <a:ln w="12700">
            <a:solidFill>
              <a:srgbClr val="E5E0D8"/>
            </a:solidFill>
            <a:prstDash val="solid"/>
          </a:ln>
        </p:spPr>
      </p:sp>
      <p:sp>
        <p:nvSpPr>
          <p:cNvPr id="11" name="Text 9"/>
          <p:cNvSpPr/>
          <p:nvPr/>
        </p:nvSpPr>
        <p:spPr>
          <a:xfrm>
            <a:off x="4526280" y="1600200"/>
            <a:ext cx="3108960" cy="237744"/>
          </a:xfrm>
          <a:prstGeom prst="rect">
            <a:avLst/>
          </a:prstGeom>
          <a:noFill/>
          <a:ln/>
        </p:spPr>
        <p:txBody>
          <a:bodyPr wrap="square" rtlCol="0" anchor="ctr"/>
          <a:lstStyle/>
          <a:p>
            <a:pPr indent="0" marL="0">
              <a:buNone/>
            </a:pPr>
            <a:r>
              <a:rPr lang="en-US" sz="1250" b="1" dirty="0">
                <a:solidFill>
                  <a:srgbClr val="1B4332"/>
                </a:solidFill>
                <a:latin typeface="Montserrat" pitchFamily="34" charset="0"/>
                <a:ea typeface="Montserrat" pitchFamily="34" charset="-122"/>
                <a:cs typeface="Montserrat" pitchFamily="34" charset="-120"/>
              </a:rPr>
              <a:t>2. Software Defect (Bug)</a:t>
            </a:r>
            <a:endParaRPr lang="en-US" sz="1250" dirty="0"/>
          </a:p>
        </p:txBody>
      </p:sp>
      <p:sp>
        <p:nvSpPr>
          <p:cNvPr id="12" name="Text 10"/>
          <p:cNvSpPr/>
          <p:nvPr/>
        </p:nvSpPr>
        <p:spPr>
          <a:xfrm>
            <a:off x="4526280" y="1856232"/>
            <a:ext cx="3108960" cy="292608"/>
          </a:xfrm>
          <a:prstGeom prst="rect">
            <a:avLst/>
          </a:prstGeom>
          <a:noFill/>
          <a:ln/>
        </p:spPr>
        <p:txBody>
          <a:bodyPr wrap="square" rtlCol="0" anchor="ctr"/>
          <a:lstStyle/>
          <a:p>
            <a:pPr indent="0" marL="0">
              <a:buNone/>
            </a:pPr>
            <a:r>
              <a:rPr lang="en-US" sz="1150" dirty="0">
                <a:solidFill>
                  <a:srgbClr val="1C1C19"/>
                </a:solidFill>
                <a:latin typeface="Inter" pitchFamily="34" charset="0"/>
                <a:ea typeface="Inter" pitchFamily="34" charset="-122"/>
                <a:cs typeface="Inter" pitchFamily="34" charset="-120"/>
              </a:rPr>
              <a:t>Hardcoded defaultBaseUrl to 10.0.2.2 without route checks</a:t>
            </a:r>
            <a:endParaRPr lang="en-US" sz="1150" dirty="0"/>
          </a:p>
        </p:txBody>
      </p:sp>
      <p:sp>
        <p:nvSpPr>
          <p:cNvPr id="13" name="Shape 11"/>
          <p:cNvSpPr/>
          <p:nvPr/>
        </p:nvSpPr>
        <p:spPr>
          <a:xfrm>
            <a:off x="7955280" y="1572768"/>
            <a:ext cx="3291840" cy="621792"/>
          </a:xfrm>
          <a:prstGeom prst="rect">
            <a:avLst>
              <a:gd name="adj" fmla="val 8824"/>
            </a:avLst>
          </a:prstGeom>
          <a:solidFill>
            <a:srgbClr val="EFEAE1"/>
          </a:solidFill>
          <a:ln w="12700">
            <a:solidFill>
              <a:srgbClr val="E5E0D8"/>
            </a:solidFill>
            <a:prstDash val="solid"/>
          </a:ln>
        </p:spPr>
      </p:sp>
      <p:sp>
        <p:nvSpPr>
          <p:cNvPr id="14" name="Text 12"/>
          <p:cNvSpPr/>
          <p:nvPr/>
        </p:nvSpPr>
        <p:spPr>
          <a:xfrm>
            <a:off x="8046720" y="1600200"/>
            <a:ext cx="3108960" cy="237744"/>
          </a:xfrm>
          <a:prstGeom prst="rect">
            <a:avLst/>
          </a:prstGeom>
          <a:noFill/>
          <a:ln/>
        </p:spPr>
        <p:txBody>
          <a:bodyPr wrap="square" rtlCol="0" anchor="ctr"/>
          <a:lstStyle/>
          <a:p>
            <a:pPr indent="0" marL="0">
              <a:buNone/>
            </a:pPr>
            <a:r>
              <a:rPr lang="en-US" sz="1250" b="1" dirty="0">
                <a:solidFill>
                  <a:srgbClr val="1B4332"/>
                </a:solidFill>
                <a:latin typeface="Montserrat" pitchFamily="34" charset="0"/>
                <a:ea typeface="Montserrat" pitchFamily="34" charset="-122"/>
                <a:cs typeface="Montserrat" pitchFamily="34" charset="-120"/>
              </a:rPr>
              <a:t>3. System Failure (Observed)</a:t>
            </a:r>
            <a:endParaRPr lang="en-US" sz="1250" dirty="0"/>
          </a:p>
        </p:txBody>
      </p:sp>
      <p:sp>
        <p:nvSpPr>
          <p:cNvPr id="15" name="Text 13"/>
          <p:cNvSpPr/>
          <p:nvPr/>
        </p:nvSpPr>
        <p:spPr>
          <a:xfrm>
            <a:off x="8046720" y="1856232"/>
            <a:ext cx="3108960" cy="292608"/>
          </a:xfrm>
          <a:prstGeom prst="rect">
            <a:avLst/>
          </a:prstGeom>
          <a:noFill/>
          <a:ln/>
        </p:spPr>
        <p:txBody>
          <a:bodyPr wrap="square" rtlCol="0" anchor="ctr"/>
          <a:lstStyle/>
          <a:p>
            <a:pPr indent="0" marL="0">
              <a:buNone/>
            </a:pPr>
            <a:r>
              <a:rPr lang="en-US" sz="1150" dirty="0">
                <a:solidFill>
                  <a:srgbClr val="1C1C19"/>
                </a:solidFill>
                <a:latin typeface="Inter" pitchFamily="34" charset="0"/>
                <a:ea typeface="Inter" pitchFamily="34" charset="-122"/>
                <a:cs typeface="Inter" pitchFamily="34" charset="-120"/>
              </a:rPr>
              <a:t>Physical phone hung for 76.5 seconds in retry loop</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2423160"/>
          <a:ext cx="10728655" cy="2286000"/>
        </p:xfrm>
        <a:graphic>
          <a:graphicData uri="http://schemas.openxmlformats.org/drawingml/2006/table">
            <a:tbl>
              <a:tblPr/>
              <a:tblGrid>
                <a:gridCol w="1463040"/>
                <a:gridCol w="5242255"/>
                <a:gridCol w="1645920"/>
                <a:gridCol w="2377440"/>
              </a:tblGrid>
              <a:tr h="384048">
                <a:tc>
                  <a:txBody>
                    <a:bodyPr/>
                    <a:lstStyle/>
                    <a:p>
                      <a:pPr algn="ctr" indent="0" marL="0">
                        <a:buNone/>
                      </a:pPr>
                      <a:r>
                        <a:rPr lang="en-US" sz="1450" b="1" dirty="0">
                          <a:solidFill>
                            <a:srgbClr val="1B4332"/>
                          </a:solidFill>
                          <a:latin typeface="Montserrat" pitchFamily="34" charset="0"/>
                          <a:ea typeface="Montserrat" pitchFamily="34" charset="-122"/>
                          <a:cs typeface="Montserrat" pitchFamily="34" charset="-120"/>
                        </a:rPr>
                        <a:t>Defect ID</a:t>
                      </a:r>
                      <a:endParaRPr lang="en-US" sz="14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FEAE1"/>
                    </a:solidFill>
                  </a:tcPr>
                </a:tc>
                <a:tc>
                  <a:txBody>
                    <a:bodyPr/>
                    <a:lstStyle/>
                    <a:p>
                      <a:pPr indent="0" marL="0">
                        <a:buNone/>
                      </a:pPr>
                      <a:r>
                        <a:rPr lang="en-US" sz="1450" b="1" dirty="0">
                          <a:solidFill>
                            <a:srgbClr val="1B4332"/>
                          </a:solidFill>
                          <a:latin typeface="Montserrat" pitchFamily="34" charset="0"/>
                          <a:ea typeface="Montserrat" pitchFamily="34" charset="-122"/>
                          <a:cs typeface="Montserrat" pitchFamily="34" charset="-120"/>
                        </a:rPr>
                        <a:t>Defect Description</a:t>
                      </a:r>
                      <a:endParaRPr lang="en-US" sz="14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FEAE1"/>
                    </a:solidFill>
                  </a:tcPr>
                </a:tc>
                <a:tc>
                  <a:txBody>
                    <a:bodyPr/>
                    <a:lstStyle/>
                    <a:p>
                      <a:pPr algn="ctr" indent="0" marL="0">
                        <a:buNone/>
                      </a:pPr>
                      <a:r>
                        <a:rPr lang="en-US" sz="1450" b="1" dirty="0">
                          <a:solidFill>
                            <a:srgbClr val="1B4332"/>
                          </a:solidFill>
                          <a:latin typeface="Montserrat" pitchFamily="34" charset="0"/>
                          <a:ea typeface="Montserrat" pitchFamily="34" charset="-122"/>
                          <a:cs typeface="Montserrat" pitchFamily="34" charset="-120"/>
                        </a:rPr>
                        <a:t>Category</a:t>
                      </a:r>
                      <a:endParaRPr lang="en-US" sz="14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FEAE1"/>
                    </a:solidFill>
                  </a:tcPr>
                </a:tc>
                <a:tc>
                  <a:txBody>
                    <a:bodyPr/>
                    <a:lstStyle/>
                    <a:p>
                      <a:pPr algn="ctr" indent="0" marL="0">
                        <a:buNone/>
                      </a:pPr>
                      <a:r>
                        <a:rPr lang="en-US" sz="1450" b="1" dirty="0">
                          <a:solidFill>
                            <a:srgbClr val="1B4332"/>
                          </a:solidFill>
                          <a:latin typeface="Montserrat" pitchFamily="34" charset="0"/>
                          <a:ea typeface="Montserrat" pitchFamily="34" charset="-122"/>
                          <a:cs typeface="Montserrat" pitchFamily="34" charset="-120"/>
                        </a:rPr>
                        <a:t>Status</a:t>
                      </a:r>
                      <a:endParaRPr lang="en-US" sz="1450" dirty="0">
                        <a:latin typeface="Montserrat" charset="0"/>
                        <a:ea typeface="Montserrat" charset="0"/>
                        <a:cs typeface="Montserrat"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EFEAE1"/>
                    </a:solidFill>
                  </a:tcPr>
                </a:tc>
              </a:tr>
              <a:tr h="365760">
                <a:tc>
                  <a:txBody>
                    <a:bodyPr/>
                    <a:lstStyle/>
                    <a:p>
                      <a:pPr indent="0" marL="0">
                        <a:buNone/>
                      </a:pPr>
                      <a:r>
                        <a:rPr lang="en-US" sz="1350" dirty="0">
                          <a:solidFill>
                            <a:srgbClr val="1C1C19"/>
                          </a:solidFill>
                          <a:latin typeface="Inter" pitchFamily="34" charset="0"/>
                          <a:ea typeface="Inter" pitchFamily="34" charset="-122"/>
                          <a:cs typeface="Inter" pitchFamily="34" charset="-120"/>
                        </a:rPr>
                        <a:t>DEF-001</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Item setup bottom overflow on small viewports</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UI/Layout</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Fixed (SingleChildScrollView)</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65760">
                <a:tc>
                  <a:txBody>
                    <a:bodyPr/>
                    <a:lstStyle/>
                    <a:p>
                      <a:pPr indent="0" marL="0">
                        <a:buNone/>
                      </a:pPr>
                      <a:r>
                        <a:rPr lang="en-US" sz="1350" dirty="0">
                          <a:solidFill>
                            <a:srgbClr val="1C1C19"/>
                          </a:solidFill>
                          <a:latin typeface="Inter" pitchFamily="34" charset="0"/>
                          <a:ea typeface="Inter" pitchFamily="34" charset="-122"/>
                          <a:cs typeface="Inter" pitchFamily="34" charset="-120"/>
                        </a:rPr>
                        <a:t>DEF-004</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Waste alert calculation lag on initial catalog load</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Functional</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Fixed (Pre-warmed cache)</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65760">
                <a:tc>
                  <a:txBody>
                    <a:bodyPr/>
                    <a:lstStyle/>
                    <a:p>
                      <a:pPr indent="0" marL="0">
                        <a:buNone/>
                      </a:pPr>
                      <a:r>
                        <a:rPr lang="en-US" sz="1350" dirty="0">
                          <a:solidFill>
                            <a:srgbClr val="1C1C19"/>
                          </a:solidFill>
                          <a:latin typeface="Inter" pitchFamily="34" charset="0"/>
                          <a:ea typeface="Inter" pitchFamily="34" charset="-122"/>
                          <a:cs typeface="Inter" pitchFamily="34" charset="-120"/>
                        </a:rPr>
                        <a:t>DEF-008</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37 missing calendar days causing weekday shift mismatch</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ML Align</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Open (DEF-008 Shift)</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65760">
                <a:tc>
                  <a:txBody>
                    <a:bodyPr/>
                    <a:lstStyle/>
                    <a:p>
                      <a:pPr indent="0" marL="0">
                        <a:buNone/>
                      </a:pPr>
                      <a:r>
                        <a:rPr lang="en-US" sz="1350" dirty="0">
                          <a:solidFill>
                            <a:srgbClr val="1C1C19"/>
                          </a:solidFill>
                          <a:latin typeface="Inter" pitchFamily="34" charset="0"/>
                          <a:ea typeface="Inter" pitchFamily="34" charset="-122"/>
                          <a:cs typeface="Inter" pitchFamily="34" charset="-120"/>
                        </a:rPr>
                        <a:t>DEF-009</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Hardcoded loopback IP caused 76s physical phone hang</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Config/Net</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Fixed (Dynamic IP + Gating)</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r h="365760">
                <a:tc>
                  <a:txBody>
                    <a:bodyPr/>
                    <a:lstStyle/>
                    <a:p>
                      <a:pPr indent="0" marL="0">
                        <a:buNone/>
                      </a:pPr>
                      <a:r>
                        <a:rPr lang="en-US" sz="1350" dirty="0">
                          <a:solidFill>
                            <a:srgbClr val="1C1C19"/>
                          </a:solidFill>
                          <a:latin typeface="Inter" pitchFamily="34" charset="0"/>
                          <a:ea typeface="Inter" pitchFamily="34" charset="-122"/>
                          <a:cs typeface="Inter" pitchFamily="34" charset="-120"/>
                        </a:rPr>
                        <a:t>DEF-011</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Legacy donation endpoint retained vs commercial rule</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Requirement</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c>
                  <a:txBody>
                    <a:bodyPr/>
                    <a:lstStyle/>
                    <a:p>
                      <a:pPr indent="0" marL="0">
                        <a:buNone/>
                      </a:pPr>
                      <a:r>
                        <a:rPr lang="en-US" sz="1350" dirty="0">
                          <a:solidFill>
                            <a:srgbClr val="1C1C19"/>
                          </a:solidFill>
                          <a:latin typeface="Inter" pitchFamily="34" charset="0"/>
                          <a:ea typeface="Inter" pitchFamily="34" charset="-122"/>
                          <a:cs typeface="Inter" pitchFamily="34" charset="-120"/>
                        </a:rPr>
                        <a:t>Open (DEF-011 State)</a:t>
                      </a:r>
                      <a:endParaRPr lang="en-US" sz="1350" dirty="0">
                        <a:latin typeface="Inter" charset="0"/>
                        <a:ea typeface="Inter" charset="0"/>
                        <a:cs typeface="Inter" charset="0"/>
                      </a:endParaRPr>
                    </a:p>
                  </a:txBody>
                  <a:tcPr marL="91440" marR="91440" marT="45720" marB="45720">
                    <a:lnL w="6350" cap="flat" cmpd="sng" algn="ctr">
                      <a:solidFill>
                        <a:srgbClr val="E5E0D8"/>
                      </a:solidFill>
                      <a:prstDash val="solid"/>
                      <a:round/>
                      <a:headEnd type="none" w="med" len="med"/>
                      <a:tailEnd type="none" w="med" len="med"/>
                    </a:lnL>
                    <a:lnR w="6350" cap="flat" cmpd="sng" algn="ctr">
                      <a:solidFill>
                        <a:srgbClr val="E5E0D8"/>
                      </a:solidFill>
                      <a:prstDash val="solid"/>
                      <a:round/>
                      <a:headEnd type="none" w="med" len="med"/>
                      <a:tailEnd type="none" w="med" len="med"/>
                    </a:lnR>
                    <a:lnT w="6350" cap="flat" cmpd="sng" algn="ctr">
                      <a:solidFill>
                        <a:srgbClr val="E5E0D8"/>
                      </a:solidFill>
                      <a:prstDash val="solid"/>
                      <a:round/>
                      <a:headEnd type="none" w="med" len="med"/>
                      <a:tailEnd type="none" w="med" len="med"/>
                    </a:lnT>
                    <a:lnB w="6350" cap="flat" cmpd="sng" algn="ctr">
                      <a:solidFill>
                        <a:srgbClr val="E5E0D8"/>
                      </a:solidFill>
                      <a:prstDash val="solid"/>
                      <a:round/>
                      <a:headEnd type="none" w="med" len="med"/>
                      <a:tailEnd type="none" w="med" len="med"/>
                    </a:lnB>
                    <a:solidFill>
                      <a:srgbClr val="FFFFFF"/>
                    </a:solidFill>
                  </a:tcPr>
                </a:tc>
              </a:tr>
            </a:tbl>
          </a:graphicData>
        </a:graphic>
      </p:graphicFrame>
      <p:sp>
        <p:nvSpPr>
          <p:cNvPr id="17" name="Text 14"/>
          <p:cNvSpPr/>
          <p:nvPr/>
        </p:nvSpPr>
        <p:spPr>
          <a:xfrm>
            <a:off x="731520" y="5257800"/>
            <a:ext cx="10728655" cy="1234440"/>
          </a:xfrm>
          <a:prstGeom prst="rect">
            <a:avLst/>
          </a:prstGeom>
          <a:noFill/>
          <a:ln/>
        </p:spPr>
        <p:txBody>
          <a:bodyPr wrap="square" rtlCol="0" anchor="t"/>
          <a:lstStyle/>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Traced root causes from developer assumptions to runtime failures.</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Eleven defects logged across git history: nine resolved, two open.</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Two non-critical architectural findings remain openly tracked.</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9F4"/>
        </a:solidFill>
      </p:bgPr>
    </p:bg>
    <p:spTree>
      <p:nvGrpSpPr>
        <p:cNvPr id="1" name=""/>
        <p:cNvGrpSpPr/>
        <p:nvPr/>
      </p:nvGrpSpPr>
      <p:grpSpPr>
        <a:xfrm>
          <a:off x="0" y="0"/>
          <a:ext cx="0" cy="0"/>
          <a:chOff x="0" y="0"/>
          <a:chExt cx="0" cy="0"/>
        </a:xfrm>
      </p:grpSpPr>
      <p:sp>
        <p:nvSpPr>
          <p:cNvPr id="2" name="Text 0"/>
          <p:cNvSpPr/>
          <p:nvPr/>
        </p:nvSpPr>
        <p:spPr>
          <a:xfrm>
            <a:off x="10515600" y="411480"/>
            <a:ext cx="1005840" cy="320040"/>
          </a:xfrm>
          <a:prstGeom prst="rect">
            <a:avLst/>
          </a:prstGeom>
          <a:noFill/>
          <a:ln/>
        </p:spPr>
        <p:txBody>
          <a:bodyPr wrap="square" rtlCol="0" anchor="ctr"/>
          <a:lstStyle/>
          <a:p>
            <a:pPr algn="r" indent="0" marL="0">
              <a:buNone/>
            </a:pPr>
            <a:r>
              <a:rPr lang="en-US" sz="1300" b="1" dirty="0">
                <a:solidFill>
                  <a:srgbClr val="5A5A54"/>
                </a:solidFill>
                <a:latin typeface="Montserrat" pitchFamily="34" charset="0"/>
                <a:ea typeface="Montserrat" pitchFamily="34" charset="-122"/>
                <a:cs typeface="Montserrat" pitchFamily="34" charset="-120"/>
              </a:rPr>
              <a:t>8 / 10</a:t>
            </a:r>
            <a:endParaRPr lang="en-US" sz="1300" dirty="0"/>
          </a:p>
        </p:txBody>
      </p:sp>
      <p:sp>
        <p:nvSpPr>
          <p:cNvPr id="3" name="Text 1"/>
          <p:cNvSpPr/>
          <p:nvPr/>
        </p:nvSpPr>
        <p:spPr>
          <a:xfrm>
            <a:off x="731520" y="365760"/>
            <a:ext cx="9692640" cy="594360"/>
          </a:xfrm>
          <a:prstGeom prst="rect">
            <a:avLst/>
          </a:prstGeom>
          <a:noFill/>
          <a:ln/>
        </p:spPr>
        <p:txBody>
          <a:bodyPr wrap="square" rtlCol="0" anchor="ctr"/>
          <a:lstStyle/>
          <a:p>
            <a:pPr indent="0" marL="0">
              <a:buNone/>
            </a:pPr>
            <a:r>
              <a:rPr lang="en-US" sz="3400" b="1" dirty="0">
                <a:solidFill>
                  <a:srgbClr val="1B4332"/>
                </a:solidFill>
                <a:latin typeface="Montserrat" pitchFamily="34" charset="0"/>
                <a:ea typeface="Montserrat" pitchFamily="34" charset="-122"/>
                <a:cs typeface="Montserrat" pitchFamily="34" charset="-120"/>
              </a:rPr>
              <a:t>Security &amp; End-to-End Testing</a:t>
            </a:r>
            <a:endParaRPr lang="en-US" sz="3400" dirty="0"/>
          </a:p>
        </p:txBody>
      </p:sp>
      <p:sp>
        <p:nvSpPr>
          <p:cNvPr id="4" name="Shape 2"/>
          <p:cNvSpPr/>
          <p:nvPr/>
        </p:nvSpPr>
        <p:spPr>
          <a:xfrm>
            <a:off x="731520" y="1051560"/>
            <a:ext cx="10728655" cy="0"/>
          </a:xfrm>
          <a:prstGeom prst="line">
            <a:avLst/>
          </a:prstGeom>
          <a:noFill/>
          <a:ln w="31750">
            <a:solidFill>
              <a:srgbClr val="FFB702"/>
            </a:solidFill>
            <a:prstDash val="solid"/>
          </a:ln>
        </p:spPr>
      </p:sp>
      <p:sp>
        <p:nvSpPr>
          <p:cNvPr id="5" name="Shape 3"/>
          <p:cNvSpPr/>
          <p:nvPr/>
        </p:nvSpPr>
        <p:spPr>
          <a:xfrm>
            <a:off x="731520" y="1325880"/>
            <a:ext cx="5166360" cy="3703320"/>
          </a:xfrm>
          <a:prstGeom prst="rect">
            <a:avLst>
              <a:gd name="adj" fmla="val 2963"/>
            </a:avLst>
          </a:prstGeom>
          <a:solidFill>
            <a:srgbClr val="FFFFFF"/>
          </a:solidFill>
          <a:ln w="19050">
            <a:solidFill>
              <a:srgbClr val="E5E0D8"/>
            </a:solidFill>
            <a:prstDash val="solid"/>
          </a:ln>
        </p:spPr>
      </p:sp>
      <p:sp>
        <p:nvSpPr>
          <p:cNvPr id="6" name="Text 4"/>
          <p:cNvSpPr/>
          <p:nvPr/>
        </p:nvSpPr>
        <p:spPr>
          <a:xfrm>
            <a:off x="914400" y="1463040"/>
            <a:ext cx="4800600" cy="365760"/>
          </a:xfrm>
          <a:prstGeom prst="rect">
            <a:avLst/>
          </a:prstGeom>
          <a:noFill/>
          <a:ln/>
        </p:spPr>
        <p:txBody>
          <a:bodyPr wrap="square" rtlCol="0" anchor="ctr"/>
          <a:lstStyle/>
          <a:p>
            <a:pPr indent="0" marL="0">
              <a:buNone/>
            </a:pPr>
            <a:r>
              <a:rPr lang="en-US" sz="1700" b="1" dirty="0">
                <a:solidFill>
                  <a:srgbClr val="1B4332"/>
                </a:solidFill>
                <a:latin typeface="Montserrat" pitchFamily="34" charset="0"/>
                <a:ea typeface="Montserrat" pitchFamily="34" charset="-122"/>
                <a:cs typeface="Montserrat" pitchFamily="34" charset="-120"/>
              </a:rPr>
              <a:t>9-Step E2E Lifecycle Flow (verify_e2e.py)</a:t>
            </a:r>
            <a:endParaRPr lang="en-US" sz="1700" dirty="0"/>
          </a:p>
        </p:txBody>
      </p:sp>
      <p:sp>
        <p:nvSpPr>
          <p:cNvPr id="7" name="Text 5"/>
          <p:cNvSpPr/>
          <p:nvPr/>
        </p:nvSpPr>
        <p:spPr>
          <a:xfrm>
            <a:off x="914400" y="1874520"/>
            <a:ext cx="4800600" cy="2606040"/>
          </a:xfrm>
          <a:prstGeom prst="rect">
            <a:avLst/>
          </a:prstGeom>
          <a:noFill/>
          <a:ln/>
        </p:spPr>
        <p:txBody>
          <a:bodyPr wrap="square" rtlCol="0" anchor="t"/>
          <a:lstStyle/>
          <a:p>
            <a:pPr indent="0" marL="0">
              <a:spcAft>
                <a:spcPts val="400"/>
              </a:spcAft>
              <a:buNone/>
            </a:pPr>
            <a:r>
              <a:rPr lang="en-US" sz="1250" dirty="0">
                <a:solidFill>
                  <a:srgbClr val="1C1C19"/>
                </a:solidFill>
                <a:latin typeface="Inter" pitchFamily="34" charset="0"/>
                <a:ea typeface="Inter" pitchFamily="34" charset="-122"/>
                <a:cs typeface="Inter" pitchFamily="34" charset="-120"/>
              </a:rPr>
              <a:t>1. GET /health: Ping MongoDB Atlas connection
</a:t>
            </a:r>
            <a:pPr indent="0" marL="0">
              <a:spcAft>
                <a:spcPts val="400"/>
              </a:spcAft>
              <a:buNone/>
            </a:pPr>
            <a:r>
              <a:rPr lang="en-US" sz="1250" dirty="0">
                <a:solidFill>
                  <a:srgbClr val="1C1C19"/>
                </a:solidFill>
                <a:latin typeface="Inter" pitchFamily="34" charset="0"/>
                <a:ea typeface="Inter" pitchFamily="34" charset="-122"/>
                <a:cs typeface="Inter" pitchFamily="34" charset="-120"/>
              </a:rPr>
              <a:t>2. POST /auth/login: JWT token authentication &amp; issue
</a:t>
            </a:r>
            <a:pPr indent="0" marL="0">
              <a:spcAft>
                <a:spcPts val="400"/>
              </a:spcAft>
              <a:buNone/>
            </a:pPr>
            <a:r>
              <a:rPr lang="en-US" sz="1250" dirty="0">
                <a:solidFill>
                  <a:srgbClr val="1C1C19"/>
                </a:solidFill>
                <a:latin typeface="Inter" pitchFamily="34" charset="0"/>
                <a:ea typeface="Inter" pitchFamily="34" charset="-122"/>
                <a:cs typeface="Inter" pitchFamily="34" charset="-120"/>
              </a:rPr>
              <a:t>3. GET /items: Verify seeded inventory catalog
</a:t>
            </a:r>
            <a:pPr indent="0" marL="0">
              <a:spcAft>
                <a:spcPts val="400"/>
              </a:spcAft>
              <a:buNone/>
            </a:pPr>
            <a:r>
              <a:rPr lang="en-US" sz="1250" dirty="0">
                <a:solidFill>
                  <a:srgbClr val="1C1C19"/>
                </a:solidFill>
                <a:latin typeface="Inter" pitchFamily="34" charset="0"/>
                <a:ea typeface="Inter" pitchFamily="34" charset="-122"/>
                <a:cs typeface="Inter" pitchFamily="34" charset="-120"/>
              </a:rPr>
              <a:t>4. batch_forecast.py: Run ML forecast pipeline
</a:t>
            </a:r>
            <a:pPr indent="0" marL="0">
              <a:spcAft>
                <a:spcPts val="400"/>
              </a:spcAft>
              <a:buNone/>
            </a:pPr>
            <a:r>
              <a:rPr lang="en-US" sz="1250" dirty="0">
                <a:solidFill>
                  <a:srgbClr val="1C1C19"/>
                </a:solidFill>
                <a:latin typeface="Inter" pitchFamily="34" charset="0"/>
                <a:ea typeface="Inter" pitchFamily="34" charset="-122"/>
                <a:cs typeface="Inter" pitchFamily="34" charset="-120"/>
              </a:rPr>
              <a:t>5. GET /forecasts/today: Check dashboard estimates
</a:t>
            </a:r>
            <a:pPr indent="0" marL="0">
              <a:spcAft>
                <a:spcPts val="400"/>
              </a:spcAft>
              <a:buNone/>
            </a:pPr>
            <a:r>
              <a:rPr lang="en-US" sz="1250" dirty="0">
                <a:solidFill>
                  <a:srgbClr val="1C1C19"/>
                </a:solidFill>
                <a:latin typeface="Inter" pitchFamily="34" charset="0"/>
                <a:ea typeface="Inter" pitchFamily="34" charset="-122"/>
                <a:cs typeface="Inter" pitchFamily="34" charset="-120"/>
              </a:rPr>
              <a:t>6. GET /forecasts/{id}: Validate 7-day forecast curve
</a:t>
            </a:r>
            <a:pPr indent="0" marL="0">
              <a:spcAft>
                <a:spcPts val="400"/>
              </a:spcAft>
              <a:buNone/>
            </a:pPr>
            <a:r>
              <a:rPr lang="en-US" sz="1250" dirty="0">
                <a:solidFill>
                  <a:srgbClr val="1C1C19"/>
                </a:solidFill>
                <a:latin typeface="Inter" pitchFamily="34" charset="0"/>
                <a:ea typeface="Inter" pitchFamily="34" charset="-122"/>
                <a:cs typeface="Inter" pitchFamily="34" charset="-120"/>
              </a:rPr>
              <a:t>7. POST /items/{id}/restock: One-tap stock increment (+15)
</a:t>
            </a:r>
            <a:pPr indent="0" marL="0">
              <a:spcAft>
                <a:spcPts val="400"/>
              </a:spcAft>
              <a:buNone/>
            </a:pPr>
            <a:r>
              <a:rPr lang="en-US" sz="1250" dirty="0">
                <a:solidFill>
                  <a:srgbClr val="1C1C19"/>
                </a:solidFill>
                <a:latin typeface="Inter" pitchFamily="34" charset="0"/>
                <a:ea typeface="Inter" pitchFamily="34" charset="-122"/>
                <a:cs typeface="Inter" pitchFamily="34" charset="-120"/>
              </a:rPr>
              <a:t>8. POST /sales/intraday: Log POS sales event to Atlas
</a:t>
            </a:r>
            <a:pPr indent="0" marL="0">
              <a:spcAft>
                <a:spcPts val="400"/>
              </a:spcAft>
              <a:buNone/>
            </a:pPr>
            <a:r>
              <a:rPr lang="en-US" sz="1250" dirty="0">
                <a:solidFill>
                  <a:srgbClr val="1C1C19"/>
                </a:solidFill>
                <a:latin typeface="Inter" pitchFamily="34" charset="0"/>
                <a:ea typeface="Inter" pitchFamily="34" charset="-122"/>
                <a:cs typeface="Inter" pitchFamily="34" charset="-120"/>
              </a:rPr>
              <a:t>9. GET /waste-alerts: Trigger waste action engine rule</a:t>
            </a:r>
            <a:endParaRPr lang="en-US" sz="1250" dirty="0"/>
          </a:p>
        </p:txBody>
      </p:sp>
      <p:sp>
        <p:nvSpPr>
          <p:cNvPr id="8" name="Text 6"/>
          <p:cNvSpPr/>
          <p:nvPr/>
        </p:nvSpPr>
        <p:spPr>
          <a:xfrm>
            <a:off x="914400" y="4645152"/>
            <a:ext cx="4800600" cy="292608"/>
          </a:xfrm>
          <a:prstGeom prst="rect">
            <a:avLst/>
          </a:prstGeom>
          <a:noFill/>
          <a:ln/>
        </p:spPr>
        <p:txBody>
          <a:bodyPr wrap="square" rtlCol="0" anchor="ctr"/>
          <a:lstStyle/>
          <a:p>
            <a:pPr indent="0" marL="0">
              <a:buNone/>
            </a:pPr>
            <a:r>
              <a:rPr lang="en-US" sz="1200" i="1" dirty="0">
                <a:solidFill>
                  <a:srgbClr val="5A5A54"/>
                </a:solidFill>
                <a:latin typeface="Inter" pitchFamily="34" charset="0"/>
                <a:ea typeface="Inter" pitchFamily="34" charset="-122"/>
                <a:cs typeface="Inter" pitchFamily="34" charset="-120"/>
              </a:rPr>
              <a:t>Limitation: Executed Oct 4 against local server + Atlas; requires network.</a:t>
            </a:r>
            <a:endParaRPr lang="en-US" sz="1200" dirty="0"/>
          </a:p>
        </p:txBody>
      </p:sp>
      <p:sp>
        <p:nvSpPr>
          <p:cNvPr id="9" name="Shape 7"/>
          <p:cNvSpPr/>
          <p:nvPr/>
        </p:nvSpPr>
        <p:spPr>
          <a:xfrm>
            <a:off x="6263640" y="1325880"/>
            <a:ext cx="5193792" cy="3703320"/>
          </a:xfrm>
          <a:prstGeom prst="rect">
            <a:avLst>
              <a:gd name="adj" fmla="val 2963"/>
            </a:avLst>
          </a:prstGeom>
          <a:solidFill>
            <a:srgbClr val="FFFFFF"/>
          </a:solidFill>
          <a:ln w="19050">
            <a:solidFill>
              <a:srgbClr val="E5E0D8"/>
            </a:solidFill>
            <a:prstDash val="solid"/>
          </a:ln>
        </p:spPr>
      </p:sp>
      <p:sp>
        <p:nvSpPr>
          <p:cNvPr id="10" name="Text 8"/>
          <p:cNvSpPr/>
          <p:nvPr/>
        </p:nvSpPr>
        <p:spPr>
          <a:xfrm>
            <a:off x="6446520" y="1463040"/>
            <a:ext cx="4828032" cy="365760"/>
          </a:xfrm>
          <a:prstGeom prst="rect">
            <a:avLst/>
          </a:prstGeom>
          <a:noFill/>
          <a:ln/>
        </p:spPr>
        <p:txBody>
          <a:bodyPr wrap="square" rtlCol="0" anchor="ctr"/>
          <a:lstStyle/>
          <a:p>
            <a:pPr indent="0" marL="0">
              <a:buNone/>
            </a:pPr>
            <a:r>
              <a:rPr lang="en-US" sz="1700" b="1" dirty="0">
                <a:solidFill>
                  <a:srgbClr val="1B4332"/>
                </a:solidFill>
                <a:latin typeface="Montserrat" pitchFamily="34" charset="0"/>
                <a:ea typeface="Montserrat" pitchFamily="34" charset="-122"/>
                <a:cs typeface="Montserrat" pitchFamily="34" charset="-120"/>
              </a:rPr>
              <a:t>Security Logic &amp; Identified Limitations</a:t>
            </a:r>
            <a:endParaRPr lang="en-US" sz="1700" dirty="0"/>
          </a:p>
        </p:txBody>
      </p:sp>
      <p:sp>
        <p:nvSpPr>
          <p:cNvPr id="11" name="Shape 9"/>
          <p:cNvSpPr/>
          <p:nvPr/>
        </p:nvSpPr>
        <p:spPr>
          <a:xfrm>
            <a:off x="6446520" y="1874520"/>
            <a:ext cx="4828032" cy="1371600"/>
          </a:xfrm>
          <a:prstGeom prst="rect">
            <a:avLst>
              <a:gd name="adj" fmla="val 5333"/>
            </a:avLst>
          </a:prstGeom>
          <a:solidFill>
            <a:srgbClr val="EFEAE1"/>
          </a:solidFill>
          <a:ln w="12700">
            <a:solidFill>
              <a:srgbClr val="E5E0D8"/>
            </a:solidFill>
            <a:prstDash val="solid"/>
          </a:ln>
        </p:spPr>
      </p:sp>
      <p:sp>
        <p:nvSpPr>
          <p:cNvPr id="12" name="Text 10"/>
          <p:cNvSpPr/>
          <p:nvPr/>
        </p:nvSpPr>
        <p:spPr>
          <a:xfrm>
            <a:off x="6583680" y="1938528"/>
            <a:ext cx="4572000" cy="1234440"/>
          </a:xfrm>
          <a:prstGeom prst="rect">
            <a:avLst/>
          </a:prstGeom>
          <a:noFill/>
          <a:ln/>
        </p:spPr>
        <p:txBody>
          <a:bodyPr wrap="square" rtlCol="0" anchor="ctr"/>
          <a:lstStyle/>
          <a:p>
            <a:pPr indent="0" marL="0">
              <a:buNone/>
            </a:pPr>
            <a:r>
              <a:rPr lang="en-US" sz="1400" b="1" dirty="0">
                <a:solidFill>
                  <a:srgbClr val="1B4332"/>
                </a:solidFill>
                <a:latin typeface="Inter" pitchFamily="34" charset="0"/>
                <a:ea typeface="Inter" pitchFamily="34" charset="-122"/>
                <a:cs typeface="Inter" pitchFamily="34" charset="-120"/>
              </a:rPr>
              <a:t>Owner-ID Filtering (test_tenant_isolation.py):
</a:t>
            </a:r>
            <a:pPr indent="0" marL="0">
              <a:buNone/>
            </a:pPr>
            <a:r>
              <a:rPr lang="en-US" sz="1300" b="1" dirty="0">
                <a:solidFill>
                  <a:srgbClr val="2D6A4F"/>
                </a:solidFill>
                <a:latin typeface="Inter" pitchFamily="34" charset="0"/>
                <a:ea typeface="Inter" pitchFamily="34" charset="-122"/>
                <a:cs typeface="Inter" pitchFamily="34" charset="-120"/>
              </a:rPr>
              <a:t>• Tested 10 endpoints with cross-tenant tokens: ZERO LEAKS.
</a:t>
            </a:r>
            <a:pPr indent="0" marL="0">
              <a:buNone/>
            </a:pPr>
            <a:r>
              <a:rPr lang="en-US" sz="1250" dirty="0">
                <a:solidFill>
                  <a:srgbClr val="1C1C19"/>
                </a:solidFill>
                <a:latin typeface="Inter" pitchFamily="34" charset="0"/>
                <a:ea typeface="Inter" pitchFamily="34" charset="-122"/>
                <a:cs typeface="Inter" pitchFamily="34" charset="-120"/>
              </a:rPr>
              <a:t>• All unauthorized requests return HTTP 404 or empty collection.
</a:t>
            </a:r>
            <a:pPr indent="0" marL="0">
              <a:buNone/>
            </a:pPr>
            <a:r>
              <a:rPr lang="en-US" sz="1200" i="1" dirty="0">
                <a:solidFill>
                  <a:srgbClr val="5A5A54"/>
                </a:solidFill>
                <a:latin typeface="Inter" pitchFamily="34" charset="0"/>
                <a:ea typeface="Inter" pitchFamily="34" charset="-122"/>
                <a:cs typeface="Inter" pitchFamily="34" charset="-120"/>
              </a:rPr>
              <a:t>• Limitation: Verified logic on a mock database.</a:t>
            </a:r>
            <a:endParaRPr lang="en-US" sz="1400" dirty="0"/>
          </a:p>
        </p:txBody>
      </p:sp>
      <p:sp>
        <p:nvSpPr>
          <p:cNvPr id="13" name="Shape 11"/>
          <p:cNvSpPr/>
          <p:nvPr/>
        </p:nvSpPr>
        <p:spPr>
          <a:xfrm>
            <a:off x="6446520" y="3429000"/>
            <a:ext cx="4828032" cy="1417320"/>
          </a:xfrm>
          <a:prstGeom prst="rect">
            <a:avLst>
              <a:gd name="adj" fmla="val 5161"/>
            </a:avLst>
          </a:prstGeom>
          <a:solidFill>
            <a:srgbClr val="FFFFFF"/>
          </a:solidFill>
          <a:ln w="12700">
            <a:solidFill>
              <a:srgbClr val="D8D2C6"/>
            </a:solidFill>
            <a:prstDash val="solid"/>
          </a:ln>
        </p:spPr>
      </p:sp>
      <p:sp>
        <p:nvSpPr>
          <p:cNvPr id="14" name="Text 12"/>
          <p:cNvSpPr/>
          <p:nvPr/>
        </p:nvSpPr>
        <p:spPr>
          <a:xfrm>
            <a:off x="6583680" y="3493008"/>
            <a:ext cx="4572000" cy="1280160"/>
          </a:xfrm>
          <a:prstGeom prst="rect">
            <a:avLst/>
          </a:prstGeom>
          <a:noFill/>
          <a:ln/>
        </p:spPr>
        <p:txBody>
          <a:bodyPr wrap="square" rtlCol="0" anchor="ctr"/>
          <a:lstStyle/>
          <a:p>
            <a:pPr indent="0" marL="0">
              <a:buNone/>
            </a:pPr>
            <a:r>
              <a:rPr lang="en-US" sz="1400" b="1" dirty="0">
                <a:solidFill>
                  <a:srgbClr val="1B4332"/>
                </a:solidFill>
                <a:latin typeface="Inter" pitchFamily="34" charset="0"/>
                <a:ea typeface="Inter" pitchFamily="34" charset="-122"/>
                <a:cs typeface="Inter" pitchFamily="34" charset="-120"/>
              </a:rPr>
              <a:t>Custom Rate Limiter &amp; Spoof Defense (main.py):
</a:t>
            </a:r>
            <a:pPr indent="0" marL="0">
              <a:buNone/>
            </a:pPr>
            <a:r>
              <a:rPr lang="en-US" sz="1250" dirty="0">
                <a:solidFill>
                  <a:srgbClr val="1C1C19"/>
                </a:solidFill>
                <a:latin typeface="Inter" pitchFamily="34" charset="0"/>
                <a:ea typeface="Inter" pitchFamily="34" charset="-122"/>
                <a:cs typeface="Inter" pitchFamily="34" charset="-120"/>
              </a:rPr>
              <a:t>• In-memory sliding window purges timestamps older than window.
</a:t>
            </a:r>
            <a:pPr indent="0" marL="0">
              <a:buNone/>
            </a:pPr>
            <a:r>
              <a:rPr lang="en-US" sz="1250" dirty="0">
                <a:solidFill>
                  <a:srgbClr val="1C1C19"/>
                </a:solidFill>
                <a:latin typeface="Inter" pitchFamily="34" charset="0"/>
                <a:ea typeface="Inter" pitchFamily="34" charset="-122"/>
                <a:cs typeface="Inter" pitchFamily="34" charset="-120"/>
              </a:rPr>
              <a:t>• Spoof test: Simulated headers verified code selects rightmost IP.
</a:t>
            </a:r>
            <a:pPr indent="0" marL="0">
              <a:buNone/>
            </a:pPr>
            <a:r>
              <a:rPr lang="en-US" sz="1200" i="1" dirty="0">
                <a:solidFill>
                  <a:srgbClr val="B91C1C"/>
                </a:solidFill>
                <a:latin typeface="Inter" pitchFamily="34" charset="0"/>
                <a:ea typeface="Inter" pitchFamily="34" charset="-122"/>
                <a:cs typeface="Inter" pitchFamily="34" charset="-120"/>
              </a:rPr>
              <a:t>• Limitation: Actual proxy hop count on Render live edge is unverified.</a:t>
            </a:r>
            <a:endParaRPr lang="en-US" sz="1400" dirty="0"/>
          </a:p>
        </p:txBody>
      </p:sp>
      <p:sp>
        <p:nvSpPr>
          <p:cNvPr id="15" name="Text 13"/>
          <p:cNvSpPr/>
          <p:nvPr/>
        </p:nvSpPr>
        <p:spPr>
          <a:xfrm>
            <a:off x="731520" y="5257800"/>
            <a:ext cx="10728655" cy="1234440"/>
          </a:xfrm>
          <a:prstGeom prst="rect">
            <a:avLst/>
          </a:prstGeom>
          <a:noFill/>
          <a:ln/>
        </p:spPr>
        <p:txBody>
          <a:bodyPr wrap="square" rtlCol="0" anchor="t"/>
          <a:lstStyle/>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Validated entire restaurant inventory lifecycle across nine sequential steps.</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Probed tenant isolation across ten endpoints with zero leaks.</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Rate limiter enforces sliding window; edge hop depth unverified.</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9F4"/>
        </a:solidFill>
      </p:bgPr>
    </p:bg>
    <p:spTree>
      <p:nvGrpSpPr>
        <p:cNvPr id="1" name=""/>
        <p:cNvGrpSpPr/>
        <p:nvPr/>
      </p:nvGrpSpPr>
      <p:grpSpPr>
        <a:xfrm>
          <a:off x="0" y="0"/>
          <a:ext cx="0" cy="0"/>
          <a:chOff x="0" y="0"/>
          <a:chExt cx="0" cy="0"/>
        </a:xfrm>
      </p:grpSpPr>
      <p:sp>
        <p:nvSpPr>
          <p:cNvPr id="2" name="Text 0"/>
          <p:cNvSpPr/>
          <p:nvPr/>
        </p:nvSpPr>
        <p:spPr>
          <a:xfrm>
            <a:off x="10515600" y="411480"/>
            <a:ext cx="1005840" cy="320040"/>
          </a:xfrm>
          <a:prstGeom prst="rect">
            <a:avLst/>
          </a:prstGeom>
          <a:noFill/>
          <a:ln/>
        </p:spPr>
        <p:txBody>
          <a:bodyPr wrap="square" rtlCol="0" anchor="ctr"/>
          <a:lstStyle/>
          <a:p>
            <a:pPr algn="r" indent="0" marL="0">
              <a:buNone/>
            </a:pPr>
            <a:r>
              <a:rPr lang="en-US" sz="1300" b="1" dirty="0">
                <a:solidFill>
                  <a:srgbClr val="5A5A54"/>
                </a:solidFill>
                <a:latin typeface="Montserrat" pitchFamily="34" charset="0"/>
                <a:ea typeface="Montserrat" pitchFamily="34" charset="-122"/>
                <a:cs typeface="Montserrat" pitchFamily="34" charset="-120"/>
              </a:rPr>
              <a:t>9 / 10</a:t>
            </a:r>
            <a:endParaRPr lang="en-US" sz="1300" dirty="0"/>
          </a:p>
        </p:txBody>
      </p:sp>
      <p:sp>
        <p:nvSpPr>
          <p:cNvPr id="3" name="Text 1"/>
          <p:cNvSpPr/>
          <p:nvPr/>
        </p:nvSpPr>
        <p:spPr>
          <a:xfrm>
            <a:off x="731520" y="365760"/>
            <a:ext cx="9692640" cy="594360"/>
          </a:xfrm>
          <a:prstGeom prst="rect">
            <a:avLst/>
          </a:prstGeom>
          <a:noFill/>
          <a:ln/>
        </p:spPr>
        <p:txBody>
          <a:bodyPr wrap="square" rtlCol="0" anchor="ctr"/>
          <a:lstStyle/>
          <a:p>
            <a:pPr indent="0" marL="0">
              <a:buNone/>
            </a:pPr>
            <a:r>
              <a:rPr lang="en-US" sz="3400" b="1" dirty="0">
                <a:solidFill>
                  <a:srgbClr val="1B4332"/>
                </a:solidFill>
                <a:latin typeface="Montserrat" pitchFamily="34" charset="0"/>
                <a:ea typeface="Montserrat" pitchFamily="34" charset="-122"/>
                <a:cs typeface="Montserrat" pitchFamily="34" charset="-120"/>
              </a:rPr>
              <a:t>Testing the AI: Backtest &amp; Integrity</a:t>
            </a:r>
            <a:endParaRPr lang="en-US" sz="3400" dirty="0"/>
          </a:p>
        </p:txBody>
      </p:sp>
      <p:sp>
        <p:nvSpPr>
          <p:cNvPr id="4" name="Shape 2"/>
          <p:cNvSpPr/>
          <p:nvPr/>
        </p:nvSpPr>
        <p:spPr>
          <a:xfrm>
            <a:off x="731520" y="1051560"/>
            <a:ext cx="10728655" cy="0"/>
          </a:xfrm>
          <a:prstGeom prst="line">
            <a:avLst/>
          </a:prstGeom>
          <a:noFill/>
          <a:ln w="31750">
            <a:solidFill>
              <a:srgbClr val="FFB702"/>
            </a:solidFill>
            <a:prstDash val="solid"/>
          </a:ln>
        </p:spPr>
      </p:sp>
      <p:sp>
        <p:nvSpPr>
          <p:cNvPr id="5" name="Shape 3"/>
          <p:cNvSpPr/>
          <p:nvPr/>
        </p:nvSpPr>
        <p:spPr>
          <a:xfrm>
            <a:off x="731520" y="1325880"/>
            <a:ext cx="5166360" cy="3703320"/>
          </a:xfrm>
          <a:prstGeom prst="rect">
            <a:avLst>
              <a:gd name="adj" fmla="val 2963"/>
            </a:avLst>
          </a:prstGeom>
          <a:solidFill>
            <a:srgbClr val="FFFFFF"/>
          </a:solidFill>
          <a:ln w="19050">
            <a:solidFill>
              <a:srgbClr val="E5E0D8"/>
            </a:solidFill>
            <a:prstDash val="solid"/>
          </a:ln>
        </p:spPr>
      </p:sp>
      <p:sp>
        <p:nvSpPr>
          <p:cNvPr id="6" name="Text 4"/>
          <p:cNvSpPr/>
          <p:nvPr/>
        </p:nvSpPr>
        <p:spPr>
          <a:xfrm>
            <a:off x="914400" y="1463040"/>
            <a:ext cx="4800600" cy="320040"/>
          </a:xfrm>
          <a:prstGeom prst="rect">
            <a:avLst/>
          </a:prstGeom>
          <a:noFill/>
          <a:ln/>
        </p:spPr>
        <p:txBody>
          <a:bodyPr wrap="square" rtlCol="0" anchor="ctr"/>
          <a:lstStyle/>
          <a:p>
            <a:pPr indent="0" marL="0">
              <a:buNone/>
            </a:pPr>
            <a:r>
              <a:rPr lang="en-US" sz="1600" b="1" dirty="0">
                <a:solidFill>
                  <a:srgbClr val="1B4332"/>
                </a:solidFill>
                <a:latin typeface="Montserrat" pitchFamily="34" charset="0"/>
                <a:ea typeface="Montserrat" pitchFamily="34" charset="-122"/>
                <a:cs typeface="Montserrat" pitchFamily="34" charset="-120"/>
              </a:rPr>
              <a:t>Overall 6-Fold WAPE by Model (backtest_results.csv)</a:t>
            </a:r>
            <a:endParaRPr lang="en-US" sz="1600" dirty="0"/>
          </a:p>
        </p:txBody>
      </p:sp>
      <p:graphicFrame>
        <p:nvGraphicFramePr>
          <p:cNvPr id="7" name="Chart 0" descr=""/>
          <p:cNvGraphicFramePr/>
          <p:nvPr/>
        </p:nvGraphicFramePr>
        <p:xfrm>
          <a:off x="914400" y="1783080"/>
          <a:ext cx="4800600" cy="25146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914400" y="4343400"/>
            <a:ext cx="4800600" cy="594360"/>
          </a:xfrm>
          <a:prstGeom prst="rect">
            <a:avLst>
              <a:gd name="adj" fmla="val 9231"/>
            </a:avLst>
          </a:prstGeom>
          <a:solidFill>
            <a:srgbClr val="EFEAE1"/>
          </a:solidFill>
          <a:ln w="12700">
            <a:solidFill>
              <a:srgbClr val="E5E0D8"/>
            </a:solidFill>
            <a:prstDash val="solid"/>
          </a:ln>
        </p:spPr>
      </p:sp>
      <p:sp>
        <p:nvSpPr>
          <p:cNvPr id="9" name="Text 6"/>
          <p:cNvSpPr/>
          <p:nvPr/>
        </p:nvSpPr>
        <p:spPr>
          <a:xfrm>
            <a:off x="1005840" y="4389120"/>
            <a:ext cx="4617720" cy="502920"/>
          </a:xfrm>
          <a:prstGeom prst="rect">
            <a:avLst/>
          </a:prstGeom>
          <a:noFill/>
          <a:ln/>
        </p:spPr>
        <p:txBody>
          <a:bodyPr wrap="square" rtlCol="0" anchor="ctr"/>
          <a:lstStyle/>
          <a:p>
            <a:pPr algn="ctr" indent="0" marL="0">
              <a:buNone/>
            </a:pPr>
            <a:r>
              <a:rPr lang="en-US" sz="1250" b="1" dirty="0">
                <a:solidFill>
                  <a:srgbClr val="1B4332"/>
                </a:solidFill>
                <a:latin typeface="Inter" pitchFamily="34" charset="0"/>
                <a:ea typeface="Inter" pitchFamily="34" charset="-122"/>
                <a:cs typeface="Inter" pitchFamily="34" charset="-120"/>
              </a:rPr>
              <a:t>Honest Transparency: Prophet-only (21.7%) beat Hybrid (23.4%). Underlying cause was not tested.</a:t>
            </a:r>
            <a:endParaRPr lang="en-US" sz="1250" dirty="0"/>
          </a:p>
        </p:txBody>
      </p:sp>
      <p:sp>
        <p:nvSpPr>
          <p:cNvPr id="10" name="Shape 7"/>
          <p:cNvSpPr/>
          <p:nvPr/>
        </p:nvSpPr>
        <p:spPr>
          <a:xfrm>
            <a:off x="6263640" y="1325880"/>
            <a:ext cx="5193792" cy="3703320"/>
          </a:xfrm>
          <a:prstGeom prst="rect">
            <a:avLst>
              <a:gd name="adj" fmla="val 2963"/>
            </a:avLst>
          </a:prstGeom>
          <a:solidFill>
            <a:srgbClr val="FFFFFF"/>
          </a:solidFill>
          <a:ln w="19050">
            <a:solidFill>
              <a:srgbClr val="E5E0D8"/>
            </a:solidFill>
            <a:prstDash val="solid"/>
          </a:ln>
        </p:spPr>
      </p:sp>
      <p:sp>
        <p:nvSpPr>
          <p:cNvPr id="11" name="Text 8"/>
          <p:cNvSpPr/>
          <p:nvPr/>
        </p:nvSpPr>
        <p:spPr>
          <a:xfrm>
            <a:off x="6446520" y="1463040"/>
            <a:ext cx="4828032" cy="320040"/>
          </a:xfrm>
          <a:prstGeom prst="rect">
            <a:avLst/>
          </a:prstGeom>
          <a:noFill/>
          <a:ln/>
        </p:spPr>
        <p:txBody>
          <a:bodyPr wrap="square" rtlCol="0" anchor="ctr"/>
          <a:lstStyle/>
          <a:p>
            <a:pPr indent="0" marL="0">
              <a:buNone/>
            </a:pPr>
            <a:r>
              <a:rPr lang="en-US" sz="1600" b="1" dirty="0">
                <a:solidFill>
                  <a:srgbClr val="1B4332"/>
                </a:solidFill>
                <a:latin typeface="Montserrat" pitchFamily="34" charset="0"/>
                <a:ea typeface="Montserrat" pitchFamily="34" charset="-122"/>
                <a:cs typeface="Montserrat" pitchFamily="34" charset="-120"/>
              </a:rPr>
              <a:t>Data Integrity Audits &amp; 90-Day Simulation</a:t>
            </a:r>
            <a:endParaRPr lang="en-US" sz="1600" dirty="0"/>
          </a:p>
        </p:txBody>
      </p:sp>
      <p:sp>
        <p:nvSpPr>
          <p:cNvPr id="12" name="Shape 9"/>
          <p:cNvSpPr/>
          <p:nvPr/>
        </p:nvSpPr>
        <p:spPr>
          <a:xfrm>
            <a:off x="6446520" y="1874520"/>
            <a:ext cx="4828032" cy="1463040"/>
          </a:xfrm>
          <a:prstGeom prst="rect">
            <a:avLst>
              <a:gd name="adj" fmla="val 5000"/>
            </a:avLst>
          </a:prstGeom>
          <a:solidFill>
            <a:srgbClr val="EFEAE1"/>
          </a:solidFill>
          <a:ln w="12700">
            <a:solidFill>
              <a:srgbClr val="E5E0D8"/>
            </a:solidFill>
            <a:prstDash val="solid"/>
          </a:ln>
        </p:spPr>
      </p:sp>
      <p:sp>
        <p:nvSpPr>
          <p:cNvPr id="13" name="Text 10"/>
          <p:cNvSpPr/>
          <p:nvPr/>
        </p:nvSpPr>
        <p:spPr>
          <a:xfrm>
            <a:off x="6583680" y="1938528"/>
            <a:ext cx="4572000" cy="1325880"/>
          </a:xfrm>
          <a:prstGeom prst="rect">
            <a:avLst/>
          </a:prstGeom>
          <a:noFill/>
          <a:ln/>
        </p:spPr>
        <p:txBody>
          <a:bodyPr wrap="square" rtlCol="0" anchor="ctr"/>
          <a:lstStyle/>
          <a:p>
            <a:pPr indent="0" marL="0">
              <a:buNone/>
            </a:pPr>
            <a:r>
              <a:rPr lang="en-US" sz="1400" b="1" dirty="0">
                <a:solidFill>
                  <a:srgbClr val="1B4332"/>
                </a:solidFill>
                <a:latin typeface="Inter" pitchFamily="34" charset="0"/>
                <a:ea typeface="Inter" pitchFamily="34" charset="-122"/>
                <a:cs typeface="Inter" pitchFamily="34" charset="-120"/>
              </a:rPr>
              <a:t>Temporal Leakage &amp; Zero-Math Truth Audits:
</a:t>
            </a:r>
            <a:pPr indent="0" marL="0">
              <a:buNone/>
            </a:pPr>
            <a:r>
              <a:rPr lang="en-US" sz="1250" dirty="0">
                <a:solidFill>
                  <a:srgbClr val="1C1C19"/>
                </a:solidFill>
                <a:latin typeface="Inter" pitchFamily="34" charset="0"/>
                <a:ea typeface="Inter" pitchFamily="34" charset="-122"/>
                <a:cs typeface="Inter" pitchFamily="34" charset="-120"/>
              </a:rPr>
              <a:t>• Temporal Leakage: Training ends before forecast starts in all 6 folds.
</a:t>
            </a:r>
            <a:pPr indent="0" marL="0">
              <a:buNone/>
            </a:pPr>
            <a:r>
              <a:rPr lang="en-US" sz="1250" dirty="0">
                <a:solidFill>
                  <a:srgbClr val="1C1C19"/>
                </a:solidFill>
                <a:latin typeface="Inter" pitchFamily="34" charset="0"/>
                <a:ea typeface="Inter" pitchFamily="34" charset="-122"/>
                <a:cs typeface="Inter" pitchFamily="34" charset="-120"/>
              </a:rPr>
              <a:t>• Zero lookahead contamination: training spans 527 to 593 sales days.
</a:t>
            </a:r>
            <a:pPr indent="0" marL="0">
              <a:buNone/>
            </a:pPr>
            <a:r>
              <a:rPr lang="en-US" sz="1250" b="1" dirty="0">
                <a:solidFill>
                  <a:srgbClr val="2D6A4F"/>
                </a:solidFill>
                <a:latin typeface="Inter" pitchFamily="34" charset="0"/>
                <a:ea typeface="Inter" pitchFamily="34" charset="-122"/>
                <a:cs typeface="Inter" pitchFamily="34" charset="-120"/>
              </a:rPr>
              <a:t>• Zero-Math Audit: Every number in the AI answer appears in our data (check passed). Gemini 3 Flash acts as pure summarizer.</a:t>
            </a:r>
            <a:endParaRPr lang="en-US" sz="1400" dirty="0"/>
          </a:p>
        </p:txBody>
      </p:sp>
      <p:sp>
        <p:nvSpPr>
          <p:cNvPr id="14" name="Shape 11"/>
          <p:cNvSpPr/>
          <p:nvPr/>
        </p:nvSpPr>
        <p:spPr>
          <a:xfrm>
            <a:off x="6446520" y="3474720"/>
            <a:ext cx="4828032" cy="1417320"/>
          </a:xfrm>
          <a:prstGeom prst="rect">
            <a:avLst>
              <a:gd name="adj" fmla="val 5161"/>
            </a:avLst>
          </a:prstGeom>
          <a:solidFill>
            <a:srgbClr val="FFFFFF"/>
          </a:solidFill>
          <a:ln w="12700">
            <a:solidFill>
              <a:srgbClr val="D8D2C6"/>
            </a:solidFill>
            <a:prstDash val="solid"/>
          </a:ln>
        </p:spPr>
      </p:sp>
      <p:sp>
        <p:nvSpPr>
          <p:cNvPr id="15" name="Text 12"/>
          <p:cNvSpPr/>
          <p:nvPr/>
        </p:nvSpPr>
        <p:spPr>
          <a:xfrm>
            <a:off x="6583680" y="3547872"/>
            <a:ext cx="4572000" cy="1280160"/>
          </a:xfrm>
          <a:prstGeom prst="rect">
            <a:avLst/>
          </a:prstGeom>
          <a:noFill/>
          <a:ln/>
        </p:spPr>
        <p:txBody>
          <a:bodyPr wrap="square" rtlCol="0" anchor="ctr"/>
          <a:lstStyle/>
          <a:p>
            <a:pPr indent="0" marL="0">
              <a:buNone/>
            </a:pPr>
            <a:r>
              <a:rPr lang="en-US" sz="1400" b="1" dirty="0">
                <a:solidFill>
                  <a:srgbClr val="1B4332"/>
                </a:solidFill>
                <a:latin typeface="Inter" pitchFamily="34" charset="0"/>
                <a:ea typeface="Inter" pitchFamily="34" charset="-122"/>
                <a:cs typeface="Inter" pitchFamily="34" charset="-120"/>
              </a:rPr>
              <a:t>90-Day Inventory Simulation (Hybrid Model, 68,908 Demand):
</a:t>
            </a:r>
            <a:pPr indent="0" marL="0">
              <a:buNone/>
            </a:pPr>
            <a:r>
              <a:rPr lang="en-US" sz="1250" dirty="0">
                <a:solidFill>
                  <a:srgbClr val="1C1C19"/>
                </a:solidFill>
                <a:latin typeface="Inter" pitchFamily="34" charset="0"/>
                <a:ea typeface="Inter" pitchFamily="34" charset="-122"/>
                <a:cs typeface="Inter" pitchFamily="34" charset="-120"/>
              </a:rPr>
              <a:t>• Waste depends on safety buffer: 9.0% at z=0.0 to 37.6% at z=1.65.
</a:t>
            </a:r>
            <a:pPr indent="0" marL="0">
              <a:buNone/>
            </a:pPr>
            <a:r>
              <a:rPr lang="en-US" sz="1250" dirty="0">
                <a:solidFill>
                  <a:srgbClr val="1C1C19"/>
                </a:solidFill>
                <a:latin typeface="Inter" pitchFamily="34" charset="0"/>
                <a:ea typeface="Inter" pitchFamily="34" charset="-122"/>
                <a:cs typeface="Inter" pitchFamily="34" charset="-120"/>
              </a:rPr>
              <a:t>• Profit trade-off: €40,717 at z=0.0 vs. €29,043 at z=1.65.
</a:t>
            </a:r>
            <a:pPr indent="0" marL="0">
              <a:buNone/>
            </a:pPr>
            <a:r>
              <a:rPr lang="en-US" sz="1250" b="1" dirty="0">
                <a:solidFill>
                  <a:srgbClr val="1B4332"/>
                </a:solidFill>
                <a:latin typeface="Inter" pitchFamily="34" charset="0"/>
                <a:ea typeface="Inter" pitchFamily="34" charset="-122"/>
                <a:cs typeface="Inter" pitchFamily="34" charset="-120"/>
              </a:rPr>
              <a:t>• At z=1.65, reduced 5,090 waste units and 366 stockouts vs Naive.</a:t>
            </a:r>
            <a:endParaRPr lang="en-US" sz="1400" dirty="0"/>
          </a:p>
        </p:txBody>
      </p:sp>
      <p:sp>
        <p:nvSpPr>
          <p:cNvPr id="16" name="Text 13"/>
          <p:cNvSpPr/>
          <p:nvPr/>
        </p:nvSpPr>
        <p:spPr>
          <a:xfrm>
            <a:off x="731520" y="5257800"/>
            <a:ext cx="10728655" cy="1234440"/>
          </a:xfrm>
          <a:prstGeom prst="rect">
            <a:avLst/>
          </a:prstGeom>
          <a:noFill/>
          <a:ln/>
        </p:spPr>
        <p:txBody>
          <a:bodyPr wrap="square" rtlCol="0" anchor="t"/>
          <a:lstStyle/>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Prophet baseline beat hybrid model; underlying cause was not tested.</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Verified training cutoff strictly preceded every 7-day forecast horizon.</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Confirmed Gemini assistant answers only use verified database metrics.</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9F4"/>
        </a:solidFill>
      </p:bgPr>
    </p:bg>
    <p:spTree>
      <p:nvGrpSpPr>
        <p:cNvPr id="1" name=""/>
        <p:cNvGrpSpPr/>
        <p:nvPr/>
      </p:nvGrpSpPr>
      <p:grpSpPr>
        <a:xfrm>
          <a:off x="0" y="0"/>
          <a:ext cx="0" cy="0"/>
          <a:chOff x="0" y="0"/>
          <a:chExt cx="0" cy="0"/>
        </a:xfrm>
      </p:grpSpPr>
      <p:sp>
        <p:nvSpPr>
          <p:cNvPr id="2" name="Text 0"/>
          <p:cNvSpPr/>
          <p:nvPr/>
        </p:nvSpPr>
        <p:spPr>
          <a:xfrm>
            <a:off x="10515600" y="411480"/>
            <a:ext cx="1005840" cy="320040"/>
          </a:xfrm>
          <a:prstGeom prst="rect">
            <a:avLst/>
          </a:prstGeom>
          <a:noFill/>
          <a:ln/>
        </p:spPr>
        <p:txBody>
          <a:bodyPr wrap="square" rtlCol="0" anchor="ctr"/>
          <a:lstStyle/>
          <a:p>
            <a:pPr algn="r" indent="0" marL="0">
              <a:buNone/>
            </a:pPr>
            <a:r>
              <a:rPr lang="en-US" sz="1300" b="1" dirty="0">
                <a:solidFill>
                  <a:srgbClr val="5A5A54"/>
                </a:solidFill>
                <a:latin typeface="Montserrat" pitchFamily="34" charset="0"/>
                <a:ea typeface="Montserrat" pitchFamily="34" charset="-122"/>
                <a:cs typeface="Montserrat" pitchFamily="34" charset="-120"/>
              </a:rPr>
              <a:t>10 / 10</a:t>
            </a:r>
            <a:endParaRPr lang="en-US" sz="1300" dirty="0"/>
          </a:p>
        </p:txBody>
      </p:sp>
      <p:sp>
        <p:nvSpPr>
          <p:cNvPr id="3" name="Text 1"/>
          <p:cNvSpPr/>
          <p:nvPr/>
        </p:nvSpPr>
        <p:spPr>
          <a:xfrm>
            <a:off x="731520" y="365760"/>
            <a:ext cx="9692640" cy="594360"/>
          </a:xfrm>
          <a:prstGeom prst="rect">
            <a:avLst/>
          </a:prstGeom>
          <a:noFill/>
          <a:ln/>
        </p:spPr>
        <p:txBody>
          <a:bodyPr wrap="square" rtlCol="0" anchor="ctr"/>
          <a:lstStyle/>
          <a:p>
            <a:pPr indent="0" marL="0">
              <a:buNone/>
            </a:pPr>
            <a:r>
              <a:rPr lang="en-US" sz="3400" b="1" dirty="0">
                <a:solidFill>
                  <a:srgbClr val="1B4332"/>
                </a:solidFill>
                <a:latin typeface="Montserrat" pitchFamily="34" charset="0"/>
                <a:ea typeface="Montserrat" pitchFamily="34" charset="-122"/>
                <a:cs typeface="Montserrat" pitchFamily="34" charset="-120"/>
              </a:rPr>
              <a:t>Done, Not Done, and Next Steps</a:t>
            </a:r>
            <a:endParaRPr lang="en-US" sz="3400" dirty="0"/>
          </a:p>
        </p:txBody>
      </p:sp>
      <p:sp>
        <p:nvSpPr>
          <p:cNvPr id="4" name="Shape 2"/>
          <p:cNvSpPr/>
          <p:nvPr/>
        </p:nvSpPr>
        <p:spPr>
          <a:xfrm>
            <a:off x="731520" y="1051560"/>
            <a:ext cx="10728655" cy="0"/>
          </a:xfrm>
          <a:prstGeom prst="line">
            <a:avLst/>
          </a:prstGeom>
          <a:noFill/>
          <a:ln w="31750">
            <a:solidFill>
              <a:srgbClr val="FFB702"/>
            </a:solidFill>
            <a:prstDash val="solid"/>
          </a:ln>
        </p:spPr>
      </p:sp>
      <p:sp>
        <p:nvSpPr>
          <p:cNvPr id="5" name="Shape 3"/>
          <p:cNvSpPr/>
          <p:nvPr/>
        </p:nvSpPr>
        <p:spPr>
          <a:xfrm>
            <a:off x="731520" y="1325880"/>
            <a:ext cx="3410712" cy="3703320"/>
          </a:xfrm>
          <a:prstGeom prst="rect">
            <a:avLst>
              <a:gd name="adj" fmla="val 3217"/>
            </a:avLst>
          </a:prstGeom>
          <a:solidFill>
            <a:srgbClr val="FFFFFF"/>
          </a:solidFill>
          <a:ln w="25400">
            <a:solidFill>
              <a:srgbClr val="2D6A4F"/>
            </a:solidFill>
            <a:prstDash val="solid"/>
          </a:ln>
        </p:spPr>
      </p:sp>
      <p:sp>
        <p:nvSpPr>
          <p:cNvPr id="6" name="Shape 4"/>
          <p:cNvSpPr/>
          <p:nvPr/>
        </p:nvSpPr>
        <p:spPr>
          <a:xfrm>
            <a:off x="868680" y="1463040"/>
            <a:ext cx="3136392" cy="365760"/>
          </a:xfrm>
          <a:prstGeom prst="rect">
            <a:avLst>
              <a:gd name="adj" fmla="val 15000"/>
            </a:avLst>
          </a:prstGeom>
          <a:solidFill>
            <a:srgbClr val="EFEAE1"/>
          </a:solidFill>
          <a:ln w="12700">
            <a:solidFill>
              <a:srgbClr val="E5E0D8"/>
            </a:solidFill>
            <a:prstDash val="solid"/>
          </a:ln>
        </p:spPr>
      </p:sp>
      <p:sp>
        <p:nvSpPr>
          <p:cNvPr id="7" name="Text 5"/>
          <p:cNvSpPr/>
          <p:nvPr/>
        </p:nvSpPr>
        <p:spPr>
          <a:xfrm>
            <a:off x="868680" y="1463040"/>
            <a:ext cx="3136392" cy="365760"/>
          </a:xfrm>
          <a:prstGeom prst="rect">
            <a:avLst/>
          </a:prstGeom>
          <a:noFill/>
          <a:ln/>
        </p:spPr>
        <p:txBody>
          <a:bodyPr wrap="square" rtlCol="0" anchor="ctr"/>
          <a:lstStyle/>
          <a:p>
            <a:pPr algn="ctr" indent="0" marL="0">
              <a:buNone/>
            </a:pPr>
            <a:r>
              <a:rPr lang="en-US" sz="1300" b="1" dirty="0">
                <a:solidFill>
                  <a:srgbClr val="2D6A4F"/>
                </a:solidFill>
                <a:latin typeface="Montserrat" pitchFamily="34" charset="0"/>
                <a:ea typeface="Montserrat" pitchFamily="34" charset="-122"/>
                <a:cs typeface="Montserrat" pitchFamily="34" charset="-120"/>
              </a:rPr>
              <a:t>WHAT WE COMPLETED (DONE)</a:t>
            </a:r>
            <a:endParaRPr lang="en-US" sz="1300" dirty="0"/>
          </a:p>
        </p:txBody>
      </p:sp>
      <p:sp>
        <p:nvSpPr>
          <p:cNvPr id="8" name="Text 6"/>
          <p:cNvSpPr/>
          <p:nvPr/>
        </p:nvSpPr>
        <p:spPr>
          <a:xfrm>
            <a:off x="914400" y="1965960"/>
            <a:ext cx="3044952" cy="2926080"/>
          </a:xfrm>
          <a:prstGeom prst="rect">
            <a:avLst/>
          </a:prstGeom>
          <a:noFill/>
          <a:ln/>
        </p:spPr>
        <p:txBody>
          <a:bodyPr wrap="square" rtlCol="0" anchor="t"/>
          <a:lstStyle/>
          <a:p>
            <a:pPr marL="342900" indent="-342900">
              <a:spcBef>
                <a:spcPts val="600"/>
              </a:spcBef>
              <a:spcAft>
                <a:spcPts val="600"/>
              </a:spcAft>
              <a:buSzPct val="100000"/>
              <a:buChar char="•"/>
            </a:pPr>
            <a:r>
              <a:rPr lang="en-US" sz="1400" dirty="0">
                <a:solidFill>
                  <a:srgbClr val="1C1C19"/>
                </a:solidFill>
                <a:latin typeface="Inter" pitchFamily="34" charset="0"/>
                <a:ea typeface="Inter" pitchFamily="34" charset="-122"/>
                <a:cs typeface="Inter" pitchFamily="34" charset="-120"/>
              </a:rPr>
              <a:t>EP + BVA on query lengths and decision tables on waste engine</a:t>
            </a:r>
            <a:endParaRPr lang="en-US" sz="1400" dirty="0"/>
          </a:p>
          <a:p>
            <a:pPr marL="342900" indent="-342900">
              <a:spcBef>
                <a:spcPts val="600"/>
              </a:spcBef>
              <a:spcAft>
                <a:spcPts val="600"/>
              </a:spcAft>
              <a:buSzPct val="100000"/>
              <a:buChar char="•"/>
            </a:pPr>
            <a:r>
              <a:rPr lang="en-US" sz="1400" dirty="0">
                <a:solidFill>
                  <a:srgbClr val="1C1C19"/>
                </a:solidFill>
                <a:latin typeface="Inter" pitchFamily="34" charset="0"/>
                <a:ea typeface="Inter" pitchFamily="34" charset="-122"/>
                <a:cs typeface="Inter" pitchFamily="34" charset="-120"/>
              </a:rPr>
              <a:t>CFG basis path white-box testing with 100% security branch coverage</a:t>
            </a:r>
            <a:endParaRPr lang="en-US" sz="1400" dirty="0"/>
          </a:p>
          <a:p>
            <a:pPr marL="342900" indent="-342900">
              <a:spcBef>
                <a:spcPts val="600"/>
              </a:spcBef>
              <a:spcAft>
                <a:spcPts val="600"/>
              </a:spcAft>
              <a:buSzPct val="100000"/>
              <a:buChar char="•"/>
            </a:pPr>
            <a:r>
              <a:rPr lang="en-US" sz="1400" dirty="0">
                <a:solidFill>
                  <a:srgbClr val="1C1C19"/>
                </a:solidFill>
                <a:latin typeface="Inter" pitchFamily="34" charset="0"/>
                <a:ea typeface="Inter" pitchFamily="34" charset="-122"/>
                <a:cs typeface="Inter" pitchFamily="34" charset="-120"/>
              </a:rPr>
              <a:t>51 automated offline tests across Flutter and FastAPI microservice</a:t>
            </a:r>
            <a:endParaRPr lang="en-US" sz="1400" dirty="0"/>
          </a:p>
          <a:p>
            <a:pPr marL="342900" indent="-342900">
              <a:spcBef>
                <a:spcPts val="600"/>
              </a:spcBef>
              <a:spcAft>
                <a:spcPts val="600"/>
              </a:spcAft>
              <a:buSzPct val="100000"/>
              <a:buChar char="•"/>
            </a:pPr>
            <a:r>
              <a:rPr lang="en-US" sz="1400" dirty="0">
                <a:solidFill>
                  <a:srgbClr val="1C1C19"/>
                </a:solidFill>
                <a:latin typeface="Inter" pitchFamily="34" charset="0"/>
                <a:ea typeface="Inter" pitchFamily="34" charset="-122"/>
                <a:cs typeface="Inter" pitchFamily="34" charset="-120"/>
              </a:rPr>
              <a:t>Physical Android smoke audit on Xiaomi Redmi Note 10 Pro</a:t>
            </a:r>
            <a:endParaRPr lang="en-US" sz="1400" dirty="0"/>
          </a:p>
        </p:txBody>
      </p:sp>
      <p:sp>
        <p:nvSpPr>
          <p:cNvPr id="9" name="Shape 7"/>
          <p:cNvSpPr/>
          <p:nvPr/>
        </p:nvSpPr>
        <p:spPr>
          <a:xfrm>
            <a:off x="4297680" y="1325880"/>
            <a:ext cx="3410712" cy="3703320"/>
          </a:xfrm>
          <a:prstGeom prst="rect">
            <a:avLst>
              <a:gd name="adj" fmla="val 3217"/>
            </a:avLst>
          </a:prstGeom>
          <a:solidFill>
            <a:srgbClr val="FFFFFF"/>
          </a:solidFill>
          <a:ln w="25400">
            <a:solidFill>
              <a:srgbClr val="B91C1C"/>
            </a:solidFill>
            <a:prstDash val="solid"/>
          </a:ln>
        </p:spPr>
      </p:sp>
      <p:sp>
        <p:nvSpPr>
          <p:cNvPr id="10" name="Shape 8"/>
          <p:cNvSpPr/>
          <p:nvPr/>
        </p:nvSpPr>
        <p:spPr>
          <a:xfrm>
            <a:off x="4434840" y="1463040"/>
            <a:ext cx="3136392" cy="365760"/>
          </a:xfrm>
          <a:prstGeom prst="rect">
            <a:avLst>
              <a:gd name="adj" fmla="val 15000"/>
            </a:avLst>
          </a:prstGeom>
          <a:solidFill>
            <a:srgbClr val="EFEAE1"/>
          </a:solidFill>
          <a:ln w="12700">
            <a:solidFill>
              <a:srgbClr val="E5E0D8"/>
            </a:solidFill>
            <a:prstDash val="solid"/>
          </a:ln>
        </p:spPr>
      </p:sp>
      <p:sp>
        <p:nvSpPr>
          <p:cNvPr id="11" name="Text 9"/>
          <p:cNvSpPr/>
          <p:nvPr/>
        </p:nvSpPr>
        <p:spPr>
          <a:xfrm>
            <a:off x="4434840" y="1463040"/>
            <a:ext cx="3136392" cy="365760"/>
          </a:xfrm>
          <a:prstGeom prst="rect">
            <a:avLst/>
          </a:prstGeom>
          <a:noFill/>
          <a:ln/>
        </p:spPr>
        <p:txBody>
          <a:bodyPr wrap="square" rtlCol="0" anchor="ctr"/>
          <a:lstStyle/>
          <a:p>
            <a:pPr algn="ctr" indent="0" marL="0">
              <a:buNone/>
            </a:pPr>
            <a:r>
              <a:rPr lang="en-US" sz="1300" b="1" dirty="0">
                <a:solidFill>
                  <a:srgbClr val="B91C1C"/>
                </a:solidFill>
                <a:latin typeface="Montserrat" pitchFamily="34" charset="0"/>
                <a:ea typeface="Montserrat" pitchFamily="34" charset="-122"/>
                <a:cs typeface="Montserrat" pitchFamily="34" charset="-120"/>
              </a:rPr>
              <a:t>DOCUMENTED GAPS (NOT DONE)</a:t>
            </a:r>
            <a:endParaRPr lang="en-US" sz="1300" dirty="0"/>
          </a:p>
        </p:txBody>
      </p:sp>
      <p:sp>
        <p:nvSpPr>
          <p:cNvPr id="12" name="Text 10"/>
          <p:cNvSpPr/>
          <p:nvPr/>
        </p:nvSpPr>
        <p:spPr>
          <a:xfrm>
            <a:off x="4480560" y="1965960"/>
            <a:ext cx="3044952" cy="2926080"/>
          </a:xfrm>
          <a:prstGeom prst="rect">
            <a:avLst/>
          </a:prstGeom>
          <a:noFill/>
          <a:ln/>
        </p:spPr>
        <p:txBody>
          <a:bodyPr wrap="square" rtlCol="0" anchor="t"/>
          <a:lstStyle/>
          <a:p>
            <a:pPr marL="342900" indent="-342900">
              <a:spcBef>
                <a:spcPts val="600"/>
              </a:spcBef>
              <a:spcAft>
                <a:spcPts val="600"/>
              </a:spcAft>
              <a:buSzPct val="100000"/>
              <a:buChar char="•"/>
            </a:pPr>
            <a:r>
              <a:rPr lang="en-US" sz="1400" dirty="0">
                <a:solidFill>
                  <a:srgbClr val="1C1C19"/>
                </a:solidFill>
                <a:latin typeface="Inter" pitchFamily="34" charset="0"/>
                <a:ea typeface="Inter" pitchFamily="34" charset="-122"/>
                <a:cs typeface="Inter" pitchFamily="34" charset="-120"/>
              </a:rPr>
              <a:t>Mutation testing and formal data-flow anomaly detection</a:t>
            </a:r>
            <a:endParaRPr lang="en-US" sz="1400" dirty="0"/>
          </a:p>
          <a:p>
            <a:pPr marL="342900" indent="-342900">
              <a:spcBef>
                <a:spcPts val="600"/>
              </a:spcBef>
              <a:spcAft>
                <a:spcPts val="600"/>
              </a:spcAft>
              <a:buSzPct val="100000"/>
              <a:buChar char="•"/>
            </a:pPr>
            <a:r>
              <a:rPr lang="en-US" sz="1400" dirty="0">
                <a:solidFill>
                  <a:srgbClr val="1C1C19"/>
                </a:solidFill>
                <a:latin typeface="Inter" pitchFamily="34" charset="0"/>
                <a:ea typeface="Inter" pitchFamily="34" charset="-122"/>
                <a:cs typeface="Inter" pitchFamily="34" charset="-120"/>
              </a:rPr>
              <a:t>Distributed concurrent load testing (Locust / k6)</a:t>
            </a:r>
            <a:endParaRPr lang="en-US" sz="1400" dirty="0"/>
          </a:p>
          <a:p>
            <a:pPr marL="342900" indent="-342900">
              <a:spcBef>
                <a:spcPts val="600"/>
              </a:spcBef>
              <a:spcAft>
                <a:spcPts val="600"/>
              </a:spcAft>
              <a:buSzPct val="100000"/>
              <a:buChar char="•"/>
            </a:pPr>
            <a:r>
              <a:rPr lang="en-US" sz="1400" dirty="0">
                <a:solidFill>
                  <a:srgbClr val="1C1C19"/>
                </a:solidFill>
                <a:latin typeface="Inter" pitchFamily="34" charset="0"/>
                <a:ea typeface="Inter" pitchFamily="34" charset="-122"/>
                <a:cs typeface="Inter" pitchFamily="34" charset="-120"/>
              </a:rPr>
              <a:t>Formal multi-user beta acceptance testing (Beta UAT)</a:t>
            </a:r>
            <a:endParaRPr lang="en-US" sz="1400" dirty="0"/>
          </a:p>
          <a:p>
            <a:pPr marL="342900" indent="-342900">
              <a:spcBef>
                <a:spcPts val="600"/>
              </a:spcBef>
              <a:spcAft>
                <a:spcPts val="600"/>
              </a:spcAft>
              <a:buSzPct val="100000"/>
              <a:buChar char="•"/>
            </a:pPr>
            <a:r>
              <a:rPr lang="en-US" sz="1400" dirty="0">
                <a:solidFill>
                  <a:srgbClr val="1C1C19"/>
                </a:solidFill>
                <a:latin typeface="Inter" pitchFamily="34" charset="0"/>
                <a:ea typeface="Inter" pitchFamily="34" charset="-122"/>
                <a:cs typeface="Inter" pitchFamily="34" charset="-120"/>
              </a:rPr>
              <a:t>Formal TDD cycle (CO3 marked partial; DEF-008 open)</a:t>
            </a:r>
            <a:endParaRPr lang="en-US" sz="1400" dirty="0"/>
          </a:p>
        </p:txBody>
      </p:sp>
      <p:sp>
        <p:nvSpPr>
          <p:cNvPr id="13" name="Shape 11"/>
          <p:cNvSpPr/>
          <p:nvPr/>
        </p:nvSpPr>
        <p:spPr>
          <a:xfrm>
            <a:off x="7863840" y="1325880"/>
            <a:ext cx="3410712" cy="3703320"/>
          </a:xfrm>
          <a:prstGeom prst="rect">
            <a:avLst>
              <a:gd name="adj" fmla="val 3217"/>
            </a:avLst>
          </a:prstGeom>
          <a:solidFill>
            <a:srgbClr val="FFFFFF"/>
          </a:solidFill>
          <a:ln w="25400">
            <a:solidFill>
              <a:srgbClr val="FFB702"/>
            </a:solidFill>
            <a:prstDash val="solid"/>
          </a:ln>
        </p:spPr>
      </p:sp>
      <p:sp>
        <p:nvSpPr>
          <p:cNvPr id="14" name="Shape 12"/>
          <p:cNvSpPr/>
          <p:nvPr/>
        </p:nvSpPr>
        <p:spPr>
          <a:xfrm>
            <a:off x="8001000" y="1463040"/>
            <a:ext cx="3136392" cy="365760"/>
          </a:xfrm>
          <a:prstGeom prst="rect">
            <a:avLst>
              <a:gd name="adj" fmla="val 15000"/>
            </a:avLst>
          </a:prstGeom>
          <a:solidFill>
            <a:srgbClr val="EFEAE1"/>
          </a:solidFill>
          <a:ln w="12700">
            <a:solidFill>
              <a:srgbClr val="E5E0D8"/>
            </a:solidFill>
            <a:prstDash val="solid"/>
          </a:ln>
        </p:spPr>
      </p:sp>
      <p:sp>
        <p:nvSpPr>
          <p:cNvPr id="15" name="Text 13"/>
          <p:cNvSpPr/>
          <p:nvPr/>
        </p:nvSpPr>
        <p:spPr>
          <a:xfrm>
            <a:off x="8001000" y="1463040"/>
            <a:ext cx="3136392" cy="365760"/>
          </a:xfrm>
          <a:prstGeom prst="rect">
            <a:avLst/>
          </a:prstGeom>
          <a:noFill/>
          <a:ln/>
        </p:spPr>
        <p:txBody>
          <a:bodyPr wrap="square" rtlCol="0" anchor="ctr"/>
          <a:lstStyle/>
          <a:p>
            <a:pPr algn="ctr" indent="0" marL="0">
              <a:buNone/>
            </a:pPr>
            <a:r>
              <a:rPr lang="en-US" sz="1300" b="1" dirty="0">
                <a:solidFill>
                  <a:srgbClr val="1B4332"/>
                </a:solidFill>
                <a:latin typeface="Montserrat" pitchFamily="34" charset="0"/>
                <a:ea typeface="Montserrat" pitchFamily="34" charset="-122"/>
                <a:cs typeface="Montserrat" pitchFamily="34" charset="-120"/>
              </a:rPr>
              <a:t>QUALITY ROADMAP (NEXT STEPS)</a:t>
            </a:r>
            <a:endParaRPr lang="en-US" sz="1300" dirty="0"/>
          </a:p>
        </p:txBody>
      </p:sp>
      <p:sp>
        <p:nvSpPr>
          <p:cNvPr id="16" name="Text 14"/>
          <p:cNvSpPr/>
          <p:nvPr/>
        </p:nvSpPr>
        <p:spPr>
          <a:xfrm>
            <a:off x="8046720" y="1965960"/>
            <a:ext cx="3044952" cy="2926080"/>
          </a:xfrm>
          <a:prstGeom prst="rect">
            <a:avLst/>
          </a:prstGeom>
          <a:noFill/>
          <a:ln/>
        </p:spPr>
        <p:txBody>
          <a:bodyPr wrap="square" rtlCol="0" anchor="t"/>
          <a:lstStyle/>
          <a:p>
            <a:pPr marL="342900" indent="-342900">
              <a:spcBef>
                <a:spcPts val="600"/>
              </a:spcBef>
              <a:spcAft>
                <a:spcPts val="600"/>
              </a:spcAft>
              <a:buSzPct val="100000"/>
              <a:buChar char="•"/>
            </a:pPr>
            <a:r>
              <a:rPr lang="en-US" sz="1400" dirty="0">
                <a:solidFill>
                  <a:srgbClr val="1C1C19"/>
                </a:solidFill>
                <a:latin typeface="Inter" pitchFamily="34" charset="0"/>
                <a:ea typeface="Inter" pitchFamily="34" charset="-122"/>
                <a:cs typeface="Inter" pitchFamily="34" charset="-120"/>
              </a:rPr>
              <a:t>Refactor 4-week lag calculation to calendar alignment (DEF-008)</a:t>
            </a:r>
            <a:endParaRPr lang="en-US" sz="1400" dirty="0"/>
          </a:p>
          <a:p>
            <a:pPr marL="342900" indent="-342900">
              <a:spcBef>
                <a:spcPts val="600"/>
              </a:spcBef>
              <a:spcAft>
                <a:spcPts val="600"/>
              </a:spcAft>
              <a:buSzPct val="100000"/>
              <a:buChar char="•"/>
            </a:pPr>
            <a:r>
              <a:rPr lang="en-US" sz="1400" dirty="0">
                <a:solidFill>
                  <a:srgbClr val="1C1C19"/>
                </a:solidFill>
                <a:latin typeface="Inter" pitchFamily="34" charset="0"/>
                <a:ea typeface="Inter" pitchFamily="34" charset="-122"/>
                <a:cs typeface="Inter" pitchFamily="34" charset="-120"/>
              </a:rPr>
              <a:t>Replace legacy donation endpoint with commercial bundling (DEF-011)</a:t>
            </a:r>
            <a:endParaRPr lang="en-US" sz="1400" dirty="0"/>
          </a:p>
          <a:p>
            <a:pPr marL="342900" indent="-342900">
              <a:spcBef>
                <a:spcPts val="600"/>
              </a:spcBef>
              <a:spcAft>
                <a:spcPts val="600"/>
              </a:spcAft>
              <a:buSzPct val="100000"/>
              <a:buChar char="•"/>
            </a:pPr>
            <a:r>
              <a:rPr lang="en-US" sz="1400" dirty="0">
                <a:solidFill>
                  <a:srgbClr val="1C1C19"/>
                </a:solidFill>
                <a:latin typeface="Inter" pitchFamily="34" charset="0"/>
                <a:ea typeface="Inter" pitchFamily="34" charset="-122"/>
                <a:cs typeface="Inter" pitchFamily="34" charset="-120"/>
              </a:rPr>
              <a:t>Automate live CI pipeline with Atlas runner IP whitelist</a:t>
            </a:r>
            <a:endParaRPr lang="en-US" sz="1400" dirty="0"/>
          </a:p>
          <a:p>
            <a:pPr marL="342900" indent="-342900">
              <a:spcBef>
                <a:spcPts val="600"/>
              </a:spcBef>
              <a:spcAft>
                <a:spcPts val="600"/>
              </a:spcAft>
              <a:buSzPct val="100000"/>
              <a:buChar char="•"/>
            </a:pPr>
            <a:r>
              <a:rPr lang="en-US" sz="1400" dirty="0">
                <a:solidFill>
                  <a:srgbClr val="1C1C19"/>
                </a:solidFill>
                <a:latin typeface="Inter" pitchFamily="34" charset="0"/>
                <a:ea typeface="Inter" pitchFamily="34" charset="-122"/>
                <a:cs typeface="Inter" pitchFamily="34" charset="-120"/>
              </a:rPr>
              <a:t>Multi-store bakery pilot trials to evaluate kitchen UX</a:t>
            </a:r>
            <a:endParaRPr lang="en-US" sz="1400" dirty="0"/>
          </a:p>
        </p:txBody>
      </p:sp>
      <p:sp>
        <p:nvSpPr>
          <p:cNvPr id="17" name="Text 15"/>
          <p:cNvSpPr/>
          <p:nvPr/>
        </p:nvSpPr>
        <p:spPr>
          <a:xfrm>
            <a:off x="731520" y="5257800"/>
            <a:ext cx="10728655" cy="1234440"/>
          </a:xfrm>
          <a:prstGeom prst="rect">
            <a:avLst/>
          </a:prstGeom>
          <a:noFill/>
          <a:ln/>
        </p:spPr>
        <p:txBody>
          <a:bodyPr wrap="square" rtlCol="0" anchor="t"/>
          <a:lstStyle/>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Met core testing objectives across unit, integration, and security.</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Advanced structural techniques and load stress tests were omitted.</a:t>
            </a:r>
            <a:endParaRPr lang="en-US" sz="2000" dirty="0"/>
          </a:p>
          <a:p>
            <a:pPr marL="342900" indent="-342900">
              <a:spcBef>
                <a:spcPts val="400"/>
              </a:spcBef>
              <a:spcAft>
                <a:spcPts val="400"/>
              </a:spcAft>
              <a:buSzPct val="100000"/>
              <a:buChar char="•"/>
            </a:pPr>
            <a:r>
              <a:rPr lang="en-US" sz="2000" dirty="0">
                <a:solidFill>
                  <a:srgbClr val="1C1C19"/>
                </a:solidFill>
                <a:latin typeface="Inter" pitchFamily="34" charset="0"/>
                <a:ea typeface="Inter" pitchFamily="34" charset="-122"/>
                <a:cs typeface="Inter" pitchFamily="34" charset="-120"/>
              </a:rPr>
              <a:t>Roadmap prioritizes calendar-day alignment and retail bundling logic.</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RestockIQ: Software Testing Defense</dc:title>
  <dc:subject>Course 702IT0E035 Software Testing Presentation</dc:subject>
  <dc:creator>Yatin Patil (Lucifer)</dc:creator>
  <cp:lastModifiedBy>Yatin Patil (Lucifer)</cp:lastModifiedBy>
  <cp:revision>1</cp:revision>
  <dcterms:created xsi:type="dcterms:W3CDTF">2026-10-23T17:17:15Z</dcterms:created>
  <dcterms:modified xsi:type="dcterms:W3CDTF">2026-10-23T17:17:15Z</dcterms:modified>
</cp:coreProperties>
</file>