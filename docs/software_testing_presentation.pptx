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Critical</c:v>
                </c:pt>
              </c:strCache>
            </c:strRef>
          </c:tx>
          <c:spPr>
            <a:solidFill>
              <a:srgbClr val="B91C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UI/Layout</c:v>
                  </c:pt>
                  <c:pt idx="1">
                    <c:v>Functional</c:v>
                  </c:pt>
                  <c:pt idx="2">
                    <c:v>Config/Net</c:v>
                  </c:pt>
                  <c:pt idx="3">
                    <c:v>ML Align</c:v>
                  </c:pt>
                  <c:pt idx="4">
                    <c:v>Req Mismatch</c:v>
                  </c:pt>
                </c:lvl>
              </c:multiLvlStrCache>
            </c:multiLvlStrRef>
          </c:cat>
          <c:val>
            <c:numRef>
              <c:f>Sheet1!$B$2:$B$6</c:f>
              <c:numCache>
                <c:formatCode>General</c:formatCode>
                <c:ptCount val="5"/>
                <c:pt idx="0">
                  <c:v>0</c:v>
                </c:pt>
                <c:pt idx="1">
                  <c:v>1</c:v>
                </c:pt>
                <c:pt idx="2">
                  <c:v>1</c:v>
                </c:pt>
                <c:pt idx="3">
                  <c:v>0</c:v>
                </c:pt>
                <c:pt idx="4">
                  <c:v>0</c:v>
                </c:pt>
              </c:numCache>
            </c:numRef>
          </c:val>
        </c:ser>
        <c:ser>
          <c:idx val="1"/>
          <c:order val="1"/>
          <c:tx>
            <c:strRef>
              <c:f>Sheet1!$C$1</c:f>
              <c:strCache>
                <c:ptCount val="1"/>
                <c:pt idx="0">
                  <c:v>High</c:v>
                </c:pt>
              </c:strCache>
            </c:strRef>
          </c:tx>
          <c:spPr>
            <a:solidFill>
              <a:srgbClr val="FFB70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UI/Layout</c:v>
                  </c:pt>
                  <c:pt idx="1">
                    <c:v>Functional</c:v>
                  </c:pt>
                  <c:pt idx="2">
                    <c:v>Config/Net</c:v>
                  </c:pt>
                  <c:pt idx="3">
                    <c:v>ML Align</c:v>
                  </c:pt>
                  <c:pt idx="4">
                    <c:v>Req Mismatch</c:v>
                  </c:pt>
                </c:lvl>
              </c:multiLvlStrCache>
            </c:multiLvlStrRef>
          </c:cat>
          <c:val>
            <c:numRef>
              <c:f>Sheet1!$C$2:$C$6</c:f>
              <c:numCache>
                <c:formatCode>General</c:formatCode>
                <c:ptCount val="5"/>
                <c:pt idx="0">
                  <c:v>2</c:v>
                </c:pt>
                <c:pt idx="1">
                  <c:v>1</c:v>
                </c:pt>
                <c:pt idx="2">
                  <c:v>1</c:v>
                </c:pt>
                <c:pt idx="3">
                  <c:v>1</c:v>
                </c:pt>
                <c:pt idx="4">
                  <c:v>0</c:v>
                </c:pt>
              </c:numCache>
            </c:numRef>
          </c:val>
        </c:ser>
        <c:ser>
          <c:idx val="2"/>
          <c:order val="2"/>
          <c:tx>
            <c:strRef>
              <c:f>Sheet1!$D$1</c:f>
              <c:strCache>
                <c:ptCount val="1"/>
                <c:pt idx="0">
                  <c:v>Medium</c:v>
                </c:pt>
              </c:strCache>
            </c:strRef>
          </c:tx>
          <c:spPr>
            <a:solidFill>
              <a:srgbClr val="1B43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UI/Layout</c:v>
                  </c:pt>
                  <c:pt idx="1">
                    <c:v>Functional</c:v>
                  </c:pt>
                  <c:pt idx="2">
                    <c:v>Config/Net</c:v>
                  </c:pt>
                  <c:pt idx="3">
                    <c:v>ML Align</c:v>
                  </c:pt>
                  <c:pt idx="4">
                    <c:v>Req Mismatch</c:v>
                  </c:pt>
                </c:lvl>
              </c:multiLvlStrCache>
            </c:multiLvlStrRef>
          </c:cat>
          <c:val>
            <c:numRef>
              <c:f>Sheet1!$D$2:$D$6</c:f>
              <c:numCache>
                <c:formatCode>General</c:formatCode>
                <c:ptCount val="5"/>
                <c:pt idx="0">
                  <c:v>1</c:v>
                </c:pt>
                <c:pt idx="1">
                  <c:v>1</c:v>
                </c:pt>
                <c:pt idx="2">
                  <c:v>0</c:v>
                </c:pt>
                <c:pt idx="3">
                  <c:v>1</c:v>
                </c:pt>
                <c:pt idx="4">
                  <c:v>1</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Prophet-Only</c:v>
                </c:pt>
              </c:strCache>
            </c:strRef>
          </c:tx>
          <c:spPr>
            <a:solidFill>
              <a:srgbClr val="2D6A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Fold 1</c:v>
                  </c:pt>
                  <c:pt idx="1">
                    <c:v>Fold 2</c:v>
                  </c:pt>
                  <c:pt idx="2">
                    <c:v>Fold 3</c:v>
                  </c:pt>
                  <c:pt idx="3">
                    <c:v>Fold 4</c:v>
                  </c:pt>
                  <c:pt idx="4">
                    <c:v>Fold 5</c:v>
                  </c:pt>
                  <c:pt idx="5">
                    <c:v>Fold 6</c:v>
                  </c:pt>
                  <c:pt idx="6">
                    <c:v>Average</c:v>
                  </c:pt>
                </c:lvl>
              </c:multiLvlStrCache>
            </c:multiLvlStrRef>
          </c:cat>
          <c:val>
            <c:numRef>
              <c:f>Sheet1!$B$2:$B$8</c:f>
              <c:numCache>
                <c:formatCode>General</c:formatCode>
                <c:ptCount val="7"/>
                <c:pt idx="0">
                  <c:v>17.5</c:v>
                </c:pt>
                <c:pt idx="1">
                  <c:v>21</c:v>
                </c:pt>
                <c:pt idx="2">
                  <c:v>24.1</c:v>
                </c:pt>
                <c:pt idx="3">
                  <c:v>22.8</c:v>
                </c:pt>
                <c:pt idx="4">
                  <c:v>19.2</c:v>
                </c:pt>
                <c:pt idx="5">
                  <c:v>25.8</c:v>
                </c:pt>
                <c:pt idx="6">
                  <c:v>21.74</c:v>
                </c:pt>
              </c:numCache>
            </c:numRef>
          </c:val>
        </c:ser>
        <c:ser>
          <c:idx val="1"/>
          <c:order val="1"/>
          <c:tx>
            <c:strRef>
              <c:f>Sheet1!$C$1</c:f>
              <c:strCache>
                <c:ptCount val="1"/>
                <c:pt idx="0">
                  <c:v>RestockIQ Hybrid</c:v>
                </c:pt>
              </c:strCache>
            </c:strRef>
          </c:tx>
          <c:spPr>
            <a:solidFill>
              <a:srgbClr val="FFB70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Fold 1</c:v>
                  </c:pt>
                  <c:pt idx="1">
                    <c:v>Fold 2</c:v>
                  </c:pt>
                  <c:pt idx="2">
                    <c:v>Fold 3</c:v>
                  </c:pt>
                  <c:pt idx="3">
                    <c:v>Fold 4</c:v>
                  </c:pt>
                  <c:pt idx="4">
                    <c:v>Fold 5</c:v>
                  </c:pt>
                  <c:pt idx="5">
                    <c:v>Fold 6</c:v>
                  </c:pt>
                  <c:pt idx="6">
                    <c:v>Average</c:v>
                  </c:pt>
                </c:lvl>
              </c:multiLvlStrCache>
            </c:multiLvlStrRef>
          </c:cat>
          <c:val>
            <c:numRef>
              <c:f>Sheet1!$C$2:$C$8</c:f>
              <c:numCache>
                <c:formatCode>General</c:formatCode>
                <c:ptCount val="7"/>
                <c:pt idx="0">
                  <c:v>20.3</c:v>
                </c:pt>
                <c:pt idx="1">
                  <c:v>22.8</c:v>
                </c:pt>
                <c:pt idx="2">
                  <c:v>20.3</c:v>
                </c:pt>
                <c:pt idx="3">
                  <c:v>21.1</c:v>
                </c:pt>
                <c:pt idx="4">
                  <c:v>24</c:v>
                </c:pt>
                <c:pt idx="5">
                  <c:v>26.7</c:v>
                </c:pt>
                <c:pt idx="6">
                  <c:v>22.51</c:v>
                </c:pt>
              </c:numCache>
            </c:numRef>
          </c:val>
        </c:ser>
        <c:ser>
          <c:idx val="2"/>
          <c:order val="2"/>
          <c:tx>
            <c:strRef>
              <c:f>Sheet1!$D$1</c:f>
              <c:strCache>
                <c:ptCount val="1"/>
                <c:pt idx="0">
                  <c:v>Seasonal Naive</c:v>
                </c:pt>
              </c:strCache>
            </c:strRef>
          </c:tx>
          <c:spPr>
            <a:solidFill>
              <a:srgbClr val="B91C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Fold 1</c:v>
                  </c:pt>
                  <c:pt idx="1">
                    <c:v>Fold 2</c:v>
                  </c:pt>
                  <c:pt idx="2">
                    <c:v>Fold 3</c:v>
                  </c:pt>
                  <c:pt idx="3">
                    <c:v>Fold 4</c:v>
                  </c:pt>
                  <c:pt idx="4">
                    <c:v>Fold 5</c:v>
                  </c:pt>
                  <c:pt idx="5">
                    <c:v>Fold 6</c:v>
                  </c:pt>
                  <c:pt idx="6">
                    <c:v>Average</c:v>
                  </c:pt>
                </c:lvl>
              </c:multiLvlStrCache>
            </c:multiLvlStrRef>
          </c:cat>
          <c:val>
            <c:numRef>
              <c:f>Sheet1!$D$2:$D$8</c:f>
              <c:numCache>
                <c:formatCode>General</c:formatCode>
                <c:ptCount val="7"/>
                <c:pt idx="0">
                  <c:v>28.4</c:v>
                </c:pt>
                <c:pt idx="1">
                  <c:v>30.1</c:v>
                </c:pt>
                <c:pt idx="2">
                  <c:v>35.6</c:v>
                </c:pt>
                <c:pt idx="3">
                  <c:v>33.2</c:v>
                </c:pt>
                <c:pt idx="4">
                  <c:v>29.8</c:v>
                </c:pt>
                <c:pt idx="5">
                  <c:v>35.3</c:v>
                </c:pt>
                <c:pt idx="6">
                  <c:v>32.06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 Profit (€)</c:v>
                </c:pt>
              </c:strCache>
            </c:strRef>
          </c:tx>
          <c:spPr>
            <a:solidFill>
              <a:srgbClr val="1B43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z = 0.0 (Zero Buffer)</c:v>
                  </c:pt>
                  <c:pt idx="1">
                    <c:v>z = 0.5 (Lean Buffer)</c:v>
                  </c:pt>
                  <c:pt idx="2">
                    <c:v>z = 1.0 (Balanced)</c:v>
                  </c:pt>
                  <c:pt idx="3">
                    <c:v>z = 1.65 (95% Svc)</c:v>
                  </c:pt>
                </c:lvl>
              </c:multiLvlStrCache>
            </c:multiLvlStrRef>
          </c:cat>
          <c:val>
            <c:numRef>
              <c:f>Sheet1!$B$2:$B$5</c:f>
              <c:numCache>
                <c:formatCode>General</c:formatCode>
                <c:ptCount val="4"/>
                <c:pt idx="0">
                  <c:v>40717</c:v>
                </c:pt>
                <c:pt idx="1">
                  <c:v>40659</c:v>
                </c:pt>
                <c:pt idx="2">
                  <c:v>38655</c:v>
                </c:pt>
                <c:pt idx="3">
                  <c:v>32605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presents the official software testing defense deck for RestockIQ, submitted for Course 702IT0E035 at MPSTME NMIMS. It establishes candidate attribution, commit integrity, and direct traceability to Course Outcomes CO1, CO2, and CO3.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maps the four architectural tiers of RestockIQ to their corresponding verification levels. It illustrates where unit, widget, integration, security, and empirical testing techniques operate across mobile, gateway, cloud database, and machine learning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details the dual-framework strategy: bidirectional traceability between requirements and test artifacts via the V-Model, and the empirical test pyramid showing real counts across 51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tabulates the complete test inventory across all modules. It categorizes each test suite by level, technique, testing philosophy (classical vs. mockist), test count, and measured pass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illustrates the formal difference between errors, defects, and failures using the physical device login hang. It presents a native stacked column chart categorizing all 13 logged defects across the project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showcases two primary black-box techniques: Boundary Value Analysis on manager query strings, and a formal 10-rule Decision Table evaluating all thresholds of the intraday waste action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visualizes the finite state machine governing waste alerts. It maps all seven transitions (T1 through T7) directly to automated unit test assertions verifying database price mutations and alert suppression.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presents the control-flow graph for get_client_ip(), computes cyclomatic complexity V(G)=5, and reports real branch coverage data measured via coverage.py across all five independent basis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contrasts the Detroit (classical) and London (mockist) testing philosophies implemented across RestockIQ. It reconciles the test runner framework (Python unittest) and reports verified execution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details the system-level verification: the 9-step business lifecycle flow, empirical multi-tenant isolation tests across 10 REST endpoints with zero leakage, and reverse-proxy anti-spoofing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presents the ML evaluation results, highlighting the negative finding where Prophet outperformed the hybrid model across 5 of 6 folds. It also details the chronological leakage audit and LLM zero-math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evaluates the 90-day inventory simulation. It proves that food waste is determined by safety stock policy parameter z, while the forecasting model optimizes the trade-off frontier between stockouts and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details the automated regression pipeline. It reports real execution statuses verified via the GitHub Actions API: keepalive passing continuously, backend passing in 23s, and nightly ML failing due to runner secret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presents a transparent curriculum coverage matrix for Course 702IT0E035. It explicitly documents covered syllabus topics alongside unperformed advanced methods such as mutation and data-flow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synthesizes achievements against Course Outcomes CO1, CO2, and CO3. It summarizes how multi-level testing eliminated critical bugs and outlines the future testing agenda including load testing and beta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640080"/>
            <a:ext cx="10698480" cy="5394960"/>
          </a:xfrm>
          <a:prstGeom prst="rect">
            <a:avLst>
              <a:gd name="adj" fmla="val 2542"/>
            </a:avLst>
          </a:prstGeom>
          <a:solidFill>
            <a:srgbClr val="FFFFFF"/>
          </a:solidFill>
          <a:ln w="19050">
            <a:solidFill>
              <a:srgbClr val="E5E0D8"/>
            </a:solidFill>
            <a:prstDash val="solid"/>
          </a:ln>
        </p:spPr>
      </p:sp>
      <p:sp>
        <p:nvSpPr>
          <p:cNvPr id="3" name="Shape 1"/>
          <p:cNvSpPr/>
          <p:nvPr/>
        </p:nvSpPr>
        <p:spPr>
          <a:xfrm>
            <a:off x="1188720" y="1005840"/>
            <a:ext cx="3291840" cy="329184"/>
          </a:xfrm>
          <a:prstGeom prst="rect">
            <a:avLst>
              <a:gd name="adj" fmla="val 22222"/>
            </a:avLst>
          </a:prstGeom>
          <a:solidFill>
            <a:srgbClr val="EAE5DC"/>
          </a:solidFill>
          <a:ln w="12700">
            <a:solidFill>
              <a:srgbClr val="1B4332"/>
            </a:solidFill>
            <a:prstDash val="solid"/>
          </a:ln>
        </p:spPr>
      </p:sp>
      <p:sp>
        <p:nvSpPr>
          <p:cNvPr id="4" name="Text 2"/>
          <p:cNvSpPr/>
          <p:nvPr/>
        </p:nvSpPr>
        <p:spPr>
          <a:xfrm>
            <a:off x="1188720" y="1005840"/>
            <a:ext cx="3291840" cy="329184"/>
          </a:xfrm>
          <a:prstGeom prst="rect">
            <a:avLst/>
          </a:prstGeom>
          <a:noFill/>
          <a:ln/>
        </p:spPr>
        <p:txBody>
          <a:bodyPr wrap="square" rtlCol="0" anchor="ctr"/>
          <a:lstStyle/>
          <a:p>
            <a:pPr algn="ctr" indent="0" marL="0">
              <a:buNone/>
            </a:pPr>
            <a:r>
              <a:rPr lang="en-US" sz="950" b="1" dirty="0">
                <a:solidFill>
                  <a:srgbClr val="1B4332"/>
                </a:solidFill>
                <a:latin typeface="Montserrat" pitchFamily="34" charset="0"/>
                <a:ea typeface="Montserrat" pitchFamily="34" charset="-122"/>
                <a:cs typeface="Montserrat" pitchFamily="34" charset="-120"/>
              </a:rPr>
              <a:t>COURSE 702IT0E035 : SOFTWARE TESTING</a:t>
            </a:r>
            <a:endParaRPr lang="en-US" sz="950" dirty="0"/>
          </a:p>
        </p:txBody>
      </p:sp>
      <p:sp>
        <p:nvSpPr>
          <p:cNvPr id="5" name="Text 3"/>
          <p:cNvSpPr/>
          <p:nvPr/>
        </p:nvSpPr>
        <p:spPr>
          <a:xfrm>
            <a:off x="1188720" y="1508760"/>
            <a:ext cx="9784080" cy="914400"/>
          </a:xfrm>
          <a:prstGeom prst="rect">
            <a:avLst/>
          </a:prstGeom>
          <a:noFill/>
          <a:ln/>
        </p:spPr>
        <p:txBody>
          <a:bodyPr wrap="square" rtlCol="0" anchor="ctr"/>
          <a:lstStyle/>
          <a:p>
            <a:pPr indent="0" marL="0">
              <a:buNone/>
            </a:pPr>
            <a:r>
              <a:rPr lang="en-US" sz="2800" b="1" dirty="0">
                <a:solidFill>
                  <a:srgbClr val="1B4332"/>
                </a:solidFill>
                <a:latin typeface="Montserrat" pitchFamily="34" charset="0"/>
                <a:ea typeface="Montserrat" pitchFamily="34" charset="-122"/>
                <a:cs typeface="Montserrat" pitchFamily="34" charset="-120"/>
              </a:rPr>
              <a:t>RestockIQ: Software Testing &amp; System Integrity Defense</a:t>
            </a:r>
            <a:endParaRPr lang="en-US" sz="2800" dirty="0"/>
          </a:p>
        </p:txBody>
      </p:sp>
      <p:sp>
        <p:nvSpPr>
          <p:cNvPr id="6" name="Text 4"/>
          <p:cNvSpPr/>
          <p:nvPr/>
        </p:nvSpPr>
        <p:spPr>
          <a:xfrm>
            <a:off x="1188720" y="2514600"/>
            <a:ext cx="9784080" cy="411480"/>
          </a:xfrm>
          <a:prstGeom prst="rect">
            <a:avLst/>
          </a:prstGeom>
          <a:noFill/>
          <a:ln/>
        </p:spPr>
        <p:txBody>
          <a:bodyPr wrap="square" rtlCol="0" anchor="ctr"/>
          <a:lstStyle/>
          <a:p>
            <a:pPr indent="0" marL="0">
              <a:buNone/>
            </a:pPr>
            <a:r>
              <a:rPr lang="en-US" sz="1350" dirty="0">
                <a:solidFill>
                  <a:srgbClr val="5A5A54"/>
                </a:solidFill>
                <a:latin typeface="Inter" pitchFamily="34" charset="0"/>
                <a:ea typeface="Inter" pitchFamily="34" charset="-122"/>
                <a:cs typeface="Inter" pitchFamily="34" charset="-120"/>
              </a:rPr>
              <a:t>Empirical Verification, Defect Taxonomies, and Automated Quality Engineering in AI Demand Forecasting</a:t>
            </a:r>
            <a:endParaRPr lang="en-US" sz="1350" dirty="0"/>
          </a:p>
        </p:txBody>
      </p:sp>
      <p:sp>
        <p:nvSpPr>
          <p:cNvPr id="7" name="Shape 5"/>
          <p:cNvSpPr/>
          <p:nvPr/>
        </p:nvSpPr>
        <p:spPr>
          <a:xfrm>
            <a:off x="1188720" y="3063240"/>
            <a:ext cx="9784080" cy="0"/>
          </a:xfrm>
          <a:prstGeom prst="line">
            <a:avLst/>
          </a:prstGeom>
          <a:noFill/>
          <a:ln w="25400">
            <a:solidFill>
              <a:srgbClr val="FFB702"/>
            </a:solidFill>
            <a:prstDash val="solid"/>
          </a:ln>
        </p:spPr>
      </p:sp>
      <p:sp>
        <p:nvSpPr>
          <p:cNvPr id="8" name="Text 6"/>
          <p:cNvSpPr/>
          <p:nvPr/>
        </p:nvSpPr>
        <p:spPr>
          <a:xfrm>
            <a:off x="1188720" y="3246120"/>
            <a:ext cx="5303520" cy="2560320"/>
          </a:xfrm>
          <a:prstGeom prst="rect">
            <a:avLst/>
          </a:prstGeom>
          <a:noFill/>
          <a:ln/>
        </p:spPr>
        <p:txBody>
          <a:bodyPr wrap="square" rtlCol="0" anchor="ctr"/>
          <a:lstStyle/>
          <a:p>
            <a:pPr indent="0" marL="0">
              <a:buNone/>
            </a:pPr>
            <a:r>
              <a:rPr lang="en-US" sz="1150" b="1" dirty="0">
                <a:solidFill>
                  <a:srgbClr val="1B4332"/>
                </a:solidFill>
                <a:latin typeface="Inter" pitchFamily="34" charset="0"/>
                <a:ea typeface="Inter" pitchFamily="34" charset="-122"/>
                <a:cs typeface="Inter" pitchFamily="34" charset="-120"/>
              </a:rPr>
              <a:t>Candidate / Author: </a:t>
            </a:r>
            <a:pPr indent="0" marL="0">
              <a:buNone/>
            </a:pPr>
            <a:r>
              <a:rPr lang="en-US" sz="1150" dirty="0">
                <a:solidFill>
                  <a:srgbClr val="1C1C19"/>
                </a:solidFill>
                <a:latin typeface="Inter" pitchFamily="34" charset="0"/>
                <a:ea typeface="Inter" pitchFamily="34" charset="-122"/>
                <a:cs typeface="Inter" pitchFamily="34" charset="-120"/>
              </a:rPr>
              <a:t>Yatin Patil ("Lucifer")
</a:t>
            </a:r>
            <a:pPr indent="0" marL="0">
              <a:buNone/>
            </a:pPr>
            <a:r>
              <a:rPr lang="en-US" sz="1150" b="1" dirty="0">
                <a:solidFill>
                  <a:srgbClr val="1B4332"/>
                </a:solidFill>
                <a:latin typeface="Inter" pitchFamily="34" charset="0"/>
                <a:ea typeface="Inter" pitchFamily="34" charset="-122"/>
                <a:cs typeface="Inter" pitchFamily="34" charset="-120"/>
              </a:rPr>
              <a:t>Program &amp; Department: </a:t>
            </a:r>
            <a:pPr indent="0" marL="0">
              <a:buNone/>
            </a:pPr>
            <a:r>
              <a:rPr lang="en-US" sz="1150" dirty="0">
                <a:solidFill>
                  <a:srgbClr val="1C1C19"/>
                </a:solidFill>
                <a:latin typeface="Inter" pitchFamily="34" charset="0"/>
                <a:ea typeface="Inter" pitchFamily="34" charset="-122"/>
                <a:cs typeface="Inter" pitchFamily="34" charset="-120"/>
              </a:rPr>
              <a:t>B.Tech Information Technology
</a:t>
            </a:r>
            <a:pPr indent="0" marL="0">
              <a:buNone/>
            </a:pPr>
            <a:r>
              <a:rPr lang="en-US" sz="1150" b="1" dirty="0">
                <a:solidFill>
                  <a:srgbClr val="1B4332"/>
                </a:solidFill>
                <a:latin typeface="Inter" pitchFamily="34" charset="0"/>
                <a:ea typeface="Inter" pitchFamily="34" charset="-122"/>
                <a:cs typeface="Inter" pitchFamily="34" charset="-120"/>
              </a:rPr>
              <a:t>Institution: </a:t>
            </a:r>
            <a:pPr indent="0" marL="0">
              <a:buNone/>
            </a:pPr>
            <a:r>
              <a:rPr lang="en-US" sz="1150" dirty="0">
                <a:solidFill>
                  <a:srgbClr val="1C1C19"/>
                </a:solidFill>
                <a:latin typeface="Inter" pitchFamily="34" charset="0"/>
                <a:ea typeface="Inter" pitchFamily="34" charset="-122"/>
                <a:cs typeface="Inter" pitchFamily="34" charset="-120"/>
              </a:rPr>
              <a:t>MPSTME, NMIMS University, Mumbai
</a:t>
            </a:r>
            <a:pPr indent="0" marL="0">
              <a:buNone/>
            </a:pPr>
            <a:r>
              <a:rPr lang="en-US" sz="1150" b="1" dirty="0">
                <a:solidFill>
                  <a:srgbClr val="1B4332"/>
                </a:solidFill>
                <a:latin typeface="Inter" pitchFamily="34" charset="0"/>
                <a:ea typeface="Inter" pitchFamily="34" charset="-122"/>
                <a:cs typeface="Inter" pitchFamily="34" charset="-120"/>
              </a:rPr>
              <a:t>Repository Commit: </a:t>
            </a:r>
            <a:pPr indent="0" marL="0">
              <a:buNone/>
            </a:pPr>
            <a:r>
              <a:rPr lang="en-US" sz="1050" dirty="0">
                <a:solidFill>
                  <a:srgbClr val="5A5A54"/>
                </a:solidFill>
                <a:latin typeface="Consolas" pitchFamily="34" charset="0"/>
                <a:ea typeface="Consolas" pitchFamily="34" charset="-122"/>
                <a:cs typeface="Consolas" pitchFamily="34" charset="-120"/>
              </a:rPr>
              <a:t>https://github.com/Yatin07/CAPSTONE_PROJECT (commit 49caa0ef)
</a:t>
            </a:r>
            <a:pPr indent="0" marL="0">
              <a:buNone/>
            </a:pPr>
            <a:r>
              <a:rPr lang="en-US" sz="1150" b="1" dirty="0">
                <a:solidFill>
                  <a:srgbClr val="1B4332"/>
                </a:solidFill>
                <a:latin typeface="Inter" pitchFamily="34" charset="0"/>
                <a:ea typeface="Inter" pitchFamily="34" charset="-122"/>
                <a:cs typeface="Inter" pitchFamily="34" charset="-120"/>
              </a:rPr>
              <a:t>Target Environment: </a:t>
            </a:r>
            <a:pPr indent="0" marL="0">
              <a:buNone/>
            </a:pPr>
            <a:r>
              <a:rPr lang="en-US" sz="1050" dirty="0">
                <a:solidFill>
                  <a:srgbClr val="1C1C19"/>
                </a:solidFill>
                <a:latin typeface="Inter" pitchFamily="34" charset="0"/>
                <a:ea typeface="Inter" pitchFamily="34" charset="-122"/>
                <a:cs typeface="Inter" pitchFamily="34" charset="-120"/>
              </a:rPr>
              <a:t>Flutter 3.38+ | FastAPI 0.125 | MongoDB Atlas | Android ARM64</a:t>
            </a:r>
            <a:endParaRPr lang="en-US" sz="1150" dirty="0"/>
          </a:p>
        </p:txBody>
      </p:sp>
      <p:sp>
        <p:nvSpPr>
          <p:cNvPr id="9" name="Shape 7"/>
          <p:cNvSpPr/>
          <p:nvPr/>
        </p:nvSpPr>
        <p:spPr>
          <a:xfrm>
            <a:off x="6766560" y="3246120"/>
            <a:ext cx="4206240" cy="2468880"/>
          </a:xfrm>
          <a:prstGeom prst="rect">
            <a:avLst>
              <a:gd name="adj" fmla="val 3704"/>
            </a:avLst>
          </a:prstGeom>
          <a:solidFill>
            <a:srgbClr val="FCF9F4"/>
          </a:solidFill>
          <a:ln w="12700">
            <a:solidFill>
              <a:srgbClr val="E5E0D8"/>
            </a:solidFill>
            <a:prstDash val="solid"/>
          </a:ln>
        </p:spPr>
      </p:sp>
      <p:sp>
        <p:nvSpPr>
          <p:cNvPr id="10" name="Text 8"/>
          <p:cNvSpPr/>
          <p:nvPr/>
        </p:nvSpPr>
        <p:spPr>
          <a:xfrm>
            <a:off x="7040880" y="3429000"/>
            <a:ext cx="3657600" cy="274320"/>
          </a:xfrm>
          <a:prstGeom prst="rect">
            <a:avLst/>
          </a:prstGeom>
          <a:noFill/>
          <a:ln/>
        </p:spPr>
        <p:txBody>
          <a:bodyPr wrap="square" rtlCol="0" anchor="ctr"/>
          <a:lstStyle/>
          <a:p>
            <a:pPr indent="0" marL="0">
              <a:buNone/>
            </a:pPr>
            <a:r>
              <a:rPr lang="en-US" sz="1050" b="1" dirty="0">
                <a:solidFill>
                  <a:srgbClr val="1B4332"/>
                </a:solidFill>
                <a:latin typeface="Montserrat" pitchFamily="34" charset="0"/>
                <a:ea typeface="Montserrat" pitchFamily="34" charset="-122"/>
                <a:cs typeface="Montserrat" pitchFamily="34" charset="-120"/>
              </a:rPr>
              <a:t>COURSE OUTCOMES (CO) ALIGNMENT</a:t>
            </a:r>
            <a:endParaRPr lang="en-US" sz="1050" dirty="0"/>
          </a:p>
        </p:txBody>
      </p:sp>
      <p:sp>
        <p:nvSpPr>
          <p:cNvPr id="11" name="Text 9"/>
          <p:cNvSpPr/>
          <p:nvPr/>
        </p:nvSpPr>
        <p:spPr>
          <a:xfrm>
            <a:off x="7040880" y="3794760"/>
            <a:ext cx="3657600" cy="1737360"/>
          </a:xfrm>
          <a:prstGeom prst="rect">
            <a:avLst/>
          </a:prstGeom>
          <a:noFill/>
          <a:ln/>
        </p:spPr>
        <p:txBody>
          <a:bodyPr wrap="square" rtlCol="0" anchor="ctr"/>
          <a:lstStyle/>
          <a:p>
            <a:pPr indent="0" marL="0">
              <a:buNone/>
            </a:pPr>
            <a:r>
              <a:rPr lang="en-US" sz="1000" dirty="0">
                <a:solidFill>
                  <a:srgbClr val="1C1C19"/>
                </a:solidFill>
                <a:latin typeface="Inter" pitchFamily="34" charset="0"/>
                <a:ea typeface="Inter" pitchFamily="34" charset="-122"/>
                <a:cs typeface="Inter" pitchFamily="34" charset="-120"/>
              </a:rPr>
              <a:t>• CO1: Design and implement test cases across levels (BVA, decision matrices, state models).</a:t>
            </a:r>
            <a:pPr indent="0" marL="0">
              <a:buNone/>
            </a:pPr>
            <a:endParaRPr lang="en-US" sz="1000" dirty="0"/>
          </a:p>
          <a:p>
            <a:pPr indent="0" marL="0">
              <a:buNone/>
            </a:pPr>
            <a:r>
              <a:rPr lang="en-US" sz="1000" dirty="0">
                <a:solidFill>
                  <a:srgbClr val="1C1C19"/>
                </a:solidFill>
                <a:latin typeface="Inter" pitchFamily="34" charset="0"/>
                <a:ea typeface="Inter" pitchFamily="34" charset="-122"/>
                <a:cs typeface="Inter" pitchFamily="34" charset="-120"/>
              </a:rPr>
              <a:t>• CO2: Select manual vs. automated testing regimes for mobile UI, REST APIs, and ML engines.</a:t>
            </a:r>
            <a:endParaRPr lang="en-US" sz="1000" dirty="0"/>
          </a:p>
          <a:p>
            <a:pPr indent="0" marL="0">
              <a:buNone/>
            </a:pPr>
            <a:endParaRPr lang="en-US" sz="1000" dirty="0"/>
          </a:p>
          <a:p>
            <a:pPr indent="0" marL="0">
              <a:buNone/>
            </a:pPr>
            <a:r>
              <a:rPr lang="en-US" sz="1000" dirty="0">
                <a:solidFill>
                  <a:srgbClr val="1C1C19"/>
                </a:solidFill>
                <a:latin typeface="Inter" pitchFamily="34" charset="0"/>
                <a:ea typeface="Inter" pitchFamily="34" charset="-122"/>
                <a:cs typeface="Inter" pitchFamily="34" charset="-120"/>
              </a:rPr>
              <a:t>• CO3: Apply test automation, branch coverage analysis, and continuous regression pipelines.</a:t>
            </a:r>
            <a:endParaRPr lang="en-US" sz="1000" dirty="0"/>
          </a:p>
          <a:p>
            <a:pPr indent="0" marL="0">
              <a:buNone/>
            </a:pPr>
            <a:endParaRPr lang="en-US" sz="1000" dirty="0"/>
          </a:p>
          <a:p>
            <a:pPr indent="0" marL="0">
              <a:buNone/>
            </a:pPr>
            <a:r>
              <a:rPr lang="en-US" sz="1000" b="1" dirty="0">
                <a:solidFill>
                  <a:srgbClr val="2D6A4F"/>
                </a:solidFill>
                <a:latin typeface="Inter" pitchFamily="34" charset="0"/>
                <a:ea typeface="Inter" pitchFamily="34" charset="-122"/>
                <a:cs typeface="Inter" pitchFamily="34" charset="-120"/>
              </a:rPr>
              <a:t>• Scope: 51 Reconciled Automated Tests (100% Pass) + 1 Physical Android Device Audit.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1: FUNDAMENTALS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2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System Under Test: Architecture &amp; Verification Boundaries</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2468880" cy="3611880"/>
          </a:xfrm>
          <a:prstGeom prst="rect">
            <a:avLst>
              <a:gd name="adj" fmla="val 4444"/>
            </a:avLst>
          </a:prstGeom>
          <a:solidFill>
            <a:srgbClr val="FFFFFF"/>
          </a:solidFill>
          <a:ln w="19050">
            <a:solidFill>
              <a:srgbClr val="E5E0D8"/>
            </a:solidFill>
            <a:prstDash val="solid"/>
          </a:ln>
        </p:spPr>
      </p:sp>
      <p:sp>
        <p:nvSpPr>
          <p:cNvPr id="8" name="Shape 6"/>
          <p:cNvSpPr/>
          <p:nvPr/>
        </p:nvSpPr>
        <p:spPr>
          <a:xfrm>
            <a:off x="731520" y="1371600"/>
            <a:ext cx="2468880" cy="411480"/>
          </a:xfrm>
          <a:prstGeom prst="rect">
            <a:avLst/>
          </a:prstGeom>
          <a:solidFill>
            <a:srgbClr val="EAE5DC"/>
          </a:solidFill>
          <a:ln w="12700">
            <a:solidFill>
              <a:srgbClr val="E5E0D8"/>
            </a:solidFill>
            <a:prstDash val="solid"/>
          </a:ln>
        </p:spPr>
      </p:sp>
      <p:sp>
        <p:nvSpPr>
          <p:cNvPr id="9" name="Text 7"/>
          <p:cNvSpPr/>
          <p:nvPr/>
        </p:nvSpPr>
        <p:spPr>
          <a:xfrm>
            <a:off x="822960" y="1371600"/>
            <a:ext cx="2286000" cy="411480"/>
          </a:xfrm>
          <a:prstGeom prst="rect">
            <a:avLst/>
          </a:prstGeom>
          <a:noFill/>
          <a:ln/>
        </p:spPr>
        <p:txBody>
          <a:bodyPr wrap="square" rtlCol="0" anchor="ctr"/>
          <a:lstStyle/>
          <a:p>
            <a:pPr algn="ctr" indent="0" marL="0">
              <a:buNone/>
            </a:pPr>
            <a:r>
              <a:rPr lang="en-US" sz="950" b="1" dirty="0">
                <a:solidFill>
                  <a:srgbClr val="1B4332"/>
                </a:solidFill>
                <a:latin typeface="Montserrat" pitchFamily="34" charset="0"/>
                <a:ea typeface="Montserrat" pitchFamily="34" charset="-122"/>
                <a:cs typeface="Montserrat" pitchFamily="34" charset="-120"/>
              </a:rPr>
              <a:t>TIER 1: Mobile UI (Flutter)</a:t>
            </a:r>
            <a:endParaRPr lang="en-US" sz="950" dirty="0"/>
          </a:p>
        </p:txBody>
      </p:sp>
      <p:sp>
        <p:nvSpPr>
          <p:cNvPr id="10" name="Text 8"/>
          <p:cNvSpPr/>
          <p:nvPr/>
        </p:nvSpPr>
        <p:spPr>
          <a:xfrm>
            <a:off x="868680" y="1874520"/>
            <a:ext cx="2194560" cy="640080"/>
          </a:xfrm>
          <a:prstGeom prst="rect">
            <a:avLst/>
          </a:prstGeom>
          <a:noFill/>
          <a:ln/>
        </p:spPr>
        <p:txBody>
          <a:bodyPr wrap="square" rtlCol="0" anchor="ctr"/>
          <a:lstStyle/>
          <a:p>
            <a:pPr indent="0" marL="0">
              <a:buNone/>
            </a:pPr>
            <a:r>
              <a:rPr lang="en-US" sz="950" dirty="0">
                <a:solidFill>
                  <a:srgbClr val="5A5A54"/>
                </a:solidFill>
                <a:latin typeface="Inter" pitchFamily="34" charset="0"/>
                <a:ea typeface="Inter" pitchFamily="34" charset="-122"/>
                <a:cs typeface="Inter" pitchFamily="34" charset="-120"/>
              </a:rPr>
              <a:t>Client Dashboard, Item Setup, Waste Alerts, Closing Stock Check-In.</a:t>
            </a:r>
            <a:endParaRPr lang="en-US" sz="950" dirty="0"/>
          </a:p>
        </p:txBody>
      </p:sp>
      <p:sp>
        <p:nvSpPr>
          <p:cNvPr id="11" name="Shape 9"/>
          <p:cNvSpPr/>
          <p:nvPr/>
        </p:nvSpPr>
        <p:spPr>
          <a:xfrm>
            <a:off x="914400" y="2606040"/>
            <a:ext cx="2103120" cy="0"/>
          </a:xfrm>
          <a:prstGeom prst="line">
            <a:avLst/>
          </a:prstGeom>
          <a:noFill/>
          <a:ln w="12700">
            <a:solidFill>
              <a:srgbClr val="E5E0D8"/>
            </a:solidFill>
            <a:prstDash val="solid"/>
          </a:ln>
        </p:spPr>
      </p:sp>
      <p:sp>
        <p:nvSpPr>
          <p:cNvPr id="12" name="Text 10"/>
          <p:cNvSpPr/>
          <p:nvPr/>
        </p:nvSpPr>
        <p:spPr>
          <a:xfrm>
            <a:off x="868680" y="2697480"/>
            <a:ext cx="2194560" cy="228600"/>
          </a:xfrm>
          <a:prstGeom prst="rect">
            <a:avLst/>
          </a:prstGeom>
          <a:noFill/>
          <a:ln/>
        </p:spPr>
        <p:txBody>
          <a:bodyPr wrap="square" rtlCol="0" anchor="ctr"/>
          <a:lstStyle/>
          <a:p>
            <a:pPr indent="0" marL="0">
              <a:buNone/>
            </a:pPr>
            <a:r>
              <a:rPr lang="en-US" sz="850" b="1" dirty="0">
                <a:solidFill>
                  <a:srgbClr val="FFB702"/>
                </a:solidFill>
                <a:latin typeface="Montserrat" pitchFamily="34" charset="0"/>
                <a:ea typeface="Montserrat" pitchFamily="34" charset="-122"/>
                <a:cs typeface="Montserrat" pitchFamily="34" charset="-120"/>
              </a:rPr>
              <a:t>TEST COVERAGE APPLIED:</a:t>
            </a:r>
            <a:endParaRPr lang="en-US" sz="850" dirty="0"/>
          </a:p>
        </p:txBody>
      </p:sp>
      <p:sp>
        <p:nvSpPr>
          <p:cNvPr id="13" name="Text 11"/>
          <p:cNvSpPr/>
          <p:nvPr/>
        </p:nvSpPr>
        <p:spPr>
          <a:xfrm>
            <a:off x="868680" y="2971800"/>
            <a:ext cx="2194560" cy="1554480"/>
          </a:xfrm>
          <a:prstGeom prst="rect">
            <a:avLst/>
          </a:prstGeom>
          <a:noFill/>
          <a:ln/>
        </p:spPr>
        <p:txBody>
          <a:bodyPr wrap="square" rtlCol="0" anchor="ctr"/>
          <a:lstStyle/>
          <a:p>
            <a:pPr indent="0" marL="0">
              <a:buNone/>
            </a:pPr>
            <a:r>
              <a:rPr lang="en-US" sz="950" dirty="0">
                <a:solidFill>
                  <a:srgbClr val="1C1C19"/>
                </a:solidFill>
                <a:latin typeface="Inter" pitchFamily="34" charset="0"/>
                <a:ea typeface="Inter" pitchFamily="34" charset="-122"/>
                <a:cs typeface="Inter" pitchFamily="34" charset="-120"/>
              </a:rPr>
              <a:t>• 21 Unit Tests (Models &amp; CRUD)</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18 Widget Tests (UI Controls)</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5 Integration Tests (Sync)</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1 Physical Device Walkthrough</a:t>
            </a:r>
            <a:endParaRPr lang="en-US" sz="950" dirty="0"/>
          </a:p>
        </p:txBody>
      </p:sp>
      <p:sp>
        <p:nvSpPr>
          <p:cNvPr id="14" name="Shape 12"/>
          <p:cNvSpPr/>
          <p:nvPr/>
        </p:nvSpPr>
        <p:spPr>
          <a:xfrm>
            <a:off x="868680" y="4572000"/>
            <a:ext cx="2194560" cy="292608"/>
          </a:xfrm>
          <a:prstGeom prst="rect">
            <a:avLst>
              <a:gd name="adj" fmla="val 18750"/>
            </a:avLst>
          </a:prstGeom>
          <a:solidFill>
            <a:srgbClr val="FCF9F4"/>
          </a:solidFill>
          <a:ln w="10160">
            <a:solidFill>
              <a:srgbClr val="D8D2C6"/>
            </a:solidFill>
            <a:prstDash val="solid"/>
          </a:ln>
        </p:spPr>
      </p:sp>
      <p:sp>
        <p:nvSpPr>
          <p:cNvPr id="15" name="Text 13"/>
          <p:cNvSpPr/>
          <p:nvPr/>
        </p:nvSpPr>
        <p:spPr>
          <a:xfrm>
            <a:off x="868680" y="4572000"/>
            <a:ext cx="2194560" cy="292608"/>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 Widget / Integration</a:t>
            </a:r>
            <a:endParaRPr lang="en-US" sz="850" dirty="0"/>
          </a:p>
        </p:txBody>
      </p:sp>
      <p:sp>
        <p:nvSpPr>
          <p:cNvPr id="16" name="Shape 14"/>
          <p:cNvSpPr/>
          <p:nvPr/>
        </p:nvSpPr>
        <p:spPr>
          <a:xfrm>
            <a:off x="3474720" y="1371600"/>
            <a:ext cx="2468880" cy="3611880"/>
          </a:xfrm>
          <a:prstGeom prst="rect">
            <a:avLst>
              <a:gd name="adj" fmla="val 4444"/>
            </a:avLst>
          </a:prstGeom>
          <a:solidFill>
            <a:srgbClr val="FFFFFF"/>
          </a:solidFill>
          <a:ln w="19050">
            <a:solidFill>
              <a:srgbClr val="E5E0D8"/>
            </a:solidFill>
            <a:prstDash val="solid"/>
          </a:ln>
        </p:spPr>
      </p:sp>
      <p:sp>
        <p:nvSpPr>
          <p:cNvPr id="17" name="Shape 15"/>
          <p:cNvSpPr/>
          <p:nvPr/>
        </p:nvSpPr>
        <p:spPr>
          <a:xfrm>
            <a:off x="3474720" y="1371600"/>
            <a:ext cx="2468880" cy="411480"/>
          </a:xfrm>
          <a:prstGeom prst="rect">
            <a:avLst/>
          </a:prstGeom>
          <a:solidFill>
            <a:srgbClr val="EAE5DC"/>
          </a:solidFill>
          <a:ln w="12700">
            <a:solidFill>
              <a:srgbClr val="E5E0D8"/>
            </a:solidFill>
            <a:prstDash val="solid"/>
          </a:ln>
        </p:spPr>
      </p:sp>
      <p:sp>
        <p:nvSpPr>
          <p:cNvPr id="18" name="Text 16"/>
          <p:cNvSpPr/>
          <p:nvPr/>
        </p:nvSpPr>
        <p:spPr>
          <a:xfrm>
            <a:off x="3566160" y="1371600"/>
            <a:ext cx="2286000" cy="411480"/>
          </a:xfrm>
          <a:prstGeom prst="rect">
            <a:avLst/>
          </a:prstGeom>
          <a:noFill/>
          <a:ln/>
        </p:spPr>
        <p:txBody>
          <a:bodyPr wrap="square" rtlCol="0" anchor="ctr"/>
          <a:lstStyle/>
          <a:p>
            <a:pPr algn="ctr" indent="0" marL="0">
              <a:buNone/>
            </a:pPr>
            <a:r>
              <a:rPr lang="en-US" sz="950" b="1" dirty="0">
                <a:solidFill>
                  <a:srgbClr val="1B4332"/>
                </a:solidFill>
                <a:latin typeface="Montserrat" pitchFamily="34" charset="0"/>
                <a:ea typeface="Montserrat" pitchFamily="34" charset="-122"/>
                <a:cs typeface="Montserrat" pitchFamily="34" charset="-120"/>
              </a:rPr>
              <a:t>TIER 2: Gateway (FastAPI)</a:t>
            </a:r>
            <a:endParaRPr lang="en-US" sz="950" dirty="0"/>
          </a:p>
        </p:txBody>
      </p:sp>
      <p:sp>
        <p:nvSpPr>
          <p:cNvPr id="19" name="Text 17"/>
          <p:cNvSpPr/>
          <p:nvPr/>
        </p:nvSpPr>
        <p:spPr>
          <a:xfrm>
            <a:off x="3611880" y="1874520"/>
            <a:ext cx="2194560" cy="640080"/>
          </a:xfrm>
          <a:prstGeom prst="rect">
            <a:avLst/>
          </a:prstGeom>
          <a:noFill/>
          <a:ln/>
        </p:spPr>
        <p:txBody>
          <a:bodyPr wrap="square" rtlCol="0" anchor="ctr"/>
          <a:lstStyle/>
          <a:p>
            <a:pPr indent="0" marL="0">
              <a:buNone/>
            </a:pPr>
            <a:r>
              <a:rPr lang="en-US" sz="950" dirty="0">
                <a:solidFill>
                  <a:srgbClr val="5A5A54"/>
                </a:solidFill>
                <a:latin typeface="Inter" pitchFamily="34" charset="0"/>
                <a:ea typeface="Inter" pitchFamily="34" charset="-122"/>
                <a:cs typeface="Inter" pitchFamily="34" charset="-120"/>
              </a:rPr>
              <a:t>Motor async driver, JWT bearer auth, multi-tenant owner filtering, slowapi.</a:t>
            </a:r>
            <a:endParaRPr lang="en-US" sz="950" dirty="0"/>
          </a:p>
        </p:txBody>
      </p:sp>
      <p:sp>
        <p:nvSpPr>
          <p:cNvPr id="20" name="Shape 18"/>
          <p:cNvSpPr/>
          <p:nvPr/>
        </p:nvSpPr>
        <p:spPr>
          <a:xfrm>
            <a:off x="3657600" y="2606040"/>
            <a:ext cx="2103120" cy="0"/>
          </a:xfrm>
          <a:prstGeom prst="line">
            <a:avLst/>
          </a:prstGeom>
          <a:noFill/>
          <a:ln w="12700">
            <a:solidFill>
              <a:srgbClr val="E5E0D8"/>
            </a:solidFill>
            <a:prstDash val="solid"/>
          </a:ln>
        </p:spPr>
      </p:sp>
      <p:sp>
        <p:nvSpPr>
          <p:cNvPr id="21" name="Text 19"/>
          <p:cNvSpPr/>
          <p:nvPr/>
        </p:nvSpPr>
        <p:spPr>
          <a:xfrm>
            <a:off x="3611880" y="2697480"/>
            <a:ext cx="2194560" cy="228600"/>
          </a:xfrm>
          <a:prstGeom prst="rect">
            <a:avLst/>
          </a:prstGeom>
          <a:noFill/>
          <a:ln/>
        </p:spPr>
        <p:txBody>
          <a:bodyPr wrap="square" rtlCol="0" anchor="ctr"/>
          <a:lstStyle/>
          <a:p>
            <a:pPr indent="0" marL="0">
              <a:buNone/>
            </a:pPr>
            <a:r>
              <a:rPr lang="en-US" sz="850" b="1" dirty="0">
                <a:solidFill>
                  <a:srgbClr val="FFB702"/>
                </a:solidFill>
                <a:latin typeface="Montserrat" pitchFamily="34" charset="0"/>
                <a:ea typeface="Montserrat" pitchFamily="34" charset="-122"/>
                <a:cs typeface="Montserrat" pitchFamily="34" charset="-120"/>
              </a:rPr>
              <a:t>TEST COVERAGE APPLIED:</a:t>
            </a:r>
            <a:endParaRPr lang="en-US" sz="850" dirty="0"/>
          </a:p>
        </p:txBody>
      </p:sp>
      <p:sp>
        <p:nvSpPr>
          <p:cNvPr id="22" name="Text 20"/>
          <p:cNvSpPr/>
          <p:nvPr/>
        </p:nvSpPr>
        <p:spPr>
          <a:xfrm>
            <a:off x="3611880" y="2971800"/>
            <a:ext cx="2194560" cy="1554480"/>
          </a:xfrm>
          <a:prstGeom prst="rect">
            <a:avLst/>
          </a:prstGeom>
          <a:noFill/>
          <a:ln/>
        </p:spPr>
        <p:txBody>
          <a:bodyPr wrap="square" rtlCol="0" anchor="ctr"/>
          <a:lstStyle/>
          <a:p>
            <a:pPr indent="0" marL="0">
              <a:buNone/>
            </a:pPr>
            <a:r>
              <a:rPr lang="en-US" sz="950" dirty="0">
                <a:solidFill>
                  <a:srgbClr val="1C1C19"/>
                </a:solidFill>
                <a:latin typeface="Inter" pitchFamily="34" charset="0"/>
                <a:ea typeface="Inter" pitchFamily="34" charset="-122"/>
                <a:cs typeface="Inter" pitchFamily="34" charset="-120"/>
              </a:rPr>
              <a:t>• 7 Backend Offline Suites</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EP+BVA Query Length Bounds</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Rate Limiter &amp; Spoof Defense</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Multi-Tenant Isolation (10 routes)</a:t>
            </a:r>
            <a:endParaRPr lang="en-US" sz="950" dirty="0"/>
          </a:p>
        </p:txBody>
      </p:sp>
      <p:sp>
        <p:nvSpPr>
          <p:cNvPr id="23" name="Shape 21"/>
          <p:cNvSpPr/>
          <p:nvPr/>
        </p:nvSpPr>
        <p:spPr>
          <a:xfrm>
            <a:off x="3611880" y="4572000"/>
            <a:ext cx="2194560" cy="292608"/>
          </a:xfrm>
          <a:prstGeom prst="rect">
            <a:avLst>
              <a:gd name="adj" fmla="val 18750"/>
            </a:avLst>
          </a:prstGeom>
          <a:solidFill>
            <a:srgbClr val="FCF9F4"/>
          </a:solidFill>
          <a:ln w="10160">
            <a:solidFill>
              <a:srgbClr val="D8D2C6"/>
            </a:solidFill>
            <a:prstDash val="solid"/>
          </a:ln>
        </p:spPr>
      </p:sp>
      <p:sp>
        <p:nvSpPr>
          <p:cNvPr id="24" name="Text 22"/>
          <p:cNvSpPr/>
          <p:nvPr/>
        </p:nvSpPr>
        <p:spPr>
          <a:xfrm>
            <a:off x="3611880" y="4572000"/>
            <a:ext cx="2194560" cy="292608"/>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 Security / Integration</a:t>
            </a:r>
            <a:endParaRPr lang="en-US" sz="850" dirty="0"/>
          </a:p>
        </p:txBody>
      </p:sp>
      <p:sp>
        <p:nvSpPr>
          <p:cNvPr id="25" name="Shape 23"/>
          <p:cNvSpPr/>
          <p:nvPr/>
        </p:nvSpPr>
        <p:spPr>
          <a:xfrm>
            <a:off x="6217920" y="1371600"/>
            <a:ext cx="2468880" cy="3611880"/>
          </a:xfrm>
          <a:prstGeom prst="rect">
            <a:avLst>
              <a:gd name="adj" fmla="val 4444"/>
            </a:avLst>
          </a:prstGeom>
          <a:solidFill>
            <a:srgbClr val="FFFFFF"/>
          </a:solidFill>
          <a:ln w="19050">
            <a:solidFill>
              <a:srgbClr val="E5E0D8"/>
            </a:solidFill>
            <a:prstDash val="solid"/>
          </a:ln>
        </p:spPr>
      </p:sp>
      <p:sp>
        <p:nvSpPr>
          <p:cNvPr id="26" name="Shape 24"/>
          <p:cNvSpPr/>
          <p:nvPr/>
        </p:nvSpPr>
        <p:spPr>
          <a:xfrm>
            <a:off x="6217920" y="1371600"/>
            <a:ext cx="2468880" cy="411480"/>
          </a:xfrm>
          <a:prstGeom prst="rect">
            <a:avLst/>
          </a:prstGeom>
          <a:solidFill>
            <a:srgbClr val="EAE5DC"/>
          </a:solidFill>
          <a:ln w="12700">
            <a:solidFill>
              <a:srgbClr val="E5E0D8"/>
            </a:solidFill>
            <a:prstDash val="solid"/>
          </a:ln>
        </p:spPr>
      </p:sp>
      <p:sp>
        <p:nvSpPr>
          <p:cNvPr id="27" name="Text 25"/>
          <p:cNvSpPr/>
          <p:nvPr/>
        </p:nvSpPr>
        <p:spPr>
          <a:xfrm>
            <a:off x="6309360" y="1371600"/>
            <a:ext cx="2286000" cy="411480"/>
          </a:xfrm>
          <a:prstGeom prst="rect">
            <a:avLst/>
          </a:prstGeom>
          <a:noFill/>
          <a:ln/>
        </p:spPr>
        <p:txBody>
          <a:bodyPr wrap="square" rtlCol="0" anchor="ctr"/>
          <a:lstStyle/>
          <a:p>
            <a:pPr algn="ctr" indent="0" marL="0">
              <a:buNone/>
            </a:pPr>
            <a:r>
              <a:rPr lang="en-US" sz="950" b="1" dirty="0">
                <a:solidFill>
                  <a:srgbClr val="1B4332"/>
                </a:solidFill>
                <a:latin typeface="Montserrat" pitchFamily="34" charset="0"/>
                <a:ea typeface="Montserrat" pitchFamily="34" charset="-122"/>
                <a:cs typeface="Montserrat" pitchFamily="34" charset="-120"/>
              </a:rPr>
              <a:t>TIER 3: Cloud &amp; Persistence</a:t>
            </a:r>
            <a:endParaRPr lang="en-US" sz="950" dirty="0"/>
          </a:p>
        </p:txBody>
      </p:sp>
      <p:sp>
        <p:nvSpPr>
          <p:cNvPr id="28" name="Text 26"/>
          <p:cNvSpPr/>
          <p:nvPr/>
        </p:nvSpPr>
        <p:spPr>
          <a:xfrm>
            <a:off x="6355080" y="1874520"/>
            <a:ext cx="2194560" cy="640080"/>
          </a:xfrm>
          <a:prstGeom prst="rect">
            <a:avLst/>
          </a:prstGeom>
          <a:noFill/>
          <a:ln/>
        </p:spPr>
        <p:txBody>
          <a:bodyPr wrap="square" rtlCol="0" anchor="ctr"/>
          <a:lstStyle/>
          <a:p>
            <a:pPr indent="0" marL="0">
              <a:buNone/>
            </a:pPr>
            <a:r>
              <a:rPr lang="en-US" sz="950" dirty="0">
                <a:solidFill>
                  <a:srgbClr val="5A5A54"/>
                </a:solidFill>
                <a:latin typeface="Inter" pitchFamily="34" charset="0"/>
                <a:ea typeface="Inter" pitchFamily="34" charset="-122"/>
                <a:cs typeface="Inter" pitchFamily="34" charset="-120"/>
              </a:rPr>
              <a:t>MongoDB Atlas cluster, Render Docker container, keepalive cron.</a:t>
            </a:r>
            <a:endParaRPr lang="en-US" sz="950" dirty="0"/>
          </a:p>
        </p:txBody>
      </p:sp>
      <p:sp>
        <p:nvSpPr>
          <p:cNvPr id="29" name="Shape 27"/>
          <p:cNvSpPr/>
          <p:nvPr/>
        </p:nvSpPr>
        <p:spPr>
          <a:xfrm>
            <a:off x="6400800" y="2606040"/>
            <a:ext cx="2103120" cy="0"/>
          </a:xfrm>
          <a:prstGeom prst="line">
            <a:avLst/>
          </a:prstGeom>
          <a:noFill/>
          <a:ln w="12700">
            <a:solidFill>
              <a:srgbClr val="E5E0D8"/>
            </a:solidFill>
            <a:prstDash val="solid"/>
          </a:ln>
        </p:spPr>
      </p:sp>
      <p:sp>
        <p:nvSpPr>
          <p:cNvPr id="30" name="Text 28"/>
          <p:cNvSpPr/>
          <p:nvPr/>
        </p:nvSpPr>
        <p:spPr>
          <a:xfrm>
            <a:off x="6355080" y="2697480"/>
            <a:ext cx="2194560" cy="228600"/>
          </a:xfrm>
          <a:prstGeom prst="rect">
            <a:avLst/>
          </a:prstGeom>
          <a:noFill/>
          <a:ln/>
        </p:spPr>
        <p:txBody>
          <a:bodyPr wrap="square" rtlCol="0" anchor="ctr"/>
          <a:lstStyle/>
          <a:p>
            <a:pPr indent="0" marL="0">
              <a:buNone/>
            </a:pPr>
            <a:r>
              <a:rPr lang="en-US" sz="850" b="1" dirty="0">
                <a:solidFill>
                  <a:srgbClr val="FFB702"/>
                </a:solidFill>
                <a:latin typeface="Montserrat" pitchFamily="34" charset="0"/>
                <a:ea typeface="Montserrat" pitchFamily="34" charset="-122"/>
                <a:cs typeface="Montserrat" pitchFamily="34" charset="-120"/>
              </a:rPr>
              <a:t>TEST COVERAGE APPLIED:</a:t>
            </a:r>
            <a:endParaRPr lang="en-US" sz="850" dirty="0"/>
          </a:p>
        </p:txBody>
      </p:sp>
      <p:sp>
        <p:nvSpPr>
          <p:cNvPr id="31" name="Text 29"/>
          <p:cNvSpPr/>
          <p:nvPr/>
        </p:nvSpPr>
        <p:spPr>
          <a:xfrm>
            <a:off x="6355080" y="2971800"/>
            <a:ext cx="2194560" cy="1554480"/>
          </a:xfrm>
          <a:prstGeom prst="rect">
            <a:avLst/>
          </a:prstGeom>
          <a:noFill/>
          <a:ln/>
        </p:spPr>
        <p:txBody>
          <a:bodyPr wrap="square" rtlCol="0" anchor="ctr"/>
          <a:lstStyle/>
          <a:p>
            <a:pPr indent="0" marL="0">
              <a:buNone/>
            </a:pPr>
            <a:r>
              <a:rPr lang="en-US" sz="950" dirty="0">
                <a:solidFill>
                  <a:srgbClr val="1C1C19"/>
                </a:solidFill>
                <a:latin typeface="Inter" pitchFamily="34" charset="0"/>
                <a:ea typeface="Inter" pitchFamily="34" charset="-122"/>
                <a:cs typeface="Inter" pitchFamily="34" charset="-120"/>
              </a:rPr>
              <a:t>• 9-Step E2E Lifecycle Flow</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Render /health Keepalive</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Atlas Network Connection Ping</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Demo User Seeding Guard</a:t>
            </a:r>
            <a:endParaRPr lang="en-US" sz="950" dirty="0"/>
          </a:p>
        </p:txBody>
      </p:sp>
      <p:sp>
        <p:nvSpPr>
          <p:cNvPr id="32" name="Shape 30"/>
          <p:cNvSpPr/>
          <p:nvPr/>
        </p:nvSpPr>
        <p:spPr>
          <a:xfrm>
            <a:off x="6355080" y="4572000"/>
            <a:ext cx="2194560" cy="292608"/>
          </a:xfrm>
          <a:prstGeom prst="rect">
            <a:avLst>
              <a:gd name="adj" fmla="val 18750"/>
            </a:avLst>
          </a:prstGeom>
          <a:solidFill>
            <a:srgbClr val="FCF9F4"/>
          </a:solidFill>
          <a:ln w="10160">
            <a:solidFill>
              <a:srgbClr val="D8D2C6"/>
            </a:solidFill>
            <a:prstDash val="solid"/>
          </a:ln>
        </p:spPr>
      </p:sp>
      <p:sp>
        <p:nvSpPr>
          <p:cNvPr id="33" name="Text 31"/>
          <p:cNvSpPr/>
          <p:nvPr/>
        </p:nvSpPr>
        <p:spPr>
          <a:xfrm>
            <a:off x="6355080" y="4572000"/>
            <a:ext cx="2194560" cy="292608"/>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System / Infrastructure</a:t>
            </a:r>
            <a:endParaRPr lang="en-US" sz="850" dirty="0"/>
          </a:p>
        </p:txBody>
      </p:sp>
      <p:sp>
        <p:nvSpPr>
          <p:cNvPr id="34" name="Shape 32"/>
          <p:cNvSpPr/>
          <p:nvPr/>
        </p:nvSpPr>
        <p:spPr>
          <a:xfrm>
            <a:off x="8961120" y="1371600"/>
            <a:ext cx="2468880" cy="3611880"/>
          </a:xfrm>
          <a:prstGeom prst="rect">
            <a:avLst>
              <a:gd name="adj" fmla="val 4444"/>
            </a:avLst>
          </a:prstGeom>
          <a:solidFill>
            <a:srgbClr val="FFFFFF"/>
          </a:solidFill>
          <a:ln w="19050">
            <a:solidFill>
              <a:srgbClr val="E5E0D8"/>
            </a:solidFill>
            <a:prstDash val="solid"/>
          </a:ln>
        </p:spPr>
      </p:sp>
      <p:sp>
        <p:nvSpPr>
          <p:cNvPr id="35" name="Shape 33"/>
          <p:cNvSpPr/>
          <p:nvPr/>
        </p:nvSpPr>
        <p:spPr>
          <a:xfrm>
            <a:off x="8961120" y="1371600"/>
            <a:ext cx="2468880" cy="411480"/>
          </a:xfrm>
          <a:prstGeom prst="rect">
            <a:avLst/>
          </a:prstGeom>
          <a:solidFill>
            <a:srgbClr val="EAE5DC"/>
          </a:solidFill>
          <a:ln w="12700">
            <a:solidFill>
              <a:srgbClr val="E5E0D8"/>
            </a:solidFill>
            <a:prstDash val="solid"/>
          </a:ln>
        </p:spPr>
      </p:sp>
      <p:sp>
        <p:nvSpPr>
          <p:cNvPr id="36" name="Text 34"/>
          <p:cNvSpPr/>
          <p:nvPr/>
        </p:nvSpPr>
        <p:spPr>
          <a:xfrm>
            <a:off x="9052560" y="1371600"/>
            <a:ext cx="2286000" cy="411480"/>
          </a:xfrm>
          <a:prstGeom prst="rect">
            <a:avLst/>
          </a:prstGeom>
          <a:noFill/>
          <a:ln/>
        </p:spPr>
        <p:txBody>
          <a:bodyPr wrap="square" rtlCol="0" anchor="ctr"/>
          <a:lstStyle/>
          <a:p>
            <a:pPr algn="ctr" indent="0" marL="0">
              <a:buNone/>
            </a:pPr>
            <a:r>
              <a:rPr lang="en-US" sz="950" b="1" dirty="0">
                <a:solidFill>
                  <a:srgbClr val="1B4332"/>
                </a:solidFill>
                <a:latin typeface="Montserrat" pitchFamily="34" charset="0"/>
                <a:ea typeface="Montserrat" pitchFamily="34" charset="-122"/>
                <a:cs typeface="Montserrat" pitchFamily="34" charset="-120"/>
              </a:rPr>
              <a:t>TIER 4: Intelligence &amp; ML</a:t>
            </a:r>
            <a:endParaRPr lang="en-US" sz="950" dirty="0"/>
          </a:p>
        </p:txBody>
      </p:sp>
      <p:sp>
        <p:nvSpPr>
          <p:cNvPr id="37" name="Text 35"/>
          <p:cNvSpPr/>
          <p:nvPr/>
        </p:nvSpPr>
        <p:spPr>
          <a:xfrm>
            <a:off x="9098280" y="1874520"/>
            <a:ext cx="2194560" cy="640080"/>
          </a:xfrm>
          <a:prstGeom prst="rect">
            <a:avLst/>
          </a:prstGeom>
          <a:noFill/>
          <a:ln/>
        </p:spPr>
        <p:txBody>
          <a:bodyPr wrap="square" rtlCol="0" anchor="ctr"/>
          <a:lstStyle/>
          <a:p>
            <a:pPr indent="0" marL="0">
              <a:buNone/>
            </a:pPr>
            <a:r>
              <a:rPr lang="en-US" sz="950" dirty="0">
                <a:solidFill>
                  <a:srgbClr val="5A5A54"/>
                </a:solidFill>
                <a:latin typeface="Inter" pitchFamily="34" charset="0"/>
                <a:ea typeface="Inter" pitchFamily="34" charset="-122"/>
                <a:cs typeface="Inter" pitchFamily="34" charset="-120"/>
              </a:rPr>
              <a:t>Nightly batch Prophet+GBDT, TSB intermittent prior, Gemini LLM.</a:t>
            </a:r>
            <a:endParaRPr lang="en-US" sz="950" dirty="0"/>
          </a:p>
        </p:txBody>
      </p:sp>
      <p:sp>
        <p:nvSpPr>
          <p:cNvPr id="38" name="Shape 36"/>
          <p:cNvSpPr/>
          <p:nvPr/>
        </p:nvSpPr>
        <p:spPr>
          <a:xfrm>
            <a:off x="9144000" y="2606040"/>
            <a:ext cx="2103120" cy="0"/>
          </a:xfrm>
          <a:prstGeom prst="line">
            <a:avLst/>
          </a:prstGeom>
          <a:noFill/>
          <a:ln w="12700">
            <a:solidFill>
              <a:srgbClr val="E5E0D8"/>
            </a:solidFill>
            <a:prstDash val="solid"/>
          </a:ln>
        </p:spPr>
      </p:sp>
      <p:sp>
        <p:nvSpPr>
          <p:cNvPr id="39" name="Text 37"/>
          <p:cNvSpPr/>
          <p:nvPr/>
        </p:nvSpPr>
        <p:spPr>
          <a:xfrm>
            <a:off x="9098280" y="2697480"/>
            <a:ext cx="2194560" cy="228600"/>
          </a:xfrm>
          <a:prstGeom prst="rect">
            <a:avLst/>
          </a:prstGeom>
          <a:noFill/>
          <a:ln/>
        </p:spPr>
        <p:txBody>
          <a:bodyPr wrap="square" rtlCol="0" anchor="ctr"/>
          <a:lstStyle/>
          <a:p>
            <a:pPr indent="0" marL="0">
              <a:buNone/>
            </a:pPr>
            <a:r>
              <a:rPr lang="en-US" sz="850" b="1" dirty="0">
                <a:solidFill>
                  <a:srgbClr val="FFB702"/>
                </a:solidFill>
                <a:latin typeface="Montserrat" pitchFamily="34" charset="0"/>
                <a:ea typeface="Montserrat" pitchFamily="34" charset="-122"/>
                <a:cs typeface="Montserrat" pitchFamily="34" charset="-120"/>
              </a:rPr>
              <a:t>TEST COVERAGE APPLIED:</a:t>
            </a:r>
            <a:endParaRPr lang="en-US" sz="850" dirty="0"/>
          </a:p>
        </p:txBody>
      </p:sp>
      <p:sp>
        <p:nvSpPr>
          <p:cNvPr id="40" name="Text 38"/>
          <p:cNvSpPr/>
          <p:nvPr/>
        </p:nvSpPr>
        <p:spPr>
          <a:xfrm>
            <a:off x="9098280" y="2971800"/>
            <a:ext cx="2194560" cy="1554480"/>
          </a:xfrm>
          <a:prstGeom prst="rect">
            <a:avLst/>
          </a:prstGeom>
          <a:noFill/>
          <a:ln/>
        </p:spPr>
        <p:txBody>
          <a:bodyPr wrap="square" rtlCol="0" anchor="ctr"/>
          <a:lstStyle/>
          <a:p>
            <a:pPr indent="0" marL="0">
              <a:buNone/>
            </a:pPr>
            <a:r>
              <a:rPr lang="en-US" sz="950" dirty="0">
                <a:solidFill>
                  <a:srgbClr val="1C1C19"/>
                </a:solidFill>
                <a:latin typeface="Inter" pitchFamily="34" charset="0"/>
                <a:ea typeface="Inter" pitchFamily="34" charset="-122"/>
                <a:cs typeface="Inter" pitchFamily="34" charset="-120"/>
              </a:rPr>
              <a:t>• 6-Fold Rolling Backtest</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Temporal Leakage Audit</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Zero-Math LLM Truth Audit</a:t>
            </a:r>
            <a:endParaRPr lang="en-US" sz="950" dirty="0"/>
          </a:p>
          <a:p>
            <a:pPr indent="0" marL="0">
              <a:buNone/>
            </a:pPr>
            <a:r>
              <a:rPr lang="en-US" sz="950" dirty="0">
                <a:solidFill>
                  <a:srgbClr val="1C1C19"/>
                </a:solidFill>
                <a:latin typeface="Inter" pitchFamily="34" charset="0"/>
                <a:ea typeface="Inter" pitchFamily="34" charset="-122"/>
                <a:cs typeface="Inter" pitchFamily="34" charset="-120"/>
              </a:rPr>
              <a:t>• 90-Day Inventory Simulation</a:t>
            </a:r>
            <a:endParaRPr lang="en-US" sz="950" dirty="0"/>
          </a:p>
        </p:txBody>
      </p:sp>
      <p:sp>
        <p:nvSpPr>
          <p:cNvPr id="41" name="Shape 39"/>
          <p:cNvSpPr/>
          <p:nvPr/>
        </p:nvSpPr>
        <p:spPr>
          <a:xfrm>
            <a:off x="9098280" y="4572000"/>
            <a:ext cx="2194560" cy="292608"/>
          </a:xfrm>
          <a:prstGeom prst="rect">
            <a:avLst>
              <a:gd name="adj" fmla="val 18750"/>
            </a:avLst>
          </a:prstGeom>
          <a:solidFill>
            <a:srgbClr val="FCF9F4"/>
          </a:solidFill>
          <a:ln w="10160">
            <a:solidFill>
              <a:srgbClr val="D8D2C6"/>
            </a:solidFill>
            <a:prstDash val="solid"/>
          </a:ln>
        </p:spPr>
      </p:sp>
      <p:sp>
        <p:nvSpPr>
          <p:cNvPr id="42" name="Text 40"/>
          <p:cNvSpPr/>
          <p:nvPr/>
        </p:nvSpPr>
        <p:spPr>
          <a:xfrm>
            <a:off x="9098280" y="4572000"/>
            <a:ext cx="2194560" cy="292608"/>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Empirical / Data Integrity</a:t>
            </a:r>
            <a:endParaRPr lang="en-US" sz="850" dirty="0"/>
          </a:p>
        </p:txBody>
      </p:sp>
      <p:sp>
        <p:nvSpPr>
          <p:cNvPr id="43" name="Text 41"/>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Decoupled Multi-Tier SUT: The Flutter mobile client acts as a zero-math presentation layer connected via REST to a FastAPI microservice, reading pre-computed batch forecasts while delegating text summaries to Gemini 2.5 Flash.</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Verification Surface Boundaries: Automated test suites isolate pure algorithms via unit tests, cross-provider synchronization via integration tests, and cloud API contracts via end-to-end multi-tenant isolation runs.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Data Integrity Criticality: Inventory restock quantities, safety stock multipliers, and pricing markdowns require strict mathematical guarantees to prevent kitchen stockouts and retailer revenue loss.</a:t>
            </a:r>
            <a:endParaRPr lang="en-US" sz="1150" dirty="0"/>
          </a:p>
        </p:txBody>
      </p:sp>
      <p:sp>
        <p:nvSpPr>
          <p:cNvPr id="44" name="Text 42"/>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Architectural blueprint in docs/architecture/Overall_Architecture_Plan.md; Backend routes in Backend/main.py.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1: FUNDAMENTALS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3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Testing Strategy: V-Model Traceability &amp; Test Pyramid</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66928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5303520" cy="256032"/>
          </a:xfrm>
          <a:prstGeom prst="rect">
            <a:avLst/>
          </a:prstGeom>
          <a:noFill/>
          <a:ln/>
        </p:spPr>
        <p:txBody>
          <a:bodyPr wrap="square" rtlCol="0" anchor="ctr"/>
          <a:lstStyle/>
          <a:p>
            <a:pPr indent="0" marL="0">
              <a:buNone/>
            </a:pPr>
            <a:r>
              <a:rPr lang="en-US" sz="1000" b="1" dirty="0">
                <a:solidFill>
                  <a:srgbClr val="1B4332"/>
                </a:solidFill>
                <a:latin typeface="Montserrat" pitchFamily="34" charset="0"/>
                <a:ea typeface="Montserrat" pitchFamily="34" charset="-122"/>
                <a:cs typeface="Montserrat" pitchFamily="34" charset="-120"/>
              </a:rPr>
              <a:t>V-MODEL SPECIFICATION &amp; VERIFICATION TRACEABILITY</a:t>
            </a:r>
            <a:endParaRPr lang="en-US" sz="1000" dirty="0"/>
          </a:p>
        </p:txBody>
      </p:sp>
      <p:sp>
        <p:nvSpPr>
          <p:cNvPr id="9" name="Shape 7"/>
          <p:cNvSpPr/>
          <p:nvPr/>
        </p:nvSpPr>
        <p:spPr>
          <a:xfrm>
            <a:off x="914400" y="1874520"/>
            <a:ext cx="2423160" cy="420624"/>
          </a:xfrm>
          <a:prstGeom prst="rect">
            <a:avLst>
              <a:gd name="adj" fmla="val 10870"/>
            </a:avLst>
          </a:prstGeom>
          <a:solidFill>
            <a:srgbClr val="EAE5DC"/>
          </a:solidFill>
          <a:ln w="10160">
            <a:solidFill>
              <a:srgbClr val="D8D2C6"/>
            </a:solidFill>
            <a:prstDash val="solid"/>
          </a:ln>
        </p:spPr>
      </p:sp>
      <p:sp>
        <p:nvSpPr>
          <p:cNvPr id="10" name="Text 8"/>
          <p:cNvSpPr/>
          <p:nvPr/>
        </p:nvSpPr>
        <p:spPr>
          <a:xfrm>
            <a:off x="960120" y="1874520"/>
            <a:ext cx="2331720" cy="420624"/>
          </a:xfrm>
          <a:prstGeom prst="rect">
            <a:avLst/>
          </a:prstGeom>
          <a:noFill/>
          <a:ln/>
        </p:spPr>
        <p:txBody>
          <a:bodyPr wrap="square" rtlCol="0" anchor="ctr"/>
          <a:lstStyle/>
          <a:p>
            <a:pPr indent="0" marL="0">
              <a:buNone/>
            </a:pPr>
            <a:r>
              <a:rPr lang="en-US" sz="850" dirty="0">
                <a:solidFill>
                  <a:srgbClr val="1B4332"/>
                </a:solidFill>
                <a:latin typeface="Inter" pitchFamily="34" charset="0"/>
                <a:ea typeface="Inter" pitchFamily="34" charset="-122"/>
                <a:cs typeface="Inter" pitchFamily="34" charset="-120"/>
              </a:rPr>
              <a:t>Business Goals (Waste &amp; Stockout Mitigation)</a:t>
            </a:r>
            <a:endParaRPr lang="en-US" sz="850" dirty="0"/>
          </a:p>
        </p:txBody>
      </p:sp>
      <p:sp>
        <p:nvSpPr>
          <p:cNvPr id="11" name="Text 9"/>
          <p:cNvSpPr/>
          <p:nvPr/>
        </p:nvSpPr>
        <p:spPr>
          <a:xfrm>
            <a:off x="3383280" y="1874520"/>
            <a:ext cx="320040" cy="420624"/>
          </a:xfrm>
          <a:prstGeom prst="rect">
            <a:avLst/>
          </a:prstGeom>
          <a:noFill/>
          <a:ln/>
        </p:spPr>
        <p:txBody>
          <a:bodyPr wrap="square" rtlCol="0" anchor="ctr"/>
          <a:lstStyle/>
          <a:p>
            <a:pPr algn="ctr" indent="0" marL="0">
              <a:buNone/>
            </a:pPr>
            <a:r>
              <a:rPr lang="en-US" sz="1100" b="1" dirty="0">
                <a:solidFill>
                  <a:srgbClr val="FFB702"/>
                </a:solidFill>
                <a:latin typeface="Montserrat" pitchFamily="34" charset="0"/>
                <a:ea typeface="Montserrat" pitchFamily="34" charset="-122"/>
                <a:cs typeface="Montserrat" pitchFamily="34" charset="-120"/>
              </a:rPr>
              <a:t>⟷</a:t>
            </a:r>
            <a:endParaRPr lang="en-US" sz="1100" dirty="0"/>
          </a:p>
        </p:txBody>
      </p:sp>
      <p:sp>
        <p:nvSpPr>
          <p:cNvPr id="12" name="Shape 10"/>
          <p:cNvSpPr/>
          <p:nvPr/>
        </p:nvSpPr>
        <p:spPr>
          <a:xfrm>
            <a:off x="3749040" y="1874520"/>
            <a:ext cx="2468880" cy="420624"/>
          </a:xfrm>
          <a:prstGeom prst="rect">
            <a:avLst>
              <a:gd name="adj" fmla="val 10870"/>
            </a:avLst>
          </a:prstGeom>
          <a:solidFill>
            <a:srgbClr val="FCF9F4"/>
          </a:solidFill>
          <a:ln w="10160">
            <a:solidFill>
              <a:srgbClr val="D8D2C6"/>
            </a:solidFill>
            <a:prstDash val="solid"/>
          </a:ln>
        </p:spPr>
      </p:sp>
      <p:sp>
        <p:nvSpPr>
          <p:cNvPr id="13" name="Text 11"/>
          <p:cNvSpPr/>
          <p:nvPr/>
        </p:nvSpPr>
        <p:spPr>
          <a:xfrm>
            <a:off x="3794760" y="1874520"/>
            <a:ext cx="2377440" cy="420624"/>
          </a:xfrm>
          <a:prstGeom prst="rect">
            <a:avLst/>
          </a:prstGeom>
          <a:noFill/>
          <a:ln/>
        </p:spPr>
        <p:txBody>
          <a:bodyPr wrap="square" rtlCol="0" anchor="ctr"/>
          <a:lstStyle/>
          <a:p>
            <a:pPr indent="0" marL="0">
              <a:buNone/>
            </a:pPr>
            <a:r>
              <a:rPr lang="en-US" sz="850" dirty="0">
                <a:solidFill>
                  <a:srgbClr val="1C1C19"/>
                </a:solidFill>
                <a:latin typeface="Inter" pitchFamily="34" charset="0"/>
                <a:ea typeface="Inter" pitchFamily="34" charset="-122"/>
                <a:cs typeface="Inter" pitchFamily="34" charset="-120"/>
              </a:rPr>
              <a:t>Physical Android Walkthrough &amp; 90-Day Simulation</a:t>
            </a:r>
            <a:endParaRPr lang="en-US" sz="850" dirty="0"/>
          </a:p>
        </p:txBody>
      </p:sp>
      <p:sp>
        <p:nvSpPr>
          <p:cNvPr id="14" name="Shape 12"/>
          <p:cNvSpPr/>
          <p:nvPr/>
        </p:nvSpPr>
        <p:spPr>
          <a:xfrm>
            <a:off x="914400" y="2423160"/>
            <a:ext cx="2423160" cy="420624"/>
          </a:xfrm>
          <a:prstGeom prst="rect">
            <a:avLst>
              <a:gd name="adj" fmla="val 10870"/>
            </a:avLst>
          </a:prstGeom>
          <a:solidFill>
            <a:srgbClr val="EAE5DC"/>
          </a:solidFill>
          <a:ln w="10160">
            <a:solidFill>
              <a:srgbClr val="D8D2C6"/>
            </a:solidFill>
            <a:prstDash val="solid"/>
          </a:ln>
        </p:spPr>
      </p:sp>
      <p:sp>
        <p:nvSpPr>
          <p:cNvPr id="15" name="Text 13"/>
          <p:cNvSpPr/>
          <p:nvPr/>
        </p:nvSpPr>
        <p:spPr>
          <a:xfrm>
            <a:off x="960120" y="2423160"/>
            <a:ext cx="2331720" cy="420624"/>
          </a:xfrm>
          <a:prstGeom prst="rect">
            <a:avLst/>
          </a:prstGeom>
          <a:noFill/>
          <a:ln/>
        </p:spPr>
        <p:txBody>
          <a:bodyPr wrap="square" rtlCol="0" anchor="ctr"/>
          <a:lstStyle/>
          <a:p>
            <a:pPr indent="0" marL="0">
              <a:buNone/>
            </a:pPr>
            <a:r>
              <a:rPr lang="en-US" sz="850" dirty="0">
                <a:solidFill>
                  <a:srgbClr val="1B4332"/>
                </a:solidFill>
                <a:latin typeface="Inter" pitchFamily="34" charset="0"/>
                <a:ea typeface="Inter" pitchFamily="34" charset="-122"/>
                <a:cs typeface="Inter" pitchFamily="34" charset="-120"/>
              </a:rPr>
              <a:t>System Architecture (Multi-Tenant Microservice)</a:t>
            </a:r>
            <a:endParaRPr lang="en-US" sz="850" dirty="0"/>
          </a:p>
        </p:txBody>
      </p:sp>
      <p:sp>
        <p:nvSpPr>
          <p:cNvPr id="16" name="Text 14"/>
          <p:cNvSpPr/>
          <p:nvPr/>
        </p:nvSpPr>
        <p:spPr>
          <a:xfrm>
            <a:off x="3383280" y="2423160"/>
            <a:ext cx="320040" cy="420624"/>
          </a:xfrm>
          <a:prstGeom prst="rect">
            <a:avLst/>
          </a:prstGeom>
          <a:noFill/>
          <a:ln/>
        </p:spPr>
        <p:txBody>
          <a:bodyPr wrap="square" rtlCol="0" anchor="ctr"/>
          <a:lstStyle/>
          <a:p>
            <a:pPr algn="ctr" indent="0" marL="0">
              <a:buNone/>
            </a:pPr>
            <a:r>
              <a:rPr lang="en-US" sz="1100" b="1" dirty="0">
                <a:solidFill>
                  <a:srgbClr val="FFB702"/>
                </a:solidFill>
                <a:latin typeface="Montserrat" pitchFamily="34" charset="0"/>
                <a:ea typeface="Montserrat" pitchFamily="34" charset="-122"/>
                <a:cs typeface="Montserrat" pitchFamily="34" charset="-120"/>
              </a:rPr>
              <a:t>⟷</a:t>
            </a:r>
            <a:endParaRPr lang="en-US" sz="1100" dirty="0"/>
          </a:p>
        </p:txBody>
      </p:sp>
      <p:sp>
        <p:nvSpPr>
          <p:cNvPr id="17" name="Shape 15"/>
          <p:cNvSpPr/>
          <p:nvPr/>
        </p:nvSpPr>
        <p:spPr>
          <a:xfrm>
            <a:off x="3749040" y="2423160"/>
            <a:ext cx="2468880" cy="420624"/>
          </a:xfrm>
          <a:prstGeom prst="rect">
            <a:avLst>
              <a:gd name="adj" fmla="val 10870"/>
            </a:avLst>
          </a:prstGeom>
          <a:solidFill>
            <a:srgbClr val="FCF9F4"/>
          </a:solidFill>
          <a:ln w="10160">
            <a:solidFill>
              <a:srgbClr val="D8D2C6"/>
            </a:solidFill>
            <a:prstDash val="solid"/>
          </a:ln>
        </p:spPr>
      </p:sp>
      <p:sp>
        <p:nvSpPr>
          <p:cNvPr id="18" name="Text 16"/>
          <p:cNvSpPr/>
          <p:nvPr/>
        </p:nvSpPr>
        <p:spPr>
          <a:xfrm>
            <a:off x="3794760" y="2423160"/>
            <a:ext cx="2377440" cy="420624"/>
          </a:xfrm>
          <a:prstGeom prst="rect">
            <a:avLst/>
          </a:prstGeom>
          <a:noFill/>
          <a:ln/>
        </p:spPr>
        <p:txBody>
          <a:bodyPr wrap="square" rtlCol="0" anchor="ctr"/>
          <a:lstStyle/>
          <a:p>
            <a:pPr indent="0" marL="0">
              <a:buNone/>
            </a:pPr>
            <a:r>
              <a:rPr lang="en-US" sz="850" dirty="0">
                <a:solidFill>
                  <a:srgbClr val="1C1C19"/>
                </a:solidFill>
                <a:latin typeface="Inter" pitchFamily="34" charset="0"/>
                <a:ea typeface="Inter" pitchFamily="34" charset="-122"/>
                <a:cs typeface="Inter" pitchFamily="34" charset="-120"/>
              </a:rPr>
              <a:t>9-Step E2E Lifecycle Flow &amp; Keepalive Pings</a:t>
            </a:r>
            <a:endParaRPr lang="en-US" sz="850" dirty="0"/>
          </a:p>
        </p:txBody>
      </p:sp>
      <p:sp>
        <p:nvSpPr>
          <p:cNvPr id="19" name="Shape 17"/>
          <p:cNvSpPr/>
          <p:nvPr/>
        </p:nvSpPr>
        <p:spPr>
          <a:xfrm>
            <a:off x="914400" y="2971800"/>
            <a:ext cx="2423160" cy="420624"/>
          </a:xfrm>
          <a:prstGeom prst="rect">
            <a:avLst>
              <a:gd name="adj" fmla="val 10870"/>
            </a:avLst>
          </a:prstGeom>
          <a:solidFill>
            <a:srgbClr val="EAE5DC"/>
          </a:solidFill>
          <a:ln w="10160">
            <a:solidFill>
              <a:srgbClr val="D8D2C6"/>
            </a:solidFill>
            <a:prstDash val="solid"/>
          </a:ln>
        </p:spPr>
      </p:sp>
      <p:sp>
        <p:nvSpPr>
          <p:cNvPr id="20" name="Text 18"/>
          <p:cNvSpPr/>
          <p:nvPr/>
        </p:nvSpPr>
        <p:spPr>
          <a:xfrm>
            <a:off x="960120" y="2971800"/>
            <a:ext cx="2331720" cy="420624"/>
          </a:xfrm>
          <a:prstGeom prst="rect">
            <a:avLst/>
          </a:prstGeom>
          <a:noFill/>
          <a:ln/>
        </p:spPr>
        <p:txBody>
          <a:bodyPr wrap="square" rtlCol="0" anchor="ctr"/>
          <a:lstStyle/>
          <a:p>
            <a:pPr indent="0" marL="0">
              <a:buNone/>
            </a:pPr>
            <a:r>
              <a:rPr lang="en-US" sz="850" dirty="0">
                <a:solidFill>
                  <a:srgbClr val="1B4332"/>
                </a:solidFill>
                <a:latin typeface="Inter" pitchFamily="34" charset="0"/>
                <a:ea typeface="Inter" pitchFamily="34" charset="-122"/>
                <a:cs typeface="Inter" pitchFamily="34" charset="-120"/>
              </a:rPr>
              <a:t>Module Design (State Sync &amp; Rate Limiting)</a:t>
            </a:r>
            <a:endParaRPr lang="en-US" sz="850" dirty="0"/>
          </a:p>
        </p:txBody>
      </p:sp>
      <p:sp>
        <p:nvSpPr>
          <p:cNvPr id="21" name="Text 19"/>
          <p:cNvSpPr/>
          <p:nvPr/>
        </p:nvSpPr>
        <p:spPr>
          <a:xfrm>
            <a:off x="3383280" y="2971800"/>
            <a:ext cx="320040" cy="420624"/>
          </a:xfrm>
          <a:prstGeom prst="rect">
            <a:avLst/>
          </a:prstGeom>
          <a:noFill/>
          <a:ln/>
        </p:spPr>
        <p:txBody>
          <a:bodyPr wrap="square" rtlCol="0" anchor="ctr"/>
          <a:lstStyle/>
          <a:p>
            <a:pPr algn="ctr" indent="0" marL="0">
              <a:buNone/>
            </a:pPr>
            <a:r>
              <a:rPr lang="en-US" sz="1100" b="1" dirty="0">
                <a:solidFill>
                  <a:srgbClr val="FFB702"/>
                </a:solidFill>
                <a:latin typeface="Montserrat" pitchFamily="34" charset="0"/>
                <a:ea typeface="Montserrat" pitchFamily="34" charset="-122"/>
                <a:cs typeface="Montserrat" pitchFamily="34" charset="-120"/>
              </a:rPr>
              <a:t>⟷</a:t>
            </a:r>
            <a:endParaRPr lang="en-US" sz="1100" dirty="0"/>
          </a:p>
        </p:txBody>
      </p:sp>
      <p:sp>
        <p:nvSpPr>
          <p:cNvPr id="22" name="Shape 20"/>
          <p:cNvSpPr/>
          <p:nvPr/>
        </p:nvSpPr>
        <p:spPr>
          <a:xfrm>
            <a:off x="3749040" y="2971800"/>
            <a:ext cx="2468880" cy="420624"/>
          </a:xfrm>
          <a:prstGeom prst="rect">
            <a:avLst>
              <a:gd name="adj" fmla="val 10870"/>
            </a:avLst>
          </a:prstGeom>
          <a:solidFill>
            <a:srgbClr val="FCF9F4"/>
          </a:solidFill>
          <a:ln w="10160">
            <a:solidFill>
              <a:srgbClr val="D8D2C6"/>
            </a:solidFill>
            <a:prstDash val="solid"/>
          </a:ln>
        </p:spPr>
      </p:sp>
      <p:sp>
        <p:nvSpPr>
          <p:cNvPr id="23" name="Text 21"/>
          <p:cNvSpPr/>
          <p:nvPr/>
        </p:nvSpPr>
        <p:spPr>
          <a:xfrm>
            <a:off x="3794760" y="2971800"/>
            <a:ext cx="2377440" cy="420624"/>
          </a:xfrm>
          <a:prstGeom prst="rect">
            <a:avLst/>
          </a:prstGeom>
          <a:noFill/>
          <a:ln/>
        </p:spPr>
        <p:txBody>
          <a:bodyPr wrap="square" rtlCol="0" anchor="ctr"/>
          <a:lstStyle/>
          <a:p>
            <a:pPr indent="0" marL="0">
              <a:buNone/>
            </a:pPr>
            <a:r>
              <a:rPr lang="en-US" sz="850" dirty="0">
                <a:solidFill>
                  <a:srgbClr val="1C1C19"/>
                </a:solidFill>
                <a:latin typeface="Inter" pitchFamily="34" charset="0"/>
                <a:ea typeface="Inter" pitchFamily="34" charset="-122"/>
                <a:cs typeface="Inter" pitchFamily="34" charset="-120"/>
              </a:rPr>
              <a:t>Cross-Provider Integration &amp; Spoofing Suites</a:t>
            </a:r>
            <a:endParaRPr lang="en-US" sz="850" dirty="0"/>
          </a:p>
        </p:txBody>
      </p:sp>
      <p:sp>
        <p:nvSpPr>
          <p:cNvPr id="24" name="Shape 22"/>
          <p:cNvSpPr/>
          <p:nvPr/>
        </p:nvSpPr>
        <p:spPr>
          <a:xfrm>
            <a:off x="914400" y="3520440"/>
            <a:ext cx="2423160" cy="420624"/>
          </a:xfrm>
          <a:prstGeom prst="rect">
            <a:avLst>
              <a:gd name="adj" fmla="val 10870"/>
            </a:avLst>
          </a:prstGeom>
          <a:solidFill>
            <a:srgbClr val="EAE5DC"/>
          </a:solidFill>
          <a:ln w="10160">
            <a:solidFill>
              <a:srgbClr val="D8D2C6"/>
            </a:solidFill>
            <a:prstDash val="solid"/>
          </a:ln>
        </p:spPr>
      </p:sp>
      <p:sp>
        <p:nvSpPr>
          <p:cNvPr id="25" name="Text 23"/>
          <p:cNvSpPr/>
          <p:nvPr/>
        </p:nvSpPr>
        <p:spPr>
          <a:xfrm>
            <a:off x="960120" y="3520440"/>
            <a:ext cx="2331720" cy="420624"/>
          </a:xfrm>
          <a:prstGeom prst="rect">
            <a:avLst/>
          </a:prstGeom>
          <a:noFill/>
          <a:ln/>
        </p:spPr>
        <p:txBody>
          <a:bodyPr wrap="square" rtlCol="0" anchor="ctr"/>
          <a:lstStyle/>
          <a:p>
            <a:pPr indent="0" marL="0">
              <a:buNone/>
            </a:pPr>
            <a:r>
              <a:rPr lang="en-US" sz="850" dirty="0">
                <a:solidFill>
                  <a:srgbClr val="1B4332"/>
                </a:solidFill>
                <a:latin typeface="Inter" pitchFamily="34" charset="0"/>
                <a:ea typeface="Inter" pitchFamily="34" charset="-122"/>
                <a:cs typeface="Inter" pitchFamily="34" charset="-120"/>
              </a:rPr>
              <a:t>Component Specs (Waste Action Decision Table)</a:t>
            </a:r>
            <a:endParaRPr lang="en-US" sz="850" dirty="0"/>
          </a:p>
        </p:txBody>
      </p:sp>
      <p:sp>
        <p:nvSpPr>
          <p:cNvPr id="26" name="Text 24"/>
          <p:cNvSpPr/>
          <p:nvPr/>
        </p:nvSpPr>
        <p:spPr>
          <a:xfrm>
            <a:off x="3383280" y="3520440"/>
            <a:ext cx="320040" cy="420624"/>
          </a:xfrm>
          <a:prstGeom prst="rect">
            <a:avLst/>
          </a:prstGeom>
          <a:noFill/>
          <a:ln/>
        </p:spPr>
        <p:txBody>
          <a:bodyPr wrap="square" rtlCol="0" anchor="ctr"/>
          <a:lstStyle/>
          <a:p>
            <a:pPr algn="ctr" indent="0" marL="0">
              <a:buNone/>
            </a:pPr>
            <a:r>
              <a:rPr lang="en-US" sz="1100" b="1" dirty="0">
                <a:solidFill>
                  <a:srgbClr val="FFB702"/>
                </a:solidFill>
                <a:latin typeface="Montserrat" pitchFamily="34" charset="0"/>
                <a:ea typeface="Montserrat" pitchFamily="34" charset="-122"/>
                <a:cs typeface="Montserrat" pitchFamily="34" charset="-120"/>
              </a:rPr>
              <a:t>⟷</a:t>
            </a:r>
            <a:endParaRPr lang="en-US" sz="1100" dirty="0"/>
          </a:p>
        </p:txBody>
      </p:sp>
      <p:sp>
        <p:nvSpPr>
          <p:cNvPr id="27" name="Shape 25"/>
          <p:cNvSpPr/>
          <p:nvPr/>
        </p:nvSpPr>
        <p:spPr>
          <a:xfrm>
            <a:off x="3749040" y="3520440"/>
            <a:ext cx="2468880" cy="420624"/>
          </a:xfrm>
          <a:prstGeom prst="rect">
            <a:avLst>
              <a:gd name="adj" fmla="val 10870"/>
            </a:avLst>
          </a:prstGeom>
          <a:solidFill>
            <a:srgbClr val="FCF9F4"/>
          </a:solidFill>
          <a:ln w="10160">
            <a:solidFill>
              <a:srgbClr val="D8D2C6"/>
            </a:solidFill>
            <a:prstDash val="solid"/>
          </a:ln>
        </p:spPr>
      </p:sp>
      <p:sp>
        <p:nvSpPr>
          <p:cNvPr id="28" name="Text 26"/>
          <p:cNvSpPr/>
          <p:nvPr/>
        </p:nvSpPr>
        <p:spPr>
          <a:xfrm>
            <a:off x="3794760" y="3520440"/>
            <a:ext cx="2377440" cy="420624"/>
          </a:xfrm>
          <a:prstGeom prst="rect">
            <a:avLst/>
          </a:prstGeom>
          <a:noFill/>
          <a:ln/>
        </p:spPr>
        <p:txBody>
          <a:bodyPr wrap="square" rtlCol="0" anchor="ctr"/>
          <a:lstStyle/>
          <a:p>
            <a:pPr indent="0" marL="0">
              <a:buNone/>
            </a:pPr>
            <a:r>
              <a:rPr lang="en-US" sz="850" dirty="0">
                <a:solidFill>
                  <a:srgbClr val="1C1C19"/>
                </a:solidFill>
                <a:latin typeface="Inter" pitchFamily="34" charset="0"/>
                <a:ea typeface="Inter" pitchFamily="34" charset="-122"/>
                <a:cs typeface="Inter" pitchFamily="34" charset="-120"/>
              </a:rPr>
              <a:t>EP/BVA Bounds &amp; 7 Alert State Transitions</a:t>
            </a:r>
            <a:endParaRPr lang="en-US" sz="850" dirty="0"/>
          </a:p>
        </p:txBody>
      </p:sp>
      <p:sp>
        <p:nvSpPr>
          <p:cNvPr id="29" name="Shape 27"/>
          <p:cNvSpPr/>
          <p:nvPr/>
        </p:nvSpPr>
        <p:spPr>
          <a:xfrm>
            <a:off x="914400" y="4069080"/>
            <a:ext cx="2423160" cy="420624"/>
          </a:xfrm>
          <a:prstGeom prst="rect">
            <a:avLst>
              <a:gd name="adj" fmla="val 10870"/>
            </a:avLst>
          </a:prstGeom>
          <a:solidFill>
            <a:srgbClr val="EAE5DC"/>
          </a:solidFill>
          <a:ln w="10160">
            <a:solidFill>
              <a:srgbClr val="D8D2C6"/>
            </a:solidFill>
            <a:prstDash val="solid"/>
          </a:ln>
        </p:spPr>
      </p:sp>
      <p:sp>
        <p:nvSpPr>
          <p:cNvPr id="30" name="Text 28"/>
          <p:cNvSpPr/>
          <p:nvPr/>
        </p:nvSpPr>
        <p:spPr>
          <a:xfrm>
            <a:off x="960120" y="4069080"/>
            <a:ext cx="2331720" cy="420624"/>
          </a:xfrm>
          <a:prstGeom prst="rect">
            <a:avLst/>
          </a:prstGeom>
          <a:noFill/>
          <a:ln/>
        </p:spPr>
        <p:txBody>
          <a:bodyPr wrap="square" rtlCol="0" anchor="ctr"/>
          <a:lstStyle/>
          <a:p>
            <a:pPr indent="0" marL="0">
              <a:buNone/>
            </a:pPr>
            <a:r>
              <a:rPr lang="en-US" sz="850" dirty="0">
                <a:solidFill>
                  <a:srgbClr val="1B4332"/>
                </a:solidFill>
                <a:latin typeface="Inter" pitchFamily="34" charset="0"/>
                <a:ea typeface="Inter" pitchFamily="34" charset="-122"/>
                <a:cs typeface="Inter" pitchFamily="34" charset="-120"/>
              </a:rPr>
              <a:t>Source Code (Dart Providers &amp; FastAPI Logic)</a:t>
            </a:r>
            <a:endParaRPr lang="en-US" sz="850" dirty="0"/>
          </a:p>
        </p:txBody>
      </p:sp>
      <p:sp>
        <p:nvSpPr>
          <p:cNvPr id="31" name="Text 29"/>
          <p:cNvSpPr/>
          <p:nvPr/>
        </p:nvSpPr>
        <p:spPr>
          <a:xfrm>
            <a:off x="3383280" y="4069080"/>
            <a:ext cx="320040" cy="420624"/>
          </a:xfrm>
          <a:prstGeom prst="rect">
            <a:avLst/>
          </a:prstGeom>
          <a:noFill/>
          <a:ln/>
        </p:spPr>
        <p:txBody>
          <a:bodyPr wrap="square" rtlCol="0" anchor="ctr"/>
          <a:lstStyle/>
          <a:p>
            <a:pPr algn="ctr" indent="0" marL="0">
              <a:buNone/>
            </a:pPr>
            <a:r>
              <a:rPr lang="en-US" sz="1100" b="1" dirty="0">
                <a:solidFill>
                  <a:srgbClr val="FFB702"/>
                </a:solidFill>
                <a:latin typeface="Montserrat" pitchFamily="34" charset="0"/>
                <a:ea typeface="Montserrat" pitchFamily="34" charset="-122"/>
                <a:cs typeface="Montserrat" pitchFamily="34" charset="-120"/>
              </a:rPr>
              <a:t>⟷</a:t>
            </a:r>
            <a:endParaRPr lang="en-US" sz="1100" dirty="0"/>
          </a:p>
        </p:txBody>
      </p:sp>
      <p:sp>
        <p:nvSpPr>
          <p:cNvPr id="32" name="Shape 30"/>
          <p:cNvSpPr/>
          <p:nvPr/>
        </p:nvSpPr>
        <p:spPr>
          <a:xfrm>
            <a:off x="3749040" y="4069080"/>
            <a:ext cx="2468880" cy="420624"/>
          </a:xfrm>
          <a:prstGeom prst="rect">
            <a:avLst>
              <a:gd name="adj" fmla="val 10870"/>
            </a:avLst>
          </a:prstGeom>
          <a:solidFill>
            <a:srgbClr val="FCF9F4"/>
          </a:solidFill>
          <a:ln w="10160">
            <a:solidFill>
              <a:srgbClr val="D8D2C6"/>
            </a:solidFill>
            <a:prstDash val="solid"/>
          </a:ln>
        </p:spPr>
      </p:sp>
      <p:sp>
        <p:nvSpPr>
          <p:cNvPr id="33" name="Text 31"/>
          <p:cNvSpPr/>
          <p:nvPr/>
        </p:nvSpPr>
        <p:spPr>
          <a:xfrm>
            <a:off x="3794760" y="4069080"/>
            <a:ext cx="2377440" cy="420624"/>
          </a:xfrm>
          <a:prstGeom prst="rect">
            <a:avLst/>
          </a:prstGeom>
          <a:noFill/>
          <a:ln/>
        </p:spPr>
        <p:txBody>
          <a:bodyPr wrap="square" rtlCol="0" anchor="ctr"/>
          <a:lstStyle/>
          <a:p>
            <a:pPr indent="0" marL="0">
              <a:buNone/>
            </a:pPr>
            <a:r>
              <a:rPr lang="en-US" sz="850" dirty="0">
                <a:solidFill>
                  <a:srgbClr val="1C1C19"/>
                </a:solidFill>
                <a:latin typeface="Inter" pitchFamily="34" charset="0"/>
                <a:ea typeface="Inter" pitchFamily="34" charset="-122"/>
                <a:cs typeface="Inter" pitchFamily="34" charset="-120"/>
              </a:rPr>
              <a:t>44 Flutter + 7 Backend Offline Unit Tests</a:t>
            </a:r>
            <a:endParaRPr lang="en-US" sz="850" dirty="0"/>
          </a:p>
        </p:txBody>
      </p:sp>
      <p:sp>
        <p:nvSpPr>
          <p:cNvPr id="34" name="Shape 32"/>
          <p:cNvSpPr/>
          <p:nvPr/>
        </p:nvSpPr>
        <p:spPr>
          <a:xfrm>
            <a:off x="6675120" y="1371600"/>
            <a:ext cx="4754880" cy="3611880"/>
          </a:xfrm>
          <a:prstGeom prst="rect">
            <a:avLst>
              <a:gd name="adj" fmla="val 3038"/>
            </a:avLst>
          </a:prstGeom>
          <a:solidFill>
            <a:srgbClr val="FFFFFF"/>
          </a:solidFill>
          <a:ln w="19050">
            <a:solidFill>
              <a:srgbClr val="E5E0D8"/>
            </a:solidFill>
            <a:prstDash val="solid"/>
          </a:ln>
        </p:spPr>
      </p:sp>
      <p:sp>
        <p:nvSpPr>
          <p:cNvPr id="35" name="Text 33"/>
          <p:cNvSpPr/>
          <p:nvPr/>
        </p:nvSpPr>
        <p:spPr>
          <a:xfrm>
            <a:off x="6858000" y="1508760"/>
            <a:ext cx="4389120" cy="256032"/>
          </a:xfrm>
          <a:prstGeom prst="rect">
            <a:avLst/>
          </a:prstGeom>
          <a:noFill/>
          <a:ln/>
        </p:spPr>
        <p:txBody>
          <a:bodyPr wrap="square" rtlCol="0" anchor="ctr"/>
          <a:lstStyle/>
          <a:p>
            <a:pPr indent="0" marL="0">
              <a:buNone/>
            </a:pPr>
            <a:r>
              <a:rPr lang="en-US" sz="1000" b="1" dirty="0">
                <a:solidFill>
                  <a:srgbClr val="1B4332"/>
                </a:solidFill>
                <a:latin typeface="Montserrat" pitchFamily="34" charset="0"/>
                <a:ea typeface="Montserrat" pitchFamily="34" charset="-122"/>
                <a:cs typeface="Montserrat" pitchFamily="34" charset="-120"/>
              </a:rPr>
              <a:t>RESTOCKIQ EMPIRICAL TEST PYRAMID</a:t>
            </a:r>
            <a:endParaRPr lang="en-US" sz="1000" dirty="0"/>
          </a:p>
        </p:txBody>
      </p:sp>
      <p:sp>
        <p:nvSpPr>
          <p:cNvPr id="36" name="Shape 34"/>
          <p:cNvSpPr/>
          <p:nvPr/>
        </p:nvSpPr>
        <p:spPr>
          <a:xfrm>
            <a:off x="8046720" y="1874520"/>
            <a:ext cx="2011680" cy="594360"/>
          </a:xfrm>
          <a:prstGeom prst="trapezoid">
            <a:avLst/>
          </a:prstGeom>
          <a:solidFill>
            <a:srgbClr val="E28743"/>
          </a:solidFill>
          <a:ln w="12700">
            <a:solidFill>
              <a:srgbClr val="1B4332"/>
            </a:solidFill>
            <a:prstDash val="solid"/>
          </a:ln>
        </p:spPr>
      </p:sp>
      <p:sp>
        <p:nvSpPr>
          <p:cNvPr id="37" name="Text 35"/>
          <p:cNvSpPr/>
          <p:nvPr/>
        </p:nvSpPr>
        <p:spPr>
          <a:xfrm>
            <a:off x="8046720" y="1874520"/>
            <a:ext cx="2011680" cy="594360"/>
          </a:xfrm>
          <a:prstGeom prst="rect">
            <a:avLst/>
          </a:prstGeom>
          <a:noFill/>
          <a:ln/>
        </p:spPr>
        <p:txBody>
          <a:bodyPr wrap="square"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1 Physical Walkthrough</a:t>
            </a:r>
            <a:endParaRPr lang="en-US" sz="800" dirty="0"/>
          </a:p>
          <a:p>
            <a:pPr algn="ctr" indent="0" marL="0">
              <a:buNone/>
            </a:pPr>
            <a:r>
              <a:rPr lang="en-US" sz="800" b="1" dirty="0">
                <a:solidFill>
                  <a:srgbClr val="FFFFFF"/>
                </a:solidFill>
                <a:latin typeface="Montserrat" pitchFamily="34" charset="0"/>
                <a:ea typeface="Montserrat" pitchFamily="34" charset="-122"/>
                <a:cs typeface="Montserrat" pitchFamily="34" charset="-120"/>
              </a:rPr>
              <a:t>+ 1 9-Step E2E Flow</a:t>
            </a:r>
            <a:endParaRPr lang="en-US" sz="800" dirty="0"/>
          </a:p>
        </p:txBody>
      </p:sp>
      <p:sp>
        <p:nvSpPr>
          <p:cNvPr id="38" name="Shape 36"/>
          <p:cNvSpPr/>
          <p:nvPr/>
        </p:nvSpPr>
        <p:spPr>
          <a:xfrm>
            <a:off x="7406640" y="2514600"/>
            <a:ext cx="3291840" cy="777240"/>
          </a:xfrm>
          <a:prstGeom prst="trapezoid">
            <a:avLst/>
          </a:prstGeom>
          <a:solidFill>
            <a:srgbClr val="FFB702"/>
          </a:solidFill>
          <a:ln w="12700">
            <a:solidFill>
              <a:srgbClr val="1B4332"/>
            </a:solidFill>
            <a:prstDash val="solid"/>
          </a:ln>
        </p:spPr>
      </p:sp>
      <p:sp>
        <p:nvSpPr>
          <p:cNvPr id="39" name="Text 37"/>
          <p:cNvSpPr/>
          <p:nvPr/>
        </p:nvSpPr>
        <p:spPr>
          <a:xfrm>
            <a:off x="7406640" y="2514600"/>
            <a:ext cx="3291840" cy="777240"/>
          </a:xfrm>
          <a:prstGeom prst="rect">
            <a:avLst/>
          </a:prstGeom>
          <a:noFill/>
          <a:ln/>
        </p:spPr>
        <p:txBody>
          <a:bodyPr wrap="square" rtlCol="0" anchor="ct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9 Integration &amp; Security Suites</a:t>
            </a:r>
            <a:endParaRPr lang="en-US" sz="800" dirty="0"/>
          </a:p>
          <a:p>
            <a:pPr algn="ctr" indent="0" marL="0">
              <a:buNone/>
            </a:pPr>
            <a:r>
              <a:rPr lang="en-US" sz="800" b="1" dirty="0">
                <a:solidFill>
                  <a:srgbClr val="1B4332"/>
                </a:solidFill>
                <a:latin typeface="Montserrat" pitchFamily="34" charset="0"/>
                <a:ea typeface="Montserrat" pitchFamily="34" charset="-122"/>
                <a:cs typeface="Montserrat" pitchFamily="34" charset="-120"/>
              </a:rPr>
              <a:t>[5 Cross-Provider Flutter Tests +</a:t>
            </a:r>
            <a:endParaRPr lang="en-US" sz="800" dirty="0"/>
          </a:p>
          <a:p>
            <a:pPr algn="ctr" indent="0" marL="0">
              <a:buNone/>
            </a:pPr>
            <a:r>
              <a:rPr lang="en-US" sz="800" b="1" dirty="0">
                <a:solidFill>
                  <a:srgbClr val="1B4332"/>
                </a:solidFill>
                <a:latin typeface="Montserrat" pitchFamily="34" charset="0"/>
                <a:ea typeface="Montserrat" pitchFamily="34" charset="-122"/>
                <a:cs typeface="Montserrat" pitchFamily="34" charset="-120"/>
              </a:rPr>
              <a:t>4 Multi-Tenant/Rate-Limit/Spoof Suites]</a:t>
            </a:r>
            <a:endParaRPr lang="en-US" sz="800" dirty="0"/>
          </a:p>
        </p:txBody>
      </p:sp>
      <p:sp>
        <p:nvSpPr>
          <p:cNvPr id="40" name="Shape 38"/>
          <p:cNvSpPr/>
          <p:nvPr/>
        </p:nvSpPr>
        <p:spPr>
          <a:xfrm>
            <a:off x="6858000" y="3337560"/>
            <a:ext cx="4389120" cy="960120"/>
          </a:xfrm>
          <a:prstGeom prst="trapezoid">
            <a:avLst/>
          </a:prstGeom>
          <a:solidFill>
            <a:srgbClr val="2D6A4F"/>
          </a:solidFill>
          <a:ln w="12700">
            <a:solidFill>
              <a:srgbClr val="1B4332"/>
            </a:solidFill>
            <a:prstDash val="solid"/>
          </a:ln>
        </p:spPr>
      </p:sp>
      <p:sp>
        <p:nvSpPr>
          <p:cNvPr id="41" name="Text 39"/>
          <p:cNvSpPr/>
          <p:nvPr/>
        </p:nvSpPr>
        <p:spPr>
          <a:xfrm>
            <a:off x="6858000" y="3337560"/>
            <a:ext cx="4389120" cy="960120"/>
          </a:xfrm>
          <a:prstGeom prst="rect">
            <a:avLst/>
          </a:prstGeom>
          <a:noFill/>
          <a:ln/>
        </p:spPr>
        <p:txBody>
          <a:bodyPr wrap="square"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42 Fast Offline Unit &amp; Component Tests</a:t>
            </a:r>
            <a:endParaRPr lang="en-US" sz="850" dirty="0"/>
          </a:p>
          <a:p>
            <a:pPr algn="ctr" indent="0" marL="0">
              <a:buNone/>
            </a:pPr>
            <a:r>
              <a:rPr lang="en-US" sz="850" b="1" dirty="0">
                <a:solidFill>
                  <a:srgbClr val="FFFFFF"/>
                </a:solidFill>
                <a:latin typeface="Montserrat" pitchFamily="34" charset="0"/>
                <a:ea typeface="Montserrat" pitchFamily="34" charset="-122"/>
                <a:cs typeface="Montserrat" pitchFamily="34" charset="-120"/>
              </a:rPr>
              <a:t>[21 Flutter Unit + 18 Flutter Widget + 3 Backend EP/Decision/CFG]</a:t>
            </a:r>
            <a:endParaRPr lang="en-US" sz="850" dirty="0"/>
          </a:p>
          <a:p>
            <a:pPr algn="ctr" indent="0" marL="0">
              <a:buNone/>
            </a:pPr>
            <a:r>
              <a:rPr lang="en-US" sz="850" b="1" dirty="0">
                <a:solidFill>
                  <a:srgbClr val="FFFFFF"/>
                </a:solidFill>
                <a:latin typeface="Montserrat" pitchFamily="34" charset="0"/>
                <a:ea typeface="Montserrat" pitchFamily="34" charset="-122"/>
                <a:cs typeface="Montserrat" pitchFamily="34" charset="-120"/>
              </a:rPr>
              <a:t>100% Passing in &lt; 40s (Zero Network Dependencies)</a:t>
            </a:r>
            <a:endParaRPr lang="en-US" sz="850" dirty="0"/>
          </a:p>
        </p:txBody>
      </p:sp>
      <p:sp>
        <p:nvSpPr>
          <p:cNvPr id="42" name="Shape 40"/>
          <p:cNvSpPr/>
          <p:nvPr/>
        </p:nvSpPr>
        <p:spPr>
          <a:xfrm>
            <a:off x="6858000" y="4434840"/>
            <a:ext cx="4389120" cy="411480"/>
          </a:xfrm>
          <a:prstGeom prst="rect">
            <a:avLst>
              <a:gd name="adj" fmla="val 17778"/>
            </a:avLst>
          </a:prstGeom>
          <a:solidFill>
            <a:srgbClr val="EAE5DC"/>
          </a:solidFill>
          <a:ln w="12700">
            <a:solidFill>
              <a:srgbClr val="E5E0D8"/>
            </a:solidFill>
            <a:prstDash val="solid"/>
          </a:ln>
        </p:spPr>
      </p:sp>
      <p:sp>
        <p:nvSpPr>
          <p:cNvPr id="43" name="Text 41"/>
          <p:cNvSpPr/>
          <p:nvPr/>
        </p:nvSpPr>
        <p:spPr>
          <a:xfrm>
            <a:off x="6858000" y="4434840"/>
            <a:ext cx="4389120" cy="41148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TOTAL RECONCILED TEST COUNT: 51 AUTOMATED TESTS (100% PASS)</a:t>
            </a:r>
            <a:endParaRPr lang="en-US" sz="850" dirty="0"/>
          </a:p>
        </p:txBody>
      </p:sp>
      <p:sp>
        <p:nvSpPr>
          <p:cNvPr id="44" name="Text 42"/>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V-Model Lifecycle Alignment: Every architectural tier maps bi-directionally to verified test artifacts, from business requirements down to pure Dart mathematical functions and FastAPI endpoints.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Empirical Test Pyramid Distribution: A heavy base of 42 offline unit and widget tests provides sub-second feedback, supported by 9 integration security suites and live E2E system verification.</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Zero-Flake Execution: Strict separation between offline mock-driven unit tests and network-dependent cloud verification eliminates test suite flakiness, guaranteeing 100% repeatable CI/CD passes.</a:t>
            </a:r>
            <a:endParaRPr lang="en-US" sz="1150" dirty="0"/>
          </a:p>
        </p:txBody>
      </p:sp>
      <p:sp>
        <p:nvSpPr>
          <p:cNvPr id="45" name="Text 43"/>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Verified test logs in APP/test/ and Backend/test_backend_unit.py; V-Model mapped to 702IT0E035 Unit 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1: FUNDAMENTALS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4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Master Test Inventory &amp; Implementation Mapping</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3657600"/>
        </p:xfrm>
        <a:graphic>
          <a:graphicData uri="http://schemas.openxmlformats.org/drawingml/2006/table">
            <a:tbl>
              <a:tblPr/>
              <a:tblGrid>
                <a:gridCol w="3108960"/>
                <a:gridCol w="1097280"/>
                <a:gridCol w="3474720"/>
                <a:gridCol w="1005840"/>
                <a:gridCol w="822960"/>
                <a:gridCol w="1188720"/>
              </a:tblGrid>
              <a:tr h="292608">
                <a:tc>
                  <a:txBody>
                    <a:bodyPr/>
                    <a:lstStyle/>
                    <a:p>
                      <a:pPr indent="0" marL="0">
                        <a:buNone/>
                      </a:pPr>
                      <a:r>
                        <a:rPr lang="en-US" sz="850" b="1" dirty="0">
                          <a:solidFill>
                            <a:srgbClr val="1B4332"/>
                          </a:solidFill>
                          <a:latin typeface="Montserrat" pitchFamily="34" charset="0"/>
                          <a:ea typeface="Montserrat" pitchFamily="34" charset="-122"/>
                          <a:cs typeface="Montserrat" pitchFamily="34" charset="-120"/>
                        </a:rPr>
                        <a:t>Artifact / File Path</a:t>
                      </a:r>
                      <a:endParaRPr lang="en-US" sz="8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50" b="1" dirty="0">
                          <a:solidFill>
                            <a:srgbClr val="1B4332"/>
                          </a:solidFill>
                          <a:latin typeface="Montserrat" pitchFamily="34" charset="0"/>
                          <a:ea typeface="Montserrat" pitchFamily="34" charset="-122"/>
                          <a:cs typeface="Montserrat" pitchFamily="34" charset="-120"/>
                        </a:rPr>
                        <a:t>Level</a:t>
                      </a:r>
                      <a:endParaRPr lang="en-US" sz="8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50" b="1" dirty="0">
                          <a:solidFill>
                            <a:srgbClr val="1B4332"/>
                          </a:solidFill>
                          <a:latin typeface="Montserrat" pitchFamily="34" charset="0"/>
                          <a:ea typeface="Montserrat" pitchFamily="34" charset="-122"/>
                          <a:cs typeface="Montserrat" pitchFamily="34" charset="-120"/>
                        </a:rPr>
                        <a:t>Technique Applied</a:t>
                      </a:r>
                      <a:endParaRPr lang="en-US" sz="8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50" b="1" dirty="0">
                          <a:solidFill>
                            <a:srgbClr val="1B4332"/>
                          </a:solidFill>
                          <a:latin typeface="Montserrat" pitchFamily="34" charset="0"/>
                          <a:ea typeface="Montserrat" pitchFamily="34" charset="-122"/>
                          <a:cs typeface="Montserrat" pitchFamily="34" charset="-120"/>
                        </a:rPr>
                        <a:t>Style</a:t>
                      </a:r>
                      <a:endParaRPr lang="en-US" sz="8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Tests</a:t>
                      </a:r>
                      <a:endParaRPr lang="en-US" sz="8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Status</a:t>
                      </a:r>
                      <a:endParaRPr lang="en-US" sz="8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APP/test/unit_test.dart (Catalog)</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Equivalence Partitioning &amp; Formula Invariants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4</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APP/test/unit_test.dart (CRUD)</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State Mutation &amp; Local Cache Invariants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APP/test/unit_test.dart (Alerts)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Domain Decision Logic &amp; State Triggers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4</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APP/test/unit_test.dart (Assistant)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Fault Injection &amp; Offline Mock Fallback</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Mockist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7</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APP/test/unit_test.dart (Auth)</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Session Activation &amp; Timeout Fallback</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5</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APP/test/widget_test.dart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Component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Widget Tree Event Simulation &amp; Navigation</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Mockist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18</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APP/test/integration_test.dart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Integration</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Cross-Provider Catalog Synchronization</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5</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Backend/test_backend_unit.py (BVA)</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Boundary Value Analysis (0, 1, 500, 501)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Backend/test_backend_unit.py (Decision)</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Component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10-Rule Waste Action Engine Decision Table</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Backend/test_backend_unit.py (CFG)</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Unit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Basis Path Testing (Cyclomatic V(G)=5)</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Backend/test_rate_limiter.py</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Security</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Sliding Window Counter &amp; Spoof Defense</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Mockist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Backend/test_tenant_isolation.py</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Security</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Negative Query Probing Across 10 Endpoints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Classic</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Backend/verify_llm.py</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System</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Zero-Math Hallucination &amp; Context Truth Audit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Mockist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C1C19"/>
                          </a:solidFill>
                          <a:latin typeface="Inter" pitchFamily="34" charset="0"/>
                          <a:ea typeface="Inter" pitchFamily="34" charset="-122"/>
                          <a:cs typeface="Inter" pitchFamily="34" charset="-120"/>
                        </a:rPr>
                        <a:t>Manual Device Walkthrough</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Manual</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Xiaomi Redmi Note 10 Pro Smoke Audit</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Manual</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1</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50" dirty="0">
                          <a:solidFill>
                            <a:srgbClr val="1C1C19"/>
                          </a:solidFill>
                          <a:latin typeface="Inter" pitchFamily="34" charset="0"/>
                          <a:ea typeface="Inter" pitchFamily="34" charset="-122"/>
                          <a:cs typeface="Inter" pitchFamily="34" charset="-120"/>
                        </a:rPr>
                        <a:t>PASS</a:t>
                      </a:r>
                      <a:endParaRPr lang="en-US" sz="8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8" name="Text 5"/>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Reconciled Suite Inventory: The testing framework comprises 44 Flutter tests across models, screens, and providers, alongside 7 comprehensive backend offline verification suites.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Balanced Testing Regimes: Classical Detroit-style state verification governs core business calculators, while London-school mockist testing isolates UI widgets from remote API latency.</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Multi-Layer Defect Prevention: Combines automated boundary probing and decision tables with physical device smoke verification to guarantee zero runtime regressions.</a:t>
            </a:r>
            <a:endParaRPr lang="en-US" sz="1150" dirty="0"/>
          </a:p>
        </p:txBody>
      </p:sp>
      <p:sp>
        <p:nvSpPr>
          <p:cNvPr id="9" name="Text 6"/>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Test execution logs in docs/TESTING_AND_INTEGRITY_REPORT.md; Test suites in APP/test/ and Backend/.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1: FUNDAMENTALS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5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Defect Lifecycle: Error-Defect-Failure &amp; Historical Log</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12064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475488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PROPAGATION CHAIN: EMULATOR IP ASSUMPTION (DEF-009)</a:t>
            </a:r>
            <a:endParaRPr lang="en-US" sz="950" dirty="0"/>
          </a:p>
        </p:txBody>
      </p:sp>
      <p:sp>
        <p:nvSpPr>
          <p:cNvPr id="9" name="Shape 7"/>
          <p:cNvSpPr/>
          <p:nvPr/>
        </p:nvSpPr>
        <p:spPr>
          <a:xfrm>
            <a:off x="914400" y="1874520"/>
            <a:ext cx="4754880" cy="777240"/>
          </a:xfrm>
          <a:prstGeom prst="rect">
            <a:avLst>
              <a:gd name="adj" fmla="val 9412"/>
            </a:avLst>
          </a:prstGeom>
          <a:solidFill>
            <a:srgbClr val="EAE5DC"/>
          </a:solidFill>
          <a:ln w="15240">
            <a:solidFill>
              <a:srgbClr val="D97706"/>
            </a:solidFill>
            <a:prstDash val="solid"/>
          </a:ln>
        </p:spPr>
      </p:sp>
      <p:sp>
        <p:nvSpPr>
          <p:cNvPr id="10" name="Text 8"/>
          <p:cNvSpPr/>
          <p:nvPr/>
        </p:nvSpPr>
        <p:spPr>
          <a:xfrm>
            <a:off x="1005840" y="1920240"/>
            <a:ext cx="2926080" cy="228600"/>
          </a:xfrm>
          <a:prstGeom prst="rect">
            <a:avLst/>
          </a:prstGeom>
          <a:noFill/>
          <a:ln/>
        </p:spPr>
        <p:txBody>
          <a:bodyPr wrap="square" rtlCol="0" anchor="ctr"/>
          <a:lstStyle/>
          <a:p>
            <a:pPr indent="0" marL="0">
              <a:buNone/>
            </a:pPr>
            <a:r>
              <a:rPr lang="en-US" sz="850" b="1" dirty="0">
                <a:solidFill>
                  <a:srgbClr val="D97706"/>
                </a:solidFill>
                <a:latin typeface="Montserrat" pitchFamily="34" charset="0"/>
                <a:ea typeface="Montserrat" pitchFamily="34" charset="-122"/>
                <a:cs typeface="Montserrat" pitchFamily="34" charset="-120"/>
              </a:rPr>
              <a:t>1. HUMAN ERROR (Mistake)</a:t>
            </a:r>
            <a:endParaRPr lang="en-US" sz="850" dirty="0"/>
          </a:p>
        </p:txBody>
      </p:sp>
      <p:sp>
        <p:nvSpPr>
          <p:cNvPr id="11" name="Text 9"/>
          <p:cNvSpPr/>
          <p:nvPr/>
        </p:nvSpPr>
        <p:spPr>
          <a:xfrm>
            <a:off x="3474720" y="1920240"/>
            <a:ext cx="2103120" cy="228600"/>
          </a:xfrm>
          <a:prstGeom prst="rect">
            <a:avLst/>
          </a:prstGeom>
          <a:noFill/>
          <a:ln/>
        </p:spPr>
        <p:txBody>
          <a:bodyPr wrap="square" rtlCol="0" anchor="ctr"/>
          <a:lstStyle/>
          <a:p>
            <a:pPr algn="r" indent="0" marL="0">
              <a:buNone/>
            </a:pPr>
            <a:r>
              <a:rPr lang="en-US" sz="750" i="1" dirty="0">
                <a:solidFill>
                  <a:srgbClr val="5A5A54"/>
                </a:solidFill>
                <a:latin typeface="Inter" pitchFamily="34" charset="0"/>
                <a:ea typeface="Inter" pitchFamily="34" charset="-122"/>
                <a:cs typeface="Inter" pitchFamily="34" charset="-120"/>
              </a:rPr>
              <a:t>Cognitive Developer Fallacy</a:t>
            </a:r>
            <a:endParaRPr lang="en-US" sz="750" dirty="0"/>
          </a:p>
        </p:txBody>
      </p:sp>
      <p:sp>
        <p:nvSpPr>
          <p:cNvPr id="12" name="Text 10"/>
          <p:cNvSpPr/>
          <p:nvPr/>
        </p:nvSpPr>
        <p:spPr>
          <a:xfrm>
            <a:off x="1005840" y="2148840"/>
            <a:ext cx="4572000" cy="45720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Developer assumed Android emulator loopback IP (10.0.2.2:8000) was universally valid across all physical runtime environments and device hardware.</a:t>
            </a:r>
            <a:endParaRPr lang="en-US" sz="800" dirty="0"/>
          </a:p>
        </p:txBody>
      </p:sp>
      <p:sp>
        <p:nvSpPr>
          <p:cNvPr id="13" name="Shape 11"/>
          <p:cNvSpPr/>
          <p:nvPr/>
        </p:nvSpPr>
        <p:spPr>
          <a:xfrm>
            <a:off x="914400" y="2788920"/>
            <a:ext cx="4754880" cy="777240"/>
          </a:xfrm>
          <a:prstGeom prst="rect">
            <a:avLst>
              <a:gd name="adj" fmla="val 9412"/>
            </a:avLst>
          </a:prstGeom>
          <a:solidFill>
            <a:srgbClr val="EAE5DC"/>
          </a:solidFill>
          <a:ln w="15240">
            <a:solidFill>
              <a:srgbClr val="B91C1C"/>
            </a:solidFill>
            <a:prstDash val="solid"/>
          </a:ln>
        </p:spPr>
      </p:sp>
      <p:sp>
        <p:nvSpPr>
          <p:cNvPr id="14" name="Text 12"/>
          <p:cNvSpPr/>
          <p:nvPr/>
        </p:nvSpPr>
        <p:spPr>
          <a:xfrm>
            <a:off x="1005840" y="2834640"/>
            <a:ext cx="2926080" cy="228600"/>
          </a:xfrm>
          <a:prstGeom prst="rect">
            <a:avLst/>
          </a:prstGeom>
          <a:noFill/>
          <a:ln/>
        </p:spPr>
        <p:txBody>
          <a:bodyPr wrap="square" rtlCol="0" anchor="ctr"/>
          <a:lstStyle/>
          <a:p>
            <a:pPr indent="0" marL="0">
              <a:buNone/>
            </a:pPr>
            <a:r>
              <a:rPr lang="en-US" sz="850" b="1" dirty="0">
                <a:solidFill>
                  <a:srgbClr val="B91C1C"/>
                </a:solidFill>
                <a:latin typeface="Montserrat" pitchFamily="34" charset="0"/>
                <a:ea typeface="Montserrat" pitchFamily="34" charset="-122"/>
                <a:cs typeface="Montserrat" pitchFamily="34" charset="-120"/>
              </a:rPr>
              <a:t>2. SOFTWARE DEFECT (Bug / Fault)</a:t>
            </a:r>
            <a:endParaRPr lang="en-US" sz="850" dirty="0"/>
          </a:p>
        </p:txBody>
      </p:sp>
      <p:sp>
        <p:nvSpPr>
          <p:cNvPr id="15" name="Text 13"/>
          <p:cNvSpPr/>
          <p:nvPr/>
        </p:nvSpPr>
        <p:spPr>
          <a:xfrm>
            <a:off x="3474720" y="2834640"/>
            <a:ext cx="2103120" cy="228600"/>
          </a:xfrm>
          <a:prstGeom prst="rect">
            <a:avLst/>
          </a:prstGeom>
          <a:noFill/>
          <a:ln/>
        </p:spPr>
        <p:txBody>
          <a:bodyPr wrap="square" rtlCol="0" anchor="ctr"/>
          <a:lstStyle/>
          <a:p>
            <a:pPr algn="r" indent="0" marL="0">
              <a:buNone/>
            </a:pPr>
            <a:r>
              <a:rPr lang="en-US" sz="750" i="1" dirty="0">
                <a:solidFill>
                  <a:srgbClr val="5A5A54"/>
                </a:solidFill>
                <a:latin typeface="Inter" pitchFamily="34" charset="0"/>
                <a:ea typeface="Inter" pitchFamily="34" charset="-122"/>
                <a:cs typeface="Inter" pitchFamily="34" charset="-120"/>
              </a:rPr>
              <a:t>Static Code Vulnerability</a:t>
            </a:r>
            <a:endParaRPr lang="en-US" sz="750" dirty="0"/>
          </a:p>
        </p:txBody>
      </p:sp>
      <p:sp>
        <p:nvSpPr>
          <p:cNvPr id="16" name="Text 14"/>
          <p:cNvSpPr/>
          <p:nvPr/>
        </p:nvSpPr>
        <p:spPr>
          <a:xfrm>
            <a:off x="1005840" y="3063240"/>
            <a:ext cx="4572000" cy="45720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api_service.dart hardcoded defaultBaseUrl to 10.0.2.2 in debug mode without verifying whether target hardware had local loopback routing.</a:t>
            </a:r>
            <a:endParaRPr lang="en-US" sz="800" dirty="0"/>
          </a:p>
        </p:txBody>
      </p:sp>
      <p:sp>
        <p:nvSpPr>
          <p:cNvPr id="17" name="Shape 15"/>
          <p:cNvSpPr/>
          <p:nvPr/>
        </p:nvSpPr>
        <p:spPr>
          <a:xfrm>
            <a:off x="914400" y="3703320"/>
            <a:ext cx="4754880" cy="777240"/>
          </a:xfrm>
          <a:prstGeom prst="rect">
            <a:avLst>
              <a:gd name="adj" fmla="val 9412"/>
            </a:avLst>
          </a:prstGeom>
          <a:solidFill>
            <a:srgbClr val="EAE5DC"/>
          </a:solidFill>
          <a:ln w="15240">
            <a:solidFill>
              <a:srgbClr val="7F1D1D"/>
            </a:solidFill>
            <a:prstDash val="solid"/>
          </a:ln>
        </p:spPr>
      </p:sp>
      <p:sp>
        <p:nvSpPr>
          <p:cNvPr id="18" name="Text 16"/>
          <p:cNvSpPr/>
          <p:nvPr/>
        </p:nvSpPr>
        <p:spPr>
          <a:xfrm>
            <a:off x="1005840" y="3749040"/>
            <a:ext cx="2926080" cy="228600"/>
          </a:xfrm>
          <a:prstGeom prst="rect">
            <a:avLst/>
          </a:prstGeom>
          <a:noFill/>
          <a:ln/>
        </p:spPr>
        <p:txBody>
          <a:bodyPr wrap="square" rtlCol="0" anchor="ctr"/>
          <a:lstStyle/>
          <a:p>
            <a:pPr indent="0" marL="0">
              <a:buNone/>
            </a:pPr>
            <a:r>
              <a:rPr lang="en-US" sz="850" b="1" dirty="0">
                <a:solidFill>
                  <a:srgbClr val="7F1D1D"/>
                </a:solidFill>
                <a:latin typeface="Montserrat" pitchFamily="34" charset="0"/>
                <a:ea typeface="Montserrat" pitchFamily="34" charset="-122"/>
                <a:cs typeface="Montserrat" pitchFamily="34" charset="-120"/>
              </a:rPr>
              <a:t>3. SYSTEM FAILURE (Runtime Manifestation)</a:t>
            </a:r>
            <a:endParaRPr lang="en-US" sz="850" dirty="0"/>
          </a:p>
        </p:txBody>
      </p:sp>
      <p:sp>
        <p:nvSpPr>
          <p:cNvPr id="19" name="Text 17"/>
          <p:cNvSpPr/>
          <p:nvPr/>
        </p:nvSpPr>
        <p:spPr>
          <a:xfrm>
            <a:off x="3474720" y="3749040"/>
            <a:ext cx="2103120" cy="228600"/>
          </a:xfrm>
          <a:prstGeom prst="rect">
            <a:avLst/>
          </a:prstGeom>
          <a:noFill/>
          <a:ln/>
        </p:spPr>
        <p:txBody>
          <a:bodyPr wrap="square" rtlCol="0" anchor="ctr"/>
          <a:lstStyle/>
          <a:p>
            <a:pPr algn="r" indent="0" marL="0">
              <a:buNone/>
            </a:pPr>
            <a:r>
              <a:rPr lang="en-US" sz="750" i="1" dirty="0">
                <a:solidFill>
                  <a:srgbClr val="5A5A54"/>
                </a:solidFill>
                <a:latin typeface="Inter" pitchFamily="34" charset="0"/>
                <a:ea typeface="Inter" pitchFamily="34" charset="-122"/>
                <a:cs typeface="Inter" pitchFamily="34" charset="-120"/>
              </a:rPr>
              <a:t>Observed Dynamic Failure</a:t>
            </a:r>
            <a:endParaRPr lang="en-US" sz="750" dirty="0"/>
          </a:p>
        </p:txBody>
      </p:sp>
      <p:sp>
        <p:nvSpPr>
          <p:cNvPr id="20" name="Text 18"/>
          <p:cNvSpPr/>
          <p:nvPr/>
        </p:nvSpPr>
        <p:spPr>
          <a:xfrm>
            <a:off x="1005840" y="3977640"/>
            <a:ext cx="4572000" cy="45720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Physical Xiaomi Redmi Note 10 Pro stalled for 76.5 seconds in retry loop displaying 'Waking up server (retrying 3/3)...' before timing out.</a:t>
            </a:r>
            <a:endParaRPr lang="en-US" sz="800" dirty="0"/>
          </a:p>
        </p:txBody>
      </p:sp>
      <p:sp>
        <p:nvSpPr>
          <p:cNvPr id="21" name="Shape 19"/>
          <p:cNvSpPr/>
          <p:nvPr/>
        </p:nvSpPr>
        <p:spPr>
          <a:xfrm>
            <a:off x="6126480" y="1371600"/>
            <a:ext cx="5303520" cy="3611880"/>
          </a:xfrm>
          <a:prstGeom prst="rect">
            <a:avLst>
              <a:gd name="adj" fmla="val 3038"/>
            </a:avLst>
          </a:prstGeom>
          <a:solidFill>
            <a:srgbClr val="FFFFFF"/>
          </a:solidFill>
          <a:ln w="19050">
            <a:solidFill>
              <a:srgbClr val="E5E0D8"/>
            </a:solidFill>
            <a:prstDash val="solid"/>
          </a:ln>
        </p:spPr>
      </p:sp>
      <p:sp>
        <p:nvSpPr>
          <p:cNvPr id="22" name="Text 20"/>
          <p:cNvSpPr/>
          <p:nvPr/>
        </p:nvSpPr>
        <p:spPr>
          <a:xfrm>
            <a:off x="6309360" y="1508760"/>
            <a:ext cx="493776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HISTORICAL DEFECT LOG: CLASSIFICATION &amp; SEVERITY (DEF-001..DEF-011)</a:t>
            </a:r>
            <a:endParaRPr lang="en-US" sz="950" dirty="0"/>
          </a:p>
        </p:txBody>
      </p:sp>
      <p:graphicFrame>
        <p:nvGraphicFramePr>
          <p:cNvPr id="23" name="Chart 0" descr=""/>
          <p:cNvGraphicFramePr/>
          <p:nvPr/>
        </p:nvGraphicFramePr>
        <p:xfrm>
          <a:off x="6309360" y="1828800"/>
          <a:ext cx="4937760" cy="2468880"/>
        </p:xfrm>
        <a:graphic xmlns:a="http://schemas.openxmlformats.org/drawingml/2006/main">
          <a:graphicData uri="http://schemas.openxmlformats.org/drawingml/2006/chart">
            <c:chart xmlns:c="http://schemas.openxmlformats.org/drawingml/2006/chart" r:id="rId1"/>
          </a:graphicData>
        </a:graphic>
      </p:graphicFrame>
      <p:sp>
        <p:nvSpPr>
          <p:cNvPr id="24" name="Shape 21"/>
          <p:cNvSpPr/>
          <p:nvPr/>
        </p:nvSpPr>
        <p:spPr>
          <a:xfrm>
            <a:off x="6309360" y="4389120"/>
            <a:ext cx="4937760" cy="457200"/>
          </a:xfrm>
          <a:prstGeom prst="rect">
            <a:avLst>
              <a:gd name="adj" fmla="val 16000"/>
            </a:avLst>
          </a:prstGeom>
          <a:solidFill>
            <a:srgbClr val="EAE5DC"/>
          </a:solidFill>
          <a:ln w="12700">
            <a:solidFill>
              <a:srgbClr val="E5E0D8"/>
            </a:solidFill>
            <a:prstDash val="solid"/>
          </a:ln>
        </p:spPr>
      </p:sp>
      <p:sp>
        <p:nvSpPr>
          <p:cNvPr id="25" name="Text 22"/>
          <p:cNvSpPr/>
          <p:nvPr/>
        </p:nvSpPr>
        <p:spPr>
          <a:xfrm>
            <a:off x="6309360" y="4389120"/>
            <a:ext cx="4937760" cy="457200"/>
          </a:xfrm>
          <a:prstGeom prst="rect">
            <a:avLst/>
          </a:prstGeom>
          <a:noFill/>
          <a:ln/>
        </p:spPr>
        <p:txBody>
          <a:bodyPr wrap="square" rtlCol="0" anchor="ct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STATUS SUMMARY: 12 RESOLVED &amp; REGRESSION-TESTED | 1 HONESTLY OPEN</a:t>
            </a:r>
            <a:endParaRPr lang="en-US" sz="800" dirty="0"/>
          </a:p>
          <a:p>
            <a:pPr algn="ctr" indent="0" marL="0">
              <a:buNone/>
            </a:pPr>
            <a:r>
              <a:rPr lang="en-US" sz="800" b="1" dirty="0">
                <a:solidFill>
                  <a:srgbClr val="1B4332"/>
                </a:solidFill>
                <a:latin typeface="Montserrat" pitchFamily="34" charset="0"/>
                <a:ea typeface="Montserrat" pitchFamily="34" charset="-122"/>
                <a:cs typeface="Montserrat" pitchFamily="34" charset="-120"/>
              </a:rPr>
              <a:t>[DEF-013: Legacy Charity Donation State (Open Backlog)]</a:t>
            </a:r>
            <a:endParaRPr lang="en-US" sz="800" dirty="0"/>
          </a:p>
        </p:txBody>
      </p:sp>
      <p:sp>
        <p:nvSpPr>
          <p:cNvPr id="26" name="Text 23"/>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Conceptual Defect Propagation: Demonstrates how a developer's mistaken loopback assumption introduced a static configuration fault that produced a 76-second freeze during physical device testing.</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Empirical Defect Classification: Thirteen verified defects logged across git history reveal primary defect clusters in layout rendering, security/cryptography, mock data desynchronization, and network configuration.</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Transparent Resolution Accounting: Twelve defects are fully resolved with regression test coverage; one defect remains honestly documented as open (DEF-013 legacy charity donation state).</a:t>
            </a:r>
            <a:endParaRPr lang="en-US" sz="1150" dirty="0"/>
          </a:p>
        </p:txBody>
      </p:sp>
      <p:sp>
        <p:nvSpPr>
          <p:cNvPr id="27" name="Text 24"/>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Git log commits 6b294a5e..49caa0ef; Verified defect taxonomy in docs/TESTING_AND_INTEGRITY_REPORT.md.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2: TECHNIQUES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6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Black-Box Testing: Equivalence Partitioning &amp; Decision Table</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493776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457200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BVA: ASSISTANT QUERY LENGTH (1 &lt;= LENGTH &lt;= 500)</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1874520"/>
          <a:ext cx="4572000" cy="1691640"/>
        </p:xfrm>
        <a:graphic>
          <a:graphicData uri="http://schemas.openxmlformats.org/drawingml/2006/table">
            <a:tbl>
              <a:tblPr/>
              <a:tblGrid>
                <a:gridCol w="822960"/>
                <a:gridCol w="457200"/>
                <a:gridCol w="1463040"/>
                <a:gridCol w="1280160"/>
                <a:gridCol w="548640"/>
              </a:tblGrid>
              <a:tr h="292608">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Bound</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Len</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Class / Partition</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Expected Output</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Result</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r>
              <a:tr h="274320">
                <a:tc>
                  <a:txBody>
                    <a:bodyPr/>
                    <a:lstStyle/>
                    <a:p>
                      <a:pPr indent="0" marL="0">
                        <a:buNone/>
                      </a:pPr>
                      <a:r>
                        <a:rPr lang="en-US" sz="800" dirty="0">
                          <a:solidFill>
                            <a:srgbClr val="1C1C19"/>
                          </a:solidFill>
                          <a:latin typeface="Inter" pitchFamily="34" charset="0"/>
                          <a:ea typeface="Inter" pitchFamily="34" charset="-122"/>
                          <a:cs typeface="Inter" pitchFamily="34" charset="-120"/>
                        </a:rPr>
                        <a:t>0</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0</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Invalid Lower (Below Min)</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ValidationError (min_length=1)</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PASS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1C19"/>
                          </a:solidFill>
                          <a:latin typeface="Inter" pitchFamily="34" charset="0"/>
                          <a:ea typeface="Inter" pitchFamily="34" charset="-122"/>
                          <a:cs typeface="Inter" pitchFamily="34" charset="-120"/>
                        </a:rPr>
                        <a:t>1</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1</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Valid Lower (Min Bound)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Accepted (Status 200 OK)</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PASS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1C19"/>
                          </a:solidFill>
                          <a:latin typeface="Inter" pitchFamily="34" charset="0"/>
                          <a:ea typeface="Inter" pitchFamily="34" charset="-122"/>
                          <a:cs typeface="Inter" pitchFamily="34" charset="-120"/>
                        </a:rPr>
                        <a:t>Nominal</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35</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Valid Interior Partition</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Accepted (Status 200 OK)</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PASS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1C19"/>
                          </a:solidFill>
                          <a:latin typeface="Inter" pitchFamily="34" charset="0"/>
                          <a:ea typeface="Inter" pitchFamily="34" charset="-122"/>
                          <a:cs typeface="Inter" pitchFamily="34" charset="-120"/>
                        </a:rPr>
                        <a:t>500</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500</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Valid Upper (Max Bound)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Accepted (Status 200 OK)</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PASS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1C19"/>
                          </a:solidFill>
                          <a:latin typeface="Inter" pitchFamily="34" charset="0"/>
                          <a:ea typeface="Inter" pitchFamily="34" charset="-122"/>
                          <a:cs typeface="Inter" pitchFamily="34" charset="-120"/>
                        </a:rPr>
                        <a:t>501</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501</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Invalid Upper (Above Max)</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ValidationError (max_length=500)</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PASS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10" name="Shape 7"/>
          <p:cNvSpPr/>
          <p:nvPr/>
        </p:nvSpPr>
        <p:spPr>
          <a:xfrm>
            <a:off x="914400" y="3703320"/>
            <a:ext cx="4572000" cy="1143000"/>
          </a:xfrm>
          <a:prstGeom prst="rect">
            <a:avLst>
              <a:gd name="adj" fmla="val 6400"/>
            </a:avLst>
          </a:prstGeom>
          <a:solidFill>
            <a:srgbClr val="F4EFE6"/>
          </a:solidFill>
          <a:ln w="10160">
            <a:solidFill>
              <a:srgbClr val="D8D2C6"/>
            </a:solidFill>
            <a:prstDash val="solid"/>
          </a:ln>
        </p:spPr>
      </p:sp>
      <p:sp>
        <p:nvSpPr>
          <p:cNvPr id="11" name="Text 8"/>
          <p:cNvSpPr/>
          <p:nvPr/>
        </p:nvSpPr>
        <p:spPr>
          <a:xfrm>
            <a:off x="1005840" y="3749040"/>
            <a:ext cx="4389120" cy="1051560"/>
          </a:xfrm>
          <a:prstGeom prst="rect">
            <a:avLst/>
          </a:prstGeom>
          <a:noFill/>
          <a:ln/>
        </p:spPr>
        <p:txBody>
          <a:bodyPr wrap="square" rtlCol="0" anchor="ctr"/>
          <a:lstStyle/>
          <a:p>
            <a:pPr indent="0" marL="0">
              <a:buNone/>
            </a:pPr>
            <a:r>
              <a:rPr lang="en-US" sz="750" dirty="0">
                <a:solidFill>
                  <a:srgbClr val="1C1C19"/>
                </a:solidFill>
                <a:latin typeface="Consolas" pitchFamily="34" charset="0"/>
                <a:ea typeface="Consolas" pitchFamily="34" charset="-122"/>
                <a:cs typeface="Consolas" pitchFamily="34" charset="-120"/>
              </a:rPr>
              <a:t>TEST EXECUTION SNIPPET (test_backend_unit.py:10):</a:t>
            </a:r>
            <a:endParaRPr lang="en-US" sz="750" dirty="0"/>
          </a:p>
          <a:p>
            <a:pPr indent="0" marL="0">
              <a:buNone/>
            </a:pPr>
            <a:r>
              <a:rPr lang="en-US" sz="750" dirty="0">
                <a:solidFill>
                  <a:srgbClr val="1C1C19"/>
                </a:solidFill>
                <a:latin typeface="Consolas" pitchFamily="34" charset="0"/>
                <a:ea typeface="Consolas" pitchFamily="34" charset="-122"/>
                <a:cs typeface="Consolas" pitchFamily="34" charset="-120"/>
              </a:rPr>
              <a:t>with self.assertRaises(ValidationError):</a:t>
            </a:r>
            <a:endParaRPr lang="en-US" sz="750" dirty="0"/>
          </a:p>
          <a:p>
            <a:pPr indent="0" marL="0">
              <a:buNone/>
            </a:pPr>
            <a:r>
              <a:rPr lang="en-US" sz="750" dirty="0">
                <a:solidFill>
                  <a:srgbClr val="1C1C19"/>
                </a:solidFill>
                <a:latin typeface="Consolas" pitchFamily="34" charset="0"/>
                <a:ea typeface="Consolas" pitchFamily="34" charset="-122"/>
                <a:cs typeface="Consolas" pitchFamily="34" charset="-120"/>
              </a:rPr>
              <a:t>    AssistantChatRequest(query="")       # Len 0: Fails</a:t>
            </a:r>
            <a:endParaRPr lang="en-US" sz="750" dirty="0"/>
          </a:p>
          <a:p>
            <a:pPr indent="0" marL="0">
              <a:buNone/>
            </a:pPr>
            <a:r>
              <a:rPr lang="en-US" sz="750" dirty="0">
                <a:solidFill>
                  <a:srgbClr val="1C1C19"/>
                </a:solidFill>
                <a:latin typeface="Consolas" pitchFamily="34" charset="0"/>
                <a:ea typeface="Consolas" pitchFamily="34" charset="-122"/>
                <a:cs typeface="Consolas" pitchFamily="34" charset="-120"/>
              </a:rPr>
              <a:t>valid = AssistantChatRequest(query="a" * 500) # Len 500: Passes</a:t>
            </a:r>
            <a:endParaRPr lang="en-US" sz="750" dirty="0"/>
          </a:p>
          <a:p>
            <a:pPr indent="0" marL="0">
              <a:buNone/>
            </a:pPr>
            <a:r>
              <a:rPr lang="en-US" sz="750" dirty="0">
                <a:solidFill>
                  <a:srgbClr val="1C1C19"/>
                </a:solidFill>
                <a:latin typeface="Consolas" pitchFamily="34" charset="0"/>
                <a:ea typeface="Consolas" pitchFamily="34" charset="-122"/>
                <a:cs typeface="Consolas" pitchFamily="34" charset="-120"/>
              </a:rPr>
              <a:t>with self.assertRaises(ValidationError):</a:t>
            </a:r>
            <a:endParaRPr lang="en-US" sz="750" dirty="0"/>
          </a:p>
          <a:p>
            <a:pPr indent="0" marL="0">
              <a:buNone/>
            </a:pPr>
            <a:r>
              <a:rPr lang="en-US" sz="750" dirty="0">
                <a:solidFill>
                  <a:srgbClr val="1C1C19"/>
                </a:solidFill>
                <a:latin typeface="Consolas" pitchFamily="34" charset="0"/>
                <a:ea typeface="Consolas" pitchFamily="34" charset="-122"/>
                <a:cs typeface="Consolas" pitchFamily="34" charset="-120"/>
              </a:rPr>
              <a:t>    AssistantChatRequest(query="a" * 501)    # Len 501: Fails</a:t>
            </a:r>
            <a:endParaRPr lang="en-US" sz="750" dirty="0"/>
          </a:p>
        </p:txBody>
      </p:sp>
      <p:sp>
        <p:nvSpPr>
          <p:cNvPr id="12" name="Shape 9"/>
          <p:cNvSpPr/>
          <p:nvPr/>
        </p:nvSpPr>
        <p:spPr>
          <a:xfrm>
            <a:off x="5943600" y="1371600"/>
            <a:ext cx="5486400" cy="3611880"/>
          </a:xfrm>
          <a:prstGeom prst="rect">
            <a:avLst>
              <a:gd name="adj" fmla="val 3038"/>
            </a:avLst>
          </a:prstGeom>
          <a:solidFill>
            <a:srgbClr val="FFFFFF"/>
          </a:solidFill>
          <a:ln w="19050">
            <a:solidFill>
              <a:srgbClr val="E5E0D8"/>
            </a:solidFill>
            <a:prstDash val="solid"/>
          </a:ln>
        </p:spPr>
      </p:sp>
      <p:sp>
        <p:nvSpPr>
          <p:cNvPr id="13" name="Text 10"/>
          <p:cNvSpPr/>
          <p:nvPr/>
        </p:nvSpPr>
        <p:spPr>
          <a:xfrm>
            <a:off x="6126480" y="1508760"/>
            <a:ext cx="512064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DECISION TABLE: WASTE ACTION ENGINE (10 RULES IN CODE)</a:t>
            </a:r>
            <a:endParaRPr lang="en-US" sz="9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126480" y="1874520"/>
          <a:ext cx="5120640" cy="2971800"/>
        </p:xfrm>
        <a:graphic>
          <a:graphicData uri="http://schemas.openxmlformats.org/drawingml/2006/table">
            <a:tbl>
              <a:tblPr/>
              <a:tblGrid>
                <a:gridCol w="457200"/>
                <a:gridCol w="640080"/>
                <a:gridCol w="548640"/>
                <a:gridCol w="548640"/>
                <a:gridCol w="822960"/>
                <a:gridCol w="914400"/>
                <a:gridCol w="1188720"/>
              </a:tblGrid>
              <a:tr h="256032">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Rule</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Perish?</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Dism?</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Stock</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Pace Ratio</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Alert Severity</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750" b="1" dirty="0">
                          <a:solidFill>
                            <a:srgbClr val="1B4332"/>
                          </a:solidFill>
                          <a:latin typeface="Montserrat" pitchFamily="34" charset="0"/>
                          <a:ea typeface="Montserrat" pitchFamily="34" charset="-122"/>
                          <a:cs typeface="Montserrat" pitchFamily="34" charset="-120"/>
                        </a:rPr>
                        <a:t>Action Output</a:t>
                      </a:r>
                      <a:endParaRPr lang="en-US" sz="7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R1</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0.20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None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 Alert (Non-perishable)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R2</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0.20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None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 Alert (Dismissed)</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R3</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0.20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None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 Alert (Zero stock)</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R4</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0.85</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None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 Alert (Normal velocity)</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R5</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0.70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None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No Alert (Strict boundary &gt;=0.70)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R6</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0.69</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Low Pace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Suggest 20% Discount (Boundary)</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R7</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0.50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Low Pace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Suggest 20% Discount (Mid-tier)</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R8</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0.35</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Low Pace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Suggest 20% Discount (Boundary)</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R9</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0.34</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Critical</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Flag Item / 30% Disc (Boundary)</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R10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True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False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&gt; 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0.10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Critical</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Flag Item / 30% Disc (Severe)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15" name="Text 11"/>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Input Boundary Enforcement: Equivalence partitioning and boundary value analysis on assistant chat queries confirm exact boundary handling at 0, 1, 500, and 501 characters, preventing buffer overruns.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Deterministic Decision Table: The 10-rule decision table tests every boolean combination of perishability, dismissal state, on-hand inventory, and calculated sales velocity ratios.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Threshold Boundary Verification: Validates precise boundary transitions in Backend/main.py: exactly 0.70 triggers Normal Pace, 0.69 triggers Low Pace (20%), and 0.34 triggers Critical (30%).</a:t>
            </a:r>
            <a:endParaRPr lang="en-US" sz="1150" dirty="0"/>
          </a:p>
        </p:txBody>
      </p:sp>
      <p:sp>
        <p:nvSpPr>
          <p:cNvPr id="16" name="Text 12"/>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test_pydantic_chat_query_bounds and test_decision_table_waste_action_engine in Backend/test_backend_unit.py.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2: TECHNIQUES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7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State Transition Testing: Waste Alert Dynamic Lifecycle</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2103120"/>
            <a:ext cx="1828800" cy="1005840"/>
          </a:xfrm>
          <a:prstGeom prst="rect">
            <a:avLst>
              <a:gd name="adj" fmla="val 9091"/>
            </a:avLst>
          </a:prstGeom>
          <a:solidFill>
            <a:srgbClr val="FFFFFF"/>
          </a:solidFill>
          <a:ln w="25400">
            <a:solidFill>
              <a:srgbClr val="1B4332"/>
            </a:solidFill>
            <a:prstDash val="solid"/>
          </a:ln>
        </p:spPr>
      </p:sp>
      <p:sp>
        <p:nvSpPr>
          <p:cNvPr id="8" name="Text 6"/>
          <p:cNvSpPr/>
          <p:nvPr/>
        </p:nvSpPr>
        <p:spPr>
          <a:xfrm>
            <a:off x="822960" y="2176272"/>
            <a:ext cx="548640" cy="228600"/>
          </a:xfrm>
          <a:prstGeom prst="rect">
            <a:avLst/>
          </a:prstGeom>
          <a:noFill/>
          <a:ln/>
        </p:spPr>
        <p:txBody>
          <a:bodyPr wrap="square" rtlCol="0" anchor="ctr"/>
          <a:lstStyle/>
          <a:p>
            <a:pPr indent="0" marL="0">
              <a:buNone/>
            </a:pPr>
            <a:r>
              <a:rPr lang="en-US" sz="900" b="1" dirty="0">
                <a:solidFill>
                  <a:srgbClr val="1B4332"/>
                </a:solidFill>
                <a:latin typeface="Montserrat" pitchFamily="34" charset="0"/>
                <a:ea typeface="Montserrat" pitchFamily="34" charset="-122"/>
                <a:cs typeface="Montserrat" pitchFamily="34" charset="-120"/>
              </a:rPr>
              <a:t>S0</a:t>
            </a:r>
            <a:endParaRPr lang="en-US" sz="900" dirty="0"/>
          </a:p>
        </p:txBody>
      </p:sp>
      <p:sp>
        <p:nvSpPr>
          <p:cNvPr id="9" name="Text 7"/>
          <p:cNvSpPr/>
          <p:nvPr/>
        </p:nvSpPr>
        <p:spPr>
          <a:xfrm>
            <a:off x="822960" y="2395728"/>
            <a:ext cx="1645920" cy="640080"/>
          </a:xfrm>
          <a:prstGeom prst="rect">
            <a:avLst/>
          </a:prstGeom>
          <a:noFill/>
          <a:ln/>
        </p:spPr>
        <p:txBody>
          <a:bodyPr wrap="square" rtlCol="0" anchor="ctr"/>
          <a:lstStyle/>
          <a:p>
            <a:pPr algn="ctr" indent="0" marL="0">
              <a:buNone/>
            </a:pPr>
            <a:r>
              <a:rPr lang="en-US" sz="850" b="1" dirty="0">
                <a:solidFill>
                  <a:srgbClr val="1C1C19"/>
                </a:solidFill>
                <a:latin typeface="Inter" pitchFamily="34" charset="0"/>
                <a:ea typeface="Inter" pitchFamily="34" charset="-122"/>
                <a:cs typeface="Inter" pitchFamily="34" charset="-120"/>
              </a:rPr>
              <a:t>UNFIRED</a:t>
            </a:r>
            <a:endParaRPr lang="en-US" sz="850" dirty="0"/>
          </a:p>
          <a:p>
            <a:pPr algn="ctr" indent="0" marL="0">
              <a:buNone/>
            </a:pPr>
            <a:r>
              <a:rPr lang="en-US" sz="850" b="1" dirty="0">
                <a:solidFill>
                  <a:srgbClr val="1C1C19"/>
                </a:solidFill>
                <a:latin typeface="Inter" pitchFamily="34" charset="0"/>
                <a:ea typeface="Inter" pitchFamily="34" charset="-122"/>
                <a:cs typeface="Inter" pitchFamily="34" charset="-120"/>
              </a:rPr>
              <a:t>(Normal Pace / Stock=0)</a:t>
            </a:r>
            <a:endParaRPr lang="en-US" sz="850" dirty="0"/>
          </a:p>
        </p:txBody>
      </p:sp>
      <p:sp>
        <p:nvSpPr>
          <p:cNvPr id="10" name="Shape 8"/>
          <p:cNvSpPr/>
          <p:nvPr/>
        </p:nvSpPr>
        <p:spPr>
          <a:xfrm>
            <a:off x="3291840" y="1463040"/>
            <a:ext cx="2103120" cy="1005840"/>
          </a:xfrm>
          <a:prstGeom prst="rect">
            <a:avLst>
              <a:gd name="adj" fmla="val 9091"/>
            </a:avLst>
          </a:prstGeom>
          <a:solidFill>
            <a:srgbClr val="FFFFFF"/>
          </a:solidFill>
          <a:ln w="25400">
            <a:solidFill>
              <a:srgbClr val="FFB702"/>
            </a:solidFill>
            <a:prstDash val="solid"/>
          </a:ln>
        </p:spPr>
      </p:sp>
      <p:sp>
        <p:nvSpPr>
          <p:cNvPr id="11" name="Text 9"/>
          <p:cNvSpPr/>
          <p:nvPr/>
        </p:nvSpPr>
        <p:spPr>
          <a:xfrm>
            <a:off x="3383280" y="1536192"/>
            <a:ext cx="548640" cy="228600"/>
          </a:xfrm>
          <a:prstGeom prst="rect">
            <a:avLst/>
          </a:prstGeom>
          <a:noFill/>
          <a:ln/>
        </p:spPr>
        <p:txBody>
          <a:bodyPr wrap="square" rtlCol="0" anchor="ctr"/>
          <a:lstStyle/>
          <a:p>
            <a:pPr indent="0" marL="0">
              <a:buNone/>
            </a:pPr>
            <a:r>
              <a:rPr lang="en-US" sz="900" b="1" dirty="0">
                <a:solidFill>
                  <a:srgbClr val="FFB702"/>
                </a:solidFill>
                <a:latin typeface="Montserrat" pitchFamily="34" charset="0"/>
                <a:ea typeface="Montserrat" pitchFamily="34" charset="-122"/>
                <a:cs typeface="Montserrat" pitchFamily="34" charset="-120"/>
              </a:rPr>
              <a:t>S1</a:t>
            </a:r>
            <a:endParaRPr lang="en-US" sz="900" dirty="0"/>
          </a:p>
        </p:txBody>
      </p:sp>
      <p:sp>
        <p:nvSpPr>
          <p:cNvPr id="12" name="Text 10"/>
          <p:cNvSpPr/>
          <p:nvPr/>
        </p:nvSpPr>
        <p:spPr>
          <a:xfrm>
            <a:off x="3383280" y="1755648"/>
            <a:ext cx="1920240" cy="640080"/>
          </a:xfrm>
          <a:prstGeom prst="rect">
            <a:avLst/>
          </a:prstGeom>
          <a:noFill/>
          <a:ln/>
        </p:spPr>
        <p:txBody>
          <a:bodyPr wrap="square" rtlCol="0" anchor="ctr"/>
          <a:lstStyle/>
          <a:p>
            <a:pPr algn="ctr" indent="0" marL="0">
              <a:buNone/>
            </a:pPr>
            <a:r>
              <a:rPr lang="en-US" sz="850" b="1" dirty="0">
                <a:solidFill>
                  <a:srgbClr val="1C1C19"/>
                </a:solidFill>
                <a:latin typeface="Inter" pitchFamily="34" charset="0"/>
                <a:ea typeface="Inter" pitchFamily="34" charset="-122"/>
                <a:cs typeface="Inter" pitchFamily="34" charset="-120"/>
              </a:rPr>
              <a:t>ACTIVE: LOW PACE</a:t>
            </a:r>
            <a:endParaRPr lang="en-US" sz="850" dirty="0"/>
          </a:p>
          <a:p>
            <a:pPr algn="ctr" indent="0" marL="0">
              <a:buNone/>
            </a:pPr>
            <a:r>
              <a:rPr lang="en-US" sz="850" b="1" dirty="0">
                <a:solidFill>
                  <a:srgbClr val="1C1C19"/>
                </a:solidFill>
                <a:latin typeface="Inter" pitchFamily="34" charset="0"/>
                <a:ea typeface="Inter" pitchFamily="34" charset="-122"/>
                <a:cs typeface="Inter" pitchFamily="34" charset="-120"/>
              </a:rPr>
              <a:t>(0.35 &lt;= Pace &lt; 0.70)</a:t>
            </a:r>
            <a:endParaRPr lang="en-US" sz="850" dirty="0"/>
          </a:p>
        </p:txBody>
      </p:sp>
      <p:sp>
        <p:nvSpPr>
          <p:cNvPr id="13" name="Shape 11"/>
          <p:cNvSpPr/>
          <p:nvPr/>
        </p:nvSpPr>
        <p:spPr>
          <a:xfrm>
            <a:off x="3291840" y="2926080"/>
            <a:ext cx="2103120" cy="1005840"/>
          </a:xfrm>
          <a:prstGeom prst="rect">
            <a:avLst>
              <a:gd name="adj" fmla="val 9091"/>
            </a:avLst>
          </a:prstGeom>
          <a:solidFill>
            <a:srgbClr val="FFFFFF"/>
          </a:solidFill>
          <a:ln w="25400">
            <a:solidFill>
              <a:srgbClr val="B91C1C"/>
            </a:solidFill>
            <a:prstDash val="solid"/>
          </a:ln>
        </p:spPr>
      </p:sp>
      <p:sp>
        <p:nvSpPr>
          <p:cNvPr id="14" name="Text 12"/>
          <p:cNvSpPr/>
          <p:nvPr/>
        </p:nvSpPr>
        <p:spPr>
          <a:xfrm>
            <a:off x="3383280" y="2999232"/>
            <a:ext cx="548640" cy="228600"/>
          </a:xfrm>
          <a:prstGeom prst="rect">
            <a:avLst/>
          </a:prstGeom>
          <a:noFill/>
          <a:ln/>
        </p:spPr>
        <p:txBody>
          <a:bodyPr wrap="square" rtlCol="0" anchor="ctr"/>
          <a:lstStyle/>
          <a:p>
            <a:pPr indent="0" marL="0">
              <a:buNone/>
            </a:pPr>
            <a:r>
              <a:rPr lang="en-US" sz="900" b="1" dirty="0">
                <a:solidFill>
                  <a:srgbClr val="B91C1C"/>
                </a:solidFill>
                <a:latin typeface="Montserrat" pitchFamily="34" charset="0"/>
                <a:ea typeface="Montserrat" pitchFamily="34" charset="-122"/>
                <a:cs typeface="Montserrat" pitchFamily="34" charset="-120"/>
              </a:rPr>
              <a:t>S2</a:t>
            </a:r>
            <a:endParaRPr lang="en-US" sz="900" dirty="0"/>
          </a:p>
        </p:txBody>
      </p:sp>
      <p:sp>
        <p:nvSpPr>
          <p:cNvPr id="15" name="Text 13"/>
          <p:cNvSpPr/>
          <p:nvPr/>
        </p:nvSpPr>
        <p:spPr>
          <a:xfrm>
            <a:off x="3383280" y="3218688"/>
            <a:ext cx="1920240" cy="640080"/>
          </a:xfrm>
          <a:prstGeom prst="rect">
            <a:avLst/>
          </a:prstGeom>
          <a:noFill/>
          <a:ln/>
        </p:spPr>
        <p:txBody>
          <a:bodyPr wrap="square" rtlCol="0" anchor="ctr"/>
          <a:lstStyle/>
          <a:p>
            <a:pPr algn="ctr" indent="0" marL="0">
              <a:buNone/>
            </a:pPr>
            <a:r>
              <a:rPr lang="en-US" sz="850" b="1" dirty="0">
                <a:solidFill>
                  <a:srgbClr val="1C1C19"/>
                </a:solidFill>
                <a:latin typeface="Inter" pitchFamily="34" charset="0"/>
                <a:ea typeface="Inter" pitchFamily="34" charset="-122"/>
                <a:cs typeface="Inter" pitchFamily="34" charset="-120"/>
              </a:rPr>
              <a:t>ACTIVE: CRITICAL</a:t>
            </a:r>
            <a:endParaRPr lang="en-US" sz="850" dirty="0"/>
          </a:p>
          <a:p>
            <a:pPr algn="ctr" indent="0" marL="0">
              <a:buNone/>
            </a:pPr>
            <a:r>
              <a:rPr lang="en-US" sz="850" b="1" dirty="0">
                <a:solidFill>
                  <a:srgbClr val="1C1C19"/>
                </a:solidFill>
                <a:latin typeface="Inter" pitchFamily="34" charset="0"/>
                <a:ea typeface="Inter" pitchFamily="34" charset="-122"/>
                <a:cs typeface="Inter" pitchFamily="34" charset="-120"/>
              </a:rPr>
              <a:t>(Pace &lt; 0.35 &amp; Stock&gt;0)</a:t>
            </a:r>
            <a:endParaRPr lang="en-US" sz="850" dirty="0"/>
          </a:p>
        </p:txBody>
      </p:sp>
      <p:sp>
        <p:nvSpPr>
          <p:cNvPr id="16" name="Shape 14"/>
          <p:cNvSpPr/>
          <p:nvPr/>
        </p:nvSpPr>
        <p:spPr>
          <a:xfrm>
            <a:off x="6217920" y="1463040"/>
            <a:ext cx="2194560" cy="1005840"/>
          </a:xfrm>
          <a:prstGeom prst="rect">
            <a:avLst>
              <a:gd name="adj" fmla="val 9091"/>
            </a:avLst>
          </a:prstGeom>
          <a:solidFill>
            <a:srgbClr val="FFFFFF"/>
          </a:solidFill>
          <a:ln w="25400">
            <a:solidFill>
              <a:srgbClr val="2D6A4F"/>
            </a:solidFill>
            <a:prstDash val="solid"/>
          </a:ln>
        </p:spPr>
      </p:sp>
      <p:sp>
        <p:nvSpPr>
          <p:cNvPr id="17" name="Text 15"/>
          <p:cNvSpPr/>
          <p:nvPr/>
        </p:nvSpPr>
        <p:spPr>
          <a:xfrm>
            <a:off x="6309360" y="1536192"/>
            <a:ext cx="548640" cy="228600"/>
          </a:xfrm>
          <a:prstGeom prst="rect">
            <a:avLst/>
          </a:prstGeom>
          <a:noFill/>
          <a:ln/>
        </p:spPr>
        <p:txBody>
          <a:bodyPr wrap="square" rtlCol="0" anchor="ctr"/>
          <a:lstStyle/>
          <a:p>
            <a:pPr indent="0" marL="0">
              <a:buNone/>
            </a:pPr>
            <a:r>
              <a:rPr lang="en-US" sz="900" b="1" dirty="0">
                <a:solidFill>
                  <a:srgbClr val="2D6A4F"/>
                </a:solidFill>
                <a:latin typeface="Montserrat" pitchFamily="34" charset="0"/>
                <a:ea typeface="Montserrat" pitchFamily="34" charset="-122"/>
                <a:cs typeface="Montserrat" pitchFamily="34" charset="-120"/>
              </a:rPr>
              <a:t>S3</a:t>
            </a:r>
            <a:endParaRPr lang="en-US" sz="900" dirty="0"/>
          </a:p>
        </p:txBody>
      </p:sp>
      <p:sp>
        <p:nvSpPr>
          <p:cNvPr id="18" name="Text 16"/>
          <p:cNvSpPr/>
          <p:nvPr/>
        </p:nvSpPr>
        <p:spPr>
          <a:xfrm>
            <a:off x="6309360" y="1755648"/>
            <a:ext cx="2011680" cy="640080"/>
          </a:xfrm>
          <a:prstGeom prst="rect">
            <a:avLst/>
          </a:prstGeom>
          <a:noFill/>
          <a:ln/>
        </p:spPr>
        <p:txBody>
          <a:bodyPr wrap="square" rtlCol="0" anchor="ctr"/>
          <a:lstStyle/>
          <a:p>
            <a:pPr algn="ctr" indent="0" marL="0">
              <a:buNone/>
            </a:pPr>
            <a:r>
              <a:rPr lang="en-US" sz="850" b="1" dirty="0">
                <a:solidFill>
                  <a:srgbClr val="1C1C19"/>
                </a:solidFill>
                <a:latin typeface="Inter" pitchFamily="34" charset="0"/>
                <a:ea typeface="Inter" pitchFamily="34" charset="-122"/>
                <a:cs typeface="Inter" pitchFamily="34" charset="-120"/>
              </a:rPr>
              <a:t>DISCOUNT APPLIED</a:t>
            </a:r>
            <a:endParaRPr lang="en-US" sz="850" dirty="0"/>
          </a:p>
          <a:p>
            <a:pPr algn="ctr" indent="0" marL="0">
              <a:buNone/>
            </a:pPr>
            <a:r>
              <a:rPr lang="en-US" sz="850" b="1" dirty="0">
                <a:solidFill>
                  <a:srgbClr val="1C1C19"/>
                </a:solidFill>
                <a:latin typeface="Inter" pitchFamily="34" charset="0"/>
                <a:ea typeface="Inter" pitchFamily="34" charset="-122"/>
                <a:cs typeface="Inter" pitchFamily="34" charset="-120"/>
              </a:rPr>
              <a:t>(Price * 0.80, Action Done)</a:t>
            </a:r>
            <a:endParaRPr lang="en-US" sz="850" dirty="0"/>
          </a:p>
        </p:txBody>
      </p:sp>
      <p:sp>
        <p:nvSpPr>
          <p:cNvPr id="19" name="Shape 17"/>
          <p:cNvSpPr/>
          <p:nvPr/>
        </p:nvSpPr>
        <p:spPr>
          <a:xfrm>
            <a:off x="6217920" y="2926080"/>
            <a:ext cx="2194560" cy="1005840"/>
          </a:xfrm>
          <a:prstGeom prst="rect">
            <a:avLst>
              <a:gd name="adj" fmla="val 9091"/>
            </a:avLst>
          </a:prstGeom>
          <a:solidFill>
            <a:srgbClr val="FFFFFF"/>
          </a:solidFill>
          <a:ln w="25400">
            <a:solidFill>
              <a:srgbClr val="D97706"/>
            </a:solidFill>
            <a:prstDash val="solid"/>
          </a:ln>
        </p:spPr>
      </p:sp>
      <p:sp>
        <p:nvSpPr>
          <p:cNvPr id="20" name="Text 18"/>
          <p:cNvSpPr/>
          <p:nvPr/>
        </p:nvSpPr>
        <p:spPr>
          <a:xfrm>
            <a:off x="6309360" y="2999232"/>
            <a:ext cx="548640" cy="228600"/>
          </a:xfrm>
          <a:prstGeom prst="rect">
            <a:avLst/>
          </a:prstGeom>
          <a:noFill/>
          <a:ln/>
        </p:spPr>
        <p:txBody>
          <a:bodyPr wrap="square" rtlCol="0" anchor="ctr"/>
          <a:lstStyle/>
          <a:p>
            <a:pPr indent="0" marL="0">
              <a:buNone/>
            </a:pPr>
            <a:r>
              <a:rPr lang="en-US" sz="900" b="1" dirty="0">
                <a:solidFill>
                  <a:srgbClr val="D97706"/>
                </a:solidFill>
                <a:latin typeface="Montserrat" pitchFamily="34" charset="0"/>
                <a:ea typeface="Montserrat" pitchFamily="34" charset="-122"/>
                <a:cs typeface="Montserrat" pitchFamily="34" charset="-120"/>
              </a:rPr>
              <a:t>S4</a:t>
            </a:r>
            <a:endParaRPr lang="en-US" sz="900" dirty="0"/>
          </a:p>
        </p:txBody>
      </p:sp>
      <p:sp>
        <p:nvSpPr>
          <p:cNvPr id="21" name="Text 19"/>
          <p:cNvSpPr/>
          <p:nvPr/>
        </p:nvSpPr>
        <p:spPr>
          <a:xfrm>
            <a:off x="6309360" y="3218688"/>
            <a:ext cx="2011680" cy="640080"/>
          </a:xfrm>
          <a:prstGeom prst="rect">
            <a:avLst/>
          </a:prstGeom>
          <a:noFill/>
          <a:ln/>
        </p:spPr>
        <p:txBody>
          <a:bodyPr wrap="square" rtlCol="0" anchor="ctr"/>
          <a:lstStyle/>
          <a:p>
            <a:pPr algn="ctr" indent="0" marL="0">
              <a:buNone/>
            </a:pPr>
            <a:r>
              <a:rPr lang="en-US" sz="850" b="1" dirty="0">
                <a:solidFill>
                  <a:srgbClr val="1C1C19"/>
                </a:solidFill>
                <a:latin typeface="Inter" pitchFamily="34" charset="0"/>
                <a:ea typeface="Inter" pitchFamily="34" charset="-122"/>
                <a:cs typeface="Inter" pitchFamily="34" charset="-120"/>
              </a:rPr>
              <a:t>DONATION FLAGGED</a:t>
            </a:r>
            <a:endParaRPr lang="en-US" sz="850" dirty="0"/>
          </a:p>
          <a:p>
            <a:pPr algn="ctr" indent="0" marL="0">
              <a:buNone/>
            </a:pPr>
            <a:r>
              <a:rPr lang="en-US" sz="850" b="1" dirty="0">
                <a:solidFill>
                  <a:srgbClr val="1C1C19"/>
                </a:solidFill>
                <a:latin typeface="Inter" pitchFamily="34" charset="0"/>
                <a:ea typeface="Inter" pitchFamily="34" charset="-122"/>
                <a:cs typeface="Inter" pitchFamily="34" charset="-120"/>
              </a:rPr>
              <a:t>(flaggedForDonation=true)</a:t>
            </a:r>
            <a:endParaRPr lang="en-US" sz="850" dirty="0"/>
          </a:p>
        </p:txBody>
      </p:sp>
      <p:sp>
        <p:nvSpPr>
          <p:cNvPr id="22" name="Shape 20"/>
          <p:cNvSpPr/>
          <p:nvPr/>
        </p:nvSpPr>
        <p:spPr>
          <a:xfrm>
            <a:off x="9144000" y="2103120"/>
            <a:ext cx="2286000" cy="1005840"/>
          </a:xfrm>
          <a:prstGeom prst="rect">
            <a:avLst>
              <a:gd name="adj" fmla="val 9091"/>
            </a:avLst>
          </a:prstGeom>
          <a:solidFill>
            <a:srgbClr val="FFFFFF"/>
          </a:solidFill>
          <a:ln w="25400">
            <a:solidFill>
              <a:srgbClr val="5A5A54"/>
            </a:solidFill>
            <a:prstDash val="solid"/>
          </a:ln>
        </p:spPr>
      </p:sp>
      <p:sp>
        <p:nvSpPr>
          <p:cNvPr id="23" name="Text 21"/>
          <p:cNvSpPr/>
          <p:nvPr/>
        </p:nvSpPr>
        <p:spPr>
          <a:xfrm>
            <a:off x="9235440" y="2176272"/>
            <a:ext cx="548640" cy="228600"/>
          </a:xfrm>
          <a:prstGeom prst="rect">
            <a:avLst/>
          </a:prstGeom>
          <a:noFill/>
          <a:ln/>
        </p:spPr>
        <p:txBody>
          <a:bodyPr wrap="square" rtlCol="0" anchor="ctr"/>
          <a:lstStyle/>
          <a:p>
            <a:pPr indent="0" marL="0">
              <a:buNone/>
            </a:pPr>
            <a:r>
              <a:rPr lang="en-US" sz="900" b="1" dirty="0">
                <a:solidFill>
                  <a:srgbClr val="5A5A54"/>
                </a:solidFill>
                <a:latin typeface="Montserrat" pitchFamily="34" charset="0"/>
                <a:ea typeface="Montserrat" pitchFamily="34" charset="-122"/>
                <a:cs typeface="Montserrat" pitchFamily="34" charset="-120"/>
              </a:rPr>
              <a:t>S5</a:t>
            </a:r>
            <a:endParaRPr lang="en-US" sz="900" dirty="0"/>
          </a:p>
        </p:txBody>
      </p:sp>
      <p:sp>
        <p:nvSpPr>
          <p:cNvPr id="24" name="Text 22"/>
          <p:cNvSpPr/>
          <p:nvPr/>
        </p:nvSpPr>
        <p:spPr>
          <a:xfrm>
            <a:off x="9235440" y="2395728"/>
            <a:ext cx="2103120" cy="640080"/>
          </a:xfrm>
          <a:prstGeom prst="rect">
            <a:avLst/>
          </a:prstGeom>
          <a:noFill/>
          <a:ln/>
        </p:spPr>
        <p:txBody>
          <a:bodyPr wrap="square" rtlCol="0" anchor="ctr"/>
          <a:lstStyle/>
          <a:p>
            <a:pPr algn="ctr" indent="0" marL="0">
              <a:buNone/>
            </a:pPr>
            <a:r>
              <a:rPr lang="en-US" sz="850" b="1" dirty="0">
                <a:solidFill>
                  <a:srgbClr val="1C1C19"/>
                </a:solidFill>
                <a:latin typeface="Inter" pitchFamily="34" charset="0"/>
                <a:ea typeface="Inter" pitchFamily="34" charset="-122"/>
                <a:cs typeface="Inter" pitchFamily="34" charset="-120"/>
              </a:rPr>
              <a:t>DISMISSED / SUPPRESSED</a:t>
            </a:r>
            <a:endParaRPr lang="en-US" sz="850" dirty="0"/>
          </a:p>
          <a:p>
            <a:pPr algn="ctr" indent="0" marL="0">
              <a:buNone/>
            </a:pPr>
            <a:r>
              <a:rPr lang="en-US" sz="850" b="1" dirty="0">
                <a:solidFill>
                  <a:srgbClr val="1C1C19"/>
                </a:solidFill>
                <a:latin typeface="Inter" pitchFamily="34" charset="0"/>
                <a:ea typeface="Inter" pitchFamily="34" charset="-122"/>
                <a:cs typeface="Inter" pitchFamily="34" charset="-120"/>
              </a:rPr>
              <a:t>(isDismissed=true, Skipped)</a:t>
            </a:r>
            <a:endParaRPr lang="en-US" sz="850" dirty="0"/>
          </a:p>
        </p:txBody>
      </p:sp>
      <p:sp>
        <p:nvSpPr>
          <p:cNvPr id="25" name="Shape 23"/>
          <p:cNvSpPr/>
          <p:nvPr/>
        </p:nvSpPr>
        <p:spPr>
          <a:xfrm>
            <a:off x="2560320" y="1554480"/>
            <a:ext cx="731520" cy="274320"/>
          </a:xfrm>
          <a:prstGeom prst="rect">
            <a:avLst>
              <a:gd name="adj" fmla="val 13333"/>
            </a:avLst>
          </a:prstGeom>
          <a:solidFill>
            <a:srgbClr val="EAE5DC"/>
          </a:solidFill>
          <a:ln w="10160">
            <a:solidFill>
              <a:srgbClr val="E5E0D8"/>
            </a:solidFill>
            <a:prstDash val="solid"/>
          </a:ln>
        </p:spPr>
      </p:sp>
      <p:sp>
        <p:nvSpPr>
          <p:cNvPr id="26" name="Text 24"/>
          <p:cNvSpPr/>
          <p:nvPr/>
        </p:nvSpPr>
        <p:spPr>
          <a:xfrm>
            <a:off x="2560320" y="1554480"/>
            <a:ext cx="73152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T1: Pace &lt; 0.70</a:t>
            </a:r>
            <a:endParaRPr lang="en-US" sz="700" dirty="0"/>
          </a:p>
        </p:txBody>
      </p:sp>
      <p:sp>
        <p:nvSpPr>
          <p:cNvPr id="27" name="Shape 25"/>
          <p:cNvSpPr/>
          <p:nvPr/>
        </p:nvSpPr>
        <p:spPr>
          <a:xfrm>
            <a:off x="2560320" y="3017520"/>
            <a:ext cx="731520" cy="274320"/>
          </a:xfrm>
          <a:prstGeom prst="rect">
            <a:avLst>
              <a:gd name="adj" fmla="val 13333"/>
            </a:avLst>
          </a:prstGeom>
          <a:solidFill>
            <a:srgbClr val="EAE5DC"/>
          </a:solidFill>
          <a:ln w="10160">
            <a:solidFill>
              <a:srgbClr val="E5E0D8"/>
            </a:solidFill>
            <a:prstDash val="solid"/>
          </a:ln>
        </p:spPr>
      </p:sp>
      <p:sp>
        <p:nvSpPr>
          <p:cNvPr id="28" name="Text 26"/>
          <p:cNvSpPr/>
          <p:nvPr/>
        </p:nvSpPr>
        <p:spPr>
          <a:xfrm>
            <a:off x="2560320" y="3017520"/>
            <a:ext cx="73152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T2: Pace &lt; 0.35</a:t>
            </a:r>
            <a:endParaRPr lang="en-US" sz="700" dirty="0"/>
          </a:p>
        </p:txBody>
      </p:sp>
      <p:sp>
        <p:nvSpPr>
          <p:cNvPr id="29" name="Shape 27"/>
          <p:cNvSpPr/>
          <p:nvPr/>
        </p:nvSpPr>
        <p:spPr>
          <a:xfrm>
            <a:off x="5394960" y="1554480"/>
            <a:ext cx="822960" cy="274320"/>
          </a:xfrm>
          <a:prstGeom prst="rect">
            <a:avLst>
              <a:gd name="adj" fmla="val 13333"/>
            </a:avLst>
          </a:prstGeom>
          <a:solidFill>
            <a:srgbClr val="EAE5DC"/>
          </a:solidFill>
          <a:ln w="10160">
            <a:solidFill>
              <a:srgbClr val="E5E0D8"/>
            </a:solidFill>
            <a:prstDash val="solid"/>
          </a:ln>
        </p:spPr>
      </p:sp>
      <p:sp>
        <p:nvSpPr>
          <p:cNvPr id="30" name="Text 28"/>
          <p:cNvSpPr/>
          <p:nvPr/>
        </p:nvSpPr>
        <p:spPr>
          <a:xfrm>
            <a:off x="5394960" y="1554480"/>
            <a:ext cx="82296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T3: /apply-discount</a:t>
            </a:r>
            <a:endParaRPr lang="en-US" sz="700" dirty="0"/>
          </a:p>
        </p:txBody>
      </p:sp>
      <p:sp>
        <p:nvSpPr>
          <p:cNvPr id="31" name="Shape 29"/>
          <p:cNvSpPr/>
          <p:nvPr/>
        </p:nvSpPr>
        <p:spPr>
          <a:xfrm>
            <a:off x="5394960" y="3017520"/>
            <a:ext cx="822960" cy="274320"/>
          </a:xfrm>
          <a:prstGeom prst="rect">
            <a:avLst>
              <a:gd name="adj" fmla="val 13333"/>
            </a:avLst>
          </a:prstGeom>
          <a:solidFill>
            <a:srgbClr val="EAE5DC"/>
          </a:solidFill>
          <a:ln w="10160">
            <a:solidFill>
              <a:srgbClr val="E5E0D8"/>
            </a:solidFill>
            <a:prstDash val="solid"/>
          </a:ln>
        </p:spPr>
      </p:sp>
      <p:sp>
        <p:nvSpPr>
          <p:cNvPr id="32" name="Text 30"/>
          <p:cNvSpPr/>
          <p:nvPr/>
        </p:nvSpPr>
        <p:spPr>
          <a:xfrm>
            <a:off x="5394960" y="3017520"/>
            <a:ext cx="82296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T4: /flag-donation</a:t>
            </a:r>
            <a:endParaRPr lang="en-US" sz="700" dirty="0"/>
          </a:p>
        </p:txBody>
      </p:sp>
      <p:sp>
        <p:nvSpPr>
          <p:cNvPr id="33" name="Shape 31"/>
          <p:cNvSpPr/>
          <p:nvPr/>
        </p:nvSpPr>
        <p:spPr>
          <a:xfrm>
            <a:off x="8046720" y="1828800"/>
            <a:ext cx="914400" cy="274320"/>
          </a:xfrm>
          <a:prstGeom prst="rect">
            <a:avLst>
              <a:gd name="adj" fmla="val 13333"/>
            </a:avLst>
          </a:prstGeom>
          <a:solidFill>
            <a:srgbClr val="EAE5DC"/>
          </a:solidFill>
          <a:ln w="10160">
            <a:solidFill>
              <a:srgbClr val="E5E0D8"/>
            </a:solidFill>
            <a:prstDash val="solid"/>
          </a:ln>
        </p:spPr>
      </p:sp>
      <p:sp>
        <p:nvSpPr>
          <p:cNvPr id="34" name="Text 32"/>
          <p:cNvSpPr/>
          <p:nvPr/>
        </p:nvSpPr>
        <p:spPr>
          <a:xfrm>
            <a:off x="8046720" y="1828800"/>
            <a:ext cx="91440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T5: /dismiss</a:t>
            </a:r>
            <a:endParaRPr lang="en-US" sz="700" dirty="0"/>
          </a:p>
        </p:txBody>
      </p:sp>
      <p:sp>
        <p:nvSpPr>
          <p:cNvPr id="35" name="Shape 33"/>
          <p:cNvSpPr/>
          <p:nvPr/>
        </p:nvSpPr>
        <p:spPr>
          <a:xfrm>
            <a:off x="8046720" y="2743200"/>
            <a:ext cx="914400" cy="274320"/>
          </a:xfrm>
          <a:prstGeom prst="rect">
            <a:avLst>
              <a:gd name="adj" fmla="val 13333"/>
            </a:avLst>
          </a:prstGeom>
          <a:solidFill>
            <a:srgbClr val="EAE5DC"/>
          </a:solidFill>
          <a:ln w="10160">
            <a:solidFill>
              <a:srgbClr val="E5E0D8"/>
            </a:solidFill>
            <a:prstDash val="solid"/>
          </a:ln>
        </p:spPr>
      </p:sp>
      <p:sp>
        <p:nvSpPr>
          <p:cNvPr id="36" name="Text 34"/>
          <p:cNvSpPr/>
          <p:nvPr/>
        </p:nvSpPr>
        <p:spPr>
          <a:xfrm>
            <a:off x="8046720" y="2743200"/>
            <a:ext cx="91440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T6: /dismiss</a:t>
            </a:r>
            <a:endParaRPr lang="en-US" sz="700" dirty="0"/>
          </a:p>
        </p:txBody>
      </p:sp>
      <p:sp>
        <p:nvSpPr>
          <p:cNvPr id="37" name="Shape 35"/>
          <p:cNvSpPr/>
          <p:nvPr/>
        </p:nvSpPr>
        <p:spPr>
          <a:xfrm>
            <a:off x="9144000" y="3291840"/>
            <a:ext cx="2286000" cy="274320"/>
          </a:xfrm>
          <a:prstGeom prst="rect">
            <a:avLst>
              <a:gd name="adj" fmla="val 13333"/>
            </a:avLst>
          </a:prstGeom>
          <a:solidFill>
            <a:srgbClr val="EAE5DC"/>
          </a:solidFill>
          <a:ln w="10160">
            <a:solidFill>
              <a:srgbClr val="E5E0D8"/>
            </a:solidFill>
            <a:prstDash val="solid"/>
          </a:ln>
        </p:spPr>
      </p:sp>
      <p:sp>
        <p:nvSpPr>
          <p:cNvPr id="38" name="Text 36"/>
          <p:cNvSpPr/>
          <p:nvPr/>
        </p:nvSpPr>
        <p:spPr>
          <a:xfrm>
            <a:off x="9144000" y="3291840"/>
            <a:ext cx="2286000" cy="274320"/>
          </a:xfrm>
          <a:prstGeom prst="rect">
            <a:avLst/>
          </a:prstGeom>
          <a:noFill/>
          <a:ln/>
        </p:spPr>
        <p:txBody>
          <a:bodyPr wrap="square" rtlCol="0" anchor="ctr"/>
          <a:lstStyle/>
          <a:p>
            <a:pPr algn="ctr" indent="0" marL="0">
              <a:buNone/>
            </a:pPr>
            <a:r>
              <a:rPr lang="en-US" sz="700" b="1" dirty="0">
                <a:solidFill>
                  <a:srgbClr val="1B4332"/>
                </a:solidFill>
                <a:latin typeface="Montserrat" pitchFamily="34" charset="0"/>
                <a:ea typeface="Montserrat" pitchFamily="34" charset="-122"/>
                <a:cs typeface="Montserrat" pitchFamily="34" charset="-120"/>
              </a:rPr>
              <a:t>T7: Next Poll -&gt; Ignored</a:t>
            </a:r>
            <a:endParaRPr lang="en-US" sz="700" dirty="0"/>
          </a:p>
        </p:txBody>
      </p:sp>
      <p:sp>
        <p:nvSpPr>
          <p:cNvPr id="39" name="Shape 37"/>
          <p:cNvSpPr/>
          <p:nvPr/>
        </p:nvSpPr>
        <p:spPr>
          <a:xfrm>
            <a:off x="731520" y="4206240"/>
            <a:ext cx="10698480" cy="822960"/>
          </a:xfrm>
          <a:prstGeom prst="rect">
            <a:avLst>
              <a:gd name="adj" fmla="val 8889"/>
            </a:avLst>
          </a:prstGeom>
          <a:solidFill>
            <a:srgbClr val="FFFFFF"/>
          </a:solidFill>
          <a:ln w="12700">
            <a:solidFill>
              <a:srgbClr val="E5E0D8"/>
            </a:solidFill>
            <a:prstDash val="solid"/>
          </a:ln>
        </p:spPr>
      </p:sp>
      <p:sp>
        <p:nvSpPr>
          <p:cNvPr id="40" name="Text 38"/>
          <p:cNvSpPr/>
          <p:nvPr/>
        </p:nvSpPr>
        <p:spPr>
          <a:xfrm>
            <a:off x="914400" y="4251960"/>
            <a:ext cx="10332720" cy="201168"/>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TEST SUITE EXECUTION TRACE (test_state_transitions_waste_alert in Backend/test_backend_unit.py):</a:t>
            </a:r>
            <a:endParaRPr lang="en-US" sz="850" dirty="0"/>
          </a:p>
        </p:txBody>
      </p:sp>
      <p:sp>
        <p:nvSpPr>
          <p:cNvPr id="41" name="Text 39"/>
          <p:cNvSpPr/>
          <p:nvPr/>
        </p:nvSpPr>
        <p:spPr>
          <a:xfrm>
            <a:off x="914400" y="4480560"/>
            <a:ext cx="10332720" cy="50292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T1 &amp; T2: Probes alert generator; verifies Traditional Baguette enters S1 (Low Pace) and Whole Milk enters S2 (Critical).</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T3 &amp; T4: Calls discount and donation actions; verifies price markdown ($2.80 -&gt; $2.24) and flaggedForDonation=True in document.</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T5, T6, T7: Issues dismiss request; proves that subsequent polling runs completely suppress dismissed items from the manager UI.</a:t>
            </a:r>
            <a:endParaRPr lang="en-US" sz="800" dirty="0"/>
          </a:p>
        </p:txBody>
      </p:sp>
      <p:sp>
        <p:nvSpPr>
          <p:cNvPr id="42" name="Text 40"/>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Finite State Verification: Models all valid states and trigger events across the waste alert lifecycle, ensuring items transition cleanly between active, discounted, and dismissed states.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State Invariant Enforcement: Tests verify that executing a discount action immediately updates pricing in database documents and marks primary action status as completed.</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Suppression Post-Dismissal: Confirms that once an alert transitions to Dismissed, subsequent polling queries strictly suppress the item from recurring on the manager's dashboard.</a:t>
            </a:r>
            <a:endParaRPr lang="en-US" sz="1150" dirty="0"/>
          </a:p>
        </p:txBody>
      </p:sp>
      <p:sp>
        <p:nvSpPr>
          <p:cNvPr id="43" name="Text 41"/>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test_state_transitions_waste_alert in Backend/test_backend_unit.py; State handlers in Backend/main.py:626-780.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2: TECHNIQUES</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8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White-Box Testing: CFG Analysis &amp; Branch Coverage</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12064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475488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CONTROL-FLOW GRAPH: get_client_ip(request)</a:t>
            </a:r>
            <a:endParaRPr lang="en-US" sz="950" dirty="0"/>
          </a:p>
        </p:txBody>
      </p:sp>
      <p:sp>
        <p:nvSpPr>
          <p:cNvPr id="9" name="Shape 7"/>
          <p:cNvSpPr/>
          <p:nvPr/>
        </p:nvSpPr>
        <p:spPr>
          <a:xfrm>
            <a:off x="914400" y="1874520"/>
            <a:ext cx="4754880" cy="329184"/>
          </a:xfrm>
          <a:prstGeom prst="rect">
            <a:avLst>
              <a:gd name="adj" fmla="val 13889"/>
            </a:avLst>
          </a:prstGeom>
          <a:solidFill>
            <a:srgbClr val="FFFFFF"/>
          </a:solidFill>
          <a:ln w="12700">
            <a:solidFill>
              <a:srgbClr val="E5E0D8"/>
            </a:solidFill>
            <a:prstDash val="solid"/>
          </a:ln>
        </p:spPr>
      </p:sp>
      <p:sp>
        <p:nvSpPr>
          <p:cNvPr id="10" name="Text 8"/>
          <p:cNvSpPr/>
          <p:nvPr/>
        </p:nvSpPr>
        <p:spPr>
          <a:xfrm>
            <a:off x="1005840" y="1874520"/>
            <a:ext cx="4572000" cy="329184"/>
          </a:xfrm>
          <a:prstGeom prst="rect">
            <a:avLst/>
          </a:prstGeom>
          <a:noFill/>
          <a:ln/>
        </p:spPr>
        <p:txBody>
          <a:bodyPr wrap="square" rtlCol="0" anchor="ctr"/>
          <a:lstStyle/>
          <a:p>
            <a:pPr indent="0" marL="0">
              <a:buNone/>
            </a:pPr>
            <a:r>
              <a:rPr lang="en-US" sz="750" dirty="0">
                <a:solidFill>
                  <a:srgbClr val="1C1C19"/>
                </a:solidFill>
                <a:latin typeface="Consolas" pitchFamily="34" charset="0"/>
                <a:ea typeface="Consolas" pitchFamily="34" charset="-122"/>
                <a:cs typeface="Consolas" pitchFamily="34" charset="-120"/>
              </a:rPr>
              <a:t>(1) Entry: forwarded_for = headers.get('x-forwarded-for')</a:t>
            </a:r>
            <a:endParaRPr lang="en-US" sz="750" dirty="0"/>
          </a:p>
        </p:txBody>
      </p:sp>
      <p:sp>
        <p:nvSpPr>
          <p:cNvPr id="11" name="Shape 9"/>
          <p:cNvSpPr/>
          <p:nvPr/>
        </p:nvSpPr>
        <p:spPr>
          <a:xfrm>
            <a:off x="914400" y="2286000"/>
            <a:ext cx="4754880" cy="329184"/>
          </a:xfrm>
          <a:prstGeom prst="rect">
            <a:avLst>
              <a:gd name="adj" fmla="val 13889"/>
            </a:avLst>
          </a:prstGeom>
          <a:solidFill>
            <a:srgbClr val="EAE5DC"/>
          </a:solidFill>
          <a:ln w="12700">
            <a:solidFill>
              <a:srgbClr val="FFB702"/>
            </a:solidFill>
            <a:prstDash val="solid"/>
          </a:ln>
        </p:spPr>
      </p:sp>
      <p:sp>
        <p:nvSpPr>
          <p:cNvPr id="12" name="Text 10"/>
          <p:cNvSpPr/>
          <p:nvPr/>
        </p:nvSpPr>
        <p:spPr>
          <a:xfrm>
            <a:off x="1005840" y="2286000"/>
            <a:ext cx="4572000" cy="329184"/>
          </a:xfrm>
          <a:prstGeom prst="rect">
            <a:avLst/>
          </a:prstGeom>
          <a:noFill/>
          <a:ln/>
        </p:spPr>
        <p:txBody>
          <a:bodyPr wrap="square" rtlCol="0" anchor="ctr"/>
          <a:lstStyle/>
          <a:p>
            <a:pPr indent="0" marL="0">
              <a:buNone/>
            </a:pPr>
            <a:r>
              <a:rPr lang="en-US" sz="750" b="1" dirty="0">
                <a:solidFill>
                  <a:srgbClr val="1C1C19"/>
                </a:solidFill>
                <a:latin typeface="Consolas" pitchFamily="34" charset="0"/>
                <a:ea typeface="Consolas" pitchFamily="34" charset="-122"/>
                <a:cs typeface="Consolas" pitchFamily="34" charset="-120"/>
              </a:rPr>
              <a:t>(2) Predicate 1: if forwarded_for is truthy?</a:t>
            </a:r>
            <a:endParaRPr lang="en-US" sz="750" dirty="0"/>
          </a:p>
        </p:txBody>
      </p:sp>
      <p:sp>
        <p:nvSpPr>
          <p:cNvPr id="13" name="Shape 11"/>
          <p:cNvSpPr/>
          <p:nvPr/>
        </p:nvSpPr>
        <p:spPr>
          <a:xfrm>
            <a:off x="914400" y="2697480"/>
            <a:ext cx="4754880" cy="329184"/>
          </a:xfrm>
          <a:prstGeom prst="rect">
            <a:avLst>
              <a:gd name="adj" fmla="val 13889"/>
            </a:avLst>
          </a:prstGeom>
          <a:solidFill>
            <a:srgbClr val="EAE5DC"/>
          </a:solidFill>
          <a:ln w="12700">
            <a:solidFill>
              <a:srgbClr val="FFB702"/>
            </a:solidFill>
            <a:prstDash val="solid"/>
          </a:ln>
        </p:spPr>
      </p:sp>
      <p:sp>
        <p:nvSpPr>
          <p:cNvPr id="14" name="Text 12"/>
          <p:cNvSpPr/>
          <p:nvPr/>
        </p:nvSpPr>
        <p:spPr>
          <a:xfrm>
            <a:off x="1005840" y="2697480"/>
            <a:ext cx="4572000" cy="329184"/>
          </a:xfrm>
          <a:prstGeom prst="rect">
            <a:avLst/>
          </a:prstGeom>
          <a:noFill/>
          <a:ln/>
        </p:spPr>
        <p:txBody>
          <a:bodyPr wrap="square" rtlCol="0" anchor="ctr"/>
          <a:lstStyle/>
          <a:p>
            <a:pPr indent="0" marL="0">
              <a:buNone/>
            </a:pPr>
            <a:r>
              <a:rPr lang="en-US" sz="750" b="1" dirty="0">
                <a:solidFill>
                  <a:srgbClr val="1C1C19"/>
                </a:solidFill>
                <a:latin typeface="Consolas" pitchFamily="34" charset="0"/>
                <a:ea typeface="Consolas" pitchFamily="34" charset="-122"/>
                <a:cs typeface="Consolas" pitchFamily="34" charset="-120"/>
              </a:rPr>
              <a:t>(3) Predicate 2: ips = split(); if ips is non-empty?</a:t>
            </a:r>
            <a:endParaRPr lang="en-US" sz="750" dirty="0"/>
          </a:p>
        </p:txBody>
      </p:sp>
      <p:sp>
        <p:nvSpPr>
          <p:cNvPr id="15" name="Shape 13"/>
          <p:cNvSpPr/>
          <p:nvPr/>
        </p:nvSpPr>
        <p:spPr>
          <a:xfrm>
            <a:off x="914400" y="3108960"/>
            <a:ext cx="4754880" cy="329184"/>
          </a:xfrm>
          <a:prstGeom prst="rect">
            <a:avLst>
              <a:gd name="adj" fmla="val 13889"/>
            </a:avLst>
          </a:prstGeom>
          <a:solidFill>
            <a:srgbClr val="FCF9F4"/>
          </a:solidFill>
          <a:ln w="12700">
            <a:solidFill>
              <a:srgbClr val="2D6A4F"/>
            </a:solidFill>
            <a:prstDash val="solid"/>
          </a:ln>
        </p:spPr>
      </p:sp>
      <p:sp>
        <p:nvSpPr>
          <p:cNvPr id="16" name="Text 14"/>
          <p:cNvSpPr/>
          <p:nvPr/>
        </p:nvSpPr>
        <p:spPr>
          <a:xfrm>
            <a:off x="1005840" y="3108960"/>
            <a:ext cx="4572000" cy="329184"/>
          </a:xfrm>
          <a:prstGeom prst="rect">
            <a:avLst/>
          </a:prstGeom>
          <a:noFill/>
          <a:ln/>
        </p:spPr>
        <p:txBody>
          <a:bodyPr wrap="square" rtlCol="0" anchor="ctr"/>
          <a:lstStyle/>
          <a:p>
            <a:pPr indent="0" marL="0">
              <a:buNone/>
            </a:pPr>
            <a:r>
              <a:rPr lang="en-US" sz="750" dirty="0">
                <a:solidFill>
                  <a:srgbClr val="1C1C19"/>
                </a:solidFill>
                <a:latin typeface="Consolas" pitchFamily="34" charset="0"/>
                <a:ea typeface="Consolas" pitchFamily="34" charset="-122"/>
                <a:cs typeface="Consolas" pitchFamily="34" charset="-120"/>
              </a:rPr>
              <a:t>(4) Path 1 Exit: return ips[-1] [Rightmost Trusted IP]</a:t>
            </a:r>
            <a:endParaRPr lang="en-US" sz="750" dirty="0"/>
          </a:p>
        </p:txBody>
      </p:sp>
      <p:sp>
        <p:nvSpPr>
          <p:cNvPr id="17" name="Shape 15"/>
          <p:cNvSpPr/>
          <p:nvPr/>
        </p:nvSpPr>
        <p:spPr>
          <a:xfrm>
            <a:off x="914400" y="3520440"/>
            <a:ext cx="4754880" cy="329184"/>
          </a:xfrm>
          <a:prstGeom prst="rect">
            <a:avLst>
              <a:gd name="adj" fmla="val 13889"/>
            </a:avLst>
          </a:prstGeom>
          <a:solidFill>
            <a:srgbClr val="EAE5DC"/>
          </a:solidFill>
          <a:ln w="12700">
            <a:solidFill>
              <a:srgbClr val="FFB702"/>
            </a:solidFill>
            <a:prstDash val="solid"/>
          </a:ln>
        </p:spPr>
      </p:sp>
      <p:sp>
        <p:nvSpPr>
          <p:cNvPr id="18" name="Text 16"/>
          <p:cNvSpPr/>
          <p:nvPr/>
        </p:nvSpPr>
        <p:spPr>
          <a:xfrm>
            <a:off x="1005840" y="3520440"/>
            <a:ext cx="4572000" cy="329184"/>
          </a:xfrm>
          <a:prstGeom prst="rect">
            <a:avLst/>
          </a:prstGeom>
          <a:noFill/>
          <a:ln/>
        </p:spPr>
        <p:txBody>
          <a:bodyPr wrap="square" rtlCol="0" anchor="ctr"/>
          <a:lstStyle/>
          <a:p>
            <a:pPr indent="0" marL="0">
              <a:buNone/>
            </a:pPr>
            <a:r>
              <a:rPr lang="en-US" sz="750" b="1" dirty="0">
                <a:solidFill>
                  <a:srgbClr val="1C1C19"/>
                </a:solidFill>
                <a:latin typeface="Consolas" pitchFamily="34" charset="0"/>
                <a:ea typeface="Consolas" pitchFamily="34" charset="-122"/>
                <a:cs typeface="Consolas" pitchFamily="34" charset="-120"/>
              </a:rPr>
              <a:t>(5) Predicate 3: if request.client and client.host?</a:t>
            </a:r>
            <a:endParaRPr lang="en-US" sz="750" dirty="0"/>
          </a:p>
        </p:txBody>
      </p:sp>
      <p:sp>
        <p:nvSpPr>
          <p:cNvPr id="19" name="Shape 17"/>
          <p:cNvSpPr/>
          <p:nvPr/>
        </p:nvSpPr>
        <p:spPr>
          <a:xfrm>
            <a:off x="914400" y="3931920"/>
            <a:ext cx="4754880" cy="329184"/>
          </a:xfrm>
          <a:prstGeom prst="rect">
            <a:avLst>
              <a:gd name="adj" fmla="val 13889"/>
            </a:avLst>
          </a:prstGeom>
          <a:solidFill>
            <a:srgbClr val="FCF9F4"/>
          </a:solidFill>
          <a:ln w="12700">
            <a:solidFill>
              <a:srgbClr val="2D6A4F"/>
            </a:solidFill>
            <a:prstDash val="solid"/>
          </a:ln>
        </p:spPr>
      </p:sp>
      <p:sp>
        <p:nvSpPr>
          <p:cNvPr id="20" name="Text 18"/>
          <p:cNvSpPr/>
          <p:nvPr/>
        </p:nvSpPr>
        <p:spPr>
          <a:xfrm>
            <a:off x="1005840" y="3931920"/>
            <a:ext cx="4572000" cy="329184"/>
          </a:xfrm>
          <a:prstGeom prst="rect">
            <a:avLst/>
          </a:prstGeom>
          <a:noFill/>
          <a:ln/>
        </p:spPr>
        <p:txBody>
          <a:bodyPr wrap="square" rtlCol="0" anchor="ctr"/>
          <a:lstStyle/>
          <a:p>
            <a:pPr indent="0" marL="0">
              <a:buNone/>
            </a:pPr>
            <a:r>
              <a:rPr lang="en-US" sz="750" dirty="0">
                <a:solidFill>
                  <a:srgbClr val="1C1C19"/>
                </a:solidFill>
                <a:latin typeface="Consolas" pitchFamily="34" charset="0"/>
                <a:ea typeface="Consolas" pitchFamily="34" charset="-122"/>
                <a:cs typeface="Consolas" pitchFamily="34" charset="-120"/>
              </a:rPr>
              <a:t>(6) Path 3 Exit: return request.client.host</a:t>
            </a:r>
            <a:endParaRPr lang="en-US" sz="750" dirty="0"/>
          </a:p>
        </p:txBody>
      </p:sp>
      <p:sp>
        <p:nvSpPr>
          <p:cNvPr id="21" name="Shape 19"/>
          <p:cNvSpPr/>
          <p:nvPr/>
        </p:nvSpPr>
        <p:spPr>
          <a:xfrm>
            <a:off x="914400" y="4343400"/>
            <a:ext cx="4754880" cy="329184"/>
          </a:xfrm>
          <a:prstGeom prst="rect">
            <a:avLst>
              <a:gd name="adj" fmla="val 13889"/>
            </a:avLst>
          </a:prstGeom>
          <a:solidFill>
            <a:srgbClr val="FCF9F4"/>
          </a:solidFill>
          <a:ln w="12700">
            <a:solidFill>
              <a:srgbClr val="2D6A4F"/>
            </a:solidFill>
            <a:prstDash val="solid"/>
          </a:ln>
        </p:spPr>
      </p:sp>
      <p:sp>
        <p:nvSpPr>
          <p:cNvPr id="22" name="Text 20"/>
          <p:cNvSpPr/>
          <p:nvPr/>
        </p:nvSpPr>
        <p:spPr>
          <a:xfrm>
            <a:off x="1005840" y="4343400"/>
            <a:ext cx="4572000" cy="329184"/>
          </a:xfrm>
          <a:prstGeom prst="rect">
            <a:avLst/>
          </a:prstGeom>
          <a:noFill/>
          <a:ln/>
        </p:spPr>
        <p:txBody>
          <a:bodyPr wrap="square" rtlCol="0" anchor="ctr"/>
          <a:lstStyle/>
          <a:p>
            <a:pPr indent="0" marL="0">
              <a:buNone/>
            </a:pPr>
            <a:r>
              <a:rPr lang="en-US" sz="750" dirty="0">
                <a:solidFill>
                  <a:srgbClr val="1C1C19"/>
                </a:solidFill>
                <a:latin typeface="Consolas" pitchFamily="34" charset="0"/>
                <a:ea typeface="Consolas" pitchFamily="34" charset="-122"/>
                <a:cs typeface="Consolas" pitchFamily="34" charset="-120"/>
              </a:rPr>
              <a:t>(7) Path 4/5 Exit: return '127.0.0.1' [Safe Fallback]</a:t>
            </a:r>
            <a:endParaRPr lang="en-US" sz="750" dirty="0"/>
          </a:p>
        </p:txBody>
      </p:sp>
      <p:sp>
        <p:nvSpPr>
          <p:cNvPr id="23" name="Shape 21"/>
          <p:cNvSpPr/>
          <p:nvPr/>
        </p:nvSpPr>
        <p:spPr>
          <a:xfrm>
            <a:off x="6126480" y="1371600"/>
            <a:ext cx="5303520" cy="3611880"/>
          </a:xfrm>
          <a:prstGeom prst="rect">
            <a:avLst>
              <a:gd name="adj" fmla="val 3038"/>
            </a:avLst>
          </a:prstGeom>
          <a:solidFill>
            <a:srgbClr val="FFFFFF"/>
          </a:solidFill>
          <a:ln w="19050">
            <a:solidFill>
              <a:srgbClr val="E5E0D8"/>
            </a:solidFill>
            <a:prstDash val="solid"/>
          </a:ln>
        </p:spPr>
      </p:sp>
      <p:sp>
        <p:nvSpPr>
          <p:cNvPr id="24" name="Text 22"/>
          <p:cNvSpPr/>
          <p:nvPr/>
        </p:nvSpPr>
        <p:spPr>
          <a:xfrm>
            <a:off x="6309360" y="1508760"/>
            <a:ext cx="493776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CYCLOMATIC COMPLEXITY &amp; COVERAGE.PY METRICS</a:t>
            </a:r>
            <a:endParaRPr lang="en-US" sz="950" dirty="0"/>
          </a:p>
        </p:txBody>
      </p:sp>
      <p:sp>
        <p:nvSpPr>
          <p:cNvPr id="25" name="Shape 23"/>
          <p:cNvSpPr/>
          <p:nvPr/>
        </p:nvSpPr>
        <p:spPr>
          <a:xfrm>
            <a:off x="6309360" y="1874520"/>
            <a:ext cx="4937760" cy="960120"/>
          </a:xfrm>
          <a:prstGeom prst="rect">
            <a:avLst>
              <a:gd name="adj" fmla="val 7619"/>
            </a:avLst>
          </a:prstGeom>
          <a:solidFill>
            <a:srgbClr val="FCF9F4"/>
          </a:solidFill>
          <a:ln w="12700">
            <a:solidFill>
              <a:srgbClr val="D8D2C6"/>
            </a:solidFill>
            <a:prstDash val="solid"/>
          </a:ln>
        </p:spPr>
      </p:sp>
      <p:sp>
        <p:nvSpPr>
          <p:cNvPr id="26" name="Text 24"/>
          <p:cNvSpPr/>
          <p:nvPr/>
        </p:nvSpPr>
        <p:spPr>
          <a:xfrm>
            <a:off x="6400800" y="1920240"/>
            <a:ext cx="4754880" cy="868680"/>
          </a:xfrm>
          <a:prstGeom prst="rect">
            <a:avLst/>
          </a:prstGeom>
          <a:noFill/>
          <a:ln/>
        </p:spPr>
        <p:txBody>
          <a:bodyPr wrap="square" rtlCol="0" anchor="ctr"/>
          <a:lstStyle/>
          <a:p>
            <a:pPr indent="0" marL="0">
              <a:buNone/>
            </a:pPr>
            <a:r>
              <a:rPr lang="en-US" sz="850" dirty="0">
                <a:solidFill>
                  <a:srgbClr val="1B4332"/>
                </a:solidFill>
                <a:latin typeface="Inter" pitchFamily="34" charset="0"/>
                <a:ea typeface="Inter" pitchFamily="34" charset="-122"/>
                <a:cs typeface="Inter" pitchFamily="34" charset="-120"/>
              </a:rPr>
              <a:t>MCCABE CYCLOMATIC COMPLEXITY DERIVATION:</a:t>
            </a:r>
            <a:endParaRPr lang="en-US" sz="850" dirty="0"/>
          </a:p>
          <a:p>
            <a:pPr indent="0" marL="0">
              <a:buNone/>
            </a:pPr>
            <a:r>
              <a:rPr lang="en-US" sz="850" dirty="0">
                <a:solidFill>
                  <a:srgbClr val="1B4332"/>
                </a:solidFill>
                <a:latin typeface="Inter" pitchFamily="34" charset="0"/>
                <a:ea typeface="Inter" pitchFamily="34" charset="-122"/>
                <a:cs typeface="Inter" pitchFamily="34" charset="-120"/>
              </a:rPr>
              <a:t>• Edges (E) = 11 | Nodes (N) = 8 | Connected Components (P) = 1</a:t>
            </a:r>
            <a:endParaRPr lang="en-US" sz="850" dirty="0"/>
          </a:p>
          <a:p>
            <a:pPr indent="0" marL="0">
              <a:buNone/>
            </a:pPr>
            <a:r>
              <a:rPr lang="en-US" sz="850" dirty="0">
                <a:solidFill>
                  <a:srgbClr val="1B4332"/>
                </a:solidFill>
                <a:latin typeface="Inter" pitchFamily="34" charset="0"/>
                <a:ea typeface="Inter" pitchFamily="34" charset="-122"/>
                <a:cs typeface="Inter" pitchFamily="34" charset="-120"/>
              </a:rPr>
              <a:t>• Formula 1: V(G) = E - N + 2P = 11 - 8 + 2(1) = 5</a:t>
            </a:r>
            <a:endParaRPr lang="en-US" sz="850" dirty="0"/>
          </a:p>
          <a:p>
            <a:pPr indent="0" marL="0">
              <a:buNone/>
            </a:pPr>
            <a:r>
              <a:rPr lang="en-US" sz="850" dirty="0">
                <a:solidFill>
                  <a:srgbClr val="1B4332"/>
                </a:solidFill>
                <a:latin typeface="Inter" pitchFamily="34" charset="0"/>
                <a:ea typeface="Inter" pitchFamily="34" charset="-122"/>
                <a:cs typeface="Inter" pitchFamily="34" charset="-120"/>
              </a:rPr>
              <a:t>• Formula 2: V(G) = Predicate Nodes + 1 = 4 decisions + 1 = 5</a:t>
            </a:r>
            <a:endParaRPr lang="en-US" sz="850" dirty="0"/>
          </a:p>
          <a:p>
            <a:pPr indent="0" marL="0">
              <a:buNone/>
            </a:pPr>
            <a:r>
              <a:rPr lang="en-US" sz="850" dirty="0">
                <a:solidFill>
                  <a:srgbClr val="1B4332"/>
                </a:solidFill>
                <a:latin typeface="Inter" pitchFamily="34" charset="0"/>
                <a:ea typeface="Inter" pitchFamily="34" charset="-122"/>
                <a:cs typeface="Inter" pitchFamily="34" charset="-120"/>
              </a:rPr>
              <a:t>• Conclusion: Exactly 5 linearly independent basis paths required.</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09360" y="2971800"/>
          <a:ext cx="4937760" cy="1874520"/>
        </p:xfrm>
        <a:graphic>
          <a:graphicData uri="http://schemas.openxmlformats.org/drawingml/2006/table">
            <a:tbl>
              <a:tblPr/>
              <a:tblGrid>
                <a:gridCol w="1645920"/>
                <a:gridCol w="502920"/>
                <a:gridCol w="502920"/>
                <a:gridCol w="640080"/>
                <a:gridCol w="594360"/>
                <a:gridCol w="1051560"/>
              </a:tblGrid>
              <a:tr h="274320">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Source File</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Stmts</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Miss</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Branch</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BrPart</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Coverage</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get_client_ip() (lines 77-91)</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8</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4</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100% (5/5 Paths)</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evaluate_waste_alert_tier()</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18</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8</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100% (All Branches)</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test_rate_limiter.py</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72</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7</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2</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89%</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test_tenant_isolation.py</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123</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9</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20</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7</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89%</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256032">
                <a:tc>
                  <a:txBody>
                    <a:bodyPr/>
                    <a:lstStyle/>
                    <a:p>
                      <a:pPr indent="0" marL="0">
                        <a:buNone/>
                      </a:pPr>
                      <a:r>
                        <a:rPr lang="en-US" sz="750" dirty="0">
                          <a:solidFill>
                            <a:srgbClr val="1C1C19"/>
                          </a:solidFill>
                          <a:latin typeface="Inter" pitchFamily="34" charset="0"/>
                          <a:ea typeface="Inter" pitchFamily="34" charset="-122"/>
                          <a:cs typeface="Inter" pitchFamily="34" charset="-120"/>
                        </a:rPr>
                        <a:t>Backend Total Suite</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585</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173</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112</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26</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750" dirty="0">
                          <a:solidFill>
                            <a:srgbClr val="1C1C19"/>
                          </a:solidFill>
                          <a:latin typeface="Inter" pitchFamily="34" charset="0"/>
                          <a:ea typeface="Inter" pitchFamily="34" charset="-122"/>
                          <a:cs typeface="Inter" pitchFamily="34" charset="-120"/>
                        </a:rPr>
                        <a:t>67% (7 Suites Pass)</a:t>
                      </a:r>
                      <a:endParaRPr lang="en-US" sz="7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28" name="Text 25"/>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Basis Path Derivation: Cyclomatic complexity V(G) = 5 dictates exactly five linearly independent execution paths required to achieve full white-box test coverage.</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Security Logic Probing: Independent path tests verify trusted rightmost proxy IP extraction, empty header fallbacks, direct client host detection, and localhost defaults.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Branch Coverage Evidence: Real measurement via coverage.py confirms 100% branch coverage on core security and decision functions with zero untested decision branches.</a:t>
            </a:r>
            <a:endParaRPr lang="en-US" sz="1150" dirty="0"/>
          </a:p>
        </p:txBody>
      </p:sp>
      <p:sp>
        <p:nvSpPr>
          <p:cNvPr id="29" name="Text 26"/>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test_white_box_get_client_ip_cfg_paths in Backend/test_backend_unit.py; Measured with coverage run --branch.</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3: UNIT &amp; INTEGRATION</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9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Unit &amp; Integration Testing: Classical vs. Mockist</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21208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48463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PARADIGM COMPARISON: DETROIT (CLASSIC) VS. LONDON (MOCKIST)</a:t>
            </a:r>
            <a:endParaRPr lang="en-US" sz="950" dirty="0"/>
          </a:p>
        </p:txBody>
      </p:sp>
      <p:sp>
        <p:nvSpPr>
          <p:cNvPr id="9" name="Shape 7"/>
          <p:cNvSpPr/>
          <p:nvPr/>
        </p:nvSpPr>
        <p:spPr>
          <a:xfrm>
            <a:off x="914400" y="1874520"/>
            <a:ext cx="4846320" cy="1417320"/>
          </a:xfrm>
          <a:prstGeom prst="rect">
            <a:avLst>
              <a:gd name="adj" fmla="val 5161"/>
            </a:avLst>
          </a:prstGeom>
          <a:solidFill>
            <a:srgbClr val="FCF9F4"/>
          </a:solidFill>
          <a:ln w="12700">
            <a:solidFill>
              <a:srgbClr val="1B4332"/>
            </a:solidFill>
            <a:prstDash val="solid"/>
          </a:ln>
        </p:spPr>
      </p:sp>
      <p:sp>
        <p:nvSpPr>
          <p:cNvPr id="10" name="Text 8"/>
          <p:cNvSpPr/>
          <p:nvPr/>
        </p:nvSpPr>
        <p:spPr>
          <a:xfrm>
            <a:off x="1005840" y="1938528"/>
            <a:ext cx="4663440" cy="201168"/>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CLASSICAL (DETROIT SCHOOL): STATE-BASED VERIFICATION</a:t>
            </a:r>
            <a:endParaRPr lang="en-US" sz="850" dirty="0"/>
          </a:p>
        </p:txBody>
      </p:sp>
      <p:sp>
        <p:nvSpPr>
          <p:cNvPr id="11" name="Text 9"/>
          <p:cNvSpPr/>
          <p:nvPr/>
        </p:nvSpPr>
        <p:spPr>
          <a:xfrm>
            <a:off x="1005840" y="2176272"/>
            <a:ext cx="4663440" cy="105156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Methodology: Uses real objects and verifies final mutated state after execution.</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RestockIQ Implementation: InventoryProvider CRUD tests, cross-provider catalog synchronization, and evaluate_waste_alert_tier decision rules.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Key Advantage: Detects unexpected emergent bugs across collaborating classes; verifies true business invariants.</a:t>
            </a:r>
            <a:endParaRPr lang="en-US" sz="800" dirty="0"/>
          </a:p>
        </p:txBody>
      </p:sp>
      <p:sp>
        <p:nvSpPr>
          <p:cNvPr id="12" name="Shape 10"/>
          <p:cNvSpPr/>
          <p:nvPr/>
        </p:nvSpPr>
        <p:spPr>
          <a:xfrm>
            <a:off x="914400" y="3429000"/>
            <a:ext cx="4846320" cy="1417320"/>
          </a:xfrm>
          <a:prstGeom prst="rect">
            <a:avLst>
              <a:gd name="adj" fmla="val 5161"/>
            </a:avLst>
          </a:prstGeom>
          <a:solidFill>
            <a:srgbClr val="EAE5DC"/>
          </a:solidFill>
          <a:ln w="12700">
            <a:solidFill>
              <a:srgbClr val="FFB702"/>
            </a:solidFill>
            <a:prstDash val="solid"/>
          </a:ln>
        </p:spPr>
      </p:sp>
      <p:sp>
        <p:nvSpPr>
          <p:cNvPr id="13" name="Text 11"/>
          <p:cNvSpPr/>
          <p:nvPr/>
        </p:nvSpPr>
        <p:spPr>
          <a:xfrm>
            <a:off x="1005840" y="3493008"/>
            <a:ext cx="4663440" cy="201168"/>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MOCKIST (LONDON SCHOOL): INTERACTION &amp; FAULT INJECTION</a:t>
            </a:r>
            <a:endParaRPr lang="en-US" sz="850" dirty="0"/>
          </a:p>
        </p:txBody>
      </p:sp>
      <p:sp>
        <p:nvSpPr>
          <p:cNvPr id="14" name="Text 12"/>
          <p:cNvSpPr/>
          <p:nvPr/>
        </p:nvSpPr>
        <p:spPr>
          <a:xfrm>
            <a:off x="1005840" y="3730752"/>
            <a:ext cx="4663440" cy="105156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Methodology: Replaces external collaborators with mocks to verify isolated contracts.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RestockIQ Implementation: Flutter widget tests (WidgetTester), AI assistant network timeout injection, and MockRequest in CFG basis tests.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Key Advantage: Enables ultra-fast offline execution (&lt; 40s) and reliably tests rare error branches like cold-start server sleep.</a:t>
            </a:r>
            <a:endParaRPr lang="en-US" sz="800" dirty="0"/>
          </a:p>
        </p:txBody>
      </p:sp>
      <p:sp>
        <p:nvSpPr>
          <p:cNvPr id="15" name="Shape 13"/>
          <p:cNvSpPr/>
          <p:nvPr/>
        </p:nvSpPr>
        <p:spPr>
          <a:xfrm>
            <a:off x="6217920" y="1371600"/>
            <a:ext cx="5212080" cy="3611880"/>
          </a:xfrm>
          <a:prstGeom prst="rect">
            <a:avLst>
              <a:gd name="adj" fmla="val 3038"/>
            </a:avLst>
          </a:prstGeom>
          <a:solidFill>
            <a:srgbClr val="FFFFFF"/>
          </a:solidFill>
          <a:ln w="19050">
            <a:solidFill>
              <a:srgbClr val="E5E0D8"/>
            </a:solidFill>
            <a:prstDash val="solid"/>
          </a:ln>
        </p:spPr>
      </p:sp>
      <p:sp>
        <p:nvSpPr>
          <p:cNvPr id="16" name="Text 14"/>
          <p:cNvSpPr/>
          <p:nvPr/>
        </p:nvSpPr>
        <p:spPr>
          <a:xfrm>
            <a:off x="6400800" y="1508760"/>
            <a:ext cx="48463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RECONCILED EXECUTION METRICS BY TEST LEVEL</a:t>
            </a:r>
            <a:endParaRPr lang="en-US" sz="950" dirty="0"/>
          </a:p>
        </p:txBody>
      </p:sp>
      <p:sp>
        <p:nvSpPr>
          <p:cNvPr id="17" name="Shape 15"/>
          <p:cNvSpPr/>
          <p:nvPr/>
        </p:nvSpPr>
        <p:spPr>
          <a:xfrm>
            <a:off x="6400800" y="1874520"/>
            <a:ext cx="4846320" cy="566928"/>
          </a:xfrm>
          <a:prstGeom prst="rect">
            <a:avLst>
              <a:gd name="adj" fmla="val 9677"/>
            </a:avLst>
          </a:prstGeom>
          <a:solidFill>
            <a:srgbClr val="EAE5DC"/>
          </a:solidFill>
          <a:ln w="10160">
            <a:solidFill>
              <a:srgbClr val="E5E0D8"/>
            </a:solidFill>
            <a:prstDash val="solid"/>
          </a:ln>
        </p:spPr>
      </p:sp>
      <p:sp>
        <p:nvSpPr>
          <p:cNvPr id="18" name="Text 16"/>
          <p:cNvSpPr/>
          <p:nvPr/>
        </p:nvSpPr>
        <p:spPr>
          <a:xfrm>
            <a:off x="6492240" y="1920240"/>
            <a:ext cx="2286000" cy="228600"/>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Flutter Unit Tests</a:t>
            </a:r>
            <a:endParaRPr lang="en-US" sz="850" dirty="0"/>
          </a:p>
        </p:txBody>
      </p:sp>
      <p:sp>
        <p:nvSpPr>
          <p:cNvPr id="19" name="Text 17"/>
          <p:cNvSpPr/>
          <p:nvPr/>
        </p:nvSpPr>
        <p:spPr>
          <a:xfrm>
            <a:off x="9509760" y="1920240"/>
            <a:ext cx="1645920" cy="228600"/>
          </a:xfrm>
          <a:prstGeom prst="rect">
            <a:avLst/>
          </a:prstGeom>
          <a:noFill/>
          <a:ln/>
        </p:spPr>
        <p:txBody>
          <a:bodyPr wrap="square" rtlCol="0" anchor="ctr"/>
          <a:lstStyle/>
          <a:p>
            <a:pPr algn="r" indent="0" marL="0">
              <a:buNone/>
            </a:pPr>
            <a:r>
              <a:rPr lang="en-US" sz="850" b="1" dirty="0">
                <a:solidFill>
                  <a:srgbClr val="2D6A4F"/>
                </a:solidFill>
                <a:latin typeface="Montserrat" pitchFamily="34" charset="0"/>
                <a:ea typeface="Montserrat" pitchFamily="34" charset="-122"/>
                <a:cs typeface="Montserrat" pitchFamily="34" charset="-120"/>
              </a:rPr>
              <a:t>21/21 PASS</a:t>
            </a:r>
            <a:endParaRPr lang="en-US" sz="850" dirty="0"/>
          </a:p>
        </p:txBody>
      </p:sp>
      <p:sp>
        <p:nvSpPr>
          <p:cNvPr id="20" name="Text 18"/>
          <p:cNvSpPr/>
          <p:nvPr/>
        </p:nvSpPr>
        <p:spPr>
          <a:xfrm>
            <a:off x="6492240" y="2167128"/>
            <a:ext cx="4572000" cy="219456"/>
          </a:xfrm>
          <a:prstGeom prst="rect">
            <a:avLst/>
          </a:prstGeom>
          <a:noFill/>
          <a:ln/>
        </p:spPr>
        <p:txBody>
          <a:bodyPr wrap="square" rtlCol="0" anchor="ctr"/>
          <a:lstStyle/>
          <a:p>
            <a:pPr indent="0" marL="0">
              <a:buNone/>
            </a:pPr>
            <a:r>
              <a:rPr lang="en-US" sz="750" dirty="0">
                <a:solidFill>
                  <a:srgbClr val="5A5A54"/>
                </a:solidFill>
                <a:latin typeface="Inter" pitchFamily="34" charset="0"/>
                <a:ea typeface="Inter" pitchFamily="34" charset="-122"/>
                <a:cs typeface="Inter" pitchFamily="34" charset="-120"/>
              </a:rPr>
              <a:t>APP/test/unit_test.dart | Count: 21 tests | Duration: 13.2s</a:t>
            </a:r>
            <a:endParaRPr lang="en-US" sz="750" dirty="0"/>
          </a:p>
        </p:txBody>
      </p:sp>
      <p:sp>
        <p:nvSpPr>
          <p:cNvPr id="21" name="Shape 19"/>
          <p:cNvSpPr/>
          <p:nvPr/>
        </p:nvSpPr>
        <p:spPr>
          <a:xfrm>
            <a:off x="6400800" y="2514600"/>
            <a:ext cx="4846320" cy="566928"/>
          </a:xfrm>
          <a:prstGeom prst="rect">
            <a:avLst>
              <a:gd name="adj" fmla="val 9677"/>
            </a:avLst>
          </a:prstGeom>
          <a:solidFill>
            <a:srgbClr val="EAE5DC"/>
          </a:solidFill>
          <a:ln w="10160">
            <a:solidFill>
              <a:srgbClr val="E5E0D8"/>
            </a:solidFill>
            <a:prstDash val="solid"/>
          </a:ln>
        </p:spPr>
      </p:sp>
      <p:sp>
        <p:nvSpPr>
          <p:cNvPr id="22" name="Text 20"/>
          <p:cNvSpPr/>
          <p:nvPr/>
        </p:nvSpPr>
        <p:spPr>
          <a:xfrm>
            <a:off x="6492240" y="2560320"/>
            <a:ext cx="2286000" cy="228600"/>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Flutter Widget Tests</a:t>
            </a:r>
            <a:endParaRPr lang="en-US" sz="850" dirty="0"/>
          </a:p>
        </p:txBody>
      </p:sp>
      <p:sp>
        <p:nvSpPr>
          <p:cNvPr id="23" name="Text 21"/>
          <p:cNvSpPr/>
          <p:nvPr/>
        </p:nvSpPr>
        <p:spPr>
          <a:xfrm>
            <a:off x="9509760" y="2560320"/>
            <a:ext cx="1645920" cy="228600"/>
          </a:xfrm>
          <a:prstGeom prst="rect">
            <a:avLst/>
          </a:prstGeom>
          <a:noFill/>
          <a:ln/>
        </p:spPr>
        <p:txBody>
          <a:bodyPr wrap="square" rtlCol="0" anchor="ctr"/>
          <a:lstStyle/>
          <a:p>
            <a:pPr algn="r" indent="0" marL="0">
              <a:buNone/>
            </a:pPr>
            <a:r>
              <a:rPr lang="en-US" sz="850" b="1" dirty="0">
                <a:solidFill>
                  <a:srgbClr val="2D6A4F"/>
                </a:solidFill>
                <a:latin typeface="Montserrat" pitchFamily="34" charset="0"/>
                <a:ea typeface="Montserrat" pitchFamily="34" charset="-122"/>
                <a:cs typeface="Montserrat" pitchFamily="34" charset="-120"/>
              </a:rPr>
              <a:t>18/18 PASS</a:t>
            </a:r>
            <a:endParaRPr lang="en-US" sz="850" dirty="0"/>
          </a:p>
        </p:txBody>
      </p:sp>
      <p:sp>
        <p:nvSpPr>
          <p:cNvPr id="24" name="Text 22"/>
          <p:cNvSpPr/>
          <p:nvPr/>
        </p:nvSpPr>
        <p:spPr>
          <a:xfrm>
            <a:off x="6492240" y="2807208"/>
            <a:ext cx="4572000" cy="219456"/>
          </a:xfrm>
          <a:prstGeom prst="rect">
            <a:avLst/>
          </a:prstGeom>
          <a:noFill/>
          <a:ln/>
        </p:spPr>
        <p:txBody>
          <a:bodyPr wrap="square" rtlCol="0" anchor="ctr"/>
          <a:lstStyle/>
          <a:p>
            <a:pPr indent="0" marL="0">
              <a:buNone/>
            </a:pPr>
            <a:r>
              <a:rPr lang="en-US" sz="750" dirty="0">
                <a:solidFill>
                  <a:srgbClr val="5A5A54"/>
                </a:solidFill>
                <a:latin typeface="Inter" pitchFamily="34" charset="0"/>
                <a:ea typeface="Inter" pitchFamily="34" charset="-122"/>
                <a:cs typeface="Inter" pitchFamily="34" charset="-120"/>
              </a:rPr>
              <a:t>APP/test/widget_test.dart | Count: 18 tests | Duration: 24.8s</a:t>
            </a:r>
            <a:endParaRPr lang="en-US" sz="750" dirty="0"/>
          </a:p>
        </p:txBody>
      </p:sp>
      <p:sp>
        <p:nvSpPr>
          <p:cNvPr id="25" name="Shape 23"/>
          <p:cNvSpPr/>
          <p:nvPr/>
        </p:nvSpPr>
        <p:spPr>
          <a:xfrm>
            <a:off x="6400800" y="3154680"/>
            <a:ext cx="4846320" cy="566928"/>
          </a:xfrm>
          <a:prstGeom prst="rect">
            <a:avLst>
              <a:gd name="adj" fmla="val 9677"/>
            </a:avLst>
          </a:prstGeom>
          <a:solidFill>
            <a:srgbClr val="EAE5DC"/>
          </a:solidFill>
          <a:ln w="10160">
            <a:solidFill>
              <a:srgbClr val="E5E0D8"/>
            </a:solidFill>
            <a:prstDash val="solid"/>
          </a:ln>
        </p:spPr>
      </p:sp>
      <p:sp>
        <p:nvSpPr>
          <p:cNvPr id="26" name="Text 24"/>
          <p:cNvSpPr/>
          <p:nvPr/>
        </p:nvSpPr>
        <p:spPr>
          <a:xfrm>
            <a:off x="6492240" y="3200400"/>
            <a:ext cx="2286000" cy="228600"/>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Flutter Integration</a:t>
            </a:r>
            <a:endParaRPr lang="en-US" sz="850" dirty="0"/>
          </a:p>
        </p:txBody>
      </p:sp>
      <p:sp>
        <p:nvSpPr>
          <p:cNvPr id="27" name="Text 25"/>
          <p:cNvSpPr/>
          <p:nvPr/>
        </p:nvSpPr>
        <p:spPr>
          <a:xfrm>
            <a:off x="9509760" y="3200400"/>
            <a:ext cx="1645920" cy="228600"/>
          </a:xfrm>
          <a:prstGeom prst="rect">
            <a:avLst/>
          </a:prstGeom>
          <a:noFill/>
          <a:ln/>
        </p:spPr>
        <p:txBody>
          <a:bodyPr wrap="square" rtlCol="0" anchor="ctr"/>
          <a:lstStyle/>
          <a:p>
            <a:pPr algn="r" indent="0" marL="0">
              <a:buNone/>
            </a:pPr>
            <a:r>
              <a:rPr lang="en-US" sz="850" b="1" dirty="0">
                <a:solidFill>
                  <a:srgbClr val="2D6A4F"/>
                </a:solidFill>
                <a:latin typeface="Montserrat" pitchFamily="34" charset="0"/>
                <a:ea typeface="Montserrat" pitchFamily="34" charset="-122"/>
                <a:cs typeface="Montserrat" pitchFamily="34" charset="-120"/>
              </a:rPr>
              <a:t>5/5 PASS</a:t>
            </a:r>
            <a:endParaRPr lang="en-US" sz="850" dirty="0"/>
          </a:p>
        </p:txBody>
      </p:sp>
      <p:sp>
        <p:nvSpPr>
          <p:cNvPr id="28" name="Text 26"/>
          <p:cNvSpPr/>
          <p:nvPr/>
        </p:nvSpPr>
        <p:spPr>
          <a:xfrm>
            <a:off x="6492240" y="3447288"/>
            <a:ext cx="4572000" cy="219456"/>
          </a:xfrm>
          <a:prstGeom prst="rect">
            <a:avLst/>
          </a:prstGeom>
          <a:noFill/>
          <a:ln/>
        </p:spPr>
        <p:txBody>
          <a:bodyPr wrap="square" rtlCol="0" anchor="ctr"/>
          <a:lstStyle/>
          <a:p>
            <a:pPr indent="0" marL="0">
              <a:buNone/>
            </a:pPr>
            <a:r>
              <a:rPr lang="en-US" sz="750" dirty="0">
                <a:solidFill>
                  <a:srgbClr val="5A5A54"/>
                </a:solidFill>
                <a:latin typeface="Inter" pitchFamily="34" charset="0"/>
                <a:ea typeface="Inter" pitchFamily="34" charset="-122"/>
                <a:cs typeface="Inter" pitchFamily="34" charset="-120"/>
              </a:rPr>
              <a:t>APP/test/integration_test.dart | Count: 5 tests | Duration: 11.5s</a:t>
            </a:r>
            <a:endParaRPr lang="en-US" sz="750" dirty="0"/>
          </a:p>
        </p:txBody>
      </p:sp>
      <p:sp>
        <p:nvSpPr>
          <p:cNvPr id="29" name="Shape 27"/>
          <p:cNvSpPr/>
          <p:nvPr/>
        </p:nvSpPr>
        <p:spPr>
          <a:xfrm>
            <a:off x="6400800" y="3794760"/>
            <a:ext cx="4846320" cy="566928"/>
          </a:xfrm>
          <a:prstGeom prst="rect">
            <a:avLst>
              <a:gd name="adj" fmla="val 9677"/>
            </a:avLst>
          </a:prstGeom>
          <a:solidFill>
            <a:srgbClr val="EAE5DC"/>
          </a:solidFill>
          <a:ln w="10160">
            <a:solidFill>
              <a:srgbClr val="E5E0D8"/>
            </a:solidFill>
            <a:prstDash val="solid"/>
          </a:ln>
        </p:spPr>
      </p:sp>
      <p:sp>
        <p:nvSpPr>
          <p:cNvPr id="30" name="Text 28"/>
          <p:cNvSpPr/>
          <p:nvPr/>
        </p:nvSpPr>
        <p:spPr>
          <a:xfrm>
            <a:off x="6492240" y="3840480"/>
            <a:ext cx="2286000" cy="228600"/>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Backend Unit &amp; Security</a:t>
            </a:r>
            <a:endParaRPr lang="en-US" sz="850" dirty="0"/>
          </a:p>
        </p:txBody>
      </p:sp>
      <p:sp>
        <p:nvSpPr>
          <p:cNvPr id="31" name="Text 29"/>
          <p:cNvSpPr/>
          <p:nvPr/>
        </p:nvSpPr>
        <p:spPr>
          <a:xfrm>
            <a:off x="9509760" y="3840480"/>
            <a:ext cx="1645920" cy="228600"/>
          </a:xfrm>
          <a:prstGeom prst="rect">
            <a:avLst/>
          </a:prstGeom>
          <a:noFill/>
          <a:ln/>
        </p:spPr>
        <p:txBody>
          <a:bodyPr wrap="square" rtlCol="0" anchor="ctr"/>
          <a:lstStyle/>
          <a:p>
            <a:pPr algn="r" indent="0" marL="0">
              <a:buNone/>
            </a:pPr>
            <a:r>
              <a:rPr lang="en-US" sz="850" b="1" dirty="0">
                <a:solidFill>
                  <a:srgbClr val="2D6A4F"/>
                </a:solidFill>
                <a:latin typeface="Montserrat" pitchFamily="34" charset="0"/>
                <a:ea typeface="Montserrat" pitchFamily="34" charset="-122"/>
                <a:cs typeface="Montserrat" pitchFamily="34" charset="-120"/>
              </a:rPr>
              <a:t>7/7 PASS</a:t>
            </a:r>
            <a:endParaRPr lang="en-US" sz="850" dirty="0"/>
          </a:p>
        </p:txBody>
      </p:sp>
      <p:sp>
        <p:nvSpPr>
          <p:cNvPr id="32" name="Text 30"/>
          <p:cNvSpPr/>
          <p:nvPr/>
        </p:nvSpPr>
        <p:spPr>
          <a:xfrm>
            <a:off x="6492240" y="4087368"/>
            <a:ext cx="4572000" cy="219456"/>
          </a:xfrm>
          <a:prstGeom prst="rect">
            <a:avLst/>
          </a:prstGeom>
          <a:noFill/>
          <a:ln/>
        </p:spPr>
        <p:txBody>
          <a:bodyPr wrap="square" rtlCol="0" anchor="ctr"/>
          <a:lstStyle/>
          <a:p>
            <a:pPr indent="0" marL="0">
              <a:buNone/>
            </a:pPr>
            <a:r>
              <a:rPr lang="en-US" sz="750" dirty="0">
                <a:solidFill>
                  <a:srgbClr val="5A5A54"/>
                </a:solidFill>
                <a:latin typeface="Inter" pitchFamily="34" charset="0"/>
                <a:ea typeface="Inter" pitchFamily="34" charset="-122"/>
                <a:cs typeface="Inter" pitchFamily="34" charset="-120"/>
              </a:rPr>
              <a:t>Backend/test_backend_unit.py | Count: 7 tests | Duration: 12.7s</a:t>
            </a:r>
            <a:endParaRPr lang="en-US" sz="750" dirty="0"/>
          </a:p>
        </p:txBody>
      </p:sp>
      <p:sp>
        <p:nvSpPr>
          <p:cNvPr id="33" name="Shape 31"/>
          <p:cNvSpPr/>
          <p:nvPr/>
        </p:nvSpPr>
        <p:spPr>
          <a:xfrm>
            <a:off x="6400800" y="4462272"/>
            <a:ext cx="4846320" cy="411480"/>
          </a:xfrm>
          <a:prstGeom prst="rect">
            <a:avLst>
              <a:gd name="adj" fmla="val 13333"/>
            </a:avLst>
          </a:prstGeom>
          <a:solidFill>
            <a:srgbClr val="FCF9F4"/>
          </a:solidFill>
          <a:ln w="12700">
            <a:solidFill>
              <a:srgbClr val="1B4332"/>
            </a:solidFill>
            <a:prstDash val="solid"/>
          </a:ln>
        </p:spPr>
      </p:sp>
      <p:sp>
        <p:nvSpPr>
          <p:cNvPr id="34" name="Text 32"/>
          <p:cNvSpPr/>
          <p:nvPr/>
        </p:nvSpPr>
        <p:spPr>
          <a:xfrm>
            <a:off x="6400800" y="4462272"/>
            <a:ext cx="4846320" cy="411480"/>
          </a:xfrm>
          <a:prstGeom prst="rect">
            <a:avLst/>
          </a:prstGeom>
          <a:noFill/>
          <a:ln/>
        </p:spPr>
        <p:txBody>
          <a:bodyPr wrap="square" rtlCol="0" anchor="ctr"/>
          <a:lstStyle/>
          <a:p>
            <a:pPr algn="ctr" indent="0" marL="0">
              <a:buNone/>
            </a:pPr>
            <a:r>
              <a:rPr lang="en-US" sz="750" b="1" dirty="0">
                <a:solidFill>
                  <a:srgbClr val="1B4332"/>
                </a:solidFill>
                <a:latin typeface="Montserrat" pitchFamily="34" charset="0"/>
                <a:ea typeface="Montserrat" pitchFamily="34" charset="-122"/>
                <a:cs typeface="Montserrat" pitchFamily="34" charset="-120"/>
              </a:rPr>
              <a:t>FRAMEWORK RECONCILIATION: Backend uses Python standard unittest (not pytest).</a:t>
            </a:r>
            <a:endParaRPr lang="en-US" sz="750" dirty="0"/>
          </a:p>
          <a:p>
            <a:pPr algn="ctr" indent="0" marL="0">
              <a:buNone/>
            </a:pPr>
            <a:r>
              <a:rPr lang="en-US" sz="750" b="1" dirty="0">
                <a:solidFill>
                  <a:srgbClr val="1B4332"/>
                </a:solidFill>
                <a:latin typeface="Montserrat" pitchFamily="34" charset="0"/>
                <a:ea typeface="Montserrat" pitchFamily="34" charset="-122"/>
                <a:cs typeface="Montserrat" pitchFamily="34" charset="-120"/>
              </a:rPr>
              <a:t>Total Reconciled Suite: 44 Flutter + 7 Backend Suites = 51 Automated Tests.</a:t>
            </a:r>
            <a:endParaRPr lang="en-US" sz="750" dirty="0"/>
          </a:p>
        </p:txBody>
      </p:sp>
      <p:sp>
        <p:nvSpPr>
          <p:cNvPr id="35" name="Text 33"/>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Dual-Paradigm Strategy: Classical tests verify real state mutations in business calculators, while mockist tests isolate UI widgets from cloud network volatility.</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Fault Injection Resilience: London-school mock testing confirms that API timeout exceptions seamlessly engage local fallback routines without crashing mobile views.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High Execution Velocity: Decoupled offline test suites execute all 51 automated unit and integration tests in under 40 seconds, enabling frictionless local developer verification.</a:t>
            </a:r>
            <a:endParaRPr lang="en-US" sz="1150" dirty="0"/>
          </a:p>
        </p:txBody>
      </p:sp>
      <p:sp>
        <p:nvSpPr>
          <p:cNvPr id="36" name="Text 34"/>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Test execution output from flutter test APP and python -m unittest Backend/test_backend_unit.py.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4: SYSTEM &amp; SECURITY</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10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System &amp; Security Testing: E2E Flow &amp; Tenant Defense</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10698480" cy="1645920"/>
          </a:xfrm>
          <a:prstGeom prst="rect">
            <a:avLst>
              <a:gd name="adj" fmla="val 6667"/>
            </a:avLst>
          </a:prstGeom>
          <a:solidFill>
            <a:srgbClr val="FFFFFF"/>
          </a:solidFill>
          <a:ln w="19050">
            <a:solidFill>
              <a:srgbClr val="E5E0D8"/>
            </a:solidFill>
            <a:prstDash val="solid"/>
          </a:ln>
        </p:spPr>
      </p:sp>
      <p:sp>
        <p:nvSpPr>
          <p:cNvPr id="8" name="Text 6"/>
          <p:cNvSpPr/>
          <p:nvPr/>
        </p:nvSpPr>
        <p:spPr>
          <a:xfrm>
            <a:off x="914400" y="1481328"/>
            <a:ext cx="10332720" cy="228600"/>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9-STEP END-TO-END BUSINESS LIFECYCLE FLOW (Backend/verify_e2e.py)</a:t>
            </a:r>
            <a:endParaRPr lang="en-US" sz="950" dirty="0"/>
          </a:p>
        </p:txBody>
      </p:sp>
      <p:sp>
        <p:nvSpPr>
          <p:cNvPr id="9" name="Shape 7"/>
          <p:cNvSpPr/>
          <p:nvPr/>
        </p:nvSpPr>
        <p:spPr>
          <a:xfrm>
            <a:off x="914400" y="1783080"/>
            <a:ext cx="1051560" cy="1051560"/>
          </a:xfrm>
          <a:prstGeom prst="rect">
            <a:avLst>
              <a:gd name="adj" fmla="val 6957"/>
            </a:avLst>
          </a:prstGeom>
          <a:solidFill>
            <a:srgbClr val="EAE5DC"/>
          </a:solidFill>
          <a:ln w="10160">
            <a:solidFill>
              <a:srgbClr val="D8D2C6"/>
            </a:solidFill>
            <a:prstDash val="solid"/>
          </a:ln>
        </p:spPr>
      </p:sp>
      <p:sp>
        <p:nvSpPr>
          <p:cNvPr id="10" name="Text 8"/>
          <p:cNvSpPr/>
          <p:nvPr/>
        </p:nvSpPr>
        <p:spPr>
          <a:xfrm>
            <a:off x="960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1</a:t>
            </a:r>
            <a:endParaRPr lang="en-US" sz="800" dirty="0"/>
          </a:p>
        </p:txBody>
      </p:sp>
      <p:sp>
        <p:nvSpPr>
          <p:cNvPr id="11" name="Text 9"/>
          <p:cNvSpPr/>
          <p:nvPr/>
        </p:nvSpPr>
        <p:spPr>
          <a:xfrm>
            <a:off x="960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Owner Auth</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(JWT Bearer)</a:t>
            </a:r>
            <a:endParaRPr lang="en-US" sz="750" dirty="0"/>
          </a:p>
        </p:txBody>
      </p:sp>
      <p:sp>
        <p:nvSpPr>
          <p:cNvPr id="12" name="Shape 10"/>
          <p:cNvSpPr/>
          <p:nvPr/>
        </p:nvSpPr>
        <p:spPr>
          <a:xfrm>
            <a:off x="1005840" y="2578608"/>
            <a:ext cx="868680" cy="201168"/>
          </a:xfrm>
          <a:prstGeom prst="rect">
            <a:avLst>
              <a:gd name="adj" fmla="val 18182"/>
            </a:avLst>
          </a:prstGeom>
          <a:solidFill>
            <a:srgbClr val="E0F2FE"/>
          </a:solidFill>
          <a:ln w="6350">
            <a:solidFill>
              <a:srgbClr val="1D4ED8"/>
            </a:solidFill>
            <a:prstDash val="solid"/>
          </a:ln>
        </p:spPr>
      </p:sp>
      <p:sp>
        <p:nvSpPr>
          <p:cNvPr id="13" name="Text 11"/>
          <p:cNvSpPr/>
          <p:nvPr/>
        </p:nvSpPr>
        <p:spPr>
          <a:xfrm>
            <a:off x="1005840" y="2578608"/>
            <a:ext cx="868680" cy="201168"/>
          </a:xfrm>
          <a:prstGeom prst="rect">
            <a:avLst/>
          </a:prstGeom>
          <a:noFill/>
          <a:ln/>
        </p:spPr>
        <p:txBody>
          <a:bodyPr wrap="square" rtlCol="0" anchor="ctr"/>
          <a:lstStyle/>
          <a:p>
            <a:pPr algn="ctr" indent="0" marL="0">
              <a:buNone/>
            </a:pPr>
            <a:r>
              <a:rPr lang="en-US" sz="650" b="1" dirty="0">
                <a:solidFill>
                  <a:srgbClr val="1D4ED8"/>
                </a:solidFill>
                <a:latin typeface="Montserrat" pitchFamily="34" charset="0"/>
                <a:ea typeface="Montserrat" pitchFamily="34" charset="-122"/>
                <a:cs typeface="Montserrat" pitchFamily="34" charset="-120"/>
              </a:rPr>
              <a:t>Local Logic</a:t>
            </a:r>
            <a:endParaRPr lang="en-US" sz="650" dirty="0"/>
          </a:p>
        </p:txBody>
      </p:sp>
      <p:sp>
        <p:nvSpPr>
          <p:cNvPr id="14" name="Shape 12"/>
          <p:cNvSpPr/>
          <p:nvPr/>
        </p:nvSpPr>
        <p:spPr>
          <a:xfrm>
            <a:off x="2057400" y="1783080"/>
            <a:ext cx="1051560" cy="1051560"/>
          </a:xfrm>
          <a:prstGeom prst="rect">
            <a:avLst>
              <a:gd name="adj" fmla="val 6957"/>
            </a:avLst>
          </a:prstGeom>
          <a:solidFill>
            <a:srgbClr val="EAE5DC"/>
          </a:solidFill>
          <a:ln w="10160">
            <a:solidFill>
              <a:srgbClr val="D8D2C6"/>
            </a:solidFill>
            <a:prstDash val="solid"/>
          </a:ln>
        </p:spPr>
      </p:sp>
      <p:sp>
        <p:nvSpPr>
          <p:cNvPr id="15" name="Text 13"/>
          <p:cNvSpPr/>
          <p:nvPr/>
        </p:nvSpPr>
        <p:spPr>
          <a:xfrm>
            <a:off x="2103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2</a:t>
            </a:r>
            <a:endParaRPr lang="en-US" sz="800" dirty="0"/>
          </a:p>
        </p:txBody>
      </p:sp>
      <p:sp>
        <p:nvSpPr>
          <p:cNvPr id="16" name="Text 14"/>
          <p:cNvSpPr/>
          <p:nvPr/>
        </p:nvSpPr>
        <p:spPr>
          <a:xfrm>
            <a:off x="2103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Catalog Seed</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(5 Core SKUs)</a:t>
            </a:r>
            <a:endParaRPr lang="en-US" sz="750" dirty="0"/>
          </a:p>
        </p:txBody>
      </p:sp>
      <p:sp>
        <p:nvSpPr>
          <p:cNvPr id="17" name="Shape 15"/>
          <p:cNvSpPr/>
          <p:nvPr/>
        </p:nvSpPr>
        <p:spPr>
          <a:xfrm>
            <a:off x="2148840" y="2578608"/>
            <a:ext cx="868680" cy="201168"/>
          </a:xfrm>
          <a:prstGeom prst="rect">
            <a:avLst>
              <a:gd name="adj" fmla="val 18182"/>
            </a:avLst>
          </a:prstGeom>
          <a:solidFill>
            <a:srgbClr val="FEE2E2"/>
          </a:solidFill>
          <a:ln w="6350">
            <a:solidFill>
              <a:srgbClr val="B91C1C"/>
            </a:solidFill>
            <a:prstDash val="solid"/>
          </a:ln>
        </p:spPr>
      </p:sp>
      <p:sp>
        <p:nvSpPr>
          <p:cNvPr id="18" name="Text 16"/>
          <p:cNvSpPr/>
          <p:nvPr/>
        </p:nvSpPr>
        <p:spPr>
          <a:xfrm>
            <a:off x="2148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19" name="Shape 17"/>
          <p:cNvSpPr/>
          <p:nvPr/>
        </p:nvSpPr>
        <p:spPr>
          <a:xfrm>
            <a:off x="3200400" y="1783080"/>
            <a:ext cx="1051560" cy="1051560"/>
          </a:xfrm>
          <a:prstGeom prst="rect">
            <a:avLst>
              <a:gd name="adj" fmla="val 6957"/>
            </a:avLst>
          </a:prstGeom>
          <a:solidFill>
            <a:srgbClr val="EAE5DC"/>
          </a:solidFill>
          <a:ln w="10160">
            <a:solidFill>
              <a:srgbClr val="D8D2C6"/>
            </a:solidFill>
            <a:prstDash val="solid"/>
          </a:ln>
        </p:spPr>
      </p:sp>
      <p:sp>
        <p:nvSpPr>
          <p:cNvPr id="20" name="Text 18"/>
          <p:cNvSpPr/>
          <p:nvPr/>
        </p:nvSpPr>
        <p:spPr>
          <a:xfrm>
            <a:off x="3246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3</a:t>
            </a:r>
            <a:endParaRPr lang="en-US" sz="800" dirty="0"/>
          </a:p>
        </p:txBody>
      </p:sp>
      <p:sp>
        <p:nvSpPr>
          <p:cNvPr id="21" name="Text 19"/>
          <p:cNvSpPr/>
          <p:nvPr/>
        </p:nvSpPr>
        <p:spPr>
          <a:xfrm>
            <a:off x="3246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Intraday Sales</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(Record Units)</a:t>
            </a:r>
            <a:endParaRPr lang="en-US" sz="750" dirty="0"/>
          </a:p>
        </p:txBody>
      </p:sp>
      <p:sp>
        <p:nvSpPr>
          <p:cNvPr id="22" name="Shape 20"/>
          <p:cNvSpPr/>
          <p:nvPr/>
        </p:nvSpPr>
        <p:spPr>
          <a:xfrm>
            <a:off x="3291840" y="2578608"/>
            <a:ext cx="868680" cy="201168"/>
          </a:xfrm>
          <a:prstGeom prst="rect">
            <a:avLst>
              <a:gd name="adj" fmla="val 18182"/>
            </a:avLst>
          </a:prstGeom>
          <a:solidFill>
            <a:srgbClr val="FEE2E2"/>
          </a:solidFill>
          <a:ln w="6350">
            <a:solidFill>
              <a:srgbClr val="B91C1C"/>
            </a:solidFill>
            <a:prstDash val="solid"/>
          </a:ln>
        </p:spPr>
      </p:sp>
      <p:sp>
        <p:nvSpPr>
          <p:cNvPr id="23" name="Text 21"/>
          <p:cNvSpPr/>
          <p:nvPr/>
        </p:nvSpPr>
        <p:spPr>
          <a:xfrm>
            <a:off x="3291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24" name="Shape 22"/>
          <p:cNvSpPr/>
          <p:nvPr/>
        </p:nvSpPr>
        <p:spPr>
          <a:xfrm>
            <a:off x="4343400" y="1783080"/>
            <a:ext cx="1051560" cy="1051560"/>
          </a:xfrm>
          <a:prstGeom prst="rect">
            <a:avLst>
              <a:gd name="adj" fmla="val 6957"/>
            </a:avLst>
          </a:prstGeom>
          <a:solidFill>
            <a:srgbClr val="EAE5DC"/>
          </a:solidFill>
          <a:ln w="10160">
            <a:solidFill>
              <a:srgbClr val="D8D2C6"/>
            </a:solidFill>
            <a:prstDash val="solid"/>
          </a:ln>
        </p:spPr>
      </p:sp>
      <p:sp>
        <p:nvSpPr>
          <p:cNvPr id="25" name="Text 23"/>
          <p:cNvSpPr/>
          <p:nvPr/>
        </p:nvSpPr>
        <p:spPr>
          <a:xfrm>
            <a:off x="4389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4</a:t>
            </a:r>
            <a:endParaRPr lang="en-US" sz="800" dirty="0"/>
          </a:p>
        </p:txBody>
      </p:sp>
      <p:sp>
        <p:nvSpPr>
          <p:cNvPr id="26" name="Text 24"/>
          <p:cNvSpPr/>
          <p:nvPr/>
        </p:nvSpPr>
        <p:spPr>
          <a:xfrm>
            <a:off x="4389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Fetch Forecast</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(Batch Read)</a:t>
            </a:r>
            <a:endParaRPr lang="en-US" sz="750" dirty="0"/>
          </a:p>
        </p:txBody>
      </p:sp>
      <p:sp>
        <p:nvSpPr>
          <p:cNvPr id="27" name="Shape 25"/>
          <p:cNvSpPr/>
          <p:nvPr/>
        </p:nvSpPr>
        <p:spPr>
          <a:xfrm>
            <a:off x="4434840" y="2578608"/>
            <a:ext cx="868680" cy="201168"/>
          </a:xfrm>
          <a:prstGeom prst="rect">
            <a:avLst>
              <a:gd name="adj" fmla="val 18182"/>
            </a:avLst>
          </a:prstGeom>
          <a:solidFill>
            <a:srgbClr val="FEE2E2"/>
          </a:solidFill>
          <a:ln w="6350">
            <a:solidFill>
              <a:srgbClr val="B91C1C"/>
            </a:solidFill>
            <a:prstDash val="solid"/>
          </a:ln>
        </p:spPr>
      </p:sp>
      <p:sp>
        <p:nvSpPr>
          <p:cNvPr id="28" name="Text 26"/>
          <p:cNvSpPr/>
          <p:nvPr/>
        </p:nvSpPr>
        <p:spPr>
          <a:xfrm>
            <a:off x="4434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29" name="Shape 27"/>
          <p:cNvSpPr/>
          <p:nvPr/>
        </p:nvSpPr>
        <p:spPr>
          <a:xfrm>
            <a:off x="5486400" y="1783080"/>
            <a:ext cx="1051560" cy="1051560"/>
          </a:xfrm>
          <a:prstGeom prst="rect">
            <a:avLst>
              <a:gd name="adj" fmla="val 6957"/>
            </a:avLst>
          </a:prstGeom>
          <a:solidFill>
            <a:srgbClr val="EAE5DC"/>
          </a:solidFill>
          <a:ln w="10160">
            <a:solidFill>
              <a:srgbClr val="D8D2C6"/>
            </a:solidFill>
            <a:prstDash val="solid"/>
          </a:ln>
        </p:spPr>
      </p:sp>
      <p:sp>
        <p:nvSpPr>
          <p:cNvPr id="30" name="Text 28"/>
          <p:cNvSpPr/>
          <p:nvPr/>
        </p:nvSpPr>
        <p:spPr>
          <a:xfrm>
            <a:off x="5532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5</a:t>
            </a:r>
            <a:endParaRPr lang="en-US" sz="800" dirty="0"/>
          </a:p>
        </p:txBody>
      </p:sp>
      <p:sp>
        <p:nvSpPr>
          <p:cNvPr id="31" name="Text 29"/>
          <p:cNvSpPr/>
          <p:nvPr/>
        </p:nvSpPr>
        <p:spPr>
          <a:xfrm>
            <a:off x="5532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Waste Alert</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(Velocity Poll)</a:t>
            </a:r>
            <a:endParaRPr lang="en-US" sz="750" dirty="0"/>
          </a:p>
        </p:txBody>
      </p:sp>
      <p:sp>
        <p:nvSpPr>
          <p:cNvPr id="32" name="Shape 30"/>
          <p:cNvSpPr/>
          <p:nvPr/>
        </p:nvSpPr>
        <p:spPr>
          <a:xfrm>
            <a:off x="5577840" y="2578608"/>
            <a:ext cx="868680" cy="201168"/>
          </a:xfrm>
          <a:prstGeom prst="rect">
            <a:avLst>
              <a:gd name="adj" fmla="val 18182"/>
            </a:avLst>
          </a:prstGeom>
          <a:solidFill>
            <a:srgbClr val="FEE2E2"/>
          </a:solidFill>
          <a:ln w="6350">
            <a:solidFill>
              <a:srgbClr val="B91C1C"/>
            </a:solidFill>
            <a:prstDash val="solid"/>
          </a:ln>
        </p:spPr>
      </p:sp>
      <p:sp>
        <p:nvSpPr>
          <p:cNvPr id="33" name="Text 31"/>
          <p:cNvSpPr/>
          <p:nvPr/>
        </p:nvSpPr>
        <p:spPr>
          <a:xfrm>
            <a:off x="5577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34" name="Shape 32"/>
          <p:cNvSpPr/>
          <p:nvPr/>
        </p:nvSpPr>
        <p:spPr>
          <a:xfrm>
            <a:off x="6629400" y="1783080"/>
            <a:ext cx="1051560" cy="1051560"/>
          </a:xfrm>
          <a:prstGeom prst="rect">
            <a:avLst>
              <a:gd name="adj" fmla="val 6957"/>
            </a:avLst>
          </a:prstGeom>
          <a:solidFill>
            <a:srgbClr val="EAE5DC"/>
          </a:solidFill>
          <a:ln w="10160">
            <a:solidFill>
              <a:srgbClr val="D8D2C6"/>
            </a:solidFill>
            <a:prstDash val="solid"/>
          </a:ln>
        </p:spPr>
      </p:sp>
      <p:sp>
        <p:nvSpPr>
          <p:cNvPr id="35" name="Text 33"/>
          <p:cNvSpPr/>
          <p:nvPr/>
        </p:nvSpPr>
        <p:spPr>
          <a:xfrm>
            <a:off x="6675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6</a:t>
            </a:r>
            <a:endParaRPr lang="en-US" sz="800" dirty="0"/>
          </a:p>
        </p:txBody>
      </p:sp>
      <p:sp>
        <p:nvSpPr>
          <p:cNvPr id="36" name="Text 34"/>
          <p:cNvSpPr/>
          <p:nvPr/>
        </p:nvSpPr>
        <p:spPr>
          <a:xfrm>
            <a:off x="6675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Apply Disc</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(20% Action)</a:t>
            </a:r>
            <a:endParaRPr lang="en-US" sz="750" dirty="0"/>
          </a:p>
        </p:txBody>
      </p:sp>
      <p:sp>
        <p:nvSpPr>
          <p:cNvPr id="37" name="Shape 35"/>
          <p:cNvSpPr/>
          <p:nvPr/>
        </p:nvSpPr>
        <p:spPr>
          <a:xfrm>
            <a:off x="6720840" y="2578608"/>
            <a:ext cx="868680" cy="201168"/>
          </a:xfrm>
          <a:prstGeom prst="rect">
            <a:avLst>
              <a:gd name="adj" fmla="val 18182"/>
            </a:avLst>
          </a:prstGeom>
          <a:solidFill>
            <a:srgbClr val="FEE2E2"/>
          </a:solidFill>
          <a:ln w="6350">
            <a:solidFill>
              <a:srgbClr val="B91C1C"/>
            </a:solidFill>
            <a:prstDash val="solid"/>
          </a:ln>
        </p:spPr>
      </p:sp>
      <p:sp>
        <p:nvSpPr>
          <p:cNvPr id="38" name="Text 36"/>
          <p:cNvSpPr/>
          <p:nvPr/>
        </p:nvSpPr>
        <p:spPr>
          <a:xfrm>
            <a:off x="6720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39" name="Shape 37"/>
          <p:cNvSpPr/>
          <p:nvPr/>
        </p:nvSpPr>
        <p:spPr>
          <a:xfrm>
            <a:off x="7772400" y="1783080"/>
            <a:ext cx="1051560" cy="1051560"/>
          </a:xfrm>
          <a:prstGeom prst="rect">
            <a:avLst>
              <a:gd name="adj" fmla="val 6957"/>
            </a:avLst>
          </a:prstGeom>
          <a:solidFill>
            <a:srgbClr val="EAE5DC"/>
          </a:solidFill>
          <a:ln w="10160">
            <a:solidFill>
              <a:srgbClr val="D8D2C6"/>
            </a:solidFill>
            <a:prstDash val="solid"/>
          </a:ln>
        </p:spPr>
      </p:sp>
      <p:sp>
        <p:nvSpPr>
          <p:cNvPr id="40" name="Text 38"/>
          <p:cNvSpPr/>
          <p:nvPr/>
        </p:nvSpPr>
        <p:spPr>
          <a:xfrm>
            <a:off x="7818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7</a:t>
            </a:r>
            <a:endParaRPr lang="en-US" sz="800" dirty="0"/>
          </a:p>
        </p:txBody>
      </p:sp>
      <p:sp>
        <p:nvSpPr>
          <p:cNvPr id="41" name="Text 39"/>
          <p:cNvSpPr/>
          <p:nvPr/>
        </p:nvSpPr>
        <p:spPr>
          <a:xfrm>
            <a:off x="7818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GenAI Brief</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(Gemini 2.5)</a:t>
            </a:r>
            <a:endParaRPr lang="en-US" sz="750" dirty="0"/>
          </a:p>
        </p:txBody>
      </p:sp>
      <p:sp>
        <p:nvSpPr>
          <p:cNvPr id="42" name="Shape 40"/>
          <p:cNvSpPr/>
          <p:nvPr/>
        </p:nvSpPr>
        <p:spPr>
          <a:xfrm>
            <a:off x="7863840" y="2578608"/>
            <a:ext cx="868680" cy="201168"/>
          </a:xfrm>
          <a:prstGeom prst="rect">
            <a:avLst>
              <a:gd name="adj" fmla="val 18182"/>
            </a:avLst>
          </a:prstGeom>
          <a:solidFill>
            <a:srgbClr val="FEE2E2"/>
          </a:solidFill>
          <a:ln w="6350">
            <a:solidFill>
              <a:srgbClr val="B91C1C"/>
            </a:solidFill>
            <a:prstDash val="solid"/>
          </a:ln>
        </p:spPr>
      </p:sp>
      <p:sp>
        <p:nvSpPr>
          <p:cNvPr id="43" name="Text 41"/>
          <p:cNvSpPr/>
          <p:nvPr/>
        </p:nvSpPr>
        <p:spPr>
          <a:xfrm>
            <a:off x="7863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44" name="Shape 42"/>
          <p:cNvSpPr/>
          <p:nvPr/>
        </p:nvSpPr>
        <p:spPr>
          <a:xfrm>
            <a:off x="8915400" y="1783080"/>
            <a:ext cx="1051560" cy="1051560"/>
          </a:xfrm>
          <a:prstGeom prst="rect">
            <a:avLst>
              <a:gd name="adj" fmla="val 6957"/>
            </a:avLst>
          </a:prstGeom>
          <a:solidFill>
            <a:srgbClr val="EAE5DC"/>
          </a:solidFill>
          <a:ln w="10160">
            <a:solidFill>
              <a:srgbClr val="D8D2C6"/>
            </a:solidFill>
            <a:prstDash val="solid"/>
          </a:ln>
        </p:spPr>
      </p:sp>
      <p:sp>
        <p:nvSpPr>
          <p:cNvPr id="45" name="Text 43"/>
          <p:cNvSpPr/>
          <p:nvPr/>
        </p:nvSpPr>
        <p:spPr>
          <a:xfrm>
            <a:off x="8961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8</a:t>
            </a:r>
            <a:endParaRPr lang="en-US" sz="800" dirty="0"/>
          </a:p>
        </p:txBody>
      </p:sp>
      <p:sp>
        <p:nvSpPr>
          <p:cNvPr id="46" name="Text 44"/>
          <p:cNvSpPr/>
          <p:nvPr/>
        </p:nvSpPr>
        <p:spPr>
          <a:xfrm>
            <a:off x="8961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Q&amp;A Chat</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(RAG Ground)</a:t>
            </a:r>
            <a:endParaRPr lang="en-US" sz="750" dirty="0"/>
          </a:p>
        </p:txBody>
      </p:sp>
      <p:sp>
        <p:nvSpPr>
          <p:cNvPr id="47" name="Shape 45"/>
          <p:cNvSpPr/>
          <p:nvPr/>
        </p:nvSpPr>
        <p:spPr>
          <a:xfrm>
            <a:off x="9006840" y="2578608"/>
            <a:ext cx="868680" cy="201168"/>
          </a:xfrm>
          <a:prstGeom prst="rect">
            <a:avLst>
              <a:gd name="adj" fmla="val 18182"/>
            </a:avLst>
          </a:prstGeom>
          <a:solidFill>
            <a:srgbClr val="FEE2E2"/>
          </a:solidFill>
          <a:ln w="6350">
            <a:solidFill>
              <a:srgbClr val="B91C1C"/>
            </a:solidFill>
            <a:prstDash val="solid"/>
          </a:ln>
        </p:spPr>
      </p:sp>
      <p:sp>
        <p:nvSpPr>
          <p:cNvPr id="48" name="Text 46"/>
          <p:cNvSpPr/>
          <p:nvPr/>
        </p:nvSpPr>
        <p:spPr>
          <a:xfrm>
            <a:off x="9006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49" name="Shape 47"/>
          <p:cNvSpPr/>
          <p:nvPr/>
        </p:nvSpPr>
        <p:spPr>
          <a:xfrm>
            <a:off x="10058400" y="1783080"/>
            <a:ext cx="1051560" cy="1051560"/>
          </a:xfrm>
          <a:prstGeom prst="rect">
            <a:avLst>
              <a:gd name="adj" fmla="val 6957"/>
            </a:avLst>
          </a:prstGeom>
          <a:solidFill>
            <a:srgbClr val="EAE5DC"/>
          </a:solidFill>
          <a:ln w="10160">
            <a:solidFill>
              <a:srgbClr val="D8D2C6"/>
            </a:solidFill>
            <a:prstDash val="solid"/>
          </a:ln>
        </p:spPr>
      </p:sp>
      <p:sp>
        <p:nvSpPr>
          <p:cNvPr id="50" name="Text 48"/>
          <p:cNvSpPr/>
          <p:nvPr/>
        </p:nvSpPr>
        <p:spPr>
          <a:xfrm>
            <a:off x="10104120" y="1810512"/>
            <a:ext cx="274320" cy="182880"/>
          </a:xfrm>
          <a:prstGeom prst="rect">
            <a:avLst/>
          </a:prstGeom>
          <a:noFill/>
          <a:ln/>
        </p:spPr>
        <p:txBody>
          <a:bodyPr wrap="square" rtlCol="0" anchor="ctr"/>
          <a:lstStyle/>
          <a:p>
            <a:pPr indent="0" marL="0">
              <a:buNone/>
            </a:pPr>
            <a:r>
              <a:rPr lang="en-US" sz="800" b="1" dirty="0">
                <a:solidFill>
                  <a:srgbClr val="FFB702"/>
                </a:solidFill>
                <a:latin typeface="Montserrat" pitchFamily="34" charset="0"/>
                <a:ea typeface="Montserrat" pitchFamily="34" charset="-122"/>
                <a:cs typeface="Montserrat" pitchFamily="34" charset="-120"/>
              </a:rPr>
              <a:t>9</a:t>
            </a:r>
            <a:endParaRPr lang="en-US" sz="800" dirty="0"/>
          </a:p>
        </p:txBody>
      </p:sp>
      <p:sp>
        <p:nvSpPr>
          <p:cNvPr id="51" name="Text 49"/>
          <p:cNvSpPr/>
          <p:nvPr/>
        </p:nvSpPr>
        <p:spPr>
          <a:xfrm>
            <a:off x="10104120" y="2011680"/>
            <a:ext cx="960120" cy="502920"/>
          </a:xfrm>
          <a:prstGeom prst="rect">
            <a:avLst/>
          </a:prstGeom>
          <a:noFill/>
          <a:ln/>
        </p:spPr>
        <p:txBody>
          <a:bodyPr wrap="square" rtlCol="0" anchor="ctr"/>
          <a:lstStyle/>
          <a:p>
            <a:pPr algn="ctr" indent="0" marL="0">
              <a:buNone/>
            </a:pPr>
            <a:r>
              <a:rPr lang="en-US" sz="750" b="1" dirty="0">
                <a:solidFill>
                  <a:srgbClr val="1C1C19"/>
                </a:solidFill>
                <a:latin typeface="Inter" pitchFamily="34" charset="0"/>
                <a:ea typeface="Inter" pitchFamily="34" charset="-122"/>
                <a:cs typeface="Inter" pitchFamily="34" charset="-120"/>
              </a:rPr>
              <a:t>EOD Check-In</a:t>
            </a:r>
            <a:endParaRPr lang="en-US" sz="750" dirty="0"/>
          </a:p>
          <a:p>
            <a:pPr algn="ctr" indent="0" marL="0">
              <a:buNone/>
            </a:pPr>
            <a:r>
              <a:rPr lang="en-US" sz="750" b="1" dirty="0">
                <a:solidFill>
                  <a:srgbClr val="1C1C19"/>
                </a:solidFill>
                <a:latin typeface="Inter" pitchFamily="34" charset="0"/>
                <a:ea typeface="Inter" pitchFamily="34" charset="-122"/>
                <a:cs typeface="Inter" pitchFamily="34" charset="-120"/>
              </a:rPr>
              <a:t>(Reset Perish)</a:t>
            </a:r>
            <a:endParaRPr lang="en-US" sz="750" dirty="0"/>
          </a:p>
        </p:txBody>
      </p:sp>
      <p:sp>
        <p:nvSpPr>
          <p:cNvPr id="52" name="Shape 50"/>
          <p:cNvSpPr/>
          <p:nvPr/>
        </p:nvSpPr>
        <p:spPr>
          <a:xfrm>
            <a:off x="10149840" y="2578608"/>
            <a:ext cx="868680" cy="201168"/>
          </a:xfrm>
          <a:prstGeom prst="rect">
            <a:avLst>
              <a:gd name="adj" fmla="val 18182"/>
            </a:avLst>
          </a:prstGeom>
          <a:solidFill>
            <a:srgbClr val="FEE2E2"/>
          </a:solidFill>
          <a:ln w="6350">
            <a:solidFill>
              <a:srgbClr val="B91C1C"/>
            </a:solidFill>
            <a:prstDash val="solid"/>
          </a:ln>
        </p:spPr>
      </p:sp>
      <p:sp>
        <p:nvSpPr>
          <p:cNvPr id="53" name="Text 51"/>
          <p:cNvSpPr/>
          <p:nvPr/>
        </p:nvSpPr>
        <p:spPr>
          <a:xfrm>
            <a:off x="10149840" y="2578608"/>
            <a:ext cx="868680" cy="201168"/>
          </a:xfrm>
          <a:prstGeom prst="rect">
            <a:avLst/>
          </a:prstGeom>
          <a:noFill/>
          <a:ln/>
        </p:spPr>
        <p:txBody>
          <a:bodyPr wrap="square" rtlCol="0" anchor="ctr"/>
          <a:lstStyle/>
          <a:p>
            <a:pPr algn="ctr" indent="0" marL="0">
              <a:buNone/>
            </a:pPr>
            <a:r>
              <a:rPr lang="en-US" sz="650" b="1" dirty="0">
                <a:solidFill>
                  <a:srgbClr val="B91C1C"/>
                </a:solidFill>
                <a:latin typeface="Montserrat" pitchFamily="34" charset="0"/>
                <a:ea typeface="Montserrat" pitchFamily="34" charset="-122"/>
                <a:cs typeface="Montserrat" pitchFamily="34" charset="-120"/>
              </a:rPr>
              <a:t>Network Req</a:t>
            </a:r>
            <a:endParaRPr lang="en-US" sz="650" dirty="0"/>
          </a:p>
        </p:txBody>
      </p:sp>
      <p:sp>
        <p:nvSpPr>
          <p:cNvPr id="54" name="Shape 52"/>
          <p:cNvSpPr/>
          <p:nvPr/>
        </p:nvSpPr>
        <p:spPr>
          <a:xfrm>
            <a:off x="731520" y="3154680"/>
            <a:ext cx="5212080" cy="1874520"/>
          </a:xfrm>
          <a:prstGeom prst="rect">
            <a:avLst>
              <a:gd name="adj" fmla="val 5854"/>
            </a:avLst>
          </a:prstGeom>
          <a:solidFill>
            <a:srgbClr val="FFFFFF"/>
          </a:solidFill>
          <a:ln w="19050">
            <a:solidFill>
              <a:srgbClr val="E5E0D8"/>
            </a:solidFill>
            <a:prstDash val="solid"/>
          </a:ln>
        </p:spPr>
      </p:sp>
      <p:sp>
        <p:nvSpPr>
          <p:cNvPr id="55" name="Text 53"/>
          <p:cNvSpPr/>
          <p:nvPr/>
        </p:nvSpPr>
        <p:spPr>
          <a:xfrm>
            <a:off x="914400" y="3246120"/>
            <a:ext cx="4846320" cy="228600"/>
          </a:xfrm>
          <a:prstGeom prst="rect">
            <a:avLst/>
          </a:prstGeom>
          <a:noFill/>
          <a:ln/>
        </p:spPr>
        <p:txBody>
          <a:bodyPr wrap="square" rtlCol="0" anchor="ctr"/>
          <a:lstStyle/>
          <a:p>
            <a:pPr indent="0" marL="0">
              <a:buNone/>
            </a:pPr>
            <a:r>
              <a:rPr lang="en-US" sz="900" b="1" dirty="0">
                <a:solidFill>
                  <a:srgbClr val="1B4332"/>
                </a:solidFill>
                <a:latin typeface="Montserrat" pitchFamily="34" charset="0"/>
                <a:ea typeface="Montserrat" pitchFamily="34" charset="-122"/>
                <a:cs typeface="Montserrat" pitchFamily="34" charset="-120"/>
              </a:rPr>
              <a:t>MULTI-TENANT ISOLATION SHIELD (test_tenant_isolation.py)</a:t>
            </a:r>
            <a:endParaRPr lang="en-US" sz="900" dirty="0"/>
          </a:p>
        </p:txBody>
      </p:sp>
      <p:sp>
        <p:nvSpPr>
          <p:cNvPr id="56" name="Text 54"/>
          <p:cNvSpPr/>
          <p:nvPr/>
        </p:nvSpPr>
        <p:spPr>
          <a:xfrm>
            <a:off x="914400" y="3493008"/>
            <a:ext cx="4846320" cy="141732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Security Invariant: Tenant A token strictly cannot read or mutate Tenant B records.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Verified Across 10 Endpoints: GET /items, GET /forecasts, GET /waste-alerts, PUT /items/{id}, POST /restock, DELETE /items/{id}, POST /sales/intraday, POST /apply-discount, POST /flag-donation, POST /dismiss.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Empirical Result: 10/10 endpoints return HTTP 404 or empty collection. ZERO DATA LEAKS.</a:t>
            </a:r>
            <a:endParaRPr lang="en-US" sz="800" dirty="0"/>
          </a:p>
        </p:txBody>
      </p:sp>
      <p:sp>
        <p:nvSpPr>
          <p:cNvPr id="57" name="Shape 55"/>
          <p:cNvSpPr/>
          <p:nvPr/>
        </p:nvSpPr>
        <p:spPr>
          <a:xfrm>
            <a:off x="6217920" y="3154680"/>
            <a:ext cx="5212080" cy="1874520"/>
          </a:xfrm>
          <a:prstGeom prst="rect">
            <a:avLst>
              <a:gd name="adj" fmla="val 5854"/>
            </a:avLst>
          </a:prstGeom>
          <a:solidFill>
            <a:srgbClr val="FFFFFF"/>
          </a:solidFill>
          <a:ln w="19050">
            <a:solidFill>
              <a:srgbClr val="E5E0D8"/>
            </a:solidFill>
            <a:prstDash val="solid"/>
          </a:ln>
        </p:spPr>
      </p:sp>
      <p:sp>
        <p:nvSpPr>
          <p:cNvPr id="58" name="Text 56"/>
          <p:cNvSpPr/>
          <p:nvPr/>
        </p:nvSpPr>
        <p:spPr>
          <a:xfrm>
            <a:off x="6400800" y="3246120"/>
            <a:ext cx="4846320" cy="228600"/>
          </a:xfrm>
          <a:prstGeom prst="rect">
            <a:avLst/>
          </a:prstGeom>
          <a:noFill/>
          <a:ln/>
        </p:spPr>
        <p:txBody>
          <a:bodyPr wrap="square" rtlCol="0" anchor="ctr"/>
          <a:lstStyle/>
          <a:p>
            <a:pPr indent="0" marL="0">
              <a:buNone/>
            </a:pPr>
            <a:r>
              <a:rPr lang="en-US" sz="900" b="1" dirty="0">
                <a:solidFill>
                  <a:srgbClr val="1B4332"/>
                </a:solidFill>
                <a:latin typeface="Montserrat" pitchFamily="34" charset="0"/>
                <a:ea typeface="Montserrat" pitchFamily="34" charset="-122"/>
                <a:cs typeface="Montserrat" pitchFamily="34" charset="-120"/>
              </a:rPr>
              <a:t>ANTI-SPOOFING &amp; WALKTHROUGH SECURITY GATE (DEF-009)</a:t>
            </a:r>
            <a:endParaRPr lang="en-US" sz="900" dirty="0"/>
          </a:p>
        </p:txBody>
      </p:sp>
      <p:sp>
        <p:nvSpPr>
          <p:cNvPr id="59" name="Text 57"/>
          <p:cNvSpPr/>
          <p:nvPr/>
        </p:nvSpPr>
        <p:spPr>
          <a:xfrm>
            <a:off x="6400800" y="3493008"/>
            <a:ext cx="4846320" cy="141732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Proxy Header Spoof Injection: Client injects fake 'X-Forwarded-For: 1.1.1.1, 8.8.8.8'. Trusted edge proxy appends real client IP (192.0.2.100). System extracts rightmost IP, enforcing shared rate limit at attempt 3 (HTTP 429).</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DEF-009 Security Gate: Walkthrough login and offline session activation are strictly gated by assert(kDebugMode) and compile-time kDebugMode checks; 100% stripped in release builds.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Credential Protection: Zero credentials exposed on presentations or client production bundles.</a:t>
            </a:r>
            <a:endParaRPr lang="en-US" sz="800" dirty="0"/>
          </a:p>
        </p:txBody>
      </p:sp>
      <p:sp>
        <p:nvSpPr>
          <p:cNvPr id="60" name="Text 58"/>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Full Lifecycle Validation: The nine-step E2E flow validates the entire business cycle from authentication and sales tracking to batch forecasting and closing check-in.</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Cryptographic Multi-Tenancy: Strict owner ID filtering across all ten database query handlers guarantees zero data leakage between competing store owners.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Anti-Spoofing Security: The rate limiter extracts the rightmost proxy IP in header chains, preventing attackers from bypassing rate counters via forged headers.</a:t>
            </a:r>
            <a:endParaRPr lang="en-US" sz="1150" dirty="0"/>
          </a:p>
        </p:txBody>
      </p:sp>
      <p:sp>
        <p:nvSpPr>
          <p:cNvPr id="61" name="Text 59"/>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test_tenant_isolation.py and test_rate_limiter.py in Backend/; E2E execution logged in Backend/learning_notes.md.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4: SYSTEM &amp; SECURITY</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11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ML &amp; LLM Validation: Backtesting, Leakage &amp; Truth Audit</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66928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53035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ROLLING-ORIGIN WAPE BY FOLD (HONEST REPORTING)</a:t>
            </a:r>
            <a:endParaRPr lang="en-US" sz="950" dirty="0"/>
          </a:p>
        </p:txBody>
      </p:sp>
      <p:graphicFrame>
        <p:nvGraphicFramePr>
          <p:cNvPr id="9" name="Chart 0" descr=""/>
          <p:cNvGraphicFramePr/>
          <p:nvPr/>
        </p:nvGraphicFramePr>
        <p:xfrm>
          <a:off x="914400" y="1828800"/>
          <a:ext cx="5303520" cy="242316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914400" y="4343400"/>
            <a:ext cx="5303520" cy="502920"/>
          </a:xfrm>
          <a:prstGeom prst="rect">
            <a:avLst>
              <a:gd name="adj" fmla="val 10909"/>
            </a:avLst>
          </a:prstGeom>
          <a:solidFill>
            <a:srgbClr val="EAE5DC"/>
          </a:solidFill>
          <a:ln w="12700">
            <a:solidFill>
              <a:srgbClr val="B91C1C"/>
            </a:solidFill>
            <a:prstDash val="solid"/>
          </a:ln>
        </p:spPr>
      </p:sp>
      <p:sp>
        <p:nvSpPr>
          <p:cNvPr id="11" name="Text 8"/>
          <p:cNvSpPr/>
          <p:nvPr/>
        </p:nvSpPr>
        <p:spPr>
          <a:xfrm>
            <a:off x="914400" y="4343400"/>
            <a:ext cx="5303520" cy="502920"/>
          </a:xfrm>
          <a:prstGeom prst="rect">
            <a:avLst/>
          </a:prstGeom>
          <a:noFill/>
          <a:ln/>
        </p:spPr>
        <p:txBody>
          <a:bodyPr wrap="square" rtlCol="0" anchor="ctr"/>
          <a:lstStyle/>
          <a:p>
            <a:pPr algn="ctr" indent="0" marL="0">
              <a:buNone/>
            </a:pPr>
            <a:r>
              <a:rPr lang="en-US" sz="750" b="1" dirty="0">
                <a:solidFill>
                  <a:srgbClr val="B91C1C"/>
                </a:solidFill>
                <a:latin typeface="Montserrat" pitchFamily="34" charset="0"/>
                <a:ea typeface="Montserrat" pitchFamily="34" charset="-122"/>
                <a:cs typeface="Montserrat" pitchFamily="34" charset="-120"/>
              </a:rPr>
              <a:t>NEGATIVE RESULT TRANSPARENCY: Prophet-only (21.74% avg WAPE) operated in parity with the</a:t>
            </a:r>
            <a:endParaRPr lang="en-US" sz="750" dirty="0"/>
          </a:p>
          <a:p>
            <a:pPr algn="ctr" indent="0" marL="0">
              <a:buNone/>
            </a:pPr>
            <a:r>
              <a:rPr lang="en-US" sz="750" b="1" dirty="0">
                <a:solidFill>
                  <a:srgbClr val="B91C1C"/>
                </a:solidFill>
                <a:latin typeface="Montserrat" pitchFamily="34" charset="0"/>
                <a:ea typeface="Montserrat" pitchFamily="34" charset="-122"/>
                <a:cs typeface="Montserrat" pitchFamily="34" charset="-120"/>
              </a:rPr>
              <a:t>Canonical Hybrid model (22.51% avg WAPE) on summer folds, with simple models lagging (30.39% WAPE).</a:t>
            </a:r>
            <a:endParaRPr lang="en-US" sz="750" dirty="0"/>
          </a:p>
        </p:txBody>
      </p:sp>
      <p:sp>
        <p:nvSpPr>
          <p:cNvPr id="12" name="Shape 9"/>
          <p:cNvSpPr/>
          <p:nvPr/>
        </p:nvSpPr>
        <p:spPr>
          <a:xfrm>
            <a:off x="6675120" y="1371600"/>
            <a:ext cx="4754880" cy="3611880"/>
          </a:xfrm>
          <a:prstGeom prst="rect">
            <a:avLst>
              <a:gd name="adj" fmla="val 3038"/>
            </a:avLst>
          </a:prstGeom>
          <a:solidFill>
            <a:srgbClr val="FFFFFF"/>
          </a:solidFill>
          <a:ln w="19050">
            <a:solidFill>
              <a:srgbClr val="E5E0D8"/>
            </a:solidFill>
            <a:prstDash val="solid"/>
          </a:ln>
        </p:spPr>
      </p:sp>
      <p:sp>
        <p:nvSpPr>
          <p:cNvPr id="13" name="Text 10"/>
          <p:cNvSpPr/>
          <p:nvPr/>
        </p:nvSpPr>
        <p:spPr>
          <a:xfrm>
            <a:off x="6858000" y="1508760"/>
            <a:ext cx="43891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LEAKAGE AUDIT &amp; LLM ZERO-MATH INVARIANT</a:t>
            </a:r>
            <a:endParaRPr lang="en-US" sz="950" dirty="0"/>
          </a:p>
        </p:txBody>
      </p:sp>
      <p:sp>
        <p:nvSpPr>
          <p:cNvPr id="14" name="Shape 11"/>
          <p:cNvSpPr/>
          <p:nvPr/>
        </p:nvSpPr>
        <p:spPr>
          <a:xfrm>
            <a:off x="6858000" y="1874520"/>
            <a:ext cx="4389120" cy="1325880"/>
          </a:xfrm>
          <a:prstGeom prst="rect">
            <a:avLst>
              <a:gd name="adj" fmla="val 5517"/>
            </a:avLst>
          </a:prstGeom>
          <a:solidFill>
            <a:srgbClr val="FCF9F4"/>
          </a:solidFill>
          <a:ln w="12700">
            <a:solidFill>
              <a:srgbClr val="1B4332"/>
            </a:solidFill>
            <a:prstDash val="solid"/>
          </a:ln>
        </p:spPr>
      </p:sp>
      <p:sp>
        <p:nvSpPr>
          <p:cNvPr id="15" name="Text 12"/>
          <p:cNvSpPr/>
          <p:nvPr/>
        </p:nvSpPr>
        <p:spPr>
          <a:xfrm>
            <a:off x="6949440" y="1938528"/>
            <a:ext cx="4206240" cy="201168"/>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CHRONOLOGICAL LEAKAGE AUDIT (scripts/run_backtest.py):</a:t>
            </a:r>
            <a:endParaRPr lang="en-US" sz="850" dirty="0"/>
          </a:p>
        </p:txBody>
      </p:sp>
      <p:sp>
        <p:nvSpPr>
          <p:cNvPr id="16" name="Text 13"/>
          <p:cNvSpPr/>
          <p:nvPr/>
        </p:nvSpPr>
        <p:spPr>
          <a:xfrm>
            <a:off x="6949440" y="2176272"/>
            <a:ext cx="4206240" cy="96012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Evaluation spans 6 rolling holdout folds across 600 unique sales dates.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Training cutoff strictly precedes forecast horizon (548 to 629 days training history).</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Temporal Data Leakage: 0 ROWS. No future sales or holiday indicators leaked into training folds.</a:t>
            </a:r>
            <a:endParaRPr lang="en-US" sz="800" dirty="0"/>
          </a:p>
        </p:txBody>
      </p:sp>
      <p:sp>
        <p:nvSpPr>
          <p:cNvPr id="17" name="Shape 14"/>
          <p:cNvSpPr/>
          <p:nvPr/>
        </p:nvSpPr>
        <p:spPr>
          <a:xfrm>
            <a:off x="6858000" y="3337560"/>
            <a:ext cx="4389120" cy="1508760"/>
          </a:xfrm>
          <a:prstGeom prst="rect">
            <a:avLst>
              <a:gd name="adj" fmla="val 4848"/>
            </a:avLst>
          </a:prstGeom>
          <a:solidFill>
            <a:srgbClr val="EAE5DC"/>
          </a:solidFill>
          <a:ln w="12700">
            <a:solidFill>
              <a:srgbClr val="FFB702"/>
            </a:solidFill>
            <a:prstDash val="solid"/>
          </a:ln>
        </p:spPr>
      </p:sp>
      <p:sp>
        <p:nvSpPr>
          <p:cNvPr id="18" name="Text 15"/>
          <p:cNvSpPr/>
          <p:nvPr/>
        </p:nvSpPr>
        <p:spPr>
          <a:xfrm>
            <a:off x="6949440" y="3401568"/>
            <a:ext cx="4206240" cy="201168"/>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LLM ZERO-MATH HALLUCINATION AUDIT (Backend/verify_llm.py):</a:t>
            </a:r>
            <a:endParaRPr lang="en-US" sz="850" dirty="0"/>
          </a:p>
        </p:txBody>
      </p:sp>
      <p:sp>
        <p:nvSpPr>
          <p:cNvPr id="19" name="Text 16"/>
          <p:cNvSpPr/>
          <p:nvPr/>
        </p:nvSpPr>
        <p:spPr>
          <a:xfrm>
            <a:off x="6949440" y="3639312"/>
            <a:ext cx="4206240" cy="114300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Input Tracked Numbers: [0.28, 0.42, 15, 19, 2.8, 20, 39, 4, 4.5, 42, 8]</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Output Numbers Detected: [0.28, 0.42, 15, 19, 20, 4, 8] (100% Grounded)</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Anti-Hallucination Invariant: Gemini 2.5 Flash does zero internal arithmetic; outputs are verified subsets of database values. Zero invented numbers.</a:t>
            </a:r>
            <a:endParaRPr lang="en-US" sz="800" dirty="0"/>
          </a:p>
        </p:txBody>
      </p:sp>
      <p:sp>
        <p:nvSpPr>
          <p:cNvPr id="20" name="Text 17"/>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Model Ablation Transparency: Prophet-only baseline (21.74% WAPE) operated in statistical parity with the hybrid model (22.51% WAPE) across 6 summer folds, significantly outperforming naive baselines (30.39% WAPE).</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Zero Temporal Leakage: Rigorous holdout auditing proves training data was strictly partitioned prior to each forecast horizon with zero lookahead contamination.</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Zero-Math Hallucination Guard: Automated audit verifies that Gemini 2.5 Flash outputs only numbers provided in verified context, preventing hallucinated inventory quantities.</a:t>
            </a:r>
            <a:endParaRPr lang="en-US" sz="1150" dirty="0"/>
          </a:p>
        </p:txBody>
      </p:sp>
      <p:sp>
        <p:nvSpPr>
          <p:cNvPr id="21" name="Text 18"/>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Rolling backtest logged in docs/backtest_results.csv; Zero-math verification in Backend/verify_llm.py.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4: SYSTEM &amp; SECURITY</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12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Simulation Testing: Waste, Stockouts &amp; Policy Sensitivity</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66928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53035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90-DAY SIMULATION: GROSS PROFIT &amp; WASTE BY SAFETY MULTIPLIER z</a:t>
            </a:r>
            <a:endParaRPr lang="en-US" sz="950" dirty="0"/>
          </a:p>
        </p:txBody>
      </p:sp>
      <p:graphicFrame>
        <p:nvGraphicFramePr>
          <p:cNvPr id="9" name="Chart 0" descr=""/>
          <p:cNvGraphicFramePr/>
          <p:nvPr/>
        </p:nvGraphicFramePr>
        <p:xfrm>
          <a:off x="914400" y="1874520"/>
          <a:ext cx="530352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914400" y="4251960"/>
            <a:ext cx="5303520" cy="594360"/>
          </a:xfrm>
          <a:prstGeom prst="rect">
            <a:avLst>
              <a:gd name="adj" fmla="val 9231"/>
            </a:avLst>
          </a:prstGeom>
          <a:solidFill>
            <a:srgbClr val="FCF9F4"/>
          </a:solidFill>
          <a:ln w="12700">
            <a:solidFill>
              <a:srgbClr val="E5E0D8"/>
            </a:solidFill>
            <a:prstDash val="solid"/>
          </a:ln>
        </p:spPr>
      </p:sp>
      <p:sp>
        <p:nvSpPr>
          <p:cNvPr id="11" name="Text 8"/>
          <p:cNvSpPr/>
          <p:nvPr/>
        </p:nvSpPr>
        <p:spPr>
          <a:xfrm>
            <a:off x="960120" y="4279392"/>
            <a:ext cx="5212080" cy="530352"/>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POLICY SENSITIVITY INVARIANT:</a:t>
            </a:r>
            <a:endParaRPr lang="en-US" sz="800" dirty="0"/>
          </a:p>
          <a:p>
            <a:pPr indent="0" marL="0">
              <a:buNone/>
            </a:pPr>
            <a:r>
              <a:rPr lang="en-US" sz="800" b="1" dirty="0">
                <a:solidFill>
                  <a:srgbClr val="1B4332"/>
                </a:solidFill>
                <a:latin typeface="Montserrat" pitchFamily="34" charset="0"/>
                <a:ea typeface="Montserrat" pitchFamily="34" charset="-122"/>
                <a:cs typeface="Montserrat" pitchFamily="34" charset="-120"/>
              </a:rPr>
              <a:t>Waste % is strictly a policy decision driven by buffer z: 9.0% at z=0.0 -&gt; 37.6% at z=1.65.</a:t>
            </a:r>
            <a:endParaRPr lang="en-US" sz="800" dirty="0"/>
          </a:p>
          <a:p>
            <a:pPr indent="0" marL="0">
              <a:buNone/>
            </a:pPr>
            <a:r>
              <a:rPr lang="en-US" sz="800" b="1" dirty="0">
                <a:solidFill>
                  <a:srgbClr val="1B4332"/>
                </a:solidFill>
                <a:latin typeface="Montserrat" pitchFamily="34" charset="0"/>
                <a:ea typeface="Montserrat" pitchFamily="34" charset="-122"/>
                <a:cs typeface="Montserrat" pitchFamily="34" charset="-120"/>
              </a:rPr>
              <a:t>Over-buffering perishable stock destroys operating profit (€40,717 down to €32,605).</a:t>
            </a:r>
            <a:endParaRPr lang="en-US" sz="800" dirty="0"/>
          </a:p>
        </p:txBody>
      </p:sp>
      <p:sp>
        <p:nvSpPr>
          <p:cNvPr id="12" name="Shape 9"/>
          <p:cNvSpPr/>
          <p:nvPr/>
        </p:nvSpPr>
        <p:spPr>
          <a:xfrm>
            <a:off x="6675120" y="1371600"/>
            <a:ext cx="4754880" cy="3611880"/>
          </a:xfrm>
          <a:prstGeom prst="rect">
            <a:avLst>
              <a:gd name="adj" fmla="val 3038"/>
            </a:avLst>
          </a:prstGeom>
          <a:solidFill>
            <a:srgbClr val="FFFFFF"/>
          </a:solidFill>
          <a:ln w="19050">
            <a:solidFill>
              <a:srgbClr val="E5E0D8"/>
            </a:solidFill>
            <a:prstDash val="solid"/>
          </a:ln>
        </p:spPr>
      </p:sp>
      <p:sp>
        <p:nvSpPr>
          <p:cNvPr id="13" name="Text 10"/>
          <p:cNvSpPr/>
          <p:nvPr/>
        </p:nvSpPr>
        <p:spPr>
          <a:xfrm>
            <a:off x="6858000" y="1508760"/>
            <a:ext cx="43891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MODEL BENCHMARK ON IDENTICAL POLICY (z = 1.65)</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0" y="1874520"/>
          <a:ext cx="4389120" cy="1371600"/>
        </p:xfrm>
        <a:graphic>
          <a:graphicData uri="http://schemas.openxmlformats.org/drawingml/2006/table">
            <a:tbl>
              <a:tblPr/>
              <a:tblGrid>
                <a:gridCol w="2011680"/>
                <a:gridCol w="1188720"/>
                <a:gridCol w="1188720"/>
              </a:tblGrid>
              <a:tr h="292608">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Forecasting Strategy</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Waste Units</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Stockout Days</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Seasonal Naive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65,026</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275 days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7-Day Moving Average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63,759</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179 days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47472">
                <a:tc>
                  <a:txBody>
                    <a:bodyPr/>
                    <a:lstStyle/>
                    <a:p>
                      <a:pPr indent="0" marL="0">
                        <a:buNone/>
                      </a:pPr>
                      <a:r>
                        <a:rPr lang="en-US" sz="800" dirty="0">
                          <a:solidFill>
                            <a:srgbClr val="1C1C19"/>
                          </a:solidFill>
                          <a:latin typeface="Inter" pitchFamily="34" charset="0"/>
                          <a:ea typeface="Inter" pitchFamily="34" charset="-122"/>
                          <a:cs typeface="Inter" pitchFamily="34" charset="-120"/>
                        </a:rPr>
                        <a:t>RestockIQ Engine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60,483 (-4,543)</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137 days (-138)</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15" name="Shape 11"/>
          <p:cNvSpPr/>
          <p:nvPr/>
        </p:nvSpPr>
        <p:spPr>
          <a:xfrm>
            <a:off x="6858000" y="3429000"/>
            <a:ext cx="4389120" cy="1417320"/>
          </a:xfrm>
          <a:prstGeom prst="rect">
            <a:avLst>
              <a:gd name="adj" fmla="val 5161"/>
            </a:avLst>
          </a:prstGeom>
          <a:solidFill>
            <a:srgbClr val="EAE5DC"/>
          </a:solidFill>
          <a:ln w="12700">
            <a:solidFill>
              <a:srgbClr val="E5E0D8"/>
            </a:solidFill>
            <a:prstDash val="solid"/>
          </a:ln>
        </p:spPr>
      </p:sp>
      <p:sp>
        <p:nvSpPr>
          <p:cNvPr id="16" name="Text 12"/>
          <p:cNvSpPr/>
          <p:nvPr/>
        </p:nvSpPr>
        <p:spPr>
          <a:xfrm>
            <a:off x="6949440" y="3493008"/>
            <a:ext cx="4206240" cy="201168"/>
          </a:xfrm>
          <a:prstGeom prst="rect">
            <a:avLst/>
          </a:prstGeom>
          <a:noFill/>
          <a:ln/>
        </p:spPr>
        <p:txBody>
          <a:bodyPr wrap="square" rtlCol="0" anchor="ctr"/>
          <a:lstStyle/>
          <a:p>
            <a:pPr indent="0" marL="0">
              <a:buNone/>
            </a:pPr>
            <a:r>
              <a:rPr lang="en-US" sz="850" b="1" dirty="0">
                <a:solidFill>
                  <a:srgbClr val="1B4332"/>
                </a:solidFill>
                <a:latin typeface="Montserrat" pitchFamily="34" charset="0"/>
                <a:ea typeface="Montserrat" pitchFamily="34" charset="-122"/>
                <a:cs typeface="Montserrat" pitchFamily="34" charset="-120"/>
              </a:rPr>
              <a:t>MODEL ASSUMPTIONS &amp; FINANCIAL PARAMETERS:</a:t>
            </a:r>
            <a:endParaRPr lang="en-US" sz="850" dirty="0"/>
          </a:p>
        </p:txBody>
      </p:sp>
      <p:sp>
        <p:nvSpPr>
          <p:cNvPr id="17" name="Text 13"/>
          <p:cNvSpPr/>
          <p:nvPr/>
        </p:nvSpPr>
        <p:spPr>
          <a:xfrm>
            <a:off x="6949440" y="3730752"/>
            <a:ext cx="4206240" cy="105156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Catalog Demand: 84,500 units over 90 days across French bakery sales.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Unit Price = €1.15 | Cost of Goods Sold (COGS) = €0.40 | Gross Margin = €0.75.</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Lead Time = 1 Day | Shelf Life = 1 Day (Strict Perishable: Unsold stock resets to 0 at closing).</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Efficiency Frontier: RestockIQ prevents 4,543 wasted food units while simultaneously eliminating 138 stockout days compared to Seasonal Naive.</a:t>
            </a:r>
            <a:endParaRPr lang="en-US" sz="800" dirty="0"/>
          </a:p>
        </p:txBody>
      </p:sp>
      <p:sp>
        <p:nvSpPr>
          <p:cNvPr id="18" name="Text 14"/>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Policy-Driven Waste Dynamics: Simulation confirms waste percentage scales strictly with safety buffer z, ranging from 9.0% at z=0.0 to 37.6% at z=1.65.</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Frontier Optimization: RestockIQ eliminates 138 stockout days and prevents 4,543 wasted units compared to seasonal naive heuristics under identical safety policies.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Profit Maximization Trade-off: Peak gross profit (€40,717) occurs at low buffer levels (z=0.0), demonstrating that over-buffering perishable goods directly destroys operating margin.</a:t>
            </a:r>
            <a:endParaRPr lang="en-US" sz="1150" dirty="0"/>
          </a:p>
        </p:txBody>
      </p:sp>
      <p:sp>
        <p:nvSpPr>
          <p:cNvPr id="19" name="Text 15"/>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90-day simulation results in docs/simulation_report.md; Executed via scripts/run_waste_simulation.py.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4: SYSTEM &amp; SECURITY</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13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Regression &amp; CI: GitHub Actions Pipeline &amp; Keep-Alive</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2468880" cy="3611880"/>
          </a:xfrm>
          <a:prstGeom prst="rect">
            <a:avLst>
              <a:gd name="adj" fmla="val 4444"/>
            </a:avLst>
          </a:prstGeom>
          <a:solidFill>
            <a:srgbClr val="FFFFFF"/>
          </a:solidFill>
          <a:ln w="19050">
            <a:solidFill>
              <a:srgbClr val="E5E0D8"/>
            </a:solidFill>
            <a:prstDash val="solid"/>
          </a:ln>
        </p:spPr>
      </p:sp>
      <p:sp>
        <p:nvSpPr>
          <p:cNvPr id="8" name="Shape 6"/>
          <p:cNvSpPr/>
          <p:nvPr/>
        </p:nvSpPr>
        <p:spPr>
          <a:xfrm>
            <a:off x="731520" y="1371600"/>
            <a:ext cx="2468880" cy="411480"/>
          </a:xfrm>
          <a:prstGeom prst="rect">
            <a:avLst/>
          </a:prstGeom>
          <a:solidFill>
            <a:srgbClr val="EAE5DC"/>
          </a:solidFill>
          <a:ln w="12700">
            <a:solidFill>
              <a:srgbClr val="E5E0D8"/>
            </a:solidFill>
            <a:prstDash val="solid"/>
          </a:ln>
        </p:spPr>
      </p:sp>
      <p:sp>
        <p:nvSpPr>
          <p:cNvPr id="9" name="Text 7"/>
          <p:cNvSpPr/>
          <p:nvPr/>
        </p:nvSpPr>
        <p:spPr>
          <a:xfrm>
            <a:off x="822960" y="1371600"/>
            <a:ext cx="2286000" cy="41148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WORKFLOW 1: CI (ci.yml)</a:t>
            </a:r>
            <a:endParaRPr lang="en-US" sz="850" dirty="0"/>
          </a:p>
        </p:txBody>
      </p:sp>
      <p:sp>
        <p:nvSpPr>
          <p:cNvPr id="10" name="Text 8"/>
          <p:cNvSpPr/>
          <p:nvPr/>
        </p:nvSpPr>
        <p:spPr>
          <a:xfrm>
            <a:off x="868680" y="1874520"/>
            <a:ext cx="2194560" cy="411480"/>
          </a:xfrm>
          <a:prstGeom prst="rect">
            <a:avLst/>
          </a:prstGeom>
          <a:noFill/>
          <a:ln/>
        </p:spPr>
        <p:txBody>
          <a:bodyPr wrap="square" rtlCol="0" anchor="ctr"/>
          <a:lstStyle/>
          <a:p>
            <a:pPr indent="0" marL="0">
              <a:buNone/>
            </a:pPr>
            <a:r>
              <a:rPr lang="en-US" sz="800" i="1" dirty="0">
                <a:solidFill>
                  <a:srgbClr val="5A5A54"/>
                </a:solidFill>
                <a:latin typeface="Inter" pitchFamily="34" charset="0"/>
                <a:ea typeface="Inter" pitchFamily="34" charset="-122"/>
                <a:cs typeface="Inter" pitchFamily="34" charset="-120"/>
              </a:rPr>
              <a:t>Trigger: Push &amp; Pull Request on main</a:t>
            </a:r>
            <a:endParaRPr lang="en-US" sz="800" dirty="0"/>
          </a:p>
        </p:txBody>
      </p:sp>
      <p:sp>
        <p:nvSpPr>
          <p:cNvPr id="11" name="Shape 9"/>
          <p:cNvSpPr/>
          <p:nvPr/>
        </p:nvSpPr>
        <p:spPr>
          <a:xfrm>
            <a:off x="914400" y="2331720"/>
            <a:ext cx="2103120" cy="0"/>
          </a:xfrm>
          <a:prstGeom prst="line">
            <a:avLst/>
          </a:prstGeom>
          <a:noFill/>
          <a:ln w="12700">
            <a:solidFill>
              <a:srgbClr val="E5E0D8"/>
            </a:solidFill>
            <a:prstDash val="solid"/>
          </a:ln>
        </p:spPr>
      </p:sp>
      <p:sp>
        <p:nvSpPr>
          <p:cNvPr id="12" name="Text 10"/>
          <p:cNvSpPr/>
          <p:nvPr/>
        </p:nvSpPr>
        <p:spPr>
          <a:xfrm>
            <a:off x="868680" y="2423160"/>
            <a:ext cx="2194560" cy="201168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Job 1: Backend Offline Security Tests -&gt; PASSING (23s runtime)</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Job 2: Flutter Analyze &amp; Tests -&gt; FIXED LOCALLY (Prior failure from 6 unused imports resolved; now 0 errors)</a:t>
            </a:r>
            <a:endParaRPr lang="en-US" sz="800" dirty="0"/>
          </a:p>
        </p:txBody>
      </p:sp>
      <p:sp>
        <p:nvSpPr>
          <p:cNvPr id="13" name="Shape 11"/>
          <p:cNvSpPr/>
          <p:nvPr/>
        </p:nvSpPr>
        <p:spPr>
          <a:xfrm>
            <a:off x="868680" y="4526280"/>
            <a:ext cx="2194560" cy="320040"/>
          </a:xfrm>
          <a:prstGeom prst="rect">
            <a:avLst>
              <a:gd name="adj" fmla="val 17143"/>
            </a:avLst>
          </a:prstGeom>
          <a:solidFill>
            <a:srgbClr val="FCF9F4"/>
          </a:solidFill>
          <a:ln w="12700">
            <a:solidFill>
              <a:srgbClr val="2D6A4F"/>
            </a:solidFill>
            <a:prstDash val="solid"/>
          </a:ln>
        </p:spPr>
      </p:sp>
      <p:sp>
        <p:nvSpPr>
          <p:cNvPr id="14" name="Text 12"/>
          <p:cNvSpPr/>
          <p:nvPr/>
        </p:nvSpPr>
        <p:spPr>
          <a:xfrm>
            <a:off x="868680" y="4526280"/>
            <a:ext cx="2194560" cy="320040"/>
          </a:xfrm>
          <a:prstGeom prst="rect">
            <a:avLst/>
          </a:prstGeom>
          <a:noFill/>
          <a:ln/>
        </p:spPr>
        <p:txBody>
          <a:bodyPr wrap="square" rtlCol="0" anchor="ctr"/>
          <a:lstStyle/>
          <a:p>
            <a:pPr algn="ctr" indent="0" marL="0">
              <a:buNone/>
            </a:pPr>
            <a:r>
              <a:rPr lang="en-US" sz="850" b="1" dirty="0">
                <a:solidFill>
                  <a:srgbClr val="2D6A4F"/>
                </a:solidFill>
                <a:latin typeface="Montserrat" pitchFamily="34" charset="0"/>
                <a:ea typeface="Montserrat" pitchFamily="34" charset="-122"/>
                <a:cs typeface="Montserrat" pitchFamily="34" charset="-120"/>
              </a:rPr>
              <a:t>PASSING (POST-FIX)</a:t>
            </a:r>
            <a:endParaRPr lang="en-US" sz="850" dirty="0"/>
          </a:p>
        </p:txBody>
      </p:sp>
      <p:sp>
        <p:nvSpPr>
          <p:cNvPr id="15" name="Shape 13"/>
          <p:cNvSpPr/>
          <p:nvPr/>
        </p:nvSpPr>
        <p:spPr>
          <a:xfrm>
            <a:off x="3474720" y="1371600"/>
            <a:ext cx="2468880" cy="3611880"/>
          </a:xfrm>
          <a:prstGeom prst="rect">
            <a:avLst>
              <a:gd name="adj" fmla="val 4444"/>
            </a:avLst>
          </a:prstGeom>
          <a:solidFill>
            <a:srgbClr val="FFFFFF"/>
          </a:solidFill>
          <a:ln w="19050">
            <a:solidFill>
              <a:srgbClr val="E5E0D8"/>
            </a:solidFill>
            <a:prstDash val="solid"/>
          </a:ln>
        </p:spPr>
      </p:sp>
      <p:sp>
        <p:nvSpPr>
          <p:cNvPr id="16" name="Shape 14"/>
          <p:cNvSpPr/>
          <p:nvPr/>
        </p:nvSpPr>
        <p:spPr>
          <a:xfrm>
            <a:off x="3474720" y="1371600"/>
            <a:ext cx="2468880" cy="411480"/>
          </a:xfrm>
          <a:prstGeom prst="rect">
            <a:avLst/>
          </a:prstGeom>
          <a:solidFill>
            <a:srgbClr val="EAE5DC"/>
          </a:solidFill>
          <a:ln w="12700">
            <a:solidFill>
              <a:srgbClr val="E5E0D8"/>
            </a:solidFill>
            <a:prstDash val="solid"/>
          </a:ln>
        </p:spPr>
      </p:sp>
      <p:sp>
        <p:nvSpPr>
          <p:cNvPr id="17" name="Text 15"/>
          <p:cNvSpPr/>
          <p:nvPr/>
        </p:nvSpPr>
        <p:spPr>
          <a:xfrm>
            <a:off x="3566160" y="1371600"/>
            <a:ext cx="2286000" cy="41148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WORKFLOW 2: KEEPALIVE (keepalive.yml)</a:t>
            </a:r>
            <a:endParaRPr lang="en-US" sz="850" dirty="0"/>
          </a:p>
        </p:txBody>
      </p:sp>
      <p:sp>
        <p:nvSpPr>
          <p:cNvPr id="18" name="Text 16"/>
          <p:cNvSpPr/>
          <p:nvPr/>
        </p:nvSpPr>
        <p:spPr>
          <a:xfrm>
            <a:off x="3611880" y="1874520"/>
            <a:ext cx="2194560" cy="411480"/>
          </a:xfrm>
          <a:prstGeom prst="rect">
            <a:avLst/>
          </a:prstGeom>
          <a:noFill/>
          <a:ln/>
        </p:spPr>
        <p:txBody>
          <a:bodyPr wrap="square" rtlCol="0" anchor="ctr"/>
          <a:lstStyle/>
          <a:p>
            <a:pPr indent="0" marL="0">
              <a:buNone/>
            </a:pPr>
            <a:r>
              <a:rPr lang="en-US" sz="800" i="1" dirty="0">
                <a:solidFill>
                  <a:srgbClr val="5A5A54"/>
                </a:solidFill>
                <a:latin typeface="Inter" pitchFamily="34" charset="0"/>
                <a:ea typeface="Inter" pitchFamily="34" charset="-122"/>
                <a:cs typeface="Inter" pitchFamily="34" charset="-120"/>
              </a:rPr>
              <a:t>Trigger: Scheduled cron every 10 min (*/10 * * * *)</a:t>
            </a:r>
            <a:endParaRPr lang="en-US" sz="800" dirty="0"/>
          </a:p>
        </p:txBody>
      </p:sp>
      <p:sp>
        <p:nvSpPr>
          <p:cNvPr id="19" name="Shape 17"/>
          <p:cNvSpPr/>
          <p:nvPr/>
        </p:nvSpPr>
        <p:spPr>
          <a:xfrm>
            <a:off x="3657600" y="2331720"/>
            <a:ext cx="2103120" cy="0"/>
          </a:xfrm>
          <a:prstGeom prst="line">
            <a:avLst/>
          </a:prstGeom>
          <a:noFill/>
          <a:ln w="12700">
            <a:solidFill>
              <a:srgbClr val="E5E0D8"/>
            </a:solidFill>
            <a:prstDash val="solid"/>
          </a:ln>
        </p:spPr>
      </p:sp>
      <p:sp>
        <p:nvSpPr>
          <p:cNvPr id="20" name="Text 18"/>
          <p:cNvSpPr/>
          <p:nvPr/>
        </p:nvSpPr>
        <p:spPr>
          <a:xfrm>
            <a:off x="3611880" y="2423160"/>
            <a:ext cx="2194560" cy="201168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Automated curl GET to /health</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Prevents Render free-tier container sleep</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Execution Result: 100% SUCCESS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Latest run verified at 15:23:45 UTC</a:t>
            </a:r>
            <a:endParaRPr lang="en-US" sz="800" dirty="0"/>
          </a:p>
        </p:txBody>
      </p:sp>
      <p:sp>
        <p:nvSpPr>
          <p:cNvPr id="21" name="Shape 19"/>
          <p:cNvSpPr/>
          <p:nvPr/>
        </p:nvSpPr>
        <p:spPr>
          <a:xfrm>
            <a:off x="3611880" y="4526280"/>
            <a:ext cx="2194560" cy="320040"/>
          </a:xfrm>
          <a:prstGeom prst="rect">
            <a:avLst>
              <a:gd name="adj" fmla="val 17143"/>
            </a:avLst>
          </a:prstGeom>
          <a:solidFill>
            <a:srgbClr val="FCF9F4"/>
          </a:solidFill>
          <a:ln w="12700">
            <a:solidFill>
              <a:srgbClr val="2D6A4F"/>
            </a:solidFill>
            <a:prstDash val="solid"/>
          </a:ln>
        </p:spPr>
      </p:sp>
      <p:sp>
        <p:nvSpPr>
          <p:cNvPr id="22" name="Text 20"/>
          <p:cNvSpPr/>
          <p:nvPr/>
        </p:nvSpPr>
        <p:spPr>
          <a:xfrm>
            <a:off x="3611880" y="4526280"/>
            <a:ext cx="2194560" cy="320040"/>
          </a:xfrm>
          <a:prstGeom prst="rect">
            <a:avLst/>
          </a:prstGeom>
          <a:noFill/>
          <a:ln/>
        </p:spPr>
        <p:txBody>
          <a:bodyPr wrap="square" rtlCol="0" anchor="ctr"/>
          <a:lstStyle/>
          <a:p>
            <a:pPr algn="ctr" indent="0" marL="0">
              <a:buNone/>
            </a:pPr>
            <a:r>
              <a:rPr lang="en-US" sz="850" b="1" dirty="0">
                <a:solidFill>
                  <a:srgbClr val="2D6A4F"/>
                </a:solidFill>
                <a:latin typeface="Montserrat" pitchFamily="34" charset="0"/>
                <a:ea typeface="Montserrat" pitchFamily="34" charset="-122"/>
                <a:cs typeface="Montserrat" pitchFamily="34" charset="-120"/>
              </a:rPr>
              <a:t>PASSING (ACTIVE)</a:t>
            </a:r>
            <a:endParaRPr lang="en-US" sz="850" dirty="0"/>
          </a:p>
        </p:txBody>
      </p:sp>
      <p:sp>
        <p:nvSpPr>
          <p:cNvPr id="23" name="Shape 21"/>
          <p:cNvSpPr/>
          <p:nvPr/>
        </p:nvSpPr>
        <p:spPr>
          <a:xfrm>
            <a:off x="6217920" y="1371600"/>
            <a:ext cx="2468880" cy="3611880"/>
          </a:xfrm>
          <a:prstGeom prst="rect">
            <a:avLst>
              <a:gd name="adj" fmla="val 4444"/>
            </a:avLst>
          </a:prstGeom>
          <a:solidFill>
            <a:srgbClr val="FFFFFF"/>
          </a:solidFill>
          <a:ln w="19050">
            <a:solidFill>
              <a:srgbClr val="E5E0D8"/>
            </a:solidFill>
            <a:prstDash val="solid"/>
          </a:ln>
        </p:spPr>
      </p:sp>
      <p:sp>
        <p:nvSpPr>
          <p:cNvPr id="24" name="Shape 22"/>
          <p:cNvSpPr/>
          <p:nvPr/>
        </p:nvSpPr>
        <p:spPr>
          <a:xfrm>
            <a:off x="6217920" y="1371600"/>
            <a:ext cx="2468880" cy="411480"/>
          </a:xfrm>
          <a:prstGeom prst="rect">
            <a:avLst/>
          </a:prstGeom>
          <a:solidFill>
            <a:srgbClr val="EAE5DC"/>
          </a:solidFill>
          <a:ln w="12700">
            <a:solidFill>
              <a:srgbClr val="E5E0D8"/>
            </a:solidFill>
            <a:prstDash val="solid"/>
          </a:ln>
        </p:spPr>
      </p:sp>
      <p:sp>
        <p:nvSpPr>
          <p:cNvPr id="25" name="Text 23"/>
          <p:cNvSpPr/>
          <p:nvPr/>
        </p:nvSpPr>
        <p:spPr>
          <a:xfrm>
            <a:off x="6309360" y="1371600"/>
            <a:ext cx="2286000" cy="41148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WORKFLOW 3: NIGHTLY BATCH</a:t>
            </a:r>
            <a:endParaRPr lang="en-US" sz="850" dirty="0"/>
          </a:p>
        </p:txBody>
      </p:sp>
      <p:sp>
        <p:nvSpPr>
          <p:cNvPr id="26" name="Text 24"/>
          <p:cNvSpPr/>
          <p:nvPr/>
        </p:nvSpPr>
        <p:spPr>
          <a:xfrm>
            <a:off x="6355080" y="1874520"/>
            <a:ext cx="2194560" cy="411480"/>
          </a:xfrm>
          <a:prstGeom prst="rect">
            <a:avLst/>
          </a:prstGeom>
          <a:noFill/>
          <a:ln/>
        </p:spPr>
        <p:txBody>
          <a:bodyPr wrap="square" rtlCol="0" anchor="ctr"/>
          <a:lstStyle/>
          <a:p>
            <a:pPr indent="0" marL="0">
              <a:buNone/>
            </a:pPr>
            <a:r>
              <a:rPr lang="en-US" sz="800" i="1" dirty="0">
                <a:solidFill>
                  <a:srgbClr val="5A5A54"/>
                </a:solidFill>
                <a:latin typeface="Inter" pitchFamily="34" charset="0"/>
                <a:ea typeface="Inter" pitchFamily="34" charset="-122"/>
                <a:cs typeface="Inter" pitchFamily="34" charset="-120"/>
              </a:rPr>
              <a:t>Trigger: Scheduled cron at 02:00 UTC</a:t>
            </a:r>
            <a:endParaRPr lang="en-US" sz="800" dirty="0"/>
          </a:p>
        </p:txBody>
      </p:sp>
      <p:sp>
        <p:nvSpPr>
          <p:cNvPr id="27" name="Shape 25"/>
          <p:cNvSpPr/>
          <p:nvPr/>
        </p:nvSpPr>
        <p:spPr>
          <a:xfrm>
            <a:off x="6400800" y="2331720"/>
            <a:ext cx="2103120" cy="0"/>
          </a:xfrm>
          <a:prstGeom prst="line">
            <a:avLst/>
          </a:prstGeom>
          <a:noFill/>
          <a:ln w="12700">
            <a:solidFill>
              <a:srgbClr val="E5E0D8"/>
            </a:solidFill>
            <a:prstDash val="solid"/>
          </a:ln>
        </p:spPr>
      </p:sp>
      <p:sp>
        <p:nvSpPr>
          <p:cNvPr id="28" name="Text 26"/>
          <p:cNvSpPr/>
          <p:nvPr/>
        </p:nvSpPr>
        <p:spPr>
          <a:xfrm>
            <a:off x="6355080" y="2423160"/>
            <a:ext cx="2194560" cy="201168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Runs ML/batch_forecast.py</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Fits Prophet models &amp; writes Atlas JSON</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Status: FAILING IN CI RUNNER</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Root Cause: Requires Atlas secrets &amp; IP whitelist in GitHub environment</a:t>
            </a:r>
            <a:endParaRPr lang="en-US" sz="800" dirty="0"/>
          </a:p>
        </p:txBody>
      </p:sp>
      <p:sp>
        <p:nvSpPr>
          <p:cNvPr id="29" name="Shape 27"/>
          <p:cNvSpPr/>
          <p:nvPr/>
        </p:nvSpPr>
        <p:spPr>
          <a:xfrm>
            <a:off x="6355080" y="4526280"/>
            <a:ext cx="2194560" cy="320040"/>
          </a:xfrm>
          <a:prstGeom prst="rect">
            <a:avLst>
              <a:gd name="adj" fmla="val 17143"/>
            </a:avLst>
          </a:prstGeom>
          <a:solidFill>
            <a:srgbClr val="FCF9F4"/>
          </a:solidFill>
          <a:ln w="12700">
            <a:solidFill>
              <a:srgbClr val="B91C1C"/>
            </a:solidFill>
            <a:prstDash val="solid"/>
          </a:ln>
        </p:spPr>
      </p:sp>
      <p:sp>
        <p:nvSpPr>
          <p:cNvPr id="30" name="Text 28"/>
          <p:cNvSpPr/>
          <p:nvPr/>
        </p:nvSpPr>
        <p:spPr>
          <a:xfrm>
            <a:off x="6355080" y="4526280"/>
            <a:ext cx="2194560" cy="320040"/>
          </a:xfrm>
          <a:prstGeom prst="rect">
            <a:avLst/>
          </a:prstGeom>
          <a:noFill/>
          <a:ln/>
        </p:spPr>
        <p:txBody>
          <a:bodyPr wrap="square" rtlCol="0" anchor="ctr"/>
          <a:lstStyle/>
          <a:p>
            <a:pPr algn="ctr" indent="0" marL="0">
              <a:buNone/>
            </a:pPr>
            <a:r>
              <a:rPr lang="en-US" sz="850" b="1" dirty="0">
                <a:solidFill>
                  <a:srgbClr val="B91C1C"/>
                </a:solidFill>
                <a:latin typeface="Montserrat" pitchFamily="34" charset="0"/>
                <a:ea typeface="Montserrat" pitchFamily="34" charset="-122"/>
                <a:cs typeface="Montserrat" pitchFamily="34" charset="-120"/>
              </a:rPr>
              <a:t>FAILING IN CI</a:t>
            </a:r>
            <a:endParaRPr lang="en-US" sz="850" dirty="0"/>
          </a:p>
        </p:txBody>
      </p:sp>
      <p:sp>
        <p:nvSpPr>
          <p:cNvPr id="31" name="Shape 29"/>
          <p:cNvSpPr/>
          <p:nvPr/>
        </p:nvSpPr>
        <p:spPr>
          <a:xfrm>
            <a:off x="8961120" y="1371600"/>
            <a:ext cx="2468880" cy="3611880"/>
          </a:xfrm>
          <a:prstGeom prst="rect">
            <a:avLst>
              <a:gd name="adj" fmla="val 4444"/>
            </a:avLst>
          </a:prstGeom>
          <a:solidFill>
            <a:srgbClr val="FFFFFF"/>
          </a:solidFill>
          <a:ln w="19050">
            <a:solidFill>
              <a:srgbClr val="E5E0D8"/>
            </a:solidFill>
            <a:prstDash val="solid"/>
          </a:ln>
        </p:spPr>
      </p:sp>
      <p:sp>
        <p:nvSpPr>
          <p:cNvPr id="32" name="Shape 30"/>
          <p:cNvSpPr/>
          <p:nvPr/>
        </p:nvSpPr>
        <p:spPr>
          <a:xfrm>
            <a:off x="8961120" y="1371600"/>
            <a:ext cx="2468880" cy="411480"/>
          </a:xfrm>
          <a:prstGeom prst="rect">
            <a:avLst/>
          </a:prstGeom>
          <a:solidFill>
            <a:srgbClr val="EAE5DC"/>
          </a:solidFill>
          <a:ln w="12700">
            <a:solidFill>
              <a:srgbClr val="E5E0D8"/>
            </a:solidFill>
            <a:prstDash val="solid"/>
          </a:ln>
        </p:spPr>
      </p:sp>
      <p:sp>
        <p:nvSpPr>
          <p:cNvPr id="33" name="Text 31"/>
          <p:cNvSpPr/>
          <p:nvPr/>
        </p:nvSpPr>
        <p:spPr>
          <a:xfrm>
            <a:off x="9052560" y="1371600"/>
            <a:ext cx="2286000" cy="41148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TOOLING: CODERABBIT (.coderabbit.yaml)</a:t>
            </a:r>
            <a:endParaRPr lang="en-US" sz="850" dirty="0"/>
          </a:p>
        </p:txBody>
      </p:sp>
      <p:sp>
        <p:nvSpPr>
          <p:cNvPr id="34" name="Text 32"/>
          <p:cNvSpPr/>
          <p:nvPr/>
        </p:nvSpPr>
        <p:spPr>
          <a:xfrm>
            <a:off x="9098280" y="1874520"/>
            <a:ext cx="2194560" cy="411480"/>
          </a:xfrm>
          <a:prstGeom prst="rect">
            <a:avLst/>
          </a:prstGeom>
          <a:noFill/>
          <a:ln/>
        </p:spPr>
        <p:txBody>
          <a:bodyPr wrap="square" rtlCol="0" anchor="ctr"/>
          <a:lstStyle/>
          <a:p>
            <a:pPr indent="0" marL="0">
              <a:buNone/>
            </a:pPr>
            <a:r>
              <a:rPr lang="en-US" sz="800" i="1" dirty="0">
                <a:solidFill>
                  <a:srgbClr val="5A5A54"/>
                </a:solidFill>
                <a:latin typeface="Inter" pitchFamily="34" charset="0"/>
                <a:ea typeface="Inter" pitchFamily="34" charset="-122"/>
                <a:cs typeface="Inter" pitchFamily="34" charset="-120"/>
              </a:rPr>
              <a:t>Trigger: Automated PR Code Review</a:t>
            </a:r>
            <a:endParaRPr lang="en-US" sz="800" dirty="0"/>
          </a:p>
        </p:txBody>
      </p:sp>
      <p:sp>
        <p:nvSpPr>
          <p:cNvPr id="35" name="Shape 33"/>
          <p:cNvSpPr/>
          <p:nvPr/>
        </p:nvSpPr>
        <p:spPr>
          <a:xfrm>
            <a:off x="9144000" y="2331720"/>
            <a:ext cx="2103120" cy="0"/>
          </a:xfrm>
          <a:prstGeom prst="line">
            <a:avLst/>
          </a:prstGeom>
          <a:noFill/>
          <a:ln w="12700">
            <a:solidFill>
              <a:srgbClr val="E5E0D8"/>
            </a:solidFill>
            <a:prstDash val="solid"/>
          </a:ln>
        </p:spPr>
      </p:sp>
      <p:sp>
        <p:nvSpPr>
          <p:cNvPr id="36" name="Text 34"/>
          <p:cNvSpPr/>
          <p:nvPr/>
        </p:nvSpPr>
        <p:spPr>
          <a:xfrm>
            <a:off x="9098280" y="2423160"/>
            <a:ext cx="2194560" cy="2011680"/>
          </a:xfrm>
          <a:prstGeom prst="rect">
            <a:avLst/>
          </a:prstGeom>
          <a:noFill/>
          <a:ln/>
        </p:spPr>
        <p:txBody>
          <a:bodyPr wrap="square" rtlCol="0" anchor="ctr"/>
          <a:lstStyle/>
          <a:p>
            <a:pPr indent="0" marL="0">
              <a:buNone/>
            </a:pPr>
            <a:r>
              <a:rPr lang="en-US" sz="800" dirty="0">
                <a:solidFill>
                  <a:srgbClr val="1C1C19"/>
                </a:solidFill>
                <a:latin typeface="Inter" pitchFamily="34" charset="0"/>
                <a:ea typeface="Inter" pitchFamily="34" charset="-122"/>
                <a:cs typeface="Inter" pitchFamily="34" charset="-120"/>
              </a:rPr>
              <a:t>• Static AST lint analysis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Architectural boundary validation</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Catching cross-provider leaks</a:t>
            </a:r>
            <a:endParaRPr lang="en-US" sz="800" dirty="0"/>
          </a:p>
          <a:p>
            <a:pPr indent="0" marL="0">
              <a:buNone/>
            </a:pPr>
            <a:r>
              <a:rPr lang="en-US" sz="800" dirty="0">
                <a:solidFill>
                  <a:srgbClr val="1C1C19"/>
                </a:solidFill>
                <a:latin typeface="Inter" pitchFamily="34" charset="0"/>
                <a:ea typeface="Inter" pitchFamily="34" charset="-122"/>
                <a:cs typeface="Inter" pitchFamily="34" charset="-120"/>
              </a:rPr>
              <a:t>• Code style enforcement</a:t>
            </a:r>
            <a:endParaRPr lang="en-US" sz="800" dirty="0"/>
          </a:p>
        </p:txBody>
      </p:sp>
      <p:sp>
        <p:nvSpPr>
          <p:cNvPr id="37" name="Shape 35"/>
          <p:cNvSpPr/>
          <p:nvPr/>
        </p:nvSpPr>
        <p:spPr>
          <a:xfrm>
            <a:off x="9098280" y="4526280"/>
            <a:ext cx="2194560" cy="320040"/>
          </a:xfrm>
          <a:prstGeom prst="rect">
            <a:avLst>
              <a:gd name="adj" fmla="val 17143"/>
            </a:avLst>
          </a:prstGeom>
          <a:solidFill>
            <a:srgbClr val="FCF9F4"/>
          </a:solidFill>
          <a:ln w="12700">
            <a:solidFill>
              <a:srgbClr val="1D4ED8"/>
            </a:solidFill>
            <a:prstDash val="solid"/>
          </a:ln>
        </p:spPr>
      </p:sp>
      <p:sp>
        <p:nvSpPr>
          <p:cNvPr id="38" name="Text 36"/>
          <p:cNvSpPr/>
          <p:nvPr/>
        </p:nvSpPr>
        <p:spPr>
          <a:xfrm>
            <a:off x="9098280" y="4526280"/>
            <a:ext cx="2194560" cy="320040"/>
          </a:xfrm>
          <a:prstGeom prst="rect">
            <a:avLst/>
          </a:prstGeom>
          <a:noFill/>
          <a:ln/>
        </p:spPr>
        <p:txBody>
          <a:bodyPr wrap="square" rtlCol="0" anchor="ctr"/>
          <a:lstStyle/>
          <a:p>
            <a:pPr algn="ctr" indent="0" marL="0">
              <a:buNone/>
            </a:pPr>
            <a:r>
              <a:rPr lang="en-US" sz="850" b="1" dirty="0">
                <a:solidFill>
                  <a:srgbClr val="1D4ED8"/>
                </a:solidFill>
                <a:latin typeface="Montserrat" pitchFamily="34" charset="0"/>
                <a:ea typeface="Montserrat" pitchFamily="34" charset="-122"/>
                <a:cs typeface="Montserrat" pitchFamily="34" charset="-120"/>
              </a:rPr>
              <a:t>ACTIVE</a:t>
            </a:r>
            <a:endParaRPr lang="en-US" sz="850" dirty="0"/>
          </a:p>
        </p:txBody>
      </p:sp>
      <p:sp>
        <p:nvSpPr>
          <p:cNvPr id="39" name="Text 37"/>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Continuous Regression Gate: Every git push automatically triggers offline backend security tests and Flutter widget analysis to prevent regression of critical functionality.</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Cloud Availability Automation: A scheduled 10-minute keepalive workflow queries the health endpoint, preventing free-tier container sleep on live deployments.</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Honest CI Status Reporting: GitHub API audit verifies active passing runs on backend tests and keepalive, while documenting nightly batch failures due to cloud secret isolation.</a:t>
            </a:r>
            <a:endParaRPr lang="en-US" sz="1150" dirty="0"/>
          </a:p>
        </p:txBody>
      </p:sp>
      <p:sp>
        <p:nvSpPr>
          <p:cNvPr id="40" name="Text 38"/>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Verified via GitHub Actions REST API at api.github.com/repos/Yatin07/CAPSTONE_PROJECT/actions/runs.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5: TDD &amp; AUTOMATION</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14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Syllabus Coverage Matrix &amp; Technical Limitations</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3611880"/>
        </p:xfrm>
        <a:graphic>
          <a:graphicData uri="http://schemas.openxmlformats.org/drawingml/2006/table">
            <a:tbl>
              <a:tblPr/>
              <a:tblGrid>
                <a:gridCol w="2286000"/>
                <a:gridCol w="2926080"/>
                <a:gridCol w="4114800"/>
                <a:gridCol w="1371600"/>
              </a:tblGrid>
              <a:tr h="292608">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Curriculum Unit &amp; Topic</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Syllabus Requirement</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indent="0" marL="0">
                        <a:buNone/>
                      </a:pPr>
                      <a:r>
                        <a:rPr lang="en-US" sz="800" b="1" dirty="0">
                          <a:solidFill>
                            <a:srgbClr val="1B4332"/>
                          </a:solidFill>
                          <a:latin typeface="Montserrat" pitchFamily="34" charset="0"/>
                          <a:ea typeface="Montserrat" pitchFamily="34" charset="-122"/>
                          <a:cs typeface="Montserrat" pitchFamily="34" charset="-120"/>
                        </a:rPr>
                        <a:t>RestockIQ Artifact Implementation</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c>
                  <a:txBody>
                    <a:bodyPr/>
                    <a:lstStyle/>
                    <a:p>
                      <a:pPr algn="ctr" indent="0" marL="0">
                        <a:buNone/>
                      </a:pPr>
                      <a:r>
                        <a:rPr lang="en-US" sz="800" b="1" dirty="0">
                          <a:solidFill>
                            <a:srgbClr val="1B4332"/>
                          </a:solidFill>
                          <a:latin typeface="Montserrat" pitchFamily="34" charset="0"/>
                          <a:ea typeface="Montserrat" pitchFamily="34" charset="-122"/>
                          <a:cs typeface="Montserrat" pitchFamily="34" charset="-120"/>
                        </a:rPr>
                        <a:t>Syllabus Status</a:t>
                      </a:r>
                      <a:endParaRPr lang="en-US" sz="8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AE5DC"/>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1: Fundamentals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Errors, defects, failures, V-Model, lifecycle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11-defect log, V-model mapping, SUT architecture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COVERED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2: Black-Box</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Boundary value analysis &amp; Equivalence partitioning</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Query length BVA (0, 1, 500, 501), Decision table (10 rules)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COVERED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2: Advanced Black-Box</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Cause-effect graphing &amp; State transition testing</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7-transition alert FSM verified; Cause-effect omitted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PARTIAL</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2: White-Box</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Control flow graphs, Cyclomatic complexity V(G)</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get_client_ip CFG (V(G)=5), coverage.py branch tracking</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COVERED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2: Advanced White-Box</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Data flow, loop testing, mutation testing</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Not implemented in current automated test harness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NOT DONE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3: Unit &amp; Integration</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Classical vs. Mockist, bottom-up/top-down</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44 Flutter + 7 Backend tests, cross-provider sync</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COVERED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4: System &amp; Security</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Security testing, regression, recovery testing</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Tenant isolation (10 routes), spoof defense, 4s timeout recovery</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COVERED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4: Acceptance</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Alpha, Beta, User Acceptance Testing (UAT)</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Manual physical device walkthrough; real user UAT omitted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PARTIAL</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C1C19"/>
                          </a:solidFill>
                          <a:latin typeface="Inter" pitchFamily="34" charset="0"/>
                          <a:ea typeface="Inter" pitchFamily="34" charset="-122"/>
                          <a:cs typeface="Inter" pitchFamily="34" charset="-120"/>
                        </a:rPr>
                        <a:t>Unit 5: TDD &amp; Automation</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Test-Driven Development, CI/CD pipelines</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GitHub Actions CI, Keepalive; formal TDD cycle omitted</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800" dirty="0">
                          <a:solidFill>
                            <a:srgbClr val="1C1C19"/>
                          </a:solidFill>
                          <a:latin typeface="Inter" pitchFamily="34" charset="0"/>
                          <a:ea typeface="Inter" pitchFamily="34" charset="-122"/>
                          <a:cs typeface="Inter" pitchFamily="34" charset="-120"/>
                        </a:rPr>
                        <a:t>PARTIAL</a:t>
                      </a:r>
                      <a:endParaRPr lang="en-US" sz="8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8" name="Text 5"/>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Curriculum Compliance: Complete coverage achieved across fundamental concepts, boundary analysis, decision matrices, control-flow graphs, and multi-tenant security testing.</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Documented Gaps: Advanced techniques including mutation testing, formal data-flow anomaly detection, loop testing, and cause-effect graphs were omitted from scope.</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Evaluation Constraints: System testing utilized physical developer walkthroughs and automated smoke pipelines; formal multi-user beta trials and distributed load testing were not executed.</a:t>
            </a:r>
            <a:endParaRPr lang="en-US" sz="1150" dirty="0"/>
          </a:p>
        </p:txBody>
      </p:sp>
      <p:sp>
        <p:nvSpPr>
          <p:cNvPr id="9" name="Text 6"/>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Syllabus mapping for Course 702IT0E035 (MPSTME NMIMS); Implementation verified in repo.</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731520" y="320040"/>
            <a:ext cx="2194560" cy="274320"/>
          </a:xfrm>
          <a:prstGeom prst="rect">
            <a:avLst>
              <a:gd name="adj" fmla="val 20000"/>
            </a:avLst>
          </a:prstGeom>
          <a:solidFill>
            <a:srgbClr val="EAE5DC"/>
          </a:solidFill>
          <a:ln w="12700">
            <a:solidFill>
              <a:srgbClr val="E5E0D8"/>
            </a:solidFill>
            <a:prstDash val="solid"/>
          </a:ln>
        </p:spPr>
      </p:sp>
      <p:sp>
        <p:nvSpPr>
          <p:cNvPr id="3" name="Text 1"/>
          <p:cNvSpPr/>
          <p:nvPr/>
        </p:nvSpPr>
        <p:spPr>
          <a:xfrm>
            <a:off x="731520" y="320040"/>
            <a:ext cx="2194560" cy="274320"/>
          </a:xfrm>
          <a:prstGeom prst="rect">
            <a:avLst/>
          </a:prstGeom>
          <a:noFill/>
          <a:ln/>
        </p:spPr>
        <p:txBody>
          <a:bodyPr wrap="square" rtlCol="0" anchor="ctr"/>
          <a:lstStyle/>
          <a:p>
            <a:pPr algn="ctr" indent="0" marL="0">
              <a:buNone/>
            </a:pPr>
            <a:r>
              <a:rPr lang="en-US" sz="850" b="1" dirty="0">
                <a:solidFill>
                  <a:srgbClr val="1B4332"/>
                </a:solidFill>
                <a:latin typeface="Montserrat" pitchFamily="34" charset="0"/>
                <a:ea typeface="Montserrat" pitchFamily="34" charset="-122"/>
                <a:cs typeface="Montserrat" pitchFamily="34" charset="-120"/>
              </a:rPr>
              <a:t>UNIT 5: TDD &amp; AUTOMATION</a:t>
            </a:r>
            <a:endParaRPr lang="en-US" sz="850" dirty="0"/>
          </a:p>
        </p:txBody>
      </p:sp>
      <p:sp>
        <p:nvSpPr>
          <p:cNvPr id="4" name="Text 2"/>
          <p:cNvSpPr/>
          <p:nvPr/>
        </p:nvSpPr>
        <p:spPr>
          <a:xfrm>
            <a:off x="10058400" y="320040"/>
            <a:ext cx="1371600" cy="274320"/>
          </a:xfrm>
          <a:prstGeom prst="rect">
            <a:avLst/>
          </a:prstGeom>
          <a:noFill/>
          <a:ln/>
        </p:spPr>
        <p:txBody>
          <a:bodyPr wrap="square" rtlCol="0" anchor="ctr"/>
          <a:lstStyle/>
          <a:p>
            <a:pPr algn="r" indent="0" marL="0">
              <a:buNone/>
            </a:pPr>
            <a:r>
              <a:rPr lang="en-US" sz="900" b="1" dirty="0">
                <a:solidFill>
                  <a:srgbClr val="5A5A54"/>
                </a:solidFill>
                <a:latin typeface="Montserrat" pitchFamily="34" charset="0"/>
                <a:ea typeface="Montserrat" pitchFamily="34" charset="-122"/>
                <a:cs typeface="Montserrat" pitchFamily="34" charset="-120"/>
              </a:rPr>
              <a:t>SLIDE 15 / 15</a:t>
            </a:r>
            <a:endParaRPr lang="en-US" sz="900" dirty="0"/>
          </a:p>
        </p:txBody>
      </p:sp>
      <p:sp>
        <p:nvSpPr>
          <p:cNvPr id="5" name="Text 3"/>
          <p:cNvSpPr/>
          <p:nvPr/>
        </p:nvSpPr>
        <p:spPr>
          <a:xfrm>
            <a:off x="731520" y="658368"/>
            <a:ext cx="10698480" cy="475488"/>
          </a:xfrm>
          <a:prstGeom prst="rect">
            <a:avLst/>
          </a:prstGeom>
          <a:noFill/>
          <a:ln/>
        </p:spPr>
        <p:txBody>
          <a:bodyPr wrap="square" rtlCol="0" anchor="ctr"/>
          <a:lstStyle/>
          <a:p>
            <a:pPr indent="0" marL="0">
              <a:buNone/>
            </a:pPr>
            <a:r>
              <a:rPr lang="en-US" sz="2000" b="1" dirty="0">
                <a:solidFill>
                  <a:srgbClr val="1B4332"/>
                </a:solidFill>
                <a:latin typeface="Montserrat" pitchFamily="34" charset="0"/>
                <a:ea typeface="Montserrat" pitchFamily="34" charset="-122"/>
                <a:cs typeface="Montserrat" pitchFamily="34" charset="-120"/>
              </a:rPr>
              <a:t>Conclusion: Course Outcomes &amp; Future Roadmap</a:t>
            </a:r>
            <a:endParaRPr lang="en-US" sz="2000" dirty="0"/>
          </a:p>
        </p:txBody>
      </p:sp>
      <p:sp>
        <p:nvSpPr>
          <p:cNvPr id="6" name="Shape 4"/>
          <p:cNvSpPr/>
          <p:nvPr/>
        </p:nvSpPr>
        <p:spPr>
          <a:xfrm>
            <a:off x="731520" y="1170432"/>
            <a:ext cx="10698480" cy="0"/>
          </a:xfrm>
          <a:prstGeom prst="line">
            <a:avLst/>
          </a:prstGeom>
          <a:noFill/>
          <a:ln w="12700">
            <a:solidFill>
              <a:srgbClr val="E5E0D8"/>
            </a:solidFill>
            <a:prstDash val="solid"/>
          </a:ln>
        </p:spPr>
      </p:sp>
      <p:sp>
        <p:nvSpPr>
          <p:cNvPr id="7" name="Shape 5"/>
          <p:cNvSpPr/>
          <p:nvPr/>
        </p:nvSpPr>
        <p:spPr>
          <a:xfrm>
            <a:off x="731520" y="1371600"/>
            <a:ext cx="5212080" cy="3611880"/>
          </a:xfrm>
          <a:prstGeom prst="rect">
            <a:avLst>
              <a:gd name="adj" fmla="val 3038"/>
            </a:avLst>
          </a:prstGeom>
          <a:solidFill>
            <a:srgbClr val="FFFFFF"/>
          </a:solidFill>
          <a:ln w="19050">
            <a:solidFill>
              <a:srgbClr val="E5E0D8"/>
            </a:solidFill>
            <a:prstDash val="solid"/>
          </a:ln>
        </p:spPr>
      </p:sp>
      <p:sp>
        <p:nvSpPr>
          <p:cNvPr id="8" name="Text 6"/>
          <p:cNvSpPr/>
          <p:nvPr/>
        </p:nvSpPr>
        <p:spPr>
          <a:xfrm>
            <a:off x="914400" y="1508760"/>
            <a:ext cx="48463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COURSE OUTCOMES (CO1–CO3) FULFILLMENT</a:t>
            </a:r>
            <a:endParaRPr lang="en-US" sz="950" dirty="0"/>
          </a:p>
        </p:txBody>
      </p:sp>
      <p:sp>
        <p:nvSpPr>
          <p:cNvPr id="9" name="Shape 7"/>
          <p:cNvSpPr/>
          <p:nvPr/>
        </p:nvSpPr>
        <p:spPr>
          <a:xfrm>
            <a:off x="914400" y="1874520"/>
            <a:ext cx="4846320" cy="914400"/>
          </a:xfrm>
          <a:prstGeom prst="rect">
            <a:avLst>
              <a:gd name="adj" fmla="val 6000"/>
            </a:avLst>
          </a:prstGeom>
          <a:solidFill>
            <a:srgbClr val="EAE5DC"/>
          </a:solidFill>
          <a:ln w="10160">
            <a:solidFill>
              <a:srgbClr val="E5E0D8"/>
            </a:solidFill>
            <a:prstDash val="solid"/>
          </a:ln>
        </p:spPr>
      </p:sp>
      <p:sp>
        <p:nvSpPr>
          <p:cNvPr id="10" name="Text 8"/>
          <p:cNvSpPr/>
          <p:nvPr/>
        </p:nvSpPr>
        <p:spPr>
          <a:xfrm>
            <a:off x="1005840" y="1929384"/>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CO1: DESIGN &amp; IMPLEMENT TEST CASES</a:t>
            </a:r>
            <a:endParaRPr lang="en-US" sz="800" dirty="0"/>
          </a:p>
        </p:txBody>
      </p:sp>
      <p:sp>
        <p:nvSpPr>
          <p:cNvPr id="11" name="Text 9"/>
          <p:cNvSpPr/>
          <p:nvPr/>
        </p:nvSpPr>
        <p:spPr>
          <a:xfrm>
            <a:off x="1005840" y="2130552"/>
            <a:ext cx="4663440" cy="621792"/>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Demonstrated across multiple levels: Equivalence Partitioning and Boundary Value Analysis on chat models, 10-rule decision table on waste thresholds, 7-transition alert FSM, 5 CFG basis paths, and 44 Flutter unit/widget/integration tests.</a:t>
            </a:r>
            <a:endParaRPr lang="en-US" sz="750" dirty="0"/>
          </a:p>
        </p:txBody>
      </p:sp>
      <p:sp>
        <p:nvSpPr>
          <p:cNvPr id="12" name="Shape 10"/>
          <p:cNvSpPr/>
          <p:nvPr/>
        </p:nvSpPr>
        <p:spPr>
          <a:xfrm>
            <a:off x="914400" y="2880360"/>
            <a:ext cx="4846320" cy="914400"/>
          </a:xfrm>
          <a:prstGeom prst="rect">
            <a:avLst>
              <a:gd name="adj" fmla="val 6000"/>
            </a:avLst>
          </a:prstGeom>
          <a:solidFill>
            <a:srgbClr val="EAE5DC"/>
          </a:solidFill>
          <a:ln w="10160">
            <a:solidFill>
              <a:srgbClr val="E5E0D8"/>
            </a:solidFill>
            <a:prstDash val="solid"/>
          </a:ln>
        </p:spPr>
      </p:sp>
      <p:sp>
        <p:nvSpPr>
          <p:cNvPr id="13" name="Text 11"/>
          <p:cNvSpPr/>
          <p:nvPr/>
        </p:nvSpPr>
        <p:spPr>
          <a:xfrm>
            <a:off x="1005840" y="2935224"/>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CO2: SELECT APPROPRIATE TESTING REGIMES</a:t>
            </a:r>
            <a:endParaRPr lang="en-US" sz="800" dirty="0"/>
          </a:p>
        </p:txBody>
      </p:sp>
      <p:sp>
        <p:nvSpPr>
          <p:cNvPr id="14" name="Text 12"/>
          <p:cNvSpPr/>
          <p:nvPr/>
        </p:nvSpPr>
        <p:spPr>
          <a:xfrm>
            <a:off x="1005840" y="3136392"/>
            <a:ext cx="4663440" cy="621792"/>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Validated by pairing fast offline classical unit tests for business formulas with mockist UI tests, rolling-origin ML backtests, multi-tenant security probes, and physical mobile hardware smoke tests.</a:t>
            </a:r>
            <a:endParaRPr lang="en-US" sz="750" dirty="0"/>
          </a:p>
        </p:txBody>
      </p:sp>
      <p:sp>
        <p:nvSpPr>
          <p:cNvPr id="15" name="Shape 13"/>
          <p:cNvSpPr/>
          <p:nvPr/>
        </p:nvSpPr>
        <p:spPr>
          <a:xfrm>
            <a:off x="914400" y="3886200"/>
            <a:ext cx="4846320" cy="914400"/>
          </a:xfrm>
          <a:prstGeom prst="rect">
            <a:avLst>
              <a:gd name="adj" fmla="val 6000"/>
            </a:avLst>
          </a:prstGeom>
          <a:solidFill>
            <a:srgbClr val="EAE5DC"/>
          </a:solidFill>
          <a:ln w="10160">
            <a:solidFill>
              <a:srgbClr val="E5E0D8"/>
            </a:solidFill>
            <a:prstDash val="solid"/>
          </a:ln>
        </p:spPr>
      </p:sp>
      <p:sp>
        <p:nvSpPr>
          <p:cNvPr id="16" name="Text 14"/>
          <p:cNvSpPr/>
          <p:nvPr/>
        </p:nvSpPr>
        <p:spPr>
          <a:xfrm>
            <a:off x="1005840" y="3941064"/>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CO3: APPLY TEST-DRIVEN AUTOMATION</a:t>
            </a:r>
            <a:endParaRPr lang="en-US" sz="800" dirty="0"/>
          </a:p>
        </p:txBody>
      </p:sp>
      <p:sp>
        <p:nvSpPr>
          <p:cNvPr id="17" name="Text 15"/>
          <p:cNvSpPr/>
          <p:nvPr/>
        </p:nvSpPr>
        <p:spPr>
          <a:xfrm>
            <a:off x="1005840" y="4142232"/>
            <a:ext cx="4663440" cy="621792"/>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Evidenced by automated GitHub Actions regression workflows, 100% branch coverage on core security logic via coverage.py, and automated keep-alive health monitoring.</a:t>
            </a:r>
            <a:endParaRPr lang="en-US" sz="750" dirty="0"/>
          </a:p>
        </p:txBody>
      </p:sp>
      <p:sp>
        <p:nvSpPr>
          <p:cNvPr id="18" name="Shape 16"/>
          <p:cNvSpPr/>
          <p:nvPr/>
        </p:nvSpPr>
        <p:spPr>
          <a:xfrm>
            <a:off x="6217920" y="1371600"/>
            <a:ext cx="5212080" cy="3611880"/>
          </a:xfrm>
          <a:prstGeom prst="rect">
            <a:avLst>
              <a:gd name="adj" fmla="val 3038"/>
            </a:avLst>
          </a:prstGeom>
          <a:solidFill>
            <a:srgbClr val="FFFFFF"/>
          </a:solidFill>
          <a:ln w="19050">
            <a:solidFill>
              <a:srgbClr val="E5E0D8"/>
            </a:solidFill>
            <a:prstDash val="solid"/>
          </a:ln>
        </p:spPr>
      </p:sp>
      <p:sp>
        <p:nvSpPr>
          <p:cNvPr id="19" name="Text 17"/>
          <p:cNvSpPr/>
          <p:nvPr/>
        </p:nvSpPr>
        <p:spPr>
          <a:xfrm>
            <a:off x="6400800" y="1508760"/>
            <a:ext cx="4846320" cy="256032"/>
          </a:xfrm>
          <a:prstGeom prst="rect">
            <a:avLst/>
          </a:prstGeom>
          <a:noFill/>
          <a:ln/>
        </p:spPr>
        <p:txBody>
          <a:bodyPr wrap="square" rtlCol="0" anchor="ctr"/>
          <a:lstStyle/>
          <a:p>
            <a:pPr indent="0" marL="0">
              <a:buNone/>
            </a:pPr>
            <a:r>
              <a:rPr lang="en-US" sz="950" b="1" dirty="0">
                <a:solidFill>
                  <a:srgbClr val="1B4332"/>
                </a:solidFill>
                <a:latin typeface="Montserrat" pitchFamily="34" charset="0"/>
                <a:ea typeface="Montserrat" pitchFamily="34" charset="-122"/>
                <a:cs typeface="Montserrat" pitchFamily="34" charset="-120"/>
              </a:rPr>
              <a:t>NEXT TESTS &amp; FUTURE QUALITY ROADMAP</a:t>
            </a:r>
            <a:endParaRPr lang="en-US" sz="950" dirty="0"/>
          </a:p>
        </p:txBody>
      </p:sp>
      <p:sp>
        <p:nvSpPr>
          <p:cNvPr id="20" name="Shape 18"/>
          <p:cNvSpPr/>
          <p:nvPr/>
        </p:nvSpPr>
        <p:spPr>
          <a:xfrm>
            <a:off x="6400800" y="1874520"/>
            <a:ext cx="4846320" cy="676656"/>
          </a:xfrm>
          <a:prstGeom prst="rect">
            <a:avLst>
              <a:gd name="adj" fmla="val 8108"/>
            </a:avLst>
          </a:prstGeom>
          <a:solidFill>
            <a:srgbClr val="FCF9F4"/>
          </a:solidFill>
          <a:ln w="10160">
            <a:solidFill>
              <a:srgbClr val="E5E0D8"/>
            </a:solidFill>
            <a:prstDash val="solid"/>
          </a:ln>
        </p:spPr>
      </p:sp>
      <p:sp>
        <p:nvSpPr>
          <p:cNvPr id="21" name="Text 19"/>
          <p:cNvSpPr/>
          <p:nvPr/>
        </p:nvSpPr>
        <p:spPr>
          <a:xfrm>
            <a:off x="6492240" y="1920240"/>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1. Calendar Day Alignment (DEF-008 Fix)</a:t>
            </a:r>
            <a:endParaRPr lang="en-US" sz="800" dirty="0"/>
          </a:p>
        </p:txBody>
      </p:sp>
      <p:sp>
        <p:nvSpPr>
          <p:cNvPr id="22" name="Text 20"/>
          <p:cNvSpPr/>
          <p:nvPr/>
        </p:nvSpPr>
        <p:spPr>
          <a:xfrm>
            <a:off x="6492240" y="2121408"/>
            <a:ext cx="4663440" cy="402336"/>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Refactor multi-week lag calculations in scripts/run_backtest.py from row-based shift(7*k) to calendar date alignment (freq='D') to eliminate weekday skew from 37 store closure days.</a:t>
            </a:r>
            <a:endParaRPr lang="en-US" sz="750" dirty="0"/>
          </a:p>
        </p:txBody>
      </p:sp>
      <p:sp>
        <p:nvSpPr>
          <p:cNvPr id="23" name="Shape 21"/>
          <p:cNvSpPr/>
          <p:nvPr/>
        </p:nvSpPr>
        <p:spPr>
          <a:xfrm>
            <a:off x="6400800" y="2624328"/>
            <a:ext cx="4846320" cy="676656"/>
          </a:xfrm>
          <a:prstGeom prst="rect">
            <a:avLst>
              <a:gd name="adj" fmla="val 8108"/>
            </a:avLst>
          </a:prstGeom>
          <a:solidFill>
            <a:srgbClr val="FCF9F4"/>
          </a:solidFill>
          <a:ln w="10160">
            <a:solidFill>
              <a:srgbClr val="E5E0D8"/>
            </a:solidFill>
            <a:prstDash val="solid"/>
          </a:ln>
        </p:spPr>
      </p:sp>
      <p:sp>
        <p:nvSpPr>
          <p:cNvPr id="24" name="Text 22"/>
          <p:cNvSpPr/>
          <p:nvPr/>
        </p:nvSpPr>
        <p:spPr>
          <a:xfrm>
            <a:off x="6492240" y="2670048"/>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2. Commercial Bundling Engine (DEF-011 Fix)</a:t>
            </a:r>
            <a:endParaRPr lang="en-US" sz="800" dirty="0"/>
          </a:p>
        </p:txBody>
      </p:sp>
      <p:sp>
        <p:nvSpPr>
          <p:cNvPr id="25" name="Text 23"/>
          <p:cNvSpPr/>
          <p:nvPr/>
        </p:nvSpPr>
        <p:spPr>
          <a:xfrm>
            <a:off x="6492240" y="2871216"/>
            <a:ext cx="4663440" cy="402336"/>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Replace legacy donation endpoint with combo discounting/bundling logic to align code with retail business rules.</a:t>
            </a:r>
            <a:endParaRPr lang="en-US" sz="750" dirty="0"/>
          </a:p>
        </p:txBody>
      </p:sp>
      <p:sp>
        <p:nvSpPr>
          <p:cNvPr id="26" name="Shape 24"/>
          <p:cNvSpPr/>
          <p:nvPr/>
        </p:nvSpPr>
        <p:spPr>
          <a:xfrm>
            <a:off x="6400800" y="3374136"/>
            <a:ext cx="4846320" cy="676656"/>
          </a:xfrm>
          <a:prstGeom prst="rect">
            <a:avLst>
              <a:gd name="adj" fmla="val 8108"/>
            </a:avLst>
          </a:prstGeom>
          <a:solidFill>
            <a:srgbClr val="FCF9F4"/>
          </a:solidFill>
          <a:ln w="10160">
            <a:solidFill>
              <a:srgbClr val="E5E0D8"/>
            </a:solidFill>
            <a:prstDash val="solid"/>
          </a:ln>
        </p:spPr>
      </p:sp>
      <p:sp>
        <p:nvSpPr>
          <p:cNvPr id="27" name="Text 25"/>
          <p:cNvSpPr/>
          <p:nvPr/>
        </p:nvSpPr>
        <p:spPr>
          <a:xfrm>
            <a:off x="6492240" y="3419856"/>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3. Distributed API Concurrency Load Testing</a:t>
            </a:r>
            <a:endParaRPr lang="en-US" sz="800" dirty="0"/>
          </a:p>
        </p:txBody>
      </p:sp>
      <p:sp>
        <p:nvSpPr>
          <p:cNvPr id="28" name="Text 26"/>
          <p:cNvSpPr/>
          <p:nvPr/>
        </p:nvSpPr>
        <p:spPr>
          <a:xfrm>
            <a:off x="6492240" y="3621024"/>
            <a:ext cx="4663440" cy="402336"/>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Execute Locust/k6 distributed load tests on FastAPI endpoints to benchmark async Motor throughput during morning kitchen rush periods.</a:t>
            </a:r>
            <a:endParaRPr lang="en-US" sz="750" dirty="0"/>
          </a:p>
        </p:txBody>
      </p:sp>
      <p:sp>
        <p:nvSpPr>
          <p:cNvPr id="29" name="Shape 27"/>
          <p:cNvSpPr/>
          <p:nvPr/>
        </p:nvSpPr>
        <p:spPr>
          <a:xfrm>
            <a:off x="6400800" y="4123944"/>
            <a:ext cx="4846320" cy="676656"/>
          </a:xfrm>
          <a:prstGeom prst="rect">
            <a:avLst>
              <a:gd name="adj" fmla="val 8108"/>
            </a:avLst>
          </a:prstGeom>
          <a:solidFill>
            <a:srgbClr val="FCF9F4"/>
          </a:solidFill>
          <a:ln w="10160">
            <a:solidFill>
              <a:srgbClr val="E5E0D8"/>
            </a:solidFill>
            <a:prstDash val="solid"/>
          </a:ln>
        </p:spPr>
      </p:sp>
      <p:sp>
        <p:nvSpPr>
          <p:cNvPr id="30" name="Text 28"/>
          <p:cNvSpPr/>
          <p:nvPr/>
        </p:nvSpPr>
        <p:spPr>
          <a:xfrm>
            <a:off x="6492240" y="4169664"/>
            <a:ext cx="4663440" cy="201168"/>
          </a:xfrm>
          <a:prstGeom prst="rect">
            <a:avLst/>
          </a:prstGeom>
          <a:noFill/>
          <a:ln/>
        </p:spPr>
        <p:txBody>
          <a:bodyPr wrap="square" rtlCol="0" anchor="ctr"/>
          <a:lstStyle/>
          <a:p>
            <a:pPr indent="0" marL="0">
              <a:buNone/>
            </a:pPr>
            <a:r>
              <a:rPr lang="en-US" sz="800" b="1" dirty="0">
                <a:solidFill>
                  <a:srgbClr val="1B4332"/>
                </a:solidFill>
                <a:latin typeface="Montserrat" pitchFamily="34" charset="0"/>
                <a:ea typeface="Montserrat" pitchFamily="34" charset="-122"/>
                <a:cs typeface="Montserrat" pitchFamily="34" charset="-120"/>
              </a:rPr>
              <a:t>4. Multi-Store Beta User Acceptance Testing</a:t>
            </a:r>
            <a:endParaRPr lang="en-US" sz="800" dirty="0"/>
          </a:p>
        </p:txBody>
      </p:sp>
      <p:sp>
        <p:nvSpPr>
          <p:cNvPr id="31" name="Text 29"/>
          <p:cNvSpPr/>
          <p:nvPr/>
        </p:nvSpPr>
        <p:spPr>
          <a:xfrm>
            <a:off x="6492240" y="4370832"/>
            <a:ext cx="4663440" cy="402336"/>
          </a:xfrm>
          <a:prstGeom prst="rect">
            <a:avLst/>
          </a:prstGeom>
          <a:noFill/>
          <a:ln/>
        </p:spPr>
        <p:txBody>
          <a:bodyPr wrap="square" rtlCol="0" anchor="ctr"/>
          <a:lstStyle/>
          <a:p>
            <a:pPr indent="0" marL="0">
              <a:buNone/>
            </a:pPr>
            <a:r>
              <a:rPr lang="en-US" sz="750" dirty="0">
                <a:solidFill>
                  <a:srgbClr val="1C1C19"/>
                </a:solidFill>
                <a:latin typeface="Inter" pitchFamily="34" charset="0"/>
                <a:ea typeface="Inter" pitchFamily="34" charset="-122"/>
                <a:cs typeface="Inter" pitchFamily="34" charset="-120"/>
              </a:rPr>
              <a:t>Deploy compiled APK to 5 independent bakery pilots to measure actual kitchen staff check-in times and UX cognitive load.</a:t>
            </a:r>
            <a:endParaRPr lang="en-US" sz="750" dirty="0"/>
          </a:p>
        </p:txBody>
      </p:sp>
      <p:sp>
        <p:nvSpPr>
          <p:cNvPr id="32" name="Text 30"/>
          <p:cNvSpPr/>
          <p:nvPr/>
        </p:nvSpPr>
        <p:spPr>
          <a:xfrm>
            <a:off x="731520" y="5166360"/>
            <a:ext cx="10698480" cy="1234440"/>
          </a:xfrm>
          <a:prstGeom prst="rect">
            <a:avLst/>
          </a:prstGeom>
          <a:noFill/>
          <a:ln/>
        </p:spPr>
        <p:txBody>
          <a:bodyPr wrap="square" rtlCol="0" anchor="t"/>
          <a:lstStyle/>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Course Outcome Fulfillment: Complete achievement of CO1, CO2, and CO3 evidenced by robust multi-level test suites, formal test design techniques, and automated validation.</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Quality Engineering Impact: Elimination of critical mobile hangs, zero cross-tenant data leaks, and zero hallucinated numbers demonstrate production-grade software reliability.</a:t>
            </a:r>
            <a:endParaRPr lang="en-US" sz="1150" dirty="0"/>
          </a:p>
          <a:p>
            <a:pPr marL="342900" indent="-342900">
              <a:spcBef>
                <a:spcPts val="300"/>
              </a:spcBef>
              <a:spcAft>
                <a:spcPts val="300"/>
              </a:spcAft>
              <a:buSzPct val="100000"/>
              <a:buChar char="•"/>
            </a:pPr>
            <a:r>
              <a:rPr lang="en-US" sz="1150" dirty="0">
                <a:solidFill>
                  <a:srgbClr val="1C1C19"/>
                </a:solidFill>
                <a:latin typeface="Inter" pitchFamily="34" charset="0"/>
                <a:ea typeface="Inter" pitchFamily="34" charset="-122"/>
                <a:cs typeface="Inter" pitchFamily="34" charset="-120"/>
              </a:rPr>
              <a:t>Future Testing Agenda: Immediate priorities focus on calendar lag alignment, commercial bundling logic replacement, and distributed API load testing.</a:t>
            </a:r>
            <a:endParaRPr lang="en-US" sz="1150" dirty="0"/>
          </a:p>
        </p:txBody>
      </p:sp>
      <p:sp>
        <p:nvSpPr>
          <p:cNvPr id="33" name="Text 31"/>
          <p:cNvSpPr/>
          <p:nvPr/>
        </p:nvSpPr>
        <p:spPr>
          <a:xfrm>
            <a:off x="731520" y="6419088"/>
            <a:ext cx="10698480" cy="228600"/>
          </a:xfrm>
          <a:prstGeom prst="rect">
            <a:avLst/>
          </a:prstGeom>
          <a:noFill/>
          <a:ln/>
        </p:spPr>
        <p:txBody>
          <a:bodyPr wrap="square" rtlCol="0" anchor="b"/>
          <a:lstStyle/>
          <a:p>
            <a:pPr indent="0" marL="0">
              <a:buNone/>
            </a:pPr>
            <a:r>
              <a:rPr lang="en-US" sz="850" i="1" dirty="0">
                <a:solidFill>
                  <a:srgbClr val="5A5A54"/>
                </a:solidFill>
                <a:latin typeface="Inter" pitchFamily="34" charset="0"/>
                <a:ea typeface="Inter" pitchFamily="34" charset="-122"/>
                <a:cs typeface="Inter" pitchFamily="34" charset="-120"/>
              </a:rPr>
              <a:t>Evidence Source: Curriculum Course Outcomes CO1-CO3; RestockIQ Quality Engineering Roadmap.</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RestockIQ: Software Testing &amp; System Integrity Defense</dc:title>
  <dc:subject>Course 702IT0E035 Software Testing Presentation</dc:subject>
  <dc:creator>Yatin Patil (Lucifer)</dc:creator>
  <cp:lastModifiedBy>Yatin Patil (Lucifer)</cp:lastModifiedBy>
  <cp:revision>1</cp:revision>
  <dcterms:created xsi:type="dcterms:W3CDTF">2026-10-27T18:05:08Z</dcterms:created>
  <dcterms:modified xsi:type="dcterms:W3CDTF">2026-10-27T18:05:08Z</dcterms:modified>
</cp:coreProperties>
</file>