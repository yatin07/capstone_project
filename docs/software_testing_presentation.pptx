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Critical</c:v>
                </c:pt>
              </c:strCache>
            </c:strRef>
          </c:tx>
          <c:spPr>
            <a:solidFill>
              <a:srgbClr val="B91C1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UI/Layout</c:v>
                  </c:pt>
                  <c:pt idx="1">
                    <c:v>Functional</c:v>
                  </c:pt>
                  <c:pt idx="2">
                    <c:v>Config/Net</c:v>
                  </c:pt>
                  <c:pt idx="3">
                    <c:v>ML Align</c:v>
                  </c:pt>
                  <c:pt idx="4">
                    <c:v>Req Mismatch</c:v>
                  </c:pt>
                </c:lvl>
              </c:multiLvlStrCache>
            </c:multiLvlStrRef>
          </c:cat>
          <c:val>
            <c:numRef>
              <c:f>Sheet1!$B$2:$B$6</c:f>
              <c:numCache>
                <c:formatCode>General</c:formatCode>
                <c:ptCount val="5"/>
                <c:pt idx="0">
                  <c:v>0</c:v>
                </c:pt>
                <c:pt idx="1">
                  <c:v>1</c:v>
                </c:pt>
                <c:pt idx="2">
                  <c:v>1</c:v>
                </c:pt>
                <c:pt idx="3">
                  <c:v>0</c:v>
                </c:pt>
                <c:pt idx="4">
                  <c:v>0</c:v>
                </c:pt>
              </c:numCache>
            </c:numRef>
          </c:val>
        </c:ser>
        <c:ser>
          <c:idx val="1"/>
          <c:order val="1"/>
          <c:tx>
            <c:strRef>
              <c:f>Sheet1!$C$1</c:f>
              <c:strCache>
                <c:ptCount val="1"/>
                <c:pt idx="0">
                  <c:v>High</c:v>
                </c:pt>
              </c:strCache>
            </c:strRef>
          </c:tx>
          <c:spPr>
            <a:solidFill>
              <a:srgbClr val="FFB70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UI/Layout</c:v>
                  </c:pt>
                  <c:pt idx="1">
                    <c:v>Functional</c:v>
                  </c:pt>
                  <c:pt idx="2">
                    <c:v>Config/Net</c:v>
                  </c:pt>
                  <c:pt idx="3">
                    <c:v>ML Align</c:v>
                  </c:pt>
                  <c:pt idx="4">
                    <c:v>Req Mismatch</c:v>
                  </c:pt>
                </c:lvl>
              </c:multiLvlStrCache>
            </c:multiLvlStrRef>
          </c:cat>
          <c:val>
            <c:numRef>
              <c:f>Sheet1!$C$2:$C$6</c:f>
              <c:numCache>
                <c:formatCode>General</c:formatCode>
                <c:ptCount val="5"/>
                <c:pt idx="0">
                  <c:v>2</c:v>
                </c:pt>
                <c:pt idx="1">
                  <c:v>1</c:v>
                </c:pt>
                <c:pt idx="2">
                  <c:v>1</c:v>
                </c:pt>
                <c:pt idx="3">
                  <c:v>1</c:v>
                </c:pt>
                <c:pt idx="4">
                  <c:v>0</c:v>
                </c:pt>
              </c:numCache>
            </c:numRef>
          </c:val>
        </c:ser>
        <c:ser>
          <c:idx val="2"/>
          <c:order val="2"/>
          <c:tx>
            <c:strRef>
              <c:f>Sheet1!$D$1</c:f>
              <c:strCache>
                <c:ptCount val="1"/>
                <c:pt idx="0">
                  <c:v>Medium</c:v>
                </c:pt>
              </c:strCache>
            </c:strRef>
          </c:tx>
          <c:spPr>
            <a:solidFill>
              <a:srgbClr val="1B433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UI/Layout</c:v>
                  </c:pt>
                  <c:pt idx="1">
                    <c:v>Functional</c:v>
                  </c:pt>
                  <c:pt idx="2">
                    <c:v>Config/Net</c:v>
                  </c:pt>
                  <c:pt idx="3">
                    <c:v>ML Align</c:v>
                  </c:pt>
                  <c:pt idx="4">
                    <c:v>Req Mismatch</c:v>
                  </c:pt>
                </c:lvl>
              </c:multiLvlStrCache>
            </c:multiLvlStrRef>
          </c:cat>
          <c:val>
            <c:numRef>
              <c:f>Sheet1!$D$2:$D$6</c:f>
              <c:numCache>
                <c:formatCode>General</c:formatCode>
                <c:ptCount val="5"/>
                <c:pt idx="0">
                  <c:v>1</c:v>
                </c:pt>
                <c:pt idx="1">
                  <c:v>1</c:v>
                </c:pt>
                <c:pt idx="2">
                  <c:v>0</c:v>
                </c:pt>
                <c:pt idx="3">
                  <c:v>1</c:v>
                </c:pt>
                <c:pt idx="4">
                  <c:v>1</c:v>
                </c:pt>
              </c:numCache>
            </c:numRef>
          </c:val>
        </c:ser>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Prophet-Only</c:v>
                </c:pt>
              </c:strCache>
            </c:strRef>
          </c:tx>
          <c:spPr>
            <a:solidFill>
              <a:srgbClr val="2D6A4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Fold 1</c:v>
                  </c:pt>
                  <c:pt idx="1">
                    <c:v>Fold 2</c:v>
                  </c:pt>
                  <c:pt idx="2">
                    <c:v>Fold 3</c:v>
                  </c:pt>
                  <c:pt idx="3">
                    <c:v>Fold 4</c:v>
                  </c:pt>
                  <c:pt idx="4">
                    <c:v>Fold 5</c:v>
                  </c:pt>
                  <c:pt idx="5">
                    <c:v>Fold 6</c:v>
                  </c:pt>
                  <c:pt idx="6">
                    <c:v>Average</c:v>
                  </c:pt>
                </c:lvl>
              </c:multiLvlStrCache>
            </c:multiLvlStrRef>
          </c:cat>
          <c:val>
            <c:numRef>
              <c:f>Sheet1!$B$2:$B$8</c:f>
              <c:numCache>
                <c:formatCode>General</c:formatCode>
                <c:ptCount val="7"/>
                <c:pt idx="0">
                  <c:v>17.5</c:v>
                </c:pt>
                <c:pt idx="1">
                  <c:v>21</c:v>
                </c:pt>
                <c:pt idx="2">
                  <c:v>24.1</c:v>
                </c:pt>
                <c:pt idx="3">
                  <c:v>22.8</c:v>
                </c:pt>
                <c:pt idx="4">
                  <c:v>19.2</c:v>
                </c:pt>
                <c:pt idx="5">
                  <c:v>25.8</c:v>
                </c:pt>
                <c:pt idx="6">
                  <c:v>21.74</c:v>
                </c:pt>
              </c:numCache>
            </c:numRef>
          </c:val>
        </c:ser>
        <c:ser>
          <c:idx val="1"/>
          <c:order val="1"/>
          <c:tx>
            <c:strRef>
              <c:f>Sheet1!$C$1</c:f>
              <c:strCache>
                <c:ptCount val="1"/>
                <c:pt idx="0">
                  <c:v>RestockIQ Hybrid</c:v>
                </c:pt>
              </c:strCache>
            </c:strRef>
          </c:tx>
          <c:spPr>
            <a:solidFill>
              <a:srgbClr val="FFB70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Fold 1</c:v>
                  </c:pt>
                  <c:pt idx="1">
                    <c:v>Fold 2</c:v>
                  </c:pt>
                  <c:pt idx="2">
                    <c:v>Fold 3</c:v>
                  </c:pt>
                  <c:pt idx="3">
                    <c:v>Fold 4</c:v>
                  </c:pt>
                  <c:pt idx="4">
                    <c:v>Fold 5</c:v>
                  </c:pt>
                  <c:pt idx="5">
                    <c:v>Fold 6</c:v>
                  </c:pt>
                  <c:pt idx="6">
                    <c:v>Average</c:v>
                  </c:pt>
                </c:lvl>
              </c:multiLvlStrCache>
            </c:multiLvlStrRef>
          </c:cat>
          <c:val>
            <c:numRef>
              <c:f>Sheet1!$C$2:$C$8</c:f>
              <c:numCache>
                <c:formatCode>General</c:formatCode>
                <c:ptCount val="7"/>
                <c:pt idx="0">
                  <c:v>20.3</c:v>
                </c:pt>
                <c:pt idx="1">
                  <c:v>22.8</c:v>
                </c:pt>
                <c:pt idx="2">
                  <c:v>20.3</c:v>
                </c:pt>
                <c:pt idx="3">
                  <c:v>21.1</c:v>
                </c:pt>
                <c:pt idx="4">
                  <c:v>24</c:v>
                </c:pt>
                <c:pt idx="5">
                  <c:v>26.7</c:v>
                </c:pt>
                <c:pt idx="6">
                  <c:v>22.51</c:v>
                </c:pt>
              </c:numCache>
            </c:numRef>
          </c:val>
        </c:ser>
        <c:ser>
          <c:idx val="2"/>
          <c:order val="2"/>
          <c:tx>
            <c:strRef>
              <c:f>Sheet1!$D$1</c:f>
              <c:strCache>
                <c:ptCount val="1"/>
                <c:pt idx="0">
                  <c:v>Seasonal Naive</c:v>
                </c:pt>
              </c:strCache>
            </c:strRef>
          </c:tx>
          <c:spPr>
            <a:solidFill>
              <a:srgbClr val="B91C1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Fold 1</c:v>
                  </c:pt>
                  <c:pt idx="1">
                    <c:v>Fold 2</c:v>
                  </c:pt>
                  <c:pt idx="2">
                    <c:v>Fold 3</c:v>
                  </c:pt>
                  <c:pt idx="3">
                    <c:v>Fold 4</c:v>
                  </c:pt>
                  <c:pt idx="4">
                    <c:v>Fold 5</c:v>
                  </c:pt>
                  <c:pt idx="5">
                    <c:v>Fold 6</c:v>
                  </c:pt>
                  <c:pt idx="6">
                    <c:v>Average</c:v>
                  </c:pt>
                </c:lvl>
              </c:multiLvlStrCache>
            </c:multiLvlStrRef>
          </c:cat>
          <c:val>
            <c:numRef>
              <c:f>Sheet1!$D$2:$D$8</c:f>
              <c:numCache>
                <c:formatCode>General</c:formatCode>
                <c:ptCount val="7"/>
                <c:pt idx="0">
                  <c:v>28.4</c:v>
                </c:pt>
                <c:pt idx="1">
                  <c:v>30.1</c:v>
                </c:pt>
                <c:pt idx="2">
                  <c:v>35.6</c:v>
                </c:pt>
                <c:pt idx="3">
                  <c:v>33.2</c:v>
                </c:pt>
                <c:pt idx="4">
                  <c:v>29.8</c:v>
                </c:pt>
                <c:pt idx="5">
                  <c:v>35.3</c:v>
                </c:pt>
                <c:pt idx="6">
                  <c:v>32.06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Gross Profit (€)</c:v>
                </c:pt>
              </c:strCache>
            </c:strRef>
          </c:tx>
          <c:spPr>
            <a:solidFill>
              <a:srgbClr val="1B433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z = 0.0 (Zero Buffer)</c:v>
                  </c:pt>
                  <c:pt idx="1">
                    <c:v>z = 0.5 (Lean Buffer)</c:v>
                  </c:pt>
                  <c:pt idx="2">
                    <c:v>z = 1.0 (Balanced)</c:v>
                  </c:pt>
                  <c:pt idx="3">
                    <c:v>z = 1.65 (95% Svc)</c:v>
                  </c:pt>
                </c:lvl>
              </c:multiLvlStrCache>
            </c:multiLvlStrRef>
          </c:cat>
          <c:val>
            <c:numRef>
              <c:f>Sheet1!$B$2:$B$5</c:f>
              <c:numCache>
                <c:formatCode>General</c:formatCode>
                <c:ptCount val="4"/>
                <c:pt idx="0">
                  <c:v>40717</c:v>
                </c:pt>
                <c:pt idx="1">
                  <c:v>40659</c:v>
                </c:pt>
                <c:pt idx="2">
                  <c:v>38655</c:v>
                </c:pt>
                <c:pt idx="3">
                  <c:v>32605</c:v>
                </c:pt>
              </c:numCache>
            </c:numRef>
          </c:val>
        </c:ser>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presents the official software testing defense deck for RestockIQ, submitted for Course 702IT0E035 at MPSTME NMIMS. It establishes candidate attribution, commit integrity, and direct traceability to Course Outcomes CO1, CO2, and CO3.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maps the four architectural tiers of RestockIQ to their corresponding verification levels. It illustrates where unit, widget, integration, security, and empirical testing techniques operate across mobile, gateway, cloud database, and machine learning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details the dual-framework strategy: bidirectional traceability between requirements and test artifacts via the V-Model, and the empirical test pyramid showing real counts across 51 automated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tabulates the complete test inventory across all modules. It categorizes each test suite by level, technique, testing philosophy (classical vs. mockist), test count, and measured pass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illustrates the formal difference between errors, defects, and failures using the physical device login hang. It presents a native stacked column chart categorizing all 11 logged defects across the project lifecycle.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showcases two primary black-box techniques: Boundary Value Analysis on manager query strings, and a formal 10-rule Decision Table evaluating all thresholds of the intraday waste action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visualizes the finite state machine governing waste alerts. It maps all seven transitions (T1 through T7) directly to automated unit test assertions verifying database price mutations and alert suppression.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presents the control-flow graph for get_client_ip(), computes cyclomatic complexity V(G)=5, and reports real branch coverage data measured via coverage.py across all five independent basis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contrasts the Detroit (classical) and London (mockist) testing philosophies implemented across RestockIQ. It reconciles the test runner framework (Python unittest) and reports verified execution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details the system-level verification: the 9-step business lifecycle flow, empirical multi-tenant isolation tests across 10 REST endpoints with zero leakage, and reverse-proxy anti-spoofing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presents the ML evaluation results, highlighting the negative finding where Prophet outperformed the hybrid model across 5 of 6 folds. It also details the chronological leakage audit and LLM zero-math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evaluates the 90-day inventory simulation. It proves that food waste is determined by safety stock policy parameter z, while the forecasting model optimizes the trade-off frontier between stockouts and profit.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details the automated regression pipeline. It reports real execution statuses verified via the GitHub Actions API: keepalive passing continuously, backend passing in 23s, and nightly ML failing due to runner secret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presents a transparent curriculum coverage matrix for Course 702IT0E035. It explicitly documents covered syllabus topics alongside unperformed advanced methods such as mutation and data-flow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synthesizes achievements against Course Outcomes CO1, CO2, and CO3. It summarizes how multi-level testing eliminated critical bugs and outlines the future testing agenda including load testing and beta trials.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9F4"/>
        </a:solidFill>
      </p:bgPr>
    </p:bg>
    <p:spTree>
      <p:nvGrpSpPr>
        <p:cNvPr id="1" name=""/>
        <p:cNvGrpSpPr/>
        <p:nvPr/>
      </p:nvGrpSpPr>
      <p:grpSpPr>
        <a:xfrm>
          <a:off x="0" y="0"/>
          <a:ext cx="0" cy="0"/>
          <a:chOff x="0" y="0"/>
          <a:chExt cx="0" cy="0"/>
        </a:xfrm>
      </p:grpSpPr>
      <p:sp>
        <p:nvSpPr>
          <p:cNvPr id="2" name="Shape 0"/>
          <p:cNvSpPr/>
          <p:nvPr/>
        </p:nvSpPr>
        <p:spPr>
          <a:xfrm>
            <a:off x="731520" y="640080"/>
            <a:ext cx="10698480" cy="5394960"/>
          </a:xfrm>
          <a:prstGeom prst="rect">
            <a:avLst>
              <a:gd name="adj" fmla="val 2542"/>
            </a:avLst>
          </a:prstGeom>
          <a:solidFill>
            <a:srgbClr val="FFFFFF"/>
          </a:solidFill>
          <a:ln w="19050">
            <a:solidFill>
              <a:srgbClr val="E5E0D8"/>
            </a:solidFill>
            <a:prstDash val="solid"/>
          </a:ln>
        </p:spPr>
      </p:sp>
      <p:sp>
        <p:nvSpPr>
          <p:cNvPr id="3" name="Shape 1"/>
          <p:cNvSpPr/>
          <p:nvPr/>
        </p:nvSpPr>
        <p:spPr>
          <a:xfrm>
            <a:off x="1188720" y="1005840"/>
            <a:ext cx="3291840" cy="329184"/>
          </a:xfrm>
          <a:prstGeom prst="rect">
            <a:avLst>
              <a:gd name="adj" fmla="val 22222"/>
            </a:avLst>
          </a:prstGeom>
          <a:solidFill>
            <a:srgbClr val="EAE5DC"/>
          </a:solidFill>
          <a:ln w="12700">
            <a:solidFill>
              <a:srgbClr val="1B4332"/>
            </a:solidFill>
            <a:prstDash val="solid"/>
          </a:ln>
        </p:spPr>
      </p:sp>
      <p:sp>
        <p:nvSpPr>
          <p:cNvPr id="4" name="Text 2"/>
          <p:cNvSpPr/>
          <p:nvPr/>
        </p:nvSpPr>
        <p:spPr>
          <a:xfrm>
            <a:off x="1188720" y="1005840"/>
            <a:ext cx="3291840" cy="329184"/>
          </a:xfrm>
          <a:prstGeom prst="rect">
            <a:avLst/>
          </a:prstGeom>
          <a:noFill/>
          <a:ln/>
        </p:spPr>
        <p:txBody>
          <a:bodyPr wrap="square" rtlCol="0" anchor="ctr"/>
          <a:lstStyle/>
          <a:p>
            <a:pPr algn="ctr" indent="0" marL="0">
              <a:buNone/>
            </a:pPr>
            <a:r>
              <a:rPr lang="en-US" sz="950" b="1" dirty="0">
                <a:solidFill>
                  <a:srgbClr val="1B4332"/>
                </a:solidFill>
                <a:latin typeface="Montserrat" pitchFamily="34" charset="0"/>
                <a:ea typeface="Montserrat" pitchFamily="34" charset="-122"/>
                <a:cs typeface="Montserrat" pitchFamily="34" charset="-120"/>
              </a:rPr>
              <a:t>COURSE 702IT0E035 : SOFTWARE TESTING</a:t>
            </a:r>
            <a:endParaRPr lang="en-US" sz="950" dirty="0"/>
          </a:p>
        </p:txBody>
      </p:sp>
      <p:sp>
        <p:nvSpPr>
          <p:cNvPr id="5" name="Text 3"/>
          <p:cNvSpPr/>
          <p:nvPr/>
        </p:nvSpPr>
        <p:spPr>
          <a:xfrm>
            <a:off x="1188720" y="1508760"/>
            <a:ext cx="9784080" cy="914400"/>
          </a:xfrm>
          <a:prstGeom prst="rect">
            <a:avLst/>
          </a:prstGeom>
          <a:noFill/>
          <a:ln/>
        </p:spPr>
        <p:txBody>
          <a:bodyPr wrap="square" rtlCol="0" anchor="ctr"/>
          <a:lstStyle/>
          <a:p>
            <a:pPr indent="0" marL="0">
              <a:buNone/>
            </a:pPr>
            <a:r>
              <a:rPr lang="en-US" sz="2800" b="1" dirty="0">
                <a:solidFill>
                  <a:srgbClr val="1B4332"/>
                </a:solidFill>
                <a:latin typeface="Montserrat" pitchFamily="34" charset="0"/>
                <a:ea typeface="Montserrat" pitchFamily="34" charset="-122"/>
                <a:cs typeface="Montserrat" pitchFamily="34" charset="-120"/>
              </a:rPr>
              <a:t>RestockIQ: Software Testing &amp; System Integrity Defense</a:t>
            </a:r>
            <a:endParaRPr lang="en-US" sz="2800" dirty="0"/>
          </a:p>
        </p:txBody>
      </p:sp>
      <p:sp>
        <p:nvSpPr>
          <p:cNvPr id="6" name="Text 4"/>
          <p:cNvSpPr/>
          <p:nvPr/>
        </p:nvSpPr>
        <p:spPr>
          <a:xfrm>
            <a:off x="1188720" y="2514600"/>
            <a:ext cx="9784080" cy="411480"/>
          </a:xfrm>
          <a:prstGeom prst="rect">
            <a:avLst/>
          </a:prstGeom>
          <a:noFill/>
          <a:ln/>
        </p:spPr>
        <p:txBody>
          <a:bodyPr wrap="square" rtlCol="0" anchor="ctr"/>
          <a:lstStyle/>
          <a:p>
            <a:pPr indent="0" marL="0">
              <a:buNone/>
            </a:pPr>
            <a:r>
              <a:rPr lang="en-US" sz="1350" dirty="0">
                <a:solidFill>
                  <a:srgbClr val="5A5A54"/>
                </a:solidFill>
                <a:latin typeface="Inter" pitchFamily="34" charset="0"/>
                <a:ea typeface="Inter" pitchFamily="34" charset="-122"/>
                <a:cs typeface="Inter" pitchFamily="34" charset="-120"/>
              </a:rPr>
              <a:t>Empirical Verification, Defect Taxonomies, and Automated Quality Engineering in AI Demand Forecasting</a:t>
            </a:r>
            <a:endParaRPr lang="en-US" sz="1350" dirty="0"/>
          </a:p>
        </p:txBody>
      </p:sp>
      <p:sp>
        <p:nvSpPr>
          <p:cNvPr id="7" name="Shape 5"/>
          <p:cNvSpPr/>
          <p:nvPr/>
        </p:nvSpPr>
        <p:spPr>
          <a:xfrm>
            <a:off x="1188720" y="3063240"/>
            <a:ext cx="9784080" cy="0"/>
          </a:xfrm>
          <a:prstGeom prst="line">
            <a:avLst/>
          </a:prstGeom>
          <a:noFill/>
          <a:ln w="25400">
            <a:solidFill>
              <a:srgbClr val="FFB702"/>
            </a:solidFill>
            <a:prstDash val="solid"/>
          </a:ln>
        </p:spPr>
      </p:sp>
      <p:sp>
        <p:nvSpPr>
          <p:cNvPr id="8" name="Text 6"/>
          <p:cNvSpPr/>
          <p:nvPr/>
        </p:nvSpPr>
        <p:spPr>
          <a:xfrm>
            <a:off x="1188720" y="3246120"/>
            <a:ext cx="5303520" cy="2560320"/>
          </a:xfrm>
          <a:prstGeom prst="rect">
            <a:avLst/>
          </a:prstGeom>
          <a:noFill/>
          <a:ln/>
        </p:spPr>
        <p:txBody>
          <a:bodyPr wrap="square" rtlCol="0" anchor="ctr"/>
          <a:lstStyle/>
          <a:p>
            <a:pPr indent="0" marL="0">
              <a:buNone/>
            </a:pPr>
            <a:r>
              <a:rPr lang="en-US" sz="1150" b="1" dirty="0">
                <a:solidFill>
                  <a:srgbClr val="1B4332"/>
                </a:solidFill>
                <a:latin typeface="Inter" pitchFamily="34" charset="0"/>
                <a:ea typeface="Inter" pitchFamily="34" charset="-122"/>
                <a:cs typeface="Inter" pitchFamily="34" charset="-120"/>
              </a:rPr>
              <a:t>Candidate / Author: </a:t>
            </a:r>
            <a:pPr indent="0" marL="0">
              <a:buNone/>
            </a:pPr>
            <a:r>
              <a:rPr lang="en-US" sz="1150" dirty="0">
                <a:solidFill>
                  <a:srgbClr val="1C1C19"/>
                </a:solidFill>
                <a:latin typeface="Inter" pitchFamily="34" charset="0"/>
                <a:ea typeface="Inter" pitchFamily="34" charset="-122"/>
                <a:cs typeface="Inter" pitchFamily="34" charset="-120"/>
              </a:rPr>
              <a:t>Yatin Patil ("Lucifer")
</a:t>
            </a:r>
            <a:pPr indent="0" marL="0">
              <a:buNone/>
            </a:pPr>
            <a:r>
              <a:rPr lang="en-US" sz="1150" b="1" dirty="0">
                <a:solidFill>
                  <a:srgbClr val="1B4332"/>
                </a:solidFill>
                <a:latin typeface="Inter" pitchFamily="34" charset="0"/>
                <a:ea typeface="Inter" pitchFamily="34" charset="-122"/>
                <a:cs typeface="Inter" pitchFamily="34" charset="-120"/>
              </a:rPr>
              <a:t>Program &amp; Department: </a:t>
            </a:r>
            <a:pPr indent="0" marL="0">
              <a:buNone/>
            </a:pPr>
            <a:r>
              <a:rPr lang="en-US" sz="1150" dirty="0">
                <a:solidFill>
                  <a:srgbClr val="1C1C19"/>
                </a:solidFill>
                <a:latin typeface="Inter" pitchFamily="34" charset="0"/>
                <a:ea typeface="Inter" pitchFamily="34" charset="-122"/>
                <a:cs typeface="Inter" pitchFamily="34" charset="-120"/>
              </a:rPr>
              <a:t>B.Tech Information Technology
</a:t>
            </a:r>
            <a:pPr indent="0" marL="0">
              <a:buNone/>
            </a:pPr>
            <a:r>
              <a:rPr lang="en-US" sz="1150" b="1" dirty="0">
                <a:solidFill>
                  <a:srgbClr val="1B4332"/>
                </a:solidFill>
                <a:latin typeface="Inter" pitchFamily="34" charset="0"/>
                <a:ea typeface="Inter" pitchFamily="34" charset="-122"/>
                <a:cs typeface="Inter" pitchFamily="34" charset="-120"/>
              </a:rPr>
              <a:t>Institution: </a:t>
            </a:r>
            <a:pPr indent="0" marL="0">
              <a:buNone/>
            </a:pPr>
            <a:r>
              <a:rPr lang="en-US" sz="1150" dirty="0">
                <a:solidFill>
                  <a:srgbClr val="1C1C19"/>
                </a:solidFill>
                <a:latin typeface="Inter" pitchFamily="34" charset="0"/>
                <a:ea typeface="Inter" pitchFamily="34" charset="-122"/>
                <a:cs typeface="Inter" pitchFamily="34" charset="-120"/>
              </a:rPr>
              <a:t>MPSTME, NMIMS University, Mumbai
</a:t>
            </a:r>
            <a:pPr indent="0" marL="0">
              <a:buNone/>
            </a:pPr>
            <a:r>
              <a:rPr lang="en-US" sz="1150" b="1" dirty="0">
                <a:solidFill>
                  <a:srgbClr val="1B4332"/>
                </a:solidFill>
                <a:latin typeface="Inter" pitchFamily="34" charset="0"/>
                <a:ea typeface="Inter" pitchFamily="34" charset="-122"/>
                <a:cs typeface="Inter" pitchFamily="34" charset="-120"/>
              </a:rPr>
              <a:t>Repository Commit: </a:t>
            </a:r>
            <a:pPr indent="0" marL="0">
              <a:buNone/>
            </a:pPr>
            <a:r>
              <a:rPr lang="en-US" sz="1050" dirty="0">
                <a:solidFill>
                  <a:srgbClr val="5A5A54"/>
                </a:solidFill>
                <a:latin typeface="Consolas" pitchFamily="34" charset="0"/>
                <a:ea typeface="Consolas" pitchFamily="34" charset="-122"/>
                <a:cs typeface="Consolas" pitchFamily="34" charset="-120"/>
              </a:rPr>
              <a:t>https://github.com/Yatin07/CAPSTONE_PROJECT (commit 49caa0ef)
</a:t>
            </a:r>
            <a:pPr indent="0" marL="0">
              <a:buNone/>
            </a:pPr>
            <a:r>
              <a:rPr lang="en-US" sz="1150" b="1" dirty="0">
                <a:solidFill>
                  <a:srgbClr val="1B4332"/>
                </a:solidFill>
                <a:latin typeface="Inter" pitchFamily="34" charset="0"/>
                <a:ea typeface="Inter" pitchFamily="34" charset="-122"/>
                <a:cs typeface="Inter" pitchFamily="34" charset="-120"/>
              </a:rPr>
              <a:t>Target Environment: </a:t>
            </a:r>
            <a:pPr indent="0" marL="0">
              <a:buNone/>
            </a:pPr>
            <a:r>
              <a:rPr lang="en-US" sz="1050" dirty="0">
                <a:solidFill>
                  <a:srgbClr val="1C1C19"/>
                </a:solidFill>
                <a:latin typeface="Inter" pitchFamily="34" charset="0"/>
                <a:ea typeface="Inter" pitchFamily="34" charset="-122"/>
                <a:cs typeface="Inter" pitchFamily="34" charset="-120"/>
              </a:rPr>
              <a:t>Flutter 3.38+ | FastAPI 0.125 | MongoDB Atlas | Android ARM64</a:t>
            </a:r>
            <a:endParaRPr lang="en-US" sz="1150" dirty="0"/>
          </a:p>
        </p:txBody>
      </p:sp>
      <p:sp>
        <p:nvSpPr>
          <p:cNvPr id="9" name="Shape 7"/>
          <p:cNvSpPr/>
          <p:nvPr/>
        </p:nvSpPr>
        <p:spPr>
          <a:xfrm>
            <a:off x="6766560" y="3246120"/>
            <a:ext cx="4206240" cy="2468880"/>
          </a:xfrm>
          <a:prstGeom prst="rect">
            <a:avLst>
              <a:gd name="adj" fmla="val 3704"/>
            </a:avLst>
          </a:prstGeom>
          <a:solidFill>
            <a:srgbClr val="FCF9F4"/>
          </a:solidFill>
          <a:ln w="12700">
            <a:solidFill>
              <a:srgbClr val="E5E0D8"/>
            </a:solidFill>
            <a:prstDash val="solid"/>
          </a:ln>
        </p:spPr>
      </p:sp>
      <p:sp>
        <p:nvSpPr>
          <p:cNvPr id="10" name="Text 8"/>
          <p:cNvSpPr/>
          <p:nvPr/>
        </p:nvSpPr>
        <p:spPr>
          <a:xfrm>
            <a:off x="7040880" y="3429000"/>
            <a:ext cx="3657600" cy="274320"/>
          </a:xfrm>
          <a:prstGeom prst="rect">
            <a:avLst/>
          </a:prstGeom>
          <a:noFill/>
          <a:ln/>
        </p:spPr>
        <p:txBody>
          <a:bodyPr wrap="square" rtlCol="0" anchor="ctr"/>
          <a:lstStyle/>
          <a:p>
            <a:pPr indent="0" marL="0">
              <a:buNone/>
            </a:pPr>
            <a:r>
              <a:rPr lang="en-US" sz="1050" b="1" dirty="0">
                <a:solidFill>
                  <a:srgbClr val="1B4332"/>
                </a:solidFill>
                <a:latin typeface="Montserrat" pitchFamily="34" charset="0"/>
                <a:ea typeface="Montserrat" pitchFamily="34" charset="-122"/>
                <a:cs typeface="Montserrat" pitchFamily="34" charset="-120"/>
              </a:rPr>
              <a:t>COURSE OUTCOMES (CO) ALIGNMENT</a:t>
            </a:r>
            <a:endParaRPr lang="en-US" sz="1050" dirty="0"/>
          </a:p>
        </p:txBody>
      </p:sp>
      <p:sp>
        <p:nvSpPr>
          <p:cNvPr id="11" name="Text 9"/>
          <p:cNvSpPr/>
          <p:nvPr/>
        </p:nvSpPr>
        <p:spPr>
          <a:xfrm>
            <a:off x="7040880" y="3794760"/>
            <a:ext cx="3657600" cy="1737360"/>
          </a:xfrm>
          <a:prstGeom prst="rect">
            <a:avLst/>
          </a:prstGeom>
          <a:noFill/>
          <a:ln/>
        </p:spPr>
        <p:txBody>
          <a:bodyPr wrap="square" rtlCol="0" anchor="ctr"/>
          <a:lstStyle/>
          <a:p>
            <a:pPr indent="0" marL="0">
              <a:buNone/>
            </a:pPr>
            <a:r>
              <a:rPr lang="en-US" sz="1000" dirty="0">
                <a:solidFill>
                  <a:srgbClr val="1C1C19"/>
                </a:solidFill>
                <a:latin typeface="Inter" pitchFamily="34" charset="0"/>
                <a:ea typeface="Inter" pitchFamily="34" charset="-122"/>
                <a:cs typeface="Inter" pitchFamily="34" charset="-120"/>
              </a:rPr>
              <a:t>• CO1: Design and implement test cases across levels (BVA, decision matrices, state models).</a:t>
            </a:r>
            <a:pPr indent="0" marL="0">
              <a:buNone/>
            </a:pPr>
            <a:endParaRPr lang="en-US" sz="1000" dirty="0"/>
          </a:p>
          <a:p>
            <a:pPr indent="0" marL="0">
              <a:buNone/>
            </a:pPr>
            <a:r>
              <a:rPr lang="en-US" sz="1000" dirty="0">
                <a:solidFill>
                  <a:srgbClr val="1C1C19"/>
                </a:solidFill>
                <a:latin typeface="Inter" pitchFamily="34" charset="0"/>
                <a:ea typeface="Inter" pitchFamily="34" charset="-122"/>
                <a:cs typeface="Inter" pitchFamily="34" charset="-120"/>
              </a:rPr>
              <a:t>• CO2: Select manual vs. automated testing regimes for mobile UI, REST APIs, and ML engines.</a:t>
            </a:r>
            <a:endParaRPr lang="en-US" sz="1000" dirty="0"/>
          </a:p>
          <a:p>
            <a:pPr indent="0" marL="0">
              <a:buNone/>
            </a:pPr>
            <a:endParaRPr lang="en-US" sz="1000" dirty="0"/>
          </a:p>
          <a:p>
            <a:pPr indent="0" marL="0">
              <a:buNone/>
            </a:pPr>
            <a:r>
              <a:rPr lang="en-US" sz="1000" dirty="0">
                <a:solidFill>
                  <a:srgbClr val="1C1C19"/>
                </a:solidFill>
                <a:latin typeface="Inter" pitchFamily="34" charset="0"/>
                <a:ea typeface="Inter" pitchFamily="34" charset="-122"/>
                <a:cs typeface="Inter" pitchFamily="34" charset="-120"/>
              </a:rPr>
              <a:t>• CO3: Apply test automation, branch coverage analysis, and continuous regression pipelines.</a:t>
            </a:r>
            <a:endParaRPr lang="en-US" sz="1000" dirty="0"/>
          </a:p>
          <a:p>
            <a:pPr indent="0" marL="0">
              <a:buNone/>
            </a:pPr>
            <a:endParaRPr lang="en-US" sz="1000" dirty="0"/>
          </a:p>
          <a:p>
            <a:pPr indent="0" marL="0">
              <a:buNone/>
            </a:pPr>
            <a:r>
              <a:rPr lang="en-US" sz="1000" b="1" dirty="0">
                <a:solidFill>
                  <a:srgbClr val="2D6A4F"/>
                </a:solidFill>
                <a:latin typeface="Inter" pitchFamily="34" charset="0"/>
                <a:ea typeface="Inter" pitchFamily="34" charset="-122"/>
                <a:cs typeface="Inter" pitchFamily="34" charset="-120"/>
              </a:rPr>
              <a:t>• Scope: 51 Reconciled Automated Tests (100% Pass) + 1 Physical Android Device Audit.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9F4"/>
        </a:solidFill>
      </p:bgPr>
    </p:bg>
    <p:spTree>
      <p:nvGrpSpPr>
        <p:cNvPr id="1" name=""/>
        <p:cNvGrpSpPr/>
        <p:nvPr/>
      </p:nvGrpSpPr>
      <p:grpSpPr>
        <a:xfrm>
          <a:off x="0" y="0"/>
          <a:ext cx="0" cy="0"/>
          <a:chOff x="0" y="0"/>
          <a:chExt cx="0" cy="0"/>
        </a:xfrm>
      </p:grpSpPr>
      <p:sp>
        <p:nvSpPr>
          <p:cNvPr id="2" name="Shape 0"/>
          <p:cNvSpPr/>
          <p:nvPr/>
        </p:nvSpPr>
        <p:spPr>
          <a:xfrm>
            <a:off x="731520" y="320040"/>
            <a:ext cx="2194560" cy="274320"/>
          </a:xfrm>
          <a:prstGeom prst="rect">
            <a:avLst>
              <a:gd name="adj" fmla="val 20000"/>
            </a:avLst>
          </a:prstGeom>
          <a:solidFill>
            <a:srgbClr val="EAE5DC"/>
          </a:solidFill>
          <a:ln w="12700">
            <a:solidFill>
              <a:srgbClr val="E5E0D8"/>
            </a:solidFill>
            <a:prstDash val="solid"/>
          </a:ln>
        </p:spPr>
      </p:sp>
      <p:sp>
        <p:nvSpPr>
          <p:cNvPr id="3" name="Text 1"/>
          <p:cNvSpPr/>
          <p:nvPr/>
        </p:nvSpPr>
        <p:spPr>
          <a:xfrm>
            <a:off x="731520" y="320040"/>
            <a:ext cx="2194560" cy="274320"/>
          </a:xfrm>
          <a:prstGeom prst="rect">
            <a:avLst/>
          </a:prstGeom>
          <a:noFill/>
          <a:ln/>
        </p:spPr>
        <p:txBody>
          <a:bodyPr wrap="square" rtlCol="0" anchor="ctr"/>
          <a:lstStyle/>
          <a:p>
            <a:pPr algn="ctr" indent="0" marL="0">
              <a:buNone/>
            </a:pPr>
            <a:r>
              <a:rPr lang="en-US" sz="850" b="1" dirty="0">
                <a:solidFill>
                  <a:srgbClr val="1B4332"/>
                </a:solidFill>
                <a:latin typeface="Montserrat" pitchFamily="34" charset="0"/>
                <a:ea typeface="Montserrat" pitchFamily="34" charset="-122"/>
                <a:cs typeface="Montserrat" pitchFamily="34" charset="-120"/>
              </a:rPr>
              <a:t>UNIT 1: FUNDAMENTALS</a:t>
            </a:r>
            <a:endParaRPr lang="en-US" sz="850" dirty="0"/>
          </a:p>
        </p:txBody>
      </p:sp>
      <p:sp>
        <p:nvSpPr>
          <p:cNvPr id="4" name="Text 2"/>
          <p:cNvSpPr/>
          <p:nvPr/>
        </p:nvSpPr>
        <p:spPr>
          <a:xfrm>
            <a:off x="10058400" y="320040"/>
            <a:ext cx="1371600" cy="274320"/>
          </a:xfrm>
          <a:prstGeom prst="rect">
            <a:avLst/>
          </a:prstGeom>
          <a:noFill/>
          <a:ln/>
        </p:spPr>
        <p:txBody>
          <a:bodyPr wrap="square" rtlCol="0" anchor="ctr"/>
          <a:lstStyle/>
          <a:p>
            <a:pPr algn="r" indent="0" marL="0">
              <a:buNone/>
            </a:pPr>
            <a:r>
              <a:rPr lang="en-US" sz="900" b="1" dirty="0">
                <a:solidFill>
                  <a:srgbClr val="5A5A54"/>
                </a:solidFill>
                <a:latin typeface="Montserrat" pitchFamily="34" charset="0"/>
                <a:ea typeface="Montserrat" pitchFamily="34" charset="-122"/>
                <a:cs typeface="Montserrat" pitchFamily="34" charset="-120"/>
              </a:rPr>
              <a:t>SLIDE 2 / 15</a:t>
            </a:r>
            <a:endParaRPr lang="en-US" sz="900" dirty="0"/>
          </a:p>
        </p:txBody>
      </p:sp>
      <p:sp>
        <p:nvSpPr>
          <p:cNvPr id="5" name="Text 3"/>
          <p:cNvSpPr/>
          <p:nvPr/>
        </p:nvSpPr>
        <p:spPr>
          <a:xfrm>
            <a:off x="731520" y="658368"/>
            <a:ext cx="10698480" cy="475488"/>
          </a:xfrm>
          <a:prstGeom prst="rect">
            <a:avLst/>
          </a:prstGeom>
          <a:noFill/>
          <a:ln/>
        </p:spPr>
        <p:txBody>
          <a:bodyPr wrap="square" rtlCol="0" anchor="ctr"/>
          <a:lstStyle/>
          <a:p>
            <a:pPr indent="0" marL="0">
              <a:buNone/>
            </a:pPr>
            <a:r>
              <a:rPr lang="en-US" sz="2000" b="1" dirty="0">
                <a:solidFill>
                  <a:srgbClr val="1B4332"/>
                </a:solidFill>
                <a:latin typeface="Montserrat" pitchFamily="34" charset="0"/>
                <a:ea typeface="Montserrat" pitchFamily="34" charset="-122"/>
                <a:cs typeface="Montserrat" pitchFamily="34" charset="-120"/>
              </a:rPr>
              <a:t>System Under Test: Architecture &amp; Verification Boundaries</a:t>
            </a:r>
            <a:endParaRPr lang="en-US" sz="2000" dirty="0"/>
          </a:p>
        </p:txBody>
      </p:sp>
      <p:sp>
        <p:nvSpPr>
          <p:cNvPr id="6" name="Shape 4"/>
          <p:cNvSpPr/>
          <p:nvPr/>
        </p:nvSpPr>
        <p:spPr>
          <a:xfrm>
            <a:off x="731520" y="1170432"/>
            <a:ext cx="10698480" cy="0"/>
          </a:xfrm>
          <a:prstGeom prst="line">
            <a:avLst/>
          </a:prstGeom>
          <a:noFill/>
          <a:ln w="12700">
            <a:solidFill>
              <a:srgbClr val="E5E0D8"/>
            </a:solidFill>
            <a:prstDash val="solid"/>
          </a:ln>
        </p:spPr>
      </p:sp>
      <p:sp>
        <p:nvSpPr>
          <p:cNvPr id="7" name="Shape 5"/>
          <p:cNvSpPr/>
          <p:nvPr/>
        </p:nvSpPr>
        <p:spPr>
          <a:xfrm>
            <a:off x="731520" y="1371600"/>
            <a:ext cx="2468880" cy="3611880"/>
          </a:xfrm>
          <a:prstGeom prst="rect">
            <a:avLst>
              <a:gd name="adj" fmla="val 4444"/>
            </a:avLst>
          </a:prstGeom>
          <a:solidFill>
            <a:srgbClr val="FFFFFF"/>
          </a:solidFill>
          <a:ln w="19050">
            <a:solidFill>
              <a:srgbClr val="E5E0D8"/>
            </a:solidFill>
            <a:prstDash val="solid"/>
          </a:ln>
        </p:spPr>
      </p:sp>
      <p:sp>
        <p:nvSpPr>
          <p:cNvPr id="8" name="Shape 6"/>
          <p:cNvSpPr/>
          <p:nvPr/>
        </p:nvSpPr>
        <p:spPr>
          <a:xfrm>
            <a:off x="731520" y="1371600"/>
            <a:ext cx="2468880" cy="411480"/>
          </a:xfrm>
          <a:prstGeom prst="rect">
            <a:avLst/>
          </a:prstGeom>
          <a:solidFill>
            <a:srgbClr val="EAE5DC"/>
          </a:solidFill>
          <a:ln w="12700">
            <a:solidFill>
              <a:srgbClr val="E5E0D8"/>
            </a:solidFill>
            <a:prstDash val="solid"/>
          </a:ln>
        </p:spPr>
      </p:sp>
      <p:sp>
        <p:nvSpPr>
          <p:cNvPr id="9" name="Text 7"/>
          <p:cNvSpPr/>
          <p:nvPr/>
        </p:nvSpPr>
        <p:spPr>
          <a:xfrm>
            <a:off x="822960" y="1371600"/>
            <a:ext cx="2286000" cy="411480"/>
          </a:xfrm>
          <a:prstGeom prst="rect">
            <a:avLst/>
          </a:prstGeom>
          <a:noFill/>
          <a:ln/>
        </p:spPr>
        <p:txBody>
          <a:bodyPr wrap="square" rtlCol="0" anchor="ctr"/>
          <a:lstStyle/>
          <a:p>
            <a:pPr algn="ctr" indent="0" marL="0">
              <a:buNone/>
            </a:pPr>
            <a:r>
              <a:rPr lang="en-US" sz="950" b="1" dirty="0">
                <a:solidFill>
                  <a:srgbClr val="1B4332"/>
                </a:solidFill>
                <a:latin typeface="Montserrat" pitchFamily="34" charset="0"/>
                <a:ea typeface="Montserrat" pitchFamily="34" charset="-122"/>
                <a:cs typeface="Montserrat" pitchFamily="34" charset="-120"/>
              </a:rPr>
              <a:t>TIER 1: Mobile UI (Flutter)</a:t>
            </a:r>
            <a:endParaRPr lang="en-US" sz="950" dirty="0"/>
          </a:p>
        </p:txBody>
      </p:sp>
      <p:sp>
        <p:nvSpPr>
          <p:cNvPr id="10" name="Text 8"/>
          <p:cNvSpPr/>
          <p:nvPr/>
        </p:nvSpPr>
        <p:spPr>
          <a:xfrm>
            <a:off x="868680" y="1874520"/>
            <a:ext cx="2194560" cy="640080"/>
          </a:xfrm>
          <a:prstGeom prst="rect">
            <a:avLst/>
          </a:prstGeom>
          <a:noFill/>
          <a:ln/>
        </p:spPr>
        <p:txBody>
          <a:bodyPr wrap="square" rtlCol="0" anchor="ctr"/>
          <a:lstStyle/>
          <a:p>
            <a:pPr indent="0" marL="0">
              <a:buNone/>
            </a:pPr>
            <a:r>
              <a:rPr lang="en-US" sz="950" dirty="0">
                <a:solidFill>
                  <a:srgbClr val="5A5A54"/>
                </a:solidFill>
                <a:latin typeface="Inter" pitchFamily="34" charset="0"/>
                <a:ea typeface="Inter" pitchFamily="34" charset="-122"/>
                <a:cs typeface="Inter" pitchFamily="34" charset="-120"/>
              </a:rPr>
              <a:t>Client Dashboard, Item Setup, Waste Alerts, Closing Stock Check-In.</a:t>
            </a:r>
            <a:endParaRPr lang="en-US" sz="950" dirty="0"/>
          </a:p>
        </p:txBody>
      </p:sp>
      <p:sp>
        <p:nvSpPr>
          <p:cNvPr id="11" name="Shape 9"/>
          <p:cNvSpPr/>
          <p:nvPr/>
        </p:nvSpPr>
        <p:spPr>
          <a:xfrm>
            <a:off x="914400" y="2606040"/>
            <a:ext cx="2103120" cy="0"/>
          </a:xfrm>
          <a:prstGeom prst="line">
            <a:avLst/>
          </a:prstGeom>
          <a:noFill/>
          <a:ln w="12700">
            <a:solidFill>
              <a:srgbClr val="E5E0D8"/>
            </a:solidFill>
            <a:prstDash val="solid"/>
          </a:ln>
        </p:spPr>
      </p:sp>
      <p:sp>
        <p:nvSpPr>
          <p:cNvPr id="12" name="Text 10"/>
          <p:cNvSpPr/>
          <p:nvPr/>
        </p:nvSpPr>
        <p:spPr>
          <a:xfrm>
            <a:off x="868680" y="2697480"/>
            <a:ext cx="2194560" cy="228600"/>
          </a:xfrm>
          <a:prstGeom prst="rect">
            <a:avLst/>
          </a:prstGeom>
          <a:noFill/>
          <a:ln/>
        </p:spPr>
        <p:txBody>
          <a:bodyPr wrap="square" rtlCol="0" anchor="ctr"/>
          <a:lstStyle/>
          <a:p>
            <a:pPr indent="0" marL="0">
              <a:buNone/>
            </a:pPr>
            <a:r>
              <a:rPr lang="en-US" sz="850" b="1" dirty="0">
                <a:solidFill>
                  <a:srgbClr val="FFB702"/>
                </a:solidFill>
                <a:latin typeface="Montserrat" pitchFamily="34" charset="0"/>
                <a:ea typeface="Montserrat" pitchFamily="34" charset="-122"/>
                <a:cs typeface="Montserrat" pitchFamily="34" charset="-120"/>
              </a:rPr>
              <a:t>TEST COVERAGE APPLIED:</a:t>
            </a:r>
            <a:endParaRPr lang="en-US" sz="850" dirty="0"/>
          </a:p>
        </p:txBody>
      </p:sp>
      <p:sp>
        <p:nvSpPr>
          <p:cNvPr id="13" name="Text 11"/>
          <p:cNvSpPr/>
          <p:nvPr/>
        </p:nvSpPr>
        <p:spPr>
          <a:xfrm>
            <a:off x="868680" y="2971800"/>
            <a:ext cx="2194560" cy="1554480"/>
          </a:xfrm>
          <a:prstGeom prst="rect">
            <a:avLst/>
          </a:prstGeom>
          <a:noFill/>
          <a:ln/>
        </p:spPr>
        <p:txBody>
          <a:bodyPr wrap="square" rtlCol="0" anchor="ctr"/>
          <a:lstStyle/>
          <a:p>
            <a:pPr indent="0" marL="0">
              <a:buNone/>
            </a:pPr>
            <a:r>
              <a:rPr lang="en-US" sz="950" dirty="0">
                <a:solidFill>
                  <a:srgbClr val="1C1C19"/>
                </a:solidFill>
                <a:latin typeface="Inter" pitchFamily="34" charset="0"/>
                <a:ea typeface="Inter" pitchFamily="34" charset="-122"/>
                <a:cs typeface="Inter" pitchFamily="34" charset="-120"/>
              </a:rPr>
              <a:t>• 21 Unit Tests (Models &amp; CRUD)</a:t>
            </a:r>
            <a:endParaRPr lang="en-US" sz="950" dirty="0"/>
          </a:p>
          <a:p>
            <a:pPr indent="0" marL="0">
              <a:buNone/>
            </a:pPr>
            <a:r>
              <a:rPr lang="en-US" sz="950" dirty="0">
                <a:solidFill>
                  <a:srgbClr val="1C1C19"/>
                </a:solidFill>
                <a:latin typeface="Inter" pitchFamily="34" charset="0"/>
                <a:ea typeface="Inter" pitchFamily="34" charset="-122"/>
                <a:cs typeface="Inter" pitchFamily="34" charset="-120"/>
              </a:rPr>
              <a:t>• 18 Widget Tests (UI Controls)</a:t>
            </a:r>
            <a:endParaRPr lang="en-US" sz="950" dirty="0"/>
          </a:p>
          <a:p>
            <a:pPr indent="0" marL="0">
              <a:buNone/>
            </a:pPr>
            <a:r>
              <a:rPr lang="en-US" sz="950" dirty="0">
                <a:solidFill>
                  <a:srgbClr val="1C1C19"/>
                </a:solidFill>
                <a:latin typeface="Inter" pitchFamily="34" charset="0"/>
                <a:ea typeface="Inter" pitchFamily="34" charset="-122"/>
                <a:cs typeface="Inter" pitchFamily="34" charset="-120"/>
              </a:rPr>
              <a:t>• 5 Integration Tests (Sync)</a:t>
            </a:r>
            <a:endParaRPr lang="en-US" sz="950" dirty="0"/>
          </a:p>
          <a:p>
            <a:pPr indent="0" marL="0">
              <a:buNone/>
            </a:pPr>
            <a:r>
              <a:rPr lang="en-US" sz="950" dirty="0">
                <a:solidFill>
                  <a:srgbClr val="1C1C19"/>
                </a:solidFill>
                <a:latin typeface="Inter" pitchFamily="34" charset="0"/>
                <a:ea typeface="Inter" pitchFamily="34" charset="-122"/>
                <a:cs typeface="Inter" pitchFamily="34" charset="-120"/>
              </a:rPr>
              <a:t>• 1 Physical Device Walkthrough</a:t>
            </a:r>
            <a:endParaRPr lang="en-US" sz="950" dirty="0"/>
          </a:p>
        </p:txBody>
      </p:sp>
      <p:sp>
        <p:nvSpPr>
          <p:cNvPr id="14" name="Shape 12"/>
          <p:cNvSpPr/>
          <p:nvPr/>
        </p:nvSpPr>
        <p:spPr>
          <a:xfrm>
            <a:off x="868680" y="4572000"/>
            <a:ext cx="2194560" cy="292608"/>
          </a:xfrm>
          <a:prstGeom prst="rect">
            <a:avLst>
              <a:gd name="adj" fmla="val 18750"/>
            </a:avLst>
          </a:prstGeom>
          <a:solidFill>
            <a:srgbClr val="FCF9F4"/>
          </a:solidFill>
          <a:ln w="10160">
            <a:solidFill>
              <a:srgbClr val="D8D2C6"/>
            </a:solidFill>
            <a:prstDash val="solid"/>
          </a:ln>
        </p:spPr>
      </p:sp>
      <p:sp>
        <p:nvSpPr>
          <p:cNvPr id="15" name="Text 13"/>
          <p:cNvSpPr/>
          <p:nvPr/>
        </p:nvSpPr>
        <p:spPr>
          <a:xfrm>
            <a:off x="868680" y="4572000"/>
            <a:ext cx="2194560" cy="292608"/>
          </a:xfrm>
          <a:prstGeom prst="rect">
            <a:avLst/>
          </a:prstGeom>
          <a:noFill/>
          <a:ln/>
        </p:spPr>
        <p:txBody>
          <a:bodyPr wrap="square" rtlCol="0" anchor="ctr"/>
          <a:lstStyle/>
          <a:p>
            <a:pPr algn="ctr" indent="0" marL="0">
              <a:buNone/>
            </a:pPr>
            <a:r>
              <a:rPr lang="en-US" sz="850" b="1" dirty="0">
                <a:solidFill>
                  <a:srgbClr val="1B4332"/>
                </a:solidFill>
                <a:latin typeface="Montserrat" pitchFamily="34" charset="0"/>
                <a:ea typeface="Montserrat" pitchFamily="34" charset="-122"/>
                <a:cs typeface="Montserrat" pitchFamily="34" charset="-120"/>
              </a:rPr>
              <a:t>Unit / Widget / Integration</a:t>
            </a:r>
            <a:endParaRPr lang="en-US" sz="850" dirty="0"/>
          </a:p>
        </p:txBody>
      </p:sp>
      <p:sp>
        <p:nvSpPr>
          <p:cNvPr id="16" name="Shape 14"/>
          <p:cNvSpPr/>
          <p:nvPr/>
        </p:nvSpPr>
        <p:spPr>
          <a:xfrm>
            <a:off x="3474720" y="1371600"/>
            <a:ext cx="2468880" cy="3611880"/>
          </a:xfrm>
          <a:prstGeom prst="rect">
            <a:avLst>
              <a:gd name="adj" fmla="val 4444"/>
            </a:avLst>
          </a:prstGeom>
          <a:solidFill>
            <a:srgbClr val="FFFFFF"/>
          </a:solidFill>
          <a:ln w="19050">
            <a:solidFill>
              <a:srgbClr val="E5E0D8"/>
            </a:solidFill>
            <a:prstDash val="solid"/>
          </a:ln>
        </p:spPr>
      </p:sp>
      <p:sp>
        <p:nvSpPr>
          <p:cNvPr id="17" name="Shape 15"/>
          <p:cNvSpPr/>
          <p:nvPr/>
        </p:nvSpPr>
        <p:spPr>
          <a:xfrm>
            <a:off x="3474720" y="1371600"/>
            <a:ext cx="2468880" cy="411480"/>
          </a:xfrm>
          <a:prstGeom prst="rect">
            <a:avLst/>
          </a:prstGeom>
          <a:solidFill>
            <a:srgbClr val="EAE5DC"/>
          </a:solidFill>
          <a:ln w="12700">
            <a:solidFill>
              <a:srgbClr val="E5E0D8"/>
            </a:solidFill>
            <a:prstDash val="solid"/>
          </a:ln>
        </p:spPr>
      </p:sp>
      <p:sp>
        <p:nvSpPr>
          <p:cNvPr id="18" name="Text 16"/>
          <p:cNvSpPr/>
          <p:nvPr/>
        </p:nvSpPr>
        <p:spPr>
          <a:xfrm>
            <a:off x="3566160" y="1371600"/>
            <a:ext cx="2286000" cy="411480"/>
          </a:xfrm>
          <a:prstGeom prst="rect">
            <a:avLst/>
          </a:prstGeom>
          <a:noFill/>
          <a:ln/>
        </p:spPr>
        <p:txBody>
          <a:bodyPr wrap="square" rtlCol="0" anchor="ctr"/>
          <a:lstStyle/>
          <a:p>
            <a:pPr algn="ctr" indent="0" marL="0">
              <a:buNone/>
            </a:pPr>
            <a:r>
              <a:rPr lang="en-US" sz="950" b="1" dirty="0">
                <a:solidFill>
                  <a:srgbClr val="1B4332"/>
                </a:solidFill>
                <a:latin typeface="Montserrat" pitchFamily="34" charset="0"/>
                <a:ea typeface="Montserrat" pitchFamily="34" charset="-122"/>
                <a:cs typeface="Montserrat" pitchFamily="34" charset="-120"/>
              </a:rPr>
              <a:t>TIER 2: Gateway (FastAPI)</a:t>
            </a:r>
            <a:endParaRPr lang="en-US" sz="950" dirty="0"/>
          </a:p>
        </p:txBody>
      </p:sp>
      <p:sp>
        <p:nvSpPr>
          <p:cNvPr id="19" name="Text 17"/>
          <p:cNvSpPr/>
          <p:nvPr/>
        </p:nvSpPr>
        <p:spPr>
          <a:xfrm>
            <a:off x="3611880" y="1874520"/>
            <a:ext cx="2194560" cy="640080"/>
          </a:xfrm>
          <a:prstGeom prst="rect">
            <a:avLst/>
          </a:prstGeom>
          <a:noFill/>
          <a:ln/>
        </p:spPr>
        <p:txBody>
          <a:bodyPr wrap="square" rtlCol="0" anchor="ctr"/>
          <a:lstStyle/>
          <a:p>
            <a:pPr indent="0" marL="0">
              <a:buNone/>
            </a:pPr>
            <a:r>
              <a:rPr lang="en-US" sz="950" dirty="0">
                <a:solidFill>
                  <a:srgbClr val="5A5A54"/>
                </a:solidFill>
                <a:latin typeface="Inter" pitchFamily="34" charset="0"/>
                <a:ea typeface="Inter" pitchFamily="34" charset="-122"/>
                <a:cs typeface="Inter" pitchFamily="34" charset="-120"/>
              </a:rPr>
              <a:t>Motor async driver, JWT bearer auth, multi-tenant owner filtering, slowapi.</a:t>
            </a:r>
            <a:endParaRPr lang="en-US" sz="950" dirty="0"/>
          </a:p>
        </p:txBody>
      </p:sp>
      <p:sp>
        <p:nvSpPr>
          <p:cNvPr id="20" name="Shape 18"/>
          <p:cNvSpPr/>
          <p:nvPr/>
        </p:nvSpPr>
        <p:spPr>
          <a:xfrm>
            <a:off x="3657600" y="2606040"/>
            <a:ext cx="2103120" cy="0"/>
          </a:xfrm>
          <a:prstGeom prst="line">
            <a:avLst/>
          </a:prstGeom>
          <a:noFill/>
          <a:ln w="12700">
            <a:solidFill>
              <a:srgbClr val="E5E0D8"/>
            </a:solidFill>
            <a:prstDash val="solid"/>
          </a:ln>
        </p:spPr>
      </p:sp>
      <p:sp>
        <p:nvSpPr>
          <p:cNvPr id="21" name="Text 19"/>
          <p:cNvSpPr/>
          <p:nvPr/>
        </p:nvSpPr>
        <p:spPr>
          <a:xfrm>
            <a:off x="3611880" y="2697480"/>
            <a:ext cx="2194560" cy="228600"/>
          </a:xfrm>
          <a:prstGeom prst="rect">
            <a:avLst/>
          </a:prstGeom>
          <a:noFill/>
          <a:ln/>
        </p:spPr>
        <p:txBody>
          <a:bodyPr wrap="square" rtlCol="0" anchor="ctr"/>
          <a:lstStyle/>
          <a:p>
            <a:pPr indent="0" marL="0">
              <a:buNone/>
            </a:pPr>
            <a:r>
              <a:rPr lang="en-US" sz="850" b="1" dirty="0">
                <a:solidFill>
                  <a:srgbClr val="FFB702"/>
                </a:solidFill>
                <a:latin typeface="Montserrat" pitchFamily="34" charset="0"/>
                <a:ea typeface="Montserrat" pitchFamily="34" charset="-122"/>
                <a:cs typeface="Montserrat" pitchFamily="34" charset="-120"/>
              </a:rPr>
              <a:t>TEST COVERAGE APPLIED:</a:t>
            </a:r>
            <a:endParaRPr lang="en-US" sz="850" dirty="0"/>
          </a:p>
        </p:txBody>
      </p:sp>
      <p:sp>
        <p:nvSpPr>
          <p:cNvPr id="22" name="Text 20"/>
          <p:cNvSpPr/>
          <p:nvPr/>
        </p:nvSpPr>
        <p:spPr>
          <a:xfrm>
            <a:off x="3611880" y="2971800"/>
            <a:ext cx="2194560" cy="1554480"/>
          </a:xfrm>
          <a:prstGeom prst="rect">
            <a:avLst/>
          </a:prstGeom>
          <a:noFill/>
          <a:ln/>
        </p:spPr>
        <p:txBody>
          <a:bodyPr wrap="square" rtlCol="0" anchor="ctr"/>
          <a:lstStyle/>
          <a:p>
            <a:pPr indent="0" marL="0">
              <a:buNone/>
            </a:pPr>
            <a:r>
              <a:rPr lang="en-US" sz="950" dirty="0">
                <a:solidFill>
                  <a:srgbClr val="1C1C19"/>
                </a:solidFill>
                <a:latin typeface="Inter" pitchFamily="34" charset="0"/>
                <a:ea typeface="Inter" pitchFamily="34" charset="-122"/>
                <a:cs typeface="Inter" pitchFamily="34" charset="-120"/>
              </a:rPr>
              <a:t>• 7 Backend Offline Suites</a:t>
            </a:r>
            <a:endParaRPr lang="en-US" sz="950" dirty="0"/>
          </a:p>
          <a:p>
            <a:pPr indent="0" marL="0">
              <a:buNone/>
            </a:pPr>
            <a:r>
              <a:rPr lang="en-US" sz="950" dirty="0">
                <a:solidFill>
                  <a:srgbClr val="1C1C19"/>
                </a:solidFill>
                <a:latin typeface="Inter" pitchFamily="34" charset="0"/>
                <a:ea typeface="Inter" pitchFamily="34" charset="-122"/>
                <a:cs typeface="Inter" pitchFamily="34" charset="-120"/>
              </a:rPr>
              <a:t>• EP+BVA Query Length Bounds</a:t>
            </a:r>
            <a:endParaRPr lang="en-US" sz="950" dirty="0"/>
          </a:p>
          <a:p>
            <a:pPr indent="0" marL="0">
              <a:buNone/>
            </a:pPr>
            <a:r>
              <a:rPr lang="en-US" sz="950" dirty="0">
                <a:solidFill>
                  <a:srgbClr val="1C1C19"/>
                </a:solidFill>
                <a:latin typeface="Inter" pitchFamily="34" charset="0"/>
                <a:ea typeface="Inter" pitchFamily="34" charset="-122"/>
                <a:cs typeface="Inter" pitchFamily="34" charset="-120"/>
              </a:rPr>
              <a:t>• Rate Limiter &amp; Spoof Defense</a:t>
            </a:r>
            <a:endParaRPr lang="en-US" sz="950" dirty="0"/>
          </a:p>
          <a:p>
            <a:pPr indent="0" marL="0">
              <a:buNone/>
            </a:pPr>
            <a:r>
              <a:rPr lang="en-US" sz="950" dirty="0">
                <a:solidFill>
                  <a:srgbClr val="1C1C19"/>
                </a:solidFill>
                <a:latin typeface="Inter" pitchFamily="34" charset="0"/>
                <a:ea typeface="Inter" pitchFamily="34" charset="-122"/>
                <a:cs typeface="Inter" pitchFamily="34" charset="-120"/>
              </a:rPr>
              <a:t>• Multi-Tenant Isolation (10 routes)</a:t>
            </a:r>
            <a:endParaRPr lang="en-US" sz="950" dirty="0"/>
          </a:p>
        </p:txBody>
      </p:sp>
      <p:sp>
        <p:nvSpPr>
          <p:cNvPr id="23" name="Shape 21"/>
          <p:cNvSpPr/>
          <p:nvPr/>
        </p:nvSpPr>
        <p:spPr>
          <a:xfrm>
            <a:off x="3611880" y="4572000"/>
            <a:ext cx="2194560" cy="292608"/>
          </a:xfrm>
          <a:prstGeom prst="rect">
            <a:avLst>
              <a:gd name="adj" fmla="val 18750"/>
            </a:avLst>
          </a:prstGeom>
          <a:solidFill>
            <a:srgbClr val="FCF9F4"/>
          </a:solidFill>
          <a:ln w="10160">
            <a:solidFill>
              <a:srgbClr val="D8D2C6"/>
            </a:solidFill>
            <a:prstDash val="solid"/>
          </a:ln>
        </p:spPr>
      </p:sp>
      <p:sp>
        <p:nvSpPr>
          <p:cNvPr id="24" name="Text 22"/>
          <p:cNvSpPr/>
          <p:nvPr/>
        </p:nvSpPr>
        <p:spPr>
          <a:xfrm>
            <a:off x="3611880" y="4572000"/>
            <a:ext cx="2194560" cy="292608"/>
          </a:xfrm>
          <a:prstGeom prst="rect">
            <a:avLst/>
          </a:prstGeom>
          <a:noFill/>
          <a:ln/>
        </p:spPr>
        <p:txBody>
          <a:bodyPr wrap="square" rtlCol="0" anchor="ctr"/>
          <a:lstStyle/>
          <a:p>
            <a:pPr algn="ctr" indent="0" marL="0">
              <a:buNone/>
            </a:pPr>
            <a:r>
              <a:rPr lang="en-US" sz="850" b="1" dirty="0">
                <a:solidFill>
                  <a:srgbClr val="1B4332"/>
                </a:solidFill>
                <a:latin typeface="Montserrat" pitchFamily="34" charset="0"/>
                <a:ea typeface="Montserrat" pitchFamily="34" charset="-122"/>
                <a:cs typeface="Montserrat" pitchFamily="34" charset="-120"/>
              </a:rPr>
              <a:t>Unit / Security / Integration</a:t>
            </a:r>
            <a:endParaRPr lang="en-US" sz="850" dirty="0"/>
          </a:p>
        </p:txBody>
      </p:sp>
      <p:sp>
        <p:nvSpPr>
          <p:cNvPr id="25" name="Shape 23"/>
          <p:cNvSpPr/>
          <p:nvPr/>
        </p:nvSpPr>
        <p:spPr>
          <a:xfrm>
            <a:off x="6217920" y="1371600"/>
            <a:ext cx="2468880" cy="3611880"/>
          </a:xfrm>
          <a:prstGeom prst="rect">
            <a:avLst>
              <a:gd name="adj" fmla="val 4444"/>
            </a:avLst>
          </a:prstGeom>
          <a:solidFill>
            <a:srgbClr val="FFFFFF"/>
          </a:solidFill>
          <a:ln w="19050">
            <a:solidFill>
              <a:srgbClr val="E5E0D8"/>
            </a:solidFill>
            <a:prstDash val="solid"/>
          </a:ln>
        </p:spPr>
      </p:sp>
      <p:sp>
        <p:nvSpPr>
          <p:cNvPr id="26" name="Shape 24"/>
          <p:cNvSpPr/>
          <p:nvPr/>
        </p:nvSpPr>
        <p:spPr>
          <a:xfrm>
            <a:off x="6217920" y="1371600"/>
            <a:ext cx="2468880" cy="411480"/>
          </a:xfrm>
          <a:prstGeom prst="rect">
            <a:avLst/>
          </a:prstGeom>
          <a:solidFill>
            <a:srgbClr val="EAE5DC"/>
          </a:solidFill>
          <a:ln w="12700">
            <a:solidFill>
              <a:srgbClr val="E5E0D8"/>
            </a:solidFill>
            <a:prstDash val="solid"/>
          </a:ln>
        </p:spPr>
      </p:sp>
      <p:sp>
        <p:nvSpPr>
          <p:cNvPr id="27" name="Text 25"/>
          <p:cNvSpPr/>
          <p:nvPr/>
        </p:nvSpPr>
        <p:spPr>
          <a:xfrm>
            <a:off x="6309360" y="1371600"/>
            <a:ext cx="2286000" cy="411480"/>
          </a:xfrm>
          <a:prstGeom prst="rect">
            <a:avLst/>
          </a:prstGeom>
          <a:noFill/>
          <a:ln/>
        </p:spPr>
        <p:txBody>
          <a:bodyPr wrap="square" rtlCol="0" anchor="ctr"/>
          <a:lstStyle/>
          <a:p>
            <a:pPr algn="ctr" indent="0" marL="0">
              <a:buNone/>
            </a:pPr>
            <a:r>
              <a:rPr lang="en-US" sz="950" b="1" dirty="0">
                <a:solidFill>
                  <a:srgbClr val="1B4332"/>
                </a:solidFill>
                <a:latin typeface="Montserrat" pitchFamily="34" charset="0"/>
                <a:ea typeface="Montserrat" pitchFamily="34" charset="-122"/>
                <a:cs typeface="Montserrat" pitchFamily="34" charset="-120"/>
              </a:rPr>
              <a:t>TIER 3: Cloud &amp; Persistence</a:t>
            </a:r>
            <a:endParaRPr lang="en-US" sz="950" dirty="0"/>
          </a:p>
        </p:txBody>
      </p:sp>
      <p:sp>
        <p:nvSpPr>
          <p:cNvPr id="28" name="Text 26"/>
          <p:cNvSpPr/>
          <p:nvPr/>
        </p:nvSpPr>
        <p:spPr>
          <a:xfrm>
            <a:off x="6355080" y="1874520"/>
            <a:ext cx="2194560" cy="640080"/>
          </a:xfrm>
          <a:prstGeom prst="rect">
            <a:avLst/>
          </a:prstGeom>
          <a:noFill/>
          <a:ln/>
        </p:spPr>
        <p:txBody>
          <a:bodyPr wrap="square" rtlCol="0" anchor="ctr"/>
          <a:lstStyle/>
          <a:p>
            <a:pPr indent="0" marL="0">
              <a:buNone/>
            </a:pPr>
            <a:r>
              <a:rPr lang="en-US" sz="950" dirty="0">
                <a:solidFill>
                  <a:srgbClr val="5A5A54"/>
                </a:solidFill>
                <a:latin typeface="Inter" pitchFamily="34" charset="0"/>
                <a:ea typeface="Inter" pitchFamily="34" charset="-122"/>
                <a:cs typeface="Inter" pitchFamily="34" charset="-120"/>
              </a:rPr>
              <a:t>MongoDB Atlas cluster, Render Docker container, keepalive cron.</a:t>
            </a:r>
            <a:endParaRPr lang="en-US" sz="950" dirty="0"/>
          </a:p>
        </p:txBody>
      </p:sp>
      <p:sp>
        <p:nvSpPr>
          <p:cNvPr id="29" name="Shape 27"/>
          <p:cNvSpPr/>
          <p:nvPr/>
        </p:nvSpPr>
        <p:spPr>
          <a:xfrm>
            <a:off x="6400800" y="2606040"/>
            <a:ext cx="2103120" cy="0"/>
          </a:xfrm>
          <a:prstGeom prst="line">
            <a:avLst/>
          </a:prstGeom>
          <a:noFill/>
          <a:ln w="12700">
            <a:solidFill>
              <a:srgbClr val="E5E0D8"/>
            </a:solidFill>
            <a:prstDash val="solid"/>
          </a:ln>
        </p:spPr>
      </p:sp>
      <p:sp>
        <p:nvSpPr>
          <p:cNvPr id="30" name="Text 28"/>
          <p:cNvSpPr/>
          <p:nvPr/>
        </p:nvSpPr>
        <p:spPr>
          <a:xfrm>
            <a:off x="6355080" y="2697480"/>
            <a:ext cx="2194560" cy="228600"/>
          </a:xfrm>
          <a:prstGeom prst="rect">
            <a:avLst/>
          </a:prstGeom>
          <a:noFill/>
          <a:ln/>
        </p:spPr>
        <p:txBody>
          <a:bodyPr wrap="square" rtlCol="0" anchor="ctr"/>
          <a:lstStyle/>
          <a:p>
            <a:pPr indent="0" marL="0">
              <a:buNone/>
            </a:pPr>
            <a:r>
              <a:rPr lang="en-US" sz="850" b="1" dirty="0">
                <a:solidFill>
                  <a:srgbClr val="FFB702"/>
                </a:solidFill>
                <a:latin typeface="Montserrat" pitchFamily="34" charset="0"/>
                <a:ea typeface="Montserrat" pitchFamily="34" charset="-122"/>
                <a:cs typeface="Montserrat" pitchFamily="34" charset="-120"/>
              </a:rPr>
              <a:t>TEST COVERAGE APPLIED:</a:t>
            </a:r>
            <a:endParaRPr lang="en-US" sz="850" dirty="0"/>
          </a:p>
        </p:txBody>
      </p:sp>
      <p:sp>
        <p:nvSpPr>
          <p:cNvPr id="31" name="Text 29"/>
          <p:cNvSpPr/>
          <p:nvPr/>
        </p:nvSpPr>
        <p:spPr>
          <a:xfrm>
            <a:off x="6355080" y="2971800"/>
            <a:ext cx="2194560" cy="1554480"/>
          </a:xfrm>
          <a:prstGeom prst="rect">
            <a:avLst/>
          </a:prstGeom>
          <a:noFill/>
          <a:ln/>
        </p:spPr>
        <p:txBody>
          <a:bodyPr wrap="square" rtlCol="0" anchor="ctr"/>
          <a:lstStyle/>
          <a:p>
            <a:pPr indent="0" marL="0">
              <a:buNone/>
            </a:pPr>
            <a:r>
              <a:rPr lang="en-US" sz="950" dirty="0">
                <a:solidFill>
                  <a:srgbClr val="1C1C19"/>
                </a:solidFill>
                <a:latin typeface="Inter" pitchFamily="34" charset="0"/>
                <a:ea typeface="Inter" pitchFamily="34" charset="-122"/>
                <a:cs typeface="Inter" pitchFamily="34" charset="-120"/>
              </a:rPr>
              <a:t>• 9-Step E2E Lifecycle Flow</a:t>
            </a:r>
            <a:endParaRPr lang="en-US" sz="950" dirty="0"/>
          </a:p>
          <a:p>
            <a:pPr indent="0" marL="0">
              <a:buNone/>
            </a:pPr>
            <a:r>
              <a:rPr lang="en-US" sz="950" dirty="0">
                <a:solidFill>
                  <a:srgbClr val="1C1C19"/>
                </a:solidFill>
                <a:latin typeface="Inter" pitchFamily="34" charset="0"/>
                <a:ea typeface="Inter" pitchFamily="34" charset="-122"/>
                <a:cs typeface="Inter" pitchFamily="34" charset="-120"/>
              </a:rPr>
              <a:t>• Render /health Keepalive</a:t>
            </a:r>
            <a:endParaRPr lang="en-US" sz="950" dirty="0"/>
          </a:p>
          <a:p>
            <a:pPr indent="0" marL="0">
              <a:buNone/>
            </a:pPr>
            <a:r>
              <a:rPr lang="en-US" sz="950" dirty="0">
                <a:solidFill>
                  <a:srgbClr val="1C1C19"/>
                </a:solidFill>
                <a:latin typeface="Inter" pitchFamily="34" charset="0"/>
                <a:ea typeface="Inter" pitchFamily="34" charset="-122"/>
                <a:cs typeface="Inter" pitchFamily="34" charset="-120"/>
              </a:rPr>
              <a:t>• Atlas Network Connection Ping</a:t>
            </a:r>
            <a:endParaRPr lang="en-US" sz="950" dirty="0"/>
          </a:p>
          <a:p>
            <a:pPr indent="0" marL="0">
              <a:buNone/>
            </a:pPr>
            <a:r>
              <a:rPr lang="en-US" sz="950" dirty="0">
                <a:solidFill>
                  <a:srgbClr val="1C1C19"/>
                </a:solidFill>
                <a:latin typeface="Inter" pitchFamily="34" charset="0"/>
                <a:ea typeface="Inter" pitchFamily="34" charset="-122"/>
                <a:cs typeface="Inter" pitchFamily="34" charset="-120"/>
              </a:rPr>
              <a:t>• Demo User Seeding Guard</a:t>
            </a:r>
            <a:endParaRPr lang="en-US" sz="950" dirty="0"/>
          </a:p>
        </p:txBody>
      </p:sp>
      <p:sp>
        <p:nvSpPr>
          <p:cNvPr id="32" name="Shape 30"/>
          <p:cNvSpPr/>
          <p:nvPr/>
        </p:nvSpPr>
        <p:spPr>
          <a:xfrm>
            <a:off x="6355080" y="4572000"/>
            <a:ext cx="2194560" cy="292608"/>
          </a:xfrm>
          <a:prstGeom prst="rect">
            <a:avLst>
              <a:gd name="adj" fmla="val 18750"/>
            </a:avLst>
          </a:prstGeom>
          <a:solidFill>
            <a:srgbClr val="FCF9F4"/>
          </a:solidFill>
          <a:ln w="10160">
            <a:solidFill>
              <a:srgbClr val="D8D2C6"/>
            </a:solidFill>
            <a:prstDash val="solid"/>
          </a:ln>
        </p:spPr>
      </p:sp>
      <p:sp>
        <p:nvSpPr>
          <p:cNvPr id="33" name="Text 31"/>
          <p:cNvSpPr/>
          <p:nvPr/>
        </p:nvSpPr>
        <p:spPr>
          <a:xfrm>
            <a:off x="6355080" y="4572000"/>
            <a:ext cx="2194560" cy="292608"/>
          </a:xfrm>
          <a:prstGeom prst="rect">
            <a:avLst/>
          </a:prstGeom>
          <a:noFill/>
          <a:ln/>
        </p:spPr>
        <p:txBody>
          <a:bodyPr wrap="square" rtlCol="0" anchor="ctr"/>
          <a:lstStyle/>
          <a:p>
            <a:pPr algn="ctr" indent="0" marL="0">
              <a:buNone/>
            </a:pPr>
            <a:r>
              <a:rPr lang="en-US" sz="850" b="1" dirty="0">
                <a:solidFill>
                  <a:srgbClr val="1B4332"/>
                </a:solidFill>
                <a:latin typeface="Montserrat" pitchFamily="34" charset="0"/>
                <a:ea typeface="Montserrat" pitchFamily="34" charset="-122"/>
                <a:cs typeface="Montserrat" pitchFamily="34" charset="-120"/>
              </a:rPr>
              <a:t>System / Infrastructure</a:t>
            </a:r>
            <a:endParaRPr lang="en-US" sz="850" dirty="0"/>
          </a:p>
        </p:txBody>
      </p:sp>
      <p:sp>
        <p:nvSpPr>
          <p:cNvPr id="34" name="Shape 32"/>
          <p:cNvSpPr/>
          <p:nvPr/>
        </p:nvSpPr>
        <p:spPr>
          <a:xfrm>
            <a:off x="8961120" y="1371600"/>
            <a:ext cx="2468880" cy="3611880"/>
          </a:xfrm>
          <a:prstGeom prst="rect">
            <a:avLst>
              <a:gd name="adj" fmla="val 4444"/>
            </a:avLst>
          </a:prstGeom>
          <a:solidFill>
            <a:srgbClr val="FFFFFF"/>
          </a:solidFill>
          <a:ln w="19050">
            <a:solidFill>
              <a:srgbClr val="E5E0D8"/>
            </a:solidFill>
            <a:prstDash val="solid"/>
          </a:ln>
        </p:spPr>
      </p:sp>
      <p:sp>
        <p:nvSpPr>
          <p:cNvPr id="35" name="Shape 33"/>
          <p:cNvSpPr/>
          <p:nvPr/>
        </p:nvSpPr>
        <p:spPr>
          <a:xfrm>
            <a:off x="8961120" y="1371600"/>
            <a:ext cx="2468880" cy="411480"/>
          </a:xfrm>
          <a:prstGeom prst="rect">
            <a:avLst/>
          </a:prstGeom>
          <a:solidFill>
            <a:srgbClr val="EAE5DC"/>
          </a:solidFill>
          <a:ln w="12700">
            <a:solidFill>
              <a:srgbClr val="E5E0D8"/>
            </a:solidFill>
            <a:prstDash val="solid"/>
          </a:ln>
        </p:spPr>
      </p:sp>
      <p:sp>
        <p:nvSpPr>
          <p:cNvPr id="36" name="Text 34"/>
          <p:cNvSpPr/>
          <p:nvPr/>
        </p:nvSpPr>
        <p:spPr>
          <a:xfrm>
            <a:off x="9052560" y="1371600"/>
            <a:ext cx="2286000" cy="411480"/>
          </a:xfrm>
          <a:prstGeom prst="rect">
            <a:avLst/>
          </a:prstGeom>
          <a:noFill/>
          <a:ln/>
        </p:spPr>
        <p:txBody>
          <a:bodyPr wrap="square" rtlCol="0" anchor="ctr"/>
          <a:lstStyle/>
          <a:p>
            <a:pPr algn="ctr" indent="0" marL="0">
              <a:buNone/>
            </a:pPr>
            <a:r>
              <a:rPr lang="en-US" sz="950" b="1" dirty="0">
                <a:solidFill>
                  <a:srgbClr val="1B4332"/>
                </a:solidFill>
                <a:latin typeface="Montserrat" pitchFamily="34" charset="0"/>
                <a:ea typeface="Montserrat" pitchFamily="34" charset="-122"/>
                <a:cs typeface="Montserrat" pitchFamily="34" charset="-120"/>
              </a:rPr>
              <a:t>TIER 4: Intelligence &amp; ML</a:t>
            </a:r>
            <a:endParaRPr lang="en-US" sz="950" dirty="0"/>
          </a:p>
        </p:txBody>
      </p:sp>
      <p:sp>
        <p:nvSpPr>
          <p:cNvPr id="37" name="Text 35"/>
          <p:cNvSpPr/>
          <p:nvPr/>
        </p:nvSpPr>
        <p:spPr>
          <a:xfrm>
            <a:off x="9098280" y="1874520"/>
            <a:ext cx="2194560" cy="640080"/>
          </a:xfrm>
          <a:prstGeom prst="rect">
            <a:avLst/>
          </a:prstGeom>
          <a:noFill/>
          <a:ln/>
        </p:spPr>
        <p:txBody>
          <a:bodyPr wrap="square" rtlCol="0" anchor="ctr"/>
          <a:lstStyle/>
          <a:p>
            <a:pPr indent="0" marL="0">
              <a:buNone/>
            </a:pPr>
            <a:r>
              <a:rPr lang="en-US" sz="950" dirty="0">
                <a:solidFill>
                  <a:srgbClr val="5A5A54"/>
                </a:solidFill>
                <a:latin typeface="Inter" pitchFamily="34" charset="0"/>
                <a:ea typeface="Inter" pitchFamily="34" charset="-122"/>
                <a:cs typeface="Inter" pitchFamily="34" charset="-120"/>
              </a:rPr>
              <a:t>Nightly batch Prophet+GBDT, TSB intermittent prior, Gemini LLM.</a:t>
            </a:r>
            <a:endParaRPr lang="en-US" sz="950" dirty="0"/>
          </a:p>
        </p:txBody>
      </p:sp>
      <p:sp>
        <p:nvSpPr>
          <p:cNvPr id="38" name="Shape 36"/>
          <p:cNvSpPr/>
          <p:nvPr/>
        </p:nvSpPr>
        <p:spPr>
          <a:xfrm>
            <a:off x="9144000" y="2606040"/>
            <a:ext cx="2103120" cy="0"/>
          </a:xfrm>
          <a:prstGeom prst="line">
            <a:avLst/>
          </a:prstGeom>
          <a:noFill/>
          <a:ln w="12700">
            <a:solidFill>
              <a:srgbClr val="E5E0D8"/>
            </a:solidFill>
            <a:prstDash val="solid"/>
          </a:ln>
        </p:spPr>
      </p:sp>
      <p:sp>
        <p:nvSpPr>
          <p:cNvPr id="39" name="Text 37"/>
          <p:cNvSpPr/>
          <p:nvPr/>
        </p:nvSpPr>
        <p:spPr>
          <a:xfrm>
            <a:off x="9098280" y="2697480"/>
            <a:ext cx="2194560" cy="228600"/>
          </a:xfrm>
          <a:prstGeom prst="rect">
            <a:avLst/>
          </a:prstGeom>
          <a:noFill/>
          <a:ln/>
        </p:spPr>
        <p:txBody>
          <a:bodyPr wrap="square" rtlCol="0" anchor="ctr"/>
          <a:lstStyle/>
          <a:p>
            <a:pPr indent="0" marL="0">
              <a:buNone/>
            </a:pPr>
            <a:r>
              <a:rPr lang="en-US" sz="850" b="1" dirty="0">
                <a:solidFill>
                  <a:srgbClr val="FFB702"/>
                </a:solidFill>
                <a:latin typeface="Montserrat" pitchFamily="34" charset="0"/>
                <a:ea typeface="Montserrat" pitchFamily="34" charset="-122"/>
                <a:cs typeface="Montserrat" pitchFamily="34" charset="-120"/>
              </a:rPr>
              <a:t>TEST COVERAGE APPLIED:</a:t>
            </a:r>
            <a:endParaRPr lang="en-US" sz="850" dirty="0"/>
          </a:p>
        </p:txBody>
      </p:sp>
      <p:sp>
        <p:nvSpPr>
          <p:cNvPr id="40" name="Text 38"/>
          <p:cNvSpPr/>
          <p:nvPr/>
        </p:nvSpPr>
        <p:spPr>
          <a:xfrm>
            <a:off x="9098280" y="2971800"/>
            <a:ext cx="2194560" cy="1554480"/>
          </a:xfrm>
          <a:prstGeom prst="rect">
            <a:avLst/>
          </a:prstGeom>
          <a:noFill/>
          <a:ln/>
        </p:spPr>
        <p:txBody>
          <a:bodyPr wrap="square" rtlCol="0" anchor="ctr"/>
          <a:lstStyle/>
          <a:p>
            <a:pPr indent="0" marL="0">
              <a:buNone/>
            </a:pPr>
            <a:r>
              <a:rPr lang="en-US" sz="950" dirty="0">
                <a:solidFill>
                  <a:srgbClr val="1C1C19"/>
                </a:solidFill>
                <a:latin typeface="Inter" pitchFamily="34" charset="0"/>
                <a:ea typeface="Inter" pitchFamily="34" charset="-122"/>
                <a:cs typeface="Inter" pitchFamily="34" charset="-120"/>
              </a:rPr>
              <a:t>• 6-Fold Rolling Backtest</a:t>
            </a:r>
            <a:endParaRPr lang="en-US" sz="950" dirty="0"/>
          </a:p>
          <a:p>
            <a:pPr indent="0" marL="0">
              <a:buNone/>
            </a:pPr>
            <a:r>
              <a:rPr lang="en-US" sz="950" dirty="0">
                <a:solidFill>
                  <a:srgbClr val="1C1C19"/>
                </a:solidFill>
                <a:latin typeface="Inter" pitchFamily="34" charset="0"/>
                <a:ea typeface="Inter" pitchFamily="34" charset="-122"/>
                <a:cs typeface="Inter" pitchFamily="34" charset="-120"/>
              </a:rPr>
              <a:t>• Temporal Leakage Audit</a:t>
            </a:r>
            <a:endParaRPr lang="en-US" sz="950" dirty="0"/>
          </a:p>
          <a:p>
            <a:pPr indent="0" marL="0">
              <a:buNone/>
            </a:pPr>
            <a:r>
              <a:rPr lang="en-US" sz="950" dirty="0">
                <a:solidFill>
                  <a:srgbClr val="1C1C19"/>
                </a:solidFill>
                <a:latin typeface="Inter" pitchFamily="34" charset="0"/>
                <a:ea typeface="Inter" pitchFamily="34" charset="-122"/>
                <a:cs typeface="Inter" pitchFamily="34" charset="-120"/>
              </a:rPr>
              <a:t>• Zero-Math LLM Truth Audit</a:t>
            </a:r>
            <a:endParaRPr lang="en-US" sz="950" dirty="0"/>
          </a:p>
          <a:p>
            <a:pPr indent="0" marL="0">
              <a:buNone/>
            </a:pPr>
            <a:r>
              <a:rPr lang="en-US" sz="950" dirty="0">
                <a:solidFill>
                  <a:srgbClr val="1C1C19"/>
                </a:solidFill>
                <a:latin typeface="Inter" pitchFamily="34" charset="0"/>
                <a:ea typeface="Inter" pitchFamily="34" charset="-122"/>
                <a:cs typeface="Inter" pitchFamily="34" charset="-120"/>
              </a:rPr>
              <a:t>• 90-Day Inventory Simulation</a:t>
            </a:r>
            <a:endParaRPr lang="en-US" sz="950" dirty="0"/>
          </a:p>
        </p:txBody>
      </p:sp>
      <p:sp>
        <p:nvSpPr>
          <p:cNvPr id="41" name="Shape 39"/>
          <p:cNvSpPr/>
          <p:nvPr/>
        </p:nvSpPr>
        <p:spPr>
          <a:xfrm>
            <a:off x="9098280" y="4572000"/>
            <a:ext cx="2194560" cy="292608"/>
          </a:xfrm>
          <a:prstGeom prst="rect">
            <a:avLst>
              <a:gd name="adj" fmla="val 18750"/>
            </a:avLst>
          </a:prstGeom>
          <a:solidFill>
            <a:srgbClr val="FCF9F4"/>
          </a:solidFill>
          <a:ln w="10160">
            <a:solidFill>
              <a:srgbClr val="D8D2C6"/>
            </a:solidFill>
            <a:prstDash val="solid"/>
          </a:ln>
        </p:spPr>
      </p:sp>
      <p:sp>
        <p:nvSpPr>
          <p:cNvPr id="42" name="Text 40"/>
          <p:cNvSpPr/>
          <p:nvPr/>
        </p:nvSpPr>
        <p:spPr>
          <a:xfrm>
            <a:off x="9098280" y="4572000"/>
            <a:ext cx="2194560" cy="292608"/>
          </a:xfrm>
          <a:prstGeom prst="rect">
            <a:avLst/>
          </a:prstGeom>
          <a:noFill/>
          <a:ln/>
        </p:spPr>
        <p:txBody>
          <a:bodyPr wrap="square" rtlCol="0" anchor="ctr"/>
          <a:lstStyle/>
          <a:p>
            <a:pPr algn="ctr" indent="0" marL="0">
              <a:buNone/>
            </a:pPr>
            <a:r>
              <a:rPr lang="en-US" sz="850" b="1" dirty="0">
                <a:solidFill>
                  <a:srgbClr val="1B4332"/>
                </a:solidFill>
                <a:latin typeface="Montserrat" pitchFamily="34" charset="0"/>
                <a:ea typeface="Montserrat" pitchFamily="34" charset="-122"/>
                <a:cs typeface="Montserrat" pitchFamily="34" charset="-120"/>
              </a:rPr>
              <a:t>Empirical / Data Integrity</a:t>
            </a:r>
            <a:endParaRPr lang="en-US" sz="850" dirty="0"/>
          </a:p>
        </p:txBody>
      </p:sp>
      <p:sp>
        <p:nvSpPr>
          <p:cNvPr id="43" name="Text 41"/>
          <p:cNvSpPr/>
          <p:nvPr/>
        </p:nvSpPr>
        <p:spPr>
          <a:xfrm>
            <a:off x="731520" y="5166360"/>
            <a:ext cx="10698480" cy="1234440"/>
          </a:xfrm>
          <a:prstGeom prst="rect">
            <a:avLst/>
          </a:prstGeom>
          <a:noFill/>
          <a:ln/>
        </p:spPr>
        <p:txBody>
          <a:bodyPr wrap="square" rtlCol="0" anchor="t"/>
          <a:lstStyle/>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Decoupled Multi-Tier SUT: The Flutter mobile client acts as a zero-math presentation layer connected via REST to a FastAPI microservice, reading pre-computed batch forecasts while delegating text summaries to Gemini 2.5 Flash.</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Verification Surface Boundaries: Automated test suites isolate pure algorithms via unit tests, cross-provider synchronization via integration tests, and cloud API contracts via end-to-end multi-tenant isolation runs.</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Data Integrity Criticality: Inventory restock quantities, safety stock multipliers, and pricing markdowns require strict mathematical guarantees to prevent kitchen stockouts and retailer revenue loss.</a:t>
            </a:r>
            <a:endParaRPr lang="en-US" sz="1150" dirty="0"/>
          </a:p>
        </p:txBody>
      </p:sp>
      <p:sp>
        <p:nvSpPr>
          <p:cNvPr id="44" name="Text 42"/>
          <p:cNvSpPr/>
          <p:nvPr/>
        </p:nvSpPr>
        <p:spPr>
          <a:xfrm>
            <a:off x="731520" y="6419088"/>
            <a:ext cx="10698480" cy="228600"/>
          </a:xfrm>
          <a:prstGeom prst="rect">
            <a:avLst/>
          </a:prstGeom>
          <a:noFill/>
          <a:ln/>
        </p:spPr>
        <p:txBody>
          <a:bodyPr wrap="square" rtlCol="0" anchor="b"/>
          <a:lstStyle/>
          <a:p>
            <a:pPr indent="0" marL="0">
              <a:buNone/>
            </a:pPr>
            <a:r>
              <a:rPr lang="en-US" sz="850" i="1" dirty="0">
                <a:solidFill>
                  <a:srgbClr val="5A5A54"/>
                </a:solidFill>
                <a:latin typeface="Inter" pitchFamily="34" charset="0"/>
                <a:ea typeface="Inter" pitchFamily="34" charset="-122"/>
                <a:cs typeface="Inter" pitchFamily="34" charset="-120"/>
              </a:rPr>
              <a:t>Evidence Source: Architectural blueprint in docs/architecture/Overall_Architecture_Plan.md; Backend routes in Backend/main.py.</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9F4"/>
        </a:solidFill>
      </p:bgPr>
    </p:bg>
    <p:spTree>
      <p:nvGrpSpPr>
        <p:cNvPr id="1" name=""/>
        <p:cNvGrpSpPr/>
        <p:nvPr/>
      </p:nvGrpSpPr>
      <p:grpSpPr>
        <a:xfrm>
          <a:off x="0" y="0"/>
          <a:ext cx="0" cy="0"/>
          <a:chOff x="0" y="0"/>
          <a:chExt cx="0" cy="0"/>
        </a:xfrm>
      </p:grpSpPr>
      <p:sp>
        <p:nvSpPr>
          <p:cNvPr id="2" name="Shape 0"/>
          <p:cNvSpPr/>
          <p:nvPr/>
        </p:nvSpPr>
        <p:spPr>
          <a:xfrm>
            <a:off x="731520" y="320040"/>
            <a:ext cx="2194560" cy="274320"/>
          </a:xfrm>
          <a:prstGeom prst="rect">
            <a:avLst>
              <a:gd name="adj" fmla="val 20000"/>
            </a:avLst>
          </a:prstGeom>
          <a:solidFill>
            <a:srgbClr val="EAE5DC"/>
          </a:solidFill>
          <a:ln w="12700">
            <a:solidFill>
              <a:srgbClr val="E5E0D8"/>
            </a:solidFill>
            <a:prstDash val="solid"/>
          </a:ln>
        </p:spPr>
      </p:sp>
      <p:sp>
        <p:nvSpPr>
          <p:cNvPr id="3" name="Text 1"/>
          <p:cNvSpPr/>
          <p:nvPr/>
        </p:nvSpPr>
        <p:spPr>
          <a:xfrm>
            <a:off x="731520" y="320040"/>
            <a:ext cx="2194560" cy="274320"/>
          </a:xfrm>
          <a:prstGeom prst="rect">
            <a:avLst/>
          </a:prstGeom>
          <a:noFill/>
          <a:ln/>
        </p:spPr>
        <p:txBody>
          <a:bodyPr wrap="square" rtlCol="0" anchor="ctr"/>
          <a:lstStyle/>
          <a:p>
            <a:pPr algn="ctr" indent="0" marL="0">
              <a:buNone/>
            </a:pPr>
            <a:r>
              <a:rPr lang="en-US" sz="850" b="1" dirty="0">
                <a:solidFill>
                  <a:srgbClr val="1B4332"/>
                </a:solidFill>
                <a:latin typeface="Montserrat" pitchFamily="34" charset="0"/>
                <a:ea typeface="Montserrat" pitchFamily="34" charset="-122"/>
                <a:cs typeface="Montserrat" pitchFamily="34" charset="-120"/>
              </a:rPr>
              <a:t>UNIT 1: FUNDAMENTALS</a:t>
            </a:r>
            <a:endParaRPr lang="en-US" sz="850" dirty="0"/>
          </a:p>
        </p:txBody>
      </p:sp>
      <p:sp>
        <p:nvSpPr>
          <p:cNvPr id="4" name="Text 2"/>
          <p:cNvSpPr/>
          <p:nvPr/>
        </p:nvSpPr>
        <p:spPr>
          <a:xfrm>
            <a:off x="10058400" y="320040"/>
            <a:ext cx="1371600" cy="274320"/>
          </a:xfrm>
          <a:prstGeom prst="rect">
            <a:avLst/>
          </a:prstGeom>
          <a:noFill/>
          <a:ln/>
        </p:spPr>
        <p:txBody>
          <a:bodyPr wrap="square" rtlCol="0" anchor="ctr"/>
          <a:lstStyle/>
          <a:p>
            <a:pPr algn="r" indent="0" marL="0">
              <a:buNone/>
            </a:pPr>
            <a:r>
              <a:rPr lang="en-US" sz="900" b="1" dirty="0">
                <a:solidFill>
                  <a:srgbClr val="5A5A54"/>
                </a:solidFill>
                <a:latin typeface="Montserrat" pitchFamily="34" charset="0"/>
                <a:ea typeface="Montserrat" pitchFamily="34" charset="-122"/>
                <a:cs typeface="Montserrat" pitchFamily="34" charset="-120"/>
              </a:rPr>
              <a:t>SLIDE 3 / 15</a:t>
            </a:r>
            <a:endParaRPr lang="en-US" sz="900" dirty="0"/>
          </a:p>
        </p:txBody>
      </p:sp>
      <p:sp>
        <p:nvSpPr>
          <p:cNvPr id="5" name="Text 3"/>
          <p:cNvSpPr/>
          <p:nvPr/>
        </p:nvSpPr>
        <p:spPr>
          <a:xfrm>
            <a:off x="731520" y="658368"/>
            <a:ext cx="10698480" cy="475488"/>
          </a:xfrm>
          <a:prstGeom prst="rect">
            <a:avLst/>
          </a:prstGeom>
          <a:noFill/>
          <a:ln/>
        </p:spPr>
        <p:txBody>
          <a:bodyPr wrap="square" rtlCol="0" anchor="ctr"/>
          <a:lstStyle/>
          <a:p>
            <a:pPr indent="0" marL="0">
              <a:buNone/>
            </a:pPr>
            <a:r>
              <a:rPr lang="en-US" sz="2000" b="1" dirty="0">
                <a:solidFill>
                  <a:srgbClr val="1B4332"/>
                </a:solidFill>
                <a:latin typeface="Montserrat" pitchFamily="34" charset="0"/>
                <a:ea typeface="Montserrat" pitchFamily="34" charset="-122"/>
                <a:cs typeface="Montserrat" pitchFamily="34" charset="-120"/>
              </a:rPr>
              <a:t>Testing Strategy: V-Model Traceability &amp; Test Pyramid</a:t>
            </a:r>
            <a:endParaRPr lang="en-US" sz="2000" dirty="0"/>
          </a:p>
        </p:txBody>
      </p:sp>
      <p:sp>
        <p:nvSpPr>
          <p:cNvPr id="6" name="Shape 4"/>
          <p:cNvSpPr/>
          <p:nvPr/>
        </p:nvSpPr>
        <p:spPr>
          <a:xfrm>
            <a:off x="731520" y="1170432"/>
            <a:ext cx="10698480" cy="0"/>
          </a:xfrm>
          <a:prstGeom prst="line">
            <a:avLst/>
          </a:prstGeom>
          <a:noFill/>
          <a:ln w="12700">
            <a:solidFill>
              <a:srgbClr val="E5E0D8"/>
            </a:solidFill>
            <a:prstDash val="solid"/>
          </a:ln>
        </p:spPr>
      </p:sp>
      <p:sp>
        <p:nvSpPr>
          <p:cNvPr id="7" name="Shape 5"/>
          <p:cNvSpPr/>
          <p:nvPr/>
        </p:nvSpPr>
        <p:spPr>
          <a:xfrm>
            <a:off x="731520" y="1371600"/>
            <a:ext cx="5669280" cy="3611880"/>
          </a:xfrm>
          <a:prstGeom prst="rect">
            <a:avLst>
              <a:gd name="adj" fmla="val 3038"/>
            </a:avLst>
          </a:prstGeom>
          <a:solidFill>
            <a:srgbClr val="FFFFFF"/>
          </a:solidFill>
          <a:ln w="19050">
            <a:solidFill>
              <a:srgbClr val="E5E0D8"/>
            </a:solidFill>
            <a:prstDash val="solid"/>
          </a:ln>
        </p:spPr>
      </p:sp>
      <p:sp>
        <p:nvSpPr>
          <p:cNvPr id="8" name="Text 6"/>
          <p:cNvSpPr/>
          <p:nvPr/>
        </p:nvSpPr>
        <p:spPr>
          <a:xfrm>
            <a:off x="914400" y="1508760"/>
            <a:ext cx="5303520" cy="256032"/>
          </a:xfrm>
          <a:prstGeom prst="rect">
            <a:avLst/>
          </a:prstGeom>
          <a:noFill/>
          <a:ln/>
        </p:spPr>
        <p:txBody>
          <a:bodyPr wrap="square" rtlCol="0" anchor="ctr"/>
          <a:lstStyle/>
          <a:p>
            <a:pPr indent="0" marL="0">
              <a:buNone/>
            </a:pPr>
            <a:r>
              <a:rPr lang="en-US" sz="1000" b="1" dirty="0">
                <a:solidFill>
                  <a:srgbClr val="1B4332"/>
                </a:solidFill>
                <a:latin typeface="Montserrat" pitchFamily="34" charset="0"/>
                <a:ea typeface="Montserrat" pitchFamily="34" charset="-122"/>
                <a:cs typeface="Montserrat" pitchFamily="34" charset="-120"/>
              </a:rPr>
              <a:t>V-MODEL SPECIFICATION &amp; VERIFICATION TRACEABILITY</a:t>
            </a:r>
            <a:endParaRPr lang="en-US" sz="1000" dirty="0"/>
          </a:p>
        </p:txBody>
      </p:sp>
      <p:sp>
        <p:nvSpPr>
          <p:cNvPr id="9" name="Shape 7"/>
          <p:cNvSpPr/>
          <p:nvPr/>
        </p:nvSpPr>
        <p:spPr>
          <a:xfrm>
            <a:off x="914400" y="1874520"/>
            <a:ext cx="2423160" cy="420624"/>
          </a:xfrm>
          <a:prstGeom prst="rect">
            <a:avLst>
              <a:gd name="adj" fmla="val 10870"/>
            </a:avLst>
          </a:prstGeom>
          <a:solidFill>
            <a:srgbClr val="EAE5DC"/>
          </a:solidFill>
          <a:ln w="10160">
            <a:solidFill>
              <a:srgbClr val="D8D2C6"/>
            </a:solidFill>
            <a:prstDash val="solid"/>
          </a:ln>
        </p:spPr>
      </p:sp>
      <p:sp>
        <p:nvSpPr>
          <p:cNvPr id="10" name="Text 8"/>
          <p:cNvSpPr/>
          <p:nvPr/>
        </p:nvSpPr>
        <p:spPr>
          <a:xfrm>
            <a:off x="960120" y="1874520"/>
            <a:ext cx="2331720" cy="420624"/>
          </a:xfrm>
          <a:prstGeom prst="rect">
            <a:avLst/>
          </a:prstGeom>
          <a:noFill/>
          <a:ln/>
        </p:spPr>
        <p:txBody>
          <a:bodyPr wrap="square" rtlCol="0" anchor="ctr"/>
          <a:lstStyle/>
          <a:p>
            <a:pPr indent="0" marL="0">
              <a:buNone/>
            </a:pPr>
            <a:r>
              <a:rPr lang="en-US" sz="850" dirty="0">
                <a:solidFill>
                  <a:srgbClr val="1B4332"/>
                </a:solidFill>
                <a:latin typeface="Inter" pitchFamily="34" charset="0"/>
                <a:ea typeface="Inter" pitchFamily="34" charset="-122"/>
                <a:cs typeface="Inter" pitchFamily="34" charset="-120"/>
              </a:rPr>
              <a:t>Business Goals (Waste &amp; Stockout Mitigation)</a:t>
            </a:r>
            <a:endParaRPr lang="en-US" sz="850" dirty="0"/>
          </a:p>
        </p:txBody>
      </p:sp>
      <p:sp>
        <p:nvSpPr>
          <p:cNvPr id="11" name="Text 9"/>
          <p:cNvSpPr/>
          <p:nvPr/>
        </p:nvSpPr>
        <p:spPr>
          <a:xfrm>
            <a:off x="3383280" y="1874520"/>
            <a:ext cx="320040" cy="420624"/>
          </a:xfrm>
          <a:prstGeom prst="rect">
            <a:avLst/>
          </a:prstGeom>
          <a:noFill/>
          <a:ln/>
        </p:spPr>
        <p:txBody>
          <a:bodyPr wrap="square" rtlCol="0" anchor="ctr"/>
          <a:lstStyle/>
          <a:p>
            <a:pPr algn="ctr" indent="0" marL="0">
              <a:buNone/>
            </a:pPr>
            <a:r>
              <a:rPr lang="en-US" sz="1100" b="1" dirty="0">
                <a:solidFill>
                  <a:srgbClr val="FFB702"/>
                </a:solidFill>
                <a:latin typeface="Montserrat" pitchFamily="34" charset="0"/>
                <a:ea typeface="Montserrat" pitchFamily="34" charset="-122"/>
                <a:cs typeface="Montserrat" pitchFamily="34" charset="-120"/>
              </a:rPr>
              <a:t>⟷</a:t>
            </a:r>
            <a:endParaRPr lang="en-US" sz="1100" dirty="0"/>
          </a:p>
        </p:txBody>
      </p:sp>
      <p:sp>
        <p:nvSpPr>
          <p:cNvPr id="12" name="Shape 10"/>
          <p:cNvSpPr/>
          <p:nvPr/>
        </p:nvSpPr>
        <p:spPr>
          <a:xfrm>
            <a:off x="3749040" y="1874520"/>
            <a:ext cx="2468880" cy="420624"/>
          </a:xfrm>
          <a:prstGeom prst="rect">
            <a:avLst>
              <a:gd name="adj" fmla="val 10870"/>
            </a:avLst>
          </a:prstGeom>
          <a:solidFill>
            <a:srgbClr val="FCF9F4"/>
          </a:solidFill>
          <a:ln w="10160">
            <a:solidFill>
              <a:srgbClr val="D8D2C6"/>
            </a:solidFill>
            <a:prstDash val="solid"/>
          </a:ln>
        </p:spPr>
      </p:sp>
      <p:sp>
        <p:nvSpPr>
          <p:cNvPr id="13" name="Text 11"/>
          <p:cNvSpPr/>
          <p:nvPr/>
        </p:nvSpPr>
        <p:spPr>
          <a:xfrm>
            <a:off x="3794760" y="1874520"/>
            <a:ext cx="2377440" cy="420624"/>
          </a:xfrm>
          <a:prstGeom prst="rect">
            <a:avLst/>
          </a:prstGeom>
          <a:noFill/>
          <a:ln/>
        </p:spPr>
        <p:txBody>
          <a:bodyPr wrap="square" rtlCol="0" anchor="ctr"/>
          <a:lstStyle/>
          <a:p>
            <a:pPr indent="0" marL="0">
              <a:buNone/>
            </a:pPr>
            <a:r>
              <a:rPr lang="en-US" sz="850" dirty="0">
                <a:solidFill>
                  <a:srgbClr val="1C1C19"/>
                </a:solidFill>
                <a:latin typeface="Inter" pitchFamily="34" charset="0"/>
                <a:ea typeface="Inter" pitchFamily="34" charset="-122"/>
                <a:cs typeface="Inter" pitchFamily="34" charset="-120"/>
              </a:rPr>
              <a:t>Physical Android Walkthrough &amp; 90-Day Simulation</a:t>
            </a:r>
            <a:endParaRPr lang="en-US" sz="850" dirty="0"/>
          </a:p>
        </p:txBody>
      </p:sp>
      <p:sp>
        <p:nvSpPr>
          <p:cNvPr id="14" name="Shape 12"/>
          <p:cNvSpPr/>
          <p:nvPr/>
        </p:nvSpPr>
        <p:spPr>
          <a:xfrm>
            <a:off x="914400" y="2423160"/>
            <a:ext cx="2423160" cy="420624"/>
          </a:xfrm>
          <a:prstGeom prst="rect">
            <a:avLst>
              <a:gd name="adj" fmla="val 10870"/>
            </a:avLst>
          </a:prstGeom>
          <a:solidFill>
            <a:srgbClr val="EAE5DC"/>
          </a:solidFill>
          <a:ln w="10160">
            <a:solidFill>
              <a:srgbClr val="D8D2C6"/>
            </a:solidFill>
            <a:prstDash val="solid"/>
          </a:ln>
        </p:spPr>
      </p:sp>
      <p:sp>
        <p:nvSpPr>
          <p:cNvPr id="15" name="Text 13"/>
          <p:cNvSpPr/>
          <p:nvPr/>
        </p:nvSpPr>
        <p:spPr>
          <a:xfrm>
            <a:off x="960120" y="2423160"/>
            <a:ext cx="2331720" cy="420624"/>
          </a:xfrm>
          <a:prstGeom prst="rect">
            <a:avLst/>
          </a:prstGeom>
          <a:noFill/>
          <a:ln/>
        </p:spPr>
        <p:txBody>
          <a:bodyPr wrap="square" rtlCol="0" anchor="ctr"/>
          <a:lstStyle/>
          <a:p>
            <a:pPr indent="0" marL="0">
              <a:buNone/>
            </a:pPr>
            <a:r>
              <a:rPr lang="en-US" sz="850" dirty="0">
                <a:solidFill>
                  <a:srgbClr val="1B4332"/>
                </a:solidFill>
                <a:latin typeface="Inter" pitchFamily="34" charset="0"/>
                <a:ea typeface="Inter" pitchFamily="34" charset="-122"/>
                <a:cs typeface="Inter" pitchFamily="34" charset="-120"/>
              </a:rPr>
              <a:t>System Architecture (Multi-Tenant Microservice)</a:t>
            </a:r>
            <a:endParaRPr lang="en-US" sz="850" dirty="0"/>
          </a:p>
        </p:txBody>
      </p:sp>
      <p:sp>
        <p:nvSpPr>
          <p:cNvPr id="16" name="Text 14"/>
          <p:cNvSpPr/>
          <p:nvPr/>
        </p:nvSpPr>
        <p:spPr>
          <a:xfrm>
            <a:off x="3383280" y="2423160"/>
            <a:ext cx="320040" cy="420624"/>
          </a:xfrm>
          <a:prstGeom prst="rect">
            <a:avLst/>
          </a:prstGeom>
          <a:noFill/>
          <a:ln/>
        </p:spPr>
        <p:txBody>
          <a:bodyPr wrap="square" rtlCol="0" anchor="ctr"/>
          <a:lstStyle/>
          <a:p>
            <a:pPr algn="ctr" indent="0" marL="0">
              <a:buNone/>
            </a:pPr>
            <a:r>
              <a:rPr lang="en-US" sz="1100" b="1" dirty="0">
                <a:solidFill>
                  <a:srgbClr val="FFB702"/>
                </a:solidFill>
                <a:latin typeface="Montserrat" pitchFamily="34" charset="0"/>
                <a:ea typeface="Montserrat" pitchFamily="34" charset="-122"/>
                <a:cs typeface="Montserrat" pitchFamily="34" charset="-120"/>
              </a:rPr>
              <a:t>⟷</a:t>
            </a:r>
            <a:endParaRPr lang="en-US" sz="1100" dirty="0"/>
          </a:p>
        </p:txBody>
      </p:sp>
      <p:sp>
        <p:nvSpPr>
          <p:cNvPr id="17" name="Shape 15"/>
          <p:cNvSpPr/>
          <p:nvPr/>
        </p:nvSpPr>
        <p:spPr>
          <a:xfrm>
            <a:off x="3749040" y="2423160"/>
            <a:ext cx="2468880" cy="420624"/>
          </a:xfrm>
          <a:prstGeom prst="rect">
            <a:avLst>
              <a:gd name="adj" fmla="val 10870"/>
            </a:avLst>
          </a:prstGeom>
          <a:solidFill>
            <a:srgbClr val="FCF9F4"/>
          </a:solidFill>
          <a:ln w="10160">
            <a:solidFill>
              <a:srgbClr val="D8D2C6"/>
            </a:solidFill>
            <a:prstDash val="solid"/>
          </a:ln>
        </p:spPr>
      </p:sp>
      <p:sp>
        <p:nvSpPr>
          <p:cNvPr id="18" name="Text 16"/>
          <p:cNvSpPr/>
          <p:nvPr/>
        </p:nvSpPr>
        <p:spPr>
          <a:xfrm>
            <a:off x="3794760" y="2423160"/>
            <a:ext cx="2377440" cy="420624"/>
          </a:xfrm>
          <a:prstGeom prst="rect">
            <a:avLst/>
          </a:prstGeom>
          <a:noFill/>
          <a:ln/>
        </p:spPr>
        <p:txBody>
          <a:bodyPr wrap="square" rtlCol="0" anchor="ctr"/>
          <a:lstStyle/>
          <a:p>
            <a:pPr indent="0" marL="0">
              <a:buNone/>
            </a:pPr>
            <a:r>
              <a:rPr lang="en-US" sz="850" dirty="0">
                <a:solidFill>
                  <a:srgbClr val="1C1C19"/>
                </a:solidFill>
                <a:latin typeface="Inter" pitchFamily="34" charset="0"/>
                <a:ea typeface="Inter" pitchFamily="34" charset="-122"/>
                <a:cs typeface="Inter" pitchFamily="34" charset="-120"/>
              </a:rPr>
              <a:t>9-Step E2E Lifecycle Flow &amp; Keepalive Pings</a:t>
            </a:r>
            <a:endParaRPr lang="en-US" sz="850" dirty="0"/>
          </a:p>
        </p:txBody>
      </p:sp>
      <p:sp>
        <p:nvSpPr>
          <p:cNvPr id="19" name="Shape 17"/>
          <p:cNvSpPr/>
          <p:nvPr/>
        </p:nvSpPr>
        <p:spPr>
          <a:xfrm>
            <a:off x="914400" y="2971800"/>
            <a:ext cx="2423160" cy="420624"/>
          </a:xfrm>
          <a:prstGeom prst="rect">
            <a:avLst>
              <a:gd name="adj" fmla="val 10870"/>
            </a:avLst>
          </a:prstGeom>
          <a:solidFill>
            <a:srgbClr val="EAE5DC"/>
          </a:solidFill>
          <a:ln w="10160">
            <a:solidFill>
              <a:srgbClr val="D8D2C6"/>
            </a:solidFill>
            <a:prstDash val="solid"/>
          </a:ln>
        </p:spPr>
      </p:sp>
      <p:sp>
        <p:nvSpPr>
          <p:cNvPr id="20" name="Text 18"/>
          <p:cNvSpPr/>
          <p:nvPr/>
        </p:nvSpPr>
        <p:spPr>
          <a:xfrm>
            <a:off x="960120" y="2971800"/>
            <a:ext cx="2331720" cy="420624"/>
          </a:xfrm>
          <a:prstGeom prst="rect">
            <a:avLst/>
          </a:prstGeom>
          <a:noFill/>
          <a:ln/>
        </p:spPr>
        <p:txBody>
          <a:bodyPr wrap="square" rtlCol="0" anchor="ctr"/>
          <a:lstStyle/>
          <a:p>
            <a:pPr indent="0" marL="0">
              <a:buNone/>
            </a:pPr>
            <a:r>
              <a:rPr lang="en-US" sz="850" dirty="0">
                <a:solidFill>
                  <a:srgbClr val="1B4332"/>
                </a:solidFill>
                <a:latin typeface="Inter" pitchFamily="34" charset="0"/>
                <a:ea typeface="Inter" pitchFamily="34" charset="-122"/>
                <a:cs typeface="Inter" pitchFamily="34" charset="-120"/>
              </a:rPr>
              <a:t>Module Design (State Sync &amp; Rate Limiting)</a:t>
            </a:r>
            <a:endParaRPr lang="en-US" sz="850" dirty="0"/>
          </a:p>
        </p:txBody>
      </p:sp>
      <p:sp>
        <p:nvSpPr>
          <p:cNvPr id="21" name="Text 19"/>
          <p:cNvSpPr/>
          <p:nvPr/>
        </p:nvSpPr>
        <p:spPr>
          <a:xfrm>
            <a:off x="3383280" y="2971800"/>
            <a:ext cx="320040" cy="420624"/>
          </a:xfrm>
          <a:prstGeom prst="rect">
            <a:avLst/>
          </a:prstGeom>
          <a:noFill/>
          <a:ln/>
        </p:spPr>
        <p:txBody>
          <a:bodyPr wrap="square" rtlCol="0" anchor="ctr"/>
          <a:lstStyle/>
          <a:p>
            <a:pPr algn="ctr" indent="0" marL="0">
              <a:buNone/>
            </a:pPr>
            <a:r>
              <a:rPr lang="en-US" sz="1100" b="1" dirty="0">
                <a:solidFill>
                  <a:srgbClr val="FFB702"/>
                </a:solidFill>
                <a:latin typeface="Montserrat" pitchFamily="34" charset="0"/>
                <a:ea typeface="Montserrat" pitchFamily="34" charset="-122"/>
                <a:cs typeface="Montserrat" pitchFamily="34" charset="-120"/>
              </a:rPr>
              <a:t>⟷</a:t>
            </a:r>
            <a:endParaRPr lang="en-US" sz="1100" dirty="0"/>
          </a:p>
        </p:txBody>
      </p:sp>
      <p:sp>
        <p:nvSpPr>
          <p:cNvPr id="22" name="Shape 20"/>
          <p:cNvSpPr/>
          <p:nvPr/>
        </p:nvSpPr>
        <p:spPr>
          <a:xfrm>
            <a:off x="3749040" y="2971800"/>
            <a:ext cx="2468880" cy="420624"/>
          </a:xfrm>
          <a:prstGeom prst="rect">
            <a:avLst>
              <a:gd name="adj" fmla="val 10870"/>
            </a:avLst>
          </a:prstGeom>
          <a:solidFill>
            <a:srgbClr val="FCF9F4"/>
          </a:solidFill>
          <a:ln w="10160">
            <a:solidFill>
              <a:srgbClr val="D8D2C6"/>
            </a:solidFill>
            <a:prstDash val="solid"/>
          </a:ln>
        </p:spPr>
      </p:sp>
      <p:sp>
        <p:nvSpPr>
          <p:cNvPr id="23" name="Text 21"/>
          <p:cNvSpPr/>
          <p:nvPr/>
        </p:nvSpPr>
        <p:spPr>
          <a:xfrm>
            <a:off x="3794760" y="2971800"/>
            <a:ext cx="2377440" cy="420624"/>
          </a:xfrm>
          <a:prstGeom prst="rect">
            <a:avLst/>
          </a:prstGeom>
          <a:noFill/>
          <a:ln/>
        </p:spPr>
        <p:txBody>
          <a:bodyPr wrap="square" rtlCol="0" anchor="ctr"/>
          <a:lstStyle/>
          <a:p>
            <a:pPr indent="0" marL="0">
              <a:buNone/>
            </a:pPr>
            <a:r>
              <a:rPr lang="en-US" sz="850" dirty="0">
                <a:solidFill>
                  <a:srgbClr val="1C1C19"/>
                </a:solidFill>
                <a:latin typeface="Inter" pitchFamily="34" charset="0"/>
                <a:ea typeface="Inter" pitchFamily="34" charset="-122"/>
                <a:cs typeface="Inter" pitchFamily="34" charset="-120"/>
              </a:rPr>
              <a:t>Cross-Provider Integration &amp; Spoofing Suites</a:t>
            </a:r>
            <a:endParaRPr lang="en-US" sz="850" dirty="0"/>
          </a:p>
        </p:txBody>
      </p:sp>
      <p:sp>
        <p:nvSpPr>
          <p:cNvPr id="24" name="Shape 22"/>
          <p:cNvSpPr/>
          <p:nvPr/>
        </p:nvSpPr>
        <p:spPr>
          <a:xfrm>
            <a:off x="914400" y="3520440"/>
            <a:ext cx="2423160" cy="420624"/>
          </a:xfrm>
          <a:prstGeom prst="rect">
            <a:avLst>
              <a:gd name="adj" fmla="val 10870"/>
            </a:avLst>
          </a:prstGeom>
          <a:solidFill>
            <a:srgbClr val="EAE5DC"/>
          </a:solidFill>
          <a:ln w="10160">
            <a:solidFill>
              <a:srgbClr val="D8D2C6"/>
            </a:solidFill>
            <a:prstDash val="solid"/>
          </a:ln>
        </p:spPr>
      </p:sp>
      <p:sp>
        <p:nvSpPr>
          <p:cNvPr id="25" name="Text 23"/>
          <p:cNvSpPr/>
          <p:nvPr/>
        </p:nvSpPr>
        <p:spPr>
          <a:xfrm>
            <a:off x="960120" y="3520440"/>
            <a:ext cx="2331720" cy="420624"/>
          </a:xfrm>
          <a:prstGeom prst="rect">
            <a:avLst/>
          </a:prstGeom>
          <a:noFill/>
          <a:ln/>
        </p:spPr>
        <p:txBody>
          <a:bodyPr wrap="square" rtlCol="0" anchor="ctr"/>
          <a:lstStyle/>
          <a:p>
            <a:pPr indent="0" marL="0">
              <a:buNone/>
            </a:pPr>
            <a:r>
              <a:rPr lang="en-US" sz="850" dirty="0">
                <a:solidFill>
                  <a:srgbClr val="1B4332"/>
                </a:solidFill>
                <a:latin typeface="Inter" pitchFamily="34" charset="0"/>
                <a:ea typeface="Inter" pitchFamily="34" charset="-122"/>
                <a:cs typeface="Inter" pitchFamily="34" charset="-120"/>
              </a:rPr>
              <a:t>Component Specs (Waste Action Decision Table)</a:t>
            </a:r>
            <a:endParaRPr lang="en-US" sz="850" dirty="0"/>
          </a:p>
        </p:txBody>
      </p:sp>
      <p:sp>
        <p:nvSpPr>
          <p:cNvPr id="26" name="Text 24"/>
          <p:cNvSpPr/>
          <p:nvPr/>
        </p:nvSpPr>
        <p:spPr>
          <a:xfrm>
            <a:off x="3383280" y="3520440"/>
            <a:ext cx="320040" cy="420624"/>
          </a:xfrm>
          <a:prstGeom prst="rect">
            <a:avLst/>
          </a:prstGeom>
          <a:noFill/>
          <a:ln/>
        </p:spPr>
        <p:txBody>
          <a:bodyPr wrap="square" rtlCol="0" anchor="ctr"/>
          <a:lstStyle/>
          <a:p>
            <a:pPr algn="ctr" indent="0" marL="0">
              <a:buNone/>
            </a:pPr>
            <a:r>
              <a:rPr lang="en-US" sz="1100" b="1" dirty="0">
                <a:solidFill>
                  <a:srgbClr val="FFB702"/>
                </a:solidFill>
                <a:latin typeface="Montserrat" pitchFamily="34" charset="0"/>
                <a:ea typeface="Montserrat" pitchFamily="34" charset="-122"/>
                <a:cs typeface="Montserrat" pitchFamily="34" charset="-120"/>
              </a:rPr>
              <a:t>⟷</a:t>
            </a:r>
            <a:endParaRPr lang="en-US" sz="1100" dirty="0"/>
          </a:p>
        </p:txBody>
      </p:sp>
      <p:sp>
        <p:nvSpPr>
          <p:cNvPr id="27" name="Shape 25"/>
          <p:cNvSpPr/>
          <p:nvPr/>
        </p:nvSpPr>
        <p:spPr>
          <a:xfrm>
            <a:off x="3749040" y="3520440"/>
            <a:ext cx="2468880" cy="420624"/>
          </a:xfrm>
          <a:prstGeom prst="rect">
            <a:avLst>
              <a:gd name="adj" fmla="val 10870"/>
            </a:avLst>
          </a:prstGeom>
          <a:solidFill>
            <a:srgbClr val="FCF9F4"/>
          </a:solidFill>
          <a:ln w="10160">
            <a:solidFill>
              <a:srgbClr val="D8D2C6"/>
            </a:solidFill>
            <a:prstDash val="solid"/>
          </a:ln>
        </p:spPr>
      </p:sp>
      <p:sp>
        <p:nvSpPr>
          <p:cNvPr id="28" name="Text 26"/>
          <p:cNvSpPr/>
          <p:nvPr/>
        </p:nvSpPr>
        <p:spPr>
          <a:xfrm>
            <a:off x="3794760" y="3520440"/>
            <a:ext cx="2377440" cy="420624"/>
          </a:xfrm>
          <a:prstGeom prst="rect">
            <a:avLst/>
          </a:prstGeom>
          <a:noFill/>
          <a:ln/>
        </p:spPr>
        <p:txBody>
          <a:bodyPr wrap="square" rtlCol="0" anchor="ctr"/>
          <a:lstStyle/>
          <a:p>
            <a:pPr indent="0" marL="0">
              <a:buNone/>
            </a:pPr>
            <a:r>
              <a:rPr lang="en-US" sz="850" dirty="0">
                <a:solidFill>
                  <a:srgbClr val="1C1C19"/>
                </a:solidFill>
                <a:latin typeface="Inter" pitchFamily="34" charset="0"/>
                <a:ea typeface="Inter" pitchFamily="34" charset="-122"/>
                <a:cs typeface="Inter" pitchFamily="34" charset="-120"/>
              </a:rPr>
              <a:t>EP/BVA Bounds &amp; 7 Alert State Transitions</a:t>
            </a:r>
            <a:endParaRPr lang="en-US" sz="850" dirty="0"/>
          </a:p>
        </p:txBody>
      </p:sp>
      <p:sp>
        <p:nvSpPr>
          <p:cNvPr id="29" name="Shape 27"/>
          <p:cNvSpPr/>
          <p:nvPr/>
        </p:nvSpPr>
        <p:spPr>
          <a:xfrm>
            <a:off x="914400" y="4069080"/>
            <a:ext cx="2423160" cy="420624"/>
          </a:xfrm>
          <a:prstGeom prst="rect">
            <a:avLst>
              <a:gd name="adj" fmla="val 10870"/>
            </a:avLst>
          </a:prstGeom>
          <a:solidFill>
            <a:srgbClr val="EAE5DC"/>
          </a:solidFill>
          <a:ln w="10160">
            <a:solidFill>
              <a:srgbClr val="D8D2C6"/>
            </a:solidFill>
            <a:prstDash val="solid"/>
          </a:ln>
        </p:spPr>
      </p:sp>
      <p:sp>
        <p:nvSpPr>
          <p:cNvPr id="30" name="Text 28"/>
          <p:cNvSpPr/>
          <p:nvPr/>
        </p:nvSpPr>
        <p:spPr>
          <a:xfrm>
            <a:off x="960120" y="4069080"/>
            <a:ext cx="2331720" cy="420624"/>
          </a:xfrm>
          <a:prstGeom prst="rect">
            <a:avLst/>
          </a:prstGeom>
          <a:noFill/>
          <a:ln/>
        </p:spPr>
        <p:txBody>
          <a:bodyPr wrap="square" rtlCol="0" anchor="ctr"/>
          <a:lstStyle/>
          <a:p>
            <a:pPr indent="0" marL="0">
              <a:buNone/>
            </a:pPr>
            <a:r>
              <a:rPr lang="en-US" sz="850" dirty="0">
                <a:solidFill>
                  <a:srgbClr val="1B4332"/>
                </a:solidFill>
                <a:latin typeface="Inter" pitchFamily="34" charset="0"/>
                <a:ea typeface="Inter" pitchFamily="34" charset="-122"/>
                <a:cs typeface="Inter" pitchFamily="34" charset="-120"/>
              </a:rPr>
              <a:t>Source Code (Dart Providers &amp; FastAPI Logic)</a:t>
            </a:r>
            <a:endParaRPr lang="en-US" sz="850" dirty="0"/>
          </a:p>
        </p:txBody>
      </p:sp>
      <p:sp>
        <p:nvSpPr>
          <p:cNvPr id="31" name="Text 29"/>
          <p:cNvSpPr/>
          <p:nvPr/>
        </p:nvSpPr>
        <p:spPr>
          <a:xfrm>
            <a:off x="3383280" y="4069080"/>
            <a:ext cx="320040" cy="420624"/>
          </a:xfrm>
          <a:prstGeom prst="rect">
            <a:avLst/>
          </a:prstGeom>
          <a:noFill/>
          <a:ln/>
        </p:spPr>
        <p:txBody>
          <a:bodyPr wrap="square" rtlCol="0" anchor="ctr"/>
          <a:lstStyle/>
          <a:p>
            <a:pPr algn="ctr" indent="0" marL="0">
              <a:buNone/>
            </a:pPr>
            <a:r>
              <a:rPr lang="en-US" sz="1100" b="1" dirty="0">
                <a:solidFill>
                  <a:srgbClr val="FFB702"/>
                </a:solidFill>
                <a:latin typeface="Montserrat" pitchFamily="34" charset="0"/>
                <a:ea typeface="Montserrat" pitchFamily="34" charset="-122"/>
                <a:cs typeface="Montserrat" pitchFamily="34" charset="-120"/>
              </a:rPr>
              <a:t>⟷</a:t>
            </a:r>
            <a:endParaRPr lang="en-US" sz="1100" dirty="0"/>
          </a:p>
        </p:txBody>
      </p:sp>
      <p:sp>
        <p:nvSpPr>
          <p:cNvPr id="32" name="Shape 30"/>
          <p:cNvSpPr/>
          <p:nvPr/>
        </p:nvSpPr>
        <p:spPr>
          <a:xfrm>
            <a:off x="3749040" y="4069080"/>
            <a:ext cx="2468880" cy="420624"/>
          </a:xfrm>
          <a:prstGeom prst="rect">
            <a:avLst>
              <a:gd name="adj" fmla="val 10870"/>
            </a:avLst>
          </a:prstGeom>
          <a:solidFill>
            <a:srgbClr val="FCF9F4"/>
          </a:solidFill>
          <a:ln w="10160">
            <a:solidFill>
              <a:srgbClr val="D8D2C6"/>
            </a:solidFill>
            <a:prstDash val="solid"/>
          </a:ln>
        </p:spPr>
      </p:sp>
      <p:sp>
        <p:nvSpPr>
          <p:cNvPr id="33" name="Text 31"/>
          <p:cNvSpPr/>
          <p:nvPr/>
        </p:nvSpPr>
        <p:spPr>
          <a:xfrm>
            <a:off x="3794760" y="4069080"/>
            <a:ext cx="2377440" cy="420624"/>
          </a:xfrm>
          <a:prstGeom prst="rect">
            <a:avLst/>
          </a:prstGeom>
          <a:noFill/>
          <a:ln/>
        </p:spPr>
        <p:txBody>
          <a:bodyPr wrap="square" rtlCol="0" anchor="ctr"/>
          <a:lstStyle/>
          <a:p>
            <a:pPr indent="0" marL="0">
              <a:buNone/>
            </a:pPr>
            <a:r>
              <a:rPr lang="en-US" sz="850" dirty="0">
                <a:solidFill>
                  <a:srgbClr val="1C1C19"/>
                </a:solidFill>
                <a:latin typeface="Inter" pitchFamily="34" charset="0"/>
                <a:ea typeface="Inter" pitchFamily="34" charset="-122"/>
                <a:cs typeface="Inter" pitchFamily="34" charset="-120"/>
              </a:rPr>
              <a:t>44 Flutter + 7 Backend Offline Unit Tests</a:t>
            </a:r>
            <a:endParaRPr lang="en-US" sz="850" dirty="0"/>
          </a:p>
        </p:txBody>
      </p:sp>
      <p:sp>
        <p:nvSpPr>
          <p:cNvPr id="34" name="Shape 32"/>
          <p:cNvSpPr/>
          <p:nvPr/>
        </p:nvSpPr>
        <p:spPr>
          <a:xfrm>
            <a:off x="6675120" y="1371600"/>
            <a:ext cx="4754880" cy="3611880"/>
          </a:xfrm>
          <a:prstGeom prst="rect">
            <a:avLst>
              <a:gd name="adj" fmla="val 3038"/>
            </a:avLst>
          </a:prstGeom>
          <a:solidFill>
            <a:srgbClr val="FFFFFF"/>
          </a:solidFill>
          <a:ln w="19050">
            <a:solidFill>
              <a:srgbClr val="E5E0D8"/>
            </a:solidFill>
            <a:prstDash val="solid"/>
          </a:ln>
        </p:spPr>
      </p:sp>
      <p:sp>
        <p:nvSpPr>
          <p:cNvPr id="35" name="Text 33"/>
          <p:cNvSpPr/>
          <p:nvPr/>
        </p:nvSpPr>
        <p:spPr>
          <a:xfrm>
            <a:off x="6858000" y="1508760"/>
            <a:ext cx="4389120" cy="256032"/>
          </a:xfrm>
          <a:prstGeom prst="rect">
            <a:avLst/>
          </a:prstGeom>
          <a:noFill/>
          <a:ln/>
        </p:spPr>
        <p:txBody>
          <a:bodyPr wrap="square" rtlCol="0" anchor="ctr"/>
          <a:lstStyle/>
          <a:p>
            <a:pPr indent="0" marL="0">
              <a:buNone/>
            </a:pPr>
            <a:r>
              <a:rPr lang="en-US" sz="1000" b="1" dirty="0">
                <a:solidFill>
                  <a:srgbClr val="1B4332"/>
                </a:solidFill>
                <a:latin typeface="Montserrat" pitchFamily="34" charset="0"/>
                <a:ea typeface="Montserrat" pitchFamily="34" charset="-122"/>
                <a:cs typeface="Montserrat" pitchFamily="34" charset="-120"/>
              </a:rPr>
              <a:t>RESTOCKIQ EMPIRICAL TEST PYRAMID</a:t>
            </a:r>
            <a:endParaRPr lang="en-US" sz="1000" dirty="0"/>
          </a:p>
        </p:txBody>
      </p:sp>
      <p:sp>
        <p:nvSpPr>
          <p:cNvPr id="36" name="Shape 34"/>
          <p:cNvSpPr/>
          <p:nvPr/>
        </p:nvSpPr>
        <p:spPr>
          <a:xfrm>
            <a:off x="8046720" y="1874520"/>
            <a:ext cx="2011680" cy="594360"/>
          </a:xfrm>
          <a:prstGeom prst="trapezoid">
            <a:avLst/>
          </a:prstGeom>
          <a:solidFill>
            <a:srgbClr val="E28743"/>
          </a:solidFill>
          <a:ln w="12700">
            <a:solidFill>
              <a:srgbClr val="1B4332"/>
            </a:solidFill>
            <a:prstDash val="solid"/>
          </a:ln>
        </p:spPr>
      </p:sp>
      <p:sp>
        <p:nvSpPr>
          <p:cNvPr id="37" name="Text 35"/>
          <p:cNvSpPr/>
          <p:nvPr/>
        </p:nvSpPr>
        <p:spPr>
          <a:xfrm>
            <a:off x="8046720" y="1874520"/>
            <a:ext cx="2011680" cy="594360"/>
          </a:xfrm>
          <a:prstGeom prst="rect">
            <a:avLst/>
          </a:prstGeom>
          <a:noFill/>
          <a:ln/>
        </p:spPr>
        <p:txBody>
          <a:bodyPr wrap="square" rtlCol="0" anchor="ctr"/>
          <a:lstStyle/>
          <a:p>
            <a:pPr algn="ctr" indent="0" marL="0">
              <a:buNone/>
            </a:pPr>
            <a:r>
              <a:rPr lang="en-US" sz="800" b="1" dirty="0">
                <a:solidFill>
                  <a:srgbClr val="FFFFFF"/>
                </a:solidFill>
                <a:latin typeface="Montserrat" pitchFamily="34" charset="0"/>
                <a:ea typeface="Montserrat" pitchFamily="34" charset="-122"/>
                <a:cs typeface="Montserrat" pitchFamily="34" charset="-120"/>
              </a:rPr>
              <a:t>1 Physical Walkthrough</a:t>
            </a:r>
            <a:endParaRPr lang="en-US" sz="800" dirty="0"/>
          </a:p>
          <a:p>
            <a:pPr algn="ctr" indent="0" marL="0">
              <a:buNone/>
            </a:pPr>
            <a:r>
              <a:rPr lang="en-US" sz="800" b="1" dirty="0">
                <a:solidFill>
                  <a:srgbClr val="FFFFFF"/>
                </a:solidFill>
                <a:latin typeface="Montserrat" pitchFamily="34" charset="0"/>
                <a:ea typeface="Montserrat" pitchFamily="34" charset="-122"/>
                <a:cs typeface="Montserrat" pitchFamily="34" charset="-120"/>
              </a:rPr>
              <a:t>+ 1 9-Step E2E Flow</a:t>
            </a:r>
            <a:endParaRPr lang="en-US" sz="800" dirty="0"/>
          </a:p>
        </p:txBody>
      </p:sp>
      <p:sp>
        <p:nvSpPr>
          <p:cNvPr id="38" name="Shape 36"/>
          <p:cNvSpPr/>
          <p:nvPr/>
        </p:nvSpPr>
        <p:spPr>
          <a:xfrm>
            <a:off x="7406640" y="2514600"/>
            <a:ext cx="3291840" cy="777240"/>
          </a:xfrm>
          <a:prstGeom prst="trapezoid">
            <a:avLst/>
          </a:prstGeom>
          <a:solidFill>
            <a:srgbClr val="FFB702"/>
          </a:solidFill>
          <a:ln w="12700">
            <a:solidFill>
              <a:srgbClr val="1B4332"/>
            </a:solidFill>
            <a:prstDash val="solid"/>
          </a:ln>
        </p:spPr>
      </p:sp>
      <p:sp>
        <p:nvSpPr>
          <p:cNvPr id="39" name="Text 37"/>
          <p:cNvSpPr/>
          <p:nvPr/>
        </p:nvSpPr>
        <p:spPr>
          <a:xfrm>
            <a:off x="7406640" y="2514600"/>
            <a:ext cx="3291840" cy="777240"/>
          </a:xfrm>
          <a:prstGeom prst="rect">
            <a:avLst/>
          </a:prstGeom>
          <a:noFill/>
          <a:ln/>
        </p:spPr>
        <p:txBody>
          <a:bodyPr wrap="square" rtlCol="0" anchor="ctr"/>
          <a:lstStyle/>
          <a:p>
            <a:pPr algn="ctr" indent="0" marL="0">
              <a:buNone/>
            </a:pPr>
            <a:r>
              <a:rPr lang="en-US" sz="800" b="1" dirty="0">
                <a:solidFill>
                  <a:srgbClr val="1B4332"/>
                </a:solidFill>
                <a:latin typeface="Montserrat" pitchFamily="34" charset="0"/>
                <a:ea typeface="Montserrat" pitchFamily="34" charset="-122"/>
                <a:cs typeface="Montserrat" pitchFamily="34" charset="-120"/>
              </a:rPr>
              <a:t>9 Integration &amp; Security Suites</a:t>
            </a:r>
            <a:endParaRPr lang="en-US" sz="800" dirty="0"/>
          </a:p>
          <a:p>
            <a:pPr algn="ctr" indent="0" marL="0">
              <a:buNone/>
            </a:pPr>
            <a:r>
              <a:rPr lang="en-US" sz="800" b="1" dirty="0">
                <a:solidFill>
                  <a:srgbClr val="1B4332"/>
                </a:solidFill>
                <a:latin typeface="Montserrat" pitchFamily="34" charset="0"/>
                <a:ea typeface="Montserrat" pitchFamily="34" charset="-122"/>
                <a:cs typeface="Montserrat" pitchFamily="34" charset="-120"/>
              </a:rPr>
              <a:t>[5 Cross-Provider Flutter Tests +</a:t>
            </a:r>
            <a:endParaRPr lang="en-US" sz="800" dirty="0"/>
          </a:p>
          <a:p>
            <a:pPr algn="ctr" indent="0" marL="0">
              <a:buNone/>
            </a:pPr>
            <a:r>
              <a:rPr lang="en-US" sz="800" b="1" dirty="0">
                <a:solidFill>
                  <a:srgbClr val="1B4332"/>
                </a:solidFill>
                <a:latin typeface="Montserrat" pitchFamily="34" charset="0"/>
                <a:ea typeface="Montserrat" pitchFamily="34" charset="-122"/>
                <a:cs typeface="Montserrat" pitchFamily="34" charset="-120"/>
              </a:rPr>
              <a:t>4 Multi-Tenant/Rate-Limit/Spoof Suites]</a:t>
            </a:r>
            <a:endParaRPr lang="en-US" sz="800" dirty="0"/>
          </a:p>
        </p:txBody>
      </p:sp>
      <p:sp>
        <p:nvSpPr>
          <p:cNvPr id="40" name="Shape 38"/>
          <p:cNvSpPr/>
          <p:nvPr/>
        </p:nvSpPr>
        <p:spPr>
          <a:xfrm>
            <a:off x="6858000" y="3337560"/>
            <a:ext cx="4389120" cy="960120"/>
          </a:xfrm>
          <a:prstGeom prst="trapezoid">
            <a:avLst/>
          </a:prstGeom>
          <a:solidFill>
            <a:srgbClr val="2D6A4F"/>
          </a:solidFill>
          <a:ln w="12700">
            <a:solidFill>
              <a:srgbClr val="1B4332"/>
            </a:solidFill>
            <a:prstDash val="solid"/>
          </a:ln>
        </p:spPr>
      </p:sp>
      <p:sp>
        <p:nvSpPr>
          <p:cNvPr id="41" name="Text 39"/>
          <p:cNvSpPr/>
          <p:nvPr/>
        </p:nvSpPr>
        <p:spPr>
          <a:xfrm>
            <a:off x="6858000" y="3337560"/>
            <a:ext cx="4389120" cy="960120"/>
          </a:xfrm>
          <a:prstGeom prst="rect">
            <a:avLst/>
          </a:prstGeom>
          <a:noFill/>
          <a:ln/>
        </p:spPr>
        <p:txBody>
          <a:bodyPr wrap="square" rtlCol="0" anchor="ctr"/>
          <a:lstStyle/>
          <a:p>
            <a:pPr algn="ctr" indent="0" marL="0">
              <a:buNone/>
            </a:pPr>
            <a:r>
              <a:rPr lang="en-US" sz="850" b="1" dirty="0">
                <a:solidFill>
                  <a:srgbClr val="FFFFFF"/>
                </a:solidFill>
                <a:latin typeface="Montserrat" pitchFamily="34" charset="0"/>
                <a:ea typeface="Montserrat" pitchFamily="34" charset="-122"/>
                <a:cs typeface="Montserrat" pitchFamily="34" charset="-120"/>
              </a:rPr>
              <a:t>42 Fast Offline Unit &amp; Component Tests</a:t>
            </a:r>
            <a:endParaRPr lang="en-US" sz="850" dirty="0"/>
          </a:p>
          <a:p>
            <a:pPr algn="ctr" indent="0" marL="0">
              <a:buNone/>
            </a:pPr>
            <a:r>
              <a:rPr lang="en-US" sz="850" b="1" dirty="0">
                <a:solidFill>
                  <a:srgbClr val="FFFFFF"/>
                </a:solidFill>
                <a:latin typeface="Montserrat" pitchFamily="34" charset="0"/>
                <a:ea typeface="Montserrat" pitchFamily="34" charset="-122"/>
                <a:cs typeface="Montserrat" pitchFamily="34" charset="-120"/>
              </a:rPr>
              <a:t>[21 Flutter Unit + 18 Flutter Widget + 3 Backend EP/Decision/CFG]</a:t>
            </a:r>
            <a:endParaRPr lang="en-US" sz="850" dirty="0"/>
          </a:p>
          <a:p>
            <a:pPr algn="ctr" indent="0" marL="0">
              <a:buNone/>
            </a:pPr>
            <a:r>
              <a:rPr lang="en-US" sz="850" b="1" dirty="0">
                <a:solidFill>
                  <a:srgbClr val="FFFFFF"/>
                </a:solidFill>
                <a:latin typeface="Montserrat" pitchFamily="34" charset="0"/>
                <a:ea typeface="Montserrat" pitchFamily="34" charset="-122"/>
                <a:cs typeface="Montserrat" pitchFamily="34" charset="-120"/>
              </a:rPr>
              <a:t>100% Passing in &lt; 40s (Zero Network Dependencies)</a:t>
            </a:r>
            <a:endParaRPr lang="en-US" sz="850" dirty="0"/>
          </a:p>
        </p:txBody>
      </p:sp>
      <p:sp>
        <p:nvSpPr>
          <p:cNvPr id="42" name="Shape 40"/>
          <p:cNvSpPr/>
          <p:nvPr/>
        </p:nvSpPr>
        <p:spPr>
          <a:xfrm>
            <a:off x="6858000" y="4434840"/>
            <a:ext cx="4389120" cy="411480"/>
          </a:xfrm>
          <a:prstGeom prst="rect">
            <a:avLst>
              <a:gd name="adj" fmla="val 17778"/>
            </a:avLst>
          </a:prstGeom>
          <a:solidFill>
            <a:srgbClr val="EAE5DC"/>
          </a:solidFill>
          <a:ln w="12700">
            <a:solidFill>
              <a:srgbClr val="E5E0D8"/>
            </a:solidFill>
            <a:prstDash val="solid"/>
          </a:ln>
        </p:spPr>
      </p:sp>
      <p:sp>
        <p:nvSpPr>
          <p:cNvPr id="43" name="Text 41"/>
          <p:cNvSpPr/>
          <p:nvPr/>
        </p:nvSpPr>
        <p:spPr>
          <a:xfrm>
            <a:off x="6858000" y="4434840"/>
            <a:ext cx="4389120" cy="411480"/>
          </a:xfrm>
          <a:prstGeom prst="rect">
            <a:avLst/>
          </a:prstGeom>
          <a:noFill/>
          <a:ln/>
        </p:spPr>
        <p:txBody>
          <a:bodyPr wrap="square" rtlCol="0" anchor="ctr"/>
          <a:lstStyle/>
          <a:p>
            <a:pPr algn="ctr" indent="0" marL="0">
              <a:buNone/>
            </a:pPr>
            <a:r>
              <a:rPr lang="en-US" sz="850" b="1" dirty="0">
                <a:solidFill>
                  <a:srgbClr val="1B4332"/>
                </a:solidFill>
                <a:latin typeface="Montserrat" pitchFamily="34" charset="0"/>
                <a:ea typeface="Montserrat" pitchFamily="34" charset="-122"/>
                <a:cs typeface="Montserrat" pitchFamily="34" charset="-120"/>
              </a:rPr>
              <a:t>TOTAL RECONCILED TEST COUNT: 51 AUTOMATED TESTS (100% PASS)</a:t>
            </a:r>
            <a:endParaRPr lang="en-US" sz="850" dirty="0"/>
          </a:p>
        </p:txBody>
      </p:sp>
      <p:sp>
        <p:nvSpPr>
          <p:cNvPr id="44" name="Text 42"/>
          <p:cNvSpPr/>
          <p:nvPr/>
        </p:nvSpPr>
        <p:spPr>
          <a:xfrm>
            <a:off x="731520" y="5166360"/>
            <a:ext cx="10698480" cy="1234440"/>
          </a:xfrm>
          <a:prstGeom prst="rect">
            <a:avLst/>
          </a:prstGeom>
          <a:noFill/>
          <a:ln/>
        </p:spPr>
        <p:txBody>
          <a:bodyPr wrap="square" rtlCol="0" anchor="t"/>
          <a:lstStyle/>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V-Model Lifecycle Alignment: Every architectural tier maps bi-directionally to verified test artifacts, from business requirements down to pure Dart mathematical functions and FastAPI endpoints.</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Empirical Test Pyramid Distribution: A heavy base of 42 offline unit and widget tests provides sub-second feedback, supported by 9 integration security suites and live E2E system verification.</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Zero-Flake Execution: Strict separation between offline mock-driven unit tests and network-dependent cloud verification eliminates test suite flakiness, guaranteeing 100% repeatable CI/CD passes.</a:t>
            </a:r>
            <a:endParaRPr lang="en-US" sz="1150" dirty="0"/>
          </a:p>
        </p:txBody>
      </p:sp>
      <p:sp>
        <p:nvSpPr>
          <p:cNvPr id="45" name="Text 43"/>
          <p:cNvSpPr/>
          <p:nvPr/>
        </p:nvSpPr>
        <p:spPr>
          <a:xfrm>
            <a:off x="731520" y="6419088"/>
            <a:ext cx="10698480" cy="228600"/>
          </a:xfrm>
          <a:prstGeom prst="rect">
            <a:avLst/>
          </a:prstGeom>
          <a:noFill/>
          <a:ln/>
        </p:spPr>
        <p:txBody>
          <a:bodyPr wrap="square" rtlCol="0" anchor="b"/>
          <a:lstStyle/>
          <a:p>
            <a:pPr indent="0" marL="0">
              <a:buNone/>
            </a:pPr>
            <a:r>
              <a:rPr lang="en-US" sz="850" i="1" dirty="0">
                <a:solidFill>
                  <a:srgbClr val="5A5A54"/>
                </a:solidFill>
                <a:latin typeface="Inter" pitchFamily="34" charset="0"/>
                <a:ea typeface="Inter" pitchFamily="34" charset="-122"/>
                <a:cs typeface="Inter" pitchFamily="34" charset="-120"/>
              </a:rPr>
              <a:t>Evidence Source: Verified test logs in APP/test/ and Backend/test_backend_unit.py; V-Model mapped to 702IT0E035 Unit 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9F4"/>
        </a:solidFill>
      </p:bgPr>
    </p:bg>
    <p:spTree>
      <p:nvGrpSpPr>
        <p:cNvPr id="1" name=""/>
        <p:cNvGrpSpPr/>
        <p:nvPr/>
      </p:nvGrpSpPr>
      <p:grpSpPr>
        <a:xfrm>
          <a:off x="0" y="0"/>
          <a:ext cx="0" cy="0"/>
          <a:chOff x="0" y="0"/>
          <a:chExt cx="0" cy="0"/>
        </a:xfrm>
      </p:grpSpPr>
      <p:sp>
        <p:nvSpPr>
          <p:cNvPr id="2" name="Shape 0"/>
          <p:cNvSpPr/>
          <p:nvPr/>
        </p:nvSpPr>
        <p:spPr>
          <a:xfrm>
            <a:off x="731520" y="320040"/>
            <a:ext cx="2194560" cy="274320"/>
          </a:xfrm>
          <a:prstGeom prst="rect">
            <a:avLst>
              <a:gd name="adj" fmla="val 20000"/>
            </a:avLst>
          </a:prstGeom>
          <a:solidFill>
            <a:srgbClr val="EAE5DC"/>
          </a:solidFill>
          <a:ln w="12700">
            <a:solidFill>
              <a:srgbClr val="E5E0D8"/>
            </a:solidFill>
            <a:prstDash val="solid"/>
          </a:ln>
        </p:spPr>
      </p:sp>
      <p:sp>
        <p:nvSpPr>
          <p:cNvPr id="3" name="Text 1"/>
          <p:cNvSpPr/>
          <p:nvPr/>
        </p:nvSpPr>
        <p:spPr>
          <a:xfrm>
            <a:off x="731520" y="320040"/>
            <a:ext cx="2194560" cy="274320"/>
          </a:xfrm>
          <a:prstGeom prst="rect">
            <a:avLst/>
          </a:prstGeom>
          <a:noFill/>
          <a:ln/>
        </p:spPr>
        <p:txBody>
          <a:bodyPr wrap="square" rtlCol="0" anchor="ctr"/>
          <a:lstStyle/>
          <a:p>
            <a:pPr algn="ctr" indent="0" marL="0">
              <a:buNone/>
            </a:pPr>
            <a:r>
              <a:rPr lang="en-US" sz="850" b="1" dirty="0">
                <a:solidFill>
                  <a:srgbClr val="1B4332"/>
                </a:solidFill>
                <a:latin typeface="Montserrat" pitchFamily="34" charset="0"/>
                <a:ea typeface="Montserrat" pitchFamily="34" charset="-122"/>
                <a:cs typeface="Montserrat" pitchFamily="34" charset="-120"/>
              </a:rPr>
              <a:t>UNIT 1: FUNDAMENTALS</a:t>
            </a:r>
            <a:endParaRPr lang="en-US" sz="850" dirty="0"/>
          </a:p>
        </p:txBody>
      </p:sp>
      <p:sp>
        <p:nvSpPr>
          <p:cNvPr id="4" name="Text 2"/>
          <p:cNvSpPr/>
          <p:nvPr/>
        </p:nvSpPr>
        <p:spPr>
          <a:xfrm>
            <a:off x="10058400" y="320040"/>
            <a:ext cx="1371600" cy="274320"/>
          </a:xfrm>
          <a:prstGeom prst="rect">
            <a:avLst/>
          </a:prstGeom>
          <a:noFill/>
          <a:ln/>
        </p:spPr>
        <p:txBody>
          <a:bodyPr wrap="square" rtlCol="0" anchor="ctr"/>
          <a:lstStyle/>
          <a:p>
            <a:pPr algn="r" indent="0" marL="0">
              <a:buNone/>
            </a:pPr>
            <a:r>
              <a:rPr lang="en-US" sz="900" b="1" dirty="0">
                <a:solidFill>
                  <a:srgbClr val="5A5A54"/>
                </a:solidFill>
                <a:latin typeface="Montserrat" pitchFamily="34" charset="0"/>
                <a:ea typeface="Montserrat" pitchFamily="34" charset="-122"/>
                <a:cs typeface="Montserrat" pitchFamily="34" charset="-120"/>
              </a:rPr>
              <a:t>SLIDE 4 / 15</a:t>
            </a:r>
            <a:endParaRPr lang="en-US" sz="900" dirty="0"/>
          </a:p>
        </p:txBody>
      </p:sp>
      <p:sp>
        <p:nvSpPr>
          <p:cNvPr id="5" name="Text 3"/>
          <p:cNvSpPr/>
          <p:nvPr/>
        </p:nvSpPr>
        <p:spPr>
          <a:xfrm>
            <a:off x="731520" y="658368"/>
            <a:ext cx="10698480" cy="475488"/>
          </a:xfrm>
          <a:prstGeom prst="rect">
            <a:avLst/>
          </a:prstGeom>
          <a:noFill/>
          <a:ln/>
        </p:spPr>
        <p:txBody>
          <a:bodyPr wrap="square" rtlCol="0" anchor="ctr"/>
          <a:lstStyle/>
          <a:p>
            <a:pPr indent="0" marL="0">
              <a:buNone/>
            </a:pPr>
            <a:r>
              <a:rPr lang="en-US" sz="2000" b="1" dirty="0">
                <a:solidFill>
                  <a:srgbClr val="1B4332"/>
                </a:solidFill>
                <a:latin typeface="Montserrat" pitchFamily="34" charset="0"/>
                <a:ea typeface="Montserrat" pitchFamily="34" charset="-122"/>
                <a:cs typeface="Montserrat" pitchFamily="34" charset="-120"/>
              </a:rPr>
              <a:t>Master Test Inventory &amp; Implementation Mapping</a:t>
            </a:r>
            <a:endParaRPr lang="en-US" sz="2000" dirty="0"/>
          </a:p>
        </p:txBody>
      </p:sp>
      <p:sp>
        <p:nvSpPr>
          <p:cNvPr id="6" name="Shape 4"/>
          <p:cNvSpPr/>
          <p:nvPr/>
        </p:nvSpPr>
        <p:spPr>
          <a:xfrm>
            <a:off x="731520" y="1170432"/>
            <a:ext cx="10698480" cy="0"/>
          </a:xfrm>
          <a:prstGeom prst="line">
            <a:avLst/>
          </a:prstGeom>
          <a:noFill/>
          <a:ln w="12700">
            <a:solidFill>
              <a:srgbClr val="E5E0D8"/>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31520" y="1371600"/>
          <a:ext cx="10698480" cy="3657600"/>
        </p:xfrm>
        <a:graphic>
          <a:graphicData uri="http://schemas.openxmlformats.org/drawingml/2006/table">
            <a:tbl>
              <a:tblPr/>
              <a:tblGrid>
                <a:gridCol w="3108960"/>
                <a:gridCol w="1097280"/>
                <a:gridCol w="3474720"/>
                <a:gridCol w="1005840"/>
                <a:gridCol w="822960"/>
                <a:gridCol w="1188720"/>
              </a:tblGrid>
              <a:tr h="292608">
                <a:tc>
                  <a:txBody>
                    <a:bodyPr/>
                    <a:lstStyle/>
                    <a:p>
                      <a:pPr indent="0" marL="0">
                        <a:buNone/>
                      </a:pPr>
                      <a:r>
                        <a:rPr lang="en-US" sz="850" b="1" dirty="0">
                          <a:solidFill>
                            <a:srgbClr val="1B4332"/>
                          </a:solidFill>
                          <a:latin typeface="Montserrat" pitchFamily="34" charset="0"/>
                          <a:ea typeface="Montserrat" pitchFamily="34" charset="-122"/>
                          <a:cs typeface="Montserrat" pitchFamily="34" charset="-120"/>
                        </a:rPr>
                        <a:t>Artifact / File Path</a:t>
                      </a:r>
                      <a:endParaRPr lang="en-US" sz="85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indent="0" marL="0">
                        <a:buNone/>
                      </a:pPr>
                      <a:r>
                        <a:rPr lang="en-US" sz="850" b="1" dirty="0">
                          <a:solidFill>
                            <a:srgbClr val="1B4332"/>
                          </a:solidFill>
                          <a:latin typeface="Montserrat" pitchFamily="34" charset="0"/>
                          <a:ea typeface="Montserrat" pitchFamily="34" charset="-122"/>
                          <a:cs typeface="Montserrat" pitchFamily="34" charset="-120"/>
                        </a:rPr>
                        <a:t>Level</a:t>
                      </a:r>
                      <a:endParaRPr lang="en-US" sz="85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indent="0" marL="0">
                        <a:buNone/>
                      </a:pPr>
                      <a:r>
                        <a:rPr lang="en-US" sz="850" b="1" dirty="0">
                          <a:solidFill>
                            <a:srgbClr val="1B4332"/>
                          </a:solidFill>
                          <a:latin typeface="Montserrat" pitchFamily="34" charset="0"/>
                          <a:ea typeface="Montserrat" pitchFamily="34" charset="-122"/>
                          <a:cs typeface="Montserrat" pitchFamily="34" charset="-120"/>
                        </a:rPr>
                        <a:t>Technique Applied</a:t>
                      </a:r>
                      <a:endParaRPr lang="en-US" sz="85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indent="0" marL="0">
                        <a:buNone/>
                      </a:pPr>
                      <a:r>
                        <a:rPr lang="en-US" sz="850" b="1" dirty="0">
                          <a:solidFill>
                            <a:srgbClr val="1B4332"/>
                          </a:solidFill>
                          <a:latin typeface="Montserrat" pitchFamily="34" charset="0"/>
                          <a:ea typeface="Montserrat" pitchFamily="34" charset="-122"/>
                          <a:cs typeface="Montserrat" pitchFamily="34" charset="-120"/>
                        </a:rPr>
                        <a:t>Style</a:t>
                      </a:r>
                      <a:endParaRPr lang="en-US" sz="85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algn="ctr" indent="0" marL="0">
                        <a:buNone/>
                      </a:pPr>
                      <a:r>
                        <a:rPr lang="en-US" sz="850" b="1" dirty="0">
                          <a:solidFill>
                            <a:srgbClr val="1B4332"/>
                          </a:solidFill>
                          <a:latin typeface="Montserrat" pitchFamily="34" charset="0"/>
                          <a:ea typeface="Montserrat" pitchFamily="34" charset="-122"/>
                          <a:cs typeface="Montserrat" pitchFamily="34" charset="-120"/>
                        </a:rPr>
                        <a:t>Tests</a:t>
                      </a:r>
                      <a:endParaRPr lang="en-US" sz="85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algn="ctr" indent="0" marL="0">
                        <a:buNone/>
                      </a:pPr>
                      <a:r>
                        <a:rPr lang="en-US" sz="850" b="1" dirty="0">
                          <a:solidFill>
                            <a:srgbClr val="1B4332"/>
                          </a:solidFill>
                          <a:latin typeface="Montserrat" pitchFamily="34" charset="0"/>
                          <a:ea typeface="Montserrat" pitchFamily="34" charset="-122"/>
                          <a:cs typeface="Montserrat" pitchFamily="34" charset="-120"/>
                        </a:rPr>
                        <a:t>Status</a:t>
                      </a:r>
                      <a:endParaRPr lang="en-US" sz="85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r>
              <a:tr h="228600">
                <a:tc>
                  <a:txBody>
                    <a:bodyPr/>
                    <a:lstStyle/>
                    <a:p>
                      <a:pPr indent="0" marL="0">
                        <a:buNone/>
                      </a:pPr>
                      <a:r>
                        <a:rPr lang="en-US" sz="850" dirty="0">
                          <a:solidFill>
                            <a:srgbClr val="1C1C19"/>
                          </a:solidFill>
                          <a:latin typeface="Inter" pitchFamily="34" charset="0"/>
                          <a:ea typeface="Inter" pitchFamily="34" charset="-122"/>
                          <a:cs typeface="Inter" pitchFamily="34" charset="-120"/>
                        </a:rPr>
                        <a:t>APP/test/unit_test.dart (Catalog)</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Unit</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Equivalence Partitioning &amp; Formula Invariants</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Classic</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4</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PASS</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28600">
                <a:tc>
                  <a:txBody>
                    <a:bodyPr/>
                    <a:lstStyle/>
                    <a:p>
                      <a:pPr indent="0" marL="0">
                        <a:buNone/>
                      </a:pPr>
                      <a:r>
                        <a:rPr lang="en-US" sz="850" dirty="0">
                          <a:solidFill>
                            <a:srgbClr val="1C1C19"/>
                          </a:solidFill>
                          <a:latin typeface="Inter" pitchFamily="34" charset="0"/>
                          <a:ea typeface="Inter" pitchFamily="34" charset="-122"/>
                          <a:cs typeface="Inter" pitchFamily="34" charset="-120"/>
                        </a:rPr>
                        <a:t>APP/test/unit_test.dart (CRUD)</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Unit</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State Mutation &amp; Local Cache Invariants</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Classic</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1</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PASS</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28600">
                <a:tc>
                  <a:txBody>
                    <a:bodyPr/>
                    <a:lstStyle/>
                    <a:p>
                      <a:pPr indent="0" marL="0">
                        <a:buNone/>
                      </a:pPr>
                      <a:r>
                        <a:rPr lang="en-US" sz="850" dirty="0">
                          <a:solidFill>
                            <a:srgbClr val="1C1C19"/>
                          </a:solidFill>
                          <a:latin typeface="Inter" pitchFamily="34" charset="0"/>
                          <a:ea typeface="Inter" pitchFamily="34" charset="-122"/>
                          <a:cs typeface="Inter" pitchFamily="34" charset="-120"/>
                        </a:rPr>
                        <a:t>APP/test/unit_test.dart (Alerts)</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Unit</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Domain Decision Logic &amp; State Triggers</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Classic</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4</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PASS</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28600">
                <a:tc>
                  <a:txBody>
                    <a:bodyPr/>
                    <a:lstStyle/>
                    <a:p>
                      <a:pPr indent="0" marL="0">
                        <a:buNone/>
                      </a:pPr>
                      <a:r>
                        <a:rPr lang="en-US" sz="850" dirty="0">
                          <a:solidFill>
                            <a:srgbClr val="1C1C19"/>
                          </a:solidFill>
                          <a:latin typeface="Inter" pitchFamily="34" charset="0"/>
                          <a:ea typeface="Inter" pitchFamily="34" charset="-122"/>
                          <a:cs typeface="Inter" pitchFamily="34" charset="-120"/>
                        </a:rPr>
                        <a:t>APP/test/unit_test.dart (Assistant)</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Unit</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Fault Injection &amp; Offline Mock Fallback</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Mockist</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7</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PASS</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28600">
                <a:tc>
                  <a:txBody>
                    <a:bodyPr/>
                    <a:lstStyle/>
                    <a:p>
                      <a:pPr indent="0" marL="0">
                        <a:buNone/>
                      </a:pPr>
                      <a:r>
                        <a:rPr lang="en-US" sz="850" dirty="0">
                          <a:solidFill>
                            <a:srgbClr val="1C1C19"/>
                          </a:solidFill>
                          <a:latin typeface="Inter" pitchFamily="34" charset="0"/>
                          <a:ea typeface="Inter" pitchFamily="34" charset="-122"/>
                          <a:cs typeface="Inter" pitchFamily="34" charset="-120"/>
                        </a:rPr>
                        <a:t>APP/test/unit_test.dart (Auth)</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Unit</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Session Activation &amp; Timeout Fallback</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Classic</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5</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PASS</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28600">
                <a:tc>
                  <a:txBody>
                    <a:bodyPr/>
                    <a:lstStyle/>
                    <a:p>
                      <a:pPr indent="0" marL="0">
                        <a:buNone/>
                      </a:pPr>
                      <a:r>
                        <a:rPr lang="en-US" sz="850" dirty="0">
                          <a:solidFill>
                            <a:srgbClr val="1C1C19"/>
                          </a:solidFill>
                          <a:latin typeface="Inter" pitchFamily="34" charset="0"/>
                          <a:ea typeface="Inter" pitchFamily="34" charset="-122"/>
                          <a:cs typeface="Inter" pitchFamily="34" charset="-120"/>
                        </a:rPr>
                        <a:t>APP/test/widget_test.dart</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Component</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Widget Tree Event Simulation &amp; Navigation</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Mockist</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18</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PASS</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28600">
                <a:tc>
                  <a:txBody>
                    <a:bodyPr/>
                    <a:lstStyle/>
                    <a:p>
                      <a:pPr indent="0" marL="0">
                        <a:buNone/>
                      </a:pPr>
                      <a:r>
                        <a:rPr lang="en-US" sz="850" dirty="0">
                          <a:solidFill>
                            <a:srgbClr val="1C1C19"/>
                          </a:solidFill>
                          <a:latin typeface="Inter" pitchFamily="34" charset="0"/>
                          <a:ea typeface="Inter" pitchFamily="34" charset="-122"/>
                          <a:cs typeface="Inter" pitchFamily="34" charset="-120"/>
                        </a:rPr>
                        <a:t>APP/test/integration_test.dart</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Integration</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Cross-Provider Catalog Synchronization</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Classic</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5</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PASS</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28600">
                <a:tc>
                  <a:txBody>
                    <a:bodyPr/>
                    <a:lstStyle/>
                    <a:p>
                      <a:pPr indent="0" marL="0">
                        <a:buNone/>
                      </a:pPr>
                      <a:r>
                        <a:rPr lang="en-US" sz="850" dirty="0">
                          <a:solidFill>
                            <a:srgbClr val="1C1C19"/>
                          </a:solidFill>
                          <a:latin typeface="Inter" pitchFamily="34" charset="0"/>
                          <a:ea typeface="Inter" pitchFamily="34" charset="-122"/>
                          <a:cs typeface="Inter" pitchFamily="34" charset="-120"/>
                        </a:rPr>
                        <a:t>Backend/test_backend_unit.py (BVA)</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Unit</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Boundary Value Analysis (0, 1, 500, 501)</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Classic</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1</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PASS</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28600">
                <a:tc>
                  <a:txBody>
                    <a:bodyPr/>
                    <a:lstStyle/>
                    <a:p>
                      <a:pPr indent="0" marL="0">
                        <a:buNone/>
                      </a:pPr>
                      <a:r>
                        <a:rPr lang="en-US" sz="850" dirty="0">
                          <a:solidFill>
                            <a:srgbClr val="1C1C19"/>
                          </a:solidFill>
                          <a:latin typeface="Inter" pitchFamily="34" charset="0"/>
                          <a:ea typeface="Inter" pitchFamily="34" charset="-122"/>
                          <a:cs typeface="Inter" pitchFamily="34" charset="-120"/>
                        </a:rPr>
                        <a:t>Backend/test_backend_unit.py (Decision)</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Component</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10-Rule Waste Action Engine Decision Table</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Classic</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1</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PASS</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28600">
                <a:tc>
                  <a:txBody>
                    <a:bodyPr/>
                    <a:lstStyle/>
                    <a:p>
                      <a:pPr indent="0" marL="0">
                        <a:buNone/>
                      </a:pPr>
                      <a:r>
                        <a:rPr lang="en-US" sz="850" dirty="0">
                          <a:solidFill>
                            <a:srgbClr val="1C1C19"/>
                          </a:solidFill>
                          <a:latin typeface="Inter" pitchFamily="34" charset="0"/>
                          <a:ea typeface="Inter" pitchFamily="34" charset="-122"/>
                          <a:cs typeface="Inter" pitchFamily="34" charset="-120"/>
                        </a:rPr>
                        <a:t>Backend/test_backend_unit.py (CFG)</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Unit</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Basis Path Testing (Cyclomatic V(G)=5)</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Classic</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1</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PASS</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28600">
                <a:tc>
                  <a:txBody>
                    <a:bodyPr/>
                    <a:lstStyle/>
                    <a:p>
                      <a:pPr indent="0" marL="0">
                        <a:buNone/>
                      </a:pPr>
                      <a:r>
                        <a:rPr lang="en-US" sz="850" dirty="0">
                          <a:solidFill>
                            <a:srgbClr val="1C1C19"/>
                          </a:solidFill>
                          <a:latin typeface="Inter" pitchFamily="34" charset="0"/>
                          <a:ea typeface="Inter" pitchFamily="34" charset="-122"/>
                          <a:cs typeface="Inter" pitchFamily="34" charset="-120"/>
                        </a:rPr>
                        <a:t>Backend/test_rate_limiter.py</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Security</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Sliding Window Counter &amp; Spoof Defense</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Mockist</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1</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PASS</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28600">
                <a:tc>
                  <a:txBody>
                    <a:bodyPr/>
                    <a:lstStyle/>
                    <a:p>
                      <a:pPr indent="0" marL="0">
                        <a:buNone/>
                      </a:pPr>
                      <a:r>
                        <a:rPr lang="en-US" sz="850" dirty="0">
                          <a:solidFill>
                            <a:srgbClr val="1C1C19"/>
                          </a:solidFill>
                          <a:latin typeface="Inter" pitchFamily="34" charset="0"/>
                          <a:ea typeface="Inter" pitchFamily="34" charset="-122"/>
                          <a:cs typeface="Inter" pitchFamily="34" charset="-120"/>
                        </a:rPr>
                        <a:t>Backend/test_tenant_isolation.py</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Security</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Negative Query Probing Across 10 Endpoints</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Classic</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1</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PASS</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28600">
                <a:tc>
                  <a:txBody>
                    <a:bodyPr/>
                    <a:lstStyle/>
                    <a:p>
                      <a:pPr indent="0" marL="0">
                        <a:buNone/>
                      </a:pPr>
                      <a:r>
                        <a:rPr lang="en-US" sz="850" dirty="0">
                          <a:solidFill>
                            <a:srgbClr val="1C1C19"/>
                          </a:solidFill>
                          <a:latin typeface="Inter" pitchFamily="34" charset="0"/>
                          <a:ea typeface="Inter" pitchFamily="34" charset="-122"/>
                          <a:cs typeface="Inter" pitchFamily="34" charset="-120"/>
                        </a:rPr>
                        <a:t>Backend/verify_llm.py</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System</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Zero-Math Hallucination &amp; Context Truth Audit</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Mockist</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1</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PASS</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28600">
                <a:tc>
                  <a:txBody>
                    <a:bodyPr/>
                    <a:lstStyle/>
                    <a:p>
                      <a:pPr indent="0" marL="0">
                        <a:buNone/>
                      </a:pPr>
                      <a:r>
                        <a:rPr lang="en-US" sz="850" dirty="0">
                          <a:solidFill>
                            <a:srgbClr val="1C1C19"/>
                          </a:solidFill>
                          <a:latin typeface="Inter" pitchFamily="34" charset="0"/>
                          <a:ea typeface="Inter" pitchFamily="34" charset="-122"/>
                          <a:cs typeface="Inter" pitchFamily="34" charset="-120"/>
                        </a:rPr>
                        <a:t>Manual Device Walkthrough</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Manual</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Xiaomi Redmi Note 10 Pro Smoke Audit</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Manual</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1</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50" dirty="0">
                          <a:solidFill>
                            <a:srgbClr val="1C1C19"/>
                          </a:solidFill>
                          <a:latin typeface="Inter" pitchFamily="34" charset="0"/>
                          <a:ea typeface="Inter" pitchFamily="34" charset="-122"/>
                          <a:cs typeface="Inter" pitchFamily="34" charset="-120"/>
                        </a:rPr>
                        <a:t>PASS</a:t>
                      </a:r>
                      <a:endParaRPr lang="en-US" sz="8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bl>
          </a:graphicData>
        </a:graphic>
      </p:graphicFrame>
      <p:sp>
        <p:nvSpPr>
          <p:cNvPr id="8" name="Text 5"/>
          <p:cNvSpPr/>
          <p:nvPr/>
        </p:nvSpPr>
        <p:spPr>
          <a:xfrm>
            <a:off x="731520" y="5166360"/>
            <a:ext cx="10698480" cy="1234440"/>
          </a:xfrm>
          <a:prstGeom prst="rect">
            <a:avLst/>
          </a:prstGeom>
          <a:noFill/>
          <a:ln/>
        </p:spPr>
        <p:txBody>
          <a:bodyPr wrap="square" rtlCol="0" anchor="t"/>
          <a:lstStyle/>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Reconciled Suite Inventory: The testing framework comprises 44 Flutter tests across models, screens, and providers, alongside 7 comprehensive backend offline verification suites.</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Balanced Testing Regimes: Classical Detroit-style state verification governs core business calculators, while London-school mockist testing isolates UI widgets from remote API latency.</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Multi-Layer Defect Prevention: Combines automated boundary probing and decision tables with physical device smoke verification to guarantee zero runtime regressions.</a:t>
            </a:r>
            <a:endParaRPr lang="en-US" sz="1150" dirty="0"/>
          </a:p>
        </p:txBody>
      </p:sp>
      <p:sp>
        <p:nvSpPr>
          <p:cNvPr id="9" name="Text 6"/>
          <p:cNvSpPr/>
          <p:nvPr/>
        </p:nvSpPr>
        <p:spPr>
          <a:xfrm>
            <a:off x="731520" y="6419088"/>
            <a:ext cx="10698480" cy="228600"/>
          </a:xfrm>
          <a:prstGeom prst="rect">
            <a:avLst/>
          </a:prstGeom>
          <a:noFill/>
          <a:ln/>
        </p:spPr>
        <p:txBody>
          <a:bodyPr wrap="square" rtlCol="0" anchor="b"/>
          <a:lstStyle/>
          <a:p>
            <a:pPr indent="0" marL="0">
              <a:buNone/>
            </a:pPr>
            <a:r>
              <a:rPr lang="en-US" sz="850" i="1" dirty="0">
                <a:solidFill>
                  <a:srgbClr val="5A5A54"/>
                </a:solidFill>
                <a:latin typeface="Inter" pitchFamily="34" charset="0"/>
                <a:ea typeface="Inter" pitchFamily="34" charset="-122"/>
                <a:cs typeface="Inter" pitchFamily="34" charset="-120"/>
              </a:rPr>
              <a:t>Evidence Source: Test execution logs in docs/TESTING_AND_INTEGRITY_REPORT.md; Test suites in APP/test/ and Backend/.</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9F4"/>
        </a:solidFill>
      </p:bgPr>
    </p:bg>
    <p:spTree>
      <p:nvGrpSpPr>
        <p:cNvPr id="1" name=""/>
        <p:cNvGrpSpPr/>
        <p:nvPr/>
      </p:nvGrpSpPr>
      <p:grpSpPr>
        <a:xfrm>
          <a:off x="0" y="0"/>
          <a:ext cx="0" cy="0"/>
          <a:chOff x="0" y="0"/>
          <a:chExt cx="0" cy="0"/>
        </a:xfrm>
      </p:grpSpPr>
      <p:sp>
        <p:nvSpPr>
          <p:cNvPr id="2" name="Shape 0"/>
          <p:cNvSpPr/>
          <p:nvPr/>
        </p:nvSpPr>
        <p:spPr>
          <a:xfrm>
            <a:off x="731520" y="320040"/>
            <a:ext cx="2194560" cy="274320"/>
          </a:xfrm>
          <a:prstGeom prst="rect">
            <a:avLst>
              <a:gd name="adj" fmla="val 20000"/>
            </a:avLst>
          </a:prstGeom>
          <a:solidFill>
            <a:srgbClr val="EAE5DC"/>
          </a:solidFill>
          <a:ln w="12700">
            <a:solidFill>
              <a:srgbClr val="E5E0D8"/>
            </a:solidFill>
            <a:prstDash val="solid"/>
          </a:ln>
        </p:spPr>
      </p:sp>
      <p:sp>
        <p:nvSpPr>
          <p:cNvPr id="3" name="Text 1"/>
          <p:cNvSpPr/>
          <p:nvPr/>
        </p:nvSpPr>
        <p:spPr>
          <a:xfrm>
            <a:off x="731520" y="320040"/>
            <a:ext cx="2194560" cy="274320"/>
          </a:xfrm>
          <a:prstGeom prst="rect">
            <a:avLst/>
          </a:prstGeom>
          <a:noFill/>
          <a:ln/>
        </p:spPr>
        <p:txBody>
          <a:bodyPr wrap="square" rtlCol="0" anchor="ctr"/>
          <a:lstStyle/>
          <a:p>
            <a:pPr algn="ctr" indent="0" marL="0">
              <a:buNone/>
            </a:pPr>
            <a:r>
              <a:rPr lang="en-US" sz="850" b="1" dirty="0">
                <a:solidFill>
                  <a:srgbClr val="1B4332"/>
                </a:solidFill>
                <a:latin typeface="Montserrat" pitchFamily="34" charset="0"/>
                <a:ea typeface="Montserrat" pitchFamily="34" charset="-122"/>
                <a:cs typeface="Montserrat" pitchFamily="34" charset="-120"/>
              </a:rPr>
              <a:t>UNIT 1: FUNDAMENTALS</a:t>
            </a:r>
            <a:endParaRPr lang="en-US" sz="850" dirty="0"/>
          </a:p>
        </p:txBody>
      </p:sp>
      <p:sp>
        <p:nvSpPr>
          <p:cNvPr id="4" name="Text 2"/>
          <p:cNvSpPr/>
          <p:nvPr/>
        </p:nvSpPr>
        <p:spPr>
          <a:xfrm>
            <a:off x="10058400" y="320040"/>
            <a:ext cx="1371600" cy="274320"/>
          </a:xfrm>
          <a:prstGeom prst="rect">
            <a:avLst/>
          </a:prstGeom>
          <a:noFill/>
          <a:ln/>
        </p:spPr>
        <p:txBody>
          <a:bodyPr wrap="square" rtlCol="0" anchor="ctr"/>
          <a:lstStyle/>
          <a:p>
            <a:pPr algn="r" indent="0" marL="0">
              <a:buNone/>
            </a:pPr>
            <a:r>
              <a:rPr lang="en-US" sz="900" b="1" dirty="0">
                <a:solidFill>
                  <a:srgbClr val="5A5A54"/>
                </a:solidFill>
                <a:latin typeface="Montserrat" pitchFamily="34" charset="0"/>
                <a:ea typeface="Montserrat" pitchFamily="34" charset="-122"/>
                <a:cs typeface="Montserrat" pitchFamily="34" charset="-120"/>
              </a:rPr>
              <a:t>SLIDE 5 / 15</a:t>
            </a:r>
            <a:endParaRPr lang="en-US" sz="900" dirty="0"/>
          </a:p>
        </p:txBody>
      </p:sp>
      <p:sp>
        <p:nvSpPr>
          <p:cNvPr id="5" name="Text 3"/>
          <p:cNvSpPr/>
          <p:nvPr/>
        </p:nvSpPr>
        <p:spPr>
          <a:xfrm>
            <a:off x="731520" y="658368"/>
            <a:ext cx="10698480" cy="475488"/>
          </a:xfrm>
          <a:prstGeom prst="rect">
            <a:avLst/>
          </a:prstGeom>
          <a:noFill/>
          <a:ln/>
        </p:spPr>
        <p:txBody>
          <a:bodyPr wrap="square" rtlCol="0" anchor="ctr"/>
          <a:lstStyle/>
          <a:p>
            <a:pPr indent="0" marL="0">
              <a:buNone/>
            </a:pPr>
            <a:r>
              <a:rPr lang="en-US" sz="2000" b="1" dirty="0">
                <a:solidFill>
                  <a:srgbClr val="1B4332"/>
                </a:solidFill>
                <a:latin typeface="Montserrat" pitchFamily="34" charset="0"/>
                <a:ea typeface="Montserrat" pitchFamily="34" charset="-122"/>
                <a:cs typeface="Montserrat" pitchFamily="34" charset="-120"/>
              </a:rPr>
              <a:t>Defect Lifecycle: Error-Defect-Failure &amp; Historical Log</a:t>
            </a:r>
            <a:endParaRPr lang="en-US" sz="2000" dirty="0"/>
          </a:p>
        </p:txBody>
      </p:sp>
      <p:sp>
        <p:nvSpPr>
          <p:cNvPr id="6" name="Shape 4"/>
          <p:cNvSpPr/>
          <p:nvPr/>
        </p:nvSpPr>
        <p:spPr>
          <a:xfrm>
            <a:off x="731520" y="1170432"/>
            <a:ext cx="10698480" cy="0"/>
          </a:xfrm>
          <a:prstGeom prst="line">
            <a:avLst/>
          </a:prstGeom>
          <a:noFill/>
          <a:ln w="12700">
            <a:solidFill>
              <a:srgbClr val="E5E0D8"/>
            </a:solidFill>
            <a:prstDash val="solid"/>
          </a:ln>
        </p:spPr>
      </p:sp>
      <p:sp>
        <p:nvSpPr>
          <p:cNvPr id="7" name="Shape 5"/>
          <p:cNvSpPr/>
          <p:nvPr/>
        </p:nvSpPr>
        <p:spPr>
          <a:xfrm>
            <a:off x="731520" y="1371600"/>
            <a:ext cx="5120640" cy="3611880"/>
          </a:xfrm>
          <a:prstGeom prst="rect">
            <a:avLst>
              <a:gd name="adj" fmla="val 3038"/>
            </a:avLst>
          </a:prstGeom>
          <a:solidFill>
            <a:srgbClr val="FFFFFF"/>
          </a:solidFill>
          <a:ln w="19050">
            <a:solidFill>
              <a:srgbClr val="E5E0D8"/>
            </a:solidFill>
            <a:prstDash val="solid"/>
          </a:ln>
        </p:spPr>
      </p:sp>
      <p:sp>
        <p:nvSpPr>
          <p:cNvPr id="8" name="Text 6"/>
          <p:cNvSpPr/>
          <p:nvPr/>
        </p:nvSpPr>
        <p:spPr>
          <a:xfrm>
            <a:off x="914400" y="1508760"/>
            <a:ext cx="4754880" cy="256032"/>
          </a:xfrm>
          <a:prstGeom prst="rect">
            <a:avLst/>
          </a:prstGeom>
          <a:noFill/>
          <a:ln/>
        </p:spPr>
        <p:txBody>
          <a:bodyPr wrap="square" rtlCol="0" anchor="ctr"/>
          <a:lstStyle/>
          <a:p>
            <a:pPr indent="0" marL="0">
              <a:buNone/>
            </a:pPr>
            <a:r>
              <a:rPr lang="en-US" sz="950" b="1" dirty="0">
                <a:solidFill>
                  <a:srgbClr val="1B4332"/>
                </a:solidFill>
                <a:latin typeface="Montserrat" pitchFamily="34" charset="0"/>
                <a:ea typeface="Montserrat" pitchFamily="34" charset="-122"/>
                <a:cs typeface="Montserrat" pitchFamily="34" charset="-120"/>
              </a:rPr>
              <a:t>PROPAGATION CHAIN: EMULATOR IP ASSUMPTION (DEF-009)</a:t>
            </a:r>
            <a:endParaRPr lang="en-US" sz="950" dirty="0"/>
          </a:p>
        </p:txBody>
      </p:sp>
      <p:sp>
        <p:nvSpPr>
          <p:cNvPr id="9" name="Shape 7"/>
          <p:cNvSpPr/>
          <p:nvPr/>
        </p:nvSpPr>
        <p:spPr>
          <a:xfrm>
            <a:off x="914400" y="1874520"/>
            <a:ext cx="4754880" cy="777240"/>
          </a:xfrm>
          <a:prstGeom prst="rect">
            <a:avLst>
              <a:gd name="adj" fmla="val 9412"/>
            </a:avLst>
          </a:prstGeom>
          <a:solidFill>
            <a:srgbClr val="EAE5DC"/>
          </a:solidFill>
          <a:ln w="15240">
            <a:solidFill>
              <a:srgbClr val="D97706"/>
            </a:solidFill>
            <a:prstDash val="solid"/>
          </a:ln>
        </p:spPr>
      </p:sp>
      <p:sp>
        <p:nvSpPr>
          <p:cNvPr id="10" name="Text 8"/>
          <p:cNvSpPr/>
          <p:nvPr/>
        </p:nvSpPr>
        <p:spPr>
          <a:xfrm>
            <a:off x="1005840" y="1920240"/>
            <a:ext cx="2926080" cy="228600"/>
          </a:xfrm>
          <a:prstGeom prst="rect">
            <a:avLst/>
          </a:prstGeom>
          <a:noFill/>
          <a:ln/>
        </p:spPr>
        <p:txBody>
          <a:bodyPr wrap="square" rtlCol="0" anchor="ctr"/>
          <a:lstStyle/>
          <a:p>
            <a:pPr indent="0" marL="0">
              <a:buNone/>
            </a:pPr>
            <a:r>
              <a:rPr lang="en-US" sz="850" b="1" dirty="0">
                <a:solidFill>
                  <a:srgbClr val="D97706"/>
                </a:solidFill>
                <a:latin typeface="Montserrat" pitchFamily="34" charset="0"/>
                <a:ea typeface="Montserrat" pitchFamily="34" charset="-122"/>
                <a:cs typeface="Montserrat" pitchFamily="34" charset="-120"/>
              </a:rPr>
              <a:t>1. HUMAN ERROR (Mistake)</a:t>
            </a:r>
            <a:endParaRPr lang="en-US" sz="850" dirty="0"/>
          </a:p>
        </p:txBody>
      </p:sp>
      <p:sp>
        <p:nvSpPr>
          <p:cNvPr id="11" name="Text 9"/>
          <p:cNvSpPr/>
          <p:nvPr/>
        </p:nvSpPr>
        <p:spPr>
          <a:xfrm>
            <a:off x="3474720" y="1920240"/>
            <a:ext cx="2103120" cy="228600"/>
          </a:xfrm>
          <a:prstGeom prst="rect">
            <a:avLst/>
          </a:prstGeom>
          <a:noFill/>
          <a:ln/>
        </p:spPr>
        <p:txBody>
          <a:bodyPr wrap="square" rtlCol="0" anchor="ctr"/>
          <a:lstStyle/>
          <a:p>
            <a:pPr algn="r" indent="0" marL="0">
              <a:buNone/>
            </a:pPr>
            <a:r>
              <a:rPr lang="en-US" sz="750" i="1" dirty="0">
                <a:solidFill>
                  <a:srgbClr val="5A5A54"/>
                </a:solidFill>
                <a:latin typeface="Inter" pitchFamily="34" charset="0"/>
                <a:ea typeface="Inter" pitchFamily="34" charset="-122"/>
                <a:cs typeface="Inter" pitchFamily="34" charset="-120"/>
              </a:rPr>
              <a:t>Cognitive Developer Fallacy</a:t>
            </a:r>
            <a:endParaRPr lang="en-US" sz="750" dirty="0"/>
          </a:p>
        </p:txBody>
      </p:sp>
      <p:sp>
        <p:nvSpPr>
          <p:cNvPr id="12" name="Text 10"/>
          <p:cNvSpPr/>
          <p:nvPr/>
        </p:nvSpPr>
        <p:spPr>
          <a:xfrm>
            <a:off x="1005840" y="2148840"/>
            <a:ext cx="4572000" cy="457200"/>
          </a:xfrm>
          <a:prstGeom prst="rect">
            <a:avLst/>
          </a:prstGeom>
          <a:noFill/>
          <a:ln/>
        </p:spPr>
        <p:txBody>
          <a:bodyPr wrap="square" rtlCol="0" anchor="ctr"/>
          <a:lstStyle/>
          <a:p>
            <a:pPr indent="0" marL="0">
              <a:buNone/>
            </a:pPr>
            <a:r>
              <a:rPr lang="en-US" sz="800" dirty="0">
                <a:solidFill>
                  <a:srgbClr val="1C1C19"/>
                </a:solidFill>
                <a:latin typeface="Inter" pitchFamily="34" charset="0"/>
                <a:ea typeface="Inter" pitchFamily="34" charset="-122"/>
                <a:cs typeface="Inter" pitchFamily="34" charset="-120"/>
              </a:rPr>
              <a:t>Developer assumed Android emulator loopback IP (10.0.2.2:8000) was universally valid across all physical runtime environments and device hardware.</a:t>
            </a:r>
            <a:endParaRPr lang="en-US" sz="800" dirty="0"/>
          </a:p>
        </p:txBody>
      </p:sp>
      <p:sp>
        <p:nvSpPr>
          <p:cNvPr id="13" name="Shape 11"/>
          <p:cNvSpPr/>
          <p:nvPr/>
        </p:nvSpPr>
        <p:spPr>
          <a:xfrm>
            <a:off x="914400" y="2788920"/>
            <a:ext cx="4754880" cy="777240"/>
          </a:xfrm>
          <a:prstGeom prst="rect">
            <a:avLst>
              <a:gd name="adj" fmla="val 9412"/>
            </a:avLst>
          </a:prstGeom>
          <a:solidFill>
            <a:srgbClr val="EAE5DC"/>
          </a:solidFill>
          <a:ln w="15240">
            <a:solidFill>
              <a:srgbClr val="B91C1C"/>
            </a:solidFill>
            <a:prstDash val="solid"/>
          </a:ln>
        </p:spPr>
      </p:sp>
      <p:sp>
        <p:nvSpPr>
          <p:cNvPr id="14" name="Text 12"/>
          <p:cNvSpPr/>
          <p:nvPr/>
        </p:nvSpPr>
        <p:spPr>
          <a:xfrm>
            <a:off x="1005840" y="2834640"/>
            <a:ext cx="2926080" cy="228600"/>
          </a:xfrm>
          <a:prstGeom prst="rect">
            <a:avLst/>
          </a:prstGeom>
          <a:noFill/>
          <a:ln/>
        </p:spPr>
        <p:txBody>
          <a:bodyPr wrap="square" rtlCol="0" anchor="ctr"/>
          <a:lstStyle/>
          <a:p>
            <a:pPr indent="0" marL="0">
              <a:buNone/>
            </a:pPr>
            <a:r>
              <a:rPr lang="en-US" sz="850" b="1" dirty="0">
                <a:solidFill>
                  <a:srgbClr val="B91C1C"/>
                </a:solidFill>
                <a:latin typeface="Montserrat" pitchFamily="34" charset="0"/>
                <a:ea typeface="Montserrat" pitchFamily="34" charset="-122"/>
                <a:cs typeface="Montserrat" pitchFamily="34" charset="-120"/>
              </a:rPr>
              <a:t>2. SOFTWARE DEFECT (Bug / Fault)</a:t>
            </a:r>
            <a:endParaRPr lang="en-US" sz="850" dirty="0"/>
          </a:p>
        </p:txBody>
      </p:sp>
      <p:sp>
        <p:nvSpPr>
          <p:cNvPr id="15" name="Text 13"/>
          <p:cNvSpPr/>
          <p:nvPr/>
        </p:nvSpPr>
        <p:spPr>
          <a:xfrm>
            <a:off x="3474720" y="2834640"/>
            <a:ext cx="2103120" cy="228600"/>
          </a:xfrm>
          <a:prstGeom prst="rect">
            <a:avLst/>
          </a:prstGeom>
          <a:noFill/>
          <a:ln/>
        </p:spPr>
        <p:txBody>
          <a:bodyPr wrap="square" rtlCol="0" anchor="ctr"/>
          <a:lstStyle/>
          <a:p>
            <a:pPr algn="r" indent="0" marL="0">
              <a:buNone/>
            </a:pPr>
            <a:r>
              <a:rPr lang="en-US" sz="750" i="1" dirty="0">
                <a:solidFill>
                  <a:srgbClr val="5A5A54"/>
                </a:solidFill>
                <a:latin typeface="Inter" pitchFamily="34" charset="0"/>
                <a:ea typeface="Inter" pitchFamily="34" charset="-122"/>
                <a:cs typeface="Inter" pitchFamily="34" charset="-120"/>
              </a:rPr>
              <a:t>Static Code Vulnerability</a:t>
            </a:r>
            <a:endParaRPr lang="en-US" sz="750" dirty="0"/>
          </a:p>
        </p:txBody>
      </p:sp>
      <p:sp>
        <p:nvSpPr>
          <p:cNvPr id="16" name="Text 14"/>
          <p:cNvSpPr/>
          <p:nvPr/>
        </p:nvSpPr>
        <p:spPr>
          <a:xfrm>
            <a:off x="1005840" y="3063240"/>
            <a:ext cx="4572000" cy="457200"/>
          </a:xfrm>
          <a:prstGeom prst="rect">
            <a:avLst/>
          </a:prstGeom>
          <a:noFill/>
          <a:ln/>
        </p:spPr>
        <p:txBody>
          <a:bodyPr wrap="square" rtlCol="0" anchor="ctr"/>
          <a:lstStyle/>
          <a:p>
            <a:pPr indent="0" marL="0">
              <a:buNone/>
            </a:pPr>
            <a:r>
              <a:rPr lang="en-US" sz="800" dirty="0">
                <a:solidFill>
                  <a:srgbClr val="1C1C19"/>
                </a:solidFill>
                <a:latin typeface="Inter" pitchFamily="34" charset="0"/>
                <a:ea typeface="Inter" pitchFamily="34" charset="-122"/>
                <a:cs typeface="Inter" pitchFamily="34" charset="-120"/>
              </a:rPr>
              <a:t>api_service.dart hardcoded defaultBaseUrl to 10.0.2.2 in debug mode without verifying whether target hardware had local loopback routing.</a:t>
            </a:r>
            <a:endParaRPr lang="en-US" sz="800" dirty="0"/>
          </a:p>
        </p:txBody>
      </p:sp>
      <p:sp>
        <p:nvSpPr>
          <p:cNvPr id="17" name="Shape 15"/>
          <p:cNvSpPr/>
          <p:nvPr/>
        </p:nvSpPr>
        <p:spPr>
          <a:xfrm>
            <a:off x="914400" y="3703320"/>
            <a:ext cx="4754880" cy="777240"/>
          </a:xfrm>
          <a:prstGeom prst="rect">
            <a:avLst>
              <a:gd name="adj" fmla="val 9412"/>
            </a:avLst>
          </a:prstGeom>
          <a:solidFill>
            <a:srgbClr val="EAE5DC"/>
          </a:solidFill>
          <a:ln w="15240">
            <a:solidFill>
              <a:srgbClr val="7F1D1D"/>
            </a:solidFill>
            <a:prstDash val="solid"/>
          </a:ln>
        </p:spPr>
      </p:sp>
      <p:sp>
        <p:nvSpPr>
          <p:cNvPr id="18" name="Text 16"/>
          <p:cNvSpPr/>
          <p:nvPr/>
        </p:nvSpPr>
        <p:spPr>
          <a:xfrm>
            <a:off x="1005840" y="3749040"/>
            <a:ext cx="2926080" cy="228600"/>
          </a:xfrm>
          <a:prstGeom prst="rect">
            <a:avLst/>
          </a:prstGeom>
          <a:noFill/>
          <a:ln/>
        </p:spPr>
        <p:txBody>
          <a:bodyPr wrap="square" rtlCol="0" anchor="ctr"/>
          <a:lstStyle/>
          <a:p>
            <a:pPr indent="0" marL="0">
              <a:buNone/>
            </a:pPr>
            <a:r>
              <a:rPr lang="en-US" sz="850" b="1" dirty="0">
                <a:solidFill>
                  <a:srgbClr val="7F1D1D"/>
                </a:solidFill>
                <a:latin typeface="Montserrat" pitchFamily="34" charset="0"/>
                <a:ea typeface="Montserrat" pitchFamily="34" charset="-122"/>
                <a:cs typeface="Montserrat" pitchFamily="34" charset="-120"/>
              </a:rPr>
              <a:t>3. SYSTEM FAILURE (Runtime Manifestation)</a:t>
            </a:r>
            <a:endParaRPr lang="en-US" sz="850" dirty="0"/>
          </a:p>
        </p:txBody>
      </p:sp>
      <p:sp>
        <p:nvSpPr>
          <p:cNvPr id="19" name="Text 17"/>
          <p:cNvSpPr/>
          <p:nvPr/>
        </p:nvSpPr>
        <p:spPr>
          <a:xfrm>
            <a:off x="3474720" y="3749040"/>
            <a:ext cx="2103120" cy="228600"/>
          </a:xfrm>
          <a:prstGeom prst="rect">
            <a:avLst/>
          </a:prstGeom>
          <a:noFill/>
          <a:ln/>
        </p:spPr>
        <p:txBody>
          <a:bodyPr wrap="square" rtlCol="0" anchor="ctr"/>
          <a:lstStyle/>
          <a:p>
            <a:pPr algn="r" indent="0" marL="0">
              <a:buNone/>
            </a:pPr>
            <a:r>
              <a:rPr lang="en-US" sz="750" i="1" dirty="0">
                <a:solidFill>
                  <a:srgbClr val="5A5A54"/>
                </a:solidFill>
                <a:latin typeface="Inter" pitchFamily="34" charset="0"/>
                <a:ea typeface="Inter" pitchFamily="34" charset="-122"/>
                <a:cs typeface="Inter" pitchFamily="34" charset="-120"/>
              </a:rPr>
              <a:t>Observed Dynamic Failure</a:t>
            </a:r>
            <a:endParaRPr lang="en-US" sz="750" dirty="0"/>
          </a:p>
        </p:txBody>
      </p:sp>
      <p:sp>
        <p:nvSpPr>
          <p:cNvPr id="20" name="Text 18"/>
          <p:cNvSpPr/>
          <p:nvPr/>
        </p:nvSpPr>
        <p:spPr>
          <a:xfrm>
            <a:off x="1005840" y="3977640"/>
            <a:ext cx="4572000" cy="457200"/>
          </a:xfrm>
          <a:prstGeom prst="rect">
            <a:avLst/>
          </a:prstGeom>
          <a:noFill/>
          <a:ln/>
        </p:spPr>
        <p:txBody>
          <a:bodyPr wrap="square" rtlCol="0" anchor="ctr"/>
          <a:lstStyle/>
          <a:p>
            <a:pPr indent="0" marL="0">
              <a:buNone/>
            </a:pPr>
            <a:r>
              <a:rPr lang="en-US" sz="800" dirty="0">
                <a:solidFill>
                  <a:srgbClr val="1C1C19"/>
                </a:solidFill>
                <a:latin typeface="Inter" pitchFamily="34" charset="0"/>
                <a:ea typeface="Inter" pitchFamily="34" charset="-122"/>
                <a:cs typeface="Inter" pitchFamily="34" charset="-120"/>
              </a:rPr>
              <a:t>Physical Xiaomi Redmi Note 10 Pro stalled for 76.5 seconds in retry loop displaying 'Waking up server (retrying 3/3)...' before timing out.</a:t>
            </a:r>
            <a:endParaRPr lang="en-US" sz="800" dirty="0"/>
          </a:p>
        </p:txBody>
      </p:sp>
      <p:sp>
        <p:nvSpPr>
          <p:cNvPr id="21" name="Shape 19"/>
          <p:cNvSpPr/>
          <p:nvPr/>
        </p:nvSpPr>
        <p:spPr>
          <a:xfrm>
            <a:off x="6126480" y="1371600"/>
            <a:ext cx="5303520" cy="3611880"/>
          </a:xfrm>
          <a:prstGeom prst="rect">
            <a:avLst>
              <a:gd name="adj" fmla="val 3038"/>
            </a:avLst>
          </a:prstGeom>
          <a:solidFill>
            <a:srgbClr val="FFFFFF"/>
          </a:solidFill>
          <a:ln w="19050">
            <a:solidFill>
              <a:srgbClr val="E5E0D8"/>
            </a:solidFill>
            <a:prstDash val="solid"/>
          </a:ln>
        </p:spPr>
      </p:sp>
      <p:sp>
        <p:nvSpPr>
          <p:cNvPr id="22" name="Text 20"/>
          <p:cNvSpPr/>
          <p:nvPr/>
        </p:nvSpPr>
        <p:spPr>
          <a:xfrm>
            <a:off x="6309360" y="1508760"/>
            <a:ext cx="4937760" cy="256032"/>
          </a:xfrm>
          <a:prstGeom prst="rect">
            <a:avLst/>
          </a:prstGeom>
          <a:noFill/>
          <a:ln/>
        </p:spPr>
        <p:txBody>
          <a:bodyPr wrap="square" rtlCol="0" anchor="ctr"/>
          <a:lstStyle/>
          <a:p>
            <a:pPr indent="0" marL="0">
              <a:buNone/>
            </a:pPr>
            <a:r>
              <a:rPr lang="en-US" sz="950" b="1" dirty="0">
                <a:solidFill>
                  <a:srgbClr val="1B4332"/>
                </a:solidFill>
                <a:latin typeface="Montserrat" pitchFamily="34" charset="0"/>
                <a:ea typeface="Montserrat" pitchFamily="34" charset="-122"/>
                <a:cs typeface="Montserrat" pitchFamily="34" charset="-120"/>
              </a:rPr>
              <a:t>HISTORICAL DEFECT LOG: CLASSIFICATION &amp; SEVERITY (DEF-001..DEF-011)</a:t>
            </a:r>
            <a:endParaRPr lang="en-US" sz="950" dirty="0"/>
          </a:p>
        </p:txBody>
      </p:sp>
      <p:graphicFrame>
        <p:nvGraphicFramePr>
          <p:cNvPr id="23" name="Chart 0" descr=""/>
          <p:cNvGraphicFramePr/>
          <p:nvPr/>
        </p:nvGraphicFramePr>
        <p:xfrm>
          <a:off x="6309360" y="1828800"/>
          <a:ext cx="4937760" cy="2468880"/>
        </p:xfrm>
        <a:graphic xmlns:a="http://schemas.openxmlformats.org/drawingml/2006/main">
          <a:graphicData uri="http://schemas.openxmlformats.org/drawingml/2006/chart">
            <c:chart xmlns:c="http://schemas.openxmlformats.org/drawingml/2006/chart" r:id="rId1"/>
          </a:graphicData>
        </a:graphic>
      </p:graphicFrame>
      <p:sp>
        <p:nvSpPr>
          <p:cNvPr id="24" name="Shape 21"/>
          <p:cNvSpPr/>
          <p:nvPr/>
        </p:nvSpPr>
        <p:spPr>
          <a:xfrm>
            <a:off x="6309360" y="4389120"/>
            <a:ext cx="4937760" cy="457200"/>
          </a:xfrm>
          <a:prstGeom prst="rect">
            <a:avLst>
              <a:gd name="adj" fmla="val 16000"/>
            </a:avLst>
          </a:prstGeom>
          <a:solidFill>
            <a:srgbClr val="EAE5DC"/>
          </a:solidFill>
          <a:ln w="12700">
            <a:solidFill>
              <a:srgbClr val="E5E0D8"/>
            </a:solidFill>
            <a:prstDash val="solid"/>
          </a:ln>
        </p:spPr>
      </p:sp>
      <p:sp>
        <p:nvSpPr>
          <p:cNvPr id="25" name="Text 22"/>
          <p:cNvSpPr/>
          <p:nvPr/>
        </p:nvSpPr>
        <p:spPr>
          <a:xfrm>
            <a:off x="6309360" y="4389120"/>
            <a:ext cx="4937760" cy="457200"/>
          </a:xfrm>
          <a:prstGeom prst="rect">
            <a:avLst/>
          </a:prstGeom>
          <a:noFill/>
          <a:ln/>
        </p:spPr>
        <p:txBody>
          <a:bodyPr wrap="square" rtlCol="0" anchor="ctr"/>
          <a:lstStyle/>
          <a:p>
            <a:pPr algn="ctr" indent="0" marL="0">
              <a:buNone/>
            </a:pPr>
            <a:r>
              <a:rPr lang="en-US" sz="800" b="1" dirty="0">
                <a:solidFill>
                  <a:srgbClr val="1B4332"/>
                </a:solidFill>
                <a:latin typeface="Montserrat" pitchFamily="34" charset="0"/>
                <a:ea typeface="Montserrat" pitchFamily="34" charset="-122"/>
                <a:cs typeface="Montserrat" pitchFamily="34" charset="-120"/>
              </a:rPr>
              <a:t>STATUS SUMMARY: 9 RESOLVED &amp; REGRESSION-TESTED | 2 HONESTLY OPEN</a:t>
            </a:r>
            <a:endParaRPr lang="en-US" sz="800" dirty="0"/>
          </a:p>
          <a:p>
            <a:pPr algn="ctr" indent="0" marL="0">
              <a:buNone/>
            </a:pPr>
            <a:r>
              <a:rPr lang="en-US" sz="800" b="1" dirty="0">
                <a:solidFill>
                  <a:srgbClr val="1B4332"/>
                </a:solidFill>
                <a:latin typeface="Montserrat" pitchFamily="34" charset="0"/>
                <a:ea typeface="Montserrat" pitchFamily="34" charset="-122"/>
                <a:cs typeface="Montserrat" pitchFamily="34" charset="-120"/>
              </a:rPr>
              <a:t>[DEF-008: 4-Week Calendar Skew (Open) | DEF-011: Legacy Donation State (Open)]</a:t>
            </a:r>
            <a:endParaRPr lang="en-US" sz="800" dirty="0"/>
          </a:p>
        </p:txBody>
      </p:sp>
      <p:sp>
        <p:nvSpPr>
          <p:cNvPr id="26" name="Text 23"/>
          <p:cNvSpPr/>
          <p:nvPr/>
        </p:nvSpPr>
        <p:spPr>
          <a:xfrm>
            <a:off x="731520" y="5166360"/>
            <a:ext cx="10698480" cy="1234440"/>
          </a:xfrm>
          <a:prstGeom prst="rect">
            <a:avLst/>
          </a:prstGeom>
          <a:noFill/>
          <a:ln/>
        </p:spPr>
        <p:txBody>
          <a:bodyPr wrap="square" rtlCol="0" anchor="t"/>
          <a:lstStyle/>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Conceptual Defect Propagation: Demonstrates how a developer's mistaken loopback assumption introduced a static configuration fault that produced a 76-second freeze during physical device testing.</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Empirical Defect Classification: Eleven verified defects logged across git history reveal primary defect clusters in layout rendering, mock data desynchronization, and network configuration.</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Transparent Resolution Accounting: Nine defects are fully resolved with regression test coverage; two defects remain honestly documented as open (DEF-008 calendar lag alignment and DEF-011 legacy donation state).</a:t>
            </a:r>
            <a:endParaRPr lang="en-US" sz="1150" dirty="0"/>
          </a:p>
        </p:txBody>
      </p:sp>
      <p:sp>
        <p:nvSpPr>
          <p:cNvPr id="27" name="Text 24"/>
          <p:cNvSpPr/>
          <p:nvPr/>
        </p:nvSpPr>
        <p:spPr>
          <a:xfrm>
            <a:off x="731520" y="6419088"/>
            <a:ext cx="10698480" cy="228600"/>
          </a:xfrm>
          <a:prstGeom prst="rect">
            <a:avLst/>
          </a:prstGeom>
          <a:noFill/>
          <a:ln/>
        </p:spPr>
        <p:txBody>
          <a:bodyPr wrap="square" rtlCol="0" anchor="b"/>
          <a:lstStyle/>
          <a:p>
            <a:pPr indent="0" marL="0">
              <a:buNone/>
            </a:pPr>
            <a:r>
              <a:rPr lang="en-US" sz="850" i="1" dirty="0">
                <a:solidFill>
                  <a:srgbClr val="5A5A54"/>
                </a:solidFill>
                <a:latin typeface="Inter" pitchFamily="34" charset="0"/>
                <a:ea typeface="Inter" pitchFamily="34" charset="-122"/>
                <a:cs typeface="Inter" pitchFamily="34" charset="-120"/>
              </a:rPr>
              <a:t>Evidence Source: Git log commits 6b294a5e..49caa0ef; Verified defect taxonomy in docs/TESTING_AND_INTEGRITY_REPORT.md.</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9F4"/>
        </a:solidFill>
      </p:bgPr>
    </p:bg>
    <p:spTree>
      <p:nvGrpSpPr>
        <p:cNvPr id="1" name=""/>
        <p:cNvGrpSpPr/>
        <p:nvPr/>
      </p:nvGrpSpPr>
      <p:grpSpPr>
        <a:xfrm>
          <a:off x="0" y="0"/>
          <a:ext cx="0" cy="0"/>
          <a:chOff x="0" y="0"/>
          <a:chExt cx="0" cy="0"/>
        </a:xfrm>
      </p:grpSpPr>
      <p:sp>
        <p:nvSpPr>
          <p:cNvPr id="2" name="Shape 0"/>
          <p:cNvSpPr/>
          <p:nvPr/>
        </p:nvSpPr>
        <p:spPr>
          <a:xfrm>
            <a:off x="731520" y="320040"/>
            <a:ext cx="2194560" cy="274320"/>
          </a:xfrm>
          <a:prstGeom prst="rect">
            <a:avLst>
              <a:gd name="adj" fmla="val 20000"/>
            </a:avLst>
          </a:prstGeom>
          <a:solidFill>
            <a:srgbClr val="EAE5DC"/>
          </a:solidFill>
          <a:ln w="12700">
            <a:solidFill>
              <a:srgbClr val="E5E0D8"/>
            </a:solidFill>
            <a:prstDash val="solid"/>
          </a:ln>
        </p:spPr>
      </p:sp>
      <p:sp>
        <p:nvSpPr>
          <p:cNvPr id="3" name="Text 1"/>
          <p:cNvSpPr/>
          <p:nvPr/>
        </p:nvSpPr>
        <p:spPr>
          <a:xfrm>
            <a:off x="731520" y="320040"/>
            <a:ext cx="2194560" cy="274320"/>
          </a:xfrm>
          <a:prstGeom prst="rect">
            <a:avLst/>
          </a:prstGeom>
          <a:noFill/>
          <a:ln/>
        </p:spPr>
        <p:txBody>
          <a:bodyPr wrap="square" rtlCol="0" anchor="ctr"/>
          <a:lstStyle/>
          <a:p>
            <a:pPr algn="ctr" indent="0" marL="0">
              <a:buNone/>
            </a:pPr>
            <a:r>
              <a:rPr lang="en-US" sz="850" b="1" dirty="0">
                <a:solidFill>
                  <a:srgbClr val="1B4332"/>
                </a:solidFill>
                <a:latin typeface="Montserrat" pitchFamily="34" charset="0"/>
                <a:ea typeface="Montserrat" pitchFamily="34" charset="-122"/>
                <a:cs typeface="Montserrat" pitchFamily="34" charset="-120"/>
              </a:rPr>
              <a:t>UNIT 2: TECHNIQUES</a:t>
            </a:r>
            <a:endParaRPr lang="en-US" sz="850" dirty="0"/>
          </a:p>
        </p:txBody>
      </p:sp>
      <p:sp>
        <p:nvSpPr>
          <p:cNvPr id="4" name="Text 2"/>
          <p:cNvSpPr/>
          <p:nvPr/>
        </p:nvSpPr>
        <p:spPr>
          <a:xfrm>
            <a:off x="10058400" y="320040"/>
            <a:ext cx="1371600" cy="274320"/>
          </a:xfrm>
          <a:prstGeom prst="rect">
            <a:avLst/>
          </a:prstGeom>
          <a:noFill/>
          <a:ln/>
        </p:spPr>
        <p:txBody>
          <a:bodyPr wrap="square" rtlCol="0" anchor="ctr"/>
          <a:lstStyle/>
          <a:p>
            <a:pPr algn="r" indent="0" marL="0">
              <a:buNone/>
            </a:pPr>
            <a:r>
              <a:rPr lang="en-US" sz="900" b="1" dirty="0">
                <a:solidFill>
                  <a:srgbClr val="5A5A54"/>
                </a:solidFill>
                <a:latin typeface="Montserrat" pitchFamily="34" charset="0"/>
                <a:ea typeface="Montserrat" pitchFamily="34" charset="-122"/>
                <a:cs typeface="Montserrat" pitchFamily="34" charset="-120"/>
              </a:rPr>
              <a:t>SLIDE 6 / 15</a:t>
            </a:r>
            <a:endParaRPr lang="en-US" sz="900" dirty="0"/>
          </a:p>
        </p:txBody>
      </p:sp>
      <p:sp>
        <p:nvSpPr>
          <p:cNvPr id="5" name="Text 3"/>
          <p:cNvSpPr/>
          <p:nvPr/>
        </p:nvSpPr>
        <p:spPr>
          <a:xfrm>
            <a:off x="731520" y="658368"/>
            <a:ext cx="10698480" cy="475488"/>
          </a:xfrm>
          <a:prstGeom prst="rect">
            <a:avLst/>
          </a:prstGeom>
          <a:noFill/>
          <a:ln/>
        </p:spPr>
        <p:txBody>
          <a:bodyPr wrap="square" rtlCol="0" anchor="ctr"/>
          <a:lstStyle/>
          <a:p>
            <a:pPr indent="0" marL="0">
              <a:buNone/>
            </a:pPr>
            <a:r>
              <a:rPr lang="en-US" sz="2000" b="1" dirty="0">
                <a:solidFill>
                  <a:srgbClr val="1B4332"/>
                </a:solidFill>
                <a:latin typeface="Montserrat" pitchFamily="34" charset="0"/>
                <a:ea typeface="Montserrat" pitchFamily="34" charset="-122"/>
                <a:cs typeface="Montserrat" pitchFamily="34" charset="-120"/>
              </a:rPr>
              <a:t>Black-Box Testing: Equivalence Partitioning &amp; Decision Table</a:t>
            </a:r>
            <a:endParaRPr lang="en-US" sz="2000" dirty="0"/>
          </a:p>
        </p:txBody>
      </p:sp>
      <p:sp>
        <p:nvSpPr>
          <p:cNvPr id="6" name="Shape 4"/>
          <p:cNvSpPr/>
          <p:nvPr/>
        </p:nvSpPr>
        <p:spPr>
          <a:xfrm>
            <a:off x="731520" y="1170432"/>
            <a:ext cx="10698480" cy="0"/>
          </a:xfrm>
          <a:prstGeom prst="line">
            <a:avLst/>
          </a:prstGeom>
          <a:noFill/>
          <a:ln w="12700">
            <a:solidFill>
              <a:srgbClr val="E5E0D8"/>
            </a:solidFill>
            <a:prstDash val="solid"/>
          </a:ln>
        </p:spPr>
      </p:sp>
      <p:sp>
        <p:nvSpPr>
          <p:cNvPr id="7" name="Shape 5"/>
          <p:cNvSpPr/>
          <p:nvPr/>
        </p:nvSpPr>
        <p:spPr>
          <a:xfrm>
            <a:off x="731520" y="1371600"/>
            <a:ext cx="4937760" cy="3611880"/>
          </a:xfrm>
          <a:prstGeom prst="rect">
            <a:avLst>
              <a:gd name="adj" fmla="val 3038"/>
            </a:avLst>
          </a:prstGeom>
          <a:solidFill>
            <a:srgbClr val="FFFFFF"/>
          </a:solidFill>
          <a:ln w="19050">
            <a:solidFill>
              <a:srgbClr val="E5E0D8"/>
            </a:solidFill>
            <a:prstDash val="solid"/>
          </a:ln>
        </p:spPr>
      </p:sp>
      <p:sp>
        <p:nvSpPr>
          <p:cNvPr id="8" name="Text 6"/>
          <p:cNvSpPr/>
          <p:nvPr/>
        </p:nvSpPr>
        <p:spPr>
          <a:xfrm>
            <a:off x="914400" y="1508760"/>
            <a:ext cx="4572000" cy="256032"/>
          </a:xfrm>
          <a:prstGeom prst="rect">
            <a:avLst/>
          </a:prstGeom>
          <a:noFill/>
          <a:ln/>
        </p:spPr>
        <p:txBody>
          <a:bodyPr wrap="square" rtlCol="0" anchor="ctr"/>
          <a:lstStyle/>
          <a:p>
            <a:pPr indent="0" marL="0">
              <a:buNone/>
            </a:pPr>
            <a:r>
              <a:rPr lang="en-US" sz="950" b="1" dirty="0">
                <a:solidFill>
                  <a:srgbClr val="1B4332"/>
                </a:solidFill>
                <a:latin typeface="Montserrat" pitchFamily="34" charset="0"/>
                <a:ea typeface="Montserrat" pitchFamily="34" charset="-122"/>
                <a:cs typeface="Montserrat" pitchFamily="34" charset="-120"/>
              </a:rPr>
              <a:t>BVA: ASSISTANT QUERY LENGTH (1 &lt;= LENGTH &lt;= 500)</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914400" y="1874520"/>
          <a:ext cx="4572000" cy="1691640"/>
        </p:xfrm>
        <a:graphic>
          <a:graphicData uri="http://schemas.openxmlformats.org/drawingml/2006/table">
            <a:tbl>
              <a:tblPr/>
              <a:tblGrid>
                <a:gridCol w="822960"/>
                <a:gridCol w="457200"/>
                <a:gridCol w="1463040"/>
                <a:gridCol w="1280160"/>
                <a:gridCol w="548640"/>
              </a:tblGrid>
              <a:tr h="292608">
                <a:tc>
                  <a:txBody>
                    <a:bodyPr/>
                    <a:lstStyle/>
                    <a:p>
                      <a:pPr indent="0" marL="0">
                        <a:buNone/>
                      </a:pPr>
                      <a:r>
                        <a:rPr lang="en-US" sz="800" b="1" dirty="0">
                          <a:solidFill>
                            <a:srgbClr val="1B4332"/>
                          </a:solidFill>
                          <a:latin typeface="Montserrat" pitchFamily="34" charset="0"/>
                          <a:ea typeface="Montserrat" pitchFamily="34" charset="-122"/>
                          <a:cs typeface="Montserrat" pitchFamily="34" charset="-120"/>
                        </a:rPr>
                        <a:t>Bound</a:t>
                      </a:r>
                      <a:endParaRPr lang="en-US" sz="8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algn="ctr" indent="0" marL="0">
                        <a:buNone/>
                      </a:pPr>
                      <a:r>
                        <a:rPr lang="en-US" sz="800" b="1" dirty="0">
                          <a:solidFill>
                            <a:srgbClr val="1B4332"/>
                          </a:solidFill>
                          <a:latin typeface="Montserrat" pitchFamily="34" charset="0"/>
                          <a:ea typeface="Montserrat" pitchFamily="34" charset="-122"/>
                          <a:cs typeface="Montserrat" pitchFamily="34" charset="-120"/>
                        </a:rPr>
                        <a:t>Len</a:t>
                      </a:r>
                      <a:endParaRPr lang="en-US" sz="8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indent="0" marL="0">
                        <a:buNone/>
                      </a:pPr>
                      <a:r>
                        <a:rPr lang="en-US" sz="800" b="1" dirty="0">
                          <a:solidFill>
                            <a:srgbClr val="1B4332"/>
                          </a:solidFill>
                          <a:latin typeface="Montserrat" pitchFamily="34" charset="0"/>
                          <a:ea typeface="Montserrat" pitchFamily="34" charset="-122"/>
                          <a:cs typeface="Montserrat" pitchFamily="34" charset="-120"/>
                        </a:rPr>
                        <a:t>Class / Partition</a:t>
                      </a:r>
                      <a:endParaRPr lang="en-US" sz="8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indent="0" marL="0">
                        <a:buNone/>
                      </a:pPr>
                      <a:r>
                        <a:rPr lang="en-US" sz="800" b="1" dirty="0">
                          <a:solidFill>
                            <a:srgbClr val="1B4332"/>
                          </a:solidFill>
                          <a:latin typeface="Montserrat" pitchFamily="34" charset="0"/>
                          <a:ea typeface="Montserrat" pitchFamily="34" charset="-122"/>
                          <a:cs typeface="Montserrat" pitchFamily="34" charset="-120"/>
                        </a:rPr>
                        <a:t>Expected Output</a:t>
                      </a:r>
                      <a:endParaRPr lang="en-US" sz="8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algn="ctr" indent="0" marL="0">
                        <a:buNone/>
                      </a:pPr>
                      <a:r>
                        <a:rPr lang="en-US" sz="800" b="1" dirty="0">
                          <a:solidFill>
                            <a:srgbClr val="1B4332"/>
                          </a:solidFill>
                          <a:latin typeface="Montserrat" pitchFamily="34" charset="0"/>
                          <a:ea typeface="Montserrat" pitchFamily="34" charset="-122"/>
                          <a:cs typeface="Montserrat" pitchFamily="34" charset="-120"/>
                        </a:rPr>
                        <a:t>Result</a:t>
                      </a:r>
                      <a:endParaRPr lang="en-US" sz="8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r>
              <a:tr h="274320">
                <a:tc>
                  <a:txBody>
                    <a:bodyPr/>
                    <a:lstStyle/>
                    <a:p>
                      <a:pPr indent="0" marL="0">
                        <a:buNone/>
                      </a:pPr>
                      <a:r>
                        <a:rPr lang="en-US" sz="800" dirty="0">
                          <a:solidFill>
                            <a:srgbClr val="1C1C19"/>
                          </a:solidFill>
                          <a:latin typeface="Inter" pitchFamily="34" charset="0"/>
                          <a:ea typeface="Inter" pitchFamily="34" charset="-122"/>
                          <a:cs typeface="Inter" pitchFamily="34" charset="-120"/>
                        </a:rPr>
                        <a:t>0</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0</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Invalid Lower (Below Min)</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ValidationError (min_length=1)</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PASS</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74320">
                <a:tc>
                  <a:txBody>
                    <a:bodyPr/>
                    <a:lstStyle/>
                    <a:p>
                      <a:pPr indent="0" marL="0">
                        <a:buNone/>
                      </a:pPr>
                      <a:r>
                        <a:rPr lang="en-US" sz="800" dirty="0">
                          <a:solidFill>
                            <a:srgbClr val="1C1C19"/>
                          </a:solidFill>
                          <a:latin typeface="Inter" pitchFamily="34" charset="0"/>
                          <a:ea typeface="Inter" pitchFamily="34" charset="-122"/>
                          <a:cs typeface="Inter" pitchFamily="34" charset="-120"/>
                        </a:rPr>
                        <a:t>1</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1</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Valid Lower (Min Bound)</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Accepted (Status 200 OK)</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PASS</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74320">
                <a:tc>
                  <a:txBody>
                    <a:bodyPr/>
                    <a:lstStyle/>
                    <a:p>
                      <a:pPr indent="0" marL="0">
                        <a:buNone/>
                      </a:pPr>
                      <a:r>
                        <a:rPr lang="en-US" sz="800" dirty="0">
                          <a:solidFill>
                            <a:srgbClr val="1C1C19"/>
                          </a:solidFill>
                          <a:latin typeface="Inter" pitchFamily="34" charset="0"/>
                          <a:ea typeface="Inter" pitchFamily="34" charset="-122"/>
                          <a:cs typeface="Inter" pitchFamily="34" charset="-120"/>
                        </a:rPr>
                        <a:t>Nominal</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35</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Valid Interior Partition</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Accepted (Status 200 OK)</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PASS</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74320">
                <a:tc>
                  <a:txBody>
                    <a:bodyPr/>
                    <a:lstStyle/>
                    <a:p>
                      <a:pPr indent="0" marL="0">
                        <a:buNone/>
                      </a:pPr>
                      <a:r>
                        <a:rPr lang="en-US" sz="800" dirty="0">
                          <a:solidFill>
                            <a:srgbClr val="1C1C19"/>
                          </a:solidFill>
                          <a:latin typeface="Inter" pitchFamily="34" charset="0"/>
                          <a:ea typeface="Inter" pitchFamily="34" charset="-122"/>
                          <a:cs typeface="Inter" pitchFamily="34" charset="-120"/>
                        </a:rPr>
                        <a:t>500</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500</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Valid Upper (Max Bound)</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Accepted (Status 200 OK)</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PASS</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74320">
                <a:tc>
                  <a:txBody>
                    <a:bodyPr/>
                    <a:lstStyle/>
                    <a:p>
                      <a:pPr indent="0" marL="0">
                        <a:buNone/>
                      </a:pPr>
                      <a:r>
                        <a:rPr lang="en-US" sz="800" dirty="0">
                          <a:solidFill>
                            <a:srgbClr val="1C1C19"/>
                          </a:solidFill>
                          <a:latin typeface="Inter" pitchFamily="34" charset="0"/>
                          <a:ea typeface="Inter" pitchFamily="34" charset="-122"/>
                          <a:cs typeface="Inter" pitchFamily="34" charset="-120"/>
                        </a:rPr>
                        <a:t>501</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501</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Invalid Upper (Above Max)</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ValidationError (max_length=500)</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PASS</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bl>
          </a:graphicData>
        </a:graphic>
      </p:graphicFrame>
      <p:sp>
        <p:nvSpPr>
          <p:cNvPr id="10" name="Shape 7"/>
          <p:cNvSpPr/>
          <p:nvPr/>
        </p:nvSpPr>
        <p:spPr>
          <a:xfrm>
            <a:off x="914400" y="3703320"/>
            <a:ext cx="4572000" cy="1143000"/>
          </a:xfrm>
          <a:prstGeom prst="rect">
            <a:avLst>
              <a:gd name="adj" fmla="val 6400"/>
            </a:avLst>
          </a:prstGeom>
          <a:solidFill>
            <a:srgbClr val="F4EFE6"/>
          </a:solidFill>
          <a:ln w="10160">
            <a:solidFill>
              <a:srgbClr val="D8D2C6"/>
            </a:solidFill>
            <a:prstDash val="solid"/>
          </a:ln>
        </p:spPr>
      </p:sp>
      <p:sp>
        <p:nvSpPr>
          <p:cNvPr id="11" name="Text 8"/>
          <p:cNvSpPr/>
          <p:nvPr/>
        </p:nvSpPr>
        <p:spPr>
          <a:xfrm>
            <a:off x="1005840" y="3749040"/>
            <a:ext cx="4389120" cy="1051560"/>
          </a:xfrm>
          <a:prstGeom prst="rect">
            <a:avLst/>
          </a:prstGeom>
          <a:noFill/>
          <a:ln/>
        </p:spPr>
        <p:txBody>
          <a:bodyPr wrap="square" rtlCol="0" anchor="ctr"/>
          <a:lstStyle/>
          <a:p>
            <a:pPr indent="0" marL="0">
              <a:buNone/>
            </a:pPr>
            <a:r>
              <a:rPr lang="en-US" sz="750" dirty="0">
                <a:solidFill>
                  <a:srgbClr val="1C1C19"/>
                </a:solidFill>
                <a:latin typeface="Consolas" pitchFamily="34" charset="0"/>
                <a:ea typeface="Consolas" pitchFamily="34" charset="-122"/>
                <a:cs typeface="Consolas" pitchFamily="34" charset="-120"/>
              </a:rPr>
              <a:t>TEST EXECUTION SNIPPET (test_backend_unit.py:10):</a:t>
            </a:r>
            <a:endParaRPr lang="en-US" sz="750" dirty="0"/>
          </a:p>
          <a:p>
            <a:pPr indent="0" marL="0">
              <a:buNone/>
            </a:pPr>
            <a:r>
              <a:rPr lang="en-US" sz="750" dirty="0">
                <a:solidFill>
                  <a:srgbClr val="1C1C19"/>
                </a:solidFill>
                <a:latin typeface="Consolas" pitchFamily="34" charset="0"/>
                <a:ea typeface="Consolas" pitchFamily="34" charset="-122"/>
                <a:cs typeface="Consolas" pitchFamily="34" charset="-120"/>
              </a:rPr>
              <a:t>with self.assertRaises(ValidationError):</a:t>
            </a:r>
            <a:endParaRPr lang="en-US" sz="750" dirty="0"/>
          </a:p>
          <a:p>
            <a:pPr indent="0" marL="0">
              <a:buNone/>
            </a:pPr>
            <a:r>
              <a:rPr lang="en-US" sz="750" dirty="0">
                <a:solidFill>
                  <a:srgbClr val="1C1C19"/>
                </a:solidFill>
                <a:latin typeface="Consolas" pitchFamily="34" charset="0"/>
                <a:ea typeface="Consolas" pitchFamily="34" charset="-122"/>
                <a:cs typeface="Consolas" pitchFamily="34" charset="-120"/>
              </a:rPr>
              <a:t>    AssistantChatRequest(query="")       # Len 0: Fails</a:t>
            </a:r>
            <a:endParaRPr lang="en-US" sz="750" dirty="0"/>
          </a:p>
          <a:p>
            <a:pPr indent="0" marL="0">
              <a:buNone/>
            </a:pPr>
            <a:r>
              <a:rPr lang="en-US" sz="750" dirty="0">
                <a:solidFill>
                  <a:srgbClr val="1C1C19"/>
                </a:solidFill>
                <a:latin typeface="Consolas" pitchFamily="34" charset="0"/>
                <a:ea typeface="Consolas" pitchFamily="34" charset="-122"/>
                <a:cs typeface="Consolas" pitchFamily="34" charset="-120"/>
              </a:rPr>
              <a:t>valid = AssistantChatRequest(query="a" * 500) # Len 500: Passes</a:t>
            </a:r>
            <a:endParaRPr lang="en-US" sz="750" dirty="0"/>
          </a:p>
          <a:p>
            <a:pPr indent="0" marL="0">
              <a:buNone/>
            </a:pPr>
            <a:r>
              <a:rPr lang="en-US" sz="750" dirty="0">
                <a:solidFill>
                  <a:srgbClr val="1C1C19"/>
                </a:solidFill>
                <a:latin typeface="Consolas" pitchFamily="34" charset="0"/>
                <a:ea typeface="Consolas" pitchFamily="34" charset="-122"/>
                <a:cs typeface="Consolas" pitchFamily="34" charset="-120"/>
              </a:rPr>
              <a:t>with self.assertRaises(ValidationError):</a:t>
            </a:r>
            <a:endParaRPr lang="en-US" sz="750" dirty="0"/>
          </a:p>
          <a:p>
            <a:pPr indent="0" marL="0">
              <a:buNone/>
            </a:pPr>
            <a:r>
              <a:rPr lang="en-US" sz="750" dirty="0">
                <a:solidFill>
                  <a:srgbClr val="1C1C19"/>
                </a:solidFill>
                <a:latin typeface="Consolas" pitchFamily="34" charset="0"/>
                <a:ea typeface="Consolas" pitchFamily="34" charset="-122"/>
                <a:cs typeface="Consolas" pitchFamily="34" charset="-120"/>
              </a:rPr>
              <a:t>    AssistantChatRequest(query="a" * 501)    # Len 501: Fails</a:t>
            </a:r>
            <a:endParaRPr lang="en-US" sz="750" dirty="0"/>
          </a:p>
        </p:txBody>
      </p:sp>
      <p:sp>
        <p:nvSpPr>
          <p:cNvPr id="12" name="Shape 9"/>
          <p:cNvSpPr/>
          <p:nvPr/>
        </p:nvSpPr>
        <p:spPr>
          <a:xfrm>
            <a:off x="5943600" y="1371600"/>
            <a:ext cx="5486400" cy="3611880"/>
          </a:xfrm>
          <a:prstGeom prst="rect">
            <a:avLst>
              <a:gd name="adj" fmla="val 3038"/>
            </a:avLst>
          </a:prstGeom>
          <a:solidFill>
            <a:srgbClr val="FFFFFF"/>
          </a:solidFill>
          <a:ln w="19050">
            <a:solidFill>
              <a:srgbClr val="E5E0D8"/>
            </a:solidFill>
            <a:prstDash val="solid"/>
          </a:ln>
        </p:spPr>
      </p:sp>
      <p:sp>
        <p:nvSpPr>
          <p:cNvPr id="13" name="Text 10"/>
          <p:cNvSpPr/>
          <p:nvPr/>
        </p:nvSpPr>
        <p:spPr>
          <a:xfrm>
            <a:off x="6126480" y="1508760"/>
            <a:ext cx="5120640" cy="256032"/>
          </a:xfrm>
          <a:prstGeom prst="rect">
            <a:avLst/>
          </a:prstGeom>
          <a:noFill/>
          <a:ln/>
        </p:spPr>
        <p:txBody>
          <a:bodyPr wrap="square" rtlCol="0" anchor="ctr"/>
          <a:lstStyle/>
          <a:p>
            <a:pPr indent="0" marL="0">
              <a:buNone/>
            </a:pPr>
            <a:r>
              <a:rPr lang="en-US" sz="950" b="1" dirty="0">
                <a:solidFill>
                  <a:srgbClr val="1B4332"/>
                </a:solidFill>
                <a:latin typeface="Montserrat" pitchFamily="34" charset="0"/>
                <a:ea typeface="Montserrat" pitchFamily="34" charset="-122"/>
                <a:cs typeface="Montserrat" pitchFamily="34" charset="-120"/>
              </a:rPr>
              <a:t>DECISION TABLE: WASTE ACTION ENGINE (10 RULES IN CODE)</a:t>
            </a:r>
            <a:endParaRPr lang="en-US" sz="95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126480" y="1874520"/>
          <a:ext cx="5120640" cy="2971800"/>
        </p:xfrm>
        <a:graphic>
          <a:graphicData uri="http://schemas.openxmlformats.org/drawingml/2006/table">
            <a:tbl>
              <a:tblPr/>
              <a:tblGrid>
                <a:gridCol w="457200"/>
                <a:gridCol w="640080"/>
                <a:gridCol w="548640"/>
                <a:gridCol w="548640"/>
                <a:gridCol w="822960"/>
                <a:gridCol w="914400"/>
                <a:gridCol w="1188720"/>
              </a:tblGrid>
              <a:tr h="256032">
                <a:tc>
                  <a:txBody>
                    <a:bodyPr/>
                    <a:lstStyle/>
                    <a:p>
                      <a:pPr indent="0" marL="0">
                        <a:buNone/>
                      </a:pPr>
                      <a:r>
                        <a:rPr lang="en-US" sz="750" b="1" dirty="0">
                          <a:solidFill>
                            <a:srgbClr val="1B4332"/>
                          </a:solidFill>
                          <a:latin typeface="Montserrat" pitchFamily="34" charset="0"/>
                          <a:ea typeface="Montserrat" pitchFamily="34" charset="-122"/>
                          <a:cs typeface="Montserrat" pitchFamily="34" charset="-120"/>
                        </a:rPr>
                        <a:t>Rule</a:t>
                      </a:r>
                      <a:endParaRPr lang="en-US" sz="75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indent="0" marL="0">
                        <a:buNone/>
                      </a:pPr>
                      <a:r>
                        <a:rPr lang="en-US" sz="750" b="1" dirty="0">
                          <a:solidFill>
                            <a:srgbClr val="1B4332"/>
                          </a:solidFill>
                          <a:latin typeface="Montserrat" pitchFamily="34" charset="0"/>
                          <a:ea typeface="Montserrat" pitchFamily="34" charset="-122"/>
                          <a:cs typeface="Montserrat" pitchFamily="34" charset="-120"/>
                        </a:rPr>
                        <a:t>Perish?</a:t>
                      </a:r>
                      <a:endParaRPr lang="en-US" sz="75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indent="0" marL="0">
                        <a:buNone/>
                      </a:pPr>
                      <a:r>
                        <a:rPr lang="en-US" sz="750" b="1" dirty="0">
                          <a:solidFill>
                            <a:srgbClr val="1B4332"/>
                          </a:solidFill>
                          <a:latin typeface="Montserrat" pitchFamily="34" charset="0"/>
                          <a:ea typeface="Montserrat" pitchFamily="34" charset="-122"/>
                          <a:cs typeface="Montserrat" pitchFamily="34" charset="-120"/>
                        </a:rPr>
                        <a:t>Dism?</a:t>
                      </a:r>
                      <a:endParaRPr lang="en-US" sz="75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indent="0" marL="0">
                        <a:buNone/>
                      </a:pPr>
                      <a:r>
                        <a:rPr lang="en-US" sz="750" b="1" dirty="0">
                          <a:solidFill>
                            <a:srgbClr val="1B4332"/>
                          </a:solidFill>
                          <a:latin typeface="Montserrat" pitchFamily="34" charset="0"/>
                          <a:ea typeface="Montserrat" pitchFamily="34" charset="-122"/>
                          <a:cs typeface="Montserrat" pitchFamily="34" charset="-120"/>
                        </a:rPr>
                        <a:t>Stock</a:t>
                      </a:r>
                      <a:endParaRPr lang="en-US" sz="75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indent="0" marL="0">
                        <a:buNone/>
                      </a:pPr>
                      <a:r>
                        <a:rPr lang="en-US" sz="750" b="1" dirty="0">
                          <a:solidFill>
                            <a:srgbClr val="1B4332"/>
                          </a:solidFill>
                          <a:latin typeface="Montserrat" pitchFamily="34" charset="0"/>
                          <a:ea typeface="Montserrat" pitchFamily="34" charset="-122"/>
                          <a:cs typeface="Montserrat" pitchFamily="34" charset="-120"/>
                        </a:rPr>
                        <a:t>Pace Ratio</a:t>
                      </a:r>
                      <a:endParaRPr lang="en-US" sz="75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indent="0" marL="0">
                        <a:buNone/>
                      </a:pPr>
                      <a:r>
                        <a:rPr lang="en-US" sz="750" b="1" dirty="0">
                          <a:solidFill>
                            <a:srgbClr val="1B4332"/>
                          </a:solidFill>
                          <a:latin typeface="Montserrat" pitchFamily="34" charset="0"/>
                          <a:ea typeface="Montserrat" pitchFamily="34" charset="-122"/>
                          <a:cs typeface="Montserrat" pitchFamily="34" charset="-120"/>
                        </a:rPr>
                        <a:t>Alert Severity</a:t>
                      </a:r>
                      <a:endParaRPr lang="en-US" sz="75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indent="0" marL="0">
                        <a:buNone/>
                      </a:pPr>
                      <a:r>
                        <a:rPr lang="en-US" sz="750" b="1" dirty="0">
                          <a:solidFill>
                            <a:srgbClr val="1B4332"/>
                          </a:solidFill>
                          <a:latin typeface="Montserrat" pitchFamily="34" charset="0"/>
                          <a:ea typeface="Montserrat" pitchFamily="34" charset="-122"/>
                          <a:cs typeface="Montserrat" pitchFamily="34" charset="-120"/>
                        </a:rPr>
                        <a:t>Action Output</a:t>
                      </a:r>
                      <a:endParaRPr lang="en-US" sz="75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r>
              <a:tr h="256032">
                <a:tc>
                  <a:txBody>
                    <a:bodyPr/>
                    <a:lstStyle/>
                    <a:p>
                      <a:pPr indent="0" marL="0">
                        <a:buNone/>
                      </a:pPr>
                      <a:r>
                        <a:rPr lang="en-US" sz="750" dirty="0">
                          <a:solidFill>
                            <a:srgbClr val="1C1C19"/>
                          </a:solidFill>
                          <a:latin typeface="Inter" pitchFamily="34" charset="0"/>
                          <a:ea typeface="Inter" pitchFamily="34" charset="-122"/>
                          <a:cs typeface="Inter" pitchFamily="34" charset="-120"/>
                        </a:rPr>
                        <a:t>R1</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False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False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&gt; 0</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0.20</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None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No Alert (Non-perishable)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56032">
                <a:tc>
                  <a:txBody>
                    <a:bodyPr/>
                    <a:lstStyle/>
                    <a:p>
                      <a:pPr indent="0" marL="0">
                        <a:buNone/>
                      </a:pPr>
                      <a:r>
                        <a:rPr lang="en-US" sz="750" dirty="0">
                          <a:solidFill>
                            <a:srgbClr val="1C1C19"/>
                          </a:solidFill>
                          <a:latin typeface="Inter" pitchFamily="34" charset="0"/>
                          <a:ea typeface="Inter" pitchFamily="34" charset="-122"/>
                          <a:cs typeface="Inter" pitchFamily="34" charset="-120"/>
                        </a:rPr>
                        <a:t>R2</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True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True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&gt; 0</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0.20</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None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No Alert (Dismissed)</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56032">
                <a:tc>
                  <a:txBody>
                    <a:bodyPr/>
                    <a:lstStyle/>
                    <a:p>
                      <a:pPr indent="0" marL="0">
                        <a:buNone/>
                      </a:pPr>
                      <a:r>
                        <a:rPr lang="en-US" sz="750" dirty="0">
                          <a:solidFill>
                            <a:srgbClr val="1C1C19"/>
                          </a:solidFill>
                          <a:latin typeface="Inter" pitchFamily="34" charset="0"/>
                          <a:ea typeface="Inter" pitchFamily="34" charset="-122"/>
                          <a:cs typeface="Inter" pitchFamily="34" charset="-120"/>
                        </a:rPr>
                        <a:t>R3</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True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False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 0</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0.20</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None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No Alert (Zero stock)</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56032">
                <a:tc>
                  <a:txBody>
                    <a:bodyPr/>
                    <a:lstStyle/>
                    <a:p>
                      <a:pPr indent="0" marL="0">
                        <a:buNone/>
                      </a:pPr>
                      <a:r>
                        <a:rPr lang="en-US" sz="750" dirty="0">
                          <a:solidFill>
                            <a:srgbClr val="1C1C19"/>
                          </a:solidFill>
                          <a:latin typeface="Inter" pitchFamily="34" charset="0"/>
                          <a:ea typeface="Inter" pitchFamily="34" charset="-122"/>
                          <a:cs typeface="Inter" pitchFamily="34" charset="-120"/>
                        </a:rPr>
                        <a:t>R4</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True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False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&gt; 0</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0.85</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None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No Alert (Normal velocity)</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56032">
                <a:tc>
                  <a:txBody>
                    <a:bodyPr/>
                    <a:lstStyle/>
                    <a:p>
                      <a:pPr indent="0" marL="0">
                        <a:buNone/>
                      </a:pPr>
                      <a:r>
                        <a:rPr lang="en-US" sz="750" dirty="0">
                          <a:solidFill>
                            <a:srgbClr val="1C1C19"/>
                          </a:solidFill>
                          <a:latin typeface="Inter" pitchFamily="34" charset="0"/>
                          <a:ea typeface="Inter" pitchFamily="34" charset="-122"/>
                          <a:cs typeface="Inter" pitchFamily="34" charset="-120"/>
                        </a:rPr>
                        <a:t>R5</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True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False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&gt; 0</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0.70</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None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No Alert (Strict boundary &gt;=0.70)</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56032">
                <a:tc>
                  <a:txBody>
                    <a:bodyPr/>
                    <a:lstStyle/>
                    <a:p>
                      <a:pPr indent="0" marL="0">
                        <a:buNone/>
                      </a:pPr>
                      <a:r>
                        <a:rPr lang="en-US" sz="750" dirty="0">
                          <a:solidFill>
                            <a:srgbClr val="1C1C19"/>
                          </a:solidFill>
                          <a:latin typeface="Inter" pitchFamily="34" charset="0"/>
                          <a:ea typeface="Inter" pitchFamily="34" charset="-122"/>
                          <a:cs typeface="Inter" pitchFamily="34" charset="-120"/>
                        </a:rPr>
                        <a:t>R6</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True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False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&gt; 0</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0.69</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Low Pace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Suggest 20% Discount (Boundary)</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56032">
                <a:tc>
                  <a:txBody>
                    <a:bodyPr/>
                    <a:lstStyle/>
                    <a:p>
                      <a:pPr indent="0" marL="0">
                        <a:buNone/>
                      </a:pPr>
                      <a:r>
                        <a:rPr lang="en-US" sz="750" dirty="0">
                          <a:solidFill>
                            <a:srgbClr val="1C1C19"/>
                          </a:solidFill>
                          <a:latin typeface="Inter" pitchFamily="34" charset="0"/>
                          <a:ea typeface="Inter" pitchFamily="34" charset="-122"/>
                          <a:cs typeface="Inter" pitchFamily="34" charset="-120"/>
                        </a:rPr>
                        <a:t>R7</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True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False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&gt; 0</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0.50</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Low Pace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Suggest 20% Discount (Mid-tier)</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56032">
                <a:tc>
                  <a:txBody>
                    <a:bodyPr/>
                    <a:lstStyle/>
                    <a:p>
                      <a:pPr indent="0" marL="0">
                        <a:buNone/>
                      </a:pPr>
                      <a:r>
                        <a:rPr lang="en-US" sz="750" dirty="0">
                          <a:solidFill>
                            <a:srgbClr val="1C1C19"/>
                          </a:solidFill>
                          <a:latin typeface="Inter" pitchFamily="34" charset="0"/>
                          <a:ea typeface="Inter" pitchFamily="34" charset="-122"/>
                          <a:cs typeface="Inter" pitchFamily="34" charset="-120"/>
                        </a:rPr>
                        <a:t>R8</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True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False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&gt; 0</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0.35</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Low Pace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Suggest 20% Discount (Boundary)</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56032">
                <a:tc>
                  <a:txBody>
                    <a:bodyPr/>
                    <a:lstStyle/>
                    <a:p>
                      <a:pPr indent="0" marL="0">
                        <a:buNone/>
                      </a:pPr>
                      <a:r>
                        <a:rPr lang="en-US" sz="750" dirty="0">
                          <a:solidFill>
                            <a:srgbClr val="1C1C19"/>
                          </a:solidFill>
                          <a:latin typeface="Inter" pitchFamily="34" charset="0"/>
                          <a:ea typeface="Inter" pitchFamily="34" charset="-122"/>
                          <a:cs typeface="Inter" pitchFamily="34" charset="-120"/>
                        </a:rPr>
                        <a:t>R9</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True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False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&gt; 0</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0.34</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Critical</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Flag Item / 30% Disc (Boundary)</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56032">
                <a:tc>
                  <a:txBody>
                    <a:bodyPr/>
                    <a:lstStyle/>
                    <a:p>
                      <a:pPr indent="0" marL="0">
                        <a:buNone/>
                      </a:pPr>
                      <a:r>
                        <a:rPr lang="en-US" sz="750" dirty="0">
                          <a:solidFill>
                            <a:srgbClr val="1C1C19"/>
                          </a:solidFill>
                          <a:latin typeface="Inter" pitchFamily="34" charset="0"/>
                          <a:ea typeface="Inter" pitchFamily="34" charset="-122"/>
                          <a:cs typeface="Inter" pitchFamily="34" charset="-120"/>
                        </a:rPr>
                        <a:t>R10</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True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False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&gt; 0</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0.10</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Critical</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Flag Item / 30% Disc (Severe)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bl>
          </a:graphicData>
        </a:graphic>
      </p:graphicFrame>
      <p:sp>
        <p:nvSpPr>
          <p:cNvPr id="15" name="Text 11"/>
          <p:cNvSpPr/>
          <p:nvPr/>
        </p:nvSpPr>
        <p:spPr>
          <a:xfrm>
            <a:off x="731520" y="5166360"/>
            <a:ext cx="10698480" cy="1234440"/>
          </a:xfrm>
          <a:prstGeom prst="rect">
            <a:avLst/>
          </a:prstGeom>
          <a:noFill/>
          <a:ln/>
        </p:spPr>
        <p:txBody>
          <a:bodyPr wrap="square" rtlCol="0" anchor="t"/>
          <a:lstStyle/>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Input Boundary Enforcement: Equivalence partitioning and boundary value analysis on assistant chat queries confirm exact boundary handling at 0, 1, 500, and 501 characters, preventing buffer overruns.</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Deterministic Decision Table: The 10-rule decision table tests every boolean combination of perishability, dismissal state, on-hand inventory, and calculated sales velocity ratios.</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Threshold Boundary Verification: Validates precise boundary transitions in Backend/main.py: exactly 0.70 triggers Normal Pace, 0.69 triggers Low Pace (20%), and 0.34 triggers Critical (30%).</a:t>
            </a:r>
            <a:endParaRPr lang="en-US" sz="1150" dirty="0"/>
          </a:p>
        </p:txBody>
      </p:sp>
      <p:sp>
        <p:nvSpPr>
          <p:cNvPr id="16" name="Text 12"/>
          <p:cNvSpPr/>
          <p:nvPr/>
        </p:nvSpPr>
        <p:spPr>
          <a:xfrm>
            <a:off x="731520" y="6419088"/>
            <a:ext cx="10698480" cy="228600"/>
          </a:xfrm>
          <a:prstGeom prst="rect">
            <a:avLst/>
          </a:prstGeom>
          <a:noFill/>
          <a:ln/>
        </p:spPr>
        <p:txBody>
          <a:bodyPr wrap="square" rtlCol="0" anchor="b"/>
          <a:lstStyle/>
          <a:p>
            <a:pPr indent="0" marL="0">
              <a:buNone/>
            </a:pPr>
            <a:r>
              <a:rPr lang="en-US" sz="850" i="1" dirty="0">
                <a:solidFill>
                  <a:srgbClr val="5A5A54"/>
                </a:solidFill>
                <a:latin typeface="Inter" pitchFamily="34" charset="0"/>
                <a:ea typeface="Inter" pitchFamily="34" charset="-122"/>
                <a:cs typeface="Inter" pitchFamily="34" charset="-120"/>
              </a:rPr>
              <a:t>Evidence Source: test_pydantic_chat_query_bounds and test_decision_table_waste_action_engine in Backend/test_backend_unit.py.</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9F4"/>
        </a:solidFill>
      </p:bgPr>
    </p:bg>
    <p:spTree>
      <p:nvGrpSpPr>
        <p:cNvPr id="1" name=""/>
        <p:cNvGrpSpPr/>
        <p:nvPr/>
      </p:nvGrpSpPr>
      <p:grpSpPr>
        <a:xfrm>
          <a:off x="0" y="0"/>
          <a:ext cx="0" cy="0"/>
          <a:chOff x="0" y="0"/>
          <a:chExt cx="0" cy="0"/>
        </a:xfrm>
      </p:grpSpPr>
      <p:sp>
        <p:nvSpPr>
          <p:cNvPr id="2" name="Shape 0"/>
          <p:cNvSpPr/>
          <p:nvPr/>
        </p:nvSpPr>
        <p:spPr>
          <a:xfrm>
            <a:off x="731520" y="320040"/>
            <a:ext cx="2194560" cy="274320"/>
          </a:xfrm>
          <a:prstGeom prst="rect">
            <a:avLst>
              <a:gd name="adj" fmla="val 20000"/>
            </a:avLst>
          </a:prstGeom>
          <a:solidFill>
            <a:srgbClr val="EAE5DC"/>
          </a:solidFill>
          <a:ln w="12700">
            <a:solidFill>
              <a:srgbClr val="E5E0D8"/>
            </a:solidFill>
            <a:prstDash val="solid"/>
          </a:ln>
        </p:spPr>
      </p:sp>
      <p:sp>
        <p:nvSpPr>
          <p:cNvPr id="3" name="Text 1"/>
          <p:cNvSpPr/>
          <p:nvPr/>
        </p:nvSpPr>
        <p:spPr>
          <a:xfrm>
            <a:off x="731520" y="320040"/>
            <a:ext cx="2194560" cy="274320"/>
          </a:xfrm>
          <a:prstGeom prst="rect">
            <a:avLst/>
          </a:prstGeom>
          <a:noFill/>
          <a:ln/>
        </p:spPr>
        <p:txBody>
          <a:bodyPr wrap="square" rtlCol="0" anchor="ctr"/>
          <a:lstStyle/>
          <a:p>
            <a:pPr algn="ctr" indent="0" marL="0">
              <a:buNone/>
            </a:pPr>
            <a:r>
              <a:rPr lang="en-US" sz="850" b="1" dirty="0">
                <a:solidFill>
                  <a:srgbClr val="1B4332"/>
                </a:solidFill>
                <a:latin typeface="Montserrat" pitchFamily="34" charset="0"/>
                <a:ea typeface="Montserrat" pitchFamily="34" charset="-122"/>
                <a:cs typeface="Montserrat" pitchFamily="34" charset="-120"/>
              </a:rPr>
              <a:t>UNIT 2: TECHNIQUES</a:t>
            </a:r>
            <a:endParaRPr lang="en-US" sz="850" dirty="0"/>
          </a:p>
        </p:txBody>
      </p:sp>
      <p:sp>
        <p:nvSpPr>
          <p:cNvPr id="4" name="Text 2"/>
          <p:cNvSpPr/>
          <p:nvPr/>
        </p:nvSpPr>
        <p:spPr>
          <a:xfrm>
            <a:off x="10058400" y="320040"/>
            <a:ext cx="1371600" cy="274320"/>
          </a:xfrm>
          <a:prstGeom prst="rect">
            <a:avLst/>
          </a:prstGeom>
          <a:noFill/>
          <a:ln/>
        </p:spPr>
        <p:txBody>
          <a:bodyPr wrap="square" rtlCol="0" anchor="ctr"/>
          <a:lstStyle/>
          <a:p>
            <a:pPr algn="r" indent="0" marL="0">
              <a:buNone/>
            </a:pPr>
            <a:r>
              <a:rPr lang="en-US" sz="900" b="1" dirty="0">
                <a:solidFill>
                  <a:srgbClr val="5A5A54"/>
                </a:solidFill>
                <a:latin typeface="Montserrat" pitchFamily="34" charset="0"/>
                <a:ea typeface="Montserrat" pitchFamily="34" charset="-122"/>
                <a:cs typeface="Montserrat" pitchFamily="34" charset="-120"/>
              </a:rPr>
              <a:t>SLIDE 7 / 15</a:t>
            </a:r>
            <a:endParaRPr lang="en-US" sz="900" dirty="0"/>
          </a:p>
        </p:txBody>
      </p:sp>
      <p:sp>
        <p:nvSpPr>
          <p:cNvPr id="5" name="Text 3"/>
          <p:cNvSpPr/>
          <p:nvPr/>
        </p:nvSpPr>
        <p:spPr>
          <a:xfrm>
            <a:off x="731520" y="658368"/>
            <a:ext cx="10698480" cy="475488"/>
          </a:xfrm>
          <a:prstGeom prst="rect">
            <a:avLst/>
          </a:prstGeom>
          <a:noFill/>
          <a:ln/>
        </p:spPr>
        <p:txBody>
          <a:bodyPr wrap="square" rtlCol="0" anchor="ctr"/>
          <a:lstStyle/>
          <a:p>
            <a:pPr indent="0" marL="0">
              <a:buNone/>
            </a:pPr>
            <a:r>
              <a:rPr lang="en-US" sz="2000" b="1" dirty="0">
                <a:solidFill>
                  <a:srgbClr val="1B4332"/>
                </a:solidFill>
                <a:latin typeface="Montserrat" pitchFamily="34" charset="0"/>
                <a:ea typeface="Montserrat" pitchFamily="34" charset="-122"/>
                <a:cs typeface="Montserrat" pitchFamily="34" charset="-120"/>
              </a:rPr>
              <a:t>State Transition Testing: Waste Alert Dynamic Lifecycle</a:t>
            </a:r>
            <a:endParaRPr lang="en-US" sz="2000" dirty="0"/>
          </a:p>
        </p:txBody>
      </p:sp>
      <p:sp>
        <p:nvSpPr>
          <p:cNvPr id="6" name="Shape 4"/>
          <p:cNvSpPr/>
          <p:nvPr/>
        </p:nvSpPr>
        <p:spPr>
          <a:xfrm>
            <a:off x="731520" y="1170432"/>
            <a:ext cx="10698480" cy="0"/>
          </a:xfrm>
          <a:prstGeom prst="line">
            <a:avLst/>
          </a:prstGeom>
          <a:noFill/>
          <a:ln w="12700">
            <a:solidFill>
              <a:srgbClr val="E5E0D8"/>
            </a:solidFill>
            <a:prstDash val="solid"/>
          </a:ln>
        </p:spPr>
      </p:sp>
      <p:sp>
        <p:nvSpPr>
          <p:cNvPr id="7" name="Shape 5"/>
          <p:cNvSpPr/>
          <p:nvPr/>
        </p:nvSpPr>
        <p:spPr>
          <a:xfrm>
            <a:off x="731520" y="2103120"/>
            <a:ext cx="1828800" cy="1005840"/>
          </a:xfrm>
          <a:prstGeom prst="rect">
            <a:avLst>
              <a:gd name="adj" fmla="val 9091"/>
            </a:avLst>
          </a:prstGeom>
          <a:solidFill>
            <a:srgbClr val="FFFFFF"/>
          </a:solidFill>
          <a:ln w="25400">
            <a:solidFill>
              <a:srgbClr val="1B4332"/>
            </a:solidFill>
            <a:prstDash val="solid"/>
          </a:ln>
        </p:spPr>
      </p:sp>
      <p:sp>
        <p:nvSpPr>
          <p:cNvPr id="8" name="Text 6"/>
          <p:cNvSpPr/>
          <p:nvPr/>
        </p:nvSpPr>
        <p:spPr>
          <a:xfrm>
            <a:off x="822960" y="2176272"/>
            <a:ext cx="548640" cy="228600"/>
          </a:xfrm>
          <a:prstGeom prst="rect">
            <a:avLst/>
          </a:prstGeom>
          <a:noFill/>
          <a:ln/>
        </p:spPr>
        <p:txBody>
          <a:bodyPr wrap="square" rtlCol="0" anchor="ctr"/>
          <a:lstStyle/>
          <a:p>
            <a:pPr indent="0" marL="0">
              <a:buNone/>
            </a:pPr>
            <a:r>
              <a:rPr lang="en-US" sz="900" b="1" dirty="0">
                <a:solidFill>
                  <a:srgbClr val="1B4332"/>
                </a:solidFill>
                <a:latin typeface="Montserrat" pitchFamily="34" charset="0"/>
                <a:ea typeface="Montserrat" pitchFamily="34" charset="-122"/>
                <a:cs typeface="Montserrat" pitchFamily="34" charset="-120"/>
              </a:rPr>
              <a:t>S0</a:t>
            </a:r>
            <a:endParaRPr lang="en-US" sz="900" dirty="0"/>
          </a:p>
        </p:txBody>
      </p:sp>
      <p:sp>
        <p:nvSpPr>
          <p:cNvPr id="9" name="Text 7"/>
          <p:cNvSpPr/>
          <p:nvPr/>
        </p:nvSpPr>
        <p:spPr>
          <a:xfrm>
            <a:off x="822960" y="2395728"/>
            <a:ext cx="1645920" cy="640080"/>
          </a:xfrm>
          <a:prstGeom prst="rect">
            <a:avLst/>
          </a:prstGeom>
          <a:noFill/>
          <a:ln/>
        </p:spPr>
        <p:txBody>
          <a:bodyPr wrap="square" rtlCol="0" anchor="ctr"/>
          <a:lstStyle/>
          <a:p>
            <a:pPr algn="ctr" indent="0" marL="0">
              <a:buNone/>
            </a:pPr>
            <a:r>
              <a:rPr lang="en-US" sz="850" b="1" dirty="0">
                <a:solidFill>
                  <a:srgbClr val="1C1C19"/>
                </a:solidFill>
                <a:latin typeface="Inter" pitchFamily="34" charset="0"/>
                <a:ea typeface="Inter" pitchFamily="34" charset="-122"/>
                <a:cs typeface="Inter" pitchFamily="34" charset="-120"/>
              </a:rPr>
              <a:t>UNFIRED</a:t>
            </a:r>
            <a:endParaRPr lang="en-US" sz="850" dirty="0"/>
          </a:p>
          <a:p>
            <a:pPr algn="ctr" indent="0" marL="0">
              <a:buNone/>
            </a:pPr>
            <a:r>
              <a:rPr lang="en-US" sz="850" b="1" dirty="0">
                <a:solidFill>
                  <a:srgbClr val="1C1C19"/>
                </a:solidFill>
                <a:latin typeface="Inter" pitchFamily="34" charset="0"/>
                <a:ea typeface="Inter" pitchFamily="34" charset="-122"/>
                <a:cs typeface="Inter" pitchFamily="34" charset="-120"/>
              </a:rPr>
              <a:t>(Normal Pace / Stock=0)</a:t>
            </a:r>
            <a:endParaRPr lang="en-US" sz="850" dirty="0"/>
          </a:p>
        </p:txBody>
      </p:sp>
      <p:sp>
        <p:nvSpPr>
          <p:cNvPr id="10" name="Shape 8"/>
          <p:cNvSpPr/>
          <p:nvPr/>
        </p:nvSpPr>
        <p:spPr>
          <a:xfrm>
            <a:off x="3291840" y="1463040"/>
            <a:ext cx="2103120" cy="1005840"/>
          </a:xfrm>
          <a:prstGeom prst="rect">
            <a:avLst>
              <a:gd name="adj" fmla="val 9091"/>
            </a:avLst>
          </a:prstGeom>
          <a:solidFill>
            <a:srgbClr val="FFFFFF"/>
          </a:solidFill>
          <a:ln w="25400">
            <a:solidFill>
              <a:srgbClr val="FFB702"/>
            </a:solidFill>
            <a:prstDash val="solid"/>
          </a:ln>
        </p:spPr>
      </p:sp>
      <p:sp>
        <p:nvSpPr>
          <p:cNvPr id="11" name="Text 9"/>
          <p:cNvSpPr/>
          <p:nvPr/>
        </p:nvSpPr>
        <p:spPr>
          <a:xfrm>
            <a:off x="3383280" y="1536192"/>
            <a:ext cx="548640" cy="228600"/>
          </a:xfrm>
          <a:prstGeom prst="rect">
            <a:avLst/>
          </a:prstGeom>
          <a:noFill/>
          <a:ln/>
        </p:spPr>
        <p:txBody>
          <a:bodyPr wrap="square" rtlCol="0" anchor="ctr"/>
          <a:lstStyle/>
          <a:p>
            <a:pPr indent="0" marL="0">
              <a:buNone/>
            </a:pPr>
            <a:r>
              <a:rPr lang="en-US" sz="900" b="1" dirty="0">
                <a:solidFill>
                  <a:srgbClr val="FFB702"/>
                </a:solidFill>
                <a:latin typeface="Montserrat" pitchFamily="34" charset="0"/>
                <a:ea typeface="Montserrat" pitchFamily="34" charset="-122"/>
                <a:cs typeface="Montserrat" pitchFamily="34" charset="-120"/>
              </a:rPr>
              <a:t>S1</a:t>
            </a:r>
            <a:endParaRPr lang="en-US" sz="900" dirty="0"/>
          </a:p>
        </p:txBody>
      </p:sp>
      <p:sp>
        <p:nvSpPr>
          <p:cNvPr id="12" name="Text 10"/>
          <p:cNvSpPr/>
          <p:nvPr/>
        </p:nvSpPr>
        <p:spPr>
          <a:xfrm>
            <a:off x="3383280" y="1755648"/>
            <a:ext cx="1920240" cy="640080"/>
          </a:xfrm>
          <a:prstGeom prst="rect">
            <a:avLst/>
          </a:prstGeom>
          <a:noFill/>
          <a:ln/>
        </p:spPr>
        <p:txBody>
          <a:bodyPr wrap="square" rtlCol="0" anchor="ctr"/>
          <a:lstStyle/>
          <a:p>
            <a:pPr algn="ctr" indent="0" marL="0">
              <a:buNone/>
            </a:pPr>
            <a:r>
              <a:rPr lang="en-US" sz="850" b="1" dirty="0">
                <a:solidFill>
                  <a:srgbClr val="1C1C19"/>
                </a:solidFill>
                <a:latin typeface="Inter" pitchFamily="34" charset="0"/>
                <a:ea typeface="Inter" pitchFamily="34" charset="-122"/>
                <a:cs typeface="Inter" pitchFamily="34" charset="-120"/>
              </a:rPr>
              <a:t>ACTIVE: LOW PACE</a:t>
            </a:r>
            <a:endParaRPr lang="en-US" sz="850" dirty="0"/>
          </a:p>
          <a:p>
            <a:pPr algn="ctr" indent="0" marL="0">
              <a:buNone/>
            </a:pPr>
            <a:r>
              <a:rPr lang="en-US" sz="850" b="1" dirty="0">
                <a:solidFill>
                  <a:srgbClr val="1C1C19"/>
                </a:solidFill>
                <a:latin typeface="Inter" pitchFamily="34" charset="0"/>
                <a:ea typeface="Inter" pitchFamily="34" charset="-122"/>
                <a:cs typeface="Inter" pitchFamily="34" charset="-120"/>
              </a:rPr>
              <a:t>(0.35 &lt;= Pace &lt; 0.70)</a:t>
            </a:r>
            <a:endParaRPr lang="en-US" sz="850" dirty="0"/>
          </a:p>
        </p:txBody>
      </p:sp>
      <p:sp>
        <p:nvSpPr>
          <p:cNvPr id="13" name="Shape 11"/>
          <p:cNvSpPr/>
          <p:nvPr/>
        </p:nvSpPr>
        <p:spPr>
          <a:xfrm>
            <a:off x="3291840" y="2926080"/>
            <a:ext cx="2103120" cy="1005840"/>
          </a:xfrm>
          <a:prstGeom prst="rect">
            <a:avLst>
              <a:gd name="adj" fmla="val 9091"/>
            </a:avLst>
          </a:prstGeom>
          <a:solidFill>
            <a:srgbClr val="FFFFFF"/>
          </a:solidFill>
          <a:ln w="25400">
            <a:solidFill>
              <a:srgbClr val="B91C1C"/>
            </a:solidFill>
            <a:prstDash val="solid"/>
          </a:ln>
        </p:spPr>
      </p:sp>
      <p:sp>
        <p:nvSpPr>
          <p:cNvPr id="14" name="Text 12"/>
          <p:cNvSpPr/>
          <p:nvPr/>
        </p:nvSpPr>
        <p:spPr>
          <a:xfrm>
            <a:off x="3383280" y="2999232"/>
            <a:ext cx="548640" cy="228600"/>
          </a:xfrm>
          <a:prstGeom prst="rect">
            <a:avLst/>
          </a:prstGeom>
          <a:noFill/>
          <a:ln/>
        </p:spPr>
        <p:txBody>
          <a:bodyPr wrap="square" rtlCol="0" anchor="ctr"/>
          <a:lstStyle/>
          <a:p>
            <a:pPr indent="0" marL="0">
              <a:buNone/>
            </a:pPr>
            <a:r>
              <a:rPr lang="en-US" sz="900" b="1" dirty="0">
                <a:solidFill>
                  <a:srgbClr val="B91C1C"/>
                </a:solidFill>
                <a:latin typeface="Montserrat" pitchFamily="34" charset="0"/>
                <a:ea typeface="Montserrat" pitchFamily="34" charset="-122"/>
                <a:cs typeface="Montserrat" pitchFamily="34" charset="-120"/>
              </a:rPr>
              <a:t>S2</a:t>
            </a:r>
            <a:endParaRPr lang="en-US" sz="900" dirty="0"/>
          </a:p>
        </p:txBody>
      </p:sp>
      <p:sp>
        <p:nvSpPr>
          <p:cNvPr id="15" name="Text 13"/>
          <p:cNvSpPr/>
          <p:nvPr/>
        </p:nvSpPr>
        <p:spPr>
          <a:xfrm>
            <a:off x="3383280" y="3218688"/>
            <a:ext cx="1920240" cy="640080"/>
          </a:xfrm>
          <a:prstGeom prst="rect">
            <a:avLst/>
          </a:prstGeom>
          <a:noFill/>
          <a:ln/>
        </p:spPr>
        <p:txBody>
          <a:bodyPr wrap="square" rtlCol="0" anchor="ctr"/>
          <a:lstStyle/>
          <a:p>
            <a:pPr algn="ctr" indent="0" marL="0">
              <a:buNone/>
            </a:pPr>
            <a:r>
              <a:rPr lang="en-US" sz="850" b="1" dirty="0">
                <a:solidFill>
                  <a:srgbClr val="1C1C19"/>
                </a:solidFill>
                <a:latin typeface="Inter" pitchFamily="34" charset="0"/>
                <a:ea typeface="Inter" pitchFamily="34" charset="-122"/>
                <a:cs typeface="Inter" pitchFamily="34" charset="-120"/>
              </a:rPr>
              <a:t>ACTIVE: CRITICAL</a:t>
            </a:r>
            <a:endParaRPr lang="en-US" sz="850" dirty="0"/>
          </a:p>
          <a:p>
            <a:pPr algn="ctr" indent="0" marL="0">
              <a:buNone/>
            </a:pPr>
            <a:r>
              <a:rPr lang="en-US" sz="850" b="1" dirty="0">
                <a:solidFill>
                  <a:srgbClr val="1C1C19"/>
                </a:solidFill>
                <a:latin typeface="Inter" pitchFamily="34" charset="0"/>
                <a:ea typeface="Inter" pitchFamily="34" charset="-122"/>
                <a:cs typeface="Inter" pitchFamily="34" charset="-120"/>
              </a:rPr>
              <a:t>(Pace &lt; 0.35 &amp; Stock&gt;0)</a:t>
            </a:r>
            <a:endParaRPr lang="en-US" sz="850" dirty="0"/>
          </a:p>
        </p:txBody>
      </p:sp>
      <p:sp>
        <p:nvSpPr>
          <p:cNvPr id="16" name="Shape 14"/>
          <p:cNvSpPr/>
          <p:nvPr/>
        </p:nvSpPr>
        <p:spPr>
          <a:xfrm>
            <a:off x="6217920" y="1463040"/>
            <a:ext cx="2194560" cy="1005840"/>
          </a:xfrm>
          <a:prstGeom prst="rect">
            <a:avLst>
              <a:gd name="adj" fmla="val 9091"/>
            </a:avLst>
          </a:prstGeom>
          <a:solidFill>
            <a:srgbClr val="FFFFFF"/>
          </a:solidFill>
          <a:ln w="25400">
            <a:solidFill>
              <a:srgbClr val="2D6A4F"/>
            </a:solidFill>
            <a:prstDash val="solid"/>
          </a:ln>
        </p:spPr>
      </p:sp>
      <p:sp>
        <p:nvSpPr>
          <p:cNvPr id="17" name="Text 15"/>
          <p:cNvSpPr/>
          <p:nvPr/>
        </p:nvSpPr>
        <p:spPr>
          <a:xfrm>
            <a:off x="6309360" y="1536192"/>
            <a:ext cx="548640" cy="228600"/>
          </a:xfrm>
          <a:prstGeom prst="rect">
            <a:avLst/>
          </a:prstGeom>
          <a:noFill/>
          <a:ln/>
        </p:spPr>
        <p:txBody>
          <a:bodyPr wrap="square" rtlCol="0" anchor="ctr"/>
          <a:lstStyle/>
          <a:p>
            <a:pPr indent="0" marL="0">
              <a:buNone/>
            </a:pPr>
            <a:r>
              <a:rPr lang="en-US" sz="900" b="1" dirty="0">
                <a:solidFill>
                  <a:srgbClr val="2D6A4F"/>
                </a:solidFill>
                <a:latin typeface="Montserrat" pitchFamily="34" charset="0"/>
                <a:ea typeface="Montserrat" pitchFamily="34" charset="-122"/>
                <a:cs typeface="Montserrat" pitchFamily="34" charset="-120"/>
              </a:rPr>
              <a:t>S3</a:t>
            </a:r>
            <a:endParaRPr lang="en-US" sz="900" dirty="0"/>
          </a:p>
        </p:txBody>
      </p:sp>
      <p:sp>
        <p:nvSpPr>
          <p:cNvPr id="18" name="Text 16"/>
          <p:cNvSpPr/>
          <p:nvPr/>
        </p:nvSpPr>
        <p:spPr>
          <a:xfrm>
            <a:off x="6309360" y="1755648"/>
            <a:ext cx="2011680" cy="640080"/>
          </a:xfrm>
          <a:prstGeom prst="rect">
            <a:avLst/>
          </a:prstGeom>
          <a:noFill/>
          <a:ln/>
        </p:spPr>
        <p:txBody>
          <a:bodyPr wrap="square" rtlCol="0" anchor="ctr"/>
          <a:lstStyle/>
          <a:p>
            <a:pPr algn="ctr" indent="0" marL="0">
              <a:buNone/>
            </a:pPr>
            <a:r>
              <a:rPr lang="en-US" sz="850" b="1" dirty="0">
                <a:solidFill>
                  <a:srgbClr val="1C1C19"/>
                </a:solidFill>
                <a:latin typeface="Inter" pitchFamily="34" charset="0"/>
                <a:ea typeface="Inter" pitchFamily="34" charset="-122"/>
                <a:cs typeface="Inter" pitchFamily="34" charset="-120"/>
              </a:rPr>
              <a:t>DISCOUNT APPLIED</a:t>
            </a:r>
            <a:endParaRPr lang="en-US" sz="850" dirty="0"/>
          </a:p>
          <a:p>
            <a:pPr algn="ctr" indent="0" marL="0">
              <a:buNone/>
            </a:pPr>
            <a:r>
              <a:rPr lang="en-US" sz="850" b="1" dirty="0">
                <a:solidFill>
                  <a:srgbClr val="1C1C19"/>
                </a:solidFill>
                <a:latin typeface="Inter" pitchFamily="34" charset="0"/>
                <a:ea typeface="Inter" pitchFamily="34" charset="-122"/>
                <a:cs typeface="Inter" pitchFamily="34" charset="-120"/>
              </a:rPr>
              <a:t>(Price * 0.80, Action Done)</a:t>
            </a:r>
            <a:endParaRPr lang="en-US" sz="850" dirty="0"/>
          </a:p>
        </p:txBody>
      </p:sp>
      <p:sp>
        <p:nvSpPr>
          <p:cNvPr id="19" name="Shape 17"/>
          <p:cNvSpPr/>
          <p:nvPr/>
        </p:nvSpPr>
        <p:spPr>
          <a:xfrm>
            <a:off x="6217920" y="2926080"/>
            <a:ext cx="2194560" cy="1005840"/>
          </a:xfrm>
          <a:prstGeom prst="rect">
            <a:avLst>
              <a:gd name="adj" fmla="val 9091"/>
            </a:avLst>
          </a:prstGeom>
          <a:solidFill>
            <a:srgbClr val="FFFFFF"/>
          </a:solidFill>
          <a:ln w="25400">
            <a:solidFill>
              <a:srgbClr val="D97706"/>
            </a:solidFill>
            <a:prstDash val="solid"/>
          </a:ln>
        </p:spPr>
      </p:sp>
      <p:sp>
        <p:nvSpPr>
          <p:cNvPr id="20" name="Text 18"/>
          <p:cNvSpPr/>
          <p:nvPr/>
        </p:nvSpPr>
        <p:spPr>
          <a:xfrm>
            <a:off x="6309360" y="2999232"/>
            <a:ext cx="548640" cy="228600"/>
          </a:xfrm>
          <a:prstGeom prst="rect">
            <a:avLst/>
          </a:prstGeom>
          <a:noFill/>
          <a:ln/>
        </p:spPr>
        <p:txBody>
          <a:bodyPr wrap="square" rtlCol="0" anchor="ctr"/>
          <a:lstStyle/>
          <a:p>
            <a:pPr indent="0" marL="0">
              <a:buNone/>
            </a:pPr>
            <a:r>
              <a:rPr lang="en-US" sz="900" b="1" dirty="0">
                <a:solidFill>
                  <a:srgbClr val="D97706"/>
                </a:solidFill>
                <a:latin typeface="Montserrat" pitchFamily="34" charset="0"/>
                <a:ea typeface="Montserrat" pitchFamily="34" charset="-122"/>
                <a:cs typeface="Montserrat" pitchFamily="34" charset="-120"/>
              </a:rPr>
              <a:t>S4</a:t>
            </a:r>
            <a:endParaRPr lang="en-US" sz="900" dirty="0"/>
          </a:p>
        </p:txBody>
      </p:sp>
      <p:sp>
        <p:nvSpPr>
          <p:cNvPr id="21" name="Text 19"/>
          <p:cNvSpPr/>
          <p:nvPr/>
        </p:nvSpPr>
        <p:spPr>
          <a:xfrm>
            <a:off x="6309360" y="3218688"/>
            <a:ext cx="2011680" cy="640080"/>
          </a:xfrm>
          <a:prstGeom prst="rect">
            <a:avLst/>
          </a:prstGeom>
          <a:noFill/>
          <a:ln/>
        </p:spPr>
        <p:txBody>
          <a:bodyPr wrap="square" rtlCol="0" anchor="ctr"/>
          <a:lstStyle/>
          <a:p>
            <a:pPr algn="ctr" indent="0" marL="0">
              <a:buNone/>
            </a:pPr>
            <a:r>
              <a:rPr lang="en-US" sz="850" b="1" dirty="0">
                <a:solidFill>
                  <a:srgbClr val="1C1C19"/>
                </a:solidFill>
                <a:latin typeface="Inter" pitchFamily="34" charset="0"/>
                <a:ea typeface="Inter" pitchFamily="34" charset="-122"/>
                <a:cs typeface="Inter" pitchFamily="34" charset="-120"/>
              </a:rPr>
              <a:t>DONATION FLAGGED</a:t>
            </a:r>
            <a:endParaRPr lang="en-US" sz="850" dirty="0"/>
          </a:p>
          <a:p>
            <a:pPr algn="ctr" indent="0" marL="0">
              <a:buNone/>
            </a:pPr>
            <a:r>
              <a:rPr lang="en-US" sz="850" b="1" dirty="0">
                <a:solidFill>
                  <a:srgbClr val="1C1C19"/>
                </a:solidFill>
                <a:latin typeface="Inter" pitchFamily="34" charset="0"/>
                <a:ea typeface="Inter" pitchFamily="34" charset="-122"/>
                <a:cs typeface="Inter" pitchFamily="34" charset="-120"/>
              </a:rPr>
              <a:t>(flaggedForDonation=true)</a:t>
            </a:r>
            <a:endParaRPr lang="en-US" sz="850" dirty="0"/>
          </a:p>
        </p:txBody>
      </p:sp>
      <p:sp>
        <p:nvSpPr>
          <p:cNvPr id="22" name="Shape 20"/>
          <p:cNvSpPr/>
          <p:nvPr/>
        </p:nvSpPr>
        <p:spPr>
          <a:xfrm>
            <a:off x="9144000" y="2103120"/>
            <a:ext cx="2286000" cy="1005840"/>
          </a:xfrm>
          <a:prstGeom prst="rect">
            <a:avLst>
              <a:gd name="adj" fmla="val 9091"/>
            </a:avLst>
          </a:prstGeom>
          <a:solidFill>
            <a:srgbClr val="FFFFFF"/>
          </a:solidFill>
          <a:ln w="25400">
            <a:solidFill>
              <a:srgbClr val="5A5A54"/>
            </a:solidFill>
            <a:prstDash val="solid"/>
          </a:ln>
        </p:spPr>
      </p:sp>
      <p:sp>
        <p:nvSpPr>
          <p:cNvPr id="23" name="Text 21"/>
          <p:cNvSpPr/>
          <p:nvPr/>
        </p:nvSpPr>
        <p:spPr>
          <a:xfrm>
            <a:off x="9235440" y="2176272"/>
            <a:ext cx="548640" cy="228600"/>
          </a:xfrm>
          <a:prstGeom prst="rect">
            <a:avLst/>
          </a:prstGeom>
          <a:noFill/>
          <a:ln/>
        </p:spPr>
        <p:txBody>
          <a:bodyPr wrap="square" rtlCol="0" anchor="ctr"/>
          <a:lstStyle/>
          <a:p>
            <a:pPr indent="0" marL="0">
              <a:buNone/>
            </a:pPr>
            <a:r>
              <a:rPr lang="en-US" sz="900" b="1" dirty="0">
                <a:solidFill>
                  <a:srgbClr val="5A5A54"/>
                </a:solidFill>
                <a:latin typeface="Montserrat" pitchFamily="34" charset="0"/>
                <a:ea typeface="Montserrat" pitchFamily="34" charset="-122"/>
                <a:cs typeface="Montserrat" pitchFamily="34" charset="-120"/>
              </a:rPr>
              <a:t>S5</a:t>
            </a:r>
            <a:endParaRPr lang="en-US" sz="900" dirty="0"/>
          </a:p>
        </p:txBody>
      </p:sp>
      <p:sp>
        <p:nvSpPr>
          <p:cNvPr id="24" name="Text 22"/>
          <p:cNvSpPr/>
          <p:nvPr/>
        </p:nvSpPr>
        <p:spPr>
          <a:xfrm>
            <a:off x="9235440" y="2395728"/>
            <a:ext cx="2103120" cy="640080"/>
          </a:xfrm>
          <a:prstGeom prst="rect">
            <a:avLst/>
          </a:prstGeom>
          <a:noFill/>
          <a:ln/>
        </p:spPr>
        <p:txBody>
          <a:bodyPr wrap="square" rtlCol="0" anchor="ctr"/>
          <a:lstStyle/>
          <a:p>
            <a:pPr algn="ctr" indent="0" marL="0">
              <a:buNone/>
            </a:pPr>
            <a:r>
              <a:rPr lang="en-US" sz="850" b="1" dirty="0">
                <a:solidFill>
                  <a:srgbClr val="1C1C19"/>
                </a:solidFill>
                <a:latin typeface="Inter" pitchFamily="34" charset="0"/>
                <a:ea typeface="Inter" pitchFamily="34" charset="-122"/>
                <a:cs typeface="Inter" pitchFamily="34" charset="-120"/>
              </a:rPr>
              <a:t>DISMISSED / SUPPRESSED</a:t>
            </a:r>
            <a:endParaRPr lang="en-US" sz="850" dirty="0"/>
          </a:p>
          <a:p>
            <a:pPr algn="ctr" indent="0" marL="0">
              <a:buNone/>
            </a:pPr>
            <a:r>
              <a:rPr lang="en-US" sz="850" b="1" dirty="0">
                <a:solidFill>
                  <a:srgbClr val="1C1C19"/>
                </a:solidFill>
                <a:latin typeface="Inter" pitchFamily="34" charset="0"/>
                <a:ea typeface="Inter" pitchFamily="34" charset="-122"/>
                <a:cs typeface="Inter" pitchFamily="34" charset="-120"/>
              </a:rPr>
              <a:t>(isDismissed=true, Skipped)</a:t>
            </a:r>
            <a:endParaRPr lang="en-US" sz="850" dirty="0"/>
          </a:p>
        </p:txBody>
      </p:sp>
      <p:sp>
        <p:nvSpPr>
          <p:cNvPr id="25" name="Shape 23"/>
          <p:cNvSpPr/>
          <p:nvPr/>
        </p:nvSpPr>
        <p:spPr>
          <a:xfrm>
            <a:off x="2560320" y="1554480"/>
            <a:ext cx="731520" cy="274320"/>
          </a:xfrm>
          <a:prstGeom prst="rect">
            <a:avLst>
              <a:gd name="adj" fmla="val 13333"/>
            </a:avLst>
          </a:prstGeom>
          <a:solidFill>
            <a:srgbClr val="EAE5DC"/>
          </a:solidFill>
          <a:ln w="10160">
            <a:solidFill>
              <a:srgbClr val="E5E0D8"/>
            </a:solidFill>
            <a:prstDash val="solid"/>
          </a:ln>
        </p:spPr>
      </p:sp>
      <p:sp>
        <p:nvSpPr>
          <p:cNvPr id="26" name="Text 24"/>
          <p:cNvSpPr/>
          <p:nvPr/>
        </p:nvSpPr>
        <p:spPr>
          <a:xfrm>
            <a:off x="2560320" y="1554480"/>
            <a:ext cx="731520" cy="274320"/>
          </a:xfrm>
          <a:prstGeom prst="rect">
            <a:avLst/>
          </a:prstGeom>
          <a:noFill/>
          <a:ln/>
        </p:spPr>
        <p:txBody>
          <a:bodyPr wrap="square" rtlCol="0" anchor="ctr"/>
          <a:lstStyle/>
          <a:p>
            <a:pPr algn="ctr" indent="0" marL="0">
              <a:buNone/>
            </a:pPr>
            <a:r>
              <a:rPr lang="en-US" sz="700" b="1" dirty="0">
                <a:solidFill>
                  <a:srgbClr val="1B4332"/>
                </a:solidFill>
                <a:latin typeface="Montserrat" pitchFamily="34" charset="0"/>
                <a:ea typeface="Montserrat" pitchFamily="34" charset="-122"/>
                <a:cs typeface="Montserrat" pitchFamily="34" charset="-120"/>
              </a:rPr>
              <a:t>T1: Pace &lt; 0.70</a:t>
            </a:r>
            <a:endParaRPr lang="en-US" sz="700" dirty="0"/>
          </a:p>
        </p:txBody>
      </p:sp>
      <p:sp>
        <p:nvSpPr>
          <p:cNvPr id="27" name="Shape 25"/>
          <p:cNvSpPr/>
          <p:nvPr/>
        </p:nvSpPr>
        <p:spPr>
          <a:xfrm>
            <a:off x="2560320" y="3017520"/>
            <a:ext cx="731520" cy="274320"/>
          </a:xfrm>
          <a:prstGeom prst="rect">
            <a:avLst>
              <a:gd name="adj" fmla="val 13333"/>
            </a:avLst>
          </a:prstGeom>
          <a:solidFill>
            <a:srgbClr val="EAE5DC"/>
          </a:solidFill>
          <a:ln w="10160">
            <a:solidFill>
              <a:srgbClr val="E5E0D8"/>
            </a:solidFill>
            <a:prstDash val="solid"/>
          </a:ln>
        </p:spPr>
      </p:sp>
      <p:sp>
        <p:nvSpPr>
          <p:cNvPr id="28" name="Text 26"/>
          <p:cNvSpPr/>
          <p:nvPr/>
        </p:nvSpPr>
        <p:spPr>
          <a:xfrm>
            <a:off x="2560320" y="3017520"/>
            <a:ext cx="731520" cy="274320"/>
          </a:xfrm>
          <a:prstGeom prst="rect">
            <a:avLst/>
          </a:prstGeom>
          <a:noFill/>
          <a:ln/>
        </p:spPr>
        <p:txBody>
          <a:bodyPr wrap="square" rtlCol="0" anchor="ctr"/>
          <a:lstStyle/>
          <a:p>
            <a:pPr algn="ctr" indent="0" marL="0">
              <a:buNone/>
            </a:pPr>
            <a:r>
              <a:rPr lang="en-US" sz="700" b="1" dirty="0">
                <a:solidFill>
                  <a:srgbClr val="1B4332"/>
                </a:solidFill>
                <a:latin typeface="Montserrat" pitchFamily="34" charset="0"/>
                <a:ea typeface="Montserrat" pitchFamily="34" charset="-122"/>
                <a:cs typeface="Montserrat" pitchFamily="34" charset="-120"/>
              </a:rPr>
              <a:t>T2: Pace &lt; 0.35</a:t>
            </a:r>
            <a:endParaRPr lang="en-US" sz="700" dirty="0"/>
          </a:p>
        </p:txBody>
      </p:sp>
      <p:sp>
        <p:nvSpPr>
          <p:cNvPr id="29" name="Shape 27"/>
          <p:cNvSpPr/>
          <p:nvPr/>
        </p:nvSpPr>
        <p:spPr>
          <a:xfrm>
            <a:off x="5394960" y="1554480"/>
            <a:ext cx="822960" cy="274320"/>
          </a:xfrm>
          <a:prstGeom prst="rect">
            <a:avLst>
              <a:gd name="adj" fmla="val 13333"/>
            </a:avLst>
          </a:prstGeom>
          <a:solidFill>
            <a:srgbClr val="EAE5DC"/>
          </a:solidFill>
          <a:ln w="10160">
            <a:solidFill>
              <a:srgbClr val="E5E0D8"/>
            </a:solidFill>
            <a:prstDash val="solid"/>
          </a:ln>
        </p:spPr>
      </p:sp>
      <p:sp>
        <p:nvSpPr>
          <p:cNvPr id="30" name="Text 28"/>
          <p:cNvSpPr/>
          <p:nvPr/>
        </p:nvSpPr>
        <p:spPr>
          <a:xfrm>
            <a:off x="5394960" y="1554480"/>
            <a:ext cx="822960" cy="274320"/>
          </a:xfrm>
          <a:prstGeom prst="rect">
            <a:avLst/>
          </a:prstGeom>
          <a:noFill/>
          <a:ln/>
        </p:spPr>
        <p:txBody>
          <a:bodyPr wrap="square" rtlCol="0" anchor="ctr"/>
          <a:lstStyle/>
          <a:p>
            <a:pPr algn="ctr" indent="0" marL="0">
              <a:buNone/>
            </a:pPr>
            <a:r>
              <a:rPr lang="en-US" sz="700" b="1" dirty="0">
                <a:solidFill>
                  <a:srgbClr val="1B4332"/>
                </a:solidFill>
                <a:latin typeface="Montserrat" pitchFamily="34" charset="0"/>
                <a:ea typeface="Montserrat" pitchFamily="34" charset="-122"/>
                <a:cs typeface="Montserrat" pitchFamily="34" charset="-120"/>
              </a:rPr>
              <a:t>T3: /apply-discount</a:t>
            </a:r>
            <a:endParaRPr lang="en-US" sz="700" dirty="0"/>
          </a:p>
        </p:txBody>
      </p:sp>
      <p:sp>
        <p:nvSpPr>
          <p:cNvPr id="31" name="Shape 29"/>
          <p:cNvSpPr/>
          <p:nvPr/>
        </p:nvSpPr>
        <p:spPr>
          <a:xfrm>
            <a:off x="5394960" y="3017520"/>
            <a:ext cx="822960" cy="274320"/>
          </a:xfrm>
          <a:prstGeom prst="rect">
            <a:avLst>
              <a:gd name="adj" fmla="val 13333"/>
            </a:avLst>
          </a:prstGeom>
          <a:solidFill>
            <a:srgbClr val="EAE5DC"/>
          </a:solidFill>
          <a:ln w="10160">
            <a:solidFill>
              <a:srgbClr val="E5E0D8"/>
            </a:solidFill>
            <a:prstDash val="solid"/>
          </a:ln>
        </p:spPr>
      </p:sp>
      <p:sp>
        <p:nvSpPr>
          <p:cNvPr id="32" name="Text 30"/>
          <p:cNvSpPr/>
          <p:nvPr/>
        </p:nvSpPr>
        <p:spPr>
          <a:xfrm>
            <a:off x="5394960" y="3017520"/>
            <a:ext cx="822960" cy="274320"/>
          </a:xfrm>
          <a:prstGeom prst="rect">
            <a:avLst/>
          </a:prstGeom>
          <a:noFill/>
          <a:ln/>
        </p:spPr>
        <p:txBody>
          <a:bodyPr wrap="square" rtlCol="0" anchor="ctr"/>
          <a:lstStyle/>
          <a:p>
            <a:pPr algn="ctr" indent="0" marL="0">
              <a:buNone/>
            </a:pPr>
            <a:r>
              <a:rPr lang="en-US" sz="700" b="1" dirty="0">
                <a:solidFill>
                  <a:srgbClr val="1B4332"/>
                </a:solidFill>
                <a:latin typeface="Montserrat" pitchFamily="34" charset="0"/>
                <a:ea typeface="Montserrat" pitchFamily="34" charset="-122"/>
                <a:cs typeface="Montserrat" pitchFamily="34" charset="-120"/>
              </a:rPr>
              <a:t>T4: /flag-donation</a:t>
            </a:r>
            <a:endParaRPr lang="en-US" sz="700" dirty="0"/>
          </a:p>
        </p:txBody>
      </p:sp>
      <p:sp>
        <p:nvSpPr>
          <p:cNvPr id="33" name="Shape 31"/>
          <p:cNvSpPr/>
          <p:nvPr/>
        </p:nvSpPr>
        <p:spPr>
          <a:xfrm>
            <a:off x="8046720" y="1828800"/>
            <a:ext cx="914400" cy="274320"/>
          </a:xfrm>
          <a:prstGeom prst="rect">
            <a:avLst>
              <a:gd name="adj" fmla="val 13333"/>
            </a:avLst>
          </a:prstGeom>
          <a:solidFill>
            <a:srgbClr val="EAE5DC"/>
          </a:solidFill>
          <a:ln w="10160">
            <a:solidFill>
              <a:srgbClr val="E5E0D8"/>
            </a:solidFill>
            <a:prstDash val="solid"/>
          </a:ln>
        </p:spPr>
      </p:sp>
      <p:sp>
        <p:nvSpPr>
          <p:cNvPr id="34" name="Text 32"/>
          <p:cNvSpPr/>
          <p:nvPr/>
        </p:nvSpPr>
        <p:spPr>
          <a:xfrm>
            <a:off x="8046720" y="1828800"/>
            <a:ext cx="914400" cy="274320"/>
          </a:xfrm>
          <a:prstGeom prst="rect">
            <a:avLst/>
          </a:prstGeom>
          <a:noFill/>
          <a:ln/>
        </p:spPr>
        <p:txBody>
          <a:bodyPr wrap="square" rtlCol="0" anchor="ctr"/>
          <a:lstStyle/>
          <a:p>
            <a:pPr algn="ctr" indent="0" marL="0">
              <a:buNone/>
            </a:pPr>
            <a:r>
              <a:rPr lang="en-US" sz="700" b="1" dirty="0">
                <a:solidFill>
                  <a:srgbClr val="1B4332"/>
                </a:solidFill>
                <a:latin typeface="Montserrat" pitchFamily="34" charset="0"/>
                <a:ea typeface="Montserrat" pitchFamily="34" charset="-122"/>
                <a:cs typeface="Montserrat" pitchFamily="34" charset="-120"/>
              </a:rPr>
              <a:t>T5: /dismiss</a:t>
            </a:r>
            <a:endParaRPr lang="en-US" sz="700" dirty="0"/>
          </a:p>
        </p:txBody>
      </p:sp>
      <p:sp>
        <p:nvSpPr>
          <p:cNvPr id="35" name="Shape 33"/>
          <p:cNvSpPr/>
          <p:nvPr/>
        </p:nvSpPr>
        <p:spPr>
          <a:xfrm>
            <a:off x="8046720" y="2743200"/>
            <a:ext cx="914400" cy="274320"/>
          </a:xfrm>
          <a:prstGeom prst="rect">
            <a:avLst>
              <a:gd name="adj" fmla="val 13333"/>
            </a:avLst>
          </a:prstGeom>
          <a:solidFill>
            <a:srgbClr val="EAE5DC"/>
          </a:solidFill>
          <a:ln w="10160">
            <a:solidFill>
              <a:srgbClr val="E5E0D8"/>
            </a:solidFill>
            <a:prstDash val="solid"/>
          </a:ln>
        </p:spPr>
      </p:sp>
      <p:sp>
        <p:nvSpPr>
          <p:cNvPr id="36" name="Text 34"/>
          <p:cNvSpPr/>
          <p:nvPr/>
        </p:nvSpPr>
        <p:spPr>
          <a:xfrm>
            <a:off x="8046720" y="2743200"/>
            <a:ext cx="914400" cy="274320"/>
          </a:xfrm>
          <a:prstGeom prst="rect">
            <a:avLst/>
          </a:prstGeom>
          <a:noFill/>
          <a:ln/>
        </p:spPr>
        <p:txBody>
          <a:bodyPr wrap="square" rtlCol="0" anchor="ctr"/>
          <a:lstStyle/>
          <a:p>
            <a:pPr algn="ctr" indent="0" marL="0">
              <a:buNone/>
            </a:pPr>
            <a:r>
              <a:rPr lang="en-US" sz="700" b="1" dirty="0">
                <a:solidFill>
                  <a:srgbClr val="1B4332"/>
                </a:solidFill>
                <a:latin typeface="Montserrat" pitchFamily="34" charset="0"/>
                <a:ea typeface="Montserrat" pitchFamily="34" charset="-122"/>
                <a:cs typeface="Montserrat" pitchFamily="34" charset="-120"/>
              </a:rPr>
              <a:t>T6: /dismiss</a:t>
            </a:r>
            <a:endParaRPr lang="en-US" sz="700" dirty="0"/>
          </a:p>
        </p:txBody>
      </p:sp>
      <p:sp>
        <p:nvSpPr>
          <p:cNvPr id="37" name="Shape 35"/>
          <p:cNvSpPr/>
          <p:nvPr/>
        </p:nvSpPr>
        <p:spPr>
          <a:xfrm>
            <a:off x="9144000" y="3291840"/>
            <a:ext cx="2286000" cy="274320"/>
          </a:xfrm>
          <a:prstGeom prst="rect">
            <a:avLst>
              <a:gd name="adj" fmla="val 13333"/>
            </a:avLst>
          </a:prstGeom>
          <a:solidFill>
            <a:srgbClr val="EAE5DC"/>
          </a:solidFill>
          <a:ln w="10160">
            <a:solidFill>
              <a:srgbClr val="E5E0D8"/>
            </a:solidFill>
            <a:prstDash val="solid"/>
          </a:ln>
        </p:spPr>
      </p:sp>
      <p:sp>
        <p:nvSpPr>
          <p:cNvPr id="38" name="Text 36"/>
          <p:cNvSpPr/>
          <p:nvPr/>
        </p:nvSpPr>
        <p:spPr>
          <a:xfrm>
            <a:off x="9144000" y="3291840"/>
            <a:ext cx="2286000" cy="274320"/>
          </a:xfrm>
          <a:prstGeom prst="rect">
            <a:avLst/>
          </a:prstGeom>
          <a:noFill/>
          <a:ln/>
        </p:spPr>
        <p:txBody>
          <a:bodyPr wrap="square" rtlCol="0" anchor="ctr"/>
          <a:lstStyle/>
          <a:p>
            <a:pPr algn="ctr" indent="0" marL="0">
              <a:buNone/>
            </a:pPr>
            <a:r>
              <a:rPr lang="en-US" sz="700" b="1" dirty="0">
                <a:solidFill>
                  <a:srgbClr val="1B4332"/>
                </a:solidFill>
                <a:latin typeface="Montserrat" pitchFamily="34" charset="0"/>
                <a:ea typeface="Montserrat" pitchFamily="34" charset="-122"/>
                <a:cs typeface="Montserrat" pitchFamily="34" charset="-120"/>
              </a:rPr>
              <a:t>T7: Next Poll -&gt; Ignored</a:t>
            </a:r>
            <a:endParaRPr lang="en-US" sz="700" dirty="0"/>
          </a:p>
        </p:txBody>
      </p:sp>
      <p:sp>
        <p:nvSpPr>
          <p:cNvPr id="39" name="Shape 37"/>
          <p:cNvSpPr/>
          <p:nvPr/>
        </p:nvSpPr>
        <p:spPr>
          <a:xfrm>
            <a:off x="731520" y="4206240"/>
            <a:ext cx="10698480" cy="822960"/>
          </a:xfrm>
          <a:prstGeom prst="rect">
            <a:avLst>
              <a:gd name="adj" fmla="val 8889"/>
            </a:avLst>
          </a:prstGeom>
          <a:solidFill>
            <a:srgbClr val="FFFFFF"/>
          </a:solidFill>
          <a:ln w="12700">
            <a:solidFill>
              <a:srgbClr val="E5E0D8"/>
            </a:solidFill>
            <a:prstDash val="solid"/>
          </a:ln>
        </p:spPr>
      </p:sp>
      <p:sp>
        <p:nvSpPr>
          <p:cNvPr id="40" name="Text 38"/>
          <p:cNvSpPr/>
          <p:nvPr/>
        </p:nvSpPr>
        <p:spPr>
          <a:xfrm>
            <a:off x="914400" y="4251960"/>
            <a:ext cx="10332720" cy="201168"/>
          </a:xfrm>
          <a:prstGeom prst="rect">
            <a:avLst/>
          </a:prstGeom>
          <a:noFill/>
          <a:ln/>
        </p:spPr>
        <p:txBody>
          <a:bodyPr wrap="square" rtlCol="0" anchor="ctr"/>
          <a:lstStyle/>
          <a:p>
            <a:pPr indent="0" marL="0">
              <a:buNone/>
            </a:pPr>
            <a:r>
              <a:rPr lang="en-US" sz="850" b="1" dirty="0">
                <a:solidFill>
                  <a:srgbClr val="1B4332"/>
                </a:solidFill>
                <a:latin typeface="Montserrat" pitchFamily="34" charset="0"/>
                <a:ea typeface="Montserrat" pitchFamily="34" charset="-122"/>
                <a:cs typeface="Montserrat" pitchFamily="34" charset="-120"/>
              </a:rPr>
              <a:t>TEST SUITE EXECUTION TRACE (test_state_transitions_waste_alert in Backend/test_backend_unit.py):</a:t>
            </a:r>
            <a:endParaRPr lang="en-US" sz="850" dirty="0"/>
          </a:p>
        </p:txBody>
      </p:sp>
      <p:sp>
        <p:nvSpPr>
          <p:cNvPr id="41" name="Text 39"/>
          <p:cNvSpPr/>
          <p:nvPr/>
        </p:nvSpPr>
        <p:spPr>
          <a:xfrm>
            <a:off x="914400" y="4480560"/>
            <a:ext cx="10332720" cy="502920"/>
          </a:xfrm>
          <a:prstGeom prst="rect">
            <a:avLst/>
          </a:prstGeom>
          <a:noFill/>
          <a:ln/>
        </p:spPr>
        <p:txBody>
          <a:bodyPr wrap="square" rtlCol="0" anchor="ctr"/>
          <a:lstStyle/>
          <a:p>
            <a:pPr indent="0" marL="0">
              <a:buNone/>
            </a:pPr>
            <a:r>
              <a:rPr lang="en-US" sz="800" dirty="0">
                <a:solidFill>
                  <a:srgbClr val="1C1C19"/>
                </a:solidFill>
                <a:latin typeface="Inter" pitchFamily="34" charset="0"/>
                <a:ea typeface="Inter" pitchFamily="34" charset="-122"/>
                <a:cs typeface="Inter" pitchFamily="34" charset="-120"/>
              </a:rPr>
              <a:t>• T1 &amp; T2: Probes alert generator; verifies Traditional Baguette enters S1 (Low Pace) and Whole Milk enters S2 (Critical).</a:t>
            </a:r>
            <a:endParaRPr lang="en-US" sz="800" dirty="0"/>
          </a:p>
          <a:p>
            <a:pPr indent="0" marL="0">
              <a:buNone/>
            </a:pPr>
            <a:r>
              <a:rPr lang="en-US" sz="800" dirty="0">
                <a:solidFill>
                  <a:srgbClr val="1C1C19"/>
                </a:solidFill>
                <a:latin typeface="Inter" pitchFamily="34" charset="0"/>
                <a:ea typeface="Inter" pitchFamily="34" charset="-122"/>
                <a:cs typeface="Inter" pitchFamily="34" charset="-120"/>
              </a:rPr>
              <a:t>• T3 &amp; T4: Calls discount and donation actions; verifies price markdown ($2.80 -&gt; $2.24) and flaggedForDonation=True in document.</a:t>
            </a:r>
            <a:endParaRPr lang="en-US" sz="800" dirty="0"/>
          </a:p>
          <a:p>
            <a:pPr indent="0" marL="0">
              <a:buNone/>
            </a:pPr>
            <a:r>
              <a:rPr lang="en-US" sz="800" dirty="0">
                <a:solidFill>
                  <a:srgbClr val="1C1C19"/>
                </a:solidFill>
                <a:latin typeface="Inter" pitchFamily="34" charset="0"/>
                <a:ea typeface="Inter" pitchFamily="34" charset="-122"/>
                <a:cs typeface="Inter" pitchFamily="34" charset="-120"/>
              </a:rPr>
              <a:t>• T5, T6, T7: Issues dismiss request; proves that subsequent polling runs completely suppress dismissed items from the manager UI.</a:t>
            </a:r>
            <a:endParaRPr lang="en-US" sz="800" dirty="0"/>
          </a:p>
        </p:txBody>
      </p:sp>
      <p:sp>
        <p:nvSpPr>
          <p:cNvPr id="42" name="Text 40"/>
          <p:cNvSpPr/>
          <p:nvPr/>
        </p:nvSpPr>
        <p:spPr>
          <a:xfrm>
            <a:off x="731520" y="5166360"/>
            <a:ext cx="10698480" cy="1234440"/>
          </a:xfrm>
          <a:prstGeom prst="rect">
            <a:avLst/>
          </a:prstGeom>
          <a:noFill/>
          <a:ln/>
        </p:spPr>
        <p:txBody>
          <a:bodyPr wrap="square" rtlCol="0" anchor="t"/>
          <a:lstStyle/>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Finite State Verification: Models all valid states and trigger events across the waste alert lifecycle, ensuring items transition cleanly between active, discounted, and dismissed states.</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State Invariant Enforcement: Tests verify that executing a discount action immediately updates pricing in database documents and marks primary action status as completed.</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Suppression Post-Dismissal: Confirms that once an alert transitions to Dismissed, subsequent polling queries strictly suppress the item from recurring on the manager's dashboard.</a:t>
            </a:r>
            <a:endParaRPr lang="en-US" sz="1150" dirty="0"/>
          </a:p>
        </p:txBody>
      </p:sp>
      <p:sp>
        <p:nvSpPr>
          <p:cNvPr id="43" name="Text 41"/>
          <p:cNvSpPr/>
          <p:nvPr/>
        </p:nvSpPr>
        <p:spPr>
          <a:xfrm>
            <a:off x="731520" y="6419088"/>
            <a:ext cx="10698480" cy="228600"/>
          </a:xfrm>
          <a:prstGeom prst="rect">
            <a:avLst/>
          </a:prstGeom>
          <a:noFill/>
          <a:ln/>
        </p:spPr>
        <p:txBody>
          <a:bodyPr wrap="square" rtlCol="0" anchor="b"/>
          <a:lstStyle/>
          <a:p>
            <a:pPr indent="0" marL="0">
              <a:buNone/>
            </a:pPr>
            <a:r>
              <a:rPr lang="en-US" sz="850" i="1" dirty="0">
                <a:solidFill>
                  <a:srgbClr val="5A5A54"/>
                </a:solidFill>
                <a:latin typeface="Inter" pitchFamily="34" charset="0"/>
                <a:ea typeface="Inter" pitchFamily="34" charset="-122"/>
                <a:cs typeface="Inter" pitchFamily="34" charset="-120"/>
              </a:rPr>
              <a:t>Evidence Source: test_state_transitions_waste_alert in Backend/test_backend_unit.py; State handlers in Backend/main.py:626-780.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9F4"/>
        </a:solidFill>
      </p:bgPr>
    </p:bg>
    <p:spTree>
      <p:nvGrpSpPr>
        <p:cNvPr id="1" name=""/>
        <p:cNvGrpSpPr/>
        <p:nvPr/>
      </p:nvGrpSpPr>
      <p:grpSpPr>
        <a:xfrm>
          <a:off x="0" y="0"/>
          <a:ext cx="0" cy="0"/>
          <a:chOff x="0" y="0"/>
          <a:chExt cx="0" cy="0"/>
        </a:xfrm>
      </p:grpSpPr>
      <p:sp>
        <p:nvSpPr>
          <p:cNvPr id="2" name="Shape 0"/>
          <p:cNvSpPr/>
          <p:nvPr/>
        </p:nvSpPr>
        <p:spPr>
          <a:xfrm>
            <a:off x="731520" y="320040"/>
            <a:ext cx="2194560" cy="274320"/>
          </a:xfrm>
          <a:prstGeom prst="rect">
            <a:avLst>
              <a:gd name="adj" fmla="val 20000"/>
            </a:avLst>
          </a:prstGeom>
          <a:solidFill>
            <a:srgbClr val="EAE5DC"/>
          </a:solidFill>
          <a:ln w="12700">
            <a:solidFill>
              <a:srgbClr val="E5E0D8"/>
            </a:solidFill>
            <a:prstDash val="solid"/>
          </a:ln>
        </p:spPr>
      </p:sp>
      <p:sp>
        <p:nvSpPr>
          <p:cNvPr id="3" name="Text 1"/>
          <p:cNvSpPr/>
          <p:nvPr/>
        </p:nvSpPr>
        <p:spPr>
          <a:xfrm>
            <a:off x="731520" y="320040"/>
            <a:ext cx="2194560" cy="274320"/>
          </a:xfrm>
          <a:prstGeom prst="rect">
            <a:avLst/>
          </a:prstGeom>
          <a:noFill/>
          <a:ln/>
        </p:spPr>
        <p:txBody>
          <a:bodyPr wrap="square" rtlCol="0" anchor="ctr"/>
          <a:lstStyle/>
          <a:p>
            <a:pPr algn="ctr" indent="0" marL="0">
              <a:buNone/>
            </a:pPr>
            <a:r>
              <a:rPr lang="en-US" sz="850" b="1" dirty="0">
                <a:solidFill>
                  <a:srgbClr val="1B4332"/>
                </a:solidFill>
                <a:latin typeface="Montserrat" pitchFamily="34" charset="0"/>
                <a:ea typeface="Montserrat" pitchFamily="34" charset="-122"/>
                <a:cs typeface="Montserrat" pitchFamily="34" charset="-120"/>
              </a:rPr>
              <a:t>UNIT 2: TECHNIQUES</a:t>
            </a:r>
            <a:endParaRPr lang="en-US" sz="850" dirty="0"/>
          </a:p>
        </p:txBody>
      </p:sp>
      <p:sp>
        <p:nvSpPr>
          <p:cNvPr id="4" name="Text 2"/>
          <p:cNvSpPr/>
          <p:nvPr/>
        </p:nvSpPr>
        <p:spPr>
          <a:xfrm>
            <a:off x="10058400" y="320040"/>
            <a:ext cx="1371600" cy="274320"/>
          </a:xfrm>
          <a:prstGeom prst="rect">
            <a:avLst/>
          </a:prstGeom>
          <a:noFill/>
          <a:ln/>
        </p:spPr>
        <p:txBody>
          <a:bodyPr wrap="square" rtlCol="0" anchor="ctr"/>
          <a:lstStyle/>
          <a:p>
            <a:pPr algn="r" indent="0" marL="0">
              <a:buNone/>
            </a:pPr>
            <a:r>
              <a:rPr lang="en-US" sz="900" b="1" dirty="0">
                <a:solidFill>
                  <a:srgbClr val="5A5A54"/>
                </a:solidFill>
                <a:latin typeface="Montserrat" pitchFamily="34" charset="0"/>
                <a:ea typeface="Montserrat" pitchFamily="34" charset="-122"/>
                <a:cs typeface="Montserrat" pitchFamily="34" charset="-120"/>
              </a:rPr>
              <a:t>SLIDE 8 / 15</a:t>
            </a:r>
            <a:endParaRPr lang="en-US" sz="900" dirty="0"/>
          </a:p>
        </p:txBody>
      </p:sp>
      <p:sp>
        <p:nvSpPr>
          <p:cNvPr id="5" name="Text 3"/>
          <p:cNvSpPr/>
          <p:nvPr/>
        </p:nvSpPr>
        <p:spPr>
          <a:xfrm>
            <a:off x="731520" y="658368"/>
            <a:ext cx="10698480" cy="475488"/>
          </a:xfrm>
          <a:prstGeom prst="rect">
            <a:avLst/>
          </a:prstGeom>
          <a:noFill/>
          <a:ln/>
        </p:spPr>
        <p:txBody>
          <a:bodyPr wrap="square" rtlCol="0" anchor="ctr"/>
          <a:lstStyle/>
          <a:p>
            <a:pPr indent="0" marL="0">
              <a:buNone/>
            </a:pPr>
            <a:r>
              <a:rPr lang="en-US" sz="2000" b="1" dirty="0">
                <a:solidFill>
                  <a:srgbClr val="1B4332"/>
                </a:solidFill>
                <a:latin typeface="Montserrat" pitchFamily="34" charset="0"/>
                <a:ea typeface="Montserrat" pitchFamily="34" charset="-122"/>
                <a:cs typeface="Montserrat" pitchFamily="34" charset="-120"/>
              </a:rPr>
              <a:t>White-Box Testing: CFG Analysis &amp; Branch Coverage</a:t>
            </a:r>
            <a:endParaRPr lang="en-US" sz="2000" dirty="0"/>
          </a:p>
        </p:txBody>
      </p:sp>
      <p:sp>
        <p:nvSpPr>
          <p:cNvPr id="6" name="Shape 4"/>
          <p:cNvSpPr/>
          <p:nvPr/>
        </p:nvSpPr>
        <p:spPr>
          <a:xfrm>
            <a:off x="731520" y="1170432"/>
            <a:ext cx="10698480" cy="0"/>
          </a:xfrm>
          <a:prstGeom prst="line">
            <a:avLst/>
          </a:prstGeom>
          <a:noFill/>
          <a:ln w="12700">
            <a:solidFill>
              <a:srgbClr val="E5E0D8"/>
            </a:solidFill>
            <a:prstDash val="solid"/>
          </a:ln>
        </p:spPr>
      </p:sp>
      <p:sp>
        <p:nvSpPr>
          <p:cNvPr id="7" name="Shape 5"/>
          <p:cNvSpPr/>
          <p:nvPr/>
        </p:nvSpPr>
        <p:spPr>
          <a:xfrm>
            <a:off x="731520" y="1371600"/>
            <a:ext cx="5120640" cy="3611880"/>
          </a:xfrm>
          <a:prstGeom prst="rect">
            <a:avLst>
              <a:gd name="adj" fmla="val 3038"/>
            </a:avLst>
          </a:prstGeom>
          <a:solidFill>
            <a:srgbClr val="FFFFFF"/>
          </a:solidFill>
          <a:ln w="19050">
            <a:solidFill>
              <a:srgbClr val="E5E0D8"/>
            </a:solidFill>
            <a:prstDash val="solid"/>
          </a:ln>
        </p:spPr>
      </p:sp>
      <p:sp>
        <p:nvSpPr>
          <p:cNvPr id="8" name="Text 6"/>
          <p:cNvSpPr/>
          <p:nvPr/>
        </p:nvSpPr>
        <p:spPr>
          <a:xfrm>
            <a:off x="914400" y="1508760"/>
            <a:ext cx="4754880" cy="256032"/>
          </a:xfrm>
          <a:prstGeom prst="rect">
            <a:avLst/>
          </a:prstGeom>
          <a:noFill/>
          <a:ln/>
        </p:spPr>
        <p:txBody>
          <a:bodyPr wrap="square" rtlCol="0" anchor="ctr"/>
          <a:lstStyle/>
          <a:p>
            <a:pPr indent="0" marL="0">
              <a:buNone/>
            </a:pPr>
            <a:r>
              <a:rPr lang="en-US" sz="950" b="1" dirty="0">
                <a:solidFill>
                  <a:srgbClr val="1B4332"/>
                </a:solidFill>
                <a:latin typeface="Montserrat" pitchFamily="34" charset="0"/>
                <a:ea typeface="Montserrat" pitchFamily="34" charset="-122"/>
                <a:cs typeface="Montserrat" pitchFamily="34" charset="-120"/>
              </a:rPr>
              <a:t>CONTROL-FLOW GRAPH: get_client_ip(request)</a:t>
            </a:r>
            <a:endParaRPr lang="en-US" sz="950" dirty="0"/>
          </a:p>
        </p:txBody>
      </p:sp>
      <p:sp>
        <p:nvSpPr>
          <p:cNvPr id="9" name="Shape 7"/>
          <p:cNvSpPr/>
          <p:nvPr/>
        </p:nvSpPr>
        <p:spPr>
          <a:xfrm>
            <a:off x="914400" y="1874520"/>
            <a:ext cx="4754880" cy="329184"/>
          </a:xfrm>
          <a:prstGeom prst="rect">
            <a:avLst>
              <a:gd name="adj" fmla="val 13889"/>
            </a:avLst>
          </a:prstGeom>
          <a:solidFill>
            <a:srgbClr val="FFFFFF"/>
          </a:solidFill>
          <a:ln w="12700">
            <a:solidFill>
              <a:srgbClr val="E5E0D8"/>
            </a:solidFill>
            <a:prstDash val="solid"/>
          </a:ln>
        </p:spPr>
      </p:sp>
      <p:sp>
        <p:nvSpPr>
          <p:cNvPr id="10" name="Text 8"/>
          <p:cNvSpPr/>
          <p:nvPr/>
        </p:nvSpPr>
        <p:spPr>
          <a:xfrm>
            <a:off x="1005840" y="1874520"/>
            <a:ext cx="4572000" cy="329184"/>
          </a:xfrm>
          <a:prstGeom prst="rect">
            <a:avLst/>
          </a:prstGeom>
          <a:noFill/>
          <a:ln/>
        </p:spPr>
        <p:txBody>
          <a:bodyPr wrap="square" rtlCol="0" anchor="ctr"/>
          <a:lstStyle/>
          <a:p>
            <a:pPr indent="0" marL="0">
              <a:buNone/>
            </a:pPr>
            <a:r>
              <a:rPr lang="en-US" sz="750" dirty="0">
                <a:solidFill>
                  <a:srgbClr val="1C1C19"/>
                </a:solidFill>
                <a:latin typeface="Consolas" pitchFamily="34" charset="0"/>
                <a:ea typeface="Consolas" pitchFamily="34" charset="-122"/>
                <a:cs typeface="Consolas" pitchFamily="34" charset="-120"/>
              </a:rPr>
              <a:t>(1) Entry: forwarded_for = headers.get('x-forwarded-for')</a:t>
            </a:r>
            <a:endParaRPr lang="en-US" sz="750" dirty="0"/>
          </a:p>
        </p:txBody>
      </p:sp>
      <p:sp>
        <p:nvSpPr>
          <p:cNvPr id="11" name="Shape 9"/>
          <p:cNvSpPr/>
          <p:nvPr/>
        </p:nvSpPr>
        <p:spPr>
          <a:xfrm>
            <a:off x="914400" y="2286000"/>
            <a:ext cx="4754880" cy="329184"/>
          </a:xfrm>
          <a:prstGeom prst="rect">
            <a:avLst>
              <a:gd name="adj" fmla="val 13889"/>
            </a:avLst>
          </a:prstGeom>
          <a:solidFill>
            <a:srgbClr val="EAE5DC"/>
          </a:solidFill>
          <a:ln w="12700">
            <a:solidFill>
              <a:srgbClr val="FFB702"/>
            </a:solidFill>
            <a:prstDash val="solid"/>
          </a:ln>
        </p:spPr>
      </p:sp>
      <p:sp>
        <p:nvSpPr>
          <p:cNvPr id="12" name="Text 10"/>
          <p:cNvSpPr/>
          <p:nvPr/>
        </p:nvSpPr>
        <p:spPr>
          <a:xfrm>
            <a:off x="1005840" y="2286000"/>
            <a:ext cx="4572000" cy="329184"/>
          </a:xfrm>
          <a:prstGeom prst="rect">
            <a:avLst/>
          </a:prstGeom>
          <a:noFill/>
          <a:ln/>
        </p:spPr>
        <p:txBody>
          <a:bodyPr wrap="square" rtlCol="0" anchor="ctr"/>
          <a:lstStyle/>
          <a:p>
            <a:pPr indent="0" marL="0">
              <a:buNone/>
            </a:pPr>
            <a:r>
              <a:rPr lang="en-US" sz="750" b="1" dirty="0">
                <a:solidFill>
                  <a:srgbClr val="1C1C19"/>
                </a:solidFill>
                <a:latin typeface="Consolas" pitchFamily="34" charset="0"/>
                <a:ea typeface="Consolas" pitchFamily="34" charset="-122"/>
                <a:cs typeface="Consolas" pitchFamily="34" charset="-120"/>
              </a:rPr>
              <a:t>(2) Predicate 1: if forwarded_for is truthy?</a:t>
            </a:r>
            <a:endParaRPr lang="en-US" sz="750" dirty="0"/>
          </a:p>
        </p:txBody>
      </p:sp>
      <p:sp>
        <p:nvSpPr>
          <p:cNvPr id="13" name="Shape 11"/>
          <p:cNvSpPr/>
          <p:nvPr/>
        </p:nvSpPr>
        <p:spPr>
          <a:xfrm>
            <a:off x="914400" y="2697480"/>
            <a:ext cx="4754880" cy="329184"/>
          </a:xfrm>
          <a:prstGeom prst="rect">
            <a:avLst>
              <a:gd name="adj" fmla="val 13889"/>
            </a:avLst>
          </a:prstGeom>
          <a:solidFill>
            <a:srgbClr val="EAE5DC"/>
          </a:solidFill>
          <a:ln w="12700">
            <a:solidFill>
              <a:srgbClr val="FFB702"/>
            </a:solidFill>
            <a:prstDash val="solid"/>
          </a:ln>
        </p:spPr>
      </p:sp>
      <p:sp>
        <p:nvSpPr>
          <p:cNvPr id="14" name="Text 12"/>
          <p:cNvSpPr/>
          <p:nvPr/>
        </p:nvSpPr>
        <p:spPr>
          <a:xfrm>
            <a:off x="1005840" y="2697480"/>
            <a:ext cx="4572000" cy="329184"/>
          </a:xfrm>
          <a:prstGeom prst="rect">
            <a:avLst/>
          </a:prstGeom>
          <a:noFill/>
          <a:ln/>
        </p:spPr>
        <p:txBody>
          <a:bodyPr wrap="square" rtlCol="0" anchor="ctr"/>
          <a:lstStyle/>
          <a:p>
            <a:pPr indent="0" marL="0">
              <a:buNone/>
            </a:pPr>
            <a:r>
              <a:rPr lang="en-US" sz="750" b="1" dirty="0">
                <a:solidFill>
                  <a:srgbClr val="1C1C19"/>
                </a:solidFill>
                <a:latin typeface="Consolas" pitchFamily="34" charset="0"/>
                <a:ea typeface="Consolas" pitchFamily="34" charset="-122"/>
                <a:cs typeface="Consolas" pitchFamily="34" charset="-120"/>
              </a:rPr>
              <a:t>(3) Predicate 2: ips = split(); if ips is non-empty?</a:t>
            </a:r>
            <a:endParaRPr lang="en-US" sz="750" dirty="0"/>
          </a:p>
        </p:txBody>
      </p:sp>
      <p:sp>
        <p:nvSpPr>
          <p:cNvPr id="15" name="Shape 13"/>
          <p:cNvSpPr/>
          <p:nvPr/>
        </p:nvSpPr>
        <p:spPr>
          <a:xfrm>
            <a:off x="914400" y="3108960"/>
            <a:ext cx="4754880" cy="329184"/>
          </a:xfrm>
          <a:prstGeom prst="rect">
            <a:avLst>
              <a:gd name="adj" fmla="val 13889"/>
            </a:avLst>
          </a:prstGeom>
          <a:solidFill>
            <a:srgbClr val="FCF9F4"/>
          </a:solidFill>
          <a:ln w="12700">
            <a:solidFill>
              <a:srgbClr val="2D6A4F"/>
            </a:solidFill>
            <a:prstDash val="solid"/>
          </a:ln>
        </p:spPr>
      </p:sp>
      <p:sp>
        <p:nvSpPr>
          <p:cNvPr id="16" name="Text 14"/>
          <p:cNvSpPr/>
          <p:nvPr/>
        </p:nvSpPr>
        <p:spPr>
          <a:xfrm>
            <a:off x="1005840" y="3108960"/>
            <a:ext cx="4572000" cy="329184"/>
          </a:xfrm>
          <a:prstGeom prst="rect">
            <a:avLst/>
          </a:prstGeom>
          <a:noFill/>
          <a:ln/>
        </p:spPr>
        <p:txBody>
          <a:bodyPr wrap="square" rtlCol="0" anchor="ctr"/>
          <a:lstStyle/>
          <a:p>
            <a:pPr indent="0" marL="0">
              <a:buNone/>
            </a:pPr>
            <a:r>
              <a:rPr lang="en-US" sz="750" dirty="0">
                <a:solidFill>
                  <a:srgbClr val="1C1C19"/>
                </a:solidFill>
                <a:latin typeface="Consolas" pitchFamily="34" charset="0"/>
                <a:ea typeface="Consolas" pitchFamily="34" charset="-122"/>
                <a:cs typeface="Consolas" pitchFamily="34" charset="-120"/>
              </a:rPr>
              <a:t>(4) Path 1 Exit: return ips[-1] [Rightmost Trusted IP]</a:t>
            </a:r>
            <a:endParaRPr lang="en-US" sz="750" dirty="0"/>
          </a:p>
        </p:txBody>
      </p:sp>
      <p:sp>
        <p:nvSpPr>
          <p:cNvPr id="17" name="Shape 15"/>
          <p:cNvSpPr/>
          <p:nvPr/>
        </p:nvSpPr>
        <p:spPr>
          <a:xfrm>
            <a:off x="914400" y="3520440"/>
            <a:ext cx="4754880" cy="329184"/>
          </a:xfrm>
          <a:prstGeom prst="rect">
            <a:avLst>
              <a:gd name="adj" fmla="val 13889"/>
            </a:avLst>
          </a:prstGeom>
          <a:solidFill>
            <a:srgbClr val="EAE5DC"/>
          </a:solidFill>
          <a:ln w="12700">
            <a:solidFill>
              <a:srgbClr val="FFB702"/>
            </a:solidFill>
            <a:prstDash val="solid"/>
          </a:ln>
        </p:spPr>
      </p:sp>
      <p:sp>
        <p:nvSpPr>
          <p:cNvPr id="18" name="Text 16"/>
          <p:cNvSpPr/>
          <p:nvPr/>
        </p:nvSpPr>
        <p:spPr>
          <a:xfrm>
            <a:off x="1005840" y="3520440"/>
            <a:ext cx="4572000" cy="329184"/>
          </a:xfrm>
          <a:prstGeom prst="rect">
            <a:avLst/>
          </a:prstGeom>
          <a:noFill/>
          <a:ln/>
        </p:spPr>
        <p:txBody>
          <a:bodyPr wrap="square" rtlCol="0" anchor="ctr"/>
          <a:lstStyle/>
          <a:p>
            <a:pPr indent="0" marL="0">
              <a:buNone/>
            </a:pPr>
            <a:r>
              <a:rPr lang="en-US" sz="750" b="1" dirty="0">
                <a:solidFill>
                  <a:srgbClr val="1C1C19"/>
                </a:solidFill>
                <a:latin typeface="Consolas" pitchFamily="34" charset="0"/>
                <a:ea typeface="Consolas" pitchFamily="34" charset="-122"/>
                <a:cs typeface="Consolas" pitchFamily="34" charset="-120"/>
              </a:rPr>
              <a:t>(5) Predicate 3: if request.client and client.host?</a:t>
            </a:r>
            <a:endParaRPr lang="en-US" sz="750" dirty="0"/>
          </a:p>
        </p:txBody>
      </p:sp>
      <p:sp>
        <p:nvSpPr>
          <p:cNvPr id="19" name="Shape 17"/>
          <p:cNvSpPr/>
          <p:nvPr/>
        </p:nvSpPr>
        <p:spPr>
          <a:xfrm>
            <a:off x="914400" y="3931920"/>
            <a:ext cx="4754880" cy="329184"/>
          </a:xfrm>
          <a:prstGeom prst="rect">
            <a:avLst>
              <a:gd name="adj" fmla="val 13889"/>
            </a:avLst>
          </a:prstGeom>
          <a:solidFill>
            <a:srgbClr val="FCF9F4"/>
          </a:solidFill>
          <a:ln w="12700">
            <a:solidFill>
              <a:srgbClr val="2D6A4F"/>
            </a:solidFill>
            <a:prstDash val="solid"/>
          </a:ln>
        </p:spPr>
      </p:sp>
      <p:sp>
        <p:nvSpPr>
          <p:cNvPr id="20" name="Text 18"/>
          <p:cNvSpPr/>
          <p:nvPr/>
        </p:nvSpPr>
        <p:spPr>
          <a:xfrm>
            <a:off x="1005840" y="3931920"/>
            <a:ext cx="4572000" cy="329184"/>
          </a:xfrm>
          <a:prstGeom prst="rect">
            <a:avLst/>
          </a:prstGeom>
          <a:noFill/>
          <a:ln/>
        </p:spPr>
        <p:txBody>
          <a:bodyPr wrap="square" rtlCol="0" anchor="ctr"/>
          <a:lstStyle/>
          <a:p>
            <a:pPr indent="0" marL="0">
              <a:buNone/>
            </a:pPr>
            <a:r>
              <a:rPr lang="en-US" sz="750" dirty="0">
                <a:solidFill>
                  <a:srgbClr val="1C1C19"/>
                </a:solidFill>
                <a:latin typeface="Consolas" pitchFamily="34" charset="0"/>
                <a:ea typeface="Consolas" pitchFamily="34" charset="-122"/>
                <a:cs typeface="Consolas" pitchFamily="34" charset="-120"/>
              </a:rPr>
              <a:t>(6) Path 3 Exit: return request.client.host</a:t>
            </a:r>
            <a:endParaRPr lang="en-US" sz="750" dirty="0"/>
          </a:p>
        </p:txBody>
      </p:sp>
      <p:sp>
        <p:nvSpPr>
          <p:cNvPr id="21" name="Shape 19"/>
          <p:cNvSpPr/>
          <p:nvPr/>
        </p:nvSpPr>
        <p:spPr>
          <a:xfrm>
            <a:off x="914400" y="4343400"/>
            <a:ext cx="4754880" cy="329184"/>
          </a:xfrm>
          <a:prstGeom prst="rect">
            <a:avLst>
              <a:gd name="adj" fmla="val 13889"/>
            </a:avLst>
          </a:prstGeom>
          <a:solidFill>
            <a:srgbClr val="FCF9F4"/>
          </a:solidFill>
          <a:ln w="12700">
            <a:solidFill>
              <a:srgbClr val="2D6A4F"/>
            </a:solidFill>
            <a:prstDash val="solid"/>
          </a:ln>
        </p:spPr>
      </p:sp>
      <p:sp>
        <p:nvSpPr>
          <p:cNvPr id="22" name="Text 20"/>
          <p:cNvSpPr/>
          <p:nvPr/>
        </p:nvSpPr>
        <p:spPr>
          <a:xfrm>
            <a:off x="1005840" y="4343400"/>
            <a:ext cx="4572000" cy="329184"/>
          </a:xfrm>
          <a:prstGeom prst="rect">
            <a:avLst/>
          </a:prstGeom>
          <a:noFill/>
          <a:ln/>
        </p:spPr>
        <p:txBody>
          <a:bodyPr wrap="square" rtlCol="0" anchor="ctr"/>
          <a:lstStyle/>
          <a:p>
            <a:pPr indent="0" marL="0">
              <a:buNone/>
            </a:pPr>
            <a:r>
              <a:rPr lang="en-US" sz="750" dirty="0">
                <a:solidFill>
                  <a:srgbClr val="1C1C19"/>
                </a:solidFill>
                <a:latin typeface="Consolas" pitchFamily="34" charset="0"/>
                <a:ea typeface="Consolas" pitchFamily="34" charset="-122"/>
                <a:cs typeface="Consolas" pitchFamily="34" charset="-120"/>
              </a:rPr>
              <a:t>(7) Path 4/5 Exit: return '127.0.0.1' [Safe Fallback]</a:t>
            </a:r>
            <a:endParaRPr lang="en-US" sz="750" dirty="0"/>
          </a:p>
        </p:txBody>
      </p:sp>
      <p:sp>
        <p:nvSpPr>
          <p:cNvPr id="23" name="Shape 21"/>
          <p:cNvSpPr/>
          <p:nvPr/>
        </p:nvSpPr>
        <p:spPr>
          <a:xfrm>
            <a:off x="6126480" y="1371600"/>
            <a:ext cx="5303520" cy="3611880"/>
          </a:xfrm>
          <a:prstGeom prst="rect">
            <a:avLst>
              <a:gd name="adj" fmla="val 3038"/>
            </a:avLst>
          </a:prstGeom>
          <a:solidFill>
            <a:srgbClr val="FFFFFF"/>
          </a:solidFill>
          <a:ln w="19050">
            <a:solidFill>
              <a:srgbClr val="E5E0D8"/>
            </a:solidFill>
            <a:prstDash val="solid"/>
          </a:ln>
        </p:spPr>
      </p:sp>
      <p:sp>
        <p:nvSpPr>
          <p:cNvPr id="24" name="Text 22"/>
          <p:cNvSpPr/>
          <p:nvPr/>
        </p:nvSpPr>
        <p:spPr>
          <a:xfrm>
            <a:off x="6309360" y="1508760"/>
            <a:ext cx="4937760" cy="256032"/>
          </a:xfrm>
          <a:prstGeom prst="rect">
            <a:avLst/>
          </a:prstGeom>
          <a:noFill/>
          <a:ln/>
        </p:spPr>
        <p:txBody>
          <a:bodyPr wrap="square" rtlCol="0" anchor="ctr"/>
          <a:lstStyle/>
          <a:p>
            <a:pPr indent="0" marL="0">
              <a:buNone/>
            </a:pPr>
            <a:r>
              <a:rPr lang="en-US" sz="950" b="1" dirty="0">
                <a:solidFill>
                  <a:srgbClr val="1B4332"/>
                </a:solidFill>
                <a:latin typeface="Montserrat" pitchFamily="34" charset="0"/>
                <a:ea typeface="Montserrat" pitchFamily="34" charset="-122"/>
                <a:cs typeface="Montserrat" pitchFamily="34" charset="-120"/>
              </a:rPr>
              <a:t>CYCLOMATIC COMPLEXITY &amp; COVERAGE.PY METRICS</a:t>
            </a:r>
            <a:endParaRPr lang="en-US" sz="950" dirty="0"/>
          </a:p>
        </p:txBody>
      </p:sp>
      <p:sp>
        <p:nvSpPr>
          <p:cNvPr id="25" name="Shape 23"/>
          <p:cNvSpPr/>
          <p:nvPr/>
        </p:nvSpPr>
        <p:spPr>
          <a:xfrm>
            <a:off x="6309360" y="1874520"/>
            <a:ext cx="4937760" cy="960120"/>
          </a:xfrm>
          <a:prstGeom prst="rect">
            <a:avLst>
              <a:gd name="adj" fmla="val 7619"/>
            </a:avLst>
          </a:prstGeom>
          <a:solidFill>
            <a:srgbClr val="FCF9F4"/>
          </a:solidFill>
          <a:ln w="12700">
            <a:solidFill>
              <a:srgbClr val="D8D2C6"/>
            </a:solidFill>
            <a:prstDash val="solid"/>
          </a:ln>
        </p:spPr>
      </p:sp>
      <p:sp>
        <p:nvSpPr>
          <p:cNvPr id="26" name="Text 24"/>
          <p:cNvSpPr/>
          <p:nvPr/>
        </p:nvSpPr>
        <p:spPr>
          <a:xfrm>
            <a:off x="6400800" y="1920240"/>
            <a:ext cx="4754880" cy="868680"/>
          </a:xfrm>
          <a:prstGeom prst="rect">
            <a:avLst/>
          </a:prstGeom>
          <a:noFill/>
          <a:ln/>
        </p:spPr>
        <p:txBody>
          <a:bodyPr wrap="square" rtlCol="0" anchor="ctr"/>
          <a:lstStyle/>
          <a:p>
            <a:pPr indent="0" marL="0">
              <a:buNone/>
            </a:pPr>
            <a:r>
              <a:rPr lang="en-US" sz="850" dirty="0">
                <a:solidFill>
                  <a:srgbClr val="1B4332"/>
                </a:solidFill>
                <a:latin typeface="Inter" pitchFamily="34" charset="0"/>
                <a:ea typeface="Inter" pitchFamily="34" charset="-122"/>
                <a:cs typeface="Inter" pitchFamily="34" charset="-120"/>
              </a:rPr>
              <a:t>MCCABE CYCLOMATIC COMPLEXITY DERIVATION:</a:t>
            </a:r>
            <a:endParaRPr lang="en-US" sz="850" dirty="0"/>
          </a:p>
          <a:p>
            <a:pPr indent="0" marL="0">
              <a:buNone/>
            </a:pPr>
            <a:r>
              <a:rPr lang="en-US" sz="850" dirty="0">
                <a:solidFill>
                  <a:srgbClr val="1B4332"/>
                </a:solidFill>
                <a:latin typeface="Inter" pitchFamily="34" charset="0"/>
                <a:ea typeface="Inter" pitchFamily="34" charset="-122"/>
                <a:cs typeface="Inter" pitchFamily="34" charset="-120"/>
              </a:rPr>
              <a:t>• Edges (E) = 11 | Nodes (N) = 8 | Connected Components (P) = 1</a:t>
            </a:r>
            <a:endParaRPr lang="en-US" sz="850" dirty="0"/>
          </a:p>
          <a:p>
            <a:pPr indent="0" marL="0">
              <a:buNone/>
            </a:pPr>
            <a:r>
              <a:rPr lang="en-US" sz="850" dirty="0">
                <a:solidFill>
                  <a:srgbClr val="1B4332"/>
                </a:solidFill>
                <a:latin typeface="Inter" pitchFamily="34" charset="0"/>
                <a:ea typeface="Inter" pitchFamily="34" charset="-122"/>
                <a:cs typeface="Inter" pitchFamily="34" charset="-120"/>
              </a:rPr>
              <a:t>• Formula 1: V(G) = E - N + 2P = 11 - 8 + 2(1) = 5</a:t>
            </a:r>
            <a:endParaRPr lang="en-US" sz="850" dirty="0"/>
          </a:p>
          <a:p>
            <a:pPr indent="0" marL="0">
              <a:buNone/>
            </a:pPr>
            <a:r>
              <a:rPr lang="en-US" sz="850" dirty="0">
                <a:solidFill>
                  <a:srgbClr val="1B4332"/>
                </a:solidFill>
                <a:latin typeface="Inter" pitchFamily="34" charset="0"/>
                <a:ea typeface="Inter" pitchFamily="34" charset="-122"/>
                <a:cs typeface="Inter" pitchFamily="34" charset="-120"/>
              </a:rPr>
              <a:t>• Formula 2: V(G) = Predicate Nodes + 1 = 4 decisions + 1 = 5</a:t>
            </a:r>
            <a:endParaRPr lang="en-US" sz="850" dirty="0"/>
          </a:p>
          <a:p>
            <a:pPr indent="0" marL="0">
              <a:buNone/>
            </a:pPr>
            <a:r>
              <a:rPr lang="en-US" sz="850" dirty="0">
                <a:solidFill>
                  <a:srgbClr val="1B4332"/>
                </a:solidFill>
                <a:latin typeface="Inter" pitchFamily="34" charset="0"/>
                <a:ea typeface="Inter" pitchFamily="34" charset="-122"/>
                <a:cs typeface="Inter" pitchFamily="34" charset="-120"/>
              </a:rPr>
              <a:t>• Conclusion: Exactly 5 linearly independent basis paths required.</a:t>
            </a:r>
            <a:endParaRPr lang="en-US" sz="8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309360" y="2971800"/>
          <a:ext cx="4937760" cy="1874520"/>
        </p:xfrm>
        <a:graphic>
          <a:graphicData uri="http://schemas.openxmlformats.org/drawingml/2006/table">
            <a:tbl>
              <a:tblPr/>
              <a:tblGrid>
                <a:gridCol w="1645920"/>
                <a:gridCol w="502920"/>
                <a:gridCol w="502920"/>
                <a:gridCol w="640080"/>
                <a:gridCol w="594360"/>
                <a:gridCol w="1051560"/>
              </a:tblGrid>
              <a:tr h="274320">
                <a:tc>
                  <a:txBody>
                    <a:bodyPr/>
                    <a:lstStyle/>
                    <a:p>
                      <a:pPr indent="0" marL="0">
                        <a:buNone/>
                      </a:pPr>
                      <a:r>
                        <a:rPr lang="en-US" sz="800" b="1" dirty="0">
                          <a:solidFill>
                            <a:srgbClr val="1B4332"/>
                          </a:solidFill>
                          <a:latin typeface="Montserrat" pitchFamily="34" charset="0"/>
                          <a:ea typeface="Montserrat" pitchFamily="34" charset="-122"/>
                          <a:cs typeface="Montserrat" pitchFamily="34" charset="-120"/>
                        </a:rPr>
                        <a:t>Source File</a:t>
                      </a:r>
                      <a:endParaRPr lang="en-US" sz="8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algn="ctr" indent="0" marL="0">
                        <a:buNone/>
                      </a:pPr>
                      <a:r>
                        <a:rPr lang="en-US" sz="800" b="1" dirty="0">
                          <a:solidFill>
                            <a:srgbClr val="1B4332"/>
                          </a:solidFill>
                          <a:latin typeface="Montserrat" pitchFamily="34" charset="0"/>
                          <a:ea typeface="Montserrat" pitchFamily="34" charset="-122"/>
                          <a:cs typeface="Montserrat" pitchFamily="34" charset="-120"/>
                        </a:rPr>
                        <a:t>Stmts</a:t>
                      </a:r>
                      <a:endParaRPr lang="en-US" sz="8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algn="ctr" indent="0" marL="0">
                        <a:buNone/>
                      </a:pPr>
                      <a:r>
                        <a:rPr lang="en-US" sz="800" b="1" dirty="0">
                          <a:solidFill>
                            <a:srgbClr val="1B4332"/>
                          </a:solidFill>
                          <a:latin typeface="Montserrat" pitchFamily="34" charset="0"/>
                          <a:ea typeface="Montserrat" pitchFamily="34" charset="-122"/>
                          <a:cs typeface="Montserrat" pitchFamily="34" charset="-120"/>
                        </a:rPr>
                        <a:t>Miss</a:t>
                      </a:r>
                      <a:endParaRPr lang="en-US" sz="8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algn="ctr" indent="0" marL="0">
                        <a:buNone/>
                      </a:pPr>
                      <a:r>
                        <a:rPr lang="en-US" sz="800" b="1" dirty="0">
                          <a:solidFill>
                            <a:srgbClr val="1B4332"/>
                          </a:solidFill>
                          <a:latin typeface="Montserrat" pitchFamily="34" charset="0"/>
                          <a:ea typeface="Montserrat" pitchFamily="34" charset="-122"/>
                          <a:cs typeface="Montserrat" pitchFamily="34" charset="-120"/>
                        </a:rPr>
                        <a:t>Branch</a:t>
                      </a:r>
                      <a:endParaRPr lang="en-US" sz="8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algn="ctr" indent="0" marL="0">
                        <a:buNone/>
                      </a:pPr>
                      <a:r>
                        <a:rPr lang="en-US" sz="800" b="1" dirty="0">
                          <a:solidFill>
                            <a:srgbClr val="1B4332"/>
                          </a:solidFill>
                          <a:latin typeface="Montserrat" pitchFamily="34" charset="0"/>
                          <a:ea typeface="Montserrat" pitchFamily="34" charset="-122"/>
                          <a:cs typeface="Montserrat" pitchFamily="34" charset="-120"/>
                        </a:rPr>
                        <a:t>BrPart</a:t>
                      </a:r>
                      <a:endParaRPr lang="en-US" sz="8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algn="ctr" indent="0" marL="0">
                        <a:buNone/>
                      </a:pPr>
                      <a:r>
                        <a:rPr lang="en-US" sz="800" b="1" dirty="0">
                          <a:solidFill>
                            <a:srgbClr val="1B4332"/>
                          </a:solidFill>
                          <a:latin typeface="Montserrat" pitchFamily="34" charset="0"/>
                          <a:ea typeface="Montserrat" pitchFamily="34" charset="-122"/>
                          <a:cs typeface="Montserrat" pitchFamily="34" charset="-120"/>
                        </a:rPr>
                        <a:t>Coverage</a:t>
                      </a:r>
                      <a:endParaRPr lang="en-US" sz="8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r>
              <a:tr h="256032">
                <a:tc>
                  <a:txBody>
                    <a:bodyPr/>
                    <a:lstStyle/>
                    <a:p>
                      <a:pPr indent="0" marL="0">
                        <a:buNone/>
                      </a:pPr>
                      <a:r>
                        <a:rPr lang="en-US" sz="750" dirty="0">
                          <a:solidFill>
                            <a:srgbClr val="1C1C19"/>
                          </a:solidFill>
                          <a:latin typeface="Inter" pitchFamily="34" charset="0"/>
                          <a:ea typeface="Inter" pitchFamily="34" charset="-122"/>
                          <a:cs typeface="Inter" pitchFamily="34" charset="-120"/>
                        </a:rPr>
                        <a:t>get_client_ip() (lines 77-91)</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8</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0</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4</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0</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100% (5/5 Paths)</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56032">
                <a:tc>
                  <a:txBody>
                    <a:bodyPr/>
                    <a:lstStyle/>
                    <a:p>
                      <a:pPr indent="0" marL="0">
                        <a:buNone/>
                      </a:pPr>
                      <a:r>
                        <a:rPr lang="en-US" sz="750" dirty="0">
                          <a:solidFill>
                            <a:srgbClr val="1C1C19"/>
                          </a:solidFill>
                          <a:latin typeface="Inter" pitchFamily="34" charset="0"/>
                          <a:ea typeface="Inter" pitchFamily="34" charset="-122"/>
                          <a:cs typeface="Inter" pitchFamily="34" charset="-120"/>
                        </a:rPr>
                        <a:t>evaluate_waste_alert_tier()</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18</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0</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8</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0</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100% (All Branches)</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56032">
                <a:tc>
                  <a:txBody>
                    <a:bodyPr/>
                    <a:lstStyle/>
                    <a:p>
                      <a:pPr indent="0" marL="0">
                        <a:buNone/>
                      </a:pPr>
                      <a:r>
                        <a:rPr lang="en-US" sz="750" dirty="0">
                          <a:solidFill>
                            <a:srgbClr val="1C1C19"/>
                          </a:solidFill>
                          <a:latin typeface="Inter" pitchFamily="34" charset="0"/>
                          <a:ea typeface="Inter" pitchFamily="34" charset="-122"/>
                          <a:cs typeface="Inter" pitchFamily="34" charset="-120"/>
                        </a:rPr>
                        <a:t>test_rate_limiter.py</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72</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7</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2</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1</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89%</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56032">
                <a:tc>
                  <a:txBody>
                    <a:bodyPr/>
                    <a:lstStyle/>
                    <a:p>
                      <a:pPr indent="0" marL="0">
                        <a:buNone/>
                      </a:pPr>
                      <a:r>
                        <a:rPr lang="en-US" sz="750" dirty="0">
                          <a:solidFill>
                            <a:srgbClr val="1C1C19"/>
                          </a:solidFill>
                          <a:latin typeface="Inter" pitchFamily="34" charset="0"/>
                          <a:ea typeface="Inter" pitchFamily="34" charset="-122"/>
                          <a:cs typeface="Inter" pitchFamily="34" charset="-120"/>
                        </a:rPr>
                        <a:t>test_tenant_isolation.py</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123</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9</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20</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7</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89%</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256032">
                <a:tc>
                  <a:txBody>
                    <a:bodyPr/>
                    <a:lstStyle/>
                    <a:p>
                      <a:pPr indent="0" marL="0">
                        <a:buNone/>
                      </a:pPr>
                      <a:r>
                        <a:rPr lang="en-US" sz="750" dirty="0">
                          <a:solidFill>
                            <a:srgbClr val="1C1C19"/>
                          </a:solidFill>
                          <a:latin typeface="Inter" pitchFamily="34" charset="0"/>
                          <a:ea typeface="Inter" pitchFamily="34" charset="-122"/>
                          <a:cs typeface="Inter" pitchFamily="34" charset="-120"/>
                        </a:rPr>
                        <a:t>Backend Total Suite</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585</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173</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112</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26</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750" dirty="0">
                          <a:solidFill>
                            <a:srgbClr val="1C1C19"/>
                          </a:solidFill>
                          <a:latin typeface="Inter" pitchFamily="34" charset="0"/>
                          <a:ea typeface="Inter" pitchFamily="34" charset="-122"/>
                          <a:cs typeface="Inter" pitchFamily="34" charset="-120"/>
                        </a:rPr>
                        <a:t>67% (7 Suites Pass)</a:t>
                      </a:r>
                      <a:endParaRPr lang="en-US" sz="7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bl>
          </a:graphicData>
        </a:graphic>
      </p:graphicFrame>
      <p:sp>
        <p:nvSpPr>
          <p:cNvPr id="28" name="Text 25"/>
          <p:cNvSpPr/>
          <p:nvPr/>
        </p:nvSpPr>
        <p:spPr>
          <a:xfrm>
            <a:off x="731520" y="5166360"/>
            <a:ext cx="10698480" cy="1234440"/>
          </a:xfrm>
          <a:prstGeom prst="rect">
            <a:avLst/>
          </a:prstGeom>
          <a:noFill/>
          <a:ln/>
        </p:spPr>
        <p:txBody>
          <a:bodyPr wrap="square" rtlCol="0" anchor="t"/>
          <a:lstStyle/>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Basis Path Derivation: Cyclomatic complexity V(G) = 5 dictates exactly five linearly independent execution paths required to achieve full white-box test coverage.</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Security Logic Probing: Independent path tests verify trusted rightmost proxy IP extraction, empty header fallbacks, direct client host detection, and localhost defaults.</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Branch Coverage Evidence: Real measurement via coverage.py confirms 100% branch coverage on core security and decision functions with zero untested decision branches.</a:t>
            </a:r>
            <a:endParaRPr lang="en-US" sz="1150" dirty="0"/>
          </a:p>
        </p:txBody>
      </p:sp>
      <p:sp>
        <p:nvSpPr>
          <p:cNvPr id="29" name="Text 26"/>
          <p:cNvSpPr/>
          <p:nvPr/>
        </p:nvSpPr>
        <p:spPr>
          <a:xfrm>
            <a:off x="731520" y="6419088"/>
            <a:ext cx="10698480" cy="228600"/>
          </a:xfrm>
          <a:prstGeom prst="rect">
            <a:avLst/>
          </a:prstGeom>
          <a:noFill/>
          <a:ln/>
        </p:spPr>
        <p:txBody>
          <a:bodyPr wrap="square" rtlCol="0" anchor="b"/>
          <a:lstStyle/>
          <a:p>
            <a:pPr indent="0" marL="0">
              <a:buNone/>
            </a:pPr>
            <a:r>
              <a:rPr lang="en-US" sz="850" i="1" dirty="0">
                <a:solidFill>
                  <a:srgbClr val="5A5A54"/>
                </a:solidFill>
                <a:latin typeface="Inter" pitchFamily="34" charset="0"/>
                <a:ea typeface="Inter" pitchFamily="34" charset="-122"/>
                <a:cs typeface="Inter" pitchFamily="34" charset="-120"/>
              </a:rPr>
              <a:t>Evidence Source: test_white_box_get_client_ip_cfg_paths in Backend/test_backend_unit.py; Measured with coverage run --branch.</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9F4"/>
        </a:solidFill>
      </p:bgPr>
    </p:bg>
    <p:spTree>
      <p:nvGrpSpPr>
        <p:cNvPr id="1" name=""/>
        <p:cNvGrpSpPr/>
        <p:nvPr/>
      </p:nvGrpSpPr>
      <p:grpSpPr>
        <a:xfrm>
          <a:off x="0" y="0"/>
          <a:ext cx="0" cy="0"/>
          <a:chOff x="0" y="0"/>
          <a:chExt cx="0" cy="0"/>
        </a:xfrm>
      </p:grpSpPr>
      <p:sp>
        <p:nvSpPr>
          <p:cNvPr id="2" name="Shape 0"/>
          <p:cNvSpPr/>
          <p:nvPr/>
        </p:nvSpPr>
        <p:spPr>
          <a:xfrm>
            <a:off x="731520" y="320040"/>
            <a:ext cx="2194560" cy="274320"/>
          </a:xfrm>
          <a:prstGeom prst="rect">
            <a:avLst>
              <a:gd name="adj" fmla="val 20000"/>
            </a:avLst>
          </a:prstGeom>
          <a:solidFill>
            <a:srgbClr val="EAE5DC"/>
          </a:solidFill>
          <a:ln w="12700">
            <a:solidFill>
              <a:srgbClr val="E5E0D8"/>
            </a:solidFill>
            <a:prstDash val="solid"/>
          </a:ln>
        </p:spPr>
      </p:sp>
      <p:sp>
        <p:nvSpPr>
          <p:cNvPr id="3" name="Text 1"/>
          <p:cNvSpPr/>
          <p:nvPr/>
        </p:nvSpPr>
        <p:spPr>
          <a:xfrm>
            <a:off x="731520" y="320040"/>
            <a:ext cx="2194560" cy="274320"/>
          </a:xfrm>
          <a:prstGeom prst="rect">
            <a:avLst/>
          </a:prstGeom>
          <a:noFill/>
          <a:ln/>
        </p:spPr>
        <p:txBody>
          <a:bodyPr wrap="square" rtlCol="0" anchor="ctr"/>
          <a:lstStyle/>
          <a:p>
            <a:pPr algn="ctr" indent="0" marL="0">
              <a:buNone/>
            </a:pPr>
            <a:r>
              <a:rPr lang="en-US" sz="850" b="1" dirty="0">
                <a:solidFill>
                  <a:srgbClr val="1B4332"/>
                </a:solidFill>
                <a:latin typeface="Montserrat" pitchFamily="34" charset="0"/>
                <a:ea typeface="Montserrat" pitchFamily="34" charset="-122"/>
                <a:cs typeface="Montserrat" pitchFamily="34" charset="-120"/>
              </a:rPr>
              <a:t>UNIT 3: UNIT &amp; INTEGRATION</a:t>
            </a:r>
            <a:endParaRPr lang="en-US" sz="850" dirty="0"/>
          </a:p>
        </p:txBody>
      </p:sp>
      <p:sp>
        <p:nvSpPr>
          <p:cNvPr id="4" name="Text 2"/>
          <p:cNvSpPr/>
          <p:nvPr/>
        </p:nvSpPr>
        <p:spPr>
          <a:xfrm>
            <a:off x="10058400" y="320040"/>
            <a:ext cx="1371600" cy="274320"/>
          </a:xfrm>
          <a:prstGeom prst="rect">
            <a:avLst/>
          </a:prstGeom>
          <a:noFill/>
          <a:ln/>
        </p:spPr>
        <p:txBody>
          <a:bodyPr wrap="square" rtlCol="0" anchor="ctr"/>
          <a:lstStyle/>
          <a:p>
            <a:pPr algn="r" indent="0" marL="0">
              <a:buNone/>
            </a:pPr>
            <a:r>
              <a:rPr lang="en-US" sz="900" b="1" dirty="0">
                <a:solidFill>
                  <a:srgbClr val="5A5A54"/>
                </a:solidFill>
                <a:latin typeface="Montserrat" pitchFamily="34" charset="0"/>
                <a:ea typeface="Montserrat" pitchFamily="34" charset="-122"/>
                <a:cs typeface="Montserrat" pitchFamily="34" charset="-120"/>
              </a:rPr>
              <a:t>SLIDE 9 / 15</a:t>
            </a:r>
            <a:endParaRPr lang="en-US" sz="900" dirty="0"/>
          </a:p>
        </p:txBody>
      </p:sp>
      <p:sp>
        <p:nvSpPr>
          <p:cNvPr id="5" name="Text 3"/>
          <p:cNvSpPr/>
          <p:nvPr/>
        </p:nvSpPr>
        <p:spPr>
          <a:xfrm>
            <a:off x="731520" y="658368"/>
            <a:ext cx="10698480" cy="475488"/>
          </a:xfrm>
          <a:prstGeom prst="rect">
            <a:avLst/>
          </a:prstGeom>
          <a:noFill/>
          <a:ln/>
        </p:spPr>
        <p:txBody>
          <a:bodyPr wrap="square" rtlCol="0" anchor="ctr"/>
          <a:lstStyle/>
          <a:p>
            <a:pPr indent="0" marL="0">
              <a:buNone/>
            </a:pPr>
            <a:r>
              <a:rPr lang="en-US" sz="2000" b="1" dirty="0">
                <a:solidFill>
                  <a:srgbClr val="1B4332"/>
                </a:solidFill>
                <a:latin typeface="Montserrat" pitchFamily="34" charset="0"/>
                <a:ea typeface="Montserrat" pitchFamily="34" charset="-122"/>
                <a:cs typeface="Montserrat" pitchFamily="34" charset="-120"/>
              </a:rPr>
              <a:t>Unit &amp; Integration Testing: Classical vs. Mockist</a:t>
            </a:r>
            <a:endParaRPr lang="en-US" sz="2000" dirty="0"/>
          </a:p>
        </p:txBody>
      </p:sp>
      <p:sp>
        <p:nvSpPr>
          <p:cNvPr id="6" name="Shape 4"/>
          <p:cNvSpPr/>
          <p:nvPr/>
        </p:nvSpPr>
        <p:spPr>
          <a:xfrm>
            <a:off x="731520" y="1170432"/>
            <a:ext cx="10698480" cy="0"/>
          </a:xfrm>
          <a:prstGeom prst="line">
            <a:avLst/>
          </a:prstGeom>
          <a:noFill/>
          <a:ln w="12700">
            <a:solidFill>
              <a:srgbClr val="E5E0D8"/>
            </a:solidFill>
            <a:prstDash val="solid"/>
          </a:ln>
        </p:spPr>
      </p:sp>
      <p:sp>
        <p:nvSpPr>
          <p:cNvPr id="7" name="Shape 5"/>
          <p:cNvSpPr/>
          <p:nvPr/>
        </p:nvSpPr>
        <p:spPr>
          <a:xfrm>
            <a:off x="731520" y="1371600"/>
            <a:ext cx="5212080" cy="3611880"/>
          </a:xfrm>
          <a:prstGeom prst="rect">
            <a:avLst>
              <a:gd name="adj" fmla="val 3038"/>
            </a:avLst>
          </a:prstGeom>
          <a:solidFill>
            <a:srgbClr val="FFFFFF"/>
          </a:solidFill>
          <a:ln w="19050">
            <a:solidFill>
              <a:srgbClr val="E5E0D8"/>
            </a:solidFill>
            <a:prstDash val="solid"/>
          </a:ln>
        </p:spPr>
      </p:sp>
      <p:sp>
        <p:nvSpPr>
          <p:cNvPr id="8" name="Text 6"/>
          <p:cNvSpPr/>
          <p:nvPr/>
        </p:nvSpPr>
        <p:spPr>
          <a:xfrm>
            <a:off x="914400" y="1508760"/>
            <a:ext cx="4846320" cy="256032"/>
          </a:xfrm>
          <a:prstGeom prst="rect">
            <a:avLst/>
          </a:prstGeom>
          <a:noFill/>
          <a:ln/>
        </p:spPr>
        <p:txBody>
          <a:bodyPr wrap="square" rtlCol="0" anchor="ctr"/>
          <a:lstStyle/>
          <a:p>
            <a:pPr indent="0" marL="0">
              <a:buNone/>
            </a:pPr>
            <a:r>
              <a:rPr lang="en-US" sz="950" b="1" dirty="0">
                <a:solidFill>
                  <a:srgbClr val="1B4332"/>
                </a:solidFill>
                <a:latin typeface="Montserrat" pitchFamily="34" charset="0"/>
                <a:ea typeface="Montserrat" pitchFamily="34" charset="-122"/>
                <a:cs typeface="Montserrat" pitchFamily="34" charset="-120"/>
              </a:rPr>
              <a:t>PARADIGM COMPARISON: DETROIT (CLASSIC) VS. LONDON (MOCKIST)</a:t>
            </a:r>
            <a:endParaRPr lang="en-US" sz="950" dirty="0"/>
          </a:p>
        </p:txBody>
      </p:sp>
      <p:sp>
        <p:nvSpPr>
          <p:cNvPr id="9" name="Shape 7"/>
          <p:cNvSpPr/>
          <p:nvPr/>
        </p:nvSpPr>
        <p:spPr>
          <a:xfrm>
            <a:off x="914400" y="1874520"/>
            <a:ext cx="4846320" cy="1417320"/>
          </a:xfrm>
          <a:prstGeom prst="rect">
            <a:avLst>
              <a:gd name="adj" fmla="val 5161"/>
            </a:avLst>
          </a:prstGeom>
          <a:solidFill>
            <a:srgbClr val="FCF9F4"/>
          </a:solidFill>
          <a:ln w="12700">
            <a:solidFill>
              <a:srgbClr val="1B4332"/>
            </a:solidFill>
            <a:prstDash val="solid"/>
          </a:ln>
        </p:spPr>
      </p:sp>
      <p:sp>
        <p:nvSpPr>
          <p:cNvPr id="10" name="Text 8"/>
          <p:cNvSpPr/>
          <p:nvPr/>
        </p:nvSpPr>
        <p:spPr>
          <a:xfrm>
            <a:off x="1005840" y="1938528"/>
            <a:ext cx="4663440" cy="201168"/>
          </a:xfrm>
          <a:prstGeom prst="rect">
            <a:avLst/>
          </a:prstGeom>
          <a:noFill/>
          <a:ln/>
        </p:spPr>
        <p:txBody>
          <a:bodyPr wrap="square" rtlCol="0" anchor="ctr"/>
          <a:lstStyle/>
          <a:p>
            <a:pPr indent="0" marL="0">
              <a:buNone/>
            </a:pPr>
            <a:r>
              <a:rPr lang="en-US" sz="850" b="1" dirty="0">
                <a:solidFill>
                  <a:srgbClr val="1B4332"/>
                </a:solidFill>
                <a:latin typeface="Montserrat" pitchFamily="34" charset="0"/>
                <a:ea typeface="Montserrat" pitchFamily="34" charset="-122"/>
                <a:cs typeface="Montserrat" pitchFamily="34" charset="-120"/>
              </a:rPr>
              <a:t>CLASSICAL (DETROIT SCHOOL): STATE-BASED VERIFICATION</a:t>
            </a:r>
            <a:endParaRPr lang="en-US" sz="850" dirty="0"/>
          </a:p>
        </p:txBody>
      </p:sp>
      <p:sp>
        <p:nvSpPr>
          <p:cNvPr id="11" name="Text 9"/>
          <p:cNvSpPr/>
          <p:nvPr/>
        </p:nvSpPr>
        <p:spPr>
          <a:xfrm>
            <a:off x="1005840" y="2176272"/>
            <a:ext cx="4663440" cy="1051560"/>
          </a:xfrm>
          <a:prstGeom prst="rect">
            <a:avLst/>
          </a:prstGeom>
          <a:noFill/>
          <a:ln/>
        </p:spPr>
        <p:txBody>
          <a:bodyPr wrap="square" rtlCol="0" anchor="ctr"/>
          <a:lstStyle/>
          <a:p>
            <a:pPr indent="0" marL="0">
              <a:buNone/>
            </a:pPr>
            <a:r>
              <a:rPr lang="en-US" sz="800" dirty="0">
                <a:solidFill>
                  <a:srgbClr val="1C1C19"/>
                </a:solidFill>
                <a:latin typeface="Inter" pitchFamily="34" charset="0"/>
                <a:ea typeface="Inter" pitchFamily="34" charset="-122"/>
                <a:cs typeface="Inter" pitchFamily="34" charset="-120"/>
              </a:rPr>
              <a:t>• Methodology: Uses real objects and verifies final mutated state after execution.</a:t>
            </a:r>
            <a:endParaRPr lang="en-US" sz="800" dirty="0"/>
          </a:p>
          <a:p>
            <a:pPr indent="0" marL="0">
              <a:buNone/>
            </a:pPr>
            <a:r>
              <a:rPr lang="en-US" sz="800" dirty="0">
                <a:solidFill>
                  <a:srgbClr val="1C1C19"/>
                </a:solidFill>
                <a:latin typeface="Inter" pitchFamily="34" charset="0"/>
                <a:ea typeface="Inter" pitchFamily="34" charset="-122"/>
                <a:cs typeface="Inter" pitchFamily="34" charset="-120"/>
              </a:rPr>
              <a:t>• RestockIQ Implementation: InventoryProvider CRUD tests, cross-provider catalog synchronization, and evaluate_waste_alert_tier decision rules.</a:t>
            </a:r>
            <a:endParaRPr lang="en-US" sz="800" dirty="0"/>
          </a:p>
          <a:p>
            <a:pPr indent="0" marL="0">
              <a:buNone/>
            </a:pPr>
            <a:r>
              <a:rPr lang="en-US" sz="800" dirty="0">
                <a:solidFill>
                  <a:srgbClr val="1C1C19"/>
                </a:solidFill>
                <a:latin typeface="Inter" pitchFamily="34" charset="0"/>
                <a:ea typeface="Inter" pitchFamily="34" charset="-122"/>
                <a:cs typeface="Inter" pitchFamily="34" charset="-120"/>
              </a:rPr>
              <a:t>• Key Advantage: Detects unexpected emergent bugs across collaborating classes; verifies true business invariants.</a:t>
            </a:r>
            <a:endParaRPr lang="en-US" sz="800" dirty="0"/>
          </a:p>
        </p:txBody>
      </p:sp>
      <p:sp>
        <p:nvSpPr>
          <p:cNvPr id="12" name="Shape 10"/>
          <p:cNvSpPr/>
          <p:nvPr/>
        </p:nvSpPr>
        <p:spPr>
          <a:xfrm>
            <a:off x="914400" y="3429000"/>
            <a:ext cx="4846320" cy="1417320"/>
          </a:xfrm>
          <a:prstGeom prst="rect">
            <a:avLst>
              <a:gd name="adj" fmla="val 5161"/>
            </a:avLst>
          </a:prstGeom>
          <a:solidFill>
            <a:srgbClr val="EAE5DC"/>
          </a:solidFill>
          <a:ln w="12700">
            <a:solidFill>
              <a:srgbClr val="FFB702"/>
            </a:solidFill>
            <a:prstDash val="solid"/>
          </a:ln>
        </p:spPr>
      </p:sp>
      <p:sp>
        <p:nvSpPr>
          <p:cNvPr id="13" name="Text 11"/>
          <p:cNvSpPr/>
          <p:nvPr/>
        </p:nvSpPr>
        <p:spPr>
          <a:xfrm>
            <a:off x="1005840" y="3493008"/>
            <a:ext cx="4663440" cy="201168"/>
          </a:xfrm>
          <a:prstGeom prst="rect">
            <a:avLst/>
          </a:prstGeom>
          <a:noFill/>
          <a:ln/>
        </p:spPr>
        <p:txBody>
          <a:bodyPr wrap="square" rtlCol="0" anchor="ctr"/>
          <a:lstStyle/>
          <a:p>
            <a:pPr indent="0" marL="0">
              <a:buNone/>
            </a:pPr>
            <a:r>
              <a:rPr lang="en-US" sz="850" b="1" dirty="0">
                <a:solidFill>
                  <a:srgbClr val="1B4332"/>
                </a:solidFill>
                <a:latin typeface="Montserrat" pitchFamily="34" charset="0"/>
                <a:ea typeface="Montserrat" pitchFamily="34" charset="-122"/>
                <a:cs typeface="Montserrat" pitchFamily="34" charset="-120"/>
              </a:rPr>
              <a:t>MOCKIST (LONDON SCHOOL): INTERACTION &amp; FAULT INJECTION</a:t>
            </a:r>
            <a:endParaRPr lang="en-US" sz="850" dirty="0"/>
          </a:p>
        </p:txBody>
      </p:sp>
      <p:sp>
        <p:nvSpPr>
          <p:cNvPr id="14" name="Text 12"/>
          <p:cNvSpPr/>
          <p:nvPr/>
        </p:nvSpPr>
        <p:spPr>
          <a:xfrm>
            <a:off x="1005840" y="3730752"/>
            <a:ext cx="4663440" cy="1051560"/>
          </a:xfrm>
          <a:prstGeom prst="rect">
            <a:avLst/>
          </a:prstGeom>
          <a:noFill/>
          <a:ln/>
        </p:spPr>
        <p:txBody>
          <a:bodyPr wrap="square" rtlCol="0" anchor="ctr"/>
          <a:lstStyle/>
          <a:p>
            <a:pPr indent="0" marL="0">
              <a:buNone/>
            </a:pPr>
            <a:r>
              <a:rPr lang="en-US" sz="800" dirty="0">
                <a:solidFill>
                  <a:srgbClr val="1C1C19"/>
                </a:solidFill>
                <a:latin typeface="Inter" pitchFamily="34" charset="0"/>
                <a:ea typeface="Inter" pitchFamily="34" charset="-122"/>
                <a:cs typeface="Inter" pitchFamily="34" charset="-120"/>
              </a:rPr>
              <a:t>• Methodology: Replaces external collaborators with mocks to verify isolated contracts.</a:t>
            </a:r>
            <a:endParaRPr lang="en-US" sz="800" dirty="0"/>
          </a:p>
          <a:p>
            <a:pPr indent="0" marL="0">
              <a:buNone/>
            </a:pPr>
            <a:r>
              <a:rPr lang="en-US" sz="800" dirty="0">
                <a:solidFill>
                  <a:srgbClr val="1C1C19"/>
                </a:solidFill>
                <a:latin typeface="Inter" pitchFamily="34" charset="0"/>
                <a:ea typeface="Inter" pitchFamily="34" charset="-122"/>
                <a:cs typeface="Inter" pitchFamily="34" charset="-120"/>
              </a:rPr>
              <a:t>• RestockIQ Implementation: Flutter widget tests (WidgetTester), AI assistant network timeout injection, and MockRequest in CFG basis tests.</a:t>
            </a:r>
            <a:endParaRPr lang="en-US" sz="800" dirty="0"/>
          </a:p>
          <a:p>
            <a:pPr indent="0" marL="0">
              <a:buNone/>
            </a:pPr>
            <a:r>
              <a:rPr lang="en-US" sz="800" dirty="0">
                <a:solidFill>
                  <a:srgbClr val="1C1C19"/>
                </a:solidFill>
                <a:latin typeface="Inter" pitchFamily="34" charset="0"/>
                <a:ea typeface="Inter" pitchFamily="34" charset="-122"/>
                <a:cs typeface="Inter" pitchFamily="34" charset="-120"/>
              </a:rPr>
              <a:t>• Key Advantage: Enables ultra-fast offline execution (&lt; 40s) and reliably tests rare error branches like cold-start server sleep.</a:t>
            </a:r>
            <a:endParaRPr lang="en-US" sz="800" dirty="0"/>
          </a:p>
        </p:txBody>
      </p:sp>
      <p:sp>
        <p:nvSpPr>
          <p:cNvPr id="15" name="Shape 13"/>
          <p:cNvSpPr/>
          <p:nvPr/>
        </p:nvSpPr>
        <p:spPr>
          <a:xfrm>
            <a:off x="6217920" y="1371600"/>
            <a:ext cx="5212080" cy="3611880"/>
          </a:xfrm>
          <a:prstGeom prst="rect">
            <a:avLst>
              <a:gd name="adj" fmla="val 3038"/>
            </a:avLst>
          </a:prstGeom>
          <a:solidFill>
            <a:srgbClr val="FFFFFF"/>
          </a:solidFill>
          <a:ln w="19050">
            <a:solidFill>
              <a:srgbClr val="E5E0D8"/>
            </a:solidFill>
            <a:prstDash val="solid"/>
          </a:ln>
        </p:spPr>
      </p:sp>
      <p:sp>
        <p:nvSpPr>
          <p:cNvPr id="16" name="Text 14"/>
          <p:cNvSpPr/>
          <p:nvPr/>
        </p:nvSpPr>
        <p:spPr>
          <a:xfrm>
            <a:off x="6400800" y="1508760"/>
            <a:ext cx="4846320" cy="256032"/>
          </a:xfrm>
          <a:prstGeom prst="rect">
            <a:avLst/>
          </a:prstGeom>
          <a:noFill/>
          <a:ln/>
        </p:spPr>
        <p:txBody>
          <a:bodyPr wrap="square" rtlCol="0" anchor="ctr"/>
          <a:lstStyle/>
          <a:p>
            <a:pPr indent="0" marL="0">
              <a:buNone/>
            </a:pPr>
            <a:r>
              <a:rPr lang="en-US" sz="950" b="1" dirty="0">
                <a:solidFill>
                  <a:srgbClr val="1B4332"/>
                </a:solidFill>
                <a:latin typeface="Montserrat" pitchFamily="34" charset="0"/>
                <a:ea typeface="Montserrat" pitchFamily="34" charset="-122"/>
                <a:cs typeface="Montserrat" pitchFamily="34" charset="-120"/>
              </a:rPr>
              <a:t>RECONCILED EXECUTION METRICS BY TEST LEVEL</a:t>
            </a:r>
            <a:endParaRPr lang="en-US" sz="950" dirty="0"/>
          </a:p>
        </p:txBody>
      </p:sp>
      <p:sp>
        <p:nvSpPr>
          <p:cNvPr id="17" name="Shape 15"/>
          <p:cNvSpPr/>
          <p:nvPr/>
        </p:nvSpPr>
        <p:spPr>
          <a:xfrm>
            <a:off x="6400800" y="1874520"/>
            <a:ext cx="4846320" cy="566928"/>
          </a:xfrm>
          <a:prstGeom prst="rect">
            <a:avLst>
              <a:gd name="adj" fmla="val 9677"/>
            </a:avLst>
          </a:prstGeom>
          <a:solidFill>
            <a:srgbClr val="EAE5DC"/>
          </a:solidFill>
          <a:ln w="10160">
            <a:solidFill>
              <a:srgbClr val="E5E0D8"/>
            </a:solidFill>
            <a:prstDash val="solid"/>
          </a:ln>
        </p:spPr>
      </p:sp>
      <p:sp>
        <p:nvSpPr>
          <p:cNvPr id="18" name="Text 16"/>
          <p:cNvSpPr/>
          <p:nvPr/>
        </p:nvSpPr>
        <p:spPr>
          <a:xfrm>
            <a:off x="6492240" y="1920240"/>
            <a:ext cx="2286000" cy="228600"/>
          </a:xfrm>
          <a:prstGeom prst="rect">
            <a:avLst/>
          </a:prstGeom>
          <a:noFill/>
          <a:ln/>
        </p:spPr>
        <p:txBody>
          <a:bodyPr wrap="square" rtlCol="0" anchor="ctr"/>
          <a:lstStyle/>
          <a:p>
            <a:pPr indent="0" marL="0">
              <a:buNone/>
            </a:pPr>
            <a:r>
              <a:rPr lang="en-US" sz="850" b="1" dirty="0">
                <a:solidFill>
                  <a:srgbClr val="1B4332"/>
                </a:solidFill>
                <a:latin typeface="Montserrat" pitchFamily="34" charset="0"/>
                <a:ea typeface="Montserrat" pitchFamily="34" charset="-122"/>
                <a:cs typeface="Montserrat" pitchFamily="34" charset="-120"/>
              </a:rPr>
              <a:t>Flutter Unit Tests</a:t>
            </a:r>
            <a:endParaRPr lang="en-US" sz="850" dirty="0"/>
          </a:p>
        </p:txBody>
      </p:sp>
      <p:sp>
        <p:nvSpPr>
          <p:cNvPr id="19" name="Text 17"/>
          <p:cNvSpPr/>
          <p:nvPr/>
        </p:nvSpPr>
        <p:spPr>
          <a:xfrm>
            <a:off x="9509760" y="1920240"/>
            <a:ext cx="1645920" cy="228600"/>
          </a:xfrm>
          <a:prstGeom prst="rect">
            <a:avLst/>
          </a:prstGeom>
          <a:noFill/>
          <a:ln/>
        </p:spPr>
        <p:txBody>
          <a:bodyPr wrap="square" rtlCol="0" anchor="ctr"/>
          <a:lstStyle/>
          <a:p>
            <a:pPr algn="r" indent="0" marL="0">
              <a:buNone/>
            </a:pPr>
            <a:r>
              <a:rPr lang="en-US" sz="850" b="1" dirty="0">
                <a:solidFill>
                  <a:srgbClr val="2D6A4F"/>
                </a:solidFill>
                <a:latin typeface="Montserrat" pitchFamily="34" charset="0"/>
                <a:ea typeface="Montserrat" pitchFamily="34" charset="-122"/>
                <a:cs typeface="Montserrat" pitchFamily="34" charset="-120"/>
              </a:rPr>
              <a:t>21/21 PASS</a:t>
            </a:r>
            <a:endParaRPr lang="en-US" sz="850" dirty="0"/>
          </a:p>
        </p:txBody>
      </p:sp>
      <p:sp>
        <p:nvSpPr>
          <p:cNvPr id="20" name="Text 18"/>
          <p:cNvSpPr/>
          <p:nvPr/>
        </p:nvSpPr>
        <p:spPr>
          <a:xfrm>
            <a:off x="6492240" y="2167128"/>
            <a:ext cx="4572000" cy="219456"/>
          </a:xfrm>
          <a:prstGeom prst="rect">
            <a:avLst/>
          </a:prstGeom>
          <a:noFill/>
          <a:ln/>
        </p:spPr>
        <p:txBody>
          <a:bodyPr wrap="square" rtlCol="0" anchor="ctr"/>
          <a:lstStyle/>
          <a:p>
            <a:pPr indent="0" marL="0">
              <a:buNone/>
            </a:pPr>
            <a:r>
              <a:rPr lang="en-US" sz="750" dirty="0">
                <a:solidFill>
                  <a:srgbClr val="5A5A54"/>
                </a:solidFill>
                <a:latin typeface="Inter" pitchFamily="34" charset="0"/>
                <a:ea typeface="Inter" pitchFamily="34" charset="-122"/>
                <a:cs typeface="Inter" pitchFamily="34" charset="-120"/>
              </a:rPr>
              <a:t>APP/test/unit_test.dart | Count: 21 tests | Duration: 13.2s</a:t>
            </a:r>
            <a:endParaRPr lang="en-US" sz="750" dirty="0"/>
          </a:p>
        </p:txBody>
      </p:sp>
      <p:sp>
        <p:nvSpPr>
          <p:cNvPr id="21" name="Shape 19"/>
          <p:cNvSpPr/>
          <p:nvPr/>
        </p:nvSpPr>
        <p:spPr>
          <a:xfrm>
            <a:off x="6400800" y="2514600"/>
            <a:ext cx="4846320" cy="566928"/>
          </a:xfrm>
          <a:prstGeom prst="rect">
            <a:avLst>
              <a:gd name="adj" fmla="val 9677"/>
            </a:avLst>
          </a:prstGeom>
          <a:solidFill>
            <a:srgbClr val="EAE5DC"/>
          </a:solidFill>
          <a:ln w="10160">
            <a:solidFill>
              <a:srgbClr val="E5E0D8"/>
            </a:solidFill>
            <a:prstDash val="solid"/>
          </a:ln>
        </p:spPr>
      </p:sp>
      <p:sp>
        <p:nvSpPr>
          <p:cNvPr id="22" name="Text 20"/>
          <p:cNvSpPr/>
          <p:nvPr/>
        </p:nvSpPr>
        <p:spPr>
          <a:xfrm>
            <a:off x="6492240" y="2560320"/>
            <a:ext cx="2286000" cy="228600"/>
          </a:xfrm>
          <a:prstGeom prst="rect">
            <a:avLst/>
          </a:prstGeom>
          <a:noFill/>
          <a:ln/>
        </p:spPr>
        <p:txBody>
          <a:bodyPr wrap="square" rtlCol="0" anchor="ctr"/>
          <a:lstStyle/>
          <a:p>
            <a:pPr indent="0" marL="0">
              <a:buNone/>
            </a:pPr>
            <a:r>
              <a:rPr lang="en-US" sz="850" b="1" dirty="0">
                <a:solidFill>
                  <a:srgbClr val="1B4332"/>
                </a:solidFill>
                <a:latin typeface="Montserrat" pitchFamily="34" charset="0"/>
                <a:ea typeface="Montserrat" pitchFamily="34" charset="-122"/>
                <a:cs typeface="Montserrat" pitchFamily="34" charset="-120"/>
              </a:rPr>
              <a:t>Flutter Widget Tests</a:t>
            </a:r>
            <a:endParaRPr lang="en-US" sz="850" dirty="0"/>
          </a:p>
        </p:txBody>
      </p:sp>
      <p:sp>
        <p:nvSpPr>
          <p:cNvPr id="23" name="Text 21"/>
          <p:cNvSpPr/>
          <p:nvPr/>
        </p:nvSpPr>
        <p:spPr>
          <a:xfrm>
            <a:off x="9509760" y="2560320"/>
            <a:ext cx="1645920" cy="228600"/>
          </a:xfrm>
          <a:prstGeom prst="rect">
            <a:avLst/>
          </a:prstGeom>
          <a:noFill/>
          <a:ln/>
        </p:spPr>
        <p:txBody>
          <a:bodyPr wrap="square" rtlCol="0" anchor="ctr"/>
          <a:lstStyle/>
          <a:p>
            <a:pPr algn="r" indent="0" marL="0">
              <a:buNone/>
            </a:pPr>
            <a:r>
              <a:rPr lang="en-US" sz="850" b="1" dirty="0">
                <a:solidFill>
                  <a:srgbClr val="2D6A4F"/>
                </a:solidFill>
                <a:latin typeface="Montserrat" pitchFamily="34" charset="0"/>
                <a:ea typeface="Montserrat" pitchFamily="34" charset="-122"/>
                <a:cs typeface="Montserrat" pitchFamily="34" charset="-120"/>
              </a:rPr>
              <a:t>18/18 PASS</a:t>
            </a:r>
            <a:endParaRPr lang="en-US" sz="850" dirty="0"/>
          </a:p>
        </p:txBody>
      </p:sp>
      <p:sp>
        <p:nvSpPr>
          <p:cNvPr id="24" name="Text 22"/>
          <p:cNvSpPr/>
          <p:nvPr/>
        </p:nvSpPr>
        <p:spPr>
          <a:xfrm>
            <a:off x="6492240" y="2807208"/>
            <a:ext cx="4572000" cy="219456"/>
          </a:xfrm>
          <a:prstGeom prst="rect">
            <a:avLst/>
          </a:prstGeom>
          <a:noFill/>
          <a:ln/>
        </p:spPr>
        <p:txBody>
          <a:bodyPr wrap="square" rtlCol="0" anchor="ctr"/>
          <a:lstStyle/>
          <a:p>
            <a:pPr indent="0" marL="0">
              <a:buNone/>
            </a:pPr>
            <a:r>
              <a:rPr lang="en-US" sz="750" dirty="0">
                <a:solidFill>
                  <a:srgbClr val="5A5A54"/>
                </a:solidFill>
                <a:latin typeface="Inter" pitchFamily="34" charset="0"/>
                <a:ea typeface="Inter" pitchFamily="34" charset="-122"/>
                <a:cs typeface="Inter" pitchFamily="34" charset="-120"/>
              </a:rPr>
              <a:t>APP/test/widget_test.dart | Count: 18 tests | Duration: 24.8s</a:t>
            </a:r>
            <a:endParaRPr lang="en-US" sz="750" dirty="0"/>
          </a:p>
        </p:txBody>
      </p:sp>
      <p:sp>
        <p:nvSpPr>
          <p:cNvPr id="25" name="Shape 23"/>
          <p:cNvSpPr/>
          <p:nvPr/>
        </p:nvSpPr>
        <p:spPr>
          <a:xfrm>
            <a:off x="6400800" y="3154680"/>
            <a:ext cx="4846320" cy="566928"/>
          </a:xfrm>
          <a:prstGeom prst="rect">
            <a:avLst>
              <a:gd name="adj" fmla="val 9677"/>
            </a:avLst>
          </a:prstGeom>
          <a:solidFill>
            <a:srgbClr val="EAE5DC"/>
          </a:solidFill>
          <a:ln w="10160">
            <a:solidFill>
              <a:srgbClr val="E5E0D8"/>
            </a:solidFill>
            <a:prstDash val="solid"/>
          </a:ln>
        </p:spPr>
      </p:sp>
      <p:sp>
        <p:nvSpPr>
          <p:cNvPr id="26" name="Text 24"/>
          <p:cNvSpPr/>
          <p:nvPr/>
        </p:nvSpPr>
        <p:spPr>
          <a:xfrm>
            <a:off x="6492240" y="3200400"/>
            <a:ext cx="2286000" cy="228600"/>
          </a:xfrm>
          <a:prstGeom prst="rect">
            <a:avLst/>
          </a:prstGeom>
          <a:noFill/>
          <a:ln/>
        </p:spPr>
        <p:txBody>
          <a:bodyPr wrap="square" rtlCol="0" anchor="ctr"/>
          <a:lstStyle/>
          <a:p>
            <a:pPr indent="0" marL="0">
              <a:buNone/>
            </a:pPr>
            <a:r>
              <a:rPr lang="en-US" sz="850" b="1" dirty="0">
                <a:solidFill>
                  <a:srgbClr val="1B4332"/>
                </a:solidFill>
                <a:latin typeface="Montserrat" pitchFamily="34" charset="0"/>
                <a:ea typeface="Montserrat" pitchFamily="34" charset="-122"/>
                <a:cs typeface="Montserrat" pitchFamily="34" charset="-120"/>
              </a:rPr>
              <a:t>Flutter Integration</a:t>
            </a:r>
            <a:endParaRPr lang="en-US" sz="850" dirty="0"/>
          </a:p>
        </p:txBody>
      </p:sp>
      <p:sp>
        <p:nvSpPr>
          <p:cNvPr id="27" name="Text 25"/>
          <p:cNvSpPr/>
          <p:nvPr/>
        </p:nvSpPr>
        <p:spPr>
          <a:xfrm>
            <a:off x="9509760" y="3200400"/>
            <a:ext cx="1645920" cy="228600"/>
          </a:xfrm>
          <a:prstGeom prst="rect">
            <a:avLst/>
          </a:prstGeom>
          <a:noFill/>
          <a:ln/>
        </p:spPr>
        <p:txBody>
          <a:bodyPr wrap="square" rtlCol="0" anchor="ctr"/>
          <a:lstStyle/>
          <a:p>
            <a:pPr algn="r" indent="0" marL="0">
              <a:buNone/>
            </a:pPr>
            <a:r>
              <a:rPr lang="en-US" sz="850" b="1" dirty="0">
                <a:solidFill>
                  <a:srgbClr val="2D6A4F"/>
                </a:solidFill>
                <a:latin typeface="Montserrat" pitchFamily="34" charset="0"/>
                <a:ea typeface="Montserrat" pitchFamily="34" charset="-122"/>
                <a:cs typeface="Montserrat" pitchFamily="34" charset="-120"/>
              </a:rPr>
              <a:t>5/5 PASS</a:t>
            </a:r>
            <a:endParaRPr lang="en-US" sz="850" dirty="0"/>
          </a:p>
        </p:txBody>
      </p:sp>
      <p:sp>
        <p:nvSpPr>
          <p:cNvPr id="28" name="Text 26"/>
          <p:cNvSpPr/>
          <p:nvPr/>
        </p:nvSpPr>
        <p:spPr>
          <a:xfrm>
            <a:off x="6492240" y="3447288"/>
            <a:ext cx="4572000" cy="219456"/>
          </a:xfrm>
          <a:prstGeom prst="rect">
            <a:avLst/>
          </a:prstGeom>
          <a:noFill/>
          <a:ln/>
        </p:spPr>
        <p:txBody>
          <a:bodyPr wrap="square" rtlCol="0" anchor="ctr"/>
          <a:lstStyle/>
          <a:p>
            <a:pPr indent="0" marL="0">
              <a:buNone/>
            </a:pPr>
            <a:r>
              <a:rPr lang="en-US" sz="750" dirty="0">
                <a:solidFill>
                  <a:srgbClr val="5A5A54"/>
                </a:solidFill>
                <a:latin typeface="Inter" pitchFamily="34" charset="0"/>
                <a:ea typeface="Inter" pitchFamily="34" charset="-122"/>
                <a:cs typeface="Inter" pitchFamily="34" charset="-120"/>
              </a:rPr>
              <a:t>APP/test/integration_test.dart | Count: 5 tests | Duration: 11.5s</a:t>
            </a:r>
            <a:endParaRPr lang="en-US" sz="750" dirty="0"/>
          </a:p>
        </p:txBody>
      </p:sp>
      <p:sp>
        <p:nvSpPr>
          <p:cNvPr id="29" name="Shape 27"/>
          <p:cNvSpPr/>
          <p:nvPr/>
        </p:nvSpPr>
        <p:spPr>
          <a:xfrm>
            <a:off x="6400800" y="3794760"/>
            <a:ext cx="4846320" cy="566928"/>
          </a:xfrm>
          <a:prstGeom prst="rect">
            <a:avLst>
              <a:gd name="adj" fmla="val 9677"/>
            </a:avLst>
          </a:prstGeom>
          <a:solidFill>
            <a:srgbClr val="EAE5DC"/>
          </a:solidFill>
          <a:ln w="10160">
            <a:solidFill>
              <a:srgbClr val="E5E0D8"/>
            </a:solidFill>
            <a:prstDash val="solid"/>
          </a:ln>
        </p:spPr>
      </p:sp>
      <p:sp>
        <p:nvSpPr>
          <p:cNvPr id="30" name="Text 28"/>
          <p:cNvSpPr/>
          <p:nvPr/>
        </p:nvSpPr>
        <p:spPr>
          <a:xfrm>
            <a:off x="6492240" y="3840480"/>
            <a:ext cx="2286000" cy="228600"/>
          </a:xfrm>
          <a:prstGeom prst="rect">
            <a:avLst/>
          </a:prstGeom>
          <a:noFill/>
          <a:ln/>
        </p:spPr>
        <p:txBody>
          <a:bodyPr wrap="square" rtlCol="0" anchor="ctr"/>
          <a:lstStyle/>
          <a:p>
            <a:pPr indent="0" marL="0">
              <a:buNone/>
            </a:pPr>
            <a:r>
              <a:rPr lang="en-US" sz="850" b="1" dirty="0">
                <a:solidFill>
                  <a:srgbClr val="1B4332"/>
                </a:solidFill>
                <a:latin typeface="Montserrat" pitchFamily="34" charset="0"/>
                <a:ea typeface="Montserrat" pitchFamily="34" charset="-122"/>
                <a:cs typeface="Montserrat" pitchFamily="34" charset="-120"/>
              </a:rPr>
              <a:t>Backend Unit &amp; Security</a:t>
            </a:r>
            <a:endParaRPr lang="en-US" sz="850" dirty="0"/>
          </a:p>
        </p:txBody>
      </p:sp>
      <p:sp>
        <p:nvSpPr>
          <p:cNvPr id="31" name="Text 29"/>
          <p:cNvSpPr/>
          <p:nvPr/>
        </p:nvSpPr>
        <p:spPr>
          <a:xfrm>
            <a:off x="9509760" y="3840480"/>
            <a:ext cx="1645920" cy="228600"/>
          </a:xfrm>
          <a:prstGeom prst="rect">
            <a:avLst/>
          </a:prstGeom>
          <a:noFill/>
          <a:ln/>
        </p:spPr>
        <p:txBody>
          <a:bodyPr wrap="square" rtlCol="0" anchor="ctr"/>
          <a:lstStyle/>
          <a:p>
            <a:pPr algn="r" indent="0" marL="0">
              <a:buNone/>
            </a:pPr>
            <a:r>
              <a:rPr lang="en-US" sz="850" b="1" dirty="0">
                <a:solidFill>
                  <a:srgbClr val="2D6A4F"/>
                </a:solidFill>
                <a:latin typeface="Montserrat" pitchFamily="34" charset="0"/>
                <a:ea typeface="Montserrat" pitchFamily="34" charset="-122"/>
                <a:cs typeface="Montserrat" pitchFamily="34" charset="-120"/>
              </a:rPr>
              <a:t>7/7 PASS</a:t>
            </a:r>
            <a:endParaRPr lang="en-US" sz="850" dirty="0"/>
          </a:p>
        </p:txBody>
      </p:sp>
      <p:sp>
        <p:nvSpPr>
          <p:cNvPr id="32" name="Text 30"/>
          <p:cNvSpPr/>
          <p:nvPr/>
        </p:nvSpPr>
        <p:spPr>
          <a:xfrm>
            <a:off x="6492240" y="4087368"/>
            <a:ext cx="4572000" cy="219456"/>
          </a:xfrm>
          <a:prstGeom prst="rect">
            <a:avLst/>
          </a:prstGeom>
          <a:noFill/>
          <a:ln/>
        </p:spPr>
        <p:txBody>
          <a:bodyPr wrap="square" rtlCol="0" anchor="ctr"/>
          <a:lstStyle/>
          <a:p>
            <a:pPr indent="0" marL="0">
              <a:buNone/>
            </a:pPr>
            <a:r>
              <a:rPr lang="en-US" sz="750" dirty="0">
                <a:solidFill>
                  <a:srgbClr val="5A5A54"/>
                </a:solidFill>
                <a:latin typeface="Inter" pitchFamily="34" charset="0"/>
                <a:ea typeface="Inter" pitchFamily="34" charset="-122"/>
                <a:cs typeface="Inter" pitchFamily="34" charset="-120"/>
              </a:rPr>
              <a:t>Backend/test_backend_unit.py | Count: 7 tests | Duration: 12.7s</a:t>
            </a:r>
            <a:endParaRPr lang="en-US" sz="750" dirty="0"/>
          </a:p>
        </p:txBody>
      </p:sp>
      <p:sp>
        <p:nvSpPr>
          <p:cNvPr id="33" name="Shape 31"/>
          <p:cNvSpPr/>
          <p:nvPr/>
        </p:nvSpPr>
        <p:spPr>
          <a:xfrm>
            <a:off x="6400800" y="4462272"/>
            <a:ext cx="4846320" cy="411480"/>
          </a:xfrm>
          <a:prstGeom prst="rect">
            <a:avLst>
              <a:gd name="adj" fmla="val 13333"/>
            </a:avLst>
          </a:prstGeom>
          <a:solidFill>
            <a:srgbClr val="FCF9F4"/>
          </a:solidFill>
          <a:ln w="12700">
            <a:solidFill>
              <a:srgbClr val="1B4332"/>
            </a:solidFill>
            <a:prstDash val="solid"/>
          </a:ln>
        </p:spPr>
      </p:sp>
      <p:sp>
        <p:nvSpPr>
          <p:cNvPr id="34" name="Text 32"/>
          <p:cNvSpPr/>
          <p:nvPr/>
        </p:nvSpPr>
        <p:spPr>
          <a:xfrm>
            <a:off x="6400800" y="4462272"/>
            <a:ext cx="4846320" cy="411480"/>
          </a:xfrm>
          <a:prstGeom prst="rect">
            <a:avLst/>
          </a:prstGeom>
          <a:noFill/>
          <a:ln/>
        </p:spPr>
        <p:txBody>
          <a:bodyPr wrap="square" rtlCol="0" anchor="ctr"/>
          <a:lstStyle/>
          <a:p>
            <a:pPr algn="ctr" indent="0" marL="0">
              <a:buNone/>
            </a:pPr>
            <a:r>
              <a:rPr lang="en-US" sz="750" b="1" dirty="0">
                <a:solidFill>
                  <a:srgbClr val="1B4332"/>
                </a:solidFill>
                <a:latin typeface="Montserrat" pitchFamily="34" charset="0"/>
                <a:ea typeface="Montserrat" pitchFamily="34" charset="-122"/>
                <a:cs typeface="Montserrat" pitchFamily="34" charset="-120"/>
              </a:rPr>
              <a:t>FRAMEWORK RECONCILIATION: Backend uses Python standard unittest (not pytest).</a:t>
            </a:r>
            <a:endParaRPr lang="en-US" sz="750" dirty="0"/>
          </a:p>
          <a:p>
            <a:pPr algn="ctr" indent="0" marL="0">
              <a:buNone/>
            </a:pPr>
            <a:r>
              <a:rPr lang="en-US" sz="750" b="1" dirty="0">
                <a:solidFill>
                  <a:srgbClr val="1B4332"/>
                </a:solidFill>
                <a:latin typeface="Montserrat" pitchFamily="34" charset="0"/>
                <a:ea typeface="Montserrat" pitchFamily="34" charset="-122"/>
                <a:cs typeface="Montserrat" pitchFamily="34" charset="-120"/>
              </a:rPr>
              <a:t>Total Reconciled Suite: 44 Flutter + 7 Backend Suites = 51 Automated Tests.</a:t>
            </a:r>
            <a:endParaRPr lang="en-US" sz="750" dirty="0"/>
          </a:p>
        </p:txBody>
      </p:sp>
      <p:sp>
        <p:nvSpPr>
          <p:cNvPr id="35" name="Text 33"/>
          <p:cNvSpPr/>
          <p:nvPr/>
        </p:nvSpPr>
        <p:spPr>
          <a:xfrm>
            <a:off x="731520" y="5166360"/>
            <a:ext cx="10698480" cy="1234440"/>
          </a:xfrm>
          <a:prstGeom prst="rect">
            <a:avLst/>
          </a:prstGeom>
          <a:noFill/>
          <a:ln/>
        </p:spPr>
        <p:txBody>
          <a:bodyPr wrap="square" rtlCol="0" anchor="t"/>
          <a:lstStyle/>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Dual-Paradigm Strategy: Classical tests verify real state mutations in business calculators, while mockist tests isolate UI widgets from cloud network volatility.</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Fault Injection Resilience: London-school mock testing confirms that API timeout exceptions seamlessly engage local fallback routines without crashing mobile views.</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High Execution Velocity: Decoupled offline test suites execute all 51 automated unit and integration tests in under 40 seconds, enabling frictionless local developer verification.</a:t>
            </a:r>
            <a:endParaRPr lang="en-US" sz="1150" dirty="0"/>
          </a:p>
        </p:txBody>
      </p:sp>
      <p:sp>
        <p:nvSpPr>
          <p:cNvPr id="36" name="Text 34"/>
          <p:cNvSpPr/>
          <p:nvPr/>
        </p:nvSpPr>
        <p:spPr>
          <a:xfrm>
            <a:off x="731520" y="6419088"/>
            <a:ext cx="10698480" cy="228600"/>
          </a:xfrm>
          <a:prstGeom prst="rect">
            <a:avLst/>
          </a:prstGeom>
          <a:noFill/>
          <a:ln/>
        </p:spPr>
        <p:txBody>
          <a:bodyPr wrap="square" rtlCol="0" anchor="b"/>
          <a:lstStyle/>
          <a:p>
            <a:pPr indent="0" marL="0">
              <a:buNone/>
            </a:pPr>
            <a:r>
              <a:rPr lang="en-US" sz="850" i="1" dirty="0">
                <a:solidFill>
                  <a:srgbClr val="5A5A54"/>
                </a:solidFill>
                <a:latin typeface="Inter" pitchFamily="34" charset="0"/>
                <a:ea typeface="Inter" pitchFamily="34" charset="-122"/>
                <a:cs typeface="Inter" pitchFamily="34" charset="-120"/>
              </a:rPr>
              <a:t>Evidence Source: Test execution output from flutter test APP and python -m unittest Backend/test_backend_unit.py.</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9F4"/>
        </a:solidFill>
      </p:bgPr>
    </p:bg>
    <p:spTree>
      <p:nvGrpSpPr>
        <p:cNvPr id="1" name=""/>
        <p:cNvGrpSpPr/>
        <p:nvPr/>
      </p:nvGrpSpPr>
      <p:grpSpPr>
        <a:xfrm>
          <a:off x="0" y="0"/>
          <a:ext cx="0" cy="0"/>
          <a:chOff x="0" y="0"/>
          <a:chExt cx="0" cy="0"/>
        </a:xfrm>
      </p:grpSpPr>
      <p:sp>
        <p:nvSpPr>
          <p:cNvPr id="2" name="Shape 0"/>
          <p:cNvSpPr/>
          <p:nvPr/>
        </p:nvSpPr>
        <p:spPr>
          <a:xfrm>
            <a:off x="731520" y="320040"/>
            <a:ext cx="2194560" cy="274320"/>
          </a:xfrm>
          <a:prstGeom prst="rect">
            <a:avLst>
              <a:gd name="adj" fmla="val 20000"/>
            </a:avLst>
          </a:prstGeom>
          <a:solidFill>
            <a:srgbClr val="EAE5DC"/>
          </a:solidFill>
          <a:ln w="12700">
            <a:solidFill>
              <a:srgbClr val="E5E0D8"/>
            </a:solidFill>
            <a:prstDash val="solid"/>
          </a:ln>
        </p:spPr>
      </p:sp>
      <p:sp>
        <p:nvSpPr>
          <p:cNvPr id="3" name="Text 1"/>
          <p:cNvSpPr/>
          <p:nvPr/>
        </p:nvSpPr>
        <p:spPr>
          <a:xfrm>
            <a:off x="731520" y="320040"/>
            <a:ext cx="2194560" cy="274320"/>
          </a:xfrm>
          <a:prstGeom prst="rect">
            <a:avLst/>
          </a:prstGeom>
          <a:noFill/>
          <a:ln/>
        </p:spPr>
        <p:txBody>
          <a:bodyPr wrap="square" rtlCol="0" anchor="ctr"/>
          <a:lstStyle/>
          <a:p>
            <a:pPr algn="ctr" indent="0" marL="0">
              <a:buNone/>
            </a:pPr>
            <a:r>
              <a:rPr lang="en-US" sz="850" b="1" dirty="0">
                <a:solidFill>
                  <a:srgbClr val="1B4332"/>
                </a:solidFill>
                <a:latin typeface="Montserrat" pitchFamily="34" charset="0"/>
                <a:ea typeface="Montserrat" pitchFamily="34" charset="-122"/>
                <a:cs typeface="Montserrat" pitchFamily="34" charset="-120"/>
              </a:rPr>
              <a:t>UNIT 4: SYSTEM &amp; SECURITY</a:t>
            </a:r>
            <a:endParaRPr lang="en-US" sz="850" dirty="0"/>
          </a:p>
        </p:txBody>
      </p:sp>
      <p:sp>
        <p:nvSpPr>
          <p:cNvPr id="4" name="Text 2"/>
          <p:cNvSpPr/>
          <p:nvPr/>
        </p:nvSpPr>
        <p:spPr>
          <a:xfrm>
            <a:off x="10058400" y="320040"/>
            <a:ext cx="1371600" cy="274320"/>
          </a:xfrm>
          <a:prstGeom prst="rect">
            <a:avLst/>
          </a:prstGeom>
          <a:noFill/>
          <a:ln/>
        </p:spPr>
        <p:txBody>
          <a:bodyPr wrap="square" rtlCol="0" anchor="ctr"/>
          <a:lstStyle/>
          <a:p>
            <a:pPr algn="r" indent="0" marL="0">
              <a:buNone/>
            </a:pPr>
            <a:r>
              <a:rPr lang="en-US" sz="900" b="1" dirty="0">
                <a:solidFill>
                  <a:srgbClr val="5A5A54"/>
                </a:solidFill>
                <a:latin typeface="Montserrat" pitchFamily="34" charset="0"/>
                <a:ea typeface="Montserrat" pitchFamily="34" charset="-122"/>
                <a:cs typeface="Montserrat" pitchFamily="34" charset="-120"/>
              </a:rPr>
              <a:t>SLIDE 10 / 15</a:t>
            </a:r>
            <a:endParaRPr lang="en-US" sz="900" dirty="0"/>
          </a:p>
        </p:txBody>
      </p:sp>
      <p:sp>
        <p:nvSpPr>
          <p:cNvPr id="5" name="Text 3"/>
          <p:cNvSpPr/>
          <p:nvPr/>
        </p:nvSpPr>
        <p:spPr>
          <a:xfrm>
            <a:off x="731520" y="658368"/>
            <a:ext cx="10698480" cy="475488"/>
          </a:xfrm>
          <a:prstGeom prst="rect">
            <a:avLst/>
          </a:prstGeom>
          <a:noFill/>
          <a:ln/>
        </p:spPr>
        <p:txBody>
          <a:bodyPr wrap="square" rtlCol="0" anchor="ctr"/>
          <a:lstStyle/>
          <a:p>
            <a:pPr indent="0" marL="0">
              <a:buNone/>
            </a:pPr>
            <a:r>
              <a:rPr lang="en-US" sz="2000" b="1" dirty="0">
                <a:solidFill>
                  <a:srgbClr val="1B4332"/>
                </a:solidFill>
                <a:latin typeface="Montserrat" pitchFamily="34" charset="0"/>
                <a:ea typeface="Montserrat" pitchFamily="34" charset="-122"/>
                <a:cs typeface="Montserrat" pitchFamily="34" charset="-120"/>
              </a:rPr>
              <a:t>System &amp; Security Testing: E2E Flow &amp; Tenant Defense</a:t>
            </a:r>
            <a:endParaRPr lang="en-US" sz="2000" dirty="0"/>
          </a:p>
        </p:txBody>
      </p:sp>
      <p:sp>
        <p:nvSpPr>
          <p:cNvPr id="6" name="Shape 4"/>
          <p:cNvSpPr/>
          <p:nvPr/>
        </p:nvSpPr>
        <p:spPr>
          <a:xfrm>
            <a:off x="731520" y="1170432"/>
            <a:ext cx="10698480" cy="0"/>
          </a:xfrm>
          <a:prstGeom prst="line">
            <a:avLst/>
          </a:prstGeom>
          <a:noFill/>
          <a:ln w="12700">
            <a:solidFill>
              <a:srgbClr val="E5E0D8"/>
            </a:solidFill>
            <a:prstDash val="solid"/>
          </a:ln>
        </p:spPr>
      </p:sp>
      <p:sp>
        <p:nvSpPr>
          <p:cNvPr id="7" name="Shape 5"/>
          <p:cNvSpPr/>
          <p:nvPr/>
        </p:nvSpPr>
        <p:spPr>
          <a:xfrm>
            <a:off x="731520" y="1371600"/>
            <a:ext cx="10698480" cy="1645920"/>
          </a:xfrm>
          <a:prstGeom prst="rect">
            <a:avLst>
              <a:gd name="adj" fmla="val 6667"/>
            </a:avLst>
          </a:prstGeom>
          <a:solidFill>
            <a:srgbClr val="FFFFFF"/>
          </a:solidFill>
          <a:ln w="19050">
            <a:solidFill>
              <a:srgbClr val="E5E0D8"/>
            </a:solidFill>
            <a:prstDash val="solid"/>
          </a:ln>
        </p:spPr>
      </p:sp>
      <p:sp>
        <p:nvSpPr>
          <p:cNvPr id="8" name="Text 6"/>
          <p:cNvSpPr/>
          <p:nvPr/>
        </p:nvSpPr>
        <p:spPr>
          <a:xfrm>
            <a:off x="914400" y="1481328"/>
            <a:ext cx="10332720" cy="228600"/>
          </a:xfrm>
          <a:prstGeom prst="rect">
            <a:avLst/>
          </a:prstGeom>
          <a:noFill/>
          <a:ln/>
        </p:spPr>
        <p:txBody>
          <a:bodyPr wrap="square" rtlCol="0" anchor="ctr"/>
          <a:lstStyle/>
          <a:p>
            <a:pPr indent="0" marL="0">
              <a:buNone/>
            </a:pPr>
            <a:r>
              <a:rPr lang="en-US" sz="950" b="1" dirty="0">
                <a:solidFill>
                  <a:srgbClr val="1B4332"/>
                </a:solidFill>
                <a:latin typeface="Montserrat" pitchFamily="34" charset="0"/>
                <a:ea typeface="Montserrat" pitchFamily="34" charset="-122"/>
                <a:cs typeface="Montserrat" pitchFamily="34" charset="-120"/>
              </a:rPr>
              <a:t>9-STEP END-TO-END BUSINESS LIFECYCLE FLOW (Backend/verify_e2e.py)</a:t>
            </a:r>
            <a:endParaRPr lang="en-US" sz="950" dirty="0"/>
          </a:p>
        </p:txBody>
      </p:sp>
      <p:sp>
        <p:nvSpPr>
          <p:cNvPr id="9" name="Shape 7"/>
          <p:cNvSpPr/>
          <p:nvPr/>
        </p:nvSpPr>
        <p:spPr>
          <a:xfrm>
            <a:off x="914400" y="1783080"/>
            <a:ext cx="1051560" cy="1051560"/>
          </a:xfrm>
          <a:prstGeom prst="rect">
            <a:avLst>
              <a:gd name="adj" fmla="val 6957"/>
            </a:avLst>
          </a:prstGeom>
          <a:solidFill>
            <a:srgbClr val="EAE5DC"/>
          </a:solidFill>
          <a:ln w="10160">
            <a:solidFill>
              <a:srgbClr val="D8D2C6"/>
            </a:solidFill>
            <a:prstDash val="solid"/>
          </a:ln>
        </p:spPr>
      </p:sp>
      <p:sp>
        <p:nvSpPr>
          <p:cNvPr id="10" name="Text 8"/>
          <p:cNvSpPr/>
          <p:nvPr/>
        </p:nvSpPr>
        <p:spPr>
          <a:xfrm>
            <a:off x="960120" y="1810512"/>
            <a:ext cx="274320" cy="182880"/>
          </a:xfrm>
          <a:prstGeom prst="rect">
            <a:avLst/>
          </a:prstGeom>
          <a:noFill/>
          <a:ln/>
        </p:spPr>
        <p:txBody>
          <a:bodyPr wrap="square" rtlCol="0" anchor="ctr"/>
          <a:lstStyle/>
          <a:p>
            <a:pPr indent="0" marL="0">
              <a:buNone/>
            </a:pPr>
            <a:r>
              <a:rPr lang="en-US" sz="800" b="1" dirty="0">
                <a:solidFill>
                  <a:srgbClr val="FFB702"/>
                </a:solidFill>
                <a:latin typeface="Montserrat" pitchFamily="34" charset="0"/>
                <a:ea typeface="Montserrat" pitchFamily="34" charset="-122"/>
                <a:cs typeface="Montserrat" pitchFamily="34" charset="-120"/>
              </a:rPr>
              <a:t>1</a:t>
            </a:r>
            <a:endParaRPr lang="en-US" sz="800" dirty="0"/>
          </a:p>
        </p:txBody>
      </p:sp>
      <p:sp>
        <p:nvSpPr>
          <p:cNvPr id="11" name="Text 9"/>
          <p:cNvSpPr/>
          <p:nvPr/>
        </p:nvSpPr>
        <p:spPr>
          <a:xfrm>
            <a:off x="960120" y="2011680"/>
            <a:ext cx="960120" cy="502920"/>
          </a:xfrm>
          <a:prstGeom prst="rect">
            <a:avLst/>
          </a:prstGeom>
          <a:noFill/>
          <a:ln/>
        </p:spPr>
        <p:txBody>
          <a:bodyPr wrap="square" rtlCol="0" anchor="ctr"/>
          <a:lstStyle/>
          <a:p>
            <a:pPr algn="ctr" indent="0" marL="0">
              <a:buNone/>
            </a:pPr>
            <a:r>
              <a:rPr lang="en-US" sz="750" b="1" dirty="0">
                <a:solidFill>
                  <a:srgbClr val="1C1C19"/>
                </a:solidFill>
                <a:latin typeface="Inter" pitchFamily="34" charset="0"/>
                <a:ea typeface="Inter" pitchFamily="34" charset="-122"/>
                <a:cs typeface="Inter" pitchFamily="34" charset="-120"/>
              </a:rPr>
              <a:t>Owner Auth</a:t>
            </a:r>
            <a:endParaRPr lang="en-US" sz="750" dirty="0"/>
          </a:p>
          <a:p>
            <a:pPr algn="ctr" indent="0" marL="0">
              <a:buNone/>
            </a:pPr>
            <a:r>
              <a:rPr lang="en-US" sz="750" b="1" dirty="0">
                <a:solidFill>
                  <a:srgbClr val="1C1C19"/>
                </a:solidFill>
                <a:latin typeface="Inter" pitchFamily="34" charset="0"/>
                <a:ea typeface="Inter" pitchFamily="34" charset="-122"/>
                <a:cs typeface="Inter" pitchFamily="34" charset="-120"/>
              </a:rPr>
              <a:t>(JWT Bearer)</a:t>
            </a:r>
            <a:endParaRPr lang="en-US" sz="750" dirty="0"/>
          </a:p>
        </p:txBody>
      </p:sp>
      <p:sp>
        <p:nvSpPr>
          <p:cNvPr id="12" name="Shape 10"/>
          <p:cNvSpPr/>
          <p:nvPr/>
        </p:nvSpPr>
        <p:spPr>
          <a:xfrm>
            <a:off x="1005840" y="2578608"/>
            <a:ext cx="868680" cy="201168"/>
          </a:xfrm>
          <a:prstGeom prst="rect">
            <a:avLst>
              <a:gd name="adj" fmla="val 18182"/>
            </a:avLst>
          </a:prstGeom>
          <a:solidFill>
            <a:srgbClr val="E0F2FE"/>
          </a:solidFill>
          <a:ln w="6350">
            <a:solidFill>
              <a:srgbClr val="1D4ED8"/>
            </a:solidFill>
            <a:prstDash val="solid"/>
          </a:ln>
        </p:spPr>
      </p:sp>
      <p:sp>
        <p:nvSpPr>
          <p:cNvPr id="13" name="Text 11"/>
          <p:cNvSpPr/>
          <p:nvPr/>
        </p:nvSpPr>
        <p:spPr>
          <a:xfrm>
            <a:off x="1005840" y="2578608"/>
            <a:ext cx="868680" cy="201168"/>
          </a:xfrm>
          <a:prstGeom prst="rect">
            <a:avLst/>
          </a:prstGeom>
          <a:noFill/>
          <a:ln/>
        </p:spPr>
        <p:txBody>
          <a:bodyPr wrap="square" rtlCol="0" anchor="ctr"/>
          <a:lstStyle/>
          <a:p>
            <a:pPr algn="ctr" indent="0" marL="0">
              <a:buNone/>
            </a:pPr>
            <a:r>
              <a:rPr lang="en-US" sz="650" b="1" dirty="0">
                <a:solidFill>
                  <a:srgbClr val="1D4ED8"/>
                </a:solidFill>
                <a:latin typeface="Montserrat" pitchFamily="34" charset="0"/>
                <a:ea typeface="Montserrat" pitchFamily="34" charset="-122"/>
                <a:cs typeface="Montserrat" pitchFamily="34" charset="-120"/>
              </a:rPr>
              <a:t>Local Logic</a:t>
            </a:r>
            <a:endParaRPr lang="en-US" sz="650" dirty="0"/>
          </a:p>
        </p:txBody>
      </p:sp>
      <p:sp>
        <p:nvSpPr>
          <p:cNvPr id="14" name="Shape 12"/>
          <p:cNvSpPr/>
          <p:nvPr/>
        </p:nvSpPr>
        <p:spPr>
          <a:xfrm>
            <a:off x="2057400" y="1783080"/>
            <a:ext cx="1051560" cy="1051560"/>
          </a:xfrm>
          <a:prstGeom prst="rect">
            <a:avLst>
              <a:gd name="adj" fmla="val 6957"/>
            </a:avLst>
          </a:prstGeom>
          <a:solidFill>
            <a:srgbClr val="EAE5DC"/>
          </a:solidFill>
          <a:ln w="10160">
            <a:solidFill>
              <a:srgbClr val="D8D2C6"/>
            </a:solidFill>
            <a:prstDash val="solid"/>
          </a:ln>
        </p:spPr>
      </p:sp>
      <p:sp>
        <p:nvSpPr>
          <p:cNvPr id="15" name="Text 13"/>
          <p:cNvSpPr/>
          <p:nvPr/>
        </p:nvSpPr>
        <p:spPr>
          <a:xfrm>
            <a:off x="2103120" y="1810512"/>
            <a:ext cx="274320" cy="182880"/>
          </a:xfrm>
          <a:prstGeom prst="rect">
            <a:avLst/>
          </a:prstGeom>
          <a:noFill/>
          <a:ln/>
        </p:spPr>
        <p:txBody>
          <a:bodyPr wrap="square" rtlCol="0" anchor="ctr"/>
          <a:lstStyle/>
          <a:p>
            <a:pPr indent="0" marL="0">
              <a:buNone/>
            </a:pPr>
            <a:r>
              <a:rPr lang="en-US" sz="800" b="1" dirty="0">
                <a:solidFill>
                  <a:srgbClr val="FFB702"/>
                </a:solidFill>
                <a:latin typeface="Montserrat" pitchFamily="34" charset="0"/>
                <a:ea typeface="Montserrat" pitchFamily="34" charset="-122"/>
                <a:cs typeface="Montserrat" pitchFamily="34" charset="-120"/>
              </a:rPr>
              <a:t>2</a:t>
            </a:r>
            <a:endParaRPr lang="en-US" sz="800" dirty="0"/>
          </a:p>
        </p:txBody>
      </p:sp>
      <p:sp>
        <p:nvSpPr>
          <p:cNvPr id="16" name="Text 14"/>
          <p:cNvSpPr/>
          <p:nvPr/>
        </p:nvSpPr>
        <p:spPr>
          <a:xfrm>
            <a:off x="2103120" y="2011680"/>
            <a:ext cx="960120" cy="502920"/>
          </a:xfrm>
          <a:prstGeom prst="rect">
            <a:avLst/>
          </a:prstGeom>
          <a:noFill/>
          <a:ln/>
        </p:spPr>
        <p:txBody>
          <a:bodyPr wrap="square" rtlCol="0" anchor="ctr"/>
          <a:lstStyle/>
          <a:p>
            <a:pPr algn="ctr" indent="0" marL="0">
              <a:buNone/>
            </a:pPr>
            <a:r>
              <a:rPr lang="en-US" sz="750" b="1" dirty="0">
                <a:solidFill>
                  <a:srgbClr val="1C1C19"/>
                </a:solidFill>
                <a:latin typeface="Inter" pitchFamily="34" charset="0"/>
                <a:ea typeface="Inter" pitchFamily="34" charset="-122"/>
                <a:cs typeface="Inter" pitchFamily="34" charset="-120"/>
              </a:rPr>
              <a:t>Catalog Seed</a:t>
            </a:r>
            <a:endParaRPr lang="en-US" sz="750" dirty="0"/>
          </a:p>
          <a:p>
            <a:pPr algn="ctr" indent="0" marL="0">
              <a:buNone/>
            </a:pPr>
            <a:r>
              <a:rPr lang="en-US" sz="750" b="1" dirty="0">
                <a:solidFill>
                  <a:srgbClr val="1C1C19"/>
                </a:solidFill>
                <a:latin typeface="Inter" pitchFamily="34" charset="0"/>
                <a:ea typeface="Inter" pitchFamily="34" charset="-122"/>
                <a:cs typeface="Inter" pitchFamily="34" charset="-120"/>
              </a:rPr>
              <a:t>(5 Core SKUs)</a:t>
            </a:r>
            <a:endParaRPr lang="en-US" sz="750" dirty="0"/>
          </a:p>
        </p:txBody>
      </p:sp>
      <p:sp>
        <p:nvSpPr>
          <p:cNvPr id="17" name="Shape 15"/>
          <p:cNvSpPr/>
          <p:nvPr/>
        </p:nvSpPr>
        <p:spPr>
          <a:xfrm>
            <a:off x="2148840" y="2578608"/>
            <a:ext cx="868680" cy="201168"/>
          </a:xfrm>
          <a:prstGeom prst="rect">
            <a:avLst>
              <a:gd name="adj" fmla="val 18182"/>
            </a:avLst>
          </a:prstGeom>
          <a:solidFill>
            <a:srgbClr val="FEE2E2"/>
          </a:solidFill>
          <a:ln w="6350">
            <a:solidFill>
              <a:srgbClr val="B91C1C"/>
            </a:solidFill>
            <a:prstDash val="solid"/>
          </a:ln>
        </p:spPr>
      </p:sp>
      <p:sp>
        <p:nvSpPr>
          <p:cNvPr id="18" name="Text 16"/>
          <p:cNvSpPr/>
          <p:nvPr/>
        </p:nvSpPr>
        <p:spPr>
          <a:xfrm>
            <a:off x="2148840" y="2578608"/>
            <a:ext cx="868680" cy="201168"/>
          </a:xfrm>
          <a:prstGeom prst="rect">
            <a:avLst/>
          </a:prstGeom>
          <a:noFill/>
          <a:ln/>
        </p:spPr>
        <p:txBody>
          <a:bodyPr wrap="square" rtlCol="0" anchor="ctr"/>
          <a:lstStyle/>
          <a:p>
            <a:pPr algn="ctr" indent="0" marL="0">
              <a:buNone/>
            </a:pPr>
            <a:r>
              <a:rPr lang="en-US" sz="650" b="1" dirty="0">
                <a:solidFill>
                  <a:srgbClr val="B91C1C"/>
                </a:solidFill>
                <a:latin typeface="Montserrat" pitchFamily="34" charset="0"/>
                <a:ea typeface="Montserrat" pitchFamily="34" charset="-122"/>
                <a:cs typeface="Montserrat" pitchFamily="34" charset="-120"/>
              </a:rPr>
              <a:t>Network Req</a:t>
            </a:r>
            <a:endParaRPr lang="en-US" sz="650" dirty="0"/>
          </a:p>
        </p:txBody>
      </p:sp>
      <p:sp>
        <p:nvSpPr>
          <p:cNvPr id="19" name="Shape 17"/>
          <p:cNvSpPr/>
          <p:nvPr/>
        </p:nvSpPr>
        <p:spPr>
          <a:xfrm>
            <a:off x="3200400" y="1783080"/>
            <a:ext cx="1051560" cy="1051560"/>
          </a:xfrm>
          <a:prstGeom prst="rect">
            <a:avLst>
              <a:gd name="adj" fmla="val 6957"/>
            </a:avLst>
          </a:prstGeom>
          <a:solidFill>
            <a:srgbClr val="EAE5DC"/>
          </a:solidFill>
          <a:ln w="10160">
            <a:solidFill>
              <a:srgbClr val="D8D2C6"/>
            </a:solidFill>
            <a:prstDash val="solid"/>
          </a:ln>
        </p:spPr>
      </p:sp>
      <p:sp>
        <p:nvSpPr>
          <p:cNvPr id="20" name="Text 18"/>
          <p:cNvSpPr/>
          <p:nvPr/>
        </p:nvSpPr>
        <p:spPr>
          <a:xfrm>
            <a:off x="3246120" y="1810512"/>
            <a:ext cx="274320" cy="182880"/>
          </a:xfrm>
          <a:prstGeom prst="rect">
            <a:avLst/>
          </a:prstGeom>
          <a:noFill/>
          <a:ln/>
        </p:spPr>
        <p:txBody>
          <a:bodyPr wrap="square" rtlCol="0" anchor="ctr"/>
          <a:lstStyle/>
          <a:p>
            <a:pPr indent="0" marL="0">
              <a:buNone/>
            </a:pPr>
            <a:r>
              <a:rPr lang="en-US" sz="800" b="1" dirty="0">
                <a:solidFill>
                  <a:srgbClr val="FFB702"/>
                </a:solidFill>
                <a:latin typeface="Montserrat" pitchFamily="34" charset="0"/>
                <a:ea typeface="Montserrat" pitchFamily="34" charset="-122"/>
                <a:cs typeface="Montserrat" pitchFamily="34" charset="-120"/>
              </a:rPr>
              <a:t>3</a:t>
            </a:r>
            <a:endParaRPr lang="en-US" sz="800" dirty="0"/>
          </a:p>
        </p:txBody>
      </p:sp>
      <p:sp>
        <p:nvSpPr>
          <p:cNvPr id="21" name="Text 19"/>
          <p:cNvSpPr/>
          <p:nvPr/>
        </p:nvSpPr>
        <p:spPr>
          <a:xfrm>
            <a:off x="3246120" y="2011680"/>
            <a:ext cx="960120" cy="502920"/>
          </a:xfrm>
          <a:prstGeom prst="rect">
            <a:avLst/>
          </a:prstGeom>
          <a:noFill/>
          <a:ln/>
        </p:spPr>
        <p:txBody>
          <a:bodyPr wrap="square" rtlCol="0" anchor="ctr"/>
          <a:lstStyle/>
          <a:p>
            <a:pPr algn="ctr" indent="0" marL="0">
              <a:buNone/>
            </a:pPr>
            <a:r>
              <a:rPr lang="en-US" sz="750" b="1" dirty="0">
                <a:solidFill>
                  <a:srgbClr val="1C1C19"/>
                </a:solidFill>
                <a:latin typeface="Inter" pitchFamily="34" charset="0"/>
                <a:ea typeface="Inter" pitchFamily="34" charset="-122"/>
                <a:cs typeface="Inter" pitchFamily="34" charset="-120"/>
              </a:rPr>
              <a:t>Intraday Sales</a:t>
            </a:r>
            <a:endParaRPr lang="en-US" sz="750" dirty="0"/>
          </a:p>
          <a:p>
            <a:pPr algn="ctr" indent="0" marL="0">
              <a:buNone/>
            </a:pPr>
            <a:r>
              <a:rPr lang="en-US" sz="750" b="1" dirty="0">
                <a:solidFill>
                  <a:srgbClr val="1C1C19"/>
                </a:solidFill>
                <a:latin typeface="Inter" pitchFamily="34" charset="0"/>
                <a:ea typeface="Inter" pitchFamily="34" charset="-122"/>
                <a:cs typeface="Inter" pitchFamily="34" charset="-120"/>
              </a:rPr>
              <a:t>(Record Units)</a:t>
            </a:r>
            <a:endParaRPr lang="en-US" sz="750" dirty="0"/>
          </a:p>
        </p:txBody>
      </p:sp>
      <p:sp>
        <p:nvSpPr>
          <p:cNvPr id="22" name="Shape 20"/>
          <p:cNvSpPr/>
          <p:nvPr/>
        </p:nvSpPr>
        <p:spPr>
          <a:xfrm>
            <a:off x="3291840" y="2578608"/>
            <a:ext cx="868680" cy="201168"/>
          </a:xfrm>
          <a:prstGeom prst="rect">
            <a:avLst>
              <a:gd name="adj" fmla="val 18182"/>
            </a:avLst>
          </a:prstGeom>
          <a:solidFill>
            <a:srgbClr val="FEE2E2"/>
          </a:solidFill>
          <a:ln w="6350">
            <a:solidFill>
              <a:srgbClr val="B91C1C"/>
            </a:solidFill>
            <a:prstDash val="solid"/>
          </a:ln>
        </p:spPr>
      </p:sp>
      <p:sp>
        <p:nvSpPr>
          <p:cNvPr id="23" name="Text 21"/>
          <p:cNvSpPr/>
          <p:nvPr/>
        </p:nvSpPr>
        <p:spPr>
          <a:xfrm>
            <a:off x="3291840" y="2578608"/>
            <a:ext cx="868680" cy="201168"/>
          </a:xfrm>
          <a:prstGeom prst="rect">
            <a:avLst/>
          </a:prstGeom>
          <a:noFill/>
          <a:ln/>
        </p:spPr>
        <p:txBody>
          <a:bodyPr wrap="square" rtlCol="0" anchor="ctr"/>
          <a:lstStyle/>
          <a:p>
            <a:pPr algn="ctr" indent="0" marL="0">
              <a:buNone/>
            </a:pPr>
            <a:r>
              <a:rPr lang="en-US" sz="650" b="1" dirty="0">
                <a:solidFill>
                  <a:srgbClr val="B91C1C"/>
                </a:solidFill>
                <a:latin typeface="Montserrat" pitchFamily="34" charset="0"/>
                <a:ea typeface="Montserrat" pitchFamily="34" charset="-122"/>
                <a:cs typeface="Montserrat" pitchFamily="34" charset="-120"/>
              </a:rPr>
              <a:t>Network Req</a:t>
            </a:r>
            <a:endParaRPr lang="en-US" sz="650" dirty="0"/>
          </a:p>
        </p:txBody>
      </p:sp>
      <p:sp>
        <p:nvSpPr>
          <p:cNvPr id="24" name="Shape 22"/>
          <p:cNvSpPr/>
          <p:nvPr/>
        </p:nvSpPr>
        <p:spPr>
          <a:xfrm>
            <a:off x="4343400" y="1783080"/>
            <a:ext cx="1051560" cy="1051560"/>
          </a:xfrm>
          <a:prstGeom prst="rect">
            <a:avLst>
              <a:gd name="adj" fmla="val 6957"/>
            </a:avLst>
          </a:prstGeom>
          <a:solidFill>
            <a:srgbClr val="EAE5DC"/>
          </a:solidFill>
          <a:ln w="10160">
            <a:solidFill>
              <a:srgbClr val="D8D2C6"/>
            </a:solidFill>
            <a:prstDash val="solid"/>
          </a:ln>
        </p:spPr>
      </p:sp>
      <p:sp>
        <p:nvSpPr>
          <p:cNvPr id="25" name="Text 23"/>
          <p:cNvSpPr/>
          <p:nvPr/>
        </p:nvSpPr>
        <p:spPr>
          <a:xfrm>
            <a:off x="4389120" y="1810512"/>
            <a:ext cx="274320" cy="182880"/>
          </a:xfrm>
          <a:prstGeom prst="rect">
            <a:avLst/>
          </a:prstGeom>
          <a:noFill/>
          <a:ln/>
        </p:spPr>
        <p:txBody>
          <a:bodyPr wrap="square" rtlCol="0" anchor="ctr"/>
          <a:lstStyle/>
          <a:p>
            <a:pPr indent="0" marL="0">
              <a:buNone/>
            </a:pPr>
            <a:r>
              <a:rPr lang="en-US" sz="800" b="1" dirty="0">
                <a:solidFill>
                  <a:srgbClr val="FFB702"/>
                </a:solidFill>
                <a:latin typeface="Montserrat" pitchFamily="34" charset="0"/>
                <a:ea typeface="Montserrat" pitchFamily="34" charset="-122"/>
                <a:cs typeface="Montserrat" pitchFamily="34" charset="-120"/>
              </a:rPr>
              <a:t>4</a:t>
            </a:r>
            <a:endParaRPr lang="en-US" sz="800" dirty="0"/>
          </a:p>
        </p:txBody>
      </p:sp>
      <p:sp>
        <p:nvSpPr>
          <p:cNvPr id="26" name="Text 24"/>
          <p:cNvSpPr/>
          <p:nvPr/>
        </p:nvSpPr>
        <p:spPr>
          <a:xfrm>
            <a:off x="4389120" y="2011680"/>
            <a:ext cx="960120" cy="502920"/>
          </a:xfrm>
          <a:prstGeom prst="rect">
            <a:avLst/>
          </a:prstGeom>
          <a:noFill/>
          <a:ln/>
        </p:spPr>
        <p:txBody>
          <a:bodyPr wrap="square" rtlCol="0" anchor="ctr"/>
          <a:lstStyle/>
          <a:p>
            <a:pPr algn="ctr" indent="0" marL="0">
              <a:buNone/>
            </a:pPr>
            <a:r>
              <a:rPr lang="en-US" sz="750" b="1" dirty="0">
                <a:solidFill>
                  <a:srgbClr val="1C1C19"/>
                </a:solidFill>
                <a:latin typeface="Inter" pitchFamily="34" charset="0"/>
                <a:ea typeface="Inter" pitchFamily="34" charset="-122"/>
                <a:cs typeface="Inter" pitchFamily="34" charset="-120"/>
              </a:rPr>
              <a:t>Fetch Forecast</a:t>
            </a:r>
            <a:endParaRPr lang="en-US" sz="750" dirty="0"/>
          </a:p>
          <a:p>
            <a:pPr algn="ctr" indent="0" marL="0">
              <a:buNone/>
            </a:pPr>
            <a:r>
              <a:rPr lang="en-US" sz="750" b="1" dirty="0">
                <a:solidFill>
                  <a:srgbClr val="1C1C19"/>
                </a:solidFill>
                <a:latin typeface="Inter" pitchFamily="34" charset="0"/>
                <a:ea typeface="Inter" pitchFamily="34" charset="-122"/>
                <a:cs typeface="Inter" pitchFamily="34" charset="-120"/>
              </a:rPr>
              <a:t>(Batch Read)</a:t>
            </a:r>
            <a:endParaRPr lang="en-US" sz="750" dirty="0"/>
          </a:p>
        </p:txBody>
      </p:sp>
      <p:sp>
        <p:nvSpPr>
          <p:cNvPr id="27" name="Shape 25"/>
          <p:cNvSpPr/>
          <p:nvPr/>
        </p:nvSpPr>
        <p:spPr>
          <a:xfrm>
            <a:off x="4434840" y="2578608"/>
            <a:ext cx="868680" cy="201168"/>
          </a:xfrm>
          <a:prstGeom prst="rect">
            <a:avLst>
              <a:gd name="adj" fmla="val 18182"/>
            </a:avLst>
          </a:prstGeom>
          <a:solidFill>
            <a:srgbClr val="FEE2E2"/>
          </a:solidFill>
          <a:ln w="6350">
            <a:solidFill>
              <a:srgbClr val="B91C1C"/>
            </a:solidFill>
            <a:prstDash val="solid"/>
          </a:ln>
        </p:spPr>
      </p:sp>
      <p:sp>
        <p:nvSpPr>
          <p:cNvPr id="28" name="Text 26"/>
          <p:cNvSpPr/>
          <p:nvPr/>
        </p:nvSpPr>
        <p:spPr>
          <a:xfrm>
            <a:off x="4434840" y="2578608"/>
            <a:ext cx="868680" cy="201168"/>
          </a:xfrm>
          <a:prstGeom prst="rect">
            <a:avLst/>
          </a:prstGeom>
          <a:noFill/>
          <a:ln/>
        </p:spPr>
        <p:txBody>
          <a:bodyPr wrap="square" rtlCol="0" anchor="ctr"/>
          <a:lstStyle/>
          <a:p>
            <a:pPr algn="ctr" indent="0" marL="0">
              <a:buNone/>
            </a:pPr>
            <a:r>
              <a:rPr lang="en-US" sz="650" b="1" dirty="0">
                <a:solidFill>
                  <a:srgbClr val="B91C1C"/>
                </a:solidFill>
                <a:latin typeface="Montserrat" pitchFamily="34" charset="0"/>
                <a:ea typeface="Montserrat" pitchFamily="34" charset="-122"/>
                <a:cs typeface="Montserrat" pitchFamily="34" charset="-120"/>
              </a:rPr>
              <a:t>Network Req</a:t>
            </a:r>
            <a:endParaRPr lang="en-US" sz="650" dirty="0"/>
          </a:p>
        </p:txBody>
      </p:sp>
      <p:sp>
        <p:nvSpPr>
          <p:cNvPr id="29" name="Shape 27"/>
          <p:cNvSpPr/>
          <p:nvPr/>
        </p:nvSpPr>
        <p:spPr>
          <a:xfrm>
            <a:off x="5486400" y="1783080"/>
            <a:ext cx="1051560" cy="1051560"/>
          </a:xfrm>
          <a:prstGeom prst="rect">
            <a:avLst>
              <a:gd name="adj" fmla="val 6957"/>
            </a:avLst>
          </a:prstGeom>
          <a:solidFill>
            <a:srgbClr val="EAE5DC"/>
          </a:solidFill>
          <a:ln w="10160">
            <a:solidFill>
              <a:srgbClr val="D8D2C6"/>
            </a:solidFill>
            <a:prstDash val="solid"/>
          </a:ln>
        </p:spPr>
      </p:sp>
      <p:sp>
        <p:nvSpPr>
          <p:cNvPr id="30" name="Text 28"/>
          <p:cNvSpPr/>
          <p:nvPr/>
        </p:nvSpPr>
        <p:spPr>
          <a:xfrm>
            <a:off x="5532120" y="1810512"/>
            <a:ext cx="274320" cy="182880"/>
          </a:xfrm>
          <a:prstGeom prst="rect">
            <a:avLst/>
          </a:prstGeom>
          <a:noFill/>
          <a:ln/>
        </p:spPr>
        <p:txBody>
          <a:bodyPr wrap="square" rtlCol="0" anchor="ctr"/>
          <a:lstStyle/>
          <a:p>
            <a:pPr indent="0" marL="0">
              <a:buNone/>
            </a:pPr>
            <a:r>
              <a:rPr lang="en-US" sz="800" b="1" dirty="0">
                <a:solidFill>
                  <a:srgbClr val="FFB702"/>
                </a:solidFill>
                <a:latin typeface="Montserrat" pitchFamily="34" charset="0"/>
                <a:ea typeface="Montserrat" pitchFamily="34" charset="-122"/>
                <a:cs typeface="Montserrat" pitchFamily="34" charset="-120"/>
              </a:rPr>
              <a:t>5</a:t>
            </a:r>
            <a:endParaRPr lang="en-US" sz="800" dirty="0"/>
          </a:p>
        </p:txBody>
      </p:sp>
      <p:sp>
        <p:nvSpPr>
          <p:cNvPr id="31" name="Text 29"/>
          <p:cNvSpPr/>
          <p:nvPr/>
        </p:nvSpPr>
        <p:spPr>
          <a:xfrm>
            <a:off x="5532120" y="2011680"/>
            <a:ext cx="960120" cy="502920"/>
          </a:xfrm>
          <a:prstGeom prst="rect">
            <a:avLst/>
          </a:prstGeom>
          <a:noFill/>
          <a:ln/>
        </p:spPr>
        <p:txBody>
          <a:bodyPr wrap="square" rtlCol="0" anchor="ctr"/>
          <a:lstStyle/>
          <a:p>
            <a:pPr algn="ctr" indent="0" marL="0">
              <a:buNone/>
            </a:pPr>
            <a:r>
              <a:rPr lang="en-US" sz="750" b="1" dirty="0">
                <a:solidFill>
                  <a:srgbClr val="1C1C19"/>
                </a:solidFill>
                <a:latin typeface="Inter" pitchFamily="34" charset="0"/>
                <a:ea typeface="Inter" pitchFamily="34" charset="-122"/>
                <a:cs typeface="Inter" pitchFamily="34" charset="-120"/>
              </a:rPr>
              <a:t>Waste Alert</a:t>
            </a:r>
            <a:endParaRPr lang="en-US" sz="750" dirty="0"/>
          </a:p>
          <a:p>
            <a:pPr algn="ctr" indent="0" marL="0">
              <a:buNone/>
            </a:pPr>
            <a:r>
              <a:rPr lang="en-US" sz="750" b="1" dirty="0">
                <a:solidFill>
                  <a:srgbClr val="1C1C19"/>
                </a:solidFill>
                <a:latin typeface="Inter" pitchFamily="34" charset="0"/>
                <a:ea typeface="Inter" pitchFamily="34" charset="-122"/>
                <a:cs typeface="Inter" pitchFamily="34" charset="-120"/>
              </a:rPr>
              <a:t>(Velocity Poll)</a:t>
            </a:r>
            <a:endParaRPr lang="en-US" sz="750" dirty="0"/>
          </a:p>
        </p:txBody>
      </p:sp>
      <p:sp>
        <p:nvSpPr>
          <p:cNvPr id="32" name="Shape 30"/>
          <p:cNvSpPr/>
          <p:nvPr/>
        </p:nvSpPr>
        <p:spPr>
          <a:xfrm>
            <a:off x="5577840" y="2578608"/>
            <a:ext cx="868680" cy="201168"/>
          </a:xfrm>
          <a:prstGeom prst="rect">
            <a:avLst>
              <a:gd name="adj" fmla="val 18182"/>
            </a:avLst>
          </a:prstGeom>
          <a:solidFill>
            <a:srgbClr val="FEE2E2"/>
          </a:solidFill>
          <a:ln w="6350">
            <a:solidFill>
              <a:srgbClr val="B91C1C"/>
            </a:solidFill>
            <a:prstDash val="solid"/>
          </a:ln>
        </p:spPr>
      </p:sp>
      <p:sp>
        <p:nvSpPr>
          <p:cNvPr id="33" name="Text 31"/>
          <p:cNvSpPr/>
          <p:nvPr/>
        </p:nvSpPr>
        <p:spPr>
          <a:xfrm>
            <a:off x="5577840" y="2578608"/>
            <a:ext cx="868680" cy="201168"/>
          </a:xfrm>
          <a:prstGeom prst="rect">
            <a:avLst/>
          </a:prstGeom>
          <a:noFill/>
          <a:ln/>
        </p:spPr>
        <p:txBody>
          <a:bodyPr wrap="square" rtlCol="0" anchor="ctr"/>
          <a:lstStyle/>
          <a:p>
            <a:pPr algn="ctr" indent="0" marL="0">
              <a:buNone/>
            </a:pPr>
            <a:r>
              <a:rPr lang="en-US" sz="650" b="1" dirty="0">
                <a:solidFill>
                  <a:srgbClr val="B91C1C"/>
                </a:solidFill>
                <a:latin typeface="Montserrat" pitchFamily="34" charset="0"/>
                <a:ea typeface="Montserrat" pitchFamily="34" charset="-122"/>
                <a:cs typeface="Montserrat" pitchFamily="34" charset="-120"/>
              </a:rPr>
              <a:t>Network Req</a:t>
            </a:r>
            <a:endParaRPr lang="en-US" sz="650" dirty="0"/>
          </a:p>
        </p:txBody>
      </p:sp>
      <p:sp>
        <p:nvSpPr>
          <p:cNvPr id="34" name="Shape 32"/>
          <p:cNvSpPr/>
          <p:nvPr/>
        </p:nvSpPr>
        <p:spPr>
          <a:xfrm>
            <a:off x="6629400" y="1783080"/>
            <a:ext cx="1051560" cy="1051560"/>
          </a:xfrm>
          <a:prstGeom prst="rect">
            <a:avLst>
              <a:gd name="adj" fmla="val 6957"/>
            </a:avLst>
          </a:prstGeom>
          <a:solidFill>
            <a:srgbClr val="EAE5DC"/>
          </a:solidFill>
          <a:ln w="10160">
            <a:solidFill>
              <a:srgbClr val="D8D2C6"/>
            </a:solidFill>
            <a:prstDash val="solid"/>
          </a:ln>
        </p:spPr>
      </p:sp>
      <p:sp>
        <p:nvSpPr>
          <p:cNvPr id="35" name="Text 33"/>
          <p:cNvSpPr/>
          <p:nvPr/>
        </p:nvSpPr>
        <p:spPr>
          <a:xfrm>
            <a:off x="6675120" y="1810512"/>
            <a:ext cx="274320" cy="182880"/>
          </a:xfrm>
          <a:prstGeom prst="rect">
            <a:avLst/>
          </a:prstGeom>
          <a:noFill/>
          <a:ln/>
        </p:spPr>
        <p:txBody>
          <a:bodyPr wrap="square" rtlCol="0" anchor="ctr"/>
          <a:lstStyle/>
          <a:p>
            <a:pPr indent="0" marL="0">
              <a:buNone/>
            </a:pPr>
            <a:r>
              <a:rPr lang="en-US" sz="800" b="1" dirty="0">
                <a:solidFill>
                  <a:srgbClr val="FFB702"/>
                </a:solidFill>
                <a:latin typeface="Montserrat" pitchFamily="34" charset="0"/>
                <a:ea typeface="Montserrat" pitchFamily="34" charset="-122"/>
                <a:cs typeface="Montserrat" pitchFamily="34" charset="-120"/>
              </a:rPr>
              <a:t>6</a:t>
            </a:r>
            <a:endParaRPr lang="en-US" sz="800" dirty="0"/>
          </a:p>
        </p:txBody>
      </p:sp>
      <p:sp>
        <p:nvSpPr>
          <p:cNvPr id="36" name="Text 34"/>
          <p:cNvSpPr/>
          <p:nvPr/>
        </p:nvSpPr>
        <p:spPr>
          <a:xfrm>
            <a:off x="6675120" y="2011680"/>
            <a:ext cx="960120" cy="502920"/>
          </a:xfrm>
          <a:prstGeom prst="rect">
            <a:avLst/>
          </a:prstGeom>
          <a:noFill/>
          <a:ln/>
        </p:spPr>
        <p:txBody>
          <a:bodyPr wrap="square" rtlCol="0" anchor="ctr"/>
          <a:lstStyle/>
          <a:p>
            <a:pPr algn="ctr" indent="0" marL="0">
              <a:buNone/>
            </a:pPr>
            <a:r>
              <a:rPr lang="en-US" sz="750" b="1" dirty="0">
                <a:solidFill>
                  <a:srgbClr val="1C1C19"/>
                </a:solidFill>
                <a:latin typeface="Inter" pitchFamily="34" charset="0"/>
                <a:ea typeface="Inter" pitchFamily="34" charset="-122"/>
                <a:cs typeface="Inter" pitchFamily="34" charset="-120"/>
              </a:rPr>
              <a:t>Apply Disc</a:t>
            </a:r>
            <a:endParaRPr lang="en-US" sz="750" dirty="0"/>
          </a:p>
          <a:p>
            <a:pPr algn="ctr" indent="0" marL="0">
              <a:buNone/>
            </a:pPr>
            <a:r>
              <a:rPr lang="en-US" sz="750" b="1" dirty="0">
                <a:solidFill>
                  <a:srgbClr val="1C1C19"/>
                </a:solidFill>
                <a:latin typeface="Inter" pitchFamily="34" charset="0"/>
                <a:ea typeface="Inter" pitchFamily="34" charset="-122"/>
                <a:cs typeface="Inter" pitchFamily="34" charset="-120"/>
              </a:rPr>
              <a:t>(20% Action)</a:t>
            </a:r>
            <a:endParaRPr lang="en-US" sz="750" dirty="0"/>
          </a:p>
        </p:txBody>
      </p:sp>
      <p:sp>
        <p:nvSpPr>
          <p:cNvPr id="37" name="Shape 35"/>
          <p:cNvSpPr/>
          <p:nvPr/>
        </p:nvSpPr>
        <p:spPr>
          <a:xfrm>
            <a:off x="6720840" y="2578608"/>
            <a:ext cx="868680" cy="201168"/>
          </a:xfrm>
          <a:prstGeom prst="rect">
            <a:avLst>
              <a:gd name="adj" fmla="val 18182"/>
            </a:avLst>
          </a:prstGeom>
          <a:solidFill>
            <a:srgbClr val="FEE2E2"/>
          </a:solidFill>
          <a:ln w="6350">
            <a:solidFill>
              <a:srgbClr val="B91C1C"/>
            </a:solidFill>
            <a:prstDash val="solid"/>
          </a:ln>
        </p:spPr>
      </p:sp>
      <p:sp>
        <p:nvSpPr>
          <p:cNvPr id="38" name="Text 36"/>
          <p:cNvSpPr/>
          <p:nvPr/>
        </p:nvSpPr>
        <p:spPr>
          <a:xfrm>
            <a:off x="6720840" y="2578608"/>
            <a:ext cx="868680" cy="201168"/>
          </a:xfrm>
          <a:prstGeom prst="rect">
            <a:avLst/>
          </a:prstGeom>
          <a:noFill/>
          <a:ln/>
        </p:spPr>
        <p:txBody>
          <a:bodyPr wrap="square" rtlCol="0" anchor="ctr"/>
          <a:lstStyle/>
          <a:p>
            <a:pPr algn="ctr" indent="0" marL="0">
              <a:buNone/>
            </a:pPr>
            <a:r>
              <a:rPr lang="en-US" sz="650" b="1" dirty="0">
                <a:solidFill>
                  <a:srgbClr val="B91C1C"/>
                </a:solidFill>
                <a:latin typeface="Montserrat" pitchFamily="34" charset="0"/>
                <a:ea typeface="Montserrat" pitchFamily="34" charset="-122"/>
                <a:cs typeface="Montserrat" pitchFamily="34" charset="-120"/>
              </a:rPr>
              <a:t>Network Req</a:t>
            </a:r>
            <a:endParaRPr lang="en-US" sz="650" dirty="0"/>
          </a:p>
        </p:txBody>
      </p:sp>
      <p:sp>
        <p:nvSpPr>
          <p:cNvPr id="39" name="Shape 37"/>
          <p:cNvSpPr/>
          <p:nvPr/>
        </p:nvSpPr>
        <p:spPr>
          <a:xfrm>
            <a:off x="7772400" y="1783080"/>
            <a:ext cx="1051560" cy="1051560"/>
          </a:xfrm>
          <a:prstGeom prst="rect">
            <a:avLst>
              <a:gd name="adj" fmla="val 6957"/>
            </a:avLst>
          </a:prstGeom>
          <a:solidFill>
            <a:srgbClr val="EAE5DC"/>
          </a:solidFill>
          <a:ln w="10160">
            <a:solidFill>
              <a:srgbClr val="D8D2C6"/>
            </a:solidFill>
            <a:prstDash val="solid"/>
          </a:ln>
        </p:spPr>
      </p:sp>
      <p:sp>
        <p:nvSpPr>
          <p:cNvPr id="40" name="Text 38"/>
          <p:cNvSpPr/>
          <p:nvPr/>
        </p:nvSpPr>
        <p:spPr>
          <a:xfrm>
            <a:off x="7818120" y="1810512"/>
            <a:ext cx="274320" cy="182880"/>
          </a:xfrm>
          <a:prstGeom prst="rect">
            <a:avLst/>
          </a:prstGeom>
          <a:noFill/>
          <a:ln/>
        </p:spPr>
        <p:txBody>
          <a:bodyPr wrap="square" rtlCol="0" anchor="ctr"/>
          <a:lstStyle/>
          <a:p>
            <a:pPr indent="0" marL="0">
              <a:buNone/>
            </a:pPr>
            <a:r>
              <a:rPr lang="en-US" sz="800" b="1" dirty="0">
                <a:solidFill>
                  <a:srgbClr val="FFB702"/>
                </a:solidFill>
                <a:latin typeface="Montserrat" pitchFamily="34" charset="0"/>
                <a:ea typeface="Montserrat" pitchFamily="34" charset="-122"/>
                <a:cs typeface="Montserrat" pitchFamily="34" charset="-120"/>
              </a:rPr>
              <a:t>7</a:t>
            </a:r>
            <a:endParaRPr lang="en-US" sz="800" dirty="0"/>
          </a:p>
        </p:txBody>
      </p:sp>
      <p:sp>
        <p:nvSpPr>
          <p:cNvPr id="41" name="Text 39"/>
          <p:cNvSpPr/>
          <p:nvPr/>
        </p:nvSpPr>
        <p:spPr>
          <a:xfrm>
            <a:off x="7818120" y="2011680"/>
            <a:ext cx="960120" cy="502920"/>
          </a:xfrm>
          <a:prstGeom prst="rect">
            <a:avLst/>
          </a:prstGeom>
          <a:noFill/>
          <a:ln/>
        </p:spPr>
        <p:txBody>
          <a:bodyPr wrap="square" rtlCol="0" anchor="ctr"/>
          <a:lstStyle/>
          <a:p>
            <a:pPr algn="ctr" indent="0" marL="0">
              <a:buNone/>
            </a:pPr>
            <a:r>
              <a:rPr lang="en-US" sz="750" b="1" dirty="0">
                <a:solidFill>
                  <a:srgbClr val="1C1C19"/>
                </a:solidFill>
                <a:latin typeface="Inter" pitchFamily="34" charset="0"/>
                <a:ea typeface="Inter" pitchFamily="34" charset="-122"/>
                <a:cs typeface="Inter" pitchFamily="34" charset="-120"/>
              </a:rPr>
              <a:t>GenAI Brief</a:t>
            </a:r>
            <a:endParaRPr lang="en-US" sz="750" dirty="0"/>
          </a:p>
          <a:p>
            <a:pPr algn="ctr" indent="0" marL="0">
              <a:buNone/>
            </a:pPr>
            <a:r>
              <a:rPr lang="en-US" sz="750" b="1" dirty="0">
                <a:solidFill>
                  <a:srgbClr val="1C1C19"/>
                </a:solidFill>
                <a:latin typeface="Inter" pitchFamily="34" charset="0"/>
                <a:ea typeface="Inter" pitchFamily="34" charset="-122"/>
                <a:cs typeface="Inter" pitchFamily="34" charset="-120"/>
              </a:rPr>
              <a:t>(Gemini 2.5)</a:t>
            </a:r>
            <a:endParaRPr lang="en-US" sz="750" dirty="0"/>
          </a:p>
        </p:txBody>
      </p:sp>
      <p:sp>
        <p:nvSpPr>
          <p:cNvPr id="42" name="Shape 40"/>
          <p:cNvSpPr/>
          <p:nvPr/>
        </p:nvSpPr>
        <p:spPr>
          <a:xfrm>
            <a:off x="7863840" y="2578608"/>
            <a:ext cx="868680" cy="201168"/>
          </a:xfrm>
          <a:prstGeom prst="rect">
            <a:avLst>
              <a:gd name="adj" fmla="val 18182"/>
            </a:avLst>
          </a:prstGeom>
          <a:solidFill>
            <a:srgbClr val="FEE2E2"/>
          </a:solidFill>
          <a:ln w="6350">
            <a:solidFill>
              <a:srgbClr val="B91C1C"/>
            </a:solidFill>
            <a:prstDash val="solid"/>
          </a:ln>
        </p:spPr>
      </p:sp>
      <p:sp>
        <p:nvSpPr>
          <p:cNvPr id="43" name="Text 41"/>
          <p:cNvSpPr/>
          <p:nvPr/>
        </p:nvSpPr>
        <p:spPr>
          <a:xfrm>
            <a:off x="7863840" y="2578608"/>
            <a:ext cx="868680" cy="201168"/>
          </a:xfrm>
          <a:prstGeom prst="rect">
            <a:avLst/>
          </a:prstGeom>
          <a:noFill/>
          <a:ln/>
        </p:spPr>
        <p:txBody>
          <a:bodyPr wrap="square" rtlCol="0" anchor="ctr"/>
          <a:lstStyle/>
          <a:p>
            <a:pPr algn="ctr" indent="0" marL="0">
              <a:buNone/>
            </a:pPr>
            <a:r>
              <a:rPr lang="en-US" sz="650" b="1" dirty="0">
                <a:solidFill>
                  <a:srgbClr val="B91C1C"/>
                </a:solidFill>
                <a:latin typeface="Montserrat" pitchFamily="34" charset="0"/>
                <a:ea typeface="Montserrat" pitchFamily="34" charset="-122"/>
                <a:cs typeface="Montserrat" pitchFamily="34" charset="-120"/>
              </a:rPr>
              <a:t>Network Req</a:t>
            </a:r>
            <a:endParaRPr lang="en-US" sz="650" dirty="0"/>
          </a:p>
        </p:txBody>
      </p:sp>
      <p:sp>
        <p:nvSpPr>
          <p:cNvPr id="44" name="Shape 42"/>
          <p:cNvSpPr/>
          <p:nvPr/>
        </p:nvSpPr>
        <p:spPr>
          <a:xfrm>
            <a:off x="8915400" y="1783080"/>
            <a:ext cx="1051560" cy="1051560"/>
          </a:xfrm>
          <a:prstGeom prst="rect">
            <a:avLst>
              <a:gd name="adj" fmla="val 6957"/>
            </a:avLst>
          </a:prstGeom>
          <a:solidFill>
            <a:srgbClr val="EAE5DC"/>
          </a:solidFill>
          <a:ln w="10160">
            <a:solidFill>
              <a:srgbClr val="D8D2C6"/>
            </a:solidFill>
            <a:prstDash val="solid"/>
          </a:ln>
        </p:spPr>
      </p:sp>
      <p:sp>
        <p:nvSpPr>
          <p:cNvPr id="45" name="Text 43"/>
          <p:cNvSpPr/>
          <p:nvPr/>
        </p:nvSpPr>
        <p:spPr>
          <a:xfrm>
            <a:off x="8961120" y="1810512"/>
            <a:ext cx="274320" cy="182880"/>
          </a:xfrm>
          <a:prstGeom prst="rect">
            <a:avLst/>
          </a:prstGeom>
          <a:noFill/>
          <a:ln/>
        </p:spPr>
        <p:txBody>
          <a:bodyPr wrap="square" rtlCol="0" anchor="ctr"/>
          <a:lstStyle/>
          <a:p>
            <a:pPr indent="0" marL="0">
              <a:buNone/>
            </a:pPr>
            <a:r>
              <a:rPr lang="en-US" sz="800" b="1" dirty="0">
                <a:solidFill>
                  <a:srgbClr val="FFB702"/>
                </a:solidFill>
                <a:latin typeface="Montserrat" pitchFamily="34" charset="0"/>
                <a:ea typeface="Montserrat" pitchFamily="34" charset="-122"/>
                <a:cs typeface="Montserrat" pitchFamily="34" charset="-120"/>
              </a:rPr>
              <a:t>8</a:t>
            </a:r>
            <a:endParaRPr lang="en-US" sz="800" dirty="0"/>
          </a:p>
        </p:txBody>
      </p:sp>
      <p:sp>
        <p:nvSpPr>
          <p:cNvPr id="46" name="Text 44"/>
          <p:cNvSpPr/>
          <p:nvPr/>
        </p:nvSpPr>
        <p:spPr>
          <a:xfrm>
            <a:off x="8961120" y="2011680"/>
            <a:ext cx="960120" cy="502920"/>
          </a:xfrm>
          <a:prstGeom prst="rect">
            <a:avLst/>
          </a:prstGeom>
          <a:noFill/>
          <a:ln/>
        </p:spPr>
        <p:txBody>
          <a:bodyPr wrap="square" rtlCol="0" anchor="ctr"/>
          <a:lstStyle/>
          <a:p>
            <a:pPr algn="ctr" indent="0" marL="0">
              <a:buNone/>
            </a:pPr>
            <a:r>
              <a:rPr lang="en-US" sz="750" b="1" dirty="0">
                <a:solidFill>
                  <a:srgbClr val="1C1C19"/>
                </a:solidFill>
                <a:latin typeface="Inter" pitchFamily="34" charset="0"/>
                <a:ea typeface="Inter" pitchFamily="34" charset="-122"/>
                <a:cs typeface="Inter" pitchFamily="34" charset="-120"/>
              </a:rPr>
              <a:t>Q&amp;A Chat</a:t>
            </a:r>
            <a:endParaRPr lang="en-US" sz="750" dirty="0"/>
          </a:p>
          <a:p>
            <a:pPr algn="ctr" indent="0" marL="0">
              <a:buNone/>
            </a:pPr>
            <a:r>
              <a:rPr lang="en-US" sz="750" b="1" dirty="0">
                <a:solidFill>
                  <a:srgbClr val="1C1C19"/>
                </a:solidFill>
                <a:latin typeface="Inter" pitchFamily="34" charset="0"/>
                <a:ea typeface="Inter" pitchFamily="34" charset="-122"/>
                <a:cs typeface="Inter" pitchFamily="34" charset="-120"/>
              </a:rPr>
              <a:t>(RAG Ground)</a:t>
            </a:r>
            <a:endParaRPr lang="en-US" sz="750" dirty="0"/>
          </a:p>
        </p:txBody>
      </p:sp>
      <p:sp>
        <p:nvSpPr>
          <p:cNvPr id="47" name="Shape 45"/>
          <p:cNvSpPr/>
          <p:nvPr/>
        </p:nvSpPr>
        <p:spPr>
          <a:xfrm>
            <a:off x="9006840" y="2578608"/>
            <a:ext cx="868680" cy="201168"/>
          </a:xfrm>
          <a:prstGeom prst="rect">
            <a:avLst>
              <a:gd name="adj" fmla="val 18182"/>
            </a:avLst>
          </a:prstGeom>
          <a:solidFill>
            <a:srgbClr val="FEE2E2"/>
          </a:solidFill>
          <a:ln w="6350">
            <a:solidFill>
              <a:srgbClr val="B91C1C"/>
            </a:solidFill>
            <a:prstDash val="solid"/>
          </a:ln>
        </p:spPr>
      </p:sp>
      <p:sp>
        <p:nvSpPr>
          <p:cNvPr id="48" name="Text 46"/>
          <p:cNvSpPr/>
          <p:nvPr/>
        </p:nvSpPr>
        <p:spPr>
          <a:xfrm>
            <a:off x="9006840" y="2578608"/>
            <a:ext cx="868680" cy="201168"/>
          </a:xfrm>
          <a:prstGeom prst="rect">
            <a:avLst/>
          </a:prstGeom>
          <a:noFill/>
          <a:ln/>
        </p:spPr>
        <p:txBody>
          <a:bodyPr wrap="square" rtlCol="0" anchor="ctr"/>
          <a:lstStyle/>
          <a:p>
            <a:pPr algn="ctr" indent="0" marL="0">
              <a:buNone/>
            </a:pPr>
            <a:r>
              <a:rPr lang="en-US" sz="650" b="1" dirty="0">
                <a:solidFill>
                  <a:srgbClr val="B91C1C"/>
                </a:solidFill>
                <a:latin typeface="Montserrat" pitchFamily="34" charset="0"/>
                <a:ea typeface="Montserrat" pitchFamily="34" charset="-122"/>
                <a:cs typeface="Montserrat" pitchFamily="34" charset="-120"/>
              </a:rPr>
              <a:t>Network Req</a:t>
            </a:r>
            <a:endParaRPr lang="en-US" sz="650" dirty="0"/>
          </a:p>
        </p:txBody>
      </p:sp>
      <p:sp>
        <p:nvSpPr>
          <p:cNvPr id="49" name="Shape 47"/>
          <p:cNvSpPr/>
          <p:nvPr/>
        </p:nvSpPr>
        <p:spPr>
          <a:xfrm>
            <a:off x="10058400" y="1783080"/>
            <a:ext cx="1051560" cy="1051560"/>
          </a:xfrm>
          <a:prstGeom prst="rect">
            <a:avLst>
              <a:gd name="adj" fmla="val 6957"/>
            </a:avLst>
          </a:prstGeom>
          <a:solidFill>
            <a:srgbClr val="EAE5DC"/>
          </a:solidFill>
          <a:ln w="10160">
            <a:solidFill>
              <a:srgbClr val="D8D2C6"/>
            </a:solidFill>
            <a:prstDash val="solid"/>
          </a:ln>
        </p:spPr>
      </p:sp>
      <p:sp>
        <p:nvSpPr>
          <p:cNvPr id="50" name="Text 48"/>
          <p:cNvSpPr/>
          <p:nvPr/>
        </p:nvSpPr>
        <p:spPr>
          <a:xfrm>
            <a:off x="10104120" y="1810512"/>
            <a:ext cx="274320" cy="182880"/>
          </a:xfrm>
          <a:prstGeom prst="rect">
            <a:avLst/>
          </a:prstGeom>
          <a:noFill/>
          <a:ln/>
        </p:spPr>
        <p:txBody>
          <a:bodyPr wrap="square" rtlCol="0" anchor="ctr"/>
          <a:lstStyle/>
          <a:p>
            <a:pPr indent="0" marL="0">
              <a:buNone/>
            </a:pPr>
            <a:r>
              <a:rPr lang="en-US" sz="800" b="1" dirty="0">
                <a:solidFill>
                  <a:srgbClr val="FFB702"/>
                </a:solidFill>
                <a:latin typeface="Montserrat" pitchFamily="34" charset="0"/>
                <a:ea typeface="Montserrat" pitchFamily="34" charset="-122"/>
                <a:cs typeface="Montserrat" pitchFamily="34" charset="-120"/>
              </a:rPr>
              <a:t>9</a:t>
            </a:r>
            <a:endParaRPr lang="en-US" sz="800" dirty="0"/>
          </a:p>
        </p:txBody>
      </p:sp>
      <p:sp>
        <p:nvSpPr>
          <p:cNvPr id="51" name="Text 49"/>
          <p:cNvSpPr/>
          <p:nvPr/>
        </p:nvSpPr>
        <p:spPr>
          <a:xfrm>
            <a:off x="10104120" y="2011680"/>
            <a:ext cx="960120" cy="502920"/>
          </a:xfrm>
          <a:prstGeom prst="rect">
            <a:avLst/>
          </a:prstGeom>
          <a:noFill/>
          <a:ln/>
        </p:spPr>
        <p:txBody>
          <a:bodyPr wrap="square" rtlCol="0" anchor="ctr"/>
          <a:lstStyle/>
          <a:p>
            <a:pPr algn="ctr" indent="0" marL="0">
              <a:buNone/>
            </a:pPr>
            <a:r>
              <a:rPr lang="en-US" sz="750" b="1" dirty="0">
                <a:solidFill>
                  <a:srgbClr val="1C1C19"/>
                </a:solidFill>
                <a:latin typeface="Inter" pitchFamily="34" charset="0"/>
                <a:ea typeface="Inter" pitchFamily="34" charset="-122"/>
                <a:cs typeface="Inter" pitchFamily="34" charset="-120"/>
              </a:rPr>
              <a:t>EOD Check-In</a:t>
            </a:r>
            <a:endParaRPr lang="en-US" sz="750" dirty="0"/>
          </a:p>
          <a:p>
            <a:pPr algn="ctr" indent="0" marL="0">
              <a:buNone/>
            </a:pPr>
            <a:r>
              <a:rPr lang="en-US" sz="750" b="1" dirty="0">
                <a:solidFill>
                  <a:srgbClr val="1C1C19"/>
                </a:solidFill>
                <a:latin typeface="Inter" pitchFamily="34" charset="0"/>
                <a:ea typeface="Inter" pitchFamily="34" charset="-122"/>
                <a:cs typeface="Inter" pitchFamily="34" charset="-120"/>
              </a:rPr>
              <a:t>(Reset Perish)</a:t>
            </a:r>
            <a:endParaRPr lang="en-US" sz="750" dirty="0"/>
          </a:p>
        </p:txBody>
      </p:sp>
      <p:sp>
        <p:nvSpPr>
          <p:cNvPr id="52" name="Shape 50"/>
          <p:cNvSpPr/>
          <p:nvPr/>
        </p:nvSpPr>
        <p:spPr>
          <a:xfrm>
            <a:off x="10149840" y="2578608"/>
            <a:ext cx="868680" cy="201168"/>
          </a:xfrm>
          <a:prstGeom prst="rect">
            <a:avLst>
              <a:gd name="adj" fmla="val 18182"/>
            </a:avLst>
          </a:prstGeom>
          <a:solidFill>
            <a:srgbClr val="FEE2E2"/>
          </a:solidFill>
          <a:ln w="6350">
            <a:solidFill>
              <a:srgbClr val="B91C1C"/>
            </a:solidFill>
            <a:prstDash val="solid"/>
          </a:ln>
        </p:spPr>
      </p:sp>
      <p:sp>
        <p:nvSpPr>
          <p:cNvPr id="53" name="Text 51"/>
          <p:cNvSpPr/>
          <p:nvPr/>
        </p:nvSpPr>
        <p:spPr>
          <a:xfrm>
            <a:off x="10149840" y="2578608"/>
            <a:ext cx="868680" cy="201168"/>
          </a:xfrm>
          <a:prstGeom prst="rect">
            <a:avLst/>
          </a:prstGeom>
          <a:noFill/>
          <a:ln/>
        </p:spPr>
        <p:txBody>
          <a:bodyPr wrap="square" rtlCol="0" anchor="ctr"/>
          <a:lstStyle/>
          <a:p>
            <a:pPr algn="ctr" indent="0" marL="0">
              <a:buNone/>
            </a:pPr>
            <a:r>
              <a:rPr lang="en-US" sz="650" b="1" dirty="0">
                <a:solidFill>
                  <a:srgbClr val="B91C1C"/>
                </a:solidFill>
                <a:latin typeface="Montserrat" pitchFamily="34" charset="0"/>
                <a:ea typeface="Montserrat" pitchFamily="34" charset="-122"/>
                <a:cs typeface="Montserrat" pitchFamily="34" charset="-120"/>
              </a:rPr>
              <a:t>Network Req</a:t>
            </a:r>
            <a:endParaRPr lang="en-US" sz="650" dirty="0"/>
          </a:p>
        </p:txBody>
      </p:sp>
      <p:sp>
        <p:nvSpPr>
          <p:cNvPr id="54" name="Shape 52"/>
          <p:cNvSpPr/>
          <p:nvPr/>
        </p:nvSpPr>
        <p:spPr>
          <a:xfrm>
            <a:off x="731520" y="3154680"/>
            <a:ext cx="5212080" cy="1874520"/>
          </a:xfrm>
          <a:prstGeom prst="rect">
            <a:avLst>
              <a:gd name="adj" fmla="val 5854"/>
            </a:avLst>
          </a:prstGeom>
          <a:solidFill>
            <a:srgbClr val="FFFFFF"/>
          </a:solidFill>
          <a:ln w="19050">
            <a:solidFill>
              <a:srgbClr val="E5E0D8"/>
            </a:solidFill>
            <a:prstDash val="solid"/>
          </a:ln>
        </p:spPr>
      </p:sp>
      <p:sp>
        <p:nvSpPr>
          <p:cNvPr id="55" name="Text 53"/>
          <p:cNvSpPr/>
          <p:nvPr/>
        </p:nvSpPr>
        <p:spPr>
          <a:xfrm>
            <a:off x="914400" y="3246120"/>
            <a:ext cx="4846320" cy="228600"/>
          </a:xfrm>
          <a:prstGeom prst="rect">
            <a:avLst/>
          </a:prstGeom>
          <a:noFill/>
          <a:ln/>
        </p:spPr>
        <p:txBody>
          <a:bodyPr wrap="square" rtlCol="0" anchor="ctr"/>
          <a:lstStyle/>
          <a:p>
            <a:pPr indent="0" marL="0">
              <a:buNone/>
            </a:pPr>
            <a:r>
              <a:rPr lang="en-US" sz="900" b="1" dirty="0">
                <a:solidFill>
                  <a:srgbClr val="1B4332"/>
                </a:solidFill>
                <a:latin typeface="Montserrat" pitchFamily="34" charset="0"/>
                <a:ea typeface="Montserrat" pitchFamily="34" charset="-122"/>
                <a:cs typeface="Montserrat" pitchFamily="34" charset="-120"/>
              </a:rPr>
              <a:t>MULTI-TENANT ISOLATION SHIELD (test_tenant_isolation.py)</a:t>
            </a:r>
            <a:endParaRPr lang="en-US" sz="900" dirty="0"/>
          </a:p>
        </p:txBody>
      </p:sp>
      <p:sp>
        <p:nvSpPr>
          <p:cNvPr id="56" name="Text 54"/>
          <p:cNvSpPr/>
          <p:nvPr/>
        </p:nvSpPr>
        <p:spPr>
          <a:xfrm>
            <a:off x="914400" y="3493008"/>
            <a:ext cx="4846320" cy="1417320"/>
          </a:xfrm>
          <a:prstGeom prst="rect">
            <a:avLst/>
          </a:prstGeom>
          <a:noFill/>
          <a:ln/>
        </p:spPr>
        <p:txBody>
          <a:bodyPr wrap="square" rtlCol="0" anchor="ctr"/>
          <a:lstStyle/>
          <a:p>
            <a:pPr indent="0" marL="0">
              <a:buNone/>
            </a:pPr>
            <a:r>
              <a:rPr lang="en-US" sz="800" dirty="0">
                <a:solidFill>
                  <a:srgbClr val="1C1C19"/>
                </a:solidFill>
                <a:latin typeface="Inter" pitchFamily="34" charset="0"/>
                <a:ea typeface="Inter" pitchFamily="34" charset="-122"/>
                <a:cs typeface="Inter" pitchFamily="34" charset="-120"/>
              </a:rPr>
              <a:t>• Security Invariant: Tenant A token strictly cannot read or mutate Tenant B records.</a:t>
            </a:r>
            <a:endParaRPr lang="en-US" sz="800" dirty="0"/>
          </a:p>
          <a:p>
            <a:pPr indent="0" marL="0">
              <a:buNone/>
            </a:pPr>
            <a:r>
              <a:rPr lang="en-US" sz="800" dirty="0">
                <a:solidFill>
                  <a:srgbClr val="1C1C19"/>
                </a:solidFill>
                <a:latin typeface="Inter" pitchFamily="34" charset="0"/>
                <a:ea typeface="Inter" pitchFamily="34" charset="-122"/>
                <a:cs typeface="Inter" pitchFamily="34" charset="-120"/>
              </a:rPr>
              <a:t>• Verified Across 10 Endpoints: GET /items, GET /forecasts, GET /waste-alerts, PUT /items/{id}, POST /restock, DELETE /items/{id}, POST /sales/intraday, POST /apply-discount, POST /flag-donation, POST /dismiss.</a:t>
            </a:r>
            <a:endParaRPr lang="en-US" sz="800" dirty="0"/>
          </a:p>
          <a:p>
            <a:pPr indent="0" marL="0">
              <a:buNone/>
            </a:pPr>
            <a:r>
              <a:rPr lang="en-US" sz="800" dirty="0">
                <a:solidFill>
                  <a:srgbClr val="1C1C19"/>
                </a:solidFill>
                <a:latin typeface="Inter" pitchFamily="34" charset="0"/>
                <a:ea typeface="Inter" pitchFamily="34" charset="-122"/>
                <a:cs typeface="Inter" pitchFamily="34" charset="-120"/>
              </a:rPr>
              <a:t>• Empirical Result: 10/10 endpoints return HTTP 404 or empty collection. ZERO DATA LEAKS.</a:t>
            </a:r>
            <a:endParaRPr lang="en-US" sz="800" dirty="0"/>
          </a:p>
        </p:txBody>
      </p:sp>
      <p:sp>
        <p:nvSpPr>
          <p:cNvPr id="57" name="Shape 55"/>
          <p:cNvSpPr/>
          <p:nvPr/>
        </p:nvSpPr>
        <p:spPr>
          <a:xfrm>
            <a:off x="6217920" y="3154680"/>
            <a:ext cx="5212080" cy="1874520"/>
          </a:xfrm>
          <a:prstGeom prst="rect">
            <a:avLst>
              <a:gd name="adj" fmla="val 5854"/>
            </a:avLst>
          </a:prstGeom>
          <a:solidFill>
            <a:srgbClr val="FFFFFF"/>
          </a:solidFill>
          <a:ln w="19050">
            <a:solidFill>
              <a:srgbClr val="E5E0D8"/>
            </a:solidFill>
            <a:prstDash val="solid"/>
          </a:ln>
        </p:spPr>
      </p:sp>
      <p:sp>
        <p:nvSpPr>
          <p:cNvPr id="58" name="Text 56"/>
          <p:cNvSpPr/>
          <p:nvPr/>
        </p:nvSpPr>
        <p:spPr>
          <a:xfrm>
            <a:off x="6400800" y="3246120"/>
            <a:ext cx="4846320" cy="228600"/>
          </a:xfrm>
          <a:prstGeom prst="rect">
            <a:avLst/>
          </a:prstGeom>
          <a:noFill/>
          <a:ln/>
        </p:spPr>
        <p:txBody>
          <a:bodyPr wrap="square" rtlCol="0" anchor="ctr"/>
          <a:lstStyle/>
          <a:p>
            <a:pPr indent="0" marL="0">
              <a:buNone/>
            </a:pPr>
            <a:r>
              <a:rPr lang="en-US" sz="900" b="1" dirty="0">
                <a:solidFill>
                  <a:srgbClr val="1B4332"/>
                </a:solidFill>
                <a:latin typeface="Montserrat" pitchFamily="34" charset="0"/>
                <a:ea typeface="Montserrat" pitchFamily="34" charset="-122"/>
                <a:cs typeface="Montserrat" pitchFamily="34" charset="-120"/>
              </a:rPr>
              <a:t>ANTI-SPOOFING &amp; WALKTHROUGH SECURITY GATE (DEF-009)</a:t>
            </a:r>
            <a:endParaRPr lang="en-US" sz="900" dirty="0"/>
          </a:p>
        </p:txBody>
      </p:sp>
      <p:sp>
        <p:nvSpPr>
          <p:cNvPr id="59" name="Text 57"/>
          <p:cNvSpPr/>
          <p:nvPr/>
        </p:nvSpPr>
        <p:spPr>
          <a:xfrm>
            <a:off x="6400800" y="3493008"/>
            <a:ext cx="4846320" cy="1417320"/>
          </a:xfrm>
          <a:prstGeom prst="rect">
            <a:avLst/>
          </a:prstGeom>
          <a:noFill/>
          <a:ln/>
        </p:spPr>
        <p:txBody>
          <a:bodyPr wrap="square" rtlCol="0" anchor="ctr"/>
          <a:lstStyle/>
          <a:p>
            <a:pPr indent="0" marL="0">
              <a:buNone/>
            </a:pPr>
            <a:r>
              <a:rPr lang="en-US" sz="800" dirty="0">
                <a:solidFill>
                  <a:srgbClr val="1C1C19"/>
                </a:solidFill>
                <a:latin typeface="Inter" pitchFamily="34" charset="0"/>
                <a:ea typeface="Inter" pitchFamily="34" charset="-122"/>
                <a:cs typeface="Inter" pitchFamily="34" charset="-120"/>
              </a:rPr>
              <a:t>• Proxy Header Spoof Injection: Client injects fake 'X-Forwarded-For: 1.1.1.1, 8.8.8.8'. Trusted edge proxy appends real client IP (192.0.2.100). System extracts rightmost IP, enforcing shared rate limit at attempt 3 (HTTP 429).</a:t>
            </a:r>
            <a:endParaRPr lang="en-US" sz="800" dirty="0"/>
          </a:p>
          <a:p>
            <a:pPr indent="0" marL="0">
              <a:buNone/>
            </a:pPr>
            <a:r>
              <a:rPr lang="en-US" sz="800" dirty="0">
                <a:solidFill>
                  <a:srgbClr val="1C1C19"/>
                </a:solidFill>
                <a:latin typeface="Inter" pitchFamily="34" charset="0"/>
                <a:ea typeface="Inter" pitchFamily="34" charset="-122"/>
                <a:cs typeface="Inter" pitchFamily="34" charset="-120"/>
              </a:rPr>
              <a:t>• DEF-009 Security Gate: Walkthrough login and offline session activation are strictly gated by assert(kDebugMode) and compile-time kDebugMode checks; 100% stripped in release builds.</a:t>
            </a:r>
            <a:endParaRPr lang="en-US" sz="800" dirty="0"/>
          </a:p>
          <a:p>
            <a:pPr indent="0" marL="0">
              <a:buNone/>
            </a:pPr>
            <a:r>
              <a:rPr lang="en-US" sz="800" dirty="0">
                <a:solidFill>
                  <a:srgbClr val="1C1C19"/>
                </a:solidFill>
                <a:latin typeface="Inter" pitchFamily="34" charset="0"/>
                <a:ea typeface="Inter" pitchFamily="34" charset="-122"/>
                <a:cs typeface="Inter" pitchFamily="34" charset="-120"/>
              </a:rPr>
              <a:t>• Credential Protection: Zero credentials exposed on presentations or client production bundles.</a:t>
            </a:r>
            <a:endParaRPr lang="en-US" sz="800" dirty="0"/>
          </a:p>
        </p:txBody>
      </p:sp>
      <p:sp>
        <p:nvSpPr>
          <p:cNvPr id="60" name="Text 58"/>
          <p:cNvSpPr/>
          <p:nvPr/>
        </p:nvSpPr>
        <p:spPr>
          <a:xfrm>
            <a:off x="731520" y="5166360"/>
            <a:ext cx="10698480" cy="1234440"/>
          </a:xfrm>
          <a:prstGeom prst="rect">
            <a:avLst/>
          </a:prstGeom>
          <a:noFill/>
          <a:ln/>
        </p:spPr>
        <p:txBody>
          <a:bodyPr wrap="square" rtlCol="0" anchor="t"/>
          <a:lstStyle/>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Full Lifecycle Validation: The nine-step E2E flow validates the entire business cycle from authentication and sales tracking to batch forecasting and closing check-in.</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Cryptographic Multi-Tenancy: Strict owner ID filtering across all ten database query handlers guarantees zero data leakage between competing store owners.</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Anti-Spoofing Security: The rate limiter extracts the rightmost proxy IP in header chains, preventing attackers from bypassing rate counters via forged headers.</a:t>
            </a:r>
            <a:endParaRPr lang="en-US" sz="1150" dirty="0"/>
          </a:p>
        </p:txBody>
      </p:sp>
      <p:sp>
        <p:nvSpPr>
          <p:cNvPr id="61" name="Text 59"/>
          <p:cNvSpPr/>
          <p:nvPr/>
        </p:nvSpPr>
        <p:spPr>
          <a:xfrm>
            <a:off x="731520" y="6419088"/>
            <a:ext cx="10698480" cy="228600"/>
          </a:xfrm>
          <a:prstGeom prst="rect">
            <a:avLst/>
          </a:prstGeom>
          <a:noFill/>
          <a:ln/>
        </p:spPr>
        <p:txBody>
          <a:bodyPr wrap="square" rtlCol="0" anchor="b"/>
          <a:lstStyle/>
          <a:p>
            <a:pPr indent="0" marL="0">
              <a:buNone/>
            </a:pPr>
            <a:r>
              <a:rPr lang="en-US" sz="850" i="1" dirty="0">
                <a:solidFill>
                  <a:srgbClr val="5A5A54"/>
                </a:solidFill>
                <a:latin typeface="Inter" pitchFamily="34" charset="0"/>
                <a:ea typeface="Inter" pitchFamily="34" charset="-122"/>
                <a:cs typeface="Inter" pitchFamily="34" charset="-120"/>
              </a:rPr>
              <a:t>Evidence Source: test_tenant_isolation.py and test_rate_limiter.py in Backend/; E2E execution logged in Backend/learning_notes.md.</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9F4"/>
        </a:solidFill>
      </p:bgPr>
    </p:bg>
    <p:spTree>
      <p:nvGrpSpPr>
        <p:cNvPr id="1" name=""/>
        <p:cNvGrpSpPr/>
        <p:nvPr/>
      </p:nvGrpSpPr>
      <p:grpSpPr>
        <a:xfrm>
          <a:off x="0" y="0"/>
          <a:ext cx="0" cy="0"/>
          <a:chOff x="0" y="0"/>
          <a:chExt cx="0" cy="0"/>
        </a:xfrm>
      </p:grpSpPr>
      <p:sp>
        <p:nvSpPr>
          <p:cNvPr id="2" name="Shape 0"/>
          <p:cNvSpPr/>
          <p:nvPr/>
        </p:nvSpPr>
        <p:spPr>
          <a:xfrm>
            <a:off x="731520" y="320040"/>
            <a:ext cx="2194560" cy="274320"/>
          </a:xfrm>
          <a:prstGeom prst="rect">
            <a:avLst>
              <a:gd name="adj" fmla="val 20000"/>
            </a:avLst>
          </a:prstGeom>
          <a:solidFill>
            <a:srgbClr val="EAE5DC"/>
          </a:solidFill>
          <a:ln w="12700">
            <a:solidFill>
              <a:srgbClr val="E5E0D8"/>
            </a:solidFill>
            <a:prstDash val="solid"/>
          </a:ln>
        </p:spPr>
      </p:sp>
      <p:sp>
        <p:nvSpPr>
          <p:cNvPr id="3" name="Text 1"/>
          <p:cNvSpPr/>
          <p:nvPr/>
        </p:nvSpPr>
        <p:spPr>
          <a:xfrm>
            <a:off x="731520" y="320040"/>
            <a:ext cx="2194560" cy="274320"/>
          </a:xfrm>
          <a:prstGeom prst="rect">
            <a:avLst/>
          </a:prstGeom>
          <a:noFill/>
          <a:ln/>
        </p:spPr>
        <p:txBody>
          <a:bodyPr wrap="square" rtlCol="0" anchor="ctr"/>
          <a:lstStyle/>
          <a:p>
            <a:pPr algn="ctr" indent="0" marL="0">
              <a:buNone/>
            </a:pPr>
            <a:r>
              <a:rPr lang="en-US" sz="850" b="1" dirty="0">
                <a:solidFill>
                  <a:srgbClr val="1B4332"/>
                </a:solidFill>
                <a:latin typeface="Montserrat" pitchFamily="34" charset="0"/>
                <a:ea typeface="Montserrat" pitchFamily="34" charset="-122"/>
                <a:cs typeface="Montserrat" pitchFamily="34" charset="-120"/>
              </a:rPr>
              <a:t>UNIT 4: SYSTEM &amp; SECURITY</a:t>
            </a:r>
            <a:endParaRPr lang="en-US" sz="850" dirty="0"/>
          </a:p>
        </p:txBody>
      </p:sp>
      <p:sp>
        <p:nvSpPr>
          <p:cNvPr id="4" name="Text 2"/>
          <p:cNvSpPr/>
          <p:nvPr/>
        </p:nvSpPr>
        <p:spPr>
          <a:xfrm>
            <a:off x="10058400" y="320040"/>
            <a:ext cx="1371600" cy="274320"/>
          </a:xfrm>
          <a:prstGeom prst="rect">
            <a:avLst/>
          </a:prstGeom>
          <a:noFill/>
          <a:ln/>
        </p:spPr>
        <p:txBody>
          <a:bodyPr wrap="square" rtlCol="0" anchor="ctr"/>
          <a:lstStyle/>
          <a:p>
            <a:pPr algn="r" indent="0" marL="0">
              <a:buNone/>
            </a:pPr>
            <a:r>
              <a:rPr lang="en-US" sz="900" b="1" dirty="0">
                <a:solidFill>
                  <a:srgbClr val="5A5A54"/>
                </a:solidFill>
                <a:latin typeface="Montserrat" pitchFamily="34" charset="0"/>
                <a:ea typeface="Montserrat" pitchFamily="34" charset="-122"/>
                <a:cs typeface="Montserrat" pitchFamily="34" charset="-120"/>
              </a:rPr>
              <a:t>SLIDE 11 / 15</a:t>
            </a:r>
            <a:endParaRPr lang="en-US" sz="900" dirty="0"/>
          </a:p>
        </p:txBody>
      </p:sp>
      <p:sp>
        <p:nvSpPr>
          <p:cNvPr id="5" name="Text 3"/>
          <p:cNvSpPr/>
          <p:nvPr/>
        </p:nvSpPr>
        <p:spPr>
          <a:xfrm>
            <a:off x="731520" y="658368"/>
            <a:ext cx="10698480" cy="475488"/>
          </a:xfrm>
          <a:prstGeom prst="rect">
            <a:avLst/>
          </a:prstGeom>
          <a:noFill/>
          <a:ln/>
        </p:spPr>
        <p:txBody>
          <a:bodyPr wrap="square" rtlCol="0" anchor="ctr"/>
          <a:lstStyle/>
          <a:p>
            <a:pPr indent="0" marL="0">
              <a:buNone/>
            </a:pPr>
            <a:r>
              <a:rPr lang="en-US" sz="2000" b="1" dirty="0">
                <a:solidFill>
                  <a:srgbClr val="1B4332"/>
                </a:solidFill>
                <a:latin typeface="Montserrat" pitchFamily="34" charset="0"/>
                <a:ea typeface="Montserrat" pitchFamily="34" charset="-122"/>
                <a:cs typeface="Montserrat" pitchFamily="34" charset="-120"/>
              </a:rPr>
              <a:t>ML &amp; LLM Validation: Backtesting, Leakage &amp; Truth Audit</a:t>
            </a:r>
            <a:endParaRPr lang="en-US" sz="2000" dirty="0"/>
          </a:p>
        </p:txBody>
      </p:sp>
      <p:sp>
        <p:nvSpPr>
          <p:cNvPr id="6" name="Shape 4"/>
          <p:cNvSpPr/>
          <p:nvPr/>
        </p:nvSpPr>
        <p:spPr>
          <a:xfrm>
            <a:off x="731520" y="1170432"/>
            <a:ext cx="10698480" cy="0"/>
          </a:xfrm>
          <a:prstGeom prst="line">
            <a:avLst/>
          </a:prstGeom>
          <a:noFill/>
          <a:ln w="12700">
            <a:solidFill>
              <a:srgbClr val="E5E0D8"/>
            </a:solidFill>
            <a:prstDash val="solid"/>
          </a:ln>
        </p:spPr>
      </p:sp>
      <p:sp>
        <p:nvSpPr>
          <p:cNvPr id="7" name="Shape 5"/>
          <p:cNvSpPr/>
          <p:nvPr/>
        </p:nvSpPr>
        <p:spPr>
          <a:xfrm>
            <a:off x="731520" y="1371600"/>
            <a:ext cx="5669280" cy="3611880"/>
          </a:xfrm>
          <a:prstGeom prst="rect">
            <a:avLst>
              <a:gd name="adj" fmla="val 3038"/>
            </a:avLst>
          </a:prstGeom>
          <a:solidFill>
            <a:srgbClr val="FFFFFF"/>
          </a:solidFill>
          <a:ln w="19050">
            <a:solidFill>
              <a:srgbClr val="E5E0D8"/>
            </a:solidFill>
            <a:prstDash val="solid"/>
          </a:ln>
        </p:spPr>
      </p:sp>
      <p:sp>
        <p:nvSpPr>
          <p:cNvPr id="8" name="Text 6"/>
          <p:cNvSpPr/>
          <p:nvPr/>
        </p:nvSpPr>
        <p:spPr>
          <a:xfrm>
            <a:off x="914400" y="1508760"/>
            <a:ext cx="5303520" cy="256032"/>
          </a:xfrm>
          <a:prstGeom prst="rect">
            <a:avLst/>
          </a:prstGeom>
          <a:noFill/>
          <a:ln/>
        </p:spPr>
        <p:txBody>
          <a:bodyPr wrap="square" rtlCol="0" anchor="ctr"/>
          <a:lstStyle/>
          <a:p>
            <a:pPr indent="0" marL="0">
              <a:buNone/>
            </a:pPr>
            <a:r>
              <a:rPr lang="en-US" sz="950" b="1" dirty="0">
                <a:solidFill>
                  <a:srgbClr val="1B4332"/>
                </a:solidFill>
                <a:latin typeface="Montserrat" pitchFamily="34" charset="0"/>
                <a:ea typeface="Montserrat" pitchFamily="34" charset="-122"/>
                <a:cs typeface="Montserrat" pitchFamily="34" charset="-120"/>
              </a:rPr>
              <a:t>ROLLING-ORIGIN WAPE BY FOLD (HONEST REPORTING)</a:t>
            </a:r>
            <a:endParaRPr lang="en-US" sz="950" dirty="0"/>
          </a:p>
        </p:txBody>
      </p:sp>
      <p:graphicFrame>
        <p:nvGraphicFramePr>
          <p:cNvPr id="9" name="Chart 0" descr=""/>
          <p:cNvGraphicFramePr/>
          <p:nvPr/>
        </p:nvGraphicFramePr>
        <p:xfrm>
          <a:off x="914400" y="1828800"/>
          <a:ext cx="5303520" cy="242316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914400" y="4343400"/>
            <a:ext cx="5303520" cy="502920"/>
          </a:xfrm>
          <a:prstGeom prst="rect">
            <a:avLst>
              <a:gd name="adj" fmla="val 10909"/>
            </a:avLst>
          </a:prstGeom>
          <a:solidFill>
            <a:srgbClr val="EAE5DC"/>
          </a:solidFill>
          <a:ln w="12700">
            <a:solidFill>
              <a:srgbClr val="B91C1C"/>
            </a:solidFill>
            <a:prstDash val="solid"/>
          </a:ln>
        </p:spPr>
      </p:sp>
      <p:sp>
        <p:nvSpPr>
          <p:cNvPr id="11" name="Text 8"/>
          <p:cNvSpPr/>
          <p:nvPr/>
        </p:nvSpPr>
        <p:spPr>
          <a:xfrm>
            <a:off x="914400" y="4343400"/>
            <a:ext cx="5303520" cy="502920"/>
          </a:xfrm>
          <a:prstGeom prst="rect">
            <a:avLst/>
          </a:prstGeom>
          <a:noFill/>
          <a:ln/>
        </p:spPr>
        <p:txBody>
          <a:bodyPr wrap="square" rtlCol="0" anchor="ctr"/>
          <a:lstStyle/>
          <a:p>
            <a:pPr algn="ctr" indent="0" marL="0">
              <a:buNone/>
            </a:pPr>
            <a:r>
              <a:rPr lang="en-US" sz="750" b="1" dirty="0">
                <a:solidFill>
                  <a:srgbClr val="B91C1C"/>
                </a:solidFill>
                <a:latin typeface="Montserrat" pitchFamily="34" charset="0"/>
                <a:ea typeface="Montserrat" pitchFamily="34" charset="-122"/>
                <a:cs typeface="Montserrat" pitchFamily="34" charset="-120"/>
              </a:rPr>
              <a:t>NEGATIVE RESULT TRANSPARENCY: Prophet-only (21.74% avg WAPE) operated in parity with the</a:t>
            </a:r>
            <a:endParaRPr lang="en-US" sz="750" dirty="0"/>
          </a:p>
          <a:p>
            <a:pPr algn="ctr" indent="0" marL="0">
              <a:buNone/>
            </a:pPr>
            <a:r>
              <a:rPr lang="en-US" sz="750" b="1" dirty="0">
                <a:solidFill>
                  <a:srgbClr val="B91C1C"/>
                </a:solidFill>
                <a:latin typeface="Montserrat" pitchFamily="34" charset="0"/>
                <a:ea typeface="Montserrat" pitchFamily="34" charset="-122"/>
                <a:cs typeface="Montserrat" pitchFamily="34" charset="-120"/>
              </a:rPr>
              <a:t>Canonical Hybrid model (22.51% avg WAPE) on summer folds, with simple models lagging (30.39% WAPE).</a:t>
            </a:r>
            <a:endParaRPr lang="en-US" sz="750" dirty="0"/>
          </a:p>
        </p:txBody>
      </p:sp>
      <p:sp>
        <p:nvSpPr>
          <p:cNvPr id="12" name="Shape 9"/>
          <p:cNvSpPr/>
          <p:nvPr/>
        </p:nvSpPr>
        <p:spPr>
          <a:xfrm>
            <a:off x="6675120" y="1371600"/>
            <a:ext cx="4754880" cy="3611880"/>
          </a:xfrm>
          <a:prstGeom prst="rect">
            <a:avLst>
              <a:gd name="adj" fmla="val 3038"/>
            </a:avLst>
          </a:prstGeom>
          <a:solidFill>
            <a:srgbClr val="FFFFFF"/>
          </a:solidFill>
          <a:ln w="19050">
            <a:solidFill>
              <a:srgbClr val="E5E0D8"/>
            </a:solidFill>
            <a:prstDash val="solid"/>
          </a:ln>
        </p:spPr>
      </p:sp>
      <p:sp>
        <p:nvSpPr>
          <p:cNvPr id="13" name="Text 10"/>
          <p:cNvSpPr/>
          <p:nvPr/>
        </p:nvSpPr>
        <p:spPr>
          <a:xfrm>
            <a:off x="6858000" y="1508760"/>
            <a:ext cx="4389120" cy="256032"/>
          </a:xfrm>
          <a:prstGeom prst="rect">
            <a:avLst/>
          </a:prstGeom>
          <a:noFill/>
          <a:ln/>
        </p:spPr>
        <p:txBody>
          <a:bodyPr wrap="square" rtlCol="0" anchor="ctr"/>
          <a:lstStyle/>
          <a:p>
            <a:pPr indent="0" marL="0">
              <a:buNone/>
            </a:pPr>
            <a:r>
              <a:rPr lang="en-US" sz="950" b="1" dirty="0">
                <a:solidFill>
                  <a:srgbClr val="1B4332"/>
                </a:solidFill>
                <a:latin typeface="Montserrat" pitchFamily="34" charset="0"/>
                <a:ea typeface="Montserrat" pitchFamily="34" charset="-122"/>
                <a:cs typeface="Montserrat" pitchFamily="34" charset="-120"/>
              </a:rPr>
              <a:t>LEAKAGE AUDIT &amp; LLM ZERO-MATH INVARIANT</a:t>
            </a:r>
            <a:endParaRPr lang="en-US" sz="950" dirty="0"/>
          </a:p>
        </p:txBody>
      </p:sp>
      <p:sp>
        <p:nvSpPr>
          <p:cNvPr id="14" name="Shape 11"/>
          <p:cNvSpPr/>
          <p:nvPr/>
        </p:nvSpPr>
        <p:spPr>
          <a:xfrm>
            <a:off x="6858000" y="1874520"/>
            <a:ext cx="4389120" cy="1325880"/>
          </a:xfrm>
          <a:prstGeom prst="rect">
            <a:avLst>
              <a:gd name="adj" fmla="val 5517"/>
            </a:avLst>
          </a:prstGeom>
          <a:solidFill>
            <a:srgbClr val="FCF9F4"/>
          </a:solidFill>
          <a:ln w="12700">
            <a:solidFill>
              <a:srgbClr val="1B4332"/>
            </a:solidFill>
            <a:prstDash val="solid"/>
          </a:ln>
        </p:spPr>
      </p:sp>
      <p:sp>
        <p:nvSpPr>
          <p:cNvPr id="15" name="Text 12"/>
          <p:cNvSpPr/>
          <p:nvPr/>
        </p:nvSpPr>
        <p:spPr>
          <a:xfrm>
            <a:off x="6949440" y="1938528"/>
            <a:ext cx="4206240" cy="201168"/>
          </a:xfrm>
          <a:prstGeom prst="rect">
            <a:avLst/>
          </a:prstGeom>
          <a:noFill/>
          <a:ln/>
        </p:spPr>
        <p:txBody>
          <a:bodyPr wrap="square" rtlCol="0" anchor="ctr"/>
          <a:lstStyle/>
          <a:p>
            <a:pPr indent="0" marL="0">
              <a:buNone/>
            </a:pPr>
            <a:r>
              <a:rPr lang="en-US" sz="850" b="1" dirty="0">
                <a:solidFill>
                  <a:srgbClr val="1B4332"/>
                </a:solidFill>
                <a:latin typeface="Montserrat" pitchFamily="34" charset="0"/>
                <a:ea typeface="Montserrat" pitchFamily="34" charset="-122"/>
                <a:cs typeface="Montserrat" pitchFamily="34" charset="-120"/>
              </a:rPr>
              <a:t>CHRONOLOGICAL LEAKAGE AUDIT (scripts/run_backtest.py):</a:t>
            </a:r>
            <a:endParaRPr lang="en-US" sz="850" dirty="0"/>
          </a:p>
        </p:txBody>
      </p:sp>
      <p:sp>
        <p:nvSpPr>
          <p:cNvPr id="16" name="Text 13"/>
          <p:cNvSpPr/>
          <p:nvPr/>
        </p:nvSpPr>
        <p:spPr>
          <a:xfrm>
            <a:off x="6949440" y="2176272"/>
            <a:ext cx="4206240" cy="960120"/>
          </a:xfrm>
          <a:prstGeom prst="rect">
            <a:avLst/>
          </a:prstGeom>
          <a:noFill/>
          <a:ln/>
        </p:spPr>
        <p:txBody>
          <a:bodyPr wrap="square" rtlCol="0" anchor="ctr"/>
          <a:lstStyle/>
          <a:p>
            <a:pPr indent="0" marL="0">
              <a:buNone/>
            </a:pPr>
            <a:r>
              <a:rPr lang="en-US" sz="800" dirty="0">
                <a:solidFill>
                  <a:srgbClr val="1C1C19"/>
                </a:solidFill>
                <a:latin typeface="Inter" pitchFamily="34" charset="0"/>
                <a:ea typeface="Inter" pitchFamily="34" charset="-122"/>
                <a:cs typeface="Inter" pitchFamily="34" charset="-120"/>
              </a:rPr>
              <a:t>• Evaluation spans 6 rolling holdout folds across 600 unique sales dates.</a:t>
            </a:r>
            <a:endParaRPr lang="en-US" sz="800" dirty="0"/>
          </a:p>
          <a:p>
            <a:pPr indent="0" marL="0">
              <a:buNone/>
            </a:pPr>
            <a:r>
              <a:rPr lang="en-US" sz="800" dirty="0">
                <a:solidFill>
                  <a:srgbClr val="1C1C19"/>
                </a:solidFill>
                <a:latin typeface="Inter" pitchFamily="34" charset="0"/>
                <a:ea typeface="Inter" pitchFamily="34" charset="-122"/>
                <a:cs typeface="Inter" pitchFamily="34" charset="-120"/>
              </a:rPr>
              <a:t>• Training cutoff strictly precedes forecast horizon (548 to 629 days training history).</a:t>
            </a:r>
            <a:endParaRPr lang="en-US" sz="800" dirty="0"/>
          </a:p>
          <a:p>
            <a:pPr indent="0" marL="0">
              <a:buNone/>
            </a:pPr>
            <a:r>
              <a:rPr lang="en-US" sz="800" dirty="0">
                <a:solidFill>
                  <a:srgbClr val="1C1C19"/>
                </a:solidFill>
                <a:latin typeface="Inter" pitchFamily="34" charset="0"/>
                <a:ea typeface="Inter" pitchFamily="34" charset="-122"/>
                <a:cs typeface="Inter" pitchFamily="34" charset="-120"/>
              </a:rPr>
              <a:t>• Temporal Data Leakage: 0 ROWS. No future sales or holiday indicators leaked into training folds.</a:t>
            </a:r>
            <a:endParaRPr lang="en-US" sz="800" dirty="0"/>
          </a:p>
        </p:txBody>
      </p:sp>
      <p:sp>
        <p:nvSpPr>
          <p:cNvPr id="17" name="Shape 14"/>
          <p:cNvSpPr/>
          <p:nvPr/>
        </p:nvSpPr>
        <p:spPr>
          <a:xfrm>
            <a:off x="6858000" y="3337560"/>
            <a:ext cx="4389120" cy="1508760"/>
          </a:xfrm>
          <a:prstGeom prst="rect">
            <a:avLst>
              <a:gd name="adj" fmla="val 4848"/>
            </a:avLst>
          </a:prstGeom>
          <a:solidFill>
            <a:srgbClr val="EAE5DC"/>
          </a:solidFill>
          <a:ln w="12700">
            <a:solidFill>
              <a:srgbClr val="FFB702"/>
            </a:solidFill>
            <a:prstDash val="solid"/>
          </a:ln>
        </p:spPr>
      </p:sp>
      <p:sp>
        <p:nvSpPr>
          <p:cNvPr id="18" name="Text 15"/>
          <p:cNvSpPr/>
          <p:nvPr/>
        </p:nvSpPr>
        <p:spPr>
          <a:xfrm>
            <a:off x="6949440" y="3401568"/>
            <a:ext cx="4206240" cy="201168"/>
          </a:xfrm>
          <a:prstGeom prst="rect">
            <a:avLst/>
          </a:prstGeom>
          <a:noFill/>
          <a:ln/>
        </p:spPr>
        <p:txBody>
          <a:bodyPr wrap="square" rtlCol="0" anchor="ctr"/>
          <a:lstStyle/>
          <a:p>
            <a:pPr indent="0" marL="0">
              <a:buNone/>
            </a:pPr>
            <a:r>
              <a:rPr lang="en-US" sz="850" b="1" dirty="0">
                <a:solidFill>
                  <a:srgbClr val="1B4332"/>
                </a:solidFill>
                <a:latin typeface="Montserrat" pitchFamily="34" charset="0"/>
                <a:ea typeface="Montserrat" pitchFamily="34" charset="-122"/>
                <a:cs typeface="Montserrat" pitchFamily="34" charset="-120"/>
              </a:rPr>
              <a:t>LLM ZERO-MATH HALLUCINATION AUDIT (Backend/verify_llm.py):</a:t>
            </a:r>
            <a:endParaRPr lang="en-US" sz="850" dirty="0"/>
          </a:p>
        </p:txBody>
      </p:sp>
      <p:sp>
        <p:nvSpPr>
          <p:cNvPr id="19" name="Text 16"/>
          <p:cNvSpPr/>
          <p:nvPr/>
        </p:nvSpPr>
        <p:spPr>
          <a:xfrm>
            <a:off x="6949440" y="3639312"/>
            <a:ext cx="4206240" cy="1143000"/>
          </a:xfrm>
          <a:prstGeom prst="rect">
            <a:avLst/>
          </a:prstGeom>
          <a:noFill/>
          <a:ln/>
        </p:spPr>
        <p:txBody>
          <a:bodyPr wrap="square" rtlCol="0" anchor="ctr"/>
          <a:lstStyle/>
          <a:p>
            <a:pPr indent="0" marL="0">
              <a:buNone/>
            </a:pPr>
            <a:r>
              <a:rPr lang="en-US" sz="800" dirty="0">
                <a:solidFill>
                  <a:srgbClr val="1C1C19"/>
                </a:solidFill>
                <a:latin typeface="Inter" pitchFamily="34" charset="0"/>
                <a:ea typeface="Inter" pitchFamily="34" charset="-122"/>
                <a:cs typeface="Inter" pitchFamily="34" charset="-120"/>
              </a:rPr>
              <a:t>• Input Tracked Numbers: [0.28, 0.42, 15, 19, 2.8, 20, 39, 4, 4.5, 42, 8]</a:t>
            </a:r>
            <a:endParaRPr lang="en-US" sz="800" dirty="0"/>
          </a:p>
          <a:p>
            <a:pPr indent="0" marL="0">
              <a:buNone/>
            </a:pPr>
            <a:r>
              <a:rPr lang="en-US" sz="800" dirty="0">
                <a:solidFill>
                  <a:srgbClr val="1C1C19"/>
                </a:solidFill>
                <a:latin typeface="Inter" pitchFamily="34" charset="0"/>
                <a:ea typeface="Inter" pitchFamily="34" charset="-122"/>
                <a:cs typeface="Inter" pitchFamily="34" charset="-120"/>
              </a:rPr>
              <a:t>• Output Numbers Detected: [0.28, 0.42, 15, 19, 20, 4, 8] (100% Grounded)</a:t>
            </a:r>
            <a:endParaRPr lang="en-US" sz="800" dirty="0"/>
          </a:p>
          <a:p>
            <a:pPr indent="0" marL="0">
              <a:buNone/>
            </a:pPr>
            <a:r>
              <a:rPr lang="en-US" sz="800" dirty="0">
                <a:solidFill>
                  <a:srgbClr val="1C1C19"/>
                </a:solidFill>
                <a:latin typeface="Inter" pitchFamily="34" charset="0"/>
                <a:ea typeface="Inter" pitchFamily="34" charset="-122"/>
                <a:cs typeface="Inter" pitchFamily="34" charset="-120"/>
              </a:rPr>
              <a:t>• Anti-Hallucination Invariant: Gemini 2.5 Flash does zero internal arithmetic; outputs are verified subsets of database values. Zero invented numbers.</a:t>
            </a:r>
            <a:endParaRPr lang="en-US" sz="800" dirty="0"/>
          </a:p>
        </p:txBody>
      </p:sp>
      <p:sp>
        <p:nvSpPr>
          <p:cNvPr id="20" name="Text 17"/>
          <p:cNvSpPr/>
          <p:nvPr/>
        </p:nvSpPr>
        <p:spPr>
          <a:xfrm>
            <a:off x="731520" y="5166360"/>
            <a:ext cx="10698480" cy="1234440"/>
          </a:xfrm>
          <a:prstGeom prst="rect">
            <a:avLst/>
          </a:prstGeom>
          <a:noFill/>
          <a:ln/>
        </p:spPr>
        <p:txBody>
          <a:bodyPr wrap="square" rtlCol="0" anchor="t"/>
          <a:lstStyle/>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Model Ablation Transparency: Prophet-only baseline (21.74% WAPE) operated in statistical parity with the hybrid model (22.51% WAPE) across 6 summer folds, significantly outperforming naive baselines (30.39% WAPE).</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Zero Temporal Leakage: Rigorous holdout auditing proves training data was strictly partitioned prior to each forecast horizon with zero lookahead contamination.</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Zero-Math Hallucination Guard: Automated audit verifies that Gemini 2.5 Flash outputs only numbers provided in verified context, preventing hallucinated inventory quantities.</a:t>
            </a:r>
            <a:endParaRPr lang="en-US" sz="1150" dirty="0"/>
          </a:p>
        </p:txBody>
      </p:sp>
      <p:sp>
        <p:nvSpPr>
          <p:cNvPr id="21" name="Text 18"/>
          <p:cNvSpPr/>
          <p:nvPr/>
        </p:nvSpPr>
        <p:spPr>
          <a:xfrm>
            <a:off x="731520" y="6419088"/>
            <a:ext cx="10698480" cy="228600"/>
          </a:xfrm>
          <a:prstGeom prst="rect">
            <a:avLst/>
          </a:prstGeom>
          <a:noFill/>
          <a:ln/>
        </p:spPr>
        <p:txBody>
          <a:bodyPr wrap="square" rtlCol="0" anchor="b"/>
          <a:lstStyle/>
          <a:p>
            <a:pPr indent="0" marL="0">
              <a:buNone/>
            </a:pPr>
            <a:r>
              <a:rPr lang="en-US" sz="850" i="1" dirty="0">
                <a:solidFill>
                  <a:srgbClr val="5A5A54"/>
                </a:solidFill>
                <a:latin typeface="Inter" pitchFamily="34" charset="0"/>
                <a:ea typeface="Inter" pitchFamily="34" charset="-122"/>
                <a:cs typeface="Inter" pitchFamily="34" charset="-120"/>
              </a:rPr>
              <a:t>Evidence Source: Rolling backtest logged in docs/backtest_results.csv; Zero-math verification in Backend/verify_llm.py.</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9F4"/>
        </a:solidFill>
      </p:bgPr>
    </p:bg>
    <p:spTree>
      <p:nvGrpSpPr>
        <p:cNvPr id="1" name=""/>
        <p:cNvGrpSpPr/>
        <p:nvPr/>
      </p:nvGrpSpPr>
      <p:grpSpPr>
        <a:xfrm>
          <a:off x="0" y="0"/>
          <a:ext cx="0" cy="0"/>
          <a:chOff x="0" y="0"/>
          <a:chExt cx="0" cy="0"/>
        </a:xfrm>
      </p:grpSpPr>
      <p:sp>
        <p:nvSpPr>
          <p:cNvPr id="2" name="Shape 0"/>
          <p:cNvSpPr/>
          <p:nvPr/>
        </p:nvSpPr>
        <p:spPr>
          <a:xfrm>
            <a:off x="731520" y="320040"/>
            <a:ext cx="2194560" cy="274320"/>
          </a:xfrm>
          <a:prstGeom prst="rect">
            <a:avLst>
              <a:gd name="adj" fmla="val 20000"/>
            </a:avLst>
          </a:prstGeom>
          <a:solidFill>
            <a:srgbClr val="EAE5DC"/>
          </a:solidFill>
          <a:ln w="12700">
            <a:solidFill>
              <a:srgbClr val="E5E0D8"/>
            </a:solidFill>
            <a:prstDash val="solid"/>
          </a:ln>
        </p:spPr>
      </p:sp>
      <p:sp>
        <p:nvSpPr>
          <p:cNvPr id="3" name="Text 1"/>
          <p:cNvSpPr/>
          <p:nvPr/>
        </p:nvSpPr>
        <p:spPr>
          <a:xfrm>
            <a:off x="731520" y="320040"/>
            <a:ext cx="2194560" cy="274320"/>
          </a:xfrm>
          <a:prstGeom prst="rect">
            <a:avLst/>
          </a:prstGeom>
          <a:noFill/>
          <a:ln/>
        </p:spPr>
        <p:txBody>
          <a:bodyPr wrap="square" rtlCol="0" anchor="ctr"/>
          <a:lstStyle/>
          <a:p>
            <a:pPr algn="ctr" indent="0" marL="0">
              <a:buNone/>
            </a:pPr>
            <a:r>
              <a:rPr lang="en-US" sz="850" b="1" dirty="0">
                <a:solidFill>
                  <a:srgbClr val="1B4332"/>
                </a:solidFill>
                <a:latin typeface="Montserrat" pitchFamily="34" charset="0"/>
                <a:ea typeface="Montserrat" pitchFamily="34" charset="-122"/>
                <a:cs typeface="Montserrat" pitchFamily="34" charset="-120"/>
              </a:rPr>
              <a:t>UNIT 4: SYSTEM &amp; SECURITY</a:t>
            </a:r>
            <a:endParaRPr lang="en-US" sz="850" dirty="0"/>
          </a:p>
        </p:txBody>
      </p:sp>
      <p:sp>
        <p:nvSpPr>
          <p:cNvPr id="4" name="Text 2"/>
          <p:cNvSpPr/>
          <p:nvPr/>
        </p:nvSpPr>
        <p:spPr>
          <a:xfrm>
            <a:off x="10058400" y="320040"/>
            <a:ext cx="1371600" cy="274320"/>
          </a:xfrm>
          <a:prstGeom prst="rect">
            <a:avLst/>
          </a:prstGeom>
          <a:noFill/>
          <a:ln/>
        </p:spPr>
        <p:txBody>
          <a:bodyPr wrap="square" rtlCol="0" anchor="ctr"/>
          <a:lstStyle/>
          <a:p>
            <a:pPr algn="r" indent="0" marL="0">
              <a:buNone/>
            </a:pPr>
            <a:r>
              <a:rPr lang="en-US" sz="900" b="1" dirty="0">
                <a:solidFill>
                  <a:srgbClr val="5A5A54"/>
                </a:solidFill>
                <a:latin typeface="Montserrat" pitchFamily="34" charset="0"/>
                <a:ea typeface="Montserrat" pitchFamily="34" charset="-122"/>
                <a:cs typeface="Montserrat" pitchFamily="34" charset="-120"/>
              </a:rPr>
              <a:t>SLIDE 12 / 15</a:t>
            </a:r>
            <a:endParaRPr lang="en-US" sz="900" dirty="0"/>
          </a:p>
        </p:txBody>
      </p:sp>
      <p:sp>
        <p:nvSpPr>
          <p:cNvPr id="5" name="Text 3"/>
          <p:cNvSpPr/>
          <p:nvPr/>
        </p:nvSpPr>
        <p:spPr>
          <a:xfrm>
            <a:off x="731520" y="658368"/>
            <a:ext cx="10698480" cy="475488"/>
          </a:xfrm>
          <a:prstGeom prst="rect">
            <a:avLst/>
          </a:prstGeom>
          <a:noFill/>
          <a:ln/>
        </p:spPr>
        <p:txBody>
          <a:bodyPr wrap="square" rtlCol="0" anchor="ctr"/>
          <a:lstStyle/>
          <a:p>
            <a:pPr indent="0" marL="0">
              <a:buNone/>
            </a:pPr>
            <a:r>
              <a:rPr lang="en-US" sz="2000" b="1" dirty="0">
                <a:solidFill>
                  <a:srgbClr val="1B4332"/>
                </a:solidFill>
                <a:latin typeface="Montserrat" pitchFamily="34" charset="0"/>
                <a:ea typeface="Montserrat" pitchFamily="34" charset="-122"/>
                <a:cs typeface="Montserrat" pitchFamily="34" charset="-120"/>
              </a:rPr>
              <a:t>Simulation Testing: Waste, Stockouts &amp; Policy Sensitivity</a:t>
            </a:r>
            <a:endParaRPr lang="en-US" sz="2000" dirty="0"/>
          </a:p>
        </p:txBody>
      </p:sp>
      <p:sp>
        <p:nvSpPr>
          <p:cNvPr id="6" name="Shape 4"/>
          <p:cNvSpPr/>
          <p:nvPr/>
        </p:nvSpPr>
        <p:spPr>
          <a:xfrm>
            <a:off x="731520" y="1170432"/>
            <a:ext cx="10698480" cy="0"/>
          </a:xfrm>
          <a:prstGeom prst="line">
            <a:avLst/>
          </a:prstGeom>
          <a:noFill/>
          <a:ln w="12700">
            <a:solidFill>
              <a:srgbClr val="E5E0D8"/>
            </a:solidFill>
            <a:prstDash val="solid"/>
          </a:ln>
        </p:spPr>
      </p:sp>
      <p:sp>
        <p:nvSpPr>
          <p:cNvPr id="7" name="Shape 5"/>
          <p:cNvSpPr/>
          <p:nvPr/>
        </p:nvSpPr>
        <p:spPr>
          <a:xfrm>
            <a:off x="731520" y="1371600"/>
            <a:ext cx="5669280" cy="3611880"/>
          </a:xfrm>
          <a:prstGeom prst="rect">
            <a:avLst>
              <a:gd name="adj" fmla="val 3038"/>
            </a:avLst>
          </a:prstGeom>
          <a:solidFill>
            <a:srgbClr val="FFFFFF"/>
          </a:solidFill>
          <a:ln w="19050">
            <a:solidFill>
              <a:srgbClr val="E5E0D8"/>
            </a:solidFill>
            <a:prstDash val="solid"/>
          </a:ln>
        </p:spPr>
      </p:sp>
      <p:sp>
        <p:nvSpPr>
          <p:cNvPr id="8" name="Text 6"/>
          <p:cNvSpPr/>
          <p:nvPr/>
        </p:nvSpPr>
        <p:spPr>
          <a:xfrm>
            <a:off x="914400" y="1508760"/>
            <a:ext cx="5303520" cy="256032"/>
          </a:xfrm>
          <a:prstGeom prst="rect">
            <a:avLst/>
          </a:prstGeom>
          <a:noFill/>
          <a:ln/>
        </p:spPr>
        <p:txBody>
          <a:bodyPr wrap="square" rtlCol="0" anchor="ctr"/>
          <a:lstStyle/>
          <a:p>
            <a:pPr indent="0" marL="0">
              <a:buNone/>
            </a:pPr>
            <a:r>
              <a:rPr lang="en-US" sz="950" b="1" dirty="0">
                <a:solidFill>
                  <a:srgbClr val="1B4332"/>
                </a:solidFill>
                <a:latin typeface="Montserrat" pitchFamily="34" charset="0"/>
                <a:ea typeface="Montserrat" pitchFamily="34" charset="-122"/>
                <a:cs typeface="Montserrat" pitchFamily="34" charset="-120"/>
              </a:rPr>
              <a:t>90-DAY SIMULATION: GROSS PROFIT &amp; WASTE BY SAFETY MULTIPLIER z</a:t>
            </a:r>
            <a:endParaRPr lang="en-US" sz="950" dirty="0"/>
          </a:p>
        </p:txBody>
      </p:sp>
      <p:graphicFrame>
        <p:nvGraphicFramePr>
          <p:cNvPr id="9" name="Chart 0" descr=""/>
          <p:cNvGraphicFramePr/>
          <p:nvPr/>
        </p:nvGraphicFramePr>
        <p:xfrm>
          <a:off x="914400" y="1874520"/>
          <a:ext cx="5303520" cy="2286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914400" y="4251960"/>
            <a:ext cx="5303520" cy="594360"/>
          </a:xfrm>
          <a:prstGeom prst="rect">
            <a:avLst>
              <a:gd name="adj" fmla="val 9231"/>
            </a:avLst>
          </a:prstGeom>
          <a:solidFill>
            <a:srgbClr val="FCF9F4"/>
          </a:solidFill>
          <a:ln w="12700">
            <a:solidFill>
              <a:srgbClr val="E5E0D8"/>
            </a:solidFill>
            <a:prstDash val="solid"/>
          </a:ln>
        </p:spPr>
      </p:sp>
      <p:sp>
        <p:nvSpPr>
          <p:cNvPr id="11" name="Text 8"/>
          <p:cNvSpPr/>
          <p:nvPr/>
        </p:nvSpPr>
        <p:spPr>
          <a:xfrm>
            <a:off x="960120" y="4279392"/>
            <a:ext cx="5212080" cy="530352"/>
          </a:xfrm>
          <a:prstGeom prst="rect">
            <a:avLst/>
          </a:prstGeom>
          <a:noFill/>
          <a:ln/>
        </p:spPr>
        <p:txBody>
          <a:bodyPr wrap="square" rtlCol="0" anchor="ctr"/>
          <a:lstStyle/>
          <a:p>
            <a:pPr indent="0" marL="0">
              <a:buNone/>
            </a:pPr>
            <a:r>
              <a:rPr lang="en-US" sz="800" b="1" dirty="0">
                <a:solidFill>
                  <a:srgbClr val="1B4332"/>
                </a:solidFill>
                <a:latin typeface="Montserrat" pitchFamily="34" charset="0"/>
                <a:ea typeface="Montserrat" pitchFamily="34" charset="-122"/>
                <a:cs typeface="Montserrat" pitchFamily="34" charset="-120"/>
              </a:rPr>
              <a:t>POLICY SENSITIVITY INVARIANT:</a:t>
            </a:r>
            <a:endParaRPr lang="en-US" sz="800" dirty="0"/>
          </a:p>
          <a:p>
            <a:pPr indent="0" marL="0">
              <a:buNone/>
            </a:pPr>
            <a:r>
              <a:rPr lang="en-US" sz="800" b="1" dirty="0">
                <a:solidFill>
                  <a:srgbClr val="1B4332"/>
                </a:solidFill>
                <a:latin typeface="Montserrat" pitchFamily="34" charset="0"/>
                <a:ea typeface="Montserrat" pitchFamily="34" charset="-122"/>
                <a:cs typeface="Montserrat" pitchFamily="34" charset="-120"/>
              </a:rPr>
              <a:t>Waste % is strictly a policy decision driven by buffer z: 9.0% at z=0.0 -&gt; 37.6% at z=1.65.</a:t>
            </a:r>
            <a:endParaRPr lang="en-US" sz="800" dirty="0"/>
          </a:p>
          <a:p>
            <a:pPr indent="0" marL="0">
              <a:buNone/>
            </a:pPr>
            <a:r>
              <a:rPr lang="en-US" sz="800" b="1" dirty="0">
                <a:solidFill>
                  <a:srgbClr val="1B4332"/>
                </a:solidFill>
                <a:latin typeface="Montserrat" pitchFamily="34" charset="0"/>
                <a:ea typeface="Montserrat" pitchFamily="34" charset="-122"/>
                <a:cs typeface="Montserrat" pitchFamily="34" charset="-120"/>
              </a:rPr>
              <a:t>Over-buffering perishable stock destroys operating profit (€40,717 down to €32,605).</a:t>
            </a:r>
            <a:endParaRPr lang="en-US" sz="800" dirty="0"/>
          </a:p>
        </p:txBody>
      </p:sp>
      <p:sp>
        <p:nvSpPr>
          <p:cNvPr id="12" name="Shape 9"/>
          <p:cNvSpPr/>
          <p:nvPr/>
        </p:nvSpPr>
        <p:spPr>
          <a:xfrm>
            <a:off x="6675120" y="1371600"/>
            <a:ext cx="4754880" cy="3611880"/>
          </a:xfrm>
          <a:prstGeom prst="rect">
            <a:avLst>
              <a:gd name="adj" fmla="val 3038"/>
            </a:avLst>
          </a:prstGeom>
          <a:solidFill>
            <a:srgbClr val="FFFFFF"/>
          </a:solidFill>
          <a:ln w="19050">
            <a:solidFill>
              <a:srgbClr val="E5E0D8"/>
            </a:solidFill>
            <a:prstDash val="solid"/>
          </a:ln>
        </p:spPr>
      </p:sp>
      <p:sp>
        <p:nvSpPr>
          <p:cNvPr id="13" name="Text 10"/>
          <p:cNvSpPr/>
          <p:nvPr/>
        </p:nvSpPr>
        <p:spPr>
          <a:xfrm>
            <a:off x="6858000" y="1508760"/>
            <a:ext cx="4389120" cy="256032"/>
          </a:xfrm>
          <a:prstGeom prst="rect">
            <a:avLst/>
          </a:prstGeom>
          <a:noFill/>
          <a:ln/>
        </p:spPr>
        <p:txBody>
          <a:bodyPr wrap="square" rtlCol="0" anchor="ctr"/>
          <a:lstStyle/>
          <a:p>
            <a:pPr indent="0" marL="0">
              <a:buNone/>
            </a:pPr>
            <a:r>
              <a:rPr lang="en-US" sz="950" b="1" dirty="0">
                <a:solidFill>
                  <a:srgbClr val="1B4332"/>
                </a:solidFill>
                <a:latin typeface="Montserrat" pitchFamily="34" charset="0"/>
                <a:ea typeface="Montserrat" pitchFamily="34" charset="-122"/>
                <a:cs typeface="Montserrat" pitchFamily="34" charset="-120"/>
              </a:rPr>
              <a:t>MODEL BENCHMARK ON IDENTICAL POLICY (z = 1.65)</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858000" y="1874520"/>
          <a:ext cx="4389120" cy="1371600"/>
        </p:xfrm>
        <a:graphic>
          <a:graphicData uri="http://schemas.openxmlformats.org/drawingml/2006/table">
            <a:tbl>
              <a:tblPr/>
              <a:tblGrid>
                <a:gridCol w="2011680"/>
                <a:gridCol w="1188720"/>
                <a:gridCol w="1188720"/>
              </a:tblGrid>
              <a:tr h="292608">
                <a:tc>
                  <a:txBody>
                    <a:bodyPr/>
                    <a:lstStyle/>
                    <a:p>
                      <a:pPr indent="0" marL="0">
                        <a:buNone/>
                      </a:pPr>
                      <a:r>
                        <a:rPr lang="en-US" sz="800" b="1" dirty="0">
                          <a:solidFill>
                            <a:srgbClr val="1B4332"/>
                          </a:solidFill>
                          <a:latin typeface="Montserrat" pitchFamily="34" charset="0"/>
                          <a:ea typeface="Montserrat" pitchFamily="34" charset="-122"/>
                          <a:cs typeface="Montserrat" pitchFamily="34" charset="-120"/>
                        </a:rPr>
                        <a:t>Forecasting Strategy</a:t>
                      </a:r>
                      <a:endParaRPr lang="en-US" sz="8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algn="ctr" indent="0" marL="0">
                        <a:buNone/>
                      </a:pPr>
                      <a:r>
                        <a:rPr lang="en-US" sz="800" b="1" dirty="0">
                          <a:solidFill>
                            <a:srgbClr val="1B4332"/>
                          </a:solidFill>
                          <a:latin typeface="Montserrat" pitchFamily="34" charset="0"/>
                          <a:ea typeface="Montserrat" pitchFamily="34" charset="-122"/>
                          <a:cs typeface="Montserrat" pitchFamily="34" charset="-120"/>
                        </a:rPr>
                        <a:t>Waste Units</a:t>
                      </a:r>
                      <a:endParaRPr lang="en-US" sz="8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algn="ctr" indent="0" marL="0">
                        <a:buNone/>
                      </a:pPr>
                      <a:r>
                        <a:rPr lang="en-US" sz="800" b="1" dirty="0">
                          <a:solidFill>
                            <a:srgbClr val="1B4332"/>
                          </a:solidFill>
                          <a:latin typeface="Montserrat" pitchFamily="34" charset="0"/>
                          <a:ea typeface="Montserrat" pitchFamily="34" charset="-122"/>
                          <a:cs typeface="Montserrat" pitchFamily="34" charset="-120"/>
                        </a:rPr>
                        <a:t>Stockout Days</a:t>
                      </a:r>
                      <a:endParaRPr lang="en-US" sz="8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r>
              <a:tr h="320040">
                <a:tc>
                  <a:txBody>
                    <a:bodyPr/>
                    <a:lstStyle/>
                    <a:p>
                      <a:pPr indent="0" marL="0">
                        <a:buNone/>
                      </a:pPr>
                      <a:r>
                        <a:rPr lang="en-US" sz="800" dirty="0">
                          <a:solidFill>
                            <a:srgbClr val="1C1C19"/>
                          </a:solidFill>
                          <a:latin typeface="Inter" pitchFamily="34" charset="0"/>
                          <a:ea typeface="Inter" pitchFamily="34" charset="-122"/>
                          <a:cs typeface="Inter" pitchFamily="34" charset="-120"/>
                        </a:rPr>
                        <a:t>Seasonal Naive</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65,026</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275 days</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320040">
                <a:tc>
                  <a:txBody>
                    <a:bodyPr/>
                    <a:lstStyle/>
                    <a:p>
                      <a:pPr indent="0" marL="0">
                        <a:buNone/>
                      </a:pPr>
                      <a:r>
                        <a:rPr lang="en-US" sz="800" dirty="0">
                          <a:solidFill>
                            <a:srgbClr val="1C1C19"/>
                          </a:solidFill>
                          <a:latin typeface="Inter" pitchFamily="34" charset="0"/>
                          <a:ea typeface="Inter" pitchFamily="34" charset="-122"/>
                          <a:cs typeface="Inter" pitchFamily="34" charset="-120"/>
                        </a:rPr>
                        <a:t>7-Day Moving Average</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63,759</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179 days</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347472">
                <a:tc>
                  <a:txBody>
                    <a:bodyPr/>
                    <a:lstStyle/>
                    <a:p>
                      <a:pPr indent="0" marL="0">
                        <a:buNone/>
                      </a:pPr>
                      <a:r>
                        <a:rPr lang="en-US" sz="800" dirty="0">
                          <a:solidFill>
                            <a:srgbClr val="1C1C19"/>
                          </a:solidFill>
                          <a:latin typeface="Inter" pitchFamily="34" charset="0"/>
                          <a:ea typeface="Inter" pitchFamily="34" charset="-122"/>
                          <a:cs typeface="Inter" pitchFamily="34" charset="-120"/>
                        </a:rPr>
                        <a:t>RestockIQ Engine</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60,483 (-4,543)</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137 days (-138)</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bl>
          </a:graphicData>
        </a:graphic>
      </p:graphicFrame>
      <p:sp>
        <p:nvSpPr>
          <p:cNvPr id="15" name="Shape 11"/>
          <p:cNvSpPr/>
          <p:nvPr/>
        </p:nvSpPr>
        <p:spPr>
          <a:xfrm>
            <a:off x="6858000" y="3429000"/>
            <a:ext cx="4389120" cy="1417320"/>
          </a:xfrm>
          <a:prstGeom prst="rect">
            <a:avLst>
              <a:gd name="adj" fmla="val 5161"/>
            </a:avLst>
          </a:prstGeom>
          <a:solidFill>
            <a:srgbClr val="EAE5DC"/>
          </a:solidFill>
          <a:ln w="12700">
            <a:solidFill>
              <a:srgbClr val="E5E0D8"/>
            </a:solidFill>
            <a:prstDash val="solid"/>
          </a:ln>
        </p:spPr>
      </p:sp>
      <p:sp>
        <p:nvSpPr>
          <p:cNvPr id="16" name="Text 12"/>
          <p:cNvSpPr/>
          <p:nvPr/>
        </p:nvSpPr>
        <p:spPr>
          <a:xfrm>
            <a:off x="6949440" y="3493008"/>
            <a:ext cx="4206240" cy="201168"/>
          </a:xfrm>
          <a:prstGeom prst="rect">
            <a:avLst/>
          </a:prstGeom>
          <a:noFill/>
          <a:ln/>
        </p:spPr>
        <p:txBody>
          <a:bodyPr wrap="square" rtlCol="0" anchor="ctr"/>
          <a:lstStyle/>
          <a:p>
            <a:pPr indent="0" marL="0">
              <a:buNone/>
            </a:pPr>
            <a:r>
              <a:rPr lang="en-US" sz="850" b="1" dirty="0">
                <a:solidFill>
                  <a:srgbClr val="1B4332"/>
                </a:solidFill>
                <a:latin typeface="Montserrat" pitchFamily="34" charset="0"/>
                <a:ea typeface="Montserrat" pitchFamily="34" charset="-122"/>
                <a:cs typeface="Montserrat" pitchFamily="34" charset="-120"/>
              </a:rPr>
              <a:t>MODEL ASSUMPTIONS &amp; FINANCIAL PARAMETERS:</a:t>
            </a:r>
            <a:endParaRPr lang="en-US" sz="850" dirty="0"/>
          </a:p>
        </p:txBody>
      </p:sp>
      <p:sp>
        <p:nvSpPr>
          <p:cNvPr id="17" name="Text 13"/>
          <p:cNvSpPr/>
          <p:nvPr/>
        </p:nvSpPr>
        <p:spPr>
          <a:xfrm>
            <a:off x="6949440" y="3730752"/>
            <a:ext cx="4206240" cy="1051560"/>
          </a:xfrm>
          <a:prstGeom prst="rect">
            <a:avLst/>
          </a:prstGeom>
          <a:noFill/>
          <a:ln/>
        </p:spPr>
        <p:txBody>
          <a:bodyPr wrap="square" rtlCol="0" anchor="ctr"/>
          <a:lstStyle/>
          <a:p>
            <a:pPr indent="0" marL="0">
              <a:buNone/>
            </a:pPr>
            <a:r>
              <a:rPr lang="en-US" sz="800" dirty="0">
                <a:solidFill>
                  <a:srgbClr val="1C1C19"/>
                </a:solidFill>
                <a:latin typeface="Inter" pitchFamily="34" charset="0"/>
                <a:ea typeface="Inter" pitchFamily="34" charset="-122"/>
                <a:cs typeface="Inter" pitchFamily="34" charset="-120"/>
              </a:rPr>
              <a:t>• Catalog Demand: 84,500 units over 90 days across French bakery sales.</a:t>
            </a:r>
            <a:endParaRPr lang="en-US" sz="800" dirty="0"/>
          </a:p>
          <a:p>
            <a:pPr indent="0" marL="0">
              <a:buNone/>
            </a:pPr>
            <a:r>
              <a:rPr lang="en-US" sz="800" dirty="0">
                <a:solidFill>
                  <a:srgbClr val="1C1C19"/>
                </a:solidFill>
                <a:latin typeface="Inter" pitchFamily="34" charset="0"/>
                <a:ea typeface="Inter" pitchFamily="34" charset="-122"/>
                <a:cs typeface="Inter" pitchFamily="34" charset="-120"/>
              </a:rPr>
              <a:t>• Unit Price = €1.15 | Cost of Goods Sold (COGS) = €0.40 | Gross Margin = €0.75.</a:t>
            </a:r>
            <a:endParaRPr lang="en-US" sz="800" dirty="0"/>
          </a:p>
          <a:p>
            <a:pPr indent="0" marL="0">
              <a:buNone/>
            </a:pPr>
            <a:r>
              <a:rPr lang="en-US" sz="800" dirty="0">
                <a:solidFill>
                  <a:srgbClr val="1C1C19"/>
                </a:solidFill>
                <a:latin typeface="Inter" pitchFamily="34" charset="0"/>
                <a:ea typeface="Inter" pitchFamily="34" charset="-122"/>
                <a:cs typeface="Inter" pitchFamily="34" charset="-120"/>
              </a:rPr>
              <a:t>• Lead Time = 1 Day | Shelf Life = 1 Day (Strict Perishable: Unsold stock resets to 0 at closing).</a:t>
            </a:r>
            <a:endParaRPr lang="en-US" sz="800" dirty="0"/>
          </a:p>
          <a:p>
            <a:pPr indent="0" marL="0">
              <a:buNone/>
            </a:pPr>
            <a:r>
              <a:rPr lang="en-US" sz="800" dirty="0">
                <a:solidFill>
                  <a:srgbClr val="1C1C19"/>
                </a:solidFill>
                <a:latin typeface="Inter" pitchFamily="34" charset="0"/>
                <a:ea typeface="Inter" pitchFamily="34" charset="-122"/>
                <a:cs typeface="Inter" pitchFamily="34" charset="-120"/>
              </a:rPr>
              <a:t>• Efficiency Frontier: RestockIQ prevents 4,543 wasted food units while simultaneously eliminating 138 stockout days compared to Seasonal Naive.</a:t>
            </a:r>
            <a:endParaRPr lang="en-US" sz="800" dirty="0"/>
          </a:p>
        </p:txBody>
      </p:sp>
      <p:sp>
        <p:nvSpPr>
          <p:cNvPr id="18" name="Text 14"/>
          <p:cNvSpPr/>
          <p:nvPr/>
        </p:nvSpPr>
        <p:spPr>
          <a:xfrm>
            <a:off x="731520" y="5166360"/>
            <a:ext cx="10698480" cy="1234440"/>
          </a:xfrm>
          <a:prstGeom prst="rect">
            <a:avLst/>
          </a:prstGeom>
          <a:noFill/>
          <a:ln/>
        </p:spPr>
        <p:txBody>
          <a:bodyPr wrap="square" rtlCol="0" anchor="t"/>
          <a:lstStyle/>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Policy-Driven Waste Dynamics: Simulation confirms waste percentage scales strictly with safety buffer z, ranging from 9.0% at z=0.0 to 37.6% at z=1.65.</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Frontier Optimization: RestockIQ eliminates 138 stockout days and prevents 4,543 wasted units compared to seasonal naive heuristics under identical safety policies.</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Profit Maximization Trade-off: Peak gross profit (€40,717) occurs at low buffer levels (z=0.0), demonstrating that over-buffering perishable goods directly destroys operating margin.</a:t>
            </a:r>
            <a:endParaRPr lang="en-US" sz="1150" dirty="0"/>
          </a:p>
        </p:txBody>
      </p:sp>
      <p:sp>
        <p:nvSpPr>
          <p:cNvPr id="19" name="Text 15"/>
          <p:cNvSpPr/>
          <p:nvPr/>
        </p:nvSpPr>
        <p:spPr>
          <a:xfrm>
            <a:off x="731520" y="6419088"/>
            <a:ext cx="10698480" cy="228600"/>
          </a:xfrm>
          <a:prstGeom prst="rect">
            <a:avLst/>
          </a:prstGeom>
          <a:noFill/>
          <a:ln/>
        </p:spPr>
        <p:txBody>
          <a:bodyPr wrap="square" rtlCol="0" anchor="b"/>
          <a:lstStyle/>
          <a:p>
            <a:pPr indent="0" marL="0">
              <a:buNone/>
            </a:pPr>
            <a:r>
              <a:rPr lang="en-US" sz="850" i="1" dirty="0">
                <a:solidFill>
                  <a:srgbClr val="5A5A54"/>
                </a:solidFill>
                <a:latin typeface="Inter" pitchFamily="34" charset="0"/>
                <a:ea typeface="Inter" pitchFamily="34" charset="-122"/>
                <a:cs typeface="Inter" pitchFamily="34" charset="-120"/>
              </a:rPr>
              <a:t>Evidence Source: 90-day simulation results in docs/simulation_report.md; Executed via scripts/run_waste_simulation.py.</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9F4"/>
        </a:solidFill>
      </p:bgPr>
    </p:bg>
    <p:spTree>
      <p:nvGrpSpPr>
        <p:cNvPr id="1" name=""/>
        <p:cNvGrpSpPr/>
        <p:nvPr/>
      </p:nvGrpSpPr>
      <p:grpSpPr>
        <a:xfrm>
          <a:off x="0" y="0"/>
          <a:ext cx="0" cy="0"/>
          <a:chOff x="0" y="0"/>
          <a:chExt cx="0" cy="0"/>
        </a:xfrm>
      </p:grpSpPr>
      <p:sp>
        <p:nvSpPr>
          <p:cNvPr id="2" name="Shape 0"/>
          <p:cNvSpPr/>
          <p:nvPr/>
        </p:nvSpPr>
        <p:spPr>
          <a:xfrm>
            <a:off x="731520" y="320040"/>
            <a:ext cx="2194560" cy="274320"/>
          </a:xfrm>
          <a:prstGeom prst="rect">
            <a:avLst>
              <a:gd name="adj" fmla="val 20000"/>
            </a:avLst>
          </a:prstGeom>
          <a:solidFill>
            <a:srgbClr val="EAE5DC"/>
          </a:solidFill>
          <a:ln w="12700">
            <a:solidFill>
              <a:srgbClr val="E5E0D8"/>
            </a:solidFill>
            <a:prstDash val="solid"/>
          </a:ln>
        </p:spPr>
      </p:sp>
      <p:sp>
        <p:nvSpPr>
          <p:cNvPr id="3" name="Text 1"/>
          <p:cNvSpPr/>
          <p:nvPr/>
        </p:nvSpPr>
        <p:spPr>
          <a:xfrm>
            <a:off x="731520" y="320040"/>
            <a:ext cx="2194560" cy="274320"/>
          </a:xfrm>
          <a:prstGeom prst="rect">
            <a:avLst/>
          </a:prstGeom>
          <a:noFill/>
          <a:ln/>
        </p:spPr>
        <p:txBody>
          <a:bodyPr wrap="square" rtlCol="0" anchor="ctr"/>
          <a:lstStyle/>
          <a:p>
            <a:pPr algn="ctr" indent="0" marL="0">
              <a:buNone/>
            </a:pPr>
            <a:r>
              <a:rPr lang="en-US" sz="850" b="1" dirty="0">
                <a:solidFill>
                  <a:srgbClr val="1B4332"/>
                </a:solidFill>
                <a:latin typeface="Montserrat" pitchFamily="34" charset="0"/>
                <a:ea typeface="Montserrat" pitchFamily="34" charset="-122"/>
                <a:cs typeface="Montserrat" pitchFamily="34" charset="-120"/>
              </a:rPr>
              <a:t>UNIT 4: SYSTEM &amp; SECURITY</a:t>
            </a:r>
            <a:endParaRPr lang="en-US" sz="850" dirty="0"/>
          </a:p>
        </p:txBody>
      </p:sp>
      <p:sp>
        <p:nvSpPr>
          <p:cNvPr id="4" name="Text 2"/>
          <p:cNvSpPr/>
          <p:nvPr/>
        </p:nvSpPr>
        <p:spPr>
          <a:xfrm>
            <a:off x="10058400" y="320040"/>
            <a:ext cx="1371600" cy="274320"/>
          </a:xfrm>
          <a:prstGeom prst="rect">
            <a:avLst/>
          </a:prstGeom>
          <a:noFill/>
          <a:ln/>
        </p:spPr>
        <p:txBody>
          <a:bodyPr wrap="square" rtlCol="0" anchor="ctr"/>
          <a:lstStyle/>
          <a:p>
            <a:pPr algn="r" indent="0" marL="0">
              <a:buNone/>
            </a:pPr>
            <a:r>
              <a:rPr lang="en-US" sz="900" b="1" dirty="0">
                <a:solidFill>
                  <a:srgbClr val="5A5A54"/>
                </a:solidFill>
                <a:latin typeface="Montserrat" pitchFamily="34" charset="0"/>
                <a:ea typeface="Montserrat" pitchFamily="34" charset="-122"/>
                <a:cs typeface="Montserrat" pitchFamily="34" charset="-120"/>
              </a:rPr>
              <a:t>SLIDE 13 / 15</a:t>
            </a:r>
            <a:endParaRPr lang="en-US" sz="900" dirty="0"/>
          </a:p>
        </p:txBody>
      </p:sp>
      <p:sp>
        <p:nvSpPr>
          <p:cNvPr id="5" name="Text 3"/>
          <p:cNvSpPr/>
          <p:nvPr/>
        </p:nvSpPr>
        <p:spPr>
          <a:xfrm>
            <a:off x="731520" y="658368"/>
            <a:ext cx="10698480" cy="475488"/>
          </a:xfrm>
          <a:prstGeom prst="rect">
            <a:avLst/>
          </a:prstGeom>
          <a:noFill/>
          <a:ln/>
        </p:spPr>
        <p:txBody>
          <a:bodyPr wrap="square" rtlCol="0" anchor="ctr"/>
          <a:lstStyle/>
          <a:p>
            <a:pPr indent="0" marL="0">
              <a:buNone/>
            </a:pPr>
            <a:r>
              <a:rPr lang="en-US" sz="2000" b="1" dirty="0">
                <a:solidFill>
                  <a:srgbClr val="1B4332"/>
                </a:solidFill>
                <a:latin typeface="Montserrat" pitchFamily="34" charset="0"/>
                <a:ea typeface="Montserrat" pitchFamily="34" charset="-122"/>
                <a:cs typeface="Montserrat" pitchFamily="34" charset="-120"/>
              </a:rPr>
              <a:t>Regression &amp; CI: GitHub Actions Pipeline &amp; Keep-Alive</a:t>
            </a:r>
            <a:endParaRPr lang="en-US" sz="2000" dirty="0"/>
          </a:p>
        </p:txBody>
      </p:sp>
      <p:sp>
        <p:nvSpPr>
          <p:cNvPr id="6" name="Shape 4"/>
          <p:cNvSpPr/>
          <p:nvPr/>
        </p:nvSpPr>
        <p:spPr>
          <a:xfrm>
            <a:off x="731520" y="1170432"/>
            <a:ext cx="10698480" cy="0"/>
          </a:xfrm>
          <a:prstGeom prst="line">
            <a:avLst/>
          </a:prstGeom>
          <a:noFill/>
          <a:ln w="12700">
            <a:solidFill>
              <a:srgbClr val="E5E0D8"/>
            </a:solidFill>
            <a:prstDash val="solid"/>
          </a:ln>
        </p:spPr>
      </p:sp>
      <p:sp>
        <p:nvSpPr>
          <p:cNvPr id="7" name="Shape 5"/>
          <p:cNvSpPr/>
          <p:nvPr/>
        </p:nvSpPr>
        <p:spPr>
          <a:xfrm>
            <a:off x="731520" y="1371600"/>
            <a:ext cx="2468880" cy="3611880"/>
          </a:xfrm>
          <a:prstGeom prst="rect">
            <a:avLst>
              <a:gd name="adj" fmla="val 4444"/>
            </a:avLst>
          </a:prstGeom>
          <a:solidFill>
            <a:srgbClr val="FFFFFF"/>
          </a:solidFill>
          <a:ln w="19050">
            <a:solidFill>
              <a:srgbClr val="E5E0D8"/>
            </a:solidFill>
            <a:prstDash val="solid"/>
          </a:ln>
        </p:spPr>
      </p:sp>
      <p:sp>
        <p:nvSpPr>
          <p:cNvPr id="8" name="Shape 6"/>
          <p:cNvSpPr/>
          <p:nvPr/>
        </p:nvSpPr>
        <p:spPr>
          <a:xfrm>
            <a:off x="731520" y="1371600"/>
            <a:ext cx="2468880" cy="411480"/>
          </a:xfrm>
          <a:prstGeom prst="rect">
            <a:avLst/>
          </a:prstGeom>
          <a:solidFill>
            <a:srgbClr val="EAE5DC"/>
          </a:solidFill>
          <a:ln w="12700">
            <a:solidFill>
              <a:srgbClr val="E5E0D8"/>
            </a:solidFill>
            <a:prstDash val="solid"/>
          </a:ln>
        </p:spPr>
      </p:sp>
      <p:sp>
        <p:nvSpPr>
          <p:cNvPr id="9" name="Text 7"/>
          <p:cNvSpPr/>
          <p:nvPr/>
        </p:nvSpPr>
        <p:spPr>
          <a:xfrm>
            <a:off x="822960" y="1371600"/>
            <a:ext cx="2286000" cy="411480"/>
          </a:xfrm>
          <a:prstGeom prst="rect">
            <a:avLst/>
          </a:prstGeom>
          <a:noFill/>
          <a:ln/>
        </p:spPr>
        <p:txBody>
          <a:bodyPr wrap="square" rtlCol="0" anchor="ctr"/>
          <a:lstStyle/>
          <a:p>
            <a:pPr algn="ctr" indent="0" marL="0">
              <a:buNone/>
            </a:pPr>
            <a:r>
              <a:rPr lang="en-US" sz="850" b="1" dirty="0">
                <a:solidFill>
                  <a:srgbClr val="1B4332"/>
                </a:solidFill>
                <a:latin typeface="Montserrat" pitchFamily="34" charset="0"/>
                <a:ea typeface="Montserrat" pitchFamily="34" charset="-122"/>
                <a:cs typeface="Montserrat" pitchFamily="34" charset="-120"/>
              </a:rPr>
              <a:t>WORKFLOW 1: CI (ci.yml)</a:t>
            </a:r>
            <a:endParaRPr lang="en-US" sz="850" dirty="0"/>
          </a:p>
        </p:txBody>
      </p:sp>
      <p:sp>
        <p:nvSpPr>
          <p:cNvPr id="10" name="Text 8"/>
          <p:cNvSpPr/>
          <p:nvPr/>
        </p:nvSpPr>
        <p:spPr>
          <a:xfrm>
            <a:off x="868680" y="1874520"/>
            <a:ext cx="2194560" cy="411480"/>
          </a:xfrm>
          <a:prstGeom prst="rect">
            <a:avLst/>
          </a:prstGeom>
          <a:noFill/>
          <a:ln/>
        </p:spPr>
        <p:txBody>
          <a:bodyPr wrap="square" rtlCol="0" anchor="ctr"/>
          <a:lstStyle/>
          <a:p>
            <a:pPr indent="0" marL="0">
              <a:buNone/>
            </a:pPr>
            <a:r>
              <a:rPr lang="en-US" sz="800" i="1" dirty="0">
                <a:solidFill>
                  <a:srgbClr val="5A5A54"/>
                </a:solidFill>
                <a:latin typeface="Inter" pitchFamily="34" charset="0"/>
                <a:ea typeface="Inter" pitchFamily="34" charset="-122"/>
                <a:cs typeface="Inter" pitchFamily="34" charset="-120"/>
              </a:rPr>
              <a:t>Trigger: Push &amp; Pull Request on main</a:t>
            </a:r>
            <a:endParaRPr lang="en-US" sz="800" dirty="0"/>
          </a:p>
        </p:txBody>
      </p:sp>
      <p:sp>
        <p:nvSpPr>
          <p:cNvPr id="11" name="Shape 9"/>
          <p:cNvSpPr/>
          <p:nvPr/>
        </p:nvSpPr>
        <p:spPr>
          <a:xfrm>
            <a:off x="914400" y="2331720"/>
            <a:ext cx="2103120" cy="0"/>
          </a:xfrm>
          <a:prstGeom prst="line">
            <a:avLst/>
          </a:prstGeom>
          <a:noFill/>
          <a:ln w="12700">
            <a:solidFill>
              <a:srgbClr val="E5E0D8"/>
            </a:solidFill>
            <a:prstDash val="solid"/>
          </a:ln>
        </p:spPr>
      </p:sp>
      <p:sp>
        <p:nvSpPr>
          <p:cNvPr id="12" name="Text 10"/>
          <p:cNvSpPr/>
          <p:nvPr/>
        </p:nvSpPr>
        <p:spPr>
          <a:xfrm>
            <a:off x="868680" y="2423160"/>
            <a:ext cx="2194560" cy="2011680"/>
          </a:xfrm>
          <a:prstGeom prst="rect">
            <a:avLst/>
          </a:prstGeom>
          <a:noFill/>
          <a:ln/>
        </p:spPr>
        <p:txBody>
          <a:bodyPr wrap="square" rtlCol="0" anchor="ctr"/>
          <a:lstStyle/>
          <a:p>
            <a:pPr indent="0" marL="0">
              <a:buNone/>
            </a:pPr>
            <a:r>
              <a:rPr lang="en-US" sz="800" dirty="0">
                <a:solidFill>
                  <a:srgbClr val="1C1C19"/>
                </a:solidFill>
                <a:latin typeface="Inter" pitchFamily="34" charset="0"/>
                <a:ea typeface="Inter" pitchFamily="34" charset="-122"/>
                <a:cs typeface="Inter" pitchFamily="34" charset="-120"/>
              </a:rPr>
              <a:t>• Job 1: Backend Offline Security Tests -&gt; PASSING (23s runtime)</a:t>
            </a:r>
            <a:endParaRPr lang="en-US" sz="800" dirty="0"/>
          </a:p>
          <a:p>
            <a:pPr indent="0" marL="0">
              <a:buNone/>
            </a:pPr>
            <a:r>
              <a:rPr lang="en-US" sz="800" dirty="0">
                <a:solidFill>
                  <a:srgbClr val="1C1C19"/>
                </a:solidFill>
                <a:latin typeface="Inter" pitchFamily="34" charset="0"/>
                <a:ea typeface="Inter" pitchFamily="34" charset="-122"/>
                <a:cs typeface="Inter" pitchFamily="34" charset="-120"/>
              </a:rPr>
              <a:t>• Job 2: Flutter Analyze &amp; Tests -&gt; FIXED LOCALLY (Prior failure from 6 unused imports resolved; now 0 errors)</a:t>
            </a:r>
            <a:endParaRPr lang="en-US" sz="800" dirty="0"/>
          </a:p>
        </p:txBody>
      </p:sp>
      <p:sp>
        <p:nvSpPr>
          <p:cNvPr id="13" name="Shape 11"/>
          <p:cNvSpPr/>
          <p:nvPr/>
        </p:nvSpPr>
        <p:spPr>
          <a:xfrm>
            <a:off x="868680" y="4526280"/>
            <a:ext cx="2194560" cy="320040"/>
          </a:xfrm>
          <a:prstGeom prst="rect">
            <a:avLst>
              <a:gd name="adj" fmla="val 17143"/>
            </a:avLst>
          </a:prstGeom>
          <a:solidFill>
            <a:srgbClr val="FCF9F4"/>
          </a:solidFill>
          <a:ln w="12700">
            <a:solidFill>
              <a:srgbClr val="2D6A4F"/>
            </a:solidFill>
            <a:prstDash val="solid"/>
          </a:ln>
        </p:spPr>
      </p:sp>
      <p:sp>
        <p:nvSpPr>
          <p:cNvPr id="14" name="Text 12"/>
          <p:cNvSpPr/>
          <p:nvPr/>
        </p:nvSpPr>
        <p:spPr>
          <a:xfrm>
            <a:off x="868680" y="4526280"/>
            <a:ext cx="2194560" cy="320040"/>
          </a:xfrm>
          <a:prstGeom prst="rect">
            <a:avLst/>
          </a:prstGeom>
          <a:noFill/>
          <a:ln/>
        </p:spPr>
        <p:txBody>
          <a:bodyPr wrap="square" rtlCol="0" anchor="ctr"/>
          <a:lstStyle/>
          <a:p>
            <a:pPr algn="ctr" indent="0" marL="0">
              <a:buNone/>
            </a:pPr>
            <a:r>
              <a:rPr lang="en-US" sz="850" b="1" dirty="0">
                <a:solidFill>
                  <a:srgbClr val="2D6A4F"/>
                </a:solidFill>
                <a:latin typeface="Montserrat" pitchFamily="34" charset="0"/>
                <a:ea typeface="Montserrat" pitchFamily="34" charset="-122"/>
                <a:cs typeface="Montserrat" pitchFamily="34" charset="-120"/>
              </a:rPr>
              <a:t>PASSING (POST-FIX)</a:t>
            </a:r>
            <a:endParaRPr lang="en-US" sz="850" dirty="0"/>
          </a:p>
        </p:txBody>
      </p:sp>
      <p:sp>
        <p:nvSpPr>
          <p:cNvPr id="15" name="Shape 13"/>
          <p:cNvSpPr/>
          <p:nvPr/>
        </p:nvSpPr>
        <p:spPr>
          <a:xfrm>
            <a:off x="3474720" y="1371600"/>
            <a:ext cx="2468880" cy="3611880"/>
          </a:xfrm>
          <a:prstGeom prst="rect">
            <a:avLst>
              <a:gd name="adj" fmla="val 4444"/>
            </a:avLst>
          </a:prstGeom>
          <a:solidFill>
            <a:srgbClr val="FFFFFF"/>
          </a:solidFill>
          <a:ln w="19050">
            <a:solidFill>
              <a:srgbClr val="E5E0D8"/>
            </a:solidFill>
            <a:prstDash val="solid"/>
          </a:ln>
        </p:spPr>
      </p:sp>
      <p:sp>
        <p:nvSpPr>
          <p:cNvPr id="16" name="Shape 14"/>
          <p:cNvSpPr/>
          <p:nvPr/>
        </p:nvSpPr>
        <p:spPr>
          <a:xfrm>
            <a:off x="3474720" y="1371600"/>
            <a:ext cx="2468880" cy="411480"/>
          </a:xfrm>
          <a:prstGeom prst="rect">
            <a:avLst/>
          </a:prstGeom>
          <a:solidFill>
            <a:srgbClr val="EAE5DC"/>
          </a:solidFill>
          <a:ln w="12700">
            <a:solidFill>
              <a:srgbClr val="E5E0D8"/>
            </a:solidFill>
            <a:prstDash val="solid"/>
          </a:ln>
        </p:spPr>
      </p:sp>
      <p:sp>
        <p:nvSpPr>
          <p:cNvPr id="17" name="Text 15"/>
          <p:cNvSpPr/>
          <p:nvPr/>
        </p:nvSpPr>
        <p:spPr>
          <a:xfrm>
            <a:off x="3566160" y="1371600"/>
            <a:ext cx="2286000" cy="411480"/>
          </a:xfrm>
          <a:prstGeom prst="rect">
            <a:avLst/>
          </a:prstGeom>
          <a:noFill/>
          <a:ln/>
        </p:spPr>
        <p:txBody>
          <a:bodyPr wrap="square" rtlCol="0" anchor="ctr"/>
          <a:lstStyle/>
          <a:p>
            <a:pPr algn="ctr" indent="0" marL="0">
              <a:buNone/>
            </a:pPr>
            <a:r>
              <a:rPr lang="en-US" sz="850" b="1" dirty="0">
                <a:solidFill>
                  <a:srgbClr val="1B4332"/>
                </a:solidFill>
                <a:latin typeface="Montserrat" pitchFamily="34" charset="0"/>
                <a:ea typeface="Montserrat" pitchFamily="34" charset="-122"/>
                <a:cs typeface="Montserrat" pitchFamily="34" charset="-120"/>
              </a:rPr>
              <a:t>WORKFLOW 2: KEEPALIVE (keepalive.yml)</a:t>
            </a:r>
            <a:endParaRPr lang="en-US" sz="850" dirty="0"/>
          </a:p>
        </p:txBody>
      </p:sp>
      <p:sp>
        <p:nvSpPr>
          <p:cNvPr id="18" name="Text 16"/>
          <p:cNvSpPr/>
          <p:nvPr/>
        </p:nvSpPr>
        <p:spPr>
          <a:xfrm>
            <a:off x="3611880" y="1874520"/>
            <a:ext cx="2194560" cy="411480"/>
          </a:xfrm>
          <a:prstGeom prst="rect">
            <a:avLst/>
          </a:prstGeom>
          <a:noFill/>
          <a:ln/>
        </p:spPr>
        <p:txBody>
          <a:bodyPr wrap="square" rtlCol="0" anchor="ctr"/>
          <a:lstStyle/>
          <a:p>
            <a:pPr indent="0" marL="0">
              <a:buNone/>
            </a:pPr>
            <a:r>
              <a:rPr lang="en-US" sz="800" i="1" dirty="0">
                <a:solidFill>
                  <a:srgbClr val="5A5A54"/>
                </a:solidFill>
                <a:latin typeface="Inter" pitchFamily="34" charset="0"/>
                <a:ea typeface="Inter" pitchFamily="34" charset="-122"/>
                <a:cs typeface="Inter" pitchFamily="34" charset="-120"/>
              </a:rPr>
              <a:t>Trigger: Scheduled cron every 10 min (*/10 * * * *)</a:t>
            </a:r>
            <a:endParaRPr lang="en-US" sz="800" dirty="0"/>
          </a:p>
        </p:txBody>
      </p:sp>
      <p:sp>
        <p:nvSpPr>
          <p:cNvPr id="19" name="Shape 17"/>
          <p:cNvSpPr/>
          <p:nvPr/>
        </p:nvSpPr>
        <p:spPr>
          <a:xfrm>
            <a:off x="3657600" y="2331720"/>
            <a:ext cx="2103120" cy="0"/>
          </a:xfrm>
          <a:prstGeom prst="line">
            <a:avLst/>
          </a:prstGeom>
          <a:noFill/>
          <a:ln w="12700">
            <a:solidFill>
              <a:srgbClr val="E5E0D8"/>
            </a:solidFill>
            <a:prstDash val="solid"/>
          </a:ln>
        </p:spPr>
      </p:sp>
      <p:sp>
        <p:nvSpPr>
          <p:cNvPr id="20" name="Text 18"/>
          <p:cNvSpPr/>
          <p:nvPr/>
        </p:nvSpPr>
        <p:spPr>
          <a:xfrm>
            <a:off x="3611880" y="2423160"/>
            <a:ext cx="2194560" cy="2011680"/>
          </a:xfrm>
          <a:prstGeom prst="rect">
            <a:avLst/>
          </a:prstGeom>
          <a:noFill/>
          <a:ln/>
        </p:spPr>
        <p:txBody>
          <a:bodyPr wrap="square" rtlCol="0" anchor="ctr"/>
          <a:lstStyle/>
          <a:p>
            <a:pPr indent="0" marL="0">
              <a:buNone/>
            </a:pPr>
            <a:r>
              <a:rPr lang="en-US" sz="800" dirty="0">
                <a:solidFill>
                  <a:srgbClr val="1C1C19"/>
                </a:solidFill>
                <a:latin typeface="Inter" pitchFamily="34" charset="0"/>
                <a:ea typeface="Inter" pitchFamily="34" charset="-122"/>
                <a:cs typeface="Inter" pitchFamily="34" charset="-120"/>
              </a:rPr>
              <a:t>• Automated curl GET to /health</a:t>
            </a:r>
            <a:endParaRPr lang="en-US" sz="800" dirty="0"/>
          </a:p>
          <a:p>
            <a:pPr indent="0" marL="0">
              <a:buNone/>
            </a:pPr>
            <a:r>
              <a:rPr lang="en-US" sz="800" dirty="0">
                <a:solidFill>
                  <a:srgbClr val="1C1C19"/>
                </a:solidFill>
                <a:latin typeface="Inter" pitchFamily="34" charset="0"/>
                <a:ea typeface="Inter" pitchFamily="34" charset="-122"/>
                <a:cs typeface="Inter" pitchFamily="34" charset="-120"/>
              </a:rPr>
              <a:t>• Prevents Render free-tier container sleep</a:t>
            </a:r>
            <a:endParaRPr lang="en-US" sz="800" dirty="0"/>
          </a:p>
          <a:p>
            <a:pPr indent="0" marL="0">
              <a:buNone/>
            </a:pPr>
            <a:r>
              <a:rPr lang="en-US" sz="800" dirty="0">
                <a:solidFill>
                  <a:srgbClr val="1C1C19"/>
                </a:solidFill>
                <a:latin typeface="Inter" pitchFamily="34" charset="0"/>
                <a:ea typeface="Inter" pitchFamily="34" charset="-122"/>
                <a:cs typeface="Inter" pitchFamily="34" charset="-120"/>
              </a:rPr>
              <a:t>• Execution Result: 100% SUCCESS</a:t>
            </a:r>
            <a:endParaRPr lang="en-US" sz="800" dirty="0"/>
          </a:p>
          <a:p>
            <a:pPr indent="0" marL="0">
              <a:buNone/>
            </a:pPr>
            <a:r>
              <a:rPr lang="en-US" sz="800" dirty="0">
                <a:solidFill>
                  <a:srgbClr val="1C1C19"/>
                </a:solidFill>
                <a:latin typeface="Inter" pitchFamily="34" charset="0"/>
                <a:ea typeface="Inter" pitchFamily="34" charset="-122"/>
                <a:cs typeface="Inter" pitchFamily="34" charset="-120"/>
              </a:rPr>
              <a:t>• Latest run verified at 15:23:45 UTC</a:t>
            </a:r>
            <a:endParaRPr lang="en-US" sz="800" dirty="0"/>
          </a:p>
        </p:txBody>
      </p:sp>
      <p:sp>
        <p:nvSpPr>
          <p:cNvPr id="21" name="Shape 19"/>
          <p:cNvSpPr/>
          <p:nvPr/>
        </p:nvSpPr>
        <p:spPr>
          <a:xfrm>
            <a:off x="3611880" y="4526280"/>
            <a:ext cx="2194560" cy="320040"/>
          </a:xfrm>
          <a:prstGeom prst="rect">
            <a:avLst>
              <a:gd name="adj" fmla="val 17143"/>
            </a:avLst>
          </a:prstGeom>
          <a:solidFill>
            <a:srgbClr val="FCF9F4"/>
          </a:solidFill>
          <a:ln w="12700">
            <a:solidFill>
              <a:srgbClr val="2D6A4F"/>
            </a:solidFill>
            <a:prstDash val="solid"/>
          </a:ln>
        </p:spPr>
      </p:sp>
      <p:sp>
        <p:nvSpPr>
          <p:cNvPr id="22" name="Text 20"/>
          <p:cNvSpPr/>
          <p:nvPr/>
        </p:nvSpPr>
        <p:spPr>
          <a:xfrm>
            <a:off x="3611880" y="4526280"/>
            <a:ext cx="2194560" cy="320040"/>
          </a:xfrm>
          <a:prstGeom prst="rect">
            <a:avLst/>
          </a:prstGeom>
          <a:noFill/>
          <a:ln/>
        </p:spPr>
        <p:txBody>
          <a:bodyPr wrap="square" rtlCol="0" anchor="ctr"/>
          <a:lstStyle/>
          <a:p>
            <a:pPr algn="ctr" indent="0" marL="0">
              <a:buNone/>
            </a:pPr>
            <a:r>
              <a:rPr lang="en-US" sz="850" b="1" dirty="0">
                <a:solidFill>
                  <a:srgbClr val="2D6A4F"/>
                </a:solidFill>
                <a:latin typeface="Montserrat" pitchFamily="34" charset="0"/>
                <a:ea typeface="Montserrat" pitchFamily="34" charset="-122"/>
                <a:cs typeface="Montserrat" pitchFamily="34" charset="-120"/>
              </a:rPr>
              <a:t>PASSING (ACTIVE)</a:t>
            </a:r>
            <a:endParaRPr lang="en-US" sz="850" dirty="0"/>
          </a:p>
        </p:txBody>
      </p:sp>
      <p:sp>
        <p:nvSpPr>
          <p:cNvPr id="23" name="Shape 21"/>
          <p:cNvSpPr/>
          <p:nvPr/>
        </p:nvSpPr>
        <p:spPr>
          <a:xfrm>
            <a:off x="6217920" y="1371600"/>
            <a:ext cx="2468880" cy="3611880"/>
          </a:xfrm>
          <a:prstGeom prst="rect">
            <a:avLst>
              <a:gd name="adj" fmla="val 4444"/>
            </a:avLst>
          </a:prstGeom>
          <a:solidFill>
            <a:srgbClr val="FFFFFF"/>
          </a:solidFill>
          <a:ln w="19050">
            <a:solidFill>
              <a:srgbClr val="E5E0D8"/>
            </a:solidFill>
            <a:prstDash val="solid"/>
          </a:ln>
        </p:spPr>
      </p:sp>
      <p:sp>
        <p:nvSpPr>
          <p:cNvPr id="24" name="Shape 22"/>
          <p:cNvSpPr/>
          <p:nvPr/>
        </p:nvSpPr>
        <p:spPr>
          <a:xfrm>
            <a:off x="6217920" y="1371600"/>
            <a:ext cx="2468880" cy="411480"/>
          </a:xfrm>
          <a:prstGeom prst="rect">
            <a:avLst/>
          </a:prstGeom>
          <a:solidFill>
            <a:srgbClr val="EAE5DC"/>
          </a:solidFill>
          <a:ln w="12700">
            <a:solidFill>
              <a:srgbClr val="E5E0D8"/>
            </a:solidFill>
            <a:prstDash val="solid"/>
          </a:ln>
        </p:spPr>
      </p:sp>
      <p:sp>
        <p:nvSpPr>
          <p:cNvPr id="25" name="Text 23"/>
          <p:cNvSpPr/>
          <p:nvPr/>
        </p:nvSpPr>
        <p:spPr>
          <a:xfrm>
            <a:off x="6309360" y="1371600"/>
            <a:ext cx="2286000" cy="411480"/>
          </a:xfrm>
          <a:prstGeom prst="rect">
            <a:avLst/>
          </a:prstGeom>
          <a:noFill/>
          <a:ln/>
        </p:spPr>
        <p:txBody>
          <a:bodyPr wrap="square" rtlCol="0" anchor="ctr"/>
          <a:lstStyle/>
          <a:p>
            <a:pPr algn="ctr" indent="0" marL="0">
              <a:buNone/>
            </a:pPr>
            <a:r>
              <a:rPr lang="en-US" sz="850" b="1" dirty="0">
                <a:solidFill>
                  <a:srgbClr val="1B4332"/>
                </a:solidFill>
                <a:latin typeface="Montserrat" pitchFamily="34" charset="0"/>
                <a:ea typeface="Montserrat" pitchFamily="34" charset="-122"/>
                <a:cs typeface="Montserrat" pitchFamily="34" charset="-120"/>
              </a:rPr>
              <a:t>WORKFLOW 3: NIGHTLY BATCH</a:t>
            </a:r>
            <a:endParaRPr lang="en-US" sz="850" dirty="0"/>
          </a:p>
        </p:txBody>
      </p:sp>
      <p:sp>
        <p:nvSpPr>
          <p:cNvPr id="26" name="Text 24"/>
          <p:cNvSpPr/>
          <p:nvPr/>
        </p:nvSpPr>
        <p:spPr>
          <a:xfrm>
            <a:off x="6355080" y="1874520"/>
            <a:ext cx="2194560" cy="411480"/>
          </a:xfrm>
          <a:prstGeom prst="rect">
            <a:avLst/>
          </a:prstGeom>
          <a:noFill/>
          <a:ln/>
        </p:spPr>
        <p:txBody>
          <a:bodyPr wrap="square" rtlCol="0" anchor="ctr"/>
          <a:lstStyle/>
          <a:p>
            <a:pPr indent="0" marL="0">
              <a:buNone/>
            </a:pPr>
            <a:r>
              <a:rPr lang="en-US" sz="800" i="1" dirty="0">
                <a:solidFill>
                  <a:srgbClr val="5A5A54"/>
                </a:solidFill>
                <a:latin typeface="Inter" pitchFamily="34" charset="0"/>
                <a:ea typeface="Inter" pitchFamily="34" charset="-122"/>
                <a:cs typeface="Inter" pitchFamily="34" charset="-120"/>
              </a:rPr>
              <a:t>Trigger: Scheduled cron at 02:00 UTC</a:t>
            </a:r>
            <a:endParaRPr lang="en-US" sz="800" dirty="0"/>
          </a:p>
        </p:txBody>
      </p:sp>
      <p:sp>
        <p:nvSpPr>
          <p:cNvPr id="27" name="Shape 25"/>
          <p:cNvSpPr/>
          <p:nvPr/>
        </p:nvSpPr>
        <p:spPr>
          <a:xfrm>
            <a:off x="6400800" y="2331720"/>
            <a:ext cx="2103120" cy="0"/>
          </a:xfrm>
          <a:prstGeom prst="line">
            <a:avLst/>
          </a:prstGeom>
          <a:noFill/>
          <a:ln w="12700">
            <a:solidFill>
              <a:srgbClr val="E5E0D8"/>
            </a:solidFill>
            <a:prstDash val="solid"/>
          </a:ln>
        </p:spPr>
      </p:sp>
      <p:sp>
        <p:nvSpPr>
          <p:cNvPr id="28" name="Text 26"/>
          <p:cNvSpPr/>
          <p:nvPr/>
        </p:nvSpPr>
        <p:spPr>
          <a:xfrm>
            <a:off x="6355080" y="2423160"/>
            <a:ext cx="2194560" cy="2011680"/>
          </a:xfrm>
          <a:prstGeom prst="rect">
            <a:avLst/>
          </a:prstGeom>
          <a:noFill/>
          <a:ln/>
        </p:spPr>
        <p:txBody>
          <a:bodyPr wrap="square" rtlCol="0" anchor="ctr"/>
          <a:lstStyle/>
          <a:p>
            <a:pPr indent="0" marL="0">
              <a:buNone/>
            </a:pPr>
            <a:r>
              <a:rPr lang="en-US" sz="800" dirty="0">
                <a:solidFill>
                  <a:srgbClr val="1C1C19"/>
                </a:solidFill>
                <a:latin typeface="Inter" pitchFamily="34" charset="0"/>
                <a:ea typeface="Inter" pitchFamily="34" charset="-122"/>
                <a:cs typeface="Inter" pitchFamily="34" charset="-120"/>
              </a:rPr>
              <a:t>• Runs ML/batch_forecast.py</a:t>
            </a:r>
            <a:endParaRPr lang="en-US" sz="800" dirty="0"/>
          </a:p>
          <a:p>
            <a:pPr indent="0" marL="0">
              <a:buNone/>
            </a:pPr>
            <a:r>
              <a:rPr lang="en-US" sz="800" dirty="0">
                <a:solidFill>
                  <a:srgbClr val="1C1C19"/>
                </a:solidFill>
                <a:latin typeface="Inter" pitchFamily="34" charset="0"/>
                <a:ea typeface="Inter" pitchFamily="34" charset="-122"/>
                <a:cs typeface="Inter" pitchFamily="34" charset="-120"/>
              </a:rPr>
              <a:t>• Fits Prophet models &amp; writes Atlas JSON</a:t>
            </a:r>
            <a:endParaRPr lang="en-US" sz="800" dirty="0"/>
          </a:p>
          <a:p>
            <a:pPr indent="0" marL="0">
              <a:buNone/>
            </a:pPr>
            <a:r>
              <a:rPr lang="en-US" sz="800" dirty="0">
                <a:solidFill>
                  <a:srgbClr val="1C1C19"/>
                </a:solidFill>
                <a:latin typeface="Inter" pitchFamily="34" charset="0"/>
                <a:ea typeface="Inter" pitchFamily="34" charset="-122"/>
                <a:cs typeface="Inter" pitchFamily="34" charset="-120"/>
              </a:rPr>
              <a:t>• Status: FAILING IN CI RUNNER</a:t>
            </a:r>
            <a:endParaRPr lang="en-US" sz="800" dirty="0"/>
          </a:p>
          <a:p>
            <a:pPr indent="0" marL="0">
              <a:buNone/>
            </a:pPr>
            <a:r>
              <a:rPr lang="en-US" sz="800" dirty="0">
                <a:solidFill>
                  <a:srgbClr val="1C1C19"/>
                </a:solidFill>
                <a:latin typeface="Inter" pitchFamily="34" charset="0"/>
                <a:ea typeface="Inter" pitchFamily="34" charset="-122"/>
                <a:cs typeface="Inter" pitchFamily="34" charset="-120"/>
              </a:rPr>
              <a:t>• Root Cause: Requires Atlas secrets &amp; IP whitelist in GitHub environment</a:t>
            </a:r>
            <a:endParaRPr lang="en-US" sz="800" dirty="0"/>
          </a:p>
        </p:txBody>
      </p:sp>
      <p:sp>
        <p:nvSpPr>
          <p:cNvPr id="29" name="Shape 27"/>
          <p:cNvSpPr/>
          <p:nvPr/>
        </p:nvSpPr>
        <p:spPr>
          <a:xfrm>
            <a:off x="6355080" y="4526280"/>
            <a:ext cx="2194560" cy="320040"/>
          </a:xfrm>
          <a:prstGeom prst="rect">
            <a:avLst>
              <a:gd name="adj" fmla="val 17143"/>
            </a:avLst>
          </a:prstGeom>
          <a:solidFill>
            <a:srgbClr val="FCF9F4"/>
          </a:solidFill>
          <a:ln w="12700">
            <a:solidFill>
              <a:srgbClr val="B91C1C"/>
            </a:solidFill>
            <a:prstDash val="solid"/>
          </a:ln>
        </p:spPr>
      </p:sp>
      <p:sp>
        <p:nvSpPr>
          <p:cNvPr id="30" name="Text 28"/>
          <p:cNvSpPr/>
          <p:nvPr/>
        </p:nvSpPr>
        <p:spPr>
          <a:xfrm>
            <a:off x="6355080" y="4526280"/>
            <a:ext cx="2194560" cy="320040"/>
          </a:xfrm>
          <a:prstGeom prst="rect">
            <a:avLst/>
          </a:prstGeom>
          <a:noFill/>
          <a:ln/>
        </p:spPr>
        <p:txBody>
          <a:bodyPr wrap="square" rtlCol="0" anchor="ctr"/>
          <a:lstStyle/>
          <a:p>
            <a:pPr algn="ctr" indent="0" marL="0">
              <a:buNone/>
            </a:pPr>
            <a:r>
              <a:rPr lang="en-US" sz="850" b="1" dirty="0">
                <a:solidFill>
                  <a:srgbClr val="B91C1C"/>
                </a:solidFill>
                <a:latin typeface="Montserrat" pitchFamily="34" charset="0"/>
                <a:ea typeface="Montserrat" pitchFamily="34" charset="-122"/>
                <a:cs typeface="Montserrat" pitchFamily="34" charset="-120"/>
              </a:rPr>
              <a:t>FAILING IN CI</a:t>
            </a:r>
            <a:endParaRPr lang="en-US" sz="850" dirty="0"/>
          </a:p>
        </p:txBody>
      </p:sp>
      <p:sp>
        <p:nvSpPr>
          <p:cNvPr id="31" name="Shape 29"/>
          <p:cNvSpPr/>
          <p:nvPr/>
        </p:nvSpPr>
        <p:spPr>
          <a:xfrm>
            <a:off x="8961120" y="1371600"/>
            <a:ext cx="2468880" cy="3611880"/>
          </a:xfrm>
          <a:prstGeom prst="rect">
            <a:avLst>
              <a:gd name="adj" fmla="val 4444"/>
            </a:avLst>
          </a:prstGeom>
          <a:solidFill>
            <a:srgbClr val="FFFFFF"/>
          </a:solidFill>
          <a:ln w="19050">
            <a:solidFill>
              <a:srgbClr val="E5E0D8"/>
            </a:solidFill>
            <a:prstDash val="solid"/>
          </a:ln>
        </p:spPr>
      </p:sp>
      <p:sp>
        <p:nvSpPr>
          <p:cNvPr id="32" name="Shape 30"/>
          <p:cNvSpPr/>
          <p:nvPr/>
        </p:nvSpPr>
        <p:spPr>
          <a:xfrm>
            <a:off x="8961120" y="1371600"/>
            <a:ext cx="2468880" cy="411480"/>
          </a:xfrm>
          <a:prstGeom prst="rect">
            <a:avLst/>
          </a:prstGeom>
          <a:solidFill>
            <a:srgbClr val="EAE5DC"/>
          </a:solidFill>
          <a:ln w="12700">
            <a:solidFill>
              <a:srgbClr val="E5E0D8"/>
            </a:solidFill>
            <a:prstDash val="solid"/>
          </a:ln>
        </p:spPr>
      </p:sp>
      <p:sp>
        <p:nvSpPr>
          <p:cNvPr id="33" name="Text 31"/>
          <p:cNvSpPr/>
          <p:nvPr/>
        </p:nvSpPr>
        <p:spPr>
          <a:xfrm>
            <a:off x="9052560" y="1371600"/>
            <a:ext cx="2286000" cy="411480"/>
          </a:xfrm>
          <a:prstGeom prst="rect">
            <a:avLst/>
          </a:prstGeom>
          <a:noFill/>
          <a:ln/>
        </p:spPr>
        <p:txBody>
          <a:bodyPr wrap="square" rtlCol="0" anchor="ctr"/>
          <a:lstStyle/>
          <a:p>
            <a:pPr algn="ctr" indent="0" marL="0">
              <a:buNone/>
            </a:pPr>
            <a:r>
              <a:rPr lang="en-US" sz="850" b="1" dirty="0">
                <a:solidFill>
                  <a:srgbClr val="1B4332"/>
                </a:solidFill>
                <a:latin typeface="Montserrat" pitchFamily="34" charset="0"/>
                <a:ea typeface="Montserrat" pitchFamily="34" charset="-122"/>
                <a:cs typeface="Montserrat" pitchFamily="34" charset="-120"/>
              </a:rPr>
              <a:t>TOOLING: CODERABBIT (.coderabbit.yaml)</a:t>
            </a:r>
            <a:endParaRPr lang="en-US" sz="850" dirty="0"/>
          </a:p>
        </p:txBody>
      </p:sp>
      <p:sp>
        <p:nvSpPr>
          <p:cNvPr id="34" name="Text 32"/>
          <p:cNvSpPr/>
          <p:nvPr/>
        </p:nvSpPr>
        <p:spPr>
          <a:xfrm>
            <a:off x="9098280" y="1874520"/>
            <a:ext cx="2194560" cy="411480"/>
          </a:xfrm>
          <a:prstGeom prst="rect">
            <a:avLst/>
          </a:prstGeom>
          <a:noFill/>
          <a:ln/>
        </p:spPr>
        <p:txBody>
          <a:bodyPr wrap="square" rtlCol="0" anchor="ctr"/>
          <a:lstStyle/>
          <a:p>
            <a:pPr indent="0" marL="0">
              <a:buNone/>
            </a:pPr>
            <a:r>
              <a:rPr lang="en-US" sz="800" i="1" dirty="0">
                <a:solidFill>
                  <a:srgbClr val="5A5A54"/>
                </a:solidFill>
                <a:latin typeface="Inter" pitchFamily="34" charset="0"/>
                <a:ea typeface="Inter" pitchFamily="34" charset="-122"/>
                <a:cs typeface="Inter" pitchFamily="34" charset="-120"/>
              </a:rPr>
              <a:t>Trigger: Automated PR Code Review</a:t>
            </a:r>
            <a:endParaRPr lang="en-US" sz="800" dirty="0"/>
          </a:p>
        </p:txBody>
      </p:sp>
      <p:sp>
        <p:nvSpPr>
          <p:cNvPr id="35" name="Shape 33"/>
          <p:cNvSpPr/>
          <p:nvPr/>
        </p:nvSpPr>
        <p:spPr>
          <a:xfrm>
            <a:off x="9144000" y="2331720"/>
            <a:ext cx="2103120" cy="0"/>
          </a:xfrm>
          <a:prstGeom prst="line">
            <a:avLst/>
          </a:prstGeom>
          <a:noFill/>
          <a:ln w="12700">
            <a:solidFill>
              <a:srgbClr val="E5E0D8"/>
            </a:solidFill>
            <a:prstDash val="solid"/>
          </a:ln>
        </p:spPr>
      </p:sp>
      <p:sp>
        <p:nvSpPr>
          <p:cNvPr id="36" name="Text 34"/>
          <p:cNvSpPr/>
          <p:nvPr/>
        </p:nvSpPr>
        <p:spPr>
          <a:xfrm>
            <a:off x="9098280" y="2423160"/>
            <a:ext cx="2194560" cy="2011680"/>
          </a:xfrm>
          <a:prstGeom prst="rect">
            <a:avLst/>
          </a:prstGeom>
          <a:noFill/>
          <a:ln/>
        </p:spPr>
        <p:txBody>
          <a:bodyPr wrap="square" rtlCol="0" anchor="ctr"/>
          <a:lstStyle/>
          <a:p>
            <a:pPr indent="0" marL="0">
              <a:buNone/>
            </a:pPr>
            <a:r>
              <a:rPr lang="en-US" sz="800" dirty="0">
                <a:solidFill>
                  <a:srgbClr val="1C1C19"/>
                </a:solidFill>
                <a:latin typeface="Inter" pitchFamily="34" charset="0"/>
                <a:ea typeface="Inter" pitchFamily="34" charset="-122"/>
                <a:cs typeface="Inter" pitchFamily="34" charset="-120"/>
              </a:rPr>
              <a:t>• Static AST lint analysis</a:t>
            </a:r>
            <a:endParaRPr lang="en-US" sz="800" dirty="0"/>
          </a:p>
          <a:p>
            <a:pPr indent="0" marL="0">
              <a:buNone/>
            </a:pPr>
            <a:r>
              <a:rPr lang="en-US" sz="800" dirty="0">
                <a:solidFill>
                  <a:srgbClr val="1C1C19"/>
                </a:solidFill>
                <a:latin typeface="Inter" pitchFamily="34" charset="0"/>
                <a:ea typeface="Inter" pitchFamily="34" charset="-122"/>
                <a:cs typeface="Inter" pitchFamily="34" charset="-120"/>
              </a:rPr>
              <a:t>• Architectural boundary validation</a:t>
            </a:r>
            <a:endParaRPr lang="en-US" sz="800" dirty="0"/>
          </a:p>
          <a:p>
            <a:pPr indent="0" marL="0">
              <a:buNone/>
            </a:pPr>
            <a:r>
              <a:rPr lang="en-US" sz="800" dirty="0">
                <a:solidFill>
                  <a:srgbClr val="1C1C19"/>
                </a:solidFill>
                <a:latin typeface="Inter" pitchFamily="34" charset="0"/>
                <a:ea typeface="Inter" pitchFamily="34" charset="-122"/>
                <a:cs typeface="Inter" pitchFamily="34" charset="-120"/>
              </a:rPr>
              <a:t>• Catching cross-provider leaks</a:t>
            </a:r>
            <a:endParaRPr lang="en-US" sz="800" dirty="0"/>
          </a:p>
          <a:p>
            <a:pPr indent="0" marL="0">
              <a:buNone/>
            </a:pPr>
            <a:r>
              <a:rPr lang="en-US" sz="800" dirty="0">
                <a:solidFill>
                  <a:srgbClr val="1C1C19"/>
                </a:solidFill>
                <a:latin typeface="Inter" pitchFamily="34" charset="0"/>
                <a:ea typeface="Inter" pitchFamily="34" charset="-122"/>
                <a:cs typeface="Inter" pitchFamily="34" charset="-120"/>
              </a:rPr>
              <a:t>• Code style enforcement</a:t>
            </a:r>
            <a:endParaRPr lang="en-US" sz="800" dirty="0"/>
          </a:p>
        </p:txBody>
      </p:sp>
      <p:sp>
        <p:nvSpPr>
          <p:cNvPr id="37" name="Shape 35"/>
          <p:cNvSpPr/>
          <p:nvPr/>
        </p:nvSpPr>
        <p:spPr>
          <a:xfrm>
            <a:off x="9098280" y="4526280"/>
            <a:ext cx="2194560" cy="320040"/>
          </a:xfrm>
          <a:prstGeom prst="rect">
            <a:avLst>
              <a:gd name="adj" fmla="val 17143"/>
            </a:avLst>
          </a:prstGeom>
          <a:solidFill>
            <a:srgbClr val="FCF9F4"/>
          </a:solidFill>
          <a:ln w="12700">
            <a:solidFill>
              <a:srgbClr val="1D4ED8"/>
            </a:solidFill>
            <a:prstDash val="solid"/>
          </a:ln>
        </p:spPr>
      </p:sp>
      <p:sp>
        <p:nvSpPr>
          <p:cNvPr id="38" name="Text 36"/>
          <p:cNvSpPr/>
          <p:nvPr/>
        </p:nvSpPr>
        <p:spPr>
          <a:xfrm>
            <a:off x="9098280" y="4526280"/>
            <a:ext cx="2194560" cy="320040"/>
          </a:xfrm>
          <a:prstGeom prst="rect">
            <a:avLst/>
          </a:prstGeom>
          <a:noFill/>
          <a:ln/>
        </p:spPr>
        <p:txBody>
          <a:bodyPr wrap="square" rtlCol="0" anchor="ctr"/>
          <a:lstStyle/>
          <a:p>
            <a:pPr algn="ctr" indent="0" marL="0">
              <a:buNone/>
            </a:pPr>
            <a:r>
              <a:rPr lang="en-US" sz="850" b="1" dirty="0">
                <a:solidFill>
                  <a:srgbClr val="1D4ED8"/>
                </a:solidFill>
                <a:latin typeface="Montserrat" pitchFamily="34" charset="0"/>
                <a:ea typeface="Montserrat" pitchFamily="34" charset="-122"/>
                <a:cs typeface="Montserrat" pitchFamily="34" charset="-120"/>
              </a:rPr>
              <a:t>ACTIVE</a:t>
            </a:r>
            <a:endParaRPr lang="en-US" sz="850" dirty="0"/>
          </a:p>
        </p:txBody>
      </p:sp>
      <p:sp>
        <p:nvSpPr>
          <p:cNvPr id="39" name="Text 37"/>
          <p:cNvSpPr/>
          <p:nvPr/>
        </p:nvSpPr>
        <p:spPr>
          <a:xfrm>
            <a:off x="731520" y="5166360"/>
            <a:ext cx="10698480" cy="1234440"/>
          </a:xfrm>
          <a:prstGeom prst="rect">
            <a:avLst/>
          </a:prstGeom>
          <a:noFill/>
          <a:ln/>
        </p:spPr>
        <p:txBody>
          <a:bodyPr wrap="square" rtlCol="0" anchor="t"/>
          <a:lstStyle/>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Continuous Regression Gate: Every git push automatically triggers offline backend security tests and Flutter widget analysis to prevent regression of critical functionality.</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Cloud Availability Automation: A scheduled 10-minute keepalive workflow queries the health endpoint, preventing free-tier container sleep on live deployments.</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Honest CI Status Reporting: GitHub API audit verifies active passing runs on backend tests and keepalive, while documenting nightly batch failures due to cloud secret isolation.</a:t>
            </a:r>
            <a:endParaRPr lang="en-US" sz="1150" dirty="0"/>
          </a:p>
        </p:txBody>
      </p:sp>
      <p:sp>
        <p:nvSpPr>
          <p:cNvPr id="40" name="Text 38"/>
          <p:cNvSpPr/>
          <p:nvPr/>
        </p:nvSpPr>
        <p:spPr>
          <a:xfrm>
            <a:off x="731520" y="6419088"/>
            <a:ext cx="10698480" cy="228600"/>
          </a:xfrm>
          <a:prstGeom prst="rect">
            <a:avLst/>
          </a:prstGeom>
          <a:noFill/>
          <a:ln/>
        </p:spPr>
        <p:txBody>
          <a:bodyPr wrap="square" rtlCol="0" anchor="b"/>
          <a:lstStyle/>
          <a:p>
            <a:pPr indent="0" marL="0">
              <a:buNone/>
            </a:pPr>
            <a:r>
              <a:rPr lang="en-US" sz="850" i="1" dirty="0">
                <a:solidFill>
                  <a:srgbClr val="5A5A54"/>
                </a:solidFill>
                <a:latin typeface="Inter" pitchFamily="34" charset="0"/>
                <a:ea typeface="Inter" pitchFamily="34" charset="-122"/>
                <a:cs typeface="Inter" pitchFamily="34" charset="-120"/>
              </a:rPr>
              <a:t>Evidence Source: Verified via GitHub Actions REST API at api.github.com/repos/Yatin07/CAPSTONE_PROJECT/actions/runs.</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9F4"/>
        </a:solidFill>
      </p:bgPr>
    </p:bg>
    <p:spTree>
      <p:nvGrpSpPr>
        <p:cNvPr id="1" name=""/>
        <p:cNvGrpSpPr/>
        <p:nvPr/>
      </p:nvGrpSpPr>
      <p:grpSpPr>
        <a:xfrm>
          <a:off x="0" y="0"/>
          <a:ext cx="0" cy="0"/>
          <a:chOff x="0" y="0"/>
          <a:chExt cx="0" cy="0"/>
        </a:xfrm>
      </p:grpSpPr>
      <p:sp>
        <p:nvSpPr>
          <p:cNvPr id="2" name="Shape 0"/>
          <p:cNvSpPr/>
          <p:nvPr/>
        </p:nvSpPr>
        <p:spPr>
          <a:xfrm>
            <a:off x="731520" y="320040"/>
            <a:ext cx="2194560" cy="274320"/>
          </a:xfrm>
          <a:prstGeom prst="rect">
            <a:avLst>
              <a:gd name="adj" fmla="val 20000"/>
            </a:avLst>
          </a:prstGeom>
          <a:solidFill>
            <a:srgbClr val="EAE5DC"/>
          </a:solidFill>
          <a:ln w="12700">
            <a:solidFill>
              <a:srgbClr val="E5E0D8"/>
            </a:solidFill>
            <a:prstDash val="solid"/>
          </a:ln>
        </p:spPr>
      </p:sp>
      <p:sp>
        <p:nvSpPr>
          <p:cNvPr id="3" name="Text 1"/>
          <p:cNvSpPr/>
          <p:nvPr/>
        </p:nvSpPr>
        <p:spPr>
          <a:xfrm>
            <a:off x="731520" y="320040"/>
            <a:ext cx="2194560" cy="274320"/>
          </a:xfrm>
          <a:prstGeom prst="rect">
            <a:avLst/>
          </a:prstGeom>
          <a:noFill/>
          <a:ln/>
        </p:spPr>
        <p:txBody>
          <a:bodyPr wrap="square" rtlCol="0" anchor="ctr"/>
          <a:lstStyle/>
          <a:p>
            <a:pPr algn="ctr" indent="0" marL="0">
              <a:buNone/>
            </a:pPr>
            <a:r>
              <a:rPr lang="en-US" sz="850" b="1" dirty="0">
                <a:solidFill>
                  <a:srgbClr val="1B4332"/>
                </a:solidFill>
                <a:latin typeface="Montserrat" pitchFamily="34" charset="0"/>
                <a:ea typeface="Montserrat" pitchFamily="34" charset="-122"/>
                <a:cs typeface="Montserrat" pitchFamily="34" charset="-120"/>
              </a:rPr>
              <a:t>UNIT 5: TDD &amp; AUTOMATION</a:t>
            </a:r>
            <a:endParaRPr lang="en-US" sz="850" dirty="0"/>
          </a:p>
        </p:txBody>
      </p:sp>
      <p:sp>
        <p:nvSpPr>
          <p:cNvPr id="4" name="Text 2"/>
          <p:cNvSpPr/>
          <p:nvPr/>
        </p:nvSpPr>
        <p:spPr>
          <a:xfrm>
            <a:off x="10058400" y="320040"/>
            <a:ext cx="1371600" cy="274320"/>
          </a:xfrm>
          <a:prstGeom prst="rect">
            <a:avLst/>
          </a:prstGeom>
          <a:noFill/>
          <a:ln/>
        </p:spPr>
        <p:txBody>
          <a:bodyPr wrap="square" rtlCol="0" anchor="ctr"/>
          <a:lstStyle/>
          <a:p>
            <a:pPr algn="r" indent="0" marL="0">
              <a:buNone/>
            </a:pPr>
            <a:r>
              <a:rPr lang="en-US" sz="900" b="1" dirty="0">
                <a:solidFill>
                  <a:srgbClr val="5A5A54"/>
                </a:solidFill>
                <a:latin typeface="Montserrat" pitchFamily="34" charset="0"/>
                <a:ea typeface="Montserrat" pitchFamily="34" charset="-122"/>
                <a:cs typeface="Montserrat" pitchFamily="34" charset="-120"/>
              </a:rPr>
              <a:t>SLIDE 14 / 15</a:t>
            </a:r>
            <a:endParaRPr lang="en-US" sz="900" dirty="0"/>
          </a:p>
        </p:txBody>
      </p:sp>
      <p:sp>
        <p:nvSpPr>
          <p:cNvPr id="5" name="Text 3"/>
          <p:cNvSpPr/>
          <p:nvPr/>
        </p:nvSpPr>
        <p:spPr>
          <a:xfrm>
            <a:off x="731520" y="658368"/>
            <a:ext cx="10698480" cy="475488"/>
          </a:xfrm>
          <a:prstGeom prst="rect">
            <a:avLst/>
          </a:prstGeom>
          <a:noFill/>
          <a:ln/>
        </p:spPr>
        <p:txBody>
          <a:bodyPr wrap="square" rtlCol="0" anchor="ctr"/>
          <a:lstStyle/>
          <a:p>
            <a:pPr indent="0" marL="0">
              <a:buNone/>
            </a:pPr>
            <a:r>
              <a:rPr lang="en-US" sz="2000" b="1" dirty="0">
                <a:solidFill>
                  <a:srgbClr val="1B4332"/>
                </a:solidFill>
                <a:latin typeface="Montserrat" pitchFamily="34" charset="0"/>
                <a:ea typeface="Montserrat" pitchFamily="34" charset="-122"/>
                <a:cs typeface="Montserrat" pitchFamily="34" charset="-120"/>
              </a:rPr>
              <a:t>Syllabus Coverage Matrix &amp; Technical Limitations</a:t>
            </a:r>
            <a:endParaRPr lang="en-US" sz="2000" dirty="0"/>
          </a:p>
        </p:txBody>
      </p:sp>
      <p:sp>
        <p:nvSpPr>
          <p:cNvPr id="6" name="Shape 4"/>
          <p:cNvSpPr/>
          <p:nvPr/>
        </p:nvSpPr>
        <p:spPr>
          <a:xfrm>
            <a:off x="731520" y="1170432"/>
            <a:ext cx="10698480" cy="0"/>
          </a:xfrm>
          <a:prstGeom prst="line">
            <a:avLst/>
          </a:prstGeom>
          <a:noFill/>
          <a:ln w="12700">
            <a:solidFill>
              <a:srgbClr val="E5E0D8"/>
            </a:solidFill>
            <a:prstDash val="solid"/>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31520" y="1371600"/>
          <a:ext cx="10698480" cy="3611880"/>
        </p:xfrm>
        <a:graphic>
          <a:graphicData uri="http://schemas.openxmlformats.org/drawingml/2006/table">
            <a:tbl>
              <a:tblPr/>
              <a:tblGrid>
                <a:gridCol w="2286000"/>
                <a:gridCol w="2926080"/>
                <a:gridCol w="4114800"/>
                <a:gridCol w="1371600"/>
              </a:tblGrid>
              <a:tr h="292608">
                <a:tc>
                  <a:txBody>
                    <a:bodyPr/>
                    <a:lstStyle/>
                    <a:p>
                      <a:pPr indent="0" marL="0">
                        <a:buNone/>
                      </a:pPr>
                      <a:r>
                        <a:rPr lang="en-US" sz="800" b="1" dirty="0">
                          <a:solidFill>
                            <a:srgbClr val="1B4332"/>
                          </a:solidFill>
                          <a:latin typeface="Montserrat" pitchFamily="34" charset="0"/>
                          <a:ea typeface="Montserrat" pitchFamily="34" charset="-122"/>
                          <a:cs typeface="Montserrat" pitchFamily="34" charset="-120"/>
                        </a:rPr>
                        <a:t>Curriculum Unit &amp; Topic</a:t>
                      </a:r>
                      <a:endParaRPr lang="en-US" sz="8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indent="0" marL="0">
                        <a:buNone/>
                      </a:pPr>
                      <a:r>
                        <a:rPr lang="en-US" sz="800" b="1" dirty="0">
                          <a:solidFill>
                            <a:srgbClr val="1B4332"/>
                          </a:solidFill>
                          <a:latin typeface="Montserrat" pitchFamily="34" charset="0"/>
                          <a:ea typeface="Montserrat" pitchFamily="34" charset="-122"/>
                          <a:cs typeface="Montserrat" pitchFamily="34" charset="-120"/>
                        </a:rPr>
                        <a:t>Syllabus Requirement</a:t>
                      </a:r>
                      <a:endParaRPr lang="en-US" sz="8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indent="0" marL="0">
                        <a:buNone/>
                      </a:pPr>
                      <a:r>
                        <a:rPr lang="en-US" sz="800" b="1" dirty="0">
                          <a:solidFill>
                            <a:srgbClr val="1B4332"/>
                          </a:solidFill>
                          <a:latin typeface="Montserrat" pitchFamily="34" charset="0"/>
                          <a:ea typeface="Montserrat" pitchFamily="34" charset="-122"/>
                          <a:cs typeface="Montserrat" pitchFamily="34" charset="-120"/>
                        </a:rPr>
                        <a:t>RestockIQ Artifact Implementation</a:t>
                      </a:r>
                      <a:endParaRPr lang="en-US" sz="8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algn="ctr" indent="0" marL="0">
                        <a:buNone/>
                      </a:pPr>
                      <a:r>
                        <a:rPr lang="en-US" sz="800" b="1" dirty="0">
                          <a:solidFill>
                            <a:srgbClr val="1B4332"/>
                          </a:solidFill>
                          <a:latin typeface="Montserrat" pitchFamily="34" charset="0"/>
                          <a:ea typeface="Montserrat" pitchFamily="34" charset="-122"/>
                          <a:cs typeface="Montserrat" pitchFamily="34" charset="-120"/>
                        </a:rPr>
                        <a:t>Syllabus Status</a:t>
                      </a:r>
                      <a:endParaRPr lang="en-US" sz="8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r>
              <a:tr h="320040">
                <a:tc>
                  <a:txBody>
                    <a:bodyPr/>
                    <a:lstStyle/>
                    <a:p>
                      <a:pPr indent="0" marL="0">
                        <a:buNone/>
                      </a:pPr>
                      <a:r>
                        <a:rPr lang="en-US" sz="800" dirty="0">
                          <a:solidFill>
                            <a:srgbClr val="1C1C19"/>
                          </a:solidFill>
                          <a:latin typeface="Inter" pitchFamily="34" charset="0"/>
                          <a:ea typeface="Inter" pitchFamily="34" charset="-122"/>
                          <a:cs typeface="Inter" pitchFamily="34" charset="-120"/>
                        </a:rPr>
                        <a:t>Unit 1: Fundamentals</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Errors, defects, failures, V-Model, lifecycle</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11-defect log, V-model mapping, SUT architecture</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COVERED</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320040">
                <a:tc>
                  <a:txBody>
                    <a:bodyPr/>
                    <a:lstStyle/>
                    <a:p>
                      <a:pPr indent="0" marL="0">
                        <a:buNone/>
                      </a:pPr>
                      <a:r>
                        <a:rPr lang="en-US" sz="800" dirty="0">
                          <a:solidFill>
                            <a:srgbClr val="1C1C19"/>
                          </a:solidFill>
                          <a:latin typeface="Inter" pitchFamily="34" charset="0"/>
                          <a:ea typeface="Inter" pitchFamily="34" charset="-122"/>
                          <a:cs typeface="Inter" pitchFamily="34" charset="-120"/>
                        </a:rPr>
                        <a:t>Unit 2: Black-Box</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Boundary value analysis &amp; Equivalence partitioning</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Query length BVA (0, 1, 500, 501), Decision table (10 rules)</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COVERED</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320040">
                <a:tc>
                  <a:txBody>
                    <a:bodyPr/>
                    <a:lstStyle/>
                    <a:p>
                      <a:pPr indent="0" marL="0">
                        <a:buNone/>
                      </a:pPr>
                      <a:r>
                        <a:rPr lang="en-US" sz="800" dirty="0">
                          <a:solidFill>
                            <a:srgbClr val="1C1C19"/>
                          </a:solidFill>
                          <a:latin typeface="Inter" pitchFamily="34" charset="0"/>
                          <a:ea typeface="Inter" pitchFamily="34" charset="-122"/>
                          <a:cs typeface="Inter" pitchFamily="34" charset="-120"/>
                        </a:rPr>
                        <a:t>Unit 2: Advanced Black-Box</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Cause-effect graphing &amp; State transition testing</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7-transition alert FSM verified; Cause-effect omitted</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PARTIAL</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320040">
                <a:tc>
                  <a:txBody>
                    <a:bodyPr/>
                    <a:lstStyle/>
                    <a:p>
                      <a:pPr indent="0" marL="0">
                        <a:buNone/>
                      </a:pPr>
                      <a:r>
                        <a:rPr lang="en-US" sz="800" dirty="0">
                          <a:solidFill>
                            <a:srgbClr val="1C1C19"/>
                          </a:solidFill>
                          <a:latin typeface="Inter" pitchFamily="34" charset="0"/>
                          <a:ea typeface="Inter" pitchFamily="34" charset="-122"/>
                          <a:cs typeface="Inter" pitchFamily="34" charset="-120"/>
                        </a:rPr>
                        <a:t>Unit 2: White-Box</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Control flow graphs, Cyclomatic complexity V(G)</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get_client_ip CFG (V(G)=5), coverage.py branch tracking</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COVERED</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320040">
                <a:tc>
                  <a:txBody>
                    <a:bodyPr/>
                    <a:lstStyle/>
                    <a:p>
                      <a:pPr indent="0" marL="0">
                        <a:buNone/>
                      </a:pPr>
                      <a:r>
                        <a:rPr lang="en-US" sz="800" dirty="0">
                          <a:solidFill>
                            <a:srgbClr val="1C1C19"/>
                          </a:solidFill>
                          <a:latin typeface="Inter" pitchFamily="34" charset="0"/>
                          <a:ea typeface="Inter" pitchFamily="34" charset="-122"/>
                          <a:cs typeface="Inter" pitchFamily="34" charset="-120"/>
                        </a:rPr>
                        <a:t>Unit 2: Advanced White-Box</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Data flow, loop testing, mutation testing</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Not implemented in current automated test harness</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NOT DONE</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320040">
                <a:tc>
                  <a:txBody>
                    <a:bodyPr/>
                    <a:lstStyle/>
                    <a:p>
                      <a:pPr indent="0" marL="0">
                        <a:buNone/>
                      </a:pPr>
                      <a:r>
                        <a:rPr lang="en-US" sz="800" dirty="0">
                          <a:solidFill>
                            <a:srgbClr val="1C1C19"/>
                          </a:solidFill>
                          <a:latin typeface="Inter" pitchFamily="34" charset="0"/>
                          <a:ea typeface="Inter" pitchFamily="34" charset="-122"/>
                          <a:cs typeface="Inter" pitchFamily="34" charset="-120"/>
                        </a:rPr>
                        <a:t>Unit 3: Unit &amp; Integration</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Classical vs. Mockist, bottom-up/top-down</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44 Flutter + 7 Backend tests, cross-provider sync</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COVERED</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320040">
                <a:tc>
                  <a:txBody>
                    <a:bodyPr/>
                    <a:lstStyle/>
                    <a:p>
                      <a:pPr indent="0" marL="0">
                        <a:buNone/>
                      </a:pPr>
                      <a:r>
                        <a:rPr lang="en-US" sz="800" dirty="0">
                          <a:solidFill>
                            <a:srgbClr val="1C1C19"/>
                          </a:solidFill>
                          <a:latin typeface="Inter" pitchFamily="34" charset="0"/>
                          <a:ea typeface="Inter" pitchFamily="34" charset="-122"/>
                          <a:cs typeface="Inter" pitchFamily="34" charset="-120"/>
                        </a:rPr>
                        <a:t>Unit 4: System &amp; Security</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Security testing, regression, recovery testing</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Tenant isolation (10 routes), spoof defense, 4s timeout recovery</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COVERED</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320040">
                <a:tc>
                  <a:txBody>
                    <a:bodyPr/>
                    <a:lstStyle/>
                    <a:p>
                      <a:pPr indent="0" marL="0">
                        <a:buNone/>
                      </a:pPr>
                      <a:r>
                        <a:rPr lang="en-US" sz="800" dirty="0">
                          <a:solidFill>
                            <a:srgbClr val="1C1C19"/>
                          </a:solidFill>
                          <a:latin typeface="Inter" pitchFamily="34" charset="0"/>
                          <a:ea typeface="Inter" pitchFamily="34" charset="-122"/>
                          <a:cs typeface="Inter" pitchFamily="34" charset="-120"/>
                        </a:rPr>
                        <a:t>Unit 4: Acceptance</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Alpha, Beta, User Acceptance Testing (UAT)</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Manual physical device walkthrough; real user UAT omitted</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PARTIAL</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320040">
                <a:tc>
                  <a:txBody>
                    <a:bodyPr/>
                    <a:lstStyle/>
                    <a:p>
                      <a:pPr indent="0" marL="0">
                        <a:buNone/>
                      </a:pPr>
                      <a:r>
                        <a:rPr lang="en-US" sz="800" dirty="0">
                          <a:solidFill>
                            <a:srgbClr val="1C1C19"/>
                          </a:solidFill>
                          <a:latin typeface="Inter" pitchFamily="34" charset="0"/>
                          <a:ea typeface="Inter" pitchFamily="34" charset="-122"/>
                          <a:cs typeface="Inter" pitchFamily="34" charset="-120"/>
                        </a:rPr>
                        <a:t>Unit 5: TDD &amp; Automation</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Test-Driven Development, CI/CD pipelines</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GitHub Actions CI, Keepalive; formal TDD cycle omitted</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800" dirty="0">
                          <a:solidFill>
                            <a:srgbClr val="1C1C19"/>
                          </a:solidFill>
                          <a:latin typeface="Inter" pitchFamily="34" charset="0"/>
                          <a:ea typeface="Inter" pitchFamily="34" charset="-122"/>
                          <a:cs typeface="Inter" pitchFamily="34" charset="-120"/>
                        </a:rPr>
                        <a:t>PARTIAL</a:t>
                      </a:r>
                      <a:endParaRPr lang="en-US" sz="8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bl>
          </a:graphicData>
        </a:graphic>
      </p:graphicFrame>
      <p:sp>
        <p:nvSpPr>
          <p:cNvPr id="8" name="Text 5"/>
          <p:cNvSpPr/>
          <p:nvPr/>
        </p:nvSpPr>
        <p:spPr>
          <a:xfrm>
            <a:off x="731520" y="5166360"/>
            <a:ext cx="10698480" cy="1234440"/>
          </a:xfrm>
          <a:prstGeom prst="rect">
            <a:avLst/>
          </a:prstGeom>
          <a:noFill/>
          <a:ln/>
        </p:spPr>
        <p:txBody>
          <a:bodyPr wrap="square" rtlCol="0" anchor="t"/>
          <a:lstStyle/>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Curriculum Compliance: Complete coverage achieved across fundamental concepts, boundary analysis, decision matrices, control-flow graphs, and multi-tenant security testing.</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Documented Gaps: Advanced techniques including mutation testing, formal data-flow anomaly detection, loop testing, and cause-effect graphs were omitted from scope.</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Evaluation Constraints: System testing utilized physical developer walkthroughs and automated smoke pipelines; formal multi-user beta trials and distributed load testing were not executed.</a:t>
            </a:r>
            <a:endParaRPr lang="en-US" sz="1150" dirty="0"/>
          </a:p>
        </p:txBody>
      </p:sp>
      <p:sp>
        <p:nvSpPr>
          <p:cNvPr id="9" name="Text 6"/>
          <p:cNvSpPr/>
          <p:nvPr/>
        </p:nvSpPr>
        <p:spPr>
          <a:xfrm>
            <a:off x="731520" y="6419088"/>
            <a:ext cx="10698480" cy="228600"/>
          </a:xfrm>
          <a:prstGeom prst="rect">
            <a:avLst/>
          </a:prstGeom>
          <a:noFill/>
          <a:ln/>
        </p:spPr>
        <p:txBody>
          <a:bodyPr wrap="square" rtlCol="0" anchor="b"/>
          <a:lstStyle/>
          <a:p>
            <a:pPr indent="0" marL="0">
              <a:buNone/>
            </a:pPr>
            <a:r>
              <a:rPr lang="en-US" sz="850" i="1" dirty="0">
                <a:solidFill>
                  <a:srgbClr val="5A5A54"/>
                </a:solidFill>
                <a:latin typeface="Inter" pitchFamily="34" charset="0"/>
                <a:ea typeface="Inter" pitchFamily="34" charset="-122"/>
                <a:cs typeface="Inter" pitchFamily="34" charset="-120"/>
              </a:rPr>
              <a:t>Evidence Source: Syllabus mapping for Course 702IT0E035 (MPSTME NMIMS); Implementation verified in repo.</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9F4"/>
        </a:solidFill>
      </p:bgPr>
    </p:bg>
    <p:spTree>
      <p:nvGrpSpPr>
        <p:cNvPr id="1" name=""/>
        <p:cNvGrpSpPr/>
        <p:nvPr/>
      </p:nvGrpSpPr>
      <p:grpSpPr>
        <a:xfrm>
          <a:off x="0" y="0"/>
          <a:ext cx="0" cy="0"/>
          <a:chOff x="0" y="0"/>
          <a:chExt cx="0" cy="0"/>
        </a:xfrm>
      </p:grpSpPr>
      <p:sp>
        <p:nvSpPr>
          <p:cNvPr id="2" name="Shape 0"/>
          <p:cNvSpPr/>
          <p:nvPr/>
        </p:nvSpPr>
        <p:spPr>
          <a:xfrm>
            <a:off x="731520" y="320040"/>
            <a:ext cx="2194560" cy="274320"/>
          </a:xfrm>
          <a:prstGeom prst="rect">
            <a:avLst>
              <a:gd name="adj" fmla="val 20000"/>
            </a:avLst>
          </a:prstGeom>
          <a:solidFill>
            <a:srgbClr val="EAE5DC"/>
          </a:solidFill>
          <a:ln w="12700">
            <a:solidFill>
              <a:srgbClr val="E5E0D8"/>
            </a:solidFill>
            <a:prstDash val="solid"/>
          </a:ln>
        </p:spPr>
      </p:sp>
      <p:sp>
        <p:nvSpPr>
          <p:cNvPr id="3" name="Text 1"/>
          <p:cNvSpPr/>
          <p:nvPr/>
        </p:nvSpPr>
        <p:spPr>
          <a:xfrm>
            <a:off x="731520" y="320040"/>
            <a:ext cx="2194560" cy="274320"/>
          </a:xfrm>
          <a:prstGeom prst="rect">
            <a:avLst/>
          </a:prstGeom>
          <a:noFill/>
          <a:ln/>
        </p:spPr>
        <p:txBody>
          <a:bodyPr wrap="square" rtlCol="0" anchor="ctr"/>
          <a:lstStyle/>
          <a:p>
            <a:pPr algn="ctr" indent="0" marL="0">
              <a:buNone/>
            </a:pPr>
            <a:r>
              <a:rPr lang="en-US" sz="850" b="1" dirty="0">
                <a:solidFill>
                  <a:srgbClr val="1B4332"/>
                </a:solidFill>
                <a:latin typeface="Montserrat" pitchFamily="34" charset="0"/>
                <a:ea typeface="Montserrat" pitchFamily="34" charset="-122"/>
                <a:cs typeface="Montserrat" pitchFamily="34" charset="-120"/>
              </a:rPr>
              <a:t>UNIT 5: TDD &amp; AUTOMATION</a:t>
            </a:r>
            <a:endParaRPr lang="en-US" sz="850" dirty="0"/>
          </a:p>
        </p:txBody>
      </p:sp>
      <p:sp>
        <p:nvSpPr>
          <p:cNvPr id="4" name="Text 2"/>
          <p:cNvSpPr/>
          <p:nvPr/>
        </p:nvSpPr>
        <p:spPr>
          <a:xfrm>
            <a:off x="10058400" y="320040"/>
            <a:ext cx="1371600" cy="274320"/>
          </a:xfrm>
          <a:prstGeom prst="rect">
            <a:avLst/>
          </a:prstGeom>
          <a:noFill/>
          <a:ln/>
        </p:spPr>
        <p:txBody>
          <a:bodyPr wrap="square" rtlCol="0" anchor="ctr"/>
          <a:lstStyle/>
          <a:p>
            <a:pPr algn="r" indent="0" marL="0">
              <a:buNone/>
            </a:pPr>
            <a:r>
              <a:rPr lang="en-US" sz="900" b="1" dirty="0">
                <a:solidFill>
                  <a:srgbClr val="5A5A54"/>
                </a:solidFill>
                <a:latin typeface="Montserrat" pitchFamily="34" charset="0"/>
                <a:ea typeface="Montserrat" pitchFamily="34" charset="-122"/>
                <a:cs typeface="Montserrat" pitchFamily="34" charset="-120"/>
              </a:rPr>
              <a:t>SLIDE 15 / 15</a:t>
            </a:r>
            <a:endParaRPr lang="en-US" sz="900" dirty="0"/>
          </a:p>
        </p:txBody>
      </p:sp>
      <p:sp>
        <p:nvSpPr>
          <p:cNvPr id="5" name="Text 3"/>
          <p:cNvSpPr/>
          <p:nvPr/>
        </p:nvSpPr>
        <p:spPr>
          <a:xfrm>
            <a:off x="731520" y="658368"/>
            <a:ext cx="10698480" cy="475488"/>
          </a:xfrm>
          <a:prstGeom prst="rect">
            <a:avLst/>
          </a:prstGeom>
          <a:noFill/>
          <a:ln/>
        </p:spPr>
        <p:txBody>
          <a:bodyPr wrap="square" rtlCol="0" anchor="ctr"/>
          <a:lstStyle/>
          <a:p>
            <a:pPr indent="0" marL="0">
              <a:buNone/>
            </a:pPr>
            <a:r>
              <a:rPr lang="en-US" sz="2000" b="1" dirty="0">
                <a:solidFill>
                  <a:srgbClr val="1B4332"/>
                </a:solidFill>
                <a:latin typeface="Montserrat" pitchFamily="34" charset="0"/>
                <a:ea typeface="Montserrat" pitchFamily="34" charset="-122"/>
                <a:cs typeface="Montserrat" pitchFamily="34" charset="-120"/>
              </a:rPr>
              <a:t>Conclusion: Course Outcomes &amp; Future Roadmap</a:t>
            </a:r>
            <a:endParaRPr lang="en-US" sz="2000" dirty="0"/>
          </a:p>
        </p:txBody>
      </p:sp>
      <p:sp>
        <p:nvSpPr>
          <p:cNvPr id="6" name="Shape 4"/>
          <p:cNvSpPr/>
          <p:nvPr/>
        </p:nvSpPr>
        <p:spPr>
          <a:xfrm>
            <a:off x="731520" y="1170432"/>
            <a:ext cx="10698480" cy="0"/>
          </a:xfrm>
          <a:prstGeom prst="line">
            <a:avLst/>
          </a:prstGeom>
          <a:noFill/>
          <a:ln w="12700">
            <a:solidFill>
              <a:srgbClr val="E5E0D8"/>
            </a:solidFill>
            <a:prstDash val="solid"/>
          </a:ln>
        </p:spPr>
      </p:sp>
      <p:sp>
        <p:nvSpPr>
          <p:cNvPr id="7" name="Shape 5"/>
          <p:cNvSpPr/>
          <p:nvPr/>
        </p:nvSpPr>
        <p:spPr>
          <a:xfrm>
            <a:off x="731520" y="1371600"/>
            <a:ext cx="5212080" cy="3611880"/>
          </a:xfrm>
          <a:prstGeom prst="rect">
            <a:avLst>
              <a:gd name="adj" fmla="val 3038"/>
            </a:avLst>
          </a:prstGeom>
          <a:solidFill>
            <a:srgbClr val="FFFFFF"/>
          </a:solidFill>
          <a:ln w="19050">
            <a:solidFill>
              <a:srgbClr val="E5E0D8"/>
            </a:solidFill>
            <a:prstDash val="solid"/>
          </a:ln>
        </p:spPr>
      </p:sp>
      <p:sp>
        <p:nvSpPr>
          <p:cNvPr id="8" name="Text 6"/>
          <p:cNvSpPr/>
          <p:nvPr/>
        </p:nvSpPr>
        <p:spPr>
          <a:xfrm>
            <a:off x="914400" y="1508760"/>
            <a:ext cx="4846320" cy="256032"/>
          </a:xfrm>
          <a:prstGeom prst="rect">
            <a:avLst/>
          </a:prstGeom>
          <a:noFill/>
          <a:ln/>
        </p:spPr>
        <p:txBody>
          <a:bodyPr wrap="square" rtlCol="0" anchor="ctr"/>
          <a:lstStyle/>
          <a:p>
            <a:pPr indent="0" marL="0">
              <a:buNone/>
            </a:pPr>
            <a:r>
              <a:rPr lang="en-US" sz="950" b="1" dirty="0">
                <a:solidFill>
                  <a:srgbClr val="1B4332"/>
                </a:solidFill>
                <a:latin typeface="Montserrat" pitchFamily="34" charset="0"/>
                <a:ea typeface="Montserrat" pitchFamily="34" charset="-122"/>
                <a:cs typeface="Montserrat" pitchFamily="34" charset="-120"/>
              </a:rPr>
              <a:t>COURSE OUTCOMES (CO1–CO3) FULFILLMENT</a:t>
            </a:r>
            <a:endParaRPr lang="en-US" sz="950" dirty="0"/>
          </a:p>
        </p:txBody>
      </p:sp>
      <p:sp>
        <p:nvSpPr>
          <p:cNvPr id="9" name="Shape 7"/>
          <p:cNvSpPr/>
          <p:nvPr/>
        </p:nvSpPr>
        <p:spPr>
          <a:xfrm>
            <a:off x="914400" y="1874520"/>
            <a:ext cx="4846320" cy="914400"/>
          </a:xfrm>
          <a:prstGeom prst="rect">
            <a:avLst>
              <a:gd name="adj" fmla="val 6000"/>
            </a:avLst>
          </a:prstGeom>
          <a:solidFill>
            <a:srgbClr val="EAE5DC"/>
          </a:solidFill>
          <a:ln w="10160">
            <a:solidFill>
              <a:srgbClr val="E5E0D8"/>
            </a:solidFill>
            <a:prstDash val="solid"/>
          </a:ln>
        </p:spPr>
      </p:sp>
      <p:sp>
        <p:nvSpPr>
          <p:cNvPr id="10" name="Text 8"/>
          <p:cNvSpPr/>
          <p:nvPr/>
        </p:nvSpPr>
        <p:spPr>
          <a:xfrm>
            <a:off x="1005840" y="1929384"/>
            <a:ext cx="4663440" cy="201168"/>
          </a:xfrm>
          <a:prstGeom prst="rect">
            <a:avLst/>
          </a:prstGeom>
          <a:noFill/>
          <a:ln/>
        </p:spPr>
        <p:txBody>
          <a:bodyPr wrap="square" rtlCol="0" anchor="ctr"/>
          <a:lstStyle/>
          <a:p>
            <a:pPr indent="0" marL="0">
              <a:buNone/>
            </a:pPr>
            <a:r>
              <a:rPr lang="en-US" sz="800" b="1" dirty="0">
                <a:solidFill>
                  <a:srgbClr val="1B4332"/>
                </a:solidFill>
                <a:latin typeface="Montserrat" pitchFamily="34" charset="0"/>
                <a:ea typeface="Montserrat" pitchFamily="34" charset="-122"/>
                <a:cs typeface="Montserrat" pitchFamily="34" charset="-120"/>
              </a:rPr>
              <a:t>CO1: DESIGN &amp; IMPLEMENT TEST CASES</a:t>
            </a:r>
            <a:endParaRPr lang="en-US" sz="800" dirty="0"/>
          </a:p>
        </p:txBody>
      </p:sp>
      <p:sp>
        <p:nvSpPr>
          <p:cNvPr id="11" name="Text 9"/>
          <p:cNvSpPr/>
          <p:nvPr/>
        </p:nvSpPr>
        <p:spPr>
          <a:xfrm>
            <a:off x="1005840" y="2130552"/>
            <a:ext cx="4663440" cy="621792"/>
          </a:xfrm>
          <a:prstGeom prst="rect">
            <a:avLst/>
          </a:prstGeom>
          <a:noFill/>
          <a:ln/>
        </p:spPr>
        <p:txBody>
          <a:bodyPr wrap="square" rtlCol="0" anchor="ctr"/>
          <a:lstStyle/>
          <a:p>
            <a:pPr indent="0" marL="0">
              <a:buNone/>
            </a:pPr>
            <a:r>
              <a:rPr lang="en-US" sz="750" dirty="0">
                <a:solidFill>
                  <a:srgbClr val="1C1C19"/>
                </a:solidFill>
                <a:latin typeface="Inter" pitchFamily="34" charset="0"/>
                <a:ea typeface="Inter" pitchFamily="34" charset="-122"/>
                <a:cs typeface="Inter" pitchFamily="34" charset="-120"/>
              </a:rPr>
              <a:t>Demonstrated across multiple levels: Equivalence Partitioning and Boundary Value Analysis on chat models, 10-rule decision table on waste thresholds, 7-transition alert FSM, 5 CFG basis paths, and 44 Flutter unit/widget/integration tests.</a:t>
            </a:r>
            <a:endParaRPr lang="en-US" sz="750" dirty="0"/>
          </a:p>
        </p:txBody>
      </p:sp>
      <p:sp>
        <p:nvSpPr>
          <p:cNvPr id="12" name="Shape 10"/>
          <p:cNvSpPr/>
          <p:nvPr/>
        </p:nvSpPr>
        <p:spPr>
          <a:xfrm>
            <a:off x="914400" y="2880360"/>
            <a:ext cx="4846320" cy="914400"/>
          </a:xfrm>
          <a:prstGeom prst="rect">
            <a:avLst>
              <a:gd name="adj" fmla="val 6000"/>
            </a:avLst>
          </a:prstGeom>
          <a:solidFill>
            <a:srgbClr val="EAE5DC"/>
          </a:solidFill>
          <a:ln w="10160">
            <a:solidFill>
              <a:srgbClr val="E5E0D8"/>
            </a:solidFill>
            <a:prstDash val="solid"/>
          </a:ln>
        </p:spPr>
      </p:sp>
      <p:sp>
        <p:nvSpPr>
          <p:cNvPr id="13" name="Text 11"/>
          <p:cNvSpPr/>
          <p:nvPr/>
        </p:nvSpPr>
        <p:spPr>
          <a:xfrm>
            <a:off x="1005840" y="2935224"/>
            <a:ext cx="4663440" cy="201168"/>
          </a:xfrm>
          <a:prstGeom prst="rect">
            <a:avLst/>
          </a:prstGeom>
          <a:noFill/>
          <a:ln/>
        </p:spPr>
        <p:txBody>
          <a:bodyPr wrap="square" rtlCol="0" anchor="ctr"/>
          <a:lstStyle/>
          <a:p>
            <a:pPr indent="0" marL="0">
              <a:buNone/>
            </a:pPr>
            <a:r>
              <a:rPr lang="en-US" sz="800" b="1" dirty="0">
                <a:solidFill>
                  <a:srgbClr val="1B4332"/>
                </a:solidFill>
                <a:latin typeface="Montserrat" pitchFamily="34" charset="0"/>
                <a:ea typeface="Montserrat" pitchFamily="34" charset="-122"/>
                <a:cs typeface="Montserrat" pitchFamily="34" charset="-120"/>
              </a:rPr>
              <a:t>CO2: SELECT APPROPRIATE TESTING REGIMES</a:t>
            </a:r>
            <a:endParaRPr lang="en-US" sz="800" dirty="0"/>
          </a:p>
        </p:txBody>
      </p:sp>
      <p:sp>
        <p:nvSpPr>
          <p:cNvPr id="14" name="Text 12"/>
          <p:cNvSpPr/>
          <p:nvPr/>
        </p:nvSpPr>
        <p:spPr>
          <a:xfrm>
            <a:off x="1005840" y="3136392"/>
            <a:ext cx="4663440" cy="621792"/>
          </a:xfrm>
          <a:prstGeom prst="rect">
            <a:avLst/>
          </a:prstGeom>
          <a:noFill/>
          <a:ln/>
        </p:spPr>
        <p:txBody>
          <a:bodyPr wrap="square" rtlCol="0" anchor="ctr"/>
          <a:lstStyle/>
          <a:p>
            <a:pPr indent="0" marL="0">
              <a:buNone/>
            </a:pPr>
            <a:r>
              <a:rPr lang="en-US" sz="750" dirty="0">
                <a:solidFill>
                  <a:srgbClr val="1C1C19"/>
                </a:solidFill>
                <a:latin typeface="Inter" pitchFamily="34" charset="0"/>
                <a:ea typeface="Inter" pitchFamily="34" charset="-122"/>
                <a:cs typeface="Inter" pitchFamily="34" charset="-120"/>
              </a:rPr>
              <a:t>Validated by pairing fast offline classical unit tests for business formulas with mockist UI tests, rolling-origin ML backtests, multi-tenant security probes, and physical mobile hardware smoke tests.</a:t>
            </a:r>
            <a:endParaRPr lang="en-US" sz="750" dirty="0"/>
          </a:p>
        </p:txBody>
      </p:sp>
      <p:sp>
        <p:nvSpPr>
          <p:cNvPr id="15" name="Shape 13"/>
          <p:cNvSpPr/>
          <p:nvPr/>
        </p:nvSpPr>
        <p:spPr>
          <a:xfrm>
            <a:off x="914400" y="3886200"/>
            <a:ext cx="4846320" cy="914400"/>
          </a:xfrm>
          <a:prstGeom prst="rect">
            <a:avLst>
              <a:gd name="adj" fmla="val 6000"/>
            </a:avLst>
          </a:prstGeom>
          <a:solidFill>
            <a:srgbClr val="EAE5DC"/>
          </a:solidFill>
          <a:ln w="10160">
            <a:solidFill>
              <a:srgbClr val="E5E0D8"/>
            </a:solidFill>
            <a:prstDash val="solid"/>
          </a:ln>
        </p:spPr>
      </p:sp>
      <p:sp>
        <p:nvSpPr>
          <p:cNvPr id="16" name="Text 14"/>
          <p:cNvSpPr/>
          <p:nvPr/>
        </p:nvSpPr>
        <p:spPr>
          <a:xfrm>
            <a:off x="1005840" y="3941064"/>
            <a:ext cx="4663440" cy="201168"/>
          </a:xfrm>
          <a:prstGeom prst="rect">
            <a:avLst/>
          </a:prstGeom>
          <a:noFill/>
          <a:ln/>
        </p:spPr>
        <p:txBody>
          <a:bodyPr wrap="square" rtlCol="0" anchor="ctr"/>
          <a:lstStyle/>
          <a:p>
            <a:pPr indent="0" marL="0">
              <a:buNone/>
            </a:pPr>
            <a:r>
              <a:rPr lang="en-US" sz="800" b="1" dirty="0">
                <a:solidFill>
                  <a:srgbClr val="1B4332"/>
                </a:solidFill>
                <a:latin typeface="Montserrat" pitchFamily="34" charset="0"/>
                <a:ea typeface="Montserrat" pitchFamily="34" charset="-122"/>
                <a:cs typeface="Montserrat" pitchFamily="34" charset="-120"/>
              </a:rPr>
              <a:t>CO3: APPLY TEST-DRIVEN AUTOMATION</a:t>
            </a:r>
            <a:endParaRPr lang="en-US" sz="800" dirty="0"/>
          </a:p>
        </p:txBody>
      </p:sp>
      <p:sp>
        <p:nvSpPr>
          <p:cNvPr id="17" name="Text 15"/>
          <p:cNvSpPr/>
          <p:nvPr/>
        </p:nvSpPr>
        <p:spPr>
          <a:xfrm>
            <a:off x="1005840" y="4142232"/>
            <a:ext cx="4663440" cy="621792"/>
          </a:xfrm>
          <a:prstGeom prst="rect">
            <a:avLst/>
          </a:prstGeom>
          <a:noFill/>
          <a:ln/>
        </p:spPr>
        <p:txBody>
          <a:bodyPr wrap="square" rtlCol="0" anchor="ctr"/>
          <a:lstStyle/>
          <a:p>
            <a:pPr indent="0" marL="0">
              <a:buNone/>
            </a:pPr>
            <a:r>
              <a:rPr lang="en-US" sz="750" dirty="0">
                <a:solidFill>
                  <a:srgbClr val="1C1C19"/>
                </a:solidFill>
                <a:latin typeface="Inter" pitchFamily="34" charset="0"/>
                <a:ea typeface="Inter" pitchFamily="34" charset="-122"/>
                <a:cs typeface="Inter" pitchFamily="34" charset="-120"/>
              </a:rPr>
              <a:t>Evidenced by automated GitHub Actions regression workflows, 100% branch coverage on core security logic via coverage.py, and automated keep-alive health monitoring.</a:t>
            </a:r>
            <a:endParaRPr lang="en-US" sz="750" dirty="0"/>
          </a:p>
        </p:txBody>
      </p:sp>
      <p:sp>
        <p:nvSpPr>
          <p:cNvPr id="18" name="Shape 16"/>
          <p:cNvSpPr/>
          <p:nvPr/>
        </p:nvSpPr>
        <p:spPr>
          <a:xfrm>
            <a:off x="6217920" y="1371600"/>
            <a:ext cx="5212080" cy="3611880"/>
          </a:xfrm>
          <a:prstGeom prst="rect">
            <a:avLst>
              <a:gd name="adj" fmla="val 3038"/>
            </a:avLst>
          </a:prstGeom>
          <a:solidFill>
            <a:srgbClr val="FFFFFF"/>
          </a:solidFill>
          <a:ln w="19050">
            <a:solidFill>
              <a:srgbClr val="E5E0D8"/>
            </a:solidFill>
            <a:prstDash val="solid"/>
          </a:ln>
        </p:spPr>
      </p:sp>
      <p:sp>
        <p:nvSpPr>
          <p:cNvPr id="19" name="Text 17"/>
          <p:cNvSpPr/>
          <p:nvPr/>
        </p:nvSpPr>
        <p:spPr>
          <a:xfrm>
            <a:off x="6400800" y="1508760"/>
            <a:ext cx="4846320" cy="256032"/>
          </a:xfrm>
          <a:prstGeom prst="rect">
            <a:avLst/>
          </a:prstGeom>
          <a:noFill/>
          <a:ln/>
        </p:spPr>
        <p:txBody>
          <a:bodyPr wrap="square" rtlCol="0" anchor="ctr"/>
          <a:lstStyle/>
          <a:p>
            <a:pPr indent="0" marL="0">
              <a:buNone/>
            </a:pPr>
            <a:r>
              <a:rPr lang="en-US" sz="950" b="1" dirty="0">
                <a:solidFill>
                  <a:srgbClr val="1B4332"/>
                </a:solidFill>
                <a:latin typeface="Montserrat" pitchFamily="34" charset="0"/>
                <a:ea typeface="Montserrat" pitchFamily="34" charset="-122"/>
                <a:cs typeface="Montserrat" pitchFamily="34" charset="-120"/>
              </a:rPr>
              <a:t>NEXT TESTS &amp; FUTURE QUALITY ROADMAP</a:t>
            </a:r>
            <a:endParaRPr lang="en-US" sz="950" dirty="0"/>
          </a:p>
        </p:txBody>
      </p:sp>
      <p:sp>
        <p:nvSpPr>
          <p:cNvPr id="20" name="Shape 18"/>
          <p:cNvSpPr/>
          <p:nvPr/>
        </p:nvSpPr>
        <p:spPr>
          <a:xfrm>
            <a:off x="6400800" y="1874520"/>
            <a:ext cx="4846320" cy="676656"/>
          </a:xfrm>
          <a:prstGeom prst="rect">
            <a:avLst>
              <a:gd name="adj" fmla="val 8108"/>
            </a:avLst>
          </a:prstGeom>
          <a:solidFill>
            <a:srgbClr val="FCF9F4"/>
          </a:solidFill>
          <a:ln w="10160">
            <a:solidFill>
              <a:srgbClr val="E5E0D8"/>
            </a:solidFill>
            <a:prstDash val="solid"/>
          </a:ln>
        </p:spPr>
      </p:sp>
      <p:sp>
        <p:nvSpPr>
          <p:cNvPr id="21" name="Text 19"/>
          <p:cNvSpPr/>
          <p:nvPr/>
        </p:nvSpPr>
        <p:spPr>
          <a:xfrm>
            <a:off x="6492240" y="1920240"/>
            <a:ext cx="4663440" cy="201168"/>
          </a:xfrm>
          <a:prstGeom prst="rect">
            <a:avLst/>
          </a:prstGeom>
          <a:noFill/>
          <a:ln/>
        </p:spPr>
        <p:txBody>
          <a:bodyPr wrap="square" rtlCol="0" anchor="ctr"/>
          <a:lstStyle/>
          <a:p>
            <a:pPr indent="0" marL="0">
              <a:buNone/>
            </a:pPr>
            <a:r>
              <a:rPr lang="en-US" sz="800" b="1" dirty="0">
                <a:solidFill>
                  <a:srgbClr val="1B4332"/>
                </a:solidFill>
                <a:latin typeface="Montserrat" pitchFamily="34" charset="0"/>
                <a:ea typeface="Montserrat" pitchFamily="34" charset="-122"/>
                <a:cs typeface="Montserrat" pitchFamily="34" charset="-120"/>
              </a:rPr>
              <a:t>1. Calendar Day Alignment (DEF-008 Fix)</a:t>
            </a:r>
            <a:endParaRPr lang="en-US" sz="800" dirty="0"/>
          </a:p>
        </p:txBody>
      </p:sp>
      <p:sp>
        <p:nvSpPr>
          <p:cNvPr id="22" name="Text 20"/>
          <p:cNvSpPr/>
          <p:nvPr/>
        </p:nvSpPr>
        <p:spPr>
          <a:xfrm>
            <a:off x="6492240" y="2121408"/>
            <a:ext cx="4663440" cy="402336"/>
          </a:xfrm>
          <a:prstGeom prst="rect">
            <a:avLst/>
          </a:prstGeom>
          <a:noFill/>
          <a:ln/>
        </p:spPr>
        <p:txBody>
          <a:bodyPr wrap="square" rtlCol="0" anchor="ctr"/>
          <a:lstStyle/>
          <a:p>
            <a:pPr indent="0" marL="0">
              <a:buNone/>
            </a:pPr>
            <a:r>
              <a:rPr lang="en-US" sz="750" dirty="0">
                <a:solidFill>
                  <a:srgbClr val="1C1C19"/>
                </a:solidFill>
                <a:latin typeface="Inter" pitchFamily="34" charset="0"/>
                <a:ea typeface="Inter" pitchFamily="34" charset="-122"/>
                <a:cs typeface="Inter" pitchFamily="34" charset="-120"/>
              </a:rPr>
              <a:t>Refactor multi-week lag calculations in scripts/run_backtest.py from row-based shift(7*k) to calendar date alignment (freq='D') to eliminate weekday skew from 37 store closure days.</a:t>
            </a:r>
            <a:endParaRPr lang="en-US" sz="750" dirty="0"/>
          </a:p>
        </p:txBody>
      </p:sp>
      <p:sp>
        <p:nvSpPr>
          <p:cNvPr id="23" name="Shape 21"/>
          <p:cNvSpPr/>
          <p:nvPr/>
        </p:nvSpPr>
        <p:spPr>
          <a:xfrm>
            <a:off x="6400800" y="2624328"/>
            <a:ext cx="4846320" cy="676656"/>
          </a:xfrm>
          <a:prstGeom prst="rect">
            <a:avLst>
              <a:gd name="adj" fmla="val 8108"/>
            </a:avLst>
          </a:prstGeom>
          <a:solidFill>
            <a:srgbClr val="FCF9F4"/>
          </a:solidFill>
          <a:ln w="10160">
            <a:solidFill>
              <a:srgbClr val="E5E0D8"/>
            </a:solidFill>
            <a:prstDash val="solid"/>
          </a:ln>
        </p:spPr>
      </p:sp>
      <p:sp>
        <p:nvSpPr>
          <p:cNvPr id="24" name="Text 22"/>
          <p:cNvSpPr/>
          <p:nvPr/>
        </p:nvSpPr>
        <p:spPr>
          <a:xfrm>
            <a:off x="6492240" y="2670048"/>
            <a:ext cx="4663440" cy="201168"/>
          </a:xfrm>
          <a:prstGeom prst="rect">
            <a:avLst/>
          </a:prstGeom>
          <a:noFill/>
          <a:ln/>
        </p:spPr>
        <p:txBody>
          <a:bodyPr wrap="square" rtlCol="0" anchor="ctr"/>
          <a:lstStyle/>
          <a:p>
            <a:pPr indent="0" marL="0">
              <a:buNone/>
            </a:pPr>
            <a:r>
              <a:rPr lang="en-US" sz="800" b="1" dirty="0">
                <a:solidFill>
                  <a:srgbClr val="1B4332"/>
                </a:solidFill>
                <a:latin typeface="Montserrat" pitchFamily="34" charset="0"/>
                <a:ea typeface="Montserrat" pitchFamily="34" charset="-122"/>
                <a:cs typeface="Montserrat" pitchFamily="34" charset="-120"/>
              </a:rPr>
              <a:t>2. Commercial Bundling Engine (DEF-011 Fix)</a:t>
            </a:r>
            <a:endParaRPr lang="en-US" sz="800" dirty="0"/>
          </a:p>
        </p:txBody>
      </p:sp>
      <p:sp>
        <p:nvSpPr>
          <p:cNvPr id="25" name="Text 23"/>
          <p:cNvSpPr/>
          <p:nvPr/>
        </p:nvSpPr>
        <p:spPr>
          <a:xfrm>
            <a:off x="6492240" y="2871216"/>
            <a:ext cx="4663440" cy="402336"/>
          </a:xfrm>
          <a:prstGeom prst="rect">
            <a:avLst/>
          </a:prstGeom>
          <a:noFill/>
          <a:ln/>
        </p:spPr>
        <p:txBody>
          <a:bodyPr wrap="square" rtlCol="0" anchor="ctr"/>
          <a:lstStyle/>
          <a:p>
            <a:pPr indent="0" marL="0">
              <a:buNone/>
            </a:pPr>
            <a:r>
              <a:rPr lang="en-US" sz="750" dirty="0">
                <a:solidFill>
                  <a:srgbClr val="1C1C19"/>
                </a:solidFill>
                <a:latin typeface="Inter" pitchFamily="34" charset="0"/>
                <a:ea typeface="Inter" pitchFamily="34" charset="-122"/>
                <a:cs typeface="Inter" pitchFamily="34" charset="-120"/>
              </a:rPr>
              <a:t>Replace legacy donation endpoint with combo discounting/bundling logic to align code with retail business rules.</a:t>
            </a:r>
            <a:endParaRPr lang="en-US" sz="750" dirty="0"/>
          </a:p>
        </p:txBody>
      </p:sp>
      <p:sp>
        <p:nvSpPr>
          <p:cNvPr id="26" name="Shape 24"/>
          <p:cNvSpPr/>
          <p:nvPr/>
        </p:nvSpPr>
        <p:spPr>
          <a:xfrm>
            <a:off x="6400800" y="3374136"/>
            <a:ext cx="4846320" cy="676656"/>
          </a:xfrm>
          <a:prstGeom prst="rect">
            <a:avLst>
              <a:gd name="adj" fmla="val 8108"/>
            </a:avLst>
          </a:prstGeom>
          <a:solidFill>
            <a:srgbClr val="FCF9F4"/>
          </a:solidFill>
          <a:ln w="10160">
            <a:solidFill>
              <a:srgbClr val="E5E0D8"/>
            </a:solidFill>
            <a:prstDash val="solid"/>
          </a:ln>
        </p:spPr>
      </p:sp>
      <p:sp>
        <p:nvSpPr>
          <p:cNvPr id="27" name="Text 25"/>
          <p:cNvSpPr/>
          <p:nvPr/>
        </p:nvSpPr>
        <p:spPr>
          <a:xfrm>
            <a:off x="6492240" y="3419856"/>
            <a:ext cx="4663440" cy="201168"/>
          </a:xfrm>
          <a:prstGeom prst="rect">
            <a:avLst/>
          </a:prstGeom>
          <a:noFill/>
          <a:ln/>
        </p:spPr>
        <p:txBody>
          <a:bodyPr wrap="square" rtlCol="0" anchor="ctr"/>
          <a:lstStyle/>
          <a:p>
            <a:pPr indent="0" marL="0">
              <a:buNone/>
            </a:pPr>
            <a:r>
              <a:rPr lang="en-US" sz="800" b="1" dirty="0">
                <a:solidFill>
                  <a:srgbClr val="1B4332"/>
                </a:solidFill>
                <a:latin typeface="Montserrat" pitchFamily="34" charset="0"/>
                <a:ea typeface="Montserrat" pitchFamily="34" charset="-122"/>
                <a:cs typeface="Montserrat" pitchFamily="34" charset="-120"/>
              </a:rPr>
              <a:t>3. Distributed API Concurrency Load Testing</a:t>
            </a:r>
            <a:endParaRPr lang="en-US" sz="800" dirty="0"/>
          </a:p>
        </p:txBody>
      </p:sp>
      <p:sp>
        <p:nvSpPr>
          <p:cNvPr id="28" name="Text 26"/>
          <p:cNvSpPr/>
          <p:nvPr/>
        </p:nvSpPr>
        <p:spPr>
          <a:xfrm>
            <a:off x="6492240" y="3621024"/>
            <a:ext cx="4663440" cy="402336"/>
          </a:xfrm>
          <a:prstGeom prst="rect">
            <a:avLst/>
          </a:prstGeom>
          <a:noFill/>
          <a:ln/>
        </p:spPr>
        <p:txBody>
          <a:bodyPr wrap="square" rtlCol="0" anchor="ctr"/>
          <a:lstStyle/>
          <a:p>
            <a:pPr indent="0" marL="0">
              <a:buNone/>
            </a:pPr>
            <a:r>
              <a:rPr lang="en-US" sz="750" dirty="0">
                <a:solidFill>
                  <a:srgbClr val="1C1C19"/>
                </a:solidFill>
                <a:latin typeface="Inter" pitchFamily="34" charset="0"/>
                <a:ea typeface="Inter" pitchFamily="34" charset="-122"/>
                <a:cs typeface="Inter" pitchFamily="34" charset="-120"/>
              </a:rPr>
              <a:t>Execute Locust/k6 distributed load tests on FastAPI endpoints to benchmark async Motor throughput during morning kitchen rush periods.</a:t>
            </a:r>
            <a:endParaRPr lang="en-US" sz="750" dirty="0"/>
          </a:p>
        </p:txBody>
      </p:sp>
      <p:sp>
        <p:nvSpPr>
          <p:cNvPr id="29" name="Shape 27"/>
          <p:cNvSpPr/>
          <p:nvPr/>
        </p:nvSpPr>
        <p:spPr>
          <a:xfrm>
            <a:off x="6400800" y="4123944"/>
            <a:ext cx="4846320" cy="676656"/>
          </a:xfrm>
          <a:prstGeom prst="rect">
            <a:avLst>
              <a:gd name="adj" fmla="val 8108"/>
            </a:avLst>
          </a:prstGeom>
          <a:solidFill>
            <a:srgbClr val="FCF9F4"/>
          </a:solidFill>
          <a:ln w="10160">
            <a:solidFill>
              <a:srgbClr val="E5E0D8"/>
            </a:solidFill>
            <a:prstDash val="solid"/>
          </a:ln>
        </p:spPr>
      </p:sp>
      <p:sp>
        <p:nvSpPr>
          <p:cNvPr id="30" name="Text 28"/>
          <p:cNvSpPr/>
          <p:nvPr/>
        </p:nvSpPr>
        <p:spPr>
          <a:xfrm>
            <a:off x="6492240" y="4169664"/>
            <a:ext cx="4663440" cy="201168"/>
          </a:xfrm>
          <a:prstGeom prst="rect">
            <a:avLst/>
          </a:prstGeom>
          <a:noFill/>
          <a:ln/>
        </p:spPr>
        <p:txBody>
          <a:bodyPr wrap="square" rtlCol="0" anchor="ctr"/>
          <a:lstStyle/>
          <a:p>
            <a:pPr indent="0" marL="0">
              <a:buNone/>
            </a:pPr>
            <a:r>
              <a:rPr lang="en-US" sz="800" b="1" dirty="0">
                <a:solidFill>
                  <a:srgbClr val="1B4332"/>
                </a:solidFill>
                <a:latin typeface="Montserrat" pitchFamily="34" charset="0"/>
                <a:ea typeface="Montserrat" pitchFamily="34" charset="-122"/>
                <a:cs typeface="Montserrat" pitchFamily="34" charset="-120"/>
              </a:rPr>
              <a:t>4. Multi-Store Beta User Acceptance Testing</a:t>
            </a:r>
            <a:endParaRPr lang="en-US" sz="800" dirty="0"/>
          </a:p>
        </p:txBody>
      </p:sp>
      <p:sp>
        <p:nvSpPr>
          <p:cNvPr id="31" name="Text 29"/>
          <p:cNvSpPr/>
          <p:nvPr/>
        </p:nvSpPr>
        <p:spPr>
          <a:xfrm>
            <a:off x="6492240" y="4370832"/>
            <a:ext cx="4663440" cy="402336"/>
          </a:xfrm>
          <a:prstGeom prst="rect">
            <a:avLst/>
          </a:prstGeom>
          <a:noFill/>
          <a:ln/>
        </p:spPr>
        <p:txBody>
          <a:bodyPr wrap="square" rtlCol="0" anchor="ctr"/>
          <a:lstStyle/>
          <a:p>
            <a:pPr indent="0" marL="0">
              <a:buNone/>
            </a:pPr>
            <a:r>
              <a:rPr lang="en-US" sz="750" dirty="0">
                <a:solidFill>
                  <a:srgbClr val="1C1C19"/>
                </a:solidFill>
                <a:latin typeface="Inter" pitchFamily="34" charset="0"/>
                <a:ea typeface="Inter" pitchFamily="34" charset="-122"/>
                <a:cs typeface="Inter" pitchFamily="34" charset="-120"/>
              </a:rPr>
              <a:t>Deploy compiled APK to 5 independent bakery pilots to measure actual kitchen staff check-in times and UX cognitive load.</a:t>
            </a:r>
            <a:endParaRPr lang="en-US" sz="750" dirty="0"/>
          </a:p>
        </p:txBody>
      </p:sp>
      <p:sp>
        <p:nvSpPr>
          <p:cNvPr id="32" name="Text 30"/>
          <p:cNvSpPr/>
          <p:nvPr/>
        </p:nvSpPr>
        <p:spPr>
          <a:xfrm>
            <a:off x="731520" y="5166360"/>
            <a:ext cx="10698480" cy="1234440"/>
          </a:xfrm>
          <a:prstGeom prst="rect">
            <a:avLst/>
          </a:prstGeom>
          <a:noFill/>
          <a:ln/>
        </p:spPr>
        <p:txBody>
          <a:bodyPr wrap="square" rtlCol="0" anchor="t"/>
          <a:lstStyle/>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Course Outcome Fulfillment: Complete achievement of CO1, CO2, and CO3 evidenced by robust multi-level test suites, formal test design techniques, and automated validation.</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Quality Engineering Impact: Elimination of critical mobile hangs, zero cross-tenant data leaks, and zero hallucinated numbers demonstrate production-grade software reliability.</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Future Testing Agenda: Immediate priorities focus on calendar lag alignment, commercial bundling logic replacement, and distributed API load testing.</a:t>
            </a:r>
            <a:endParaRPr lang="en-US" sz="1150" dirty="0"/>
          </a:p>
        </p:txBody>
      </p:sp>
      <p:sp>
        <p:nvSpPr>
          <p:cNvPr id="33" name="Text 31"/>
          <p:cNvSpPr/>
          <p:nvPr/>
        </p:nvSpPr>
        <p:spPr>
          <a:xfrm>
            <a:off x="731520" y="6419088"/>
            <a:ext cx="10698480" cy="228600"/>
          </a:xfrm>
          <a:prstGeom prst="rect">
            <a:avLst/>
          </a:prstGeom>
          <a:noFill/>
          <a:ln/>
        </p:spPr>
        <p:txBody>
          <a:bodyPr wrap="square" rtlCol="0" anchor="b"/>
          <a:lstStyle/>
          <a:p>
            <a:pPr indent="0" marL="0">
              <a:buNone/>
            </a:pPr>
            <a:r>
              <a:rPr lang="en-US" sz="850" i="1" dirty="0">
                <a:solidFill>
                  <a:srgbClr val="5A5A54"/>
                </a:solidFill>
                <a:latin typeface="Inter" pitchFamily="34" charset="0"/>
                <a:ea typeface="Inter" pitchFamily="34" charset="-122"/>
                <a:cs typeface="Inter" pitchFamily="34" charset="-120"/>
              </a:rPr>
              <a:t>Evidence Source: Curriculum Course Outcomes CO1-CO3; RestockIQ Quality Engineering Roadmap.</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RestockIQ: Software Testing &amp; System Integrity Defense</dc:title>
  <dc:subject>Course 702IT0E035 Software Testing Presentation</dc:subject>
  <dc:creator>Yatin Patil (Lucifer)</dc:creator>
  <cp:lastModifiedBy>Yatin Patil (Lucifer)</cp:lastModifiedBy>
  <cp:revision>1</cp:revision>
  <dcterms:created xsi:type="dcterms:W3CDTF">2026-10-26T14:19:06Z</dcterms:created>
  <dcterms:modified xsi:type="dcterms:W3CDTF">2026-10-26T14:19:06Z</dcterms:modified>
</cp:coreProperties>
</file>