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handoutMasterIdLst>
    <p:handoutMasterId r:id="rId19"/>
  </p:handoutMasterIdLst>
  <p:sldIdLst>
    <p:sldId id="256" r:id="rId2"/>
    <p:sldId id="271" r:id="rId3"/>
    <p:sldId id="272" r:id="rId4"/>
    <p:sldId id="273" r:id="rId5"/>
    <p:sldId id="282" r:id="rId6"/>
    <p:sldId id="283" r:id="rId7"/>
    <p:sldId id="284" r:id="rId8"/>
    <p:sldId id="285" r:id="rId9"/>
    <p:sldId id="286" r:id="rId10"/>
    <p:sldId id="287" r:id="rId11"/>
    <p:sldId id="288" r:id="rId12"/>
    <p:sldId id="289" r:id="rId13"/>
    <p:sldId id="290" r:id="rId14"/>
    <p:sldId id="291" r:id="rId15"/>
    <p:sldId id="292" r:id="rId16"/>
    <p:sldId id="293" r:id="rId17"/>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53E"/>
    <a:srgbClr val="245B8A"/>
    <a:srgbClr val="F3DA6B"/>
    <a:srgbClr val="FCFDFC"/>
    <a:srgbClr val="FEFEFC"/>
    <a:srgbClr val="C62829"/>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169B5-15AE-DBDD-9604-384BF60A2E0A}" v="2" dt="2026-08-07T17:27:04.82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277"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83169B5-15AE-DBDD-9604-384BF60A2E0A}"/>
    <pc:docChg chg="modSld">
      <pc:chgData name="" userId="" providerId="" clId="Web-{C83169B5-15AE-DBDD-9604-384BF60A2E0A}" dt="2026-08-07T17:27:04.825" v="1" actId="1076"/>
      <pc:docMkLst>
        <pc:docMk/>
      </pc:docMkLst>
      <pc:sldChg chg="modSp">
        <pc:chgData name="" userId="" providerId="" clId="Web-{C83169B5-15AE-DBDD-9604-384BF60A2E0A}" dt="2026-08-07T17:27:04.825" v="1" actId="1076"/>
        <pc:sldMkLst>
          <pc:docMk/>
          <pc:sldMk cId="3564950406" sldId="256"/>
        </pc:sldMkLst>
        <pc:picChg chg="mod">
          <ac:chgData name="" userId="" providerId="" clId="Web-{C83169B5-15AE-DBDD-9604-384BF60A2E0A}" dt="2026-08-07T17:27:04.825" v="1" actId="1076"/>
          <ac:picMkLst>
            <pc:docMk/>
            <pc:sldMk cId="3564950406" sldId="256"/>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ED0C86-FBDC-4F4B-868F-AD75546791C9}" type="datetimeFigureOut">
              <a:rPr lang="en-IN" smtClean="0"/>
              <a:t>08-08-2026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DDF0C8-312A-47D5-B2F4-EC84B28678E7}" type="slidenum">
              <a:rPr lang="en-IN" smtClean="0"/>
              <a:t>‹#›</a:t>
            </a:fld>
            <a:endParaRPr lang="en-IN"/>
          </a:p>
        </p:txBody>
      </p:sp>
    </p:spTree>
    <p:extLst>
      <p:ext uri="{BB962C8B-B14F-4D97-AF65-F5344CB8AC3E}">
        <p14:creationId xmlns:p14="http://schemas.microsoft.com/office/powerpoint/2010/main" val="37535770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20C9C-43E4-4A05-8258-078FAE48E1C5}" type="datetimeFigureOut">
              <a:rPr lang="en-US" smtClean="0"/>
              <a:t>8/8/2026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DD2F5-B3BE-4FC0-9A06-F4EF821376E0}" type="slidenum">
              <a:rPr lang="en-US" smtClean="0"/>
              <a:t>‹#›</a:t>
            </a:fld>
            <a:endParaRPr lang="en-US"/>
          </a:p>
        </p:txBody>
      </p:sp>
    </p:spTree>
    <p:extLst>
      <p:ext uri="{BB962C8B-B14F-4D97-AF65-F5344CB8AC3E}">
        <p14:creationId xmlns:p14="http://schemas.microsoft.com/office/powerpoint/2010/main" val="211351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E27762-CF53-41B2-8332-42AC258A58BE}"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06622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0EA483-BB4B-4DBC-931E-3BF85FAE6A67}"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2594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27A45-7C51-4151-9B1B-1CA80AE62BB7}"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9744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AF275D-B4B9-451C-BE93-8DB98955D399}" type="datetime1">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19375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11117E-90CC-4F18-B8A4-D8D0F9191E86}" type="datetime1">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416460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6B89A9-0E18-486C-9BBB-0139AC9D6E2D}" type="datetime1">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184622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0A26EB-BB09-4DA4-BAE7-6CB857A6EABB}" type="datetime1">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57101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DCCE52-B654-4B38-8F99-60DF87FDAE55}" type="datetime1">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403166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CEAC99-A21A-4B2B-8209-0F0DB40DCF77}" type="datetime1">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90249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31EE7-D61B-4A5B-B5F8-D5F455DA5289}"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83126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E01C69-65C3-4313-BFA7-3AF5EC40E60E}" type="datetime1">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89502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52B1-AF3C-45C7-8AB3-BD36D09248C9}" type="datetime1">
              <a:rPr lang="en-US" smtClean="0"/>
              <a:t>8/8/2026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013F7-6D70-4318-BA41-212A9B59413B}" type="slidenum">
              <a:rPr lang="en-US" smtClean="0"/>
              <a:t>‹#›</a:t>
            </a:fld>
            <a:endParaRPr lang="en-US"/>
          </a:p>
        </p:txBody>
      </p:sp>
    </p:spTree>
    <p:extLst>
      <p:ext uri="{BB962C8B-B14F-4D97-AF65-F5344CB8AC3E}">
        <p14:creationId xmlns:p14="http://schemas.microsoft.com/office/powerpoint/2010/main" val="27891049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b="6633"/>
          <a:stretch/>
        </p:blipFill>
        <p:spPr>
          <a:xfrm>
            <a:off x="0" y="0"/>
            <a:ext cx="3927231" cy="939765"/>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20" name="Slide Number Placeholder 19"/>
          <p:cNvSpPr>
            <a:spLocks noGrp="1"/>
          </p:cNvSpPr>
          <p:nvPr>
            <p:ph type="sldNum" sz="quarter" idx="12"/>
          </p:nvPr>
        </p:nvSpPr>
        <p:spPr/>
        <p:txBody>
          <a:bodyPr/>
          <a:lstStyle/>
          <a:p>
            <a:fld id="{9DC013F7-6D70-4318-BA41-212A9B59413B}" type="slidenum">
              <a:rPr lang="en-US" smtClean="0"/>
              <a:t>1</a:t>
            </a:fld>
            <a:endParaRPr lang="en-US"/>
          </a:p>
        </p:txBody>
      </p:sp>
      <p:sp>
        <p:nvSpPr>
          <p:cNvPr id="10" name="Rectangle 9"/>
          <p:cNvSpPr/>
          <p:nvPr/>
        </p:nvSpPr>
        <p:spPr>
          <a:xfrm>
            <a:off x="0" y="541718"/>
            <a:ext cx="9905999" cy="4124206"/>
          </a:xfrm>
          <a:prstGeom prst="rect">
            <a:avLst/>
          </a:prstGeom>
        </p:spPr>
        <p:txBody>
          <a:bodyPr wrap="square">
            <a:spAutoFit/>
          </a:bodyPr>
          <a:lstStyle/>
          <a:p>
            <a:pPr algn="ctr"/>
            <a:r>
              <a:rPr lang="en-IN" sz="2200" b="1" dirty="0">
                <a:latin typeface="Times New Roman" pitchFamily="18" charset="0"/>
                <a:cs typeface="Times New Roman" pitchFamily="18" charset="0"/>
              </a:rPr>
              <a:t>Presentation (Review-I)</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on</a:t>
            </a:r>
            <a:br>
              <a:rPr lang="en-IN" sz="2200" b="1" dirty="0">
                <a:latin typeface="Times New Roman" pitchFamily="18" charset="0"/>
                <a:cs typeface="Times New Roman" pitchFamily="18" charset="0"/>
              </a:rPr>
            </a:br>
            <a:r>
              <a:rPr lang="en-IN" sz="2200" b="1"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200" b="1" dirty="0">
                <a:solidFill>
                  <a:srgbClr val="C00000"/>
                </a:solidFill>
                <a:latin typeface="Times New Roman" panose="02020603050405020304" pitchFamily="18" charset="0"/>
                <a:cs typeface="Times New Roman" panose="02020603050405020304" pitchFamily="18" charset="0"/>
              </a:rPr>
            </a:br>
            <a:r>
              <a:rPr lang="en-IN" sz="2200" b="1" dirty="0">
                <a:solidFill>
                  <a:srgbClr val="C00000"/>
                </a:solidFill>
                <a:latin typeface="Times New Roman" panose="02020603050405020304" pitchFamily="18" charset="0"/>
                <a:cs typeface="Times New Roman" panose="02020603050405020304" pitchFamily="18" charset="0"/>
              </a:rPr>
              <a:t> for Small Food Retailers</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By</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1. Yatin Patil 70012300043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2. Chinmay Patil 70012300123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3.</a:t>
            </a:r>
            <a:r>
              <a:rPr lang="en-IN" sz="2200" dirty="0">
                <a:latin typeface="Times New Roman" panose="02020603050405020304" pitchFamily="18" charset="0"/>
                <a:cs typeface="Times New Roman" pitchFamily="18" charset="0"/>
              </a:rPr>
              <a:t> </a:t>
            </a:r>
            <a:r>
              <a:rPr lang="en-IN" sz="2200" b="1" dirty="0">
                <a:latin typeface="Times New Roman" panose="02020603050405020304" pitchFamily="18" charset="0"/>
                <a:cs typeface="Times New Roman" pitchFamily="18" charset="0"/>
              </a:rPr>
              <a:t>Soumy Raghuvanshi 70012300116</a:t>
            </a:r>
          </a:p>
          <a:p>
            <a:pPr algn="ctr"/>
            <a:br>
              <a:rPr lang="en-IN" sz="2000" b="1" dirty="0">
                <a:latin typeface="Times New Roman" pitchFamily="18" charset="0"/>
                <a:cs typeface="Times New Roman" pitchFamily="18" charset="0"/>
              </a:rPr>
            </a:br>
            <a:r>
              <a:rPr lang="en-IN" sz="2200" b="1" dirty="0">
                <a:latin typeface="Times New Roman" pitchFamily="18" charset="0"/>
                <a:cs typeface="Times New Roman" pitchFamily="18" charset="0"/>
              </a:rPr>
              <a:t>Under the Guidance of</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Dr. Srikanth </a:t>
            </a:r>
            <a:r>
              <a:rPr lang="en-IN" sz="2200" b="1" dirty="0" err="1">
                <a:latin typeface="Times New Roman" panose="02020603050405020304" pitchFamily="18" charset="0"/>
                <a:cs typeface="Times New Roman" panose="02020603050405020304" pitchFamily="18" charset="0"/>
              </a:rPr>
              <a:t>Pulipeti</a:t>
            </a:r>
            <a:br>
              <a:rPr lang="en-IN" sz="2200" b="1" dirty="0">
                <a:latin typeface="Times New Roman" pitchFamily="18" charset="0"/>
                <a:cs typeface="Times New Roman" pitchFamily="18" charset="0"/>
              </a:rPr>
            </a:br>
            <a:endParaRPr lang="en-IN" sz="2200" b="1" dirty="0">
              <a:solidFill>
                <a:srgbClr val="C00000"/>
              </a:solidFill>
              <a:latin typeface="Book Antiqua" panose="02040602050305030304" pitchFamily="18" charset="0"/>
            </a:endParaRPr>
          </a:p>
        </p:txBody>
      </p:sp>
      <p:pic>
        <p:nvPicPr>
          <p:cNvPr id="5" name="Picture 3" descr="C:\Users\kunal\Pictures\nmims.png">
            <a:extLst>
              <a:ext uri="{FF2B5EF4-FFF2-40B4-BE49-F238E27FC236}">
                <a16:creationId xmlns:a16="http://schemas.microsoft.com/office/drawing/2014/main" id="{FE81BFD6-F0E8-E702-50DC-E3D9C80ADC50}"/>
              </a:ext>
            </a:extLst>
          </p:cNvPr>
          <p:cNvPicPr>
            <a:picLocks noChangeAspect="1" noChangeArrowheads="1"/>
          </p:cNvPicPr>
          <p:nvPr/>
        </p:nvPicPr>
        <p:blipFill>
          <a:blip r:embed="rId4" cstate="print"/>
          <a:srcRect/>
          <a:stretch>
            <a:fillRect/>
          </a:stretch>
        </p:blipFill>
        <p:spPr bwMode="auto">
          <a:xfrm>
            <a:off x="4424360" y="4405909"/>
            <a:ext cx="1057275" cy="1209675"/>
          </a:xfrm>
          <a:prstGeom prst="rect">
            <a:avLst/>
          </a:prstGeom>
          <a:noFill/>
        </p:spPr>
      </p:pic>
      <p:sp>
        <p:nvSpPr>
          <p:cNvPr id="9" name="TextBox 8">
            <a:extLst>
              <a:ext uri="{FF2B5EF4-FFF2-40B4-BE49-F238E27FC236}">
                <a16:creationId xmlns:a16="http://schemas.microsoft.com/office/drawing/2014/main" id="{0DC18BAC-5389-9ED2-C8BF-91014DDABE86}"/>
              </a:ext>
            </a:extLst>
          </p:cNvPr>
          <p:cNvSpPr txBox="1"/>
          <p:nvPr/>
        </p:nvSpPr>
        <p:spPr>
          <a:xfrm>
            <a:off x="2475410" y="5615584"/>
            <a:ext cx="4955176" cy="923330"/>
          </a:xfrm>
          <a:prstGeom prst="rect">
            <a:avLst/>
          </a:prstGeom>
          <a:noFill/>
        </p:spPr>
        <p:txBody>
          <a:bodyPr wrap="square">
            <a:spAutoFit/>
          </a:bodyPr>
          <a:lstStyle/>
          <a:p>
            <a:pPr algn="ctr"/>
            <a:r>
              <a:rPr lang="en-IN" b="1" dirty="0">
                <a:latin typeface="Times New Roman" pitchFamily="18" charset="0"/>
                <a:cs typeface="Times New Roman" pitchFamily="18" charset="0"/>
              </a:rPr>
              <a:t>Information Technology Department</a:t>
            </a:r>
          </a:p>
          <a:p>
            <a:pPr algn="ctr"/>
            <a:r>
              <a:rPr lang="en-IN" b="1" dirty="0">
                <a:latin typeface="Times New Roman" pitchFamily="18" charset="0"/>
                <a:cs typeface="Times New Roman" pitchFamily="18" charset="0"/>
              </a:rPr>
              <a:t>MPSTME, </a:t>
            </a:r>
            <a:r>
              <a:rPr lang="en-IN" b="1" dirty="0" err="1">
                <a:latin typeface="Times New Roman" pitchFamily="18" charset="0"/>
                <a:cs typeface="Times New Roman" pitchFamily="18" charset="0"/>
              </a:rPr>
              <a:t>Shirpur</a:t>
            </a: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Academic Year: 2026-27</a:t>
            </a:r>
          </a:p>
        </p:txBody>
      </p:sp>
      <p:pic>
        <p:nvPicPr>
          <p:cNvPr id="3" name="Picture 2">
            <a:extLst>
              <a:ext uri="{FF2B5EF4-FFF2-40B4-BE49-F238E27FC236}">
                <a16:creationId xmlns:a16="http://schemas.microsoft.com/office/drawing/2014/main" id="{17F5967D-2205-CF31-36CA-F4D859E460E6}"/>
              </a:ext>
            </a:extLst>
          </p:cNvPr>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spTree>
    <p:extLst>
      <p:ext uri="{BB962C8B-B14F-4D97-AF65-F5344CB8AC3E}">
        <p14:creationId xmlns:p14="http://schemas.microsoft.com/office/powerpoint/2010/main" val="35649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B26A2A5-A7CB-EE34-8A22-D91C1BC4FF8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p:cNvPicPr>
            <a:picLocks noChangeAspect="1"/>
          </p:cNvPicPr>
          <p:nvPr/>
        </p:nvPicPr>
        <p:blipFill rotWithShape="1">
          <a:blip r:embed="rId3"/>
          <a:srcRect b="6633"/>
          <a:stretch/>
        </p:blipFill>
        <p:spPr>
          <a:xfrm>
            <a:off x="0" y="0"/>
            <a:ext cx="3927231" cy="939765"/>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12" name="Rectangle 11"/>
          <p:cNvSpPr/>
          <p:nvPr/>
        </p:nvSpPr>
        <p:spPr>
          <a:xfrm>
            <a:off x="0" y="1130694"/>
            <a:ext cx="9905998" cy="646331"/>
          </a:xfrm>
          <a:prstGeom prst="rect">
            <a:avLst/>
          </a:prstGeom>
        </p:spPr>
        <p:txBody>
          <a:bodyPr wrap="square">
            <a:spAutoFit/>
          </a:bodyPr>
          <a:lstStyle/>
          <a:p>
            <a:pPr algn="ctr"/>
            <a:r>
              <a:rPr lang="en-IN" sz="3600" b="1" dirty="0">
                <a:latin typeface="Times New Roman" panose="02020603050405020304" pitchFamily="18" charset="0"/>
                <a:cs typeface="Times New Roman" panose="02020603050405020304" pitchFamily="18" charset="0"/>
              </a:rPr>
              <a:t>Outline</a:t>
            </a:r>
            <a:endParaRPr lang="en-US" sz="3600" b="1" dirty="0">
              <a:latin typeface="Teko SemiBold" panose="02000000000000000000" pitchFamily="2" charset="0"/>
              <a:cs typeface="Teko SemiBold" panose="02000000000000000000" pitchFamily="2" charset="0"/>
            </a:endParaRPr>
          </a:p>
        </p:txBody>
      </p:sp>
      <p:sp>
        <p:nvSpPr>
          <p:cNvPr id="3" name="Slide Number Placeholder 2"/>
          <p:cNvSpPr>
            <a:spLocks noGrp="1"/>
          </p:cNvSpPr>
          <p:nvPr>
            <p:ph type="sldNum" sz="quarter" idx="12"/>
          </p:nvPr>
        </p:nvSpPr>
        <p:spPr/>
        <p:txBody>
          <a:bodyPr/>
          <a:lstStyle/>
          <a:p>
            <a:fld id="{9DC013F7-6D70-4318-BA41-212A9B59413B}" type="slidenum">
              <a:rPr lang="en-US" smtClean="0"/>
              <a:t>2</a:t>
            </a:fld>
            <a:endParaRPr lang="en-US" dirty="0"/>
          </a:p>
        </p:txBody>
      </p:sp>
      <p:sp>
        <p:nvSpPr>
          <p:cNvPr id="2" name="AutoShape 4" descr="Neural Networks Hyperparameter tuning in tensorflow 2.0 | by SiDdhartha |  ML Book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62E40E59-48AE-8C99-565C-32E7E845E1DC}"/>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Box 9">
            <a:extLst>
              <a:ext uri="{FF2B5EF4-FFF2-40B4-BE49-F238E27FC236}">
                <a16:creationId xmlns:a16="http://schemas.microsoft.com/office/drawing/2014/main" id="{CD4E6C65-2211-2949-EE6B-796C5DE2AF5E}"/>
              </a:ext>
            </a:extLst>
          </p:cNvPr>
          <p:cNvSpPr txBox="1"/>
          <p:nvPr/>
        </p:nvSpPr>
        <p:spPr>
          <a:xfrm>
            <a:off x="404949" y="1838342"/>
            <a:ext cx="9096102" cy="4524315"/>
          </a:xfrm>
          <a:prstGeom prst="rect">
            <a:avLst/>
          </a:prstGeom>
          <a:noFill/>
        </p:spPr>
        <p:txBody>
          <a:bodyPr wrap="square">
            <a:spAutoFit/>
          </a:bodyPr>
          <a:lstStyle/>
          <a:p>
            <a:pPr marL="358775" lvl="1" indent="-358775">
              <a:lnSpc>
                <a:spcPct val="100000"/>
              </a:lnSpc>
              <a:buFont typeface="Arial" pitchFamily="34" charset="0"/>
              <a:buChar char="•"/>
            </a:pPr>
            <a:r>
              <a:rPr lang="en-IN" sz="2400"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Expected Outcomes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References</a:t>
            </a:r>
          </a:p>
        </p:txBody>
      </p:sp>
    </p:spTree>
    <p:extLst>
      <p:ext uri="{BB962C8B-B14F-4D97-AF65-F5344CB8AC3E}">
        <p14:creationId xmlns:p14="http://schemas.microsoft.com/office/powerpoint/2010/main" val="2541579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DDBC-4DAE-00CE-DE8B-792A94E2DB5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E982AE2-5ADA-EACC-6CE3-21BC520A884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AFB5C2D6-C041-1D95-458A-3A135F774CED}"/>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19396A03-91C2-46F1-87D9-4B7FBA12141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6C51ED1A-8A3D-15E6-3113-86DDD9777F7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1AA209EF-DA92-90F4-E3A1-941AF4F0A15C}"/>
              </a:ext>
            </a:extLst>
          </p:cNvPr>
          <p:cNvSpPr>
            <a:spLocks noGrp="1"/>
          </p:cNvSpPr>
          <p:nvPr>
            <p:ph type="sldNum" sz="quarter" idx="12"/>
          </p:nvPr>
        </p:nvSpPr>
        <p:spPr/>
        <p:txBody>
          <a:bodyPr/>
          <a:lstStyle/>
          <a:p>
            <a:fld id="{9DC013F7-6D70-4318-BA41-212A9B59413B}" type="slidenum">
              <a:rPr lang="en-US" smtClean="0"/>
              <a:t>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5BD6D88-B46A-BE43-3F56-436ECFB5FB2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 3">
            <a:extLst>
              <a:ext uri="{FF2B5EF4-FFF2-40B4-BE49-F238E27FC236}">
                <a16:creationId xmlns:a16="http://schemas.microsoft.com/office/drawing/2014/main" id="{E790F35C-D77F-020C-CC5D-E6EBB87CCB64}"/>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14" name="Shape 4">
            <a:extLst>
              <a:ext uri="{FF2B5EF4-FFF2-40B4-BE49-F238E27FC236}">
                <a16:creationId xmlns:a16="http://schemas.microsoft.com/office/drawing/2014/main" id="{2875DDFD-8DAB-9C95-CBB4-93DBEFDF9FFE}"/>
              </a:ext>
            </a:extLst>
          </p:cNvPr>
          <p:cNvSpPr/>
          <p:nvPr/>
        </p:nvSpPr>
        <p:spPr>
          <a:xfrm flipV="1">
            <a:off x="111030" y="1917627"/>
            <a:ext cx="8781043" cy="11570"/>
          </a:xfrm>
          <a:prstGeom prst="line">
            <a:avLst/>
          </a:prstGeom>
          <a:noFill/>
          <a:ln w="12700">
            <a:solidFill>
              <a:srgbClr val="E0DAD8"/>
            </a:solidFill>
            <a:prstDash val="solid"/>
          </a:ln>
        </p:spPr>
      </p:sp>
      <p:sp>
        <p:nvSpPr>
          <p:cNvPr id="16" name="TextBox 15">
            <a:extLst>
              <a:ext uri="{FF2B5EF4-FFF2-40B4-BE49-F238E27FC236}">
                <a16:creationId xmlns:a16="http://schemas.microsoft.com/office/drawing/2014/main" id="{7AEC69B8-81F0-E781-6582-145802711C51}"/>
              </a:ext>
            </a:extLst>
          </p:cNvPr>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18" name="TextBox 17">
            <a:extLst>
              <a:ext uri="{FF2B5EF4-FFF2-40B4-BE49-F238E27FC236}">
                <a16:creationId xmlns:a16="http://schemas.microsoft.com/office/drawing/2014/main" id="{E01249A8-EA95-1521-E0CC-F02D4687E867}"/>
              </a:ext>
            </a:extLst>
          </p:cNvPr>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20" name="TextBox 19">
            <a:extLst>
              <a:ext uri="{FF2B5EF4-FFF2-40B4-BE49-F238E27FC236}">
                <a16:creationId xmlns:a16="http://schemas.microsoft.com/office/drawing/2014/main" id="{307D2AE9-7BAA-D667-5232-F0185BA86769}"/>
              </a:ext>
            </a:extLst>
          </p:cNvPr>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22" name="TextBox 21">
            <a:extLst>
              <a:ext uri="{FF2B5EF4-FFF2-40B4-BE49-F238E27FC236}">
                <a16:creationId xmlns:a16="http://schemas.microsoft.com/office/drawing/2014/main" id="{CB34F092-6E45-F7F1-A74C-324059CA7C06}"/>
              </a:ext>
            </a:extLst>
          </p:cNvPr>
          <p:cNvSpPr txBox="1"/>
          <p:nvPr/>
        </p:nvSpPr>
        <p:spPr>
          <a:xfrm>
            <a:off x="261030" y="4246524"/>
            <a:ext cx="5361043" cy="276999"/>
          </a:xfrm>
          <a:prstGeom prst="rect">
            <a:avLst/>
          </a:prstGeom>
          <a:noFill/>
        </p:spPr>
        <p:txBody>
          <a:bodyPr wrap="square" lIns="0" tIns="0" rIns="0" bIns="0">
            <a:spAutoFit/>
          </a:bodyPr>
          <a:lstStyle/>
          <a:p>
            <a:r>
              <a:rPr sz="1800" b="1" i="0" dirty="0">
                <a:solidFill>
                  <a:srgbClr val="BC312C"/>
                </a:solidFill>
                <a:latin typeface="Calibri"/>
              </a:rPr>
              <a:t>WHY IT PERSISTS</a:t>
            </a:r>
          </a:p>
        </p:txBody>
      </p:sp>
      <p:sp>
        <p:nvSpPr>
          <p:cNvPr id="24" name="TextBox 23">
            <a:extLst>
              <a:ext uri="{FF2B5EF4-FFF2-40B4-BE49-F238E27FC236}">
                <a16:creationId xmlns:a16="http://schemas.microsoft.com/office/drawing/2014/main" id="{39B56F18-2E0F-3EA2-CBFD-D0A7667BB6AE}"/>
              </a:ext>
            </a:extLst>
          </p:cNvPr>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AI-driven forecasting has matured for large retail chains, but remains inaccessible to small operators without dedicated IT or data teams.</a:t>
            </a:r>
          </a:p>
        </p:txBody>
      </p:sp>
      <p:sp>
        <p:nvSpPr>
          <p:cNvPr id="26" name="TextBox 25">
            <a:extLst>
              <a:ext uri="{FF2B5EF4-FFF2-40B4-BE49-F238E27FC236}">
                <a16:creationId xmlns:a16="http://schemas.microsoft.com/office/drawing/2014/main" id="{A74085B5-481A-F7D3-64E8-B69D9D43BF46}"/>
              </a:ext>
            </a:extLst>
          </p:cNvPr>
          <p:cNvSpPr txBox="1"/>
          <p:nvPr/>
        </p:nvSpPr>
        <p:spPr>
          <a:xfrm>
            <a:off x="261030" y="5255890"/>
            <a:ext cx="5361043" cy="276999"/>
          </a:xfrm>
          <a:prstGeom prst="rect">
            <a:avLst/>
          </a:prstGeom>
          <a:noFill/>
        </p:spPr>
        <p:txBody>
          <a:bodyPr wrap="square" lIns="0" tIns="0" rIns="0" bIns="0">
            <a:spAutoFit/>
          </a:bodyPr>
          <a:lstStyle/>
          <a:p>
            <a:r>
              <a:rPr sz="1800" b="1" i="0" dirty="0">
                <a:solidFill>
                  <a:srgbClr val="BC312C"/>
                </a:solidFill>
                <a:latin typeface="Calibri"/>
              </a:rPr>
              <a:t>THE </a:t>
            </a:r>
            <a:r>
              <a:rPr lang="en-IN" sz="1800" b="1" i="0" dirty="0">
                <a:solidFill>
                  <a:srgbClr val="BC312C"/>
                </a:solidFill>
                <a:latin typeface="Calibri"/>
              </a:rPr>
              <a:t>TRADITIONAL </a:t>
            </a:r>
            <a:r>
              <a:rPr sz="1800" b="1" i="0" dirty="0">
                <a:solidFill>
                  <a:srgbClr val="BC312C"/>
                </a:solidFill>
                <a:latin typeface="Calibri"/>
              </a:rPr>
              <a:t>APPROACH</a:t>
            </a:r>
          </a:p>
        </p:txBody>
      </p:sp>
      <p:sp>
        <p:nvSpPr>
          <p:cNvPr id="28" name="TextBox 27">
            <a:extLst>
              <a:ext uri="{FF2B5EF4-FFF2-40B4-BE49-F238E27FC236}">
                <a16:creationId xmlns:a16="http://schemas.microsoft.com/office/drawing/2014/main" id="{9F3816B8-F646-B496-5BD2-B0CA554267E1}"/>
              </a:ext>
            </a:extLst>
          </p:cNvPr>
          <p:cNvSpPr txBox="1"/>
          <p:nvPr/>
        </p:nvSpPr>
        <p:spPr>
          <a:xfrm>
            <a:off x="261030" y="5555890"/>
            <a:ext cx="5361043" cy="1384995"/>
          </a:xfrm>
          <a:prstGeom prst="rect">
            <a:avLst/>
          </a:prstGeom>
          <a:noFill/>
        </p:spPr>
        <p:txBody>
          <a:bodyPr wrap="square" lIns="0" tIns="0" rIns="0" bIns="0">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Small operators currently rely on manual spreadsheets, simple moving averages, or pure gut-feel. These static methods completely fail to account for dynamic demand shocks like sudden weather changes or public holidays.</a:t>
            </a:r>
          </a:p>
          <a:p>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b="0" i="0" dirty="0">
              <a:solidFill>
                <a:srgbClr val="262626"/>
              </a:solidFill>
              <a:latin typeface="Calibri" panose="020F0502020204030204" pitchFamily="34" charset="0"/>
              <a:ea typeface="Calibri" panose="020F050202020403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512AACF7-D710-9861-34C0-0330063FB7F9}"/>
              </a:ext>
            </a:extLst>
          </p:cNvPr>
          <p:cNvPicPr>
            <a:picLocks noChangeAspect="1"/>
          </p:cNvPicPr>
          <p:nvPr/>
        </p:nvPicPr>
        <p:blipFill>
          <a:blip r:embed="rId4"/>
          <a:stretch>
            <a:fillRect/>
          </a:stretch>
        </p:blipFill>
        <p:spPr>
          <a:xfrm>
            <a:off x="6055567" y="2783843"/>
            <a:ext cx="2908041" cy="1932889"/>
          </a:xfrm>
          <a:prstGeom prst="rect">
            <a:avLst/>
          </a:prstGeom>
        </p:spPr>
      </p:pic>
      <p:pic>
        <p:nvPicPr>
          <p:cNvPr id="32" name="Picture 31">
            <a:extLst>
              <a:ext uri="{FF2B5EF4-FFF2-40B4-BE49-F238E27FC236}">
                <a16:creationId xmlns:a16="http://schemas.microsoft.com/office/drawing/2014/main" id="{C73D1605-8BD0-C0C6-CBDD-968F2C006760}"/>
              </a:ext>
            </a:extLst>
          </p:cNvPr>
          <p:cNvPicPr>
            <a:picLocks noChangeAspect="1"/>
          </p:cNvPicPr>
          <p:nvPr/>
        </p:nvPicPr>
        <p:blipFill>
          <a:blip r:embed="rId5"/>
          <a:stretch>
            <a:fillRect/>
          </a:stretch>
        </p:blipFill>
        <p:spPr>
          <a:xfrm>
            <a:off x="6055567" y="4782774"/>
            <a:ext cx="2908040" cy="1938693"/>
          </a:xfrm>
          <a:prstGeom prst="rect">
            <a:avLst/>
          </a:prstGeom>
        </p:spPr>
      </p:pic>
      <p:pic>
        <p:nvPicPr>
          <p:cNvPr id="34" name="Picture 33">
            <a:extLst>
              <a:ext uri="{FF2B5EF4-FFF2-40B4-BE49-F238E27FC236}">
                <a16:creationId xmlns:a16="http://schemas.microsoft.com/office/drawing/2014/main" id="{B4947CF9-0800-4A96-F007-1A4D27622437}"/>
              </a:ext>
            </a:extLst>
          </p:cNvPr>
          <p:cNvPicPr>
            <a:picLocks noChangeAspect="1"/>
          </p:cNvPicPr>
          <p:nvPr/>
        </p:nvPicPr>
        <p:blipFill>
          <a:blip r:embed="rId6"/>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42061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A5E8-CDBB-FFC1-BAC6-65DC397CAD2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A2DBE7B-582B-34A1-9614-579124E9F2D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785F62C8-64C8-C5E7-0EBB-14C2A5A4DD3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361BBF-8ABD-CF3A-CDBA-C0A2325E658A}"/>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C04C029-B346-0996-B6CB-F706FCE5BBA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EA9C35F-F3CE-3ECF-53E2-3F32F512022C}"/>
              </a:ext>
            </a:extLst>
          </p:cNvPr>
          <p:cNvSpPr>
            <a:spLocks noGrp="1"/>
          </p:cNvSpPr>
          <p:nvPr>
            <p:ph type="sldNum" sz="quarter" idx="12"/>
          </p:nvPr>
        </p:nvSpPr>
        <p:spPr/>
        <p:txBody>
          <a:bodyPr/>
          <a:lstStyle/>
          <a:p>
            <a:fld id="{9DC013F7-6D70-4318-BA41-212A9B59413B}" type="slidenum">
              <a:rPr lang="en-US" smtClean="0"/>
              <a:t>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3146348-8366-C50C-F3DC-886E5256608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493026-3C60-FF79-4552-5D4F2BF5A5B8}"/>
              </a:ext>
            </a:extLst>
          </p:cNvPr>
          <p:cNvSpPr/>
          <p:nvPr/>
        </p:nvSpPr>
        <p:spPr>
          <a:xfrm>
            <a:off x="46528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B4977E8B-34BD-F46B-D9D5-FB06F2D2DBEE}"/>
              </a:ext>
            </a:extLst>
          </p:cNvPr>
          <p:cNvSpPr/>
          <p:nvPr/>
        </p:nvSpPr>
        <p:spPr>
          <a:xfrm>
            <a:off x="148958" y="1260563"/>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4" name="Shape 4">
            <a:extLst>
              <a:ext uri="{FF2B5EF4-FFF2-40B4-BE49-F238E27FC236}">
                <a16:creationId xmlns:a16="http://schemas.microsoft.com/office/drawing/2014/main" id="{6641322A-A277-ACED-BBA4-31E26207618B}"/>
              </a:ext>
            </a:extLst>
          </p:cNvPr>
          <p:cNvSpPr/>
          <p:nvPr/>
        </p:nvSpPr>
        <p:spPr>
          <a:xfrm flipV="1">
            <a:off x="531511" y="1854923"/>
            <a:ext cx="8709164" cy="18288"/>
          </a:xfrm>
          <a:prstGeom prst="line">
            <a:avLst/>
          </a:prstGeom>
          <a:noFill/>
          <a:ln w="12700">
            <a:solidFill>
              <a:srgbClr val="E0DAD8"/>
            </a:solidFill>
            <a:prstDash val="solid"/>
          </a:ln>
        </p:spPr>
        <p:txBody>
          <a:bodyPr/>
          <a:lstStyle/>
          <a:p>
            <a:endParaRPr lang="en-IN"/>
          </a:p>
        </p:txBody>
      </p:sp>
      <p:sp>
        <p:nvSpPr>
          <p:cNvPr id="16" name="Text 5">
            <a:extLst>
              <a:ext uri="{FF2B5EF4-FFF2-40B4-BE49-F238E27FC236}">
                <a16:creationId xmlns:a16="http://schemas.microsoft.com/office/drawing/2014/main" id="{845C03B6-916D-5502-50A0-3C6E63AAABE2}"/>
              </a:ext>
            </a:extLst>
          </p:cNvPr>
          <p:cNvSpPr/>
          <p:nvPr/>
        </p:nvSpPr>
        <p:spPr>
          <a:xfrm>
            <a:off x="531511"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8" name="Shape 6">
            <a:extLst>
              <a:ext uri="{FF2B5EF4-FFF2-40B4-BE49-F238E27FC236}">
                <a16:creationId xmlns:a16="http://schemas.microsoft.com/office/drawing/2014/main" id="{E42DFE1E-63F0-B663-F880-4A8231176C2B}"/>
              </a:ext>
            </a:extLst>
          </p:cNvPr>
          <p:cNvSpPr/>
          <p:nvPr/>
        </p:nvSpPr>
        <p:spPr>
          <a:xfrm>
            <a:off x="531511" y="2880360"/>
            <a:ext cx="8778732" cy="1188720"/>
          </a:xfrm>
          <a:prstGeom prst="rect">
            <a:avLst/>
          </a:prstGeom>
          <a:solidFill>
            <a:srgbClr val="F7F5F4"/>
          </a:solidFill>
          <a:ln/>
        </p:spPr>
        <p:txBody>
          <a:bodyPr/>
          <a:lstStyle/>
          <a:p>
            <a:endParaRPr lang="en-IN" sz="1500"/>
          </a:p>
        </p:txBody>
      </p:sp>
      <p:sp>
        <p:nvSpPr>
          <p:cNvPr id="20" name="Text 7">
            <a:extLst>
              <a:ext uri="{FF2B5EF4-FFF2-40B4-BE49-F238E27FC236}">
                <a16:creationId xmlns:a16="http://schemas.microsoft.com/office/drawing/2014/main" id="{08A38051-F361-4B19-387B-D676770D18E9}"/>
              </a:ext>
            </a:extLst>
          </p:cNvPr>
          <p:cNvSpPr/>
          <p:nvPr/>
        </p:nvSpPr>
        <p:spPr>
          <a:xfrm>
            <a:off x="778645"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2" name="Shape 8">
            <a:extLst>
              <a:ext uri="{FF2B5EF4-FFF2-40B4-BE49-F238E27FC236}">
                <a16:creationId xmlns:a16="http://schemas.microsoft.com/office/drawing/2014/main" id="{85E035F8-C61B-7AE2-DE85-A72C50D6F009}"/>
              </a:ext>
            </a:extLst>
          </p:cNvPr>
          <p:cNvSpPr/>
          <p:nvPr/>
        </p:nvSpPr>
        <p:spPr>
          <a:xfrm>
            <a:off x="572114"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4" name="Shape 9">
            <a:extLst>
              <a:ext uri="{FF2B5EF4-FFF2-40B4-BE49-F238E27FC236}">
                <a16:creationId xmlns:a16="http://schemas.microsoft.com/office/drawing/2014/main" id="{D79A823A-75D2-0CE3-FD23-B541F41FFBAC}"/>
              </a:ext>
            </a:extLst>
          </p:cNvPr>
          <p:cNvSpPr/>
          <p:nvPr/>
        </p:nvSpPr>
        <p:spPr>
          <a:xfrm>
            <a:off x="572114" y="4221480"/>
            <a:ext cx="1928020" cy="457994"/>
          </a:xfrm>
          <a:prstGeom prst="rect">
            <a:avLst/>
          </a:prstGeom>
          <a:solidFill>
            <a:srgbClr val="BC312C"/>
          </a:solidFill>
          <a:ln/>
        </p:spPr>
        <p:txBody>
          <a:bodyPr/>
          <a:lstStyle/>
          <a:p>
            <a:endParaRPr lang="en-IN"/>
          </a:p>
        </p:txBody>
      </p:sp>
      <p:sp>
        <p:nvSpPr>
          <p:cNvPr id="26" name="Text 10">
            <a:extLst>
              <a:ext uri="{FF2B5EF4-FFF2-40B4-BE49-F238E27FC236}">
                <a16:creationId xmlns:a16="http://schemas.microsoft.com/office/drawing/2014/main" id="{94CC21EB-081C-698E-11E3-8E610288CD30}"/>
              </a:ext>
            </a:extLst>
          </p:cNvPr>
          <p:cNvSpPr/>
          <p:nvPr/>
        </p:nvSpPr>
        <p:spPr>
          <a:xfrm>
            <a:off x="650542" y="4221480"/>
            <a:ext cx="1928020"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sz="1400" dirty="0">
              <a:latin typeface="Times New Roman" panose="02020603050405020304" pitchFamily="18" charset="0"/>
              <a:cs typeface="Times New Roman" panose="02020603050405020304" pitchFamily="18" charset="0"/>
            </a:endParaRPr>
          </a:p>
        </p:txBody>
      </p:sp>
      <p:sp>
        <p:nvSpPr>
          <p:cNvPr id="28" name="Text 11">
            <a:extLst>
              <a:ext uri="{FF2B5EF4-FFF2-40B4-BE49-F238E27FC236}">
                <a16:creationId xmlns:a16="http://schemas.microsoft.com/office/drawing/2014/main" id="{05BEA8FE-B93E-5277-8401-222FA0E978F0}"/>
              </a:ext>
            </a:extLst>
          </p:cNvPr>
          <p:cNvSpPr/>
          <p:nvPr/>
        </p:nvSpPr>
        <p:spPr>
          <a:xfrm>
            <a:off x="670149"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7CD5A46-D604-FD02-0B1D-59F7A9278354}"/>
              </a:ext>
            </a:extLst>
          </p:cNvPr>
          <p:cNvSpPr/>
          <p:nvPr/>
        </p:nvSpPr>
        <p:spPr>
          <a:xfrm>
            <a:off x="279921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2" name="Shape 13">
            <a:extLst>
              <a:ext uri="{FF2B5EF4-FFF2-40B4-BE49-F238E27FC236}">
                <a16:creationId xmlns:a16="http://schemas.microsoft.com/office/drawing/2014/main" id="{63B18C03-9CCE-EB94-7AEA-EAA4D9CF11E8}"/>
              </a:ext>
            </a:extLst>
          </p:cNvPr>
          <p:cNvSpPr/>
          <p:nvPr/>
        </p:nvSpPr>
        <p:spPr>
          <a:xfrm>
            <a:off x="2799218" y="4221480"/>
            <a:ext cx="1928020" cy="457994"/>
          </a:xfrm>
          <a:prstGeom prst="rect">
            <a:avLst/>
          </a:prstGeom>
          <a:solidFill>
            <a:srgbClr val="BC312C"/>
          </a:solidFill>
          <a:ln/>
        </p:spPr>
        <p:txBody>
          <a:bodyPr/>
          <a:lstStyle/>
          <a:p>
            <a:endParaRPr lang="en-IN"/>
          </a:p>
        </p:txBody>
      </p:sp>
      <p:sp>
        <p:nvSpPr>
          <p:cNvPr id="34" name="Text 14">
            <a:extLst>
              <a:ext uri="{FF2B5EF4-FFF2-40B4-BE49-F238E27FC236}">
                <a16:creationId xmlns:a16="http://schemas.microsoft.com/office/drawing/2014/main" id="{FCD2AE15-605D-3DAE-E2E4-ADD4F2F03A2D}"/>
              </a:ext>
            </a:extLst>
          </p:cNvPr>
          <p:cNvSpPr/>
          <p:nvPr/>
        </p:nvSpPr>
        <p:spPr>
          <a:xfrm>
            <a:off x="2877646"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sz="1400" dirty="0">
              <a:latin typeface="Times New Roman" panose="02020603050405020304" pitchFamily="18" charset="0"/>
              <a:cs typeface="Times New Roman" panose="02020603050405020304" pitchFamily="18" charset="0"/>
            </a:endParaRPr>
          </a:p>
        </p:txBody>
      </p:sp>
      <p:sp>
        <p:nvSpPr>
          <p:cNvPr id="36" name="Text 15">
            <a:extLst>
              <a:ext uri="{FF2B5EF4-FFF2-40B4-BE49-F238E27FC236}">
                <a16:creationId xmlns:a16="http://schemas.microsoft.com/office/drawing/2014/main" id="{ECE66CA8-4D0B-57F9-77C1-2BA329DF40E1}"/>
              </a:ext>
            </a:extLst>
          </p:cNvPr>
          <p:cNvSpPr/>
          <p:nvPr/>
        </p:nvSpPr>
        <p:spPr>
          <a:xfrm>
            <a:off x="289725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8" name="Shape 16">
            <a:extLst>
              <a:ext uri="{FF2B5EF4-FFF2-40B4-BE49-F238E27FC236}">
                <a16:creationId xmlns:a16="http://schemas.microsoft.com/office/drawing/2014/main" id="{B5A749D2-F325-E38C-EC8C-DFE1D6125E5E}"/>
              </a:ext>
            </a:extLst>
          </p:cNvPr>
          <p:cNvSpPr/>
          <p:nvPr/>
        </p:nvSpPr>
        <p:spPr>
          <a:xfrm>
            <a:off x="507448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0" name="Shape 17">
            <a:extLst>
              <a:ext uri="{FF2B5EF4-FFF2-40B4-BE49-F238E27FC236}">
                <a16:creationId xmlns:a16="http://schemas.microsoft.com/office/drawing/2014/main" id="{223210BB-5FDB-C8F1-DDEF-80DD6E421395}"/>
              </a:ext>
            </a:extLst>
          </p:cNvPr>
          <p:cNvSpPr/>
          <p:nvPr/>
        </p:nvSpPr>
        <p:spPr>
          <a:xfrm>
            <a:off x="5074481" y="4221480"/>
            <a:ext cx="1928020" cy="457994"/>
          </a:xfrm>
          <a:prstGeom prst="rect">
            <a:avLst/>
          </a:prstGeom>
          <a:solidFill>
            <a:srgbClr val="BC312C"/>
          </a:solidFill>
          <a:ln/>
        </p:spPr>
        <p:txBody>
          <a:bodyPr/>
          <a:lstStyle/>
          <a:p>
            <a:endParaRPr lang="en-IN"/>
          </a:p>
        </p:txBody>
      </p:sp>
      <p:sp>
        <p:nvSpPr>
          <p:cNvPr id="42" name="Text 18">
            <a:extLst>
              <a:ext uri="{FF2B5EF4-FFF2-40B4-BE49-F238E27FC236}">
                <a16:creationId xmlns:a16="http://schemas.microsoft.com/office/drawing/2014/main" id="{A8B4FF82-78D6-94FD-105F-13C969F37BE9}"/>
              </a:ext>
            </a:extLst>
          </p:cNvPr>
          <p:cNvSpPr/>
          <p:nvPr/>
        </p:nvSpPr>
        <p:spPr>
          <a:xfrm>
            <a:off x="5152909"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sz="1400" dirty="0">
              <a:latin typeface="Times New Roman" panose="02020603050405020304" pitchFamily="18" charset="0"/>
              <a:cs typeface="Times New Roman" panose="02020603050405020304" pitchFamily="18" charset="0"/>
            </a:endParaRPr>
          </a:p>
        </p:txBody>
      </p:sp>
      <p:sp>
        <p:nvSpPr>
          <p:cNvPr id="44" name="Text 19">
            <a:extLst>
              <a:ext uri="{FF2B5EF4-FFF2-40B4-BE49-F238E27FC236}">
                <a16:creationId xmlns:a16="http://schemas.microsoft.com/office/drawing/2014/main" id="{20FAE579-7D08-554C-860B-CE9F51C55B47}"/>
              </a:ext>
            </a:extLst>
          </p:cNvPr>
          <p:cNvSpPr/>
          <p:nvPr/>
        </p:nvSpPr>
        <p:spPr>
          <a:xfrm>
            <a:off x="517251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6" name="Shape 20">
            <a:extLst>
              <a:ext uri="{FF2B5EF4-FFF2-40B4-BE49-F238E27FC236}">
                <a16:creationId xmlns:a16="http://schemas.microsoft.com/office/drawing/2014/main" id="{7161F564-B837-37F7-9925-8908C73B2E15}"/>
              </a:ext>
            </a:extLst>
          </p:cNvPr>
          <p:cNvSpPr/>
          <p:nvPr/>
        </p:nvSpPr>
        <p:spPr>
          <a:xfrm>
            <a:off x="7391082"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8" name="Shape 21">
            <a:extLst>
              <a:ext uri="{FF2B5EF4-FFF2-40B4-BE49-F238E27FC236}">
                <a16:creationId xmlns:a16="http://schemas.microsoft.com/office/drawing/2014/main" id="{3BF03896-D2E2-E2A9-F79B-1F3202679A38}"/>
              </a:ext>
            </a:extLst>
          </p:cNvPr>
          <p:cNvSpPr/>
          <p:nvPr/>
        </p:nvSpPr>
        <p:spPr>
          <a:xfrm>
            <a:off x="7391082" y="4221480"/>
            <a:ext cx="1928020" cy="457994"/>
          </a:xfrm>
          <a:prstGeom prst="rect">
            <a:avLst/>
          </a:prstGeom>
          <a:solidFill>
            <a:srgbClr val="BC312C"/>
          </a:solidFill>
          <a:ln/>
        </p:spPr>
        <p:txBody>
          <a:bodyPr/>
          <a:lstStyle/>
          <a:p>
            <a:endParaRPr lang="en-IN"/>
          </a:p>
        </p:txBody>
      </p:sp>
      <p:sp>
        <p:nvSpPr>
          <p:cNvPr id="50" name="Text 22">
            <a:extLst>
              <a:ext uri="{FF2B5EF4-FFF2-40B4-BE49-F238E27FC236}">
                <a16:creationId xmlns:a16="http://schemas.microsoft.com/office/drawing/2014/main" id="{959181A3-580B-83B2-40FD-BB3705CA389F}"/>
              </a:ext>
            </a:extLst>
          </p:cNvPr>
          <p:cNvSpPr/>
          <p:nvPr/>
        </p:nvSpPr>
        <p:spPr>
          <a:xfrm>
            <a:off x="7469510"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sz="1400" dirty="0">
              <a:latin typeface="Times New Roman" panose="02020603050405020304" pitchFamily="18" charset="0"/>
              <a:cs typeface="Times New Roman" panose="02020603050405020304" pitchFamily="18" charset="0"/>
            </a:endParaRPr>
          </a:p>
        </p:txBody>
      </p:sp>
      <p:sp>
        <p:nvSpPr>
          <p:cNvPr id="52" name="Text 23">
            <a:extLst>
              <a:ext uri="{FF2B5EF4-FFF2-40B4-BE49-F238E27FC236}">
                <a16:creationId xmlns:a16="http://schemas.microsoft.com/office/drawing/2014/main" id="{6300D305-542B-FC46-AFF2-91D214B60418}"/>
              </a:ext>
            </a:extLst>
          </p:cNvPr>
          <p:cNvSpPr/>
          <p:nvPr/>
        </p:nvSpPr>
        <p:spPr>
          <a:xfrm>
            <a:off x="7489117"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25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E212-A85D-750E-679E-F8F13734667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D0BD64C-2792-BF43-ECA6-B38D3B0A9FB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258CF18D-2C08-1D8B-FC12-3A8F9896F7DC}"/>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A8CD89D-95B7-E506-2505-07B944FB502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CC0FD066-9CFA-A207-4F83-031C7B3AAC92}"/>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4D0695DA-785E-0C1C-84FC-6BA28AB98E73}"/>
              </a:ext>
            </a:extLst>
          </p:cNvPr>
          <p:cNvSpPr>
            <a:spLocks noGrp="1"/>
          </p:cNvSpPr>
          <p:nvPr>
            <p:ph type="sldNum" sz="quarter" idx="12"/>
          </p:nvPr>
        </p:nvSpPr>
        <p:spPr/>
        <p:txBody>
          <a:bodyPr/>
          <a:lstStyle/>
          <a:p>
            <a:fld id="{9DC013F7-6D70-4318-BA41-212A9B59413B}" type="slidenum">
              <a:rPr lang="en-US" smtClean="0"/>
              <a:t>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B0C1D095-FD8E-9461-2903-12937BF6AC1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A6E1734D-4281-9487-CAA9-4F642F45B7F6}"/>
              </a:ext>
            </a:extLst>
          </p:cNvPr>
          <p:cNvSpPr/>
          <p:nvPr/>
        </p:nvSpPr>
        <p:spPr>
          <a:xfrm>
            <a:off x="40930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F425A0A-430A-1A93-2D05-C024C1CAD900}"/>
              </a:ext>
            </a:extLst>
          </p:cNvPr>
          <p:cNvSpPr/>
          <p:nvPr/>
        </p:nvSpPr>
        <p:spPr>
          <a:xfrm>
            <a:off x="188289" y="1269894"/>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75E802D6-5D14-012A-BB0F-9B8569C4B287}"/>
              </a:ext>
            </a:extLst>
          </p:cNvPr>
          <p:cNvSpPr/>
          <p:nvPr/>
        </p:nvSpPr>
        <p:spPr>
          <a:xfrm flipV="1">
            <a:off x="514862" y="1864254"/>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487F3DC0-3324-0388-A31F-06404A2E730B}"/>
              </a:ext>
            </a:extLst>
          </p:cNvPr>
          <p:cNvSpPr/>
          <p:nvPr/>
        </p:nvSpPr>
        <p:spPr>
          <a:xfrm>
            <a:off x="456389"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9E5E64D2-F9AC-7288-FE14-27DD70E38690}"/>
              </a:ext>
            </a:extLst>
          </p:cNvPr>
          <p:cNvSpPr/>
          <p:nvPr/>
        </p:nvSpPr>
        <p:spPr>
          <a:xfrm>
            <a:off x="654509"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7DBE0DC1-CB8C-F47E-9062-E13EAD9CB9BF}"/>
              </a:ext>
            </a:extLst>
          </p:cNvPr>
          <p:cNvSpPr/>
          <p:nvPr/>
        </p:nvSpPr>
        <p:spPr>
          <a:xfrm>
            <a:off x="928829"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16BCBB7E-F124-C786-52FC-E10DA0E66311}"/>
              </a:ext>
            </a:extLst>
          </p:cNvPr>
          <p:cNvSpPr/>
          <p:nvPr/>
        </p:nvSpPr>
        <p:spPr>
          <a:xfrm>
            <a:off x="654509"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68B9B91F-8EB3-73D8-25A3-50708289C17D}"/>
              </a:ext>
            </a:extLst>
          </p:cNvPr>
          <p:cNvSpPr/>
          <p:nvPr/>
        </p:nvSpPr>
        <p:spPr>
          <a:xfrm>
            <a:off x="928829"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3A0E7C47-5A24-2CFB-2CBD-16ABAC2F5886}"/>
              </a:ext>
            </a:extLst>
          </p:cNvPr>
          <p:cNvSpPr/>
          <p:nvPr/>
        </p:nvSpPr>
        <p:spPr>
          <a:xfrm>
            <a:off x="654509"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42119984-07FB-14DD-9524-9AC48979C297}"/>
              </a:ext>
            </a:extLst>
          </p:cNvPr>
          <p:cNvSpPr/>
          <p:nvPr/>
        </p:nvSpPr>
        <p:spPr>
          <a:xfrm>
            <a:off x="928829"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F007B948-1F0B-9533-EDDA-60A7A2571719}"/>
              </a:ext>
            </a:extLst>
          </p:cNvPr>
          <p:cNvSpPr/>
          <p:nvPr/>
        </p:nvSpPr>
        <p:spPr>
          <a:xfrm>
            <a:off x="654509"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ADA1B047-0CF7-AE25-E6A1-3D774C39DB62}"/>
              </a:ext>
            </a:extLst>
          </p:cNvPr>
          <p:cNvSpPr/>
          <p:nvPr/>
        </p:nvSpPr>
        <p:spPr>
          <a:xfrm>
            <a:off x="928829"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C20BA120-F31D-FC3B-BC6B-F165BBC55F44}"/>
              </a:ext>
            </a:extLst>
          </p:cNvPr>
          <p:cNvSpPr/>
          <p:nvPr/>
        </p:nvSpPr>
        <p:spPr>
          <a:xfrm>
            <a:off x="5943914" y="3561167"/>
            <a:ext cx="3447851" cy="1396229"/>
          </a:xfrm>
          <a:prstGeom prst="roundRect">
            <a:avLst>
              <a:gd name="adj" fmla="val 4615"/>
            </a:avLst>
          </a:prstGeom>
          <a:solidFill>
            <a:srgbClr val="FFFFFF"/>
          </a:solidFill>
          <a:ln w="12700">
            <a:solidFill>
              <a:srgbClr val="BC312C"/>
            </a:solidFill>
            <a:prstDash val="solid"/>
          </a:ln>
        </p:spPr>
        <p:txBody>
          <a:bodyPr/>
          <a:lstStyle/>
          <a:p>
            <a:endParaRPr lang="en-IN" dirty="0"/>
          </a:p>
        </p:txBody>
      </p:sp>
      <p:sp>
        <p:nvSpPr>
          <p:cNvPr id="34" name="Text 15">
            <a:extLst>
              <a:ext uri="{FF2B5EF4-FFF2-40B4-BE49-F238E27FC236}">
                <a16:creationId xmlns:a16="http://schemas.microsoft.com/office/drawing/2014/main" id="{4DF5C1C7-3EAA-36C1-2DD8-F9AE2A045353}"/>
              </a:ext>
            </a:extLst>
          </p:cNvPr>
          <p:cNvSpPr/>
          <p:nvPr/>
        </p:nvSpPr>
        <p:spPr>
          <a:xfrm>
            <a:off x="5979337" y="3673102"/>
            <a:ext cx="1239294" cy="1224386"/>
          </a:xfrm>
          <a:prstGeom prst="rect">
            <a:avLst/>
          </a:prstGeom>
          <a:noFill/>
          <a:ln/>
        </p:spPr>
        <p:txBody>
          <a:bodyPr wrap="square" lIns="0" tIns="0" rIns="0" bIns="0" rtlCol="0" anchor="ctr"/>
          <a:lstStyle/>
          <a:p>
            <a:pPr marL="0" indent="0" algn="ctr">
              <a:buNone/>
            </a:pPr>
            <a:r>
              <a:rPr lang="en-US" sz="2200" b="1" dirty="0">
                <a:solidFill>
                  <a:srgbClr val="BC312C"/>
                </a:solidFill>
                <a:latin typeface="Cambria" pitchFamily="34" charset="0"/>
                <a:ea typeface="Cambria" pitchFamily="34" charset="-122"/>
                <a:cs typeface="Cambria" pitchFamily="34" charset="-120"/>
              </a:rPr>
              <a:t>Adoption Barrier</a:t>
            </a:r>
            <a:endParaRPr lang="en-US" sz="2200" dirty="0"/>
          </a:p>
        </p:txBody>
      </p:sp>
      <p:sp>
        <p:nvSpPr>
          <p:cNvPr id="36" name="Text 16">
            <a:extLst>
              <a:ext uri="{FF2B5EF4-FFF2-40B4-BE49-F238E27FC236}">
                <a16:creationId xmlns:a16="http://schemas.microsoft.com/office/drawing/2014/main" id="{58ECDDEB-0593-3B98-C673-009414582F45}"/>
              </a:ext>
            </a:extLst>
          </p:cNvPr>
          <p:cNvSpPr/>
          <p:nvPr/>
        </p:nvSpPr>
        <p:spPr>
          <a:xfrm>
            <a:off x="7277045" y="3648905"/>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Perceived ease of use is the top factor in whether SME owners adopt AI tools at all (Yuniarty et al., 2025)</a:t>
            </a:r>
            <a:endParaRPr lang="en-US" sz="1400" dirty="0"/>
          </a:p>
        </p:txBody>
      </p:sp>
      <p:sp>
        <p:nvSpPr>
          <p:cNvPr id="38" name="Shape 17">
            <a:extLst>
              <a:ext uri="{FF2B5EF4-FFF2-40B4-BE49-F238E27FC236}">
                <a16:creationId xmlns:a16="http://schemas.microsoft.com/office/drawing/2014/main" id="{85D50DBD-BA52-C56C-398E-5EA68F3551B6}"/>
              </a:ext>
            </a:extLst>
          </p:cNvPr>
          <p:cNvSpPr/>
          <p:nvPr/>
        </p:nvSpPr>
        <p:spPr>
          <a:xfrm>
            <a:off x="5945590" y="500456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0AB0B377-28AC-4949-B1A5-B5EF7EFBF88C}"/>
              </a:ext>
            </a:extLst>
          </p:cNvPr>
          <p:cNvSpPr/>
          <p:nvPr/>
        </p:nvSpPr>
        <p:spPr>
          <a:xfrm>
            <a:off x="6082750" y="507771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4C606774-65FC-F998-405A-4A6DB47138E6}"/>
              </a:ext>
            </a:extLst>
          </p:cNvPr>
          <p:cNvSpPr/>
          <p:nvPr/>
        </p:nvSpPr>
        <p:spPr>
          <a:xfrm>
            <a:off x="7165076" y="509338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user satisfaction and digital-transformation readiness among SME retail users (Janchidfah et al., 2026)</a:t>
            </a:r>
            <a:endParaRPr lang="en-US" sz="1400" dirty="0"/>
          </a:p>
        </p:txBody>
      </p:sp>
      <p:sp>
        <p:nvSpPr>
          <p:cNvPr id="44" name="Shape 20">
            <a:extLst>
              <a:ext uri="{FF2B5EF4-FFF2-40B4-BE49-F238E27FC236}">
                <a16:creationId xmlns:a16="http://schemas.microsoft.com/office/drawing/2014/main" id="{AD0B99EA-DAFB-F102-28BF-329F52B0C134}"/>
              </a:ext>
            </a:extLst>
          </p:cNvPr>
          <p:cNvSpPr/>
          <p:nvPr/>
        </p:nvSpPr>
        <p:spPr>
          <a:xfrm>
            <a:off x="5936259" y="2121398"/>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6" name="Text 21">
            <a:extLst>
              <a:ext uri="{FF2B5EF4-FFF2-40B4-BE49-F238E27FC236}">
                <a16:creationId xmlns:a16="http://schemas.microsoft.com/office/drawing/2014/main" id="{44207713-881B-E6D9-7F50-F0E6A7B9C273}"/>
              </a:ext>
            </a:extLst>
          </p:cNvPr>
          <p:cNvSpPr/>
          <p:nvPr/>
        </p:nvSpPr>
        <p:spPr>
          <a:xfrm>
            <a:off x="6073419" y="2194550"/>
            <a:ext cx="1095579" cy="1224386"/>
          </a:xfrm>
          <a:prstGeom prst="rect">
            <a:avLst/>
          </a:prstGeom>
          <a:noFill/>
          <a:ln/>
        </p:spPr>
        <p:txBody>
          <a:bodyPr wrap="square" lIns="0" tIns="0" rIns="0" bIns="0" rtlCol="0" anchor="ctr"/>
          <a:lstStyle/>
          <a:p>
            <a:pPr marL="0" indent="0" algn="ctr">
              <a:buNone/>
            </a:pPr>
            <a:r>
              <a:rPr lang="en-US" sz="2400" b="1" dirty="0">
                <a:solidFill>
                  <a:srgbClr val="BC312C"/>
                </a:solidFill>
                <a:latin typeface="Cambria" pitchFamily="34" charset="0"/>
                <a:ea typeface="Cambria" pitchFamily="34" charset="-122"/>
                <a:cs typeface="Cambria" pitchFamily="34" charset="-120"/>
              </a:rPr>
              <a:t>30 to 40%</a:t>
            </a:r>
            <a:endParaRPr lang="en-US" sz="2400" dirty="0"/>
          </a:p>
        </p:txBody>
      </p:sp>
      <p:sp>
        <p:nvSpPr>
          <p:cNvPr id="48" name="Text 22">
            <a:extLst>
              <a:ext uri="{FF2B5EF4-FFF2-40B4-BE49-F238E27FC236}">
                <a16:creationId xmlns:a16="http://schemas.microsoft.com/office/drawing/2014/main" id="{CF371046-CF7D-9872-7082-CCF31840633A}"/>
              </a:ext>
            </a:extLst>
          </p:cNvPr>
          <p:cNvSpPr/>
          <p:nvPr/>
        </p:nvSpPr>
        <p:spPr>
          <a:xfrm>
            <a:off x="7178329" y="2246071"/>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various unaccounted factors (Jain et al., 2024)</a:t>
            </a:r>
            <a:endParaRPr lang="en-US" sz="1400" dirty="0"/>
          </a:p>
        </p:txBody>
      </p:sp>
    </p:spTree>
    <p:extLst>
      <p:ext uri="{BB962C8B-B14F-4D97-AF65-F5344CB8AC3E}">
        <p14:creationId xmlns:p14="http://schemas.microsoft.com/office/powerpoint/2010/main" val="238935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1B82-988C-912B-BD46-1F582B9C44C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C257626B-1FD6-1BB1-2AA0-57838453615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B9F4D92-7657-FE9A-9534-4C557C7B12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FC225BF7-E75F-B314-7EAB-06F247B2314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C04FBF1-3F70-184B-83C3-586E3695C56E}"/>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C27D0D3A-9C9C-8B08-7BD0-F1FA546BEFCB}"/>
              </a:ext>
            </a:extLst>
          </p:cNvPr>
          <p:cNvSpPr>
            <a:spLocks noGrp="1"/>
          </p:cNvSpPr>
          <p:nvPr>
            <p:ph type="sldNum" sz="quarter" idx="12"/>
          </p:nvPr>
        </p:nvSpPr>
        <p:spPr/>
        <p:txBody>
          <a:bodyPr/>
          <a:lstStyle/>
          <a:p>
            <a:fld id="{9DC013F7-6D70-4318-BA41-212A9B59413B}" type="slidenum">
              <a:rPr lang="en-US" smtClean="0"/>
              <a:t>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CB7FA40-0F34-1A04-F5BF-ACF7B6F6302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9589C431-B7B4-1144-C91F-7E1890C652FA}"/>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0523E36A-76E9-9EFE-238C-8880053F611D}"/>
              </a:ext>
            </a:extLst>
          </p:cNvPr>
          <p:cNvSpPr/>
          <p:nvPr/>
        </p:nvSpPr>
        <p:spPr>
          <a:xfrm>
            <a:off x="185671" y="1269894"/>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12" name="Rectangle 11">
            <a:extLst>
              <a:ext uri="{FF2B5EF4-FFF2-40B4-BE49-F238E27FC236}">
                <a16:creationId xmlns:a16="http://schemas.microsoft.com/office/drawing/2014/main" id="{33B06195-292D-E346-C67D-24D78FF7FFDF}"/>
              </a:ext>
            </a:extLst>
          </p:cNvPr>
          <p:cNvSpPr/>
          <p:nvPr/>
        </p:nvSpPr>
        <p:spPr>
          <a:xfrm>
            <a:off x="511954" y="1986618"/>
            <a:ext cx="4207399" cy="2328047"/>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14" name="TextBox 13">
            <a:extLst>
              <a:ext uri="{FF2B5EF4-FFF2-40B4-BE49-F238E27FC236}">
                <a16:creationId xmlns:a16="http://schemas.microsoft.com/office/drawing/2014/main" id="{5EAEFDC8-523F-C127-07A3-A899F1B2CB6C}"/>
              </a:ext>
            </a:extLst>
          </p:cNvPr>
          <p:cNvSpPr txBox="1"/>
          <p:nvPr/>
        </p:nvSpPr>
        <p:spPr>
          <a:xfrm>
            <a:off x="661955" y="2086619"/>
            <a:ext cx="487313" cy="492443"/>
          </a:xfrm>
          <a:prstGeom prst="rect">
            <a:avLst/>
          </a:prstGeom>
          <a:noFill/>
        </p:spPr>
        <p:txBody>
          <a:bodyPr wrap="none" lIns="0" tIns="0" rIns="0" bIns="0">
            <a:spAutoFit/>
          </a:bodyPr>
          <a:lstStyle/>
          <a:p>
            <a:r>
              <a:rPr sz="3200" b="1">
                <a:solidFill>
                  <a:srgbClr val="BC312C"/>
                </a:solidFill>
                <a:latin typeface="Cambria"/>
              </a:rPr>
              <a:t>01</a:t>
            </a:r>
          </a:p>
        </p:txBody>
      </p:sp>
      <p:sp>
        <p:nvSpPr>
          <p:cNvPr id="16" name="TextBox 15">
            <a:extLst>
              <a:ext uri="{FF2B5EF4-FFF2-40B4-BE49-F238E27FC236}">
                <a16:creationId xmlns:a16="http://schemas.microsoft.com/office/drawing/2014/main" id="{DC00B342-69BF-24A1-FDAB-DCC992CD04A3}"/>
              </a:ext>
            </a:extLst>
          </p:cNvPr>
          <p:cNvSpPr txBox="1"/>
          <p:nvPr/>
        </p:nvSpPr>
        <p:spPr>
          <a:xfrm>
            <a:off x="661955" y="2652066"/>
            <a:ext cx="3722000" cy="276999"/>
          </a:xfrm>
          <a:prstGeom prst="rect">
            <a:avLst/>
          </a:prstGeom>
          <a:noFill/>
        </p:spPr>
        <p:txBody>
          <a:bodyPr wrap="square" lIns="0" tIns="0" rIns="0" bIns="0">
            <a:spAutoFit/>
          </a:bodyPr>
          <a:lstStyle/>
          <a:p>
            <a:r>
              <a:rPr sz="1800" b="1" dirty="0">
                <a:solidFill>
                  <a:srgbClr val="2F3C7E"/>
                </a:solidFill>
                <a:latin typeface="Calibri"/>
              </a:rPr>
              <a:t>Build the Forecasting Model</a:t>
            </a:r>
          </a:p>
        </p:txBody>
      </p:sp>
      <p:sp>
        <p:nvSpPr>
          <p:cNvPr id="18" name="TextBox 17">
            <a:extLst>
              <a:ext uri="{FF2B5EF4-FFF2-40B4-BE49-F238E27FC236}">
                <a16:creationId xmlns:a16="http://schemas.microsoft.com/office/drawing/2014/main" id="{63C0879D-5968-3599-91DF-DE5DF63C159E}"/>
              </a:ext>
            </a:extLst>
          </p:cNvPr>
          <p:cNvSpPr txBox="1"/>
          <p:nvPr/>
        </p:nvSpPr>
        <p:spPr>
          <a:xfrm>
            <a:off x="661955" y="3006619"/>
            <a:ext cx="4057398" cy="1046440"/>
          </a:xfrm>
          <a:prstGeom prst="rect">
            <a:avLst/>
          </a:prstGeom>
          <a:noFill/>
        </p:spPr>
        <p:txBody>
          <a:bodyPr wrap="square" lIns="0" tIns="0" rIns="0" bIns="0">
            <a:spAutoFit/>
          </a:bodyPr>
          <a:lstStyle/>
          <a:p>
            <a:r>
              <a:rPr sz="1700" dirty="0">
                <a:solidFill>
                  <a:srgbClr val="333333"/>
                </a:solidFill>
                <a:latin typeface="Calibri"/>
              </a:rPr>
              <a:t>Design an adaptive Prophet + </a:t>
            </a:r>
            <a:r>
              <a:rPr sz="1700" dirty="0" err="1">
                <a:solidFill>
                  <a:srgbClr val="333333"/>
                </a:solidFill>
                <a:latin typeface="Calibri"/>
              </a:rPr>
              <a:t>XGBoost</a:t>
            </a:r>
            <a:r>
              <a:rPr sz="1700" dirty="0">
                <a:solidFill>
                  <a:srgbClr val="333333"/>
                </a:solidFill>
                <a:latin typeface="Calibri"/>
              </a:rPr>
              <a:t> hybrid Prophet for trend/seasonality, </a:t>
            </a:r>
            <a:r>
              <a:rPr sz="1700" dirty="0" err="1">
                <a:solidFill>
                  <a:srgbClr val="333333"/>
                </a:solidFill>
                <a:latin typeface="Calibri"/>
              </a:rPr>
              <a:t>XGBoost</a:t>
            </a:r>
            <a:r>
              <a:rPr sz="1700" dirty="0">
                <a:solidFill>
                  <a:srgbClr val="333333"/>
                </a:solidFill>
                <a:latin typeface="Calibri"/>
              </a:rPr>
              <a:t> for residual correction with regime-specific tuning for sparse and high-volume items.</a:t>
            </a:r>
          </a:p>
        </p:txBody>
      </p:sp>
      <p:sp>
        <p:nvSpPr>
          <p:cNvPr id="20" name="Rectangle 19">
            <a:extLst>
              <a:ext uri="{FF2B5EF4-FFF2-40B4-BE49-F238E27FC236}">
                <a16:creationId xmlns:a16="http://schemas.microsoft.com/office/drawing/2014/main" id="{3FAF6B80-3574-A250-DB00-2B1539348458}"/>
              </a:ext>
            </a:extLst>
          </p:cNvPr>
          <p:cNvSpPr/>
          <p:nvPr/>
        </p:nvSpPr>
        <p:spPr>
          <a:xfrm>
            <a:off x="5207193" y="1986618"/>
            <a:ext cx="4207399" cy="2328045"/>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22" name="TextBox 21">
            <a:extLst>
              <a:ext uri="{FF2B5EF4-FFF2-40B4-BE49-F238E27FC236}">
                <a16:creationId xmlns:a16="http://schemas.microsoft.com/office/drawing/2014/main" id="{ABB959CA-56B0-1C80-DE9C-17DCDB6D91A8}"/>
              </a:ext>
            </a:extLst>
          </p:cNvPr>
          <p:cNvSpPr txBox="1"/>
          <p:nvPr/>
        </p:nvSpPr>
        <p:spPr>
          <a:xfrm>
            <a:off x="5357194" y="2086619"/>
            <a:ext cx="487313" cy="492443"/>
          </a:xfrm>
          <a:prstGeom prst="rect">
            <a:avLst/>
          </a:prstGeom>
          <a:noFill/>
        </p:spPr>
        <p:txBody>
          <a:bodyPr wrap="none" lIns="0" tIns="0" rIns="0" bIns="0">
            <a:spAutoFit/>
          </a:bodyPr>
          <a:lstStyle/>
          <a:p>
            <a:r>
              <a:rPr sz="3200" b="1">
                <a:solidFill>
                  <a:srgbClr val="BC312C"/>
                </a:solidFill>
                <a:latin typeface="Cambria"/>
              </a:rPr>
              <a:t>02</a:t>
            </a:r>
          </a:p>
        </p:txBody>
      </p:sp>
      <p:sp>
        <p:nvSpPr>
          <p:cNvPr id="24" name="TextBox 23">
            <a:extLst>
              <a:ext uri="{FF2B5EF4-FFF2-40B4-BE49-F238E27FC236}">
                <a16:creationId xmlns:a16="http://schemas.microsoft.com/office/drawing/2014/main" id="{EA6D50CE-7745-3967-A0D7-82739E666234}"/>
              </a:ext>
            </a:extLst>
          </p:cNvPr>
          <p:cNvSpPr txBox="1"/>
          <p:nvPr/>
        </p:nvSpPr>
        <p:spPr>
          <a:xfrm>
            <a:off x="5357194" y="2656084"/>
            <a:ext cx="3722000" cy="276999"/>
          </a:xfrm>
          <a:prstGeom prst="rect">
            <a:avLst/>
          </a:prstGeom>
          <a:noFill/>
        </p:spPr>
        <p:txBody>
          <a:bodyPr wrap="square" lIns="0" tIns="0" rIns="0" bIns="0">
            <a:spAutoFit/>
          </a:bodyPr>
          <a:lstStyle/>
          <a:p>
            <a:r>
              <a:rPr sz="1800" b="1" dirty="0">
                <a:solidFill>
                  <a:srgbClr val="2F3C7E"/>
                </a:solidFill>
                <a:latin typeface="Calibri"/>
              </a:rPr>
              <a:t>Generate Item-Level Forecasts</a:t>
            </a:r>
          </a:p>
        </p:txBody>
      </p:sp>
      <p:sp>
        <p:nvSpPr>
          <p:cNvPr id="26" name="TextBox 25">
            <a:extLst>
              <a:ext uri="{FF2B5EF4-FFF2-40B4-BE49-F238E27FC236}">
                <a16:creationId xmlns:a16="http://schemas.microsoft.com/office/drawing/2014/main" id="{C24A1F13-E449-6582-47F6-FEA204221BB8}"/>
              </a:ext>
            </a:extLst>
          </p:cNvPr>
          <p:cNvSpPr txBox="1"/>
          <p:nvPr/>
        </p:nvSpPr>
        <p:spPr>
          <a:xfrm>
            <a:off x="5357194" y="3006619"/>
            <a:ext cx="3871296" cy="1046440"/>
          </a:xfrm>
          <a:prstGeom prst="rect">
            <a:avLst/>
          </a:prstGeom>
          <a:noFill/>
        </p:spPr>
        <p:txBody>
          <a:bodyPr wrap="square" lIns="0" tIns="0" rIns="0" bIns="0">
            <a:spAutoFit/>
          </a:bodyPr>
          <a:lstStyle/>
          <a:p>
            <a:r>
              <a:rPr sz="1700" dirty="0">
                <a:solidFill>
                  <a:srgbClr val="333333"/>
                </a:solidFill>
                <a:latin typeface="Calibri"/>
              </a:rPr>
              <a:t>Produce daily, item-level demand predictions from the trained hybrid model, validated for consistency across sparse and high-volume item categories.</a:t>
            </a:r>
          </a:p>
        </p:txBody>
      </p:sp>
      <p:sp>
        <p:nvSpPr>
          <p:cNvPr id="28" name="Rectangle 27">
            <a:extLst>
              <a:ext uri="{FF2B5EF4-FFF2-40B4-BE49-F238E27FC236}">
                <a16:creationId xmlns:a16="http://schemas.microsoft.com/office/drawing/2014/main" id="{5A90A0AA-7A3D-AA47-67A1-4431FEAEDDAE}"/>
              </a:ext>
            </a:extLst>
          </p:cNvPr>
          <p:cNvSpPr/>
          <p:nvPr/>
        </p:nvSpPr>
        <p:spPr>
          <a:xfrm>
            <a:off x="511954" y="4402640"/>
            <a:ext cx="4207399"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30" name="TextBox 29">
            <a:extLst>
              <a:ext uri="{FF2B5EF4-FFF2-40B4-BE49-F238E27FC236}">
                <a16:creationId xmlns:a16="http://schemas.microsoft.com/office/drawing/2014/main" id="{E6B61E32-76B8-B464-053F-258A6894C23D}"/>
              </a:ext>
            </a:extLst>
          </p:cNvPr>
          <p:cNvSpPr txBox="1"/>
          <p:nvPr/>
        </p:nvSpPr>
        <p:spPr>
          <a:xfrm>
            <a:off x="661955" y="4502640"/>
            <a:ext cx="487313" cy="492443"/>
          </a:xfrm>
          <a:prstGeom prst="rect">
            <a:avLst/>
          </a:prstGeom>
          <a:noFill/>
        </p:spPr>
        <p:txBody>
          <a:bodyPr wrap="none" lIns="0" tIns="0" rIns="0" bIns="0">
            <a:spAutoFit/>
          </a:bodyPr>
          <a:lstStyle/>
          <a:p>
            <a:r>
              <a:rPr sz="3200" b="1">
                <a:solidFill>
                  <a:srgbClr val="BC312C"/>
                </a:solidFill>
                <a:latin typeface="Cambria"/>
              </a:rPr>
              <a:t>03</a:t>
            </a:r>
          </a:p>
        </p:txBody>
      </p:sp>
      <p:sp>
        <p:nvSpPr>
          <p:cNvPr id="32" name="TextBox 31">
            <a:extLst>
              <a:ext uri="{FF2B5EF4-FFF2-40B4-BE49-F238E27FC236}">
                <a16:creationId xmlns:a16="http://schemas.microsoft.com/office/drawing/2014/main" id="{33F84E4D-8B70-0873-16E4-DE0C3B46C8A6}"/>
              </a:ext>
            </a:extLst>
          </p:cNvPr>
          <p:cNvSpPr txBox="1"/>
          <p:nvPr/>
        </p:nvSpPr>
        <p:spPr>
          <a:xfrm>
            <a:off x="661251" y="5073055"/>
            <a:ext cx="3722000" cy="276999"/>
          </a:xfrm>
          <a:prstGeom prst="rect">
            <a:avLst/>
          </a:prstGeom>
          <a:noFill/>
        </p:spPr>
        <p:txBody>
          <a:bodyPr wrap="square" lIns="0" tIns="0" rIns="0" bIns="0">
            <a:spAutoFit/>
          </a:bodyPr>
          <a:lstStyle/>
          <a:p>
            <a:r>
              <a:rPr sz="1800" b="1" dirty="0">
                <a:solidFill>
                  <a:srgbClr val="2F3C7E"/>
                </a:solidFill>
                <a:latin typeface="Calibri"/>
              </a:rPr>
              <a:t>Recommend Restock Quantities</a:t>
            </a:r>
          </a:p>
        </p:txBody>
      </p:sp>
      <p:sp>
        <p:nvSpPr>
          <p:cNvPr id="34" name="TextBox 33">
            <a:extLst>
              <a:ext uri="{FF2B5EF4-FFF2-40B4-BE49-F238E27FC236}">
                <a16:creationId xmlns:a16="http://schemas.microsoft.com/office/drawing/2014/main" id="{D3828C8F-BB3A-56E9-A5F2-AEF34C8BFF3A}"/>
              </a:ext>
            </a:extLst>
          </p:cNvPr>
          <p:cNvSpPr txBox="1"/>
          <p:nvPr/>
        </p:nvSpPr>
        <p:spPr>
          <a:xfrm>
            <a:off x="661955" y="5422640"/>
            <a:ext cx="3722000" cy="1046440"/>
          </a:xfrm>
          <a:prstGeom prst="rect">
            <a:avLst/>
          </a:prstGeom>
          <a:noFill/>
        </p:spPr>
        <p:txBody>
          <a:bodyPr wrap="square" lIns="0" tIns="0" rIns="0" bIns="0">
            <a:spAutoFit/>
          </a:bodyPr>
          <a:lstStyle/>
          <a:p>
            <a:r>
              <a:rPr sz="1700">
                <a:solidFill>
                  <a:srgbClr val="333333"/>
                </a:solidFill>
                <a:latin typeface="Calibri"/>
              </a:rPr>
              <a:t>Convert raw forecasts into actionable restock quantities using a configurable safety-stock buffer that accounts for current inventory levels.</a:t>
            </a:r>
          </a:p>
        </p:txBody>
      </p:sp>
      <p:sp>
        <p:nvSpPr>
          <p:cNvPr id="36" name="Rectangle 35">
            <a:extLst>
              <a:ext uri="{FF2B5EF4-FFF2-40B4-BE49-F238E27FC236}">
                <a16:creationId xmlns:a16="http://schemas.microsoft.com/office/drawing/2014/main" id="{645C899A-C86A-83CC-91F4-ABAEE813EA66}"/>
              </a:ext>
            </a:extLst>
          </p:cNvPr>
          <p:cNvSpPr/>
          <p:nvPr/>
        </p:nvSpPr>
        <p:spPr>
          <a:xfrm>
            <a:off x="5207193" y="4402640"/>
            <a:ext cx="4207399"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38" name="TextBox 37">
            <a:extLst>
              <a:ext uri="{FF2B5EF4-FFF2-40B4-BE49-F238E27FC236}">
                <a16:creationId xmlns:a16="http://schemas.microsoft.com/office/drawing/2014/main" id="{F6A1CF3D-551F-59DB-C14E-14FAF471B8EF}"/>
              </a:ext>
            </a:extLst>
          </p:cNvPr>
          <p:cNvSpPr txBox="1"/>
          <p:nvPr/>
        </p:nvSpPr>
        <p:spPr>
          <a:xfrm>
            <a:off x="5357194" y="4502640"/>
            <a:ext cx="487313" cy="492443"/>
          </a:xfrm>
          <a:prstGeom prst="rect">
            <a:avLst/>
          </a:prstGeom>
          <a:noFill/>
        </p:spPr>
        <p:txBody>
          <a:bodyPr wrap="none" lIns="0" tIns="0" rIns="0" bIns="0">
            <a:spAutoFit/>
          </a:bodyPr>
          <a:lstStyle/>
          <a:p>
            <a:r>
              <a:rPr sz="3200" b="1">
                <a:solidFill>
                  <a:srgbClr val="BC312C"/>
                </a:solidFill>
                <a:latin typeface="Cambria"/>
              </a:rPr>
              <a:t>04</a:t>
            </a:r>
          </a:p>
        </p:txBody>
      </p:sp>
      <p:sp>
        <p:nvSpPr>
          <p:cNvPr id="40" name="TextBox 39">
            <a:extLst>
              <a:ext uri="{FF2B5EF4-FFF2-40B4-BE49-F238E27FC236}">
                <a16:creationId xmlns:a16="http://schemas.microsoft.com/office/drawing/2014/main" id="{AA9A29B7-7B09-B6A9-9787-D6B318DFC4E7}"/>
              </a:ext>
            </a:extLst>
          </p:cNvPr>
          <p:cNvSpPr txBox="1"/>
          <p:nvPr/>
        </p:nvSpPr>
        <p:spPr>
          <a:xfrm>
            <a:off x="5357194" y="5073527"/>
            <a:ext cx="3722000" cy="276999"/>
          </a:xfrm>
          <a:prstGeom prst="rect">
            <a:avLst/>
          </a:prstGeom>
          <a:noFill/>
        </p:spPr>
        <p:txBody>
          <a:bodyPr wrap="square" lIns="0" tIns="0" rIns="0" bIns="0">
            <a:spAutoFit/>
          </a:bodyPr>
          <a:lstStyle/>
          <a:p>
            <a:r>
              <a:rPr sz="1800" b="1" dirty="0">
                <a:solidFill>
                  <a:srgbClr val="2F3C7E"/>
                </a:solidFill>
                <a:latin typeface="Calibri"/>
              </a:rPr>
              <a:t>Explain via LLM Narrator</a:t>
            </a:r>
          </a:p>
        </p:txBody>
      </p:sp>
      <p:sp>
        <p:nvSpPr>
          <p:cNvPr id="42" name="TextBox 41">
            <a:extLst>
              <a:ext uri="{FF2B5EF4-FFF2-40B4-BE49-F238E27FC236}">
                <a16:creationId xmlns:a16="http://schemas.microsoft.com/office/drawing/2014/main" id="{A6354F9E-BE47-1618-1865-B2A69115C7BE}"/>
              </a:ext>
            </a:extLst>
          </p:cNvPr>
          <p:cNvSpPr txBox="1"/>
          <p:nvPr/>
        </p:nvSpPr>
        <p:spPr>
          <a:xfrm>
            <a:off x="5357194" y="5422640"/>
            <a:ext cx="3722000" cy="1046440"/>
          </a:xfrm>
          <a:prstGeom prst="rect">
            <a:avLst/>
          </a:prstGeom>
          <a:noFill/>
        </p:spPr>
        <p:txBody>
          <a:bodyPr wrap="square" lIns="0" tIns="0" rIns="0" bIns="0">
            <a:spAutoFit/>
          </a:bodyPr>
          <a:lstStyle/>
          <a:p>
            <a:r>
              <a:rPr sz="1700">
                <a:solidFill>
                  <a:srgbClr val="333333"/>
                </a:solidFill>
                <a:latin typeface="Calibri"/>
              </a:rPr>
              <a:t>Integrate an LLM layer that translates the restock output into a plain-language recommendation — understandable without technical or data literacy.</a:t>
            </a:r>
          </a:p>
        </p:txBody>
      </p:sp>
      <p:sp>
        <p:nvSpPr>
          <p:cNvPr id="44" name="Shape 4">
            <a:extLst>
              <a:ext uri="{FF2B5EF4-FFF2-40B4-BE49-F238E27FC236}">
                <a16:creationId xmlns:a16="http://schemas.microsoft.com/office/drawing/2014/main" id="{6261B77C-2842-C297-3459-39CDBAB5B3FA}"/>
              </a:ext>
            </a:extLst>
          </p:cNvPr>
          <p:cNvSpPr/>
          <p:nvPr/>
        </p:nvSpPr>
        <p:spPr>
          <a:xfrm flipV="1">
            <a:off x="592122" y="1820427"/>
            <a:ext cx="8767422" cy="18288"/>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2206032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08DF-C5D3-3954-159E-1A0EA67111C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1326EEB-B98E-916B-7188-22B17208EAE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0632735-C3A7-7EBF-0A93-A39B9D6988DB}"/>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6F50621A-14CB-07F9-4449-DA9BC28531D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3754D47-0777-6AD2-E440-D4DC9C0E4376}"/>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61342FE8-6414-5CCF-98CF-10E4212BA010}"/>
              </a:ext>
            </a:extLst>
          </p:cNvPr>
          <p:cNvSpPr>
            <a:spLocks noGrp="1"/>
          </p:cNvSpPr>
          <p:nvPr>
            <p:ph type="sldNum" sz="quarter" idx="12"/>
          </p:nvPr>
        </p:nvSpPr>
        <p:spPr/>
        <p:txBody>
          <a:bodyPr/>
          <a:lstStyle/>
          <a:p>
            <a:fld id="{9DC013F7-6D70-4318-BA41-212A9B59413B}" type="slidenum">
              <a:rPr lang="en-US" smtClean="0"/>
              <a:t>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853C6421-4D78-B8B4-459B-B604FDA088A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9EDC34-76DD-572A-2EC9-087B95F24A7D}"/>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81721ECE-BD87-79D0-07F0-EA9E8FC2B1DB}"/>
              </a:ext>
            </a:extLst>
          </p:cNvPr>
          <p:cNvSpPr/>
          <p:nvPr/>
        </p:nvSpPr>
        <p:spPr>
          <a:xfrm>
            <a:off x="240962" y="1241902"/>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12" name="Shape 4">
            <a:extLst>
              <a:ext uri="{FF2B5EF4-FFF2-40B4-BE49-F238E27FC236}">
                <a16:creationId xmlns:a16="http://schemas.microsoft.com/office/drawing/2014/main" id="{0615EF55-5F15-5A9D-A634-2BD0DBEF335E}"/>
              </a:ext>
            </a:extLst>
          </p:cNvPr>
          <p:cNvSpPr/>
          <p:nvPr/>
        </p:nvSpPr>
        <p:spPr>
          <a:xfrm>
            <a:off x="240962" y="1854550"/>
            <a:ext cx="9192111"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2FBF0225-B03A-BF41-592B-3A8D83A76A0C}"/>
              </a:ext>
            </a:extLst>
          </p:cNvPr>
          <p:cNvSpPr/>
          <p:nvPr/>
        </p:nvSpPr>
        <p:spPr>
          <a:xfrm>
            <a:off x="312495" y="2121408"/>
            <a:ext cx="4520710" cy="365760"/>
          </a:xfrm>
          <a:prstGeom prst="rect">
            <a:avLst/>
          </a:prstGeom>
          <a:noFill/>
          <a:ln/>
        </p:spPr>
        <p:txBody>
          <a:bodyPr wrap="square" lIns="0" tIns="0" rIns="0" bIns="0" rtlCol="0" anchor="ctr"/>
          <a:lstStyle/>
          <a:p>
            <a:pPr marL="0" indent="0">
              <a:buNone/>
            </a:pPr>
            <a:r>
              <a:rPr lang="en-US" sz="2400" b="1" dirty="0">
                <a:solidFill>
                  <a:srgbClr val="002060"/>
                </a:solidFill>
                <a:latin typeface="Calibri" pitchFamily="34" charset="0"/>
                <a:ea typeface="Calibri" pitchFamily="34" charset="-122"/>
                <a:cs typeface="Calibri" pitchFamily="34" charset="-120"/>
              </a:rPr>
              <a:t>In Scope (3 Months Build)</a:t>
            </a:r>
            <a:endParaRPr lang="en-US" sz="2400" dirty="0">
              <a:solidFill>
                <a:srgbClr val="002060"/>
              </a:solidFill>
            </a:endParaRPr>
          </a:p>
        </p:txBody>
      </p:sp>
      <p:sp>
        <p:nvSpPr>
          <p:cNvPr id="16" name="Text 6">
            <a:extLst>
              <a:ext uri="{FF2B5EF4-FFF2-40B4-BE49-F238E27FC236}">
                <a16:creationId xmlns:a16="http://schemas.microsoft.com/office/drawing/2014/main" id="{7A7269F0-FD3F-8858-FB0B-EE56BDD4F0D0}"/>
              </a:ext>
            </a:extLst>
          </p:cNvPr>
          <p:cNvSpPr/>
          <p:nvPr/>
        </p:nvSpPr>
        <p:spPr>
          <a:xfrm>
            <a:off x="5503832" y="2121408"/>
            <a:ext cx="4520710" cy="365760"/>
          </a:xfrm>
          <a:prstGeom prst="rect">
            <a:avLst/>
          </a:prstGeom>
          <a:noFill/>
          <a:ln/>
        </p:spPr>
        <p:txBody>
          <a:bodyPr wrap="square" lIns="0" tIns="0" rIns="0" bIns="0" rtlCol="0" anchor="ctr"/>
          <a:lstStyle/>
          <a:p>
            <a:pPr marL="0" indent="0">
              <a:buNone/>
            </a:pPr>
            <a:r>
              <a:rPr lang="en-US" sz="2400" b="1" dirty="0">
                <a:solidFill>
                  <a:srgbClr val="002060"/>
                </a:solidFill>
                <a:latin typeface="Calibri" pitchFamily="34" charset="0"/>
                <a:ea typeface="Calibri" pitchFamily="34" charset="-122"/>
                <a:cs typeface="Calibri" pitchFamily="34" charset="-120"/>
              </a:rPr>
              <a:t>Out of Scope </a:t>
            </a:r>
            <a:endParaRPr lang="en-US" sz="2400" dirty="0">
              <a:solidFill>
                <a:srgbClr val="002060"/>
              </a:solidFill>
            </a:endParaRPr>
          </a:p>
        </p:txBody>
      </p:sp>
      <p:sp>
        <p:nvSpPr>
          <p:cNvPr id="18" name="Shape 7">
            <a:extLst>
              <a:ext uri="{FF2B5EF4-FFF2-40B4-BE49-F238E27FC236}">
                <a16:creationId xmlns:a16="http://schemas.microsoft.com/office/drawing/2014/main" id="{A55E49D3-9C1B-0C46-21A2-3DD722561898}"/>
              </a:ext>
            </a:extLst>
          </p:cNvPr>
          <p:cNvSpPr/>
          <p:nvPr/>
        </p:nvSpPr>
        <p:spPr>
          <a:xfrm>
            <a:off x="169479" y="2651199"/>
            <a:ext cx="90414" cy="109728"/>
          </a:xfrm>
          <a:prstGeom prst="ellipse">
            <a:avLst/>
          </a:prstGeom>
          <a:solidFill>
            <a:srgbClr val="BC312C"/>
          </a:solidFill>
          <a:ln/>
        </p:spPr>
        <p:txBody>
          <a:bodyPr/>
          <a:lstStyle/>
          <a:p>
            <a:endParaRPr lang="en-IN"/>
          </a:p>
        </p:txBody>
      </p:sp>
      <p:sp>
        <p:nvSpPr>
          <p:cNvPr id="20" name="Text 8">
            <a:extLst>
              <a:ext uri="{FF2B5EF4-FFF2-40B4-BE49-F238E27FC236}">
                <a16:creationId xmlns:a16="http://schemas.microsoft.com/office/drawing/2014/main" id="{878B46E6-A069-D4A4-8F1D-E82F5B0E20C7}"/>
              </a:ext>
            </a:extLst>
          </p:cNvPr>
          <p:cNvSpPr/>
          <p:nvPr/>
        </p:nvSpPr>
        <p:spPr>
          <a:xfrm>
            <a:off x="572378"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22" name="Shape 9">
            <a:extLst>
              <a:ext uri="{FF2B5EF4-FFF2-40B4-BE49-F238E27FC236}">
                <a16:creationId xmlns:a16="http://schemas.microsoft.com/office/drawing/2014/main" id="{C9582756-7335-68C4-EDE4-2F681A028C95}"/>
              </a:ext>
            </a:extLst>
          </p:cNvPr>
          <p:cNvSpPr/>
          <p:nvPr/>
        </p:nvSpPr>
        <p:spPr>
          <a:xfrm>
            <a:off x="169479" y="3292775"/>
            <a:ext cx="90414" cy="109728"/>
          </a:xfrm>
          <a:prstGeom prst="ellipse">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D1B810D0-428D-36BF-A3A7-DAD214EF1710}"/>
              </a:ext>
            </a:extLst>
          </p:cNvPr>
          <p:cNvSpPr/>
          <p:nvPr/>
        </p:nvSpPr>
        <p:spPr>
          <a:xfrm>
            <a:off x="572378" y="321104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26" name="Shape 11">
            <a:extLst>
              <a:ext uri="{FF2B5EF4-FFF2-40B4-BE49-F238E27FC236}">
                <a16:creationId xmlns:a16="http://schemas.microsoft.com/office/drawing/2014/main" id="{27A2F582-F37A-0B09-F482-C76CC559F386}"/>
              </a:ext>
            </a:extLst>
          </p:cNvPr>
          <p:cNvSpPr/>
          <p:nvPr/>
        </p:nvSpPr>
        <p:spPr>
          <a:xfrm>
            <a:off x="169479" y="3785055"/>
            <a:ext cx="90414" cy="109728"/>
          </a:xfrm>
          <a:prstGeom prst="ellipse">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C171218C-2CA8-5902-39A4-5EFBFDAFECCA}"/>
              </a:ext>
            </a:extLst>
          </p:cNvPr>
          <p:cNvSpPr/>
          <p:nvPr/>
        </p:nvSpPr>
        <p:spPr>
          <a:xfrm>
            <a:off x="572378"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30" name="Shape 13">
            <a:extLst>
              <a:ext uri="{FF2B5EF4-FFF2-40B4-BE49-F238E27FC236}">
                <a16:creationId xmlns:a16="http://schemas.microsoft.com/office/drawing/2014/main" id="{A045D4B4-FC23-1BCD-8F51-61B58CF34339}"/>
              </a:ext>
            </a:extLst>
          </p:cNvPr>
          <p:cNvSpPr/>
          <p:nvPr/>
        </p:nvSpPr>
        <p:spPr>
          <a:xfrm>
            <a:off x="169479" y="4314659"/>
            <a:ext cx="90414" cy="109728"/>
          </a:xfrm>
          <a:prstGeom prst="ellipse">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33883FA3-7E50-59E2-A128-B4DC34C2E8FB}"/>
              </a:ext>
            </a:extLst>
          </p:cNvPr>
          <p:cNvSpPr/>
          <p:nvPr/>
        </p:nvSpPr>
        <p:spPr>
          <a:xfrm>
            <a:off x="572378" y="423292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34" name="Shape 15">
            <a:extLst>
              <a:ext uri="{FF2B5EF4-FFF2-40B4-BE49-F238E27FC236}">
                <a16:creationId xmlns:a16="http://schemas.microsoft.com/office/drawing/2014/main" id="{EE5A3A80-FA3F-4EC3-BC30-59B3298EEAC9}"/>
              </a:ext>
            </a:extLst>
          </p:cNvPr>
          <p:cNvSpPr/>
          <p:nvPr/>
        </p:nvSpPr>
        <p:spPr>
          <a:xfrm>
            <a:off x="169479" y="4918911"/>
            <a:ext cx="90414" cy="109728"/>
          </a:xfrm>
          <a:prstGeom prst="ellipse">
            <a:avLst/>
          </a:prstGeom>
          <a:solidFill>
            <a:srgbClr val="BC312C"/>
          </a:solidFill>
          <a:ln/>
        </p:spPr>
        <p:txBody>
          <a:bodyPr/>
          <a:lstStyle/>
          <a:p>
            <a:endParaRPr lang="en-IN"/>
          </a:p>
        </p:txBody>
      </p:sp>
      <p:sp>
        <p:nvSpPr>
          <p:cNvPr id="36" name="Text 16">
            <a:extLst>
              <a:ext uri="{FF2B5EF4-FFF2-40B4-BE49-F238E27FC236}">
                <a16:creationId xmlns:a16="http://schemas.microsoft.com/office/drawing/2014/main" id="{B448862D-B09D-D543-9801-136F4575CC88}"/>
              </a:ext>
            </a:extLst>
          </p:cNvPr>
          <p:cNvSpPr/>
          <p:nvPr/>
        </p:nvSpPr>
        <p:spPr>
          <a:xfrm>
            <a:off x="586814"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8" name="Shape 17">
            <a:extLst>
              <a:ext uri="{FF2B5EF4-FFF2-40B4-BE49-F238E27FC236}">
                <a16:creationId xmlns:a16="http://schemas.microsoft.com/office/drawing/2014/main" id="{6194A522-A69B-A556-2B66-650DA32EADC1}"/>
              </a:ext>
            </a:extLst>
          </p:cNvPr>
          <p:cNvSpPr/>
          <p:nvPr/>
        </p:nvSpPr>
        <p:spPr>
          <a:xfrm>
            <a:off x="169479" y="5485839"/>
            <a:ext cx="90414" cy="109728"/>
          </a:xfrm>
          <a:prstGeom prst="ellipse">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8F13B653-63D8-0B75-BA8D-B45ABBC32723}"/>
              </a:ext>
            </a:extLst>
          </p:cNvPr>
          <p:cNvSpPr/>
          <p:nvPr/>
        </p:nvSpPr>
        <p:spPr>
          <a:xfrm>
            <a:off x="581895"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42" name="Shape 19">
            <a:extLst>
              <a:ext uri="{FF2B5EF4-FFF2-40B4-BE49-F238E27FC236}">
                <a16:creationId xmlns:a16="http://schemas.microsoft.com/office/drawing/2014/main" id="{398C0BB1-F2F3-AF33-1A70-EBD812ADF057}"/>
              </a:ext>
            </a:extLst>
          </p:cNvPr>
          <p:cNvSpPr/>
          <p:nvPr/>
        </p:nvSpPr>
        <p:spPr>
          <a:xfrm>
            <a:off x="5341323" y="2660530"/>
            <a:ext cx="90414" cy="109728"/>
          </a:xfrm>
          <a:prstGeom prst="ellipse">
            <a:avLst/>
          </a:prstGeom>
          <a:solidFill>
            <a:srgbClr val="6B6B6B"/>
          </a:solidFill>
          <a:ln/>
        </p:spPr>
        <p:txBody>
          <a:bodyPr/>
          <a:lstStyle/>
          <a:p>
            <a:endParaRPr lang="en-IN"/>
          </a:p>
        </p:txBody>
      </p:sp>
      <p:sp>
        <p:nvSpPr>
          <p:cNvPr id="44" name="Text 20">
            <a:extLst>
              <a:ext uri="{FF2B5EF4-FFF2-40B4-BE49-F238E27FC236}">
                <a16:creationId xmlns:a16="http://schemas.microsoft.com/office/drawing/2014/main" id="{49AE6AF3-43E4-D4EA-63DE-57B03E25C1F9}"/>
              </a:ext>
            </a:extLst>
          </p:cNvPr>
          <p:cNvSpPr/>
          <p:nvPr/>
        </p:nvSpPr>
        <p:spPr>
          <a:xfrm>
            <a:off x="5689069"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46" name="Shape 21">
            <a:extLst>
              <a:ext uri="{FF2B5EF4-FFF2-40B4-BE49-F238E27FC236}">
                <a16:creationId xmlns:a16="http://schemas.microsoft.com/office/drawing/2014/main" id="{474B26A0-C823-EBD9-0236-897F17491D92}"/>
              </a:ext>
            </a:extLst>
          </p:cNvPr>
          <p:cNvSpPr/>
          <p:nvPr/>
        </p:nvSpPr>
        <p:spPr>
          <a:xfrm>
            <a:off x="5341323" y="3152810"/>
            <a:ext cx="90414" cy="109728"/>
          </a:xfrm>
          <a:prstGeom prst="ellipse">
            <a:avLst/>
          </a:prstGeom>
          <a:solidFill>
            <a:srgbClr val="6B6B6B"/>
          </a:solidFill>
          <a:ln/>
        </p:spPr>
        <p:txBody>
          <a:bodyPr/>
          <a:lstStyle/>
          <a:p>
            <a:endParaRPr lang="en-IN"/>
          </a:p>
        </p:txBody>
      </p:sp>
      <p:sp>
        <p:nvSpPr>
          <p:cNvPr id="48" name="Text 22">
            <a:extLst>
              <a:ext uri="{FF2B5EF4-FFF2-40B4-BE49-F238E27FC236}">
                <a16:creationId xmlns:a16="http://schemas.microsoft.com/office/drawing/2014/main" id="{BEA39BC6-439A-9252-2194-D3C186EB0265}"/>
              </a:ext>
            </a:extLst>
          </p:cNvPr>
          <p:cNvSpPr/>
          <p:nvPr/>
        </p:nvSpPr>
        <p:spPr>
          <a:xfrm>
            <a:off x="5689069" y="30804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50" name="Shape 23">
            <a:extLst>
              <a:ext uri="{FF2B5EF4-FFF2-40B4-BE49-F238E27FC236}">
                <a16:creationId xmlns:a16="http://schemas.microsoft.com/office/drawing/2014/main" id="{6B276240-D49F-4102-8F99-2C3D7F9CE7EF}"/>
              </a:ext>
            </a:extLst>
          </p:cNvPr>
          <p:cNvSpPr/>
          <p:nvPr/>
        </p:nvSpPr>
        <p:spPr>
          <a:xfrm>
            <a:off x="5341323" y="3710407"/>
            <a:ext cx="90414" cy="109728"/>
          </a:xfrm>
          <a:prstGeom prst="ellipse">
            <a:avLst/>
          </a:prstGeom>
          <a:solidFill>
            <a:srgbClr val="6B6B6B"/>
          </a:solidFill>
          <a:ln/>
        </p:spPr>
        <p:txBody>
          <a:bodyPr/>
          <a:lstStyle/>
          <a:p>
            <a:endParaRPr lang="en-IN"/>
          </a:p>
        </p:txBody>
      </p:sp>
      <p:sp>
        <p:nvSpPr>
          <p:cNvPr id="52" name="Text 24">
            <a:extLst>
              <a:ext uri="{FF2B5EF4-FFF2-40B4-BE49-F238E27FC236}">
                <a16:creationId xmlns:a16="http://schemas.microsoft.com/office/drawing/2014/main" id="{7F65F879-6734-3471-8809-33085FC13AAC}"/>
              </a:ext>
            </a:extLst>
          </p:cNvPr>
          <p:cNvSpPr/>
          <p:nvPr/>
        </p:nvSpPr>
        <p:spPr>
          <a:xfrm>
            <a:off x="5689069" y="3619341"/>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54" name="Shape 25">
            <a:extLst>
              <a:ext uri="{FF2B5EF4-FFF2-40B4-BE49-F238E27FC236}">
                <a16:creationId xmlns:a16="http://schemas.microsoft.com/office/drawing/2014/main" id="{8545462E-08E3-DB74-9B47-3EBE89C716EC}"/>
              </a:ext>
            </a:extLst>
          </p:cNvPr>
          <p:cNvSpPr/>
          <p:nvPr/>
        </p:nvSpPr>
        <p:spPr>
          <a:xfrm>
            <a:off x="5341323" y="4398638"/>
            <a:ext cx="90414" cy="109728"/>
          </a:xfrm>
          <a:prstGeom prst="ellipse">
            <a:avLst/>
          </a:prstGeom>
          <a:solidFill>
            <a:srgbClr val="6B6B6B"/>
          </a:solidFill>
          <a:ln/>
        </p:spPr>
        <p:txBody>
          <a:bodyPr/>
          <a:lstStyle/>
          <a:p>
            <a:endParaRPr lang="en-IN"/>
          </a:p>
        </p:txBody>
      </p:sp>
      <p:sp>
        <p:nvSpPr>
          <p:cNvPr id="56" name="Text 26">
            <a:extLst>
              <a:ext uri="{FF2B5EF4-FFF2-40B4-BE49-F238E27FC236}">
                <a16:creationId xmlns:a16="http://schemas.microsoft.com/office/drawing/2014/main" id="{E01D0177-196A-1757-CBC6-0448601D2874}"/>
              </a:ext>
            </a:extLst>
          </p:cNvPr>
          <p:cNvSpPr/>
          <p:nvPr/>
        </p:nvSpPr>
        <p:spPr>
          <a:xfrm>
            <a:off x="5689068" y="43210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8" name="Shape 27">
            <a:extLst>
              <a:ext uri="{FF2B5EF4-FFF2-40B4-BE49-F238E27FC236}">
                <a16:creationId xmlns:a16="http://schemas.microsoft.com/office/drawing/2014/main" id="{7256FB0E-60BC-A173-23AE-1B2C6E6591FC}"/>
              </a:ext>
            </a:extLst>
          </p:cNvPr>
          <p:cNvSpPr/>
          <p:nvPr/>
        </p:nvSpPr>
        <p:spPr>
          <a:xfrm>
            <a:off x="5341323" y="4853594"/>
            <a:ext cx="90414" cy="109728"/>
          </a:xfrm>
          <a:prstGeom prst="ellipse">
            <a:avLst/>
          </a:prstGeom>
          <a:solidFill>
            <a:srgbClr val="6B6B6B"/>
          </a:solidFill>
          <a:ln/>
        </p:spPr>
        <p:txBody>
          <a:bodyPr/>
          <a:lstStyle/>
          <a:p>
            <a:endParaRPr lang="en-IN"/>
          </a:p>
        </p:txBody>
      </p:sp>
      <p:sp>
        <p:nvSpPr>
          <p:cNvPr id="60" name="Text 28">
            <a:extLst>
              <a:ext uri="{FF2B5EF4-FFF2-40B4-BE49-F238E27FC236}">
                <a16:creationId xmlns:a16="http://schemas.microsoft.com/office/drawing/2014/main" id="{2942DAD3-26A0-6A1E-3E68-56876FA2C929}"/>
              </a:ext>
            </a:extLst>
          </p:cNvPr>
          <p:cNvSpPr/>
          <p:nvPr/>
        </p:nvSpPr>
        <p:spPr>
          <a:xfrm>
            <a:off x="5689069" y="4771859"/>
            <a:ext cx="4047439" cy="530352"/>
          </a:xfrm>
          <a:prstGeom prst="rect">
            <a:avLst/>
          </a:prstGeom>
          <a:noFill/>
          <a:ln/>
        </p:spPr>
        <p:txBody>
          <a:bodyPr wrap="square" lIns="0" tIns="0" rIns="0" bIns="0" rtlCol="0" anchor="t"/>
          <a:lstStyle/>
          <a:p>
            <a:pPr marL="0" indent="0">
              <a:lnSpc>
                <a:spcPct val="108000"/>
              </a:lnSpc>
              <a:buNone/>
            </a:pPr>
            <a:r>
              <a:rPr lang="en-IN" sz="1600" dirty="0">
                <a:latin typeface="Calibri" panose="020F0502020204030204" pitchFamily="34" charset="0"/>
                <a:ea typeface="Calibri" panose="020F0502020204030204" pitchFamily="34" charset="0"/>
                <a:cs typeface="Calibri" panose="020F0502020204030204" pitchFamily="34" charset="0"/>
              </a:rPr>
              <a:t>Interactive Generative-AI / back-and-forth chatbot (Instead using a one-way LLM narrator)</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62" name="Shape 29">
            <a:extLst>
              <a:ext uri="{FF2B5EF4-FFF2-40B4-BE49-F238E27FC236}">
                <a16:creationId xmlns:a16="http://schemas.microsoft.com/office/drawing/2014/main" id="{EE782B48-575A-1441-7718-7045973ED446}"/>
              </a:ext>
            </a:extLst>
          </p:cNvPr>
          <p:cNvSpPr/>
          <p:nvPr/>
        </p:nvSpPr>
        <p:spPr>
          <a:xfrm>
            <a:off x="5341323" y="5485834"/>
            <a:ext cx="90414" cy="109728"/>
          </a:xfrm>
          <a:prstGeom prst="ellipse">
            <a:avLst/>
          </a:prstGeom>
          <a:solidFill>
            <a:srgbClr val="6B6B6B"/>
          </a:solidFill>
          <a:ln/>
        </p:spPr>
        <p:txBody>
          <a:bodyPr/>
          <a:lstStyle/>
          <a:p>
            <a:endParaRPr lang="en-IN"/>
          </a:p>
        </p:txBody>
      </p:sp>
      <p:sp>
        <p:nvSpPr>
          <p:cNvPr id="64" name="Text 30">
            <a:extLst>
              <a:ext uri="{FF2B5EF4-FFF2-40B4-BE49-F238E27FC236}">
                <a16:creationId xmlns:a16="http://schemas.microsoft.com/office/drawing/2014/main" id="{9D520A2F-0953-0E0B-C9C3-84255C5D1FAB}"/>
              </a:ext>
            </a:extLst>
          </p:cNvPr>
          <p:cNvSpPr/>
          <p:nvPr/>
        </p:nvSpPr>
        <p:spPr>
          <a:xfrm>
            <a:off x="5689068" y="545298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66" name="Shape 31">
            <a:extLst>
              <a:ext uri="{FF2B5EF4-FFF2-40B4-BE49-F238E27FC236}">
                <a16:creationId xmlns:a16="http://schemas.microsoft.com/office/drawing/2014/main" id="{257BC643-B3AB-6BD7-24A3-B9271E660A9E}"/>
              </a:ext>
            </a:extLst>
          </p:cNvPr>
          <p:cNvSpPr/>
          <p:nvPr/>
        </p:nvSpPr>
        <p:spPr>
          <a:xfrm>
            <a:off x="5012709" y="2121408"/>
            <a:ext cx="0" cy="4160520"/>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301834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39A5-B164-C187-87B4-77BDB92A93D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8FA9D51-D16A-B0AE-045B-A390168F3FE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39828D41-49B8-ACCD-7914-083C12CD9B1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311459A-85E6-FC40-6186-7472698C18E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DD981F05-DCA4-73F9-1FDC-E8EF54217F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ACCE0146-E531-9D44-6013-7B65565B6189}"/>
              </a:ext>
            </a:extLst>
          </p:cNvPr>
          <p:cNvSpPr>
            <a:spLocks noGrp="1"/>
          </p:cNvSpPr>
          <p:nvPr>
            <p:ph type="sldNum" sz="quarter" idx="12"/>
          </p:nvPr>
        </p:nvSpPr>
        <p:spPr/>
        <p:txBody>
          <a:bodyPr/>
          <a:lstStyle/>
          <a:p>
            <a:fld id="{9DC013F7-6D70-4318-BA41-212A9B59413B}" type="slidenum">
              <a:rPr lang="en-US" smtClean="0"/>
              <a:t>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183D9E79-9CD9-246C-2AFC-1002D69CDF5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E6E0332E-C9FB-AED3-0DCD-29078A742C25}"/>
              </a:ext>
            </a:extLst>
          </p:cNvPr>
          <p:cNvSpPr/>
          <p:nvPr/>
        </p:nvSpPr>
        <p:spPr>
          <a:xfrm>
            <a:off x="-85226" y="1155959"/>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B9F7392-7C7C-4A66-7285-CF9045B40850}"/>
              </a:ext>
            </a:extLst>
          </p:cNvPr>
          <p:cNvSpPr/>
          <p:nvPr/>
        </p:nvSpPr>
        <p:spPr>
          <a:xfrm>
            <a:off x="316306" y="1148594"/>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12" name="Shape 4">
            <a:extLst>
              <a:ext uri="{FF2B5EF4-FFF2-40B4-BE49-F238E27FC236}">
                <a16:creationId xmlns:a16="http://schemas.microsoft.com/office/drawing/2014/main" id="{6F6CE02E-0790-B411-6C41-516F55366C8E}"/>
              </a:ext>
            </a:extLst>
          </p:cNvPr>
          <p:cNvSpPr/>
          <p:nvPr/>
        </p:nvSpPr>
        <p:spPr>
          <a:xfrm>
            <a:off x="316306" y="1761242"/>
            <a:ext cx="8939660"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ABFEA0C2-D3DD-56F4-E4F9-C3A95F9244CA}"/>
              </a:ext>
            </a:extLst>
          </p:cNvPr>
          <p:cNvSpPr/>
          <p:nvPr/>
        </p:nvSpPr>
        <p:spPr>
          <a:xfrm>
            <a:off x="505374" y="1928177"/>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(2024–2026) across five themes: forecasting methods, external regressors, SME data challenges, inventory-to-action, and technology adoption.</a:t>
            </a:r>
            <a:endParaRPr lang="en-US" sz="1400" dirty="0"/>
          </a:p>
        </p:txBody>
      </p:sp>
      <p:graphicFrame>
        <p:nvGraphicFramePr>
          <p:cNvPr id="16" name="Table 0">
            <a:extLst>
              <a:ext uri="{FF2B5EF4-FFF2-40B4-BE49-F238E27FC236}">
                <a16:creationId xmlns:a16="http://schemas.microsoft.com/office/drawing/2014/main" id="{A38DB46D-5B1C-A3FC-92C6-3261734D6EFE}"/>
              </a:ext>
            </a:extLst>
          </p:cNvPr>
          <p:cNvGraphicFramePr>
            <a:graphicFrameLocks noGrp="1"/>
          </p:cNvGraphicFramePr>
          <p:nvPr>
            <p:extLst>
              <p:ext uri="{D42A27DB-BD31-4B8C-83A1-F6EECF244321}">
                <p14:modId xmlns:p14="http://schemas.microsoft.com/office/powerpoint/2010/main" val="2698227140"/>
              </p:ext>
            </p:extLst>
          </p:nvPr>
        </p:nvGraphicFramePr>
        <p:xfrm>
          <a:off x="484263" y="2456373"/>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834516399"/>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3162092361"/>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2024</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8" name="Shape 6">
            <a:extLst>
              <a:ext uri="{FF2B5EF4-FFF2-40B4-BE49-F238E27FC236}">
                <a16:creationId xmlns:a16="http://schemas.microsoft.com/office/drawing/2014/main" id="{955A0026-2DEF-3F8D-262F-7D6F3BC9ACE9}"/>
              </a:ext>
            </a:extLst>
          </p:cNvPr>
          <p:cNvSpPr/>
          <p:nvPr/>
        </p:nvSpPr>
        <p:spPr>
          <a:xfrm>
            <a:off x="484263" y="2456373"/>
            <a:ext cx="8939660" cy="457200"/>
          </a:xfrm>
          <a:prstGeom prst="rect">
            <a:avLst/>
          </a:prstGeom>
          <a:solidFill>
            <a:srgbClr val="BC312C"/>
          </a:solidFill>
          <a:ln/>
        </p:spPr>
        <p:txBody>
          <a:bodyPr/>
          <a:lstStyle/>
          <a:p>
            <a:endParaRPr lang="en-IN" dirty="0"/>
          </a:p>
        </p:txBody>
      </p:sp>
      <p:sp>
        <p:nvSpPr>
          <p:cNvPr id="20" name="Text 7">
            <a:extLst>
              <a:ext uri="{FF2B5EF4-FFF2-40B4-BE49-F238E27FC236}">
                <a16:creationId xmlns:a16="http://schemas.microsoft.com/office/drawing/2014/main" id="{1D7803C5-D076-3245-778C-3C1DC91E9BD8}"/>
              </a:ext>
            </a:extLst>
          </p:cNvPr>
          <p:cNvSpPr/>
          <p:nvPr/>
        </p:nvSpPr>
        <p:spPr>
          <a:xfrm>
            <a:off x="484264" y="2456373"/>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22" name="Text 8">
            <a:extLst>
              <a:ext uri="{FF2B5EF4-FFF2-40B4-BE49-F238E27FC236}">
                <a16:creationId xmlns:a16="http://schemas.microsoft.com/office/drawing/2014/main" id="{377570CA-6929-B52C-65E8-7A6BC04E6272}"/>
              </a:ext>
            </a:extLst>
          </p:cNvPr>
          <p:cNvSpPr/>
          <p:nvPr/>
        </p:nvSpPr>
        <p:spPr>
          <a:xfrm>
            <a:off x="2385840" y="2456373"/>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24" name="Text 9">
            <a:extLst>
              <a:ext uri="{FF2B5EF4-FFF2-40B4-BE49-F238E27FC236}">
                <a16:creationId xmlns:a16="http://schemas.microsoft.com/office/drawing/2014/main" id="{9FCB9C98-9C1B-6EEB-8145-7557C510FF06}"/>
              </a:ext>
            </a:extLst>
          </p:cNvPr>
          <p:cNvSpPr/>
          <p:nvPr/>
        </p:nvSpPr>
        <p:spPr>
          <a:xfrm>
            <a:off x="4132532" y="2456373"/>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26" name="Text 10">
            <a:extLst>
              <a:ext uri="{FF2B5EF4-FFF2-40B4-BE49-F238E27FC236}">
                <a16:creationId xmlns:a16="http://schemas.microsoft.com/office/drawing/2014/main" id="{6D1DE0B1-E685-106A-17BB-7AA11266160D}"/>
              </a:ext>
            </a:extLst>
          </p:cNvPr>
          <p:cNvSpPr/>
          <p:nvPr/>
        </p:nvSpPr>
        <p:spPr>
          <a:xfrm>
            <a:off x="5856132" y="2456373"/>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8" name="Text 11">
            <a:extLst>
              <a:ext uri="{FF2B5EF4-FFF2-40B4-BE49-F238E27FC236}">
                <a16:creationId xmlns:a16="http://schemas.microsoft.com/office/drawing/2014/main" id="{67339973-CE03-AEB9-AE28-8B4C1A2FBACA}"/>
              </a:ext>
            </a:extLst>
          </p:cNvPr>
          <p:cNvSpPr/>
          <p:nvPr/>
        </p:nvSpPr>
        <p:spPr>
          <a:xfrm>
            <a:off x="7422918" y="2456373"/>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162376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034F-E46D-92BD-739C-8F411EC59BA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B20CE97-F067-29E7-E8CF-EF2C6834B336}"/>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7D32B60-698B-2D28-A1DA-5D93577AB770}"/>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CBD9C920-902F-CA9A-26FC-D63C5797791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1292D09C-32B9-B0B1-850A-C054022A2267}"/>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E0928891-608A-48D9-379E-F13332EAF81B}"/>
              </a:ext>
            </a:extLst>
          </p:cNvPr>
          <p:cNvSpPr>
            <a:spLocks noGrp="1"/>
          </p:cNvSpPr>
          <p:nvPr>
            <p:ph type="sldNum" sz="quarter" idx="12"/>
          </p:nvPr>
        </p:nvSpPr>
        <p:spPr/>
        <p:txBody>
          <a:bodyPr/>
          <a:lstStyle/>
          <a:p>
            <a:fld id="{9DC013F7-6D70-4318-BA41-212A9B59413B}" type="slidenum">
              <a:rPr lang="en-US" smtClean="0"/>
              <a:t>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E44EB45-2A49-E6E2-0268-2B6B0DFF13A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C74EDA66-9DE9-F8A7-CBB9-E459E7DFBDD6}"/>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0D5A778-4D78-1A46-1572-BD8CC8963027}"/>
              </a:ext>
            </a:extLst>
          </p:cNvPr>
          <p:cNvSpPr/>
          <p:nvPr/>
        </p:nvSpPr>
        <p:spPr>
          <a:xfrm>
            <a:off x="214482" y="1203878"/>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12" name="Shape 4">
            <a:extLst>
              <a:ext uri="{FF2B5EF4-FFF2-40B4-BE49-F238E27FC236}">
                <a16:creationId xmlns:a16="http://schemas.microsoft.com/office/drawing/2014/main" id="{8C6D2FE7-545D-ADE0-369B-E713265CA4C7}"/>
              </a:ext>
            </a:extLst>
          </p:cNvPr>
          <p:cNvSpPr/>
          <p:nvPr/>
        </p:nvSpPr>
        <p:spPr>
          <a:xfrm flipV="1">
            <a:off x="157688" y="1848813"/>
            <a:ext cx="9406192" cy="4306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3D7C4294-7A26-6677-7B46-2EC69383E270}"/>
              </a:ext>
            </a:extLst>
          </p:cNvPr>
          <p:cNvSpPr/>
          <p:nvPr/>
        </p:nvSpPr>
        <p:spPr>
          <a:xfrm>
            <a:off x="25050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16" name="Text 6">
            <a:extLst>
              <a:ext uri="{FF2B5EF4-FFF2-40B4-BE49-F238E27FC236}">
                <a16:creationId xmlns:a16="http://schemas.microsoft.com/office/drawing/2014/main" id="{73B1E078-CAE5-94DA-D067-0FEA6B2AF294}"/>
              </a:ext>
            </a:extLst>
          </p:cNvPr>
          <p:cNvSpPr/>
          <p:nvPr/>
        </p:nvSpPr>
        <p:spPr>
          <a:xfrm>
            <a:off x="31050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18" name="Text 7">
            <a:extLst>
              <a:ext uri="{FF2B5EF4-FFF2-40B4-BE49-F238E27FC236}">
                <a16:creationId xmlns:a16="http://schemas.microsoft.com/office/drawing/2014/main" id="{1915FB9C-F73C-08B7-AA64-3346D2C0E930}"/>
              </a:ext>
            </a:extLst>
          </p:cNvPr>
          <p:cNvSpPr/>
          <p:nvPr/>
        </p:nvSpPr>
        <p:spPr>
          <a:xfrm>
            <a:off x="31050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20" name="Shape 8">
            <a:extLst>
              <a:ext uri="{FF2B5EF4-FFF2-40B4-BE49-F238E27FC236}">
                <a16:creationId xmlns:a16="http://schemas.microsoft.com/office/drawing/2014/main" id="{83444A55-DCC7-EE0B-35F6-3EB9192A7A1D}"/>
              </a:ext>
            </a:extLst>
          </p:cNvPr>
          <p:cNvSpPr/>
          <p:nvPr/>
        </p:nvSpPr>
        <p:spPr>
          <a:xfrm>
            <a:off x="1693506" y="3871460"/>
            <a:ext cx="150000" cy="237744"/>
          </a:xfrm>
          <a:prstGeom prst="rightArrow">
            <a:avLst/>
          </a:prstGeom>
          <a:solidFill>
            <a:srgbClr val="6B6B6B"/>
          </a:solidFill>
          <a:ln/>
        </p:spPr>
        <p:txBody>
          <a:bodyPr/>
          <a:lstStyle/>
          <a:p>
            <a:endParaRPr lang="en-IN" sz="1500"/>
          </a:p>
        </p:txBody>
      </p:sp>
      <p:sp>
        <p:nvSpPr>
          <p:cNvPr id="22" name="Shape 9">
            <a:extLst>
              <a:ext uri="{FF2B5EF4-FFF2-40B4-BE49-F238E27FC236}">
                <a16:creationId xmlns:a16="http://schemas.microsoft.com/office/drawing/2014/main" id="{FB5E2861-7292-34C6-F544-1EE048738249}"/>
              </a:ext>
            </a:extLst>
          </p:cNvPr>
          <p:cNvSpPr/>
          <p:nvPr/>
        </p:nvSpPr>
        <p:spPr>
          <a:xfrm>
            <a:off x="1843506"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4" name="Text 10">
            <a:extLst>
              <a:ext uri="{FF2B5EF4-FFF2-40B4-BE49-F238E27FC236}">
                <a16:creationId xmlns:a16="http://schemas.microsoft.com/office/drawing/2014/main" id="{9DC570A5-92EB-F3B2-0DEF-1BA2804E5B0D}"/>
              </a:ext>
            </a:extLst>
          </p:cNvPr>
          <p:cNvSpPr/>
          <p:nvPr/>
        </p:nvSpPr>
        <p:spPr>
          <a:xfrm>
            <a:off x="1903506"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26" name="Text 11">
            <a:extLst>
              <a:ext uri="{FF2B5EF4-FFF2-40B4-BE49-F238E27FC236}">
                <a16:creationId xmlns:a16="http://schemas.microsoft.com/office/drawing/2014/main" id="{784FB0EF-15CE-1852-6B1B-89D8BCACE057}"/>
              </a:ext>
            </a:extLst>
          </p:cNvPr>
          <p:cNvSpPr/>
          <p:nvPr/>
        </p:nvSpPr>
        <p:spPr>
          <a:xfrm>
            <a:off x="1888506"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 residual correction (XGBoost)</a:t>
            </a:r>
            <a:endParaRPr lang="en-US" sz="1500" dirty="0"/>
          </a:p>
        </p:txBody>
      </p:sp>
      <p:sp>
        <p:nvSpPr>
          <p:cNvPr id="28" name="Shape 12">
            <a:extLst>
              <a:ext uri="{FF2B5EF4-FFF2-40B4-BE49-F238E27FC236}">
                <a16:creationId xmlns:a16="http://schemas.microsoft.com/office/drawing/2014/main" id="{94D0A4D0-B5DD-BED9-796E-39C9F27CB3CF}"/>
              </a:ext>
            </a:extLst>
          </p:cNvPr>
          <p:cNvSpPr/>
          <p:nvPr/>
        </p:nvSpPr>
        <p:spPr>
          <a:xfrm>
            <a:off x="3286509" y="3871460"/>
            <a:ext cx="150000" cy="237744"/>
          </a:xfrm>
          <a:prstGeom prst="rightArrow">
            <a:avLst/>
          </a:prstGeom>
          <a:solidFill>
            <a:srgbClr val="6B6B6B"/>
          </a:solidFill>
          <a:ln/>
        </p:spPr>
        <p:txBody>
          <a:bodyPr/>
          <a:lstStyle/>
          <a:p>
            <a:endParaRPr lang="en-IN" sz="1500"/>
          </a:p>
        </p:txBody>
      </p:sp>
      <p:sp>
        <p:nvSpPr>
          <p:cNvPr id="30" name="Shape 13">
            <a:extLst>
              <a:ext uri="{FF2B5EF4-FFF2-40B4-BE49-F238E27FC236}">
                <a16:creationId xmlns:a16="http://schemas.microsoft.com/office/drawing/2014/main" id="{EA2997CF-6EEE-3141-D307-FA43328C08C1}"/>
              </a:ext>
            </a:extLst>
          </p:cNvPr>
          <p:cNvSpPr/>
          <p:nvPr/>
        </p:nvSpPr>
        <p:spPr>
          <a:xfrm>
            <a:off x="343650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2" name="Text 14">
            <a:extLst>
              <a:ext uri="{FF2B5EF4-FFF2-40B4-BE49-F238E27FC236}">
                <a16:creationId xmlns:a16="http://schemas.microsoft.com/office/drawing/2014/main" id="{BDDB2AF9-D208-1B77-1DBC-A8A2CC48238C}"/>
              </a:ext>
            </a:extLst>
          </p:cNvPr>
          <p:cNvSpPr/>
          <p:nvPr/>
        </p:nvSpPr>
        <p:spPr>
          <a:xfrm>
            <a:off x="349650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34" name="Text 15">
            <a:extLst>
              <a:ext uri="{FF2B5EF4-FFF2-40B4-BE49-F238E27FC236}">
                <a16:creationId xmlns:a16="http://schemas.microsoft.com/office/drawing/2014/main" id="{CA1DB50A-3C14-6A54-DE87-6634C3EAC8A4}"/>
              </a:ext>
            </a:extLst>
          </p:cNvPr>
          <p:cNvSpPr/>
          <p:nvPr/>
        </p:nvSpPr>
        <p:spPr>
          <a:xfrm>
            <a:off x="3511509"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36" name="Shape 16">
            <a:extLst>
              <a:ext uri="{FF2B5EF4-FFF2-40B4-BE49-F238E27FC236}">
                <a16:creationId xmlns:a16="http://schemas.microsoft.com/office/drawing/2014/main" id="{99178979-FD34-5993-0BDD-4A888BB35169}"/>
              </a:ext>
            </a:extLst>
          </p:cNvPr>
          <p:cNvSpPr/>
          <p:nvPr/>
        </p:nvSpPr>
        <p:spPr>
          <a:xfrm>
            <a:off x="4860850" y="3871460"/>
            <a:ext cx="150000" cy="237744"/>
          </a:xfrm>
          <a:prstGeom prst="rightArrow">
            <a:avLst/>
          </a:prstGeom>
          <a:solidFill>
            <a:srgbClr val="6B6B6B"/>
          </a:solidFill>
          <a:ln/>
        </p:spPr>
        <p:txBody>
          <a:bodyPr/>
          <a:lstStyle/>
          <a:p>
            <a:endParaRPr lang="en-IN" sz="1500"/>
          </a:p>
        </p:txBody>
      </p:sp>
      <p:sp>
        <p:nvSpPr>
          <p:cNvPr id="38" name="Shape 17">
            <a:extLst>
              <a:ext uri="{FF2B5EF4-FFF2-40B4-BE49-F238E27FC236}">
                <a16:creationId xmlns:a16="http://schemas.microsoft.com/office/drawing/2014/main" id="{F9C10C9F-1CDF-FF62-3203-B301790F03C8}"/>
              </a:ext>
            </a:extLst>
          </p:cNvPr>
          <p:cNvSpPr/>
          <p:nvPr/>
        </p:nvSpPr>
        <p:spPr>
          <a:xfrm>
            <a:off x="5010850"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0" name="Text 18">
            <a:extLst>
              <a:ext uri="{FF2B5EF4-FFF2-40B4-BE49-F238E27FC236}">
                <a16:creationId xmlns:a16="http://schemas.microsoft.com/office/drawing/2014/main" id="{A7A8B4F4-5045-EF6E-06DC-2DDEDBC352BA}"/>
              </a:ext>
            </a:extLst>
          </p:cNvPr>
          <p:cNvSpPr/>
          <p:nvPr/>
        </p:nvSpPr>
        <p:spPr>
          <a:xfrm>
            <a:off x="5070850"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42" name="Text 19">
            <a:extLst>
              <a:ext uri="{FF2B5EF4-FFF2-40B4-BE49-F238E27FC236}">
                <a16:creationId xmlns:a16="http://schemas.microsoft.com/office/drawing/2014/main" id="{5EEDD3FC-3434-C5DD-D5E5-226E6D665A9F}"/>
              </a:ext>
            </a:extLst>
          </p:cNvPr>
          <p:cNvSpPr/>
          <p:nvPr/>
        </p:nvSpPr>
        <p:spPr>
          <a:xfrm>
            <a:off x="5070850"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44" name="Shape 20">
            <a:extLst>
              <a:ext uri="{FF2B5EF4-FFF2-40B4-BE49-F238E27FC236}">
                <a16:creationId xmlns:a16="http://schemas.microsoft.com/office/drawing/2014/main" id="{86D65179-B3F5-AD37-DB03-26BC748D955D}"/>
              </a:ext>
            </a:extLst>
          </p:cNvPr>
          <p:cNvSpPr/>
          <p:nvPr/>
        </p:nvSpPr>
        <p:spPr>
          <a:xfrm>
            <a:off x="6444522" y="3871460"/>
            <a:ext cx="150000" cy="237744"/>
          </a:xfrm>
          <a:prstGeom prst="rightArrow">
            <a:avLst/>
          </a:prstGeom>
          <a:solidFill>
            <a:srgbClr val="6B6B6B"/>
          </a:solidFill>
          <a:ln/>
        </p:spPr>
        <p:txBody>
          <a:bodyPr/>
          <a:lstStyle/>
          <a:p>
            <a:endParaRPr lang="en-IN" sz="1500"/>
          </a:p>
        </p:txBody>
      </p:sp>
      <p:sp>
        <p:nvSpPr>
          <p:cNvPr id="46" name="Shape 20">
            <a:extLst>
              <a:ext uri="{FF2B5EF4-FFF2-40B4-BE49-F238E27FC236}">
                <a16:creationId xmlns:a16="http://schemas.microsoft.com/office/drawing/2014/main" id="{77F80DC3-F93D-8603-EA1E-5A9D09297795}"/>
              </a:ext>
            </a:extLst>
          </p:cNvPr>
          <p:cNvSpPr/>
          <p:nvPr/>
        </p:nvSpPr>
        <p:spPr>
          <a:xfrm>
            <a:off x="8028194" y="3871460"/>
            <a:ext cx="150000" cy="237744"/>
          </a:xfrm>
          <a:prstGeom prst="rightArrow">
            <a:avLst/>
          </a:prstGeom>
          <a:solidFill>
            <a:srgbClr val="6B6B6B"/>
          </a:solidFill>
          <a:ln/>
        </p:spPr>
        <p:txBody>
          <a:bodyPr/>
          <a:lstStyle/>
          <a:p>
            <a:endParaRPr lang="en-IN" sz="1500"/>
          </a:p>
        </p:txBody>
      </p:sp>
      <p:sp>
        <p:nvSpPr>
          <p:cNvPr id="48" name="Shape 21">
            <a:extLst>
              <a:ext uri="{FF2B5EF4-FFF2-40B4-BE49-F238E27FC236}">
                <a16:creationId xmlns:a16="http://schemas.microsoft.com/office/drawing/2014/main" id="{D2071269-563F-DD15-2D96-3746CECD70ED}"/>
              </a:ext>
            </a:extLst>
          </p:cNvPr>
          <p:cNvSpPr/>
          <p:nvPr/>
        </p:nvSpPr>
        <p:spPr>
          <a:xfrm>
            <a:off x="6594522"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0" name="Shape 21">
            <a:extLst>
              <a:ext uri="{FF2B5EF4-FFF2-40B4-BE49-F238E27FC236}">
                <a16:creationId xmlns:a16="http://schemas.microsoft.com/office/drawing/2014/main" id="{8FA4869D-8C21-6002-3333-48044B307382}"/>
              </a:ext>
            </a:extLst>
          </p:cNvPr>
          <p:cNvSpPr/>
          <p:nvPr/>
        </p:nvSpPr>
        <p:spPr>
          <a:xfrm>
            <a:off x="8178194"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2" name="Text 22">
            <a:extLst>
              <a:ext uri="{FF2B5EF4-FFF2-40B4-BE49-F238E27FC236}">
                <a16:creationId xmlns:a16="http://schemas.microsoft.com/office/drawing/2014/main" id="{F342388A-12F0-563B-A91A-914A01B04C06}"/>
              </a:ext>
            </a:extLst>
          </p:cNvPr>
          <p:cNvSpPr/>
          <p:nvPr/>
        </p:nvSpPr>
        <p:spPr>
          <a:xfrm>
            <a:off x="6654522"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54" name="Text 22">
            <a:extLst>
              <a:ext uri="{FF2B5EF4-FFF2-40B4-BE49-F238E27FC236}">
                <a16:creationId xmlns:a16="http://schemas.microsoft.com/office/drawing/2014/main" id="{4B8E25A7-8F29-F200-825A-63F6FA3BE562}"/>
              </a:ext>
            </a:extLst>
          </p:cNvPr>
          <p:cNvSpPr/>
          <p:nvPr/>
        </p:nvSpPr>
        <p:spPr>
          <a:xfrm>
            <a:off x="8238194"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56" name="Text 23">
            <a:extLst>
              <a:ext uri="{FF2B5EF4-FFF2-40B4-BE49-F238E27FC236}">
                <a16:creationId xmlns:a16="http://schemas.microsoft.com/office/drawing/2014/main" id="{D4F001E5-32AC-5F34-E299-9C3473D1ECE3}"/>
              </a:ext>
            </a:extLst>
          </p:cNvPr>
          <p:cNvSpPr/>
          <p:nvPr/>
        </p:nvSpPr>
        <p:spPr>
          <a:xfrm>
            <a:off x="6654522"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58" name="Text 23">
            <a:extLst>
              <a:ext uri="{FF2B5EF4-FFF2-40B4-BE49-F238E27FC236}">
                <a16:creationId xmlns:a16="http://schemas.microsoft.com/office/drawing/2014/main" id="{037D519D-5AA2-507C-7B33-8267EAD8684B}"/>
              </a:ext>
            </a:extLst>
          </p:cNvPr>
          <p:cNvSpPr/>
          <p:nvPr/>
        </p:nvSpPr>
        <p:spPr>
          <a:xfrm>
            <a:off x="8178194" y="3794391"/>
            <a:ext cx="1377685"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2" name="TextBox 61">
            <a:extLst>
              <a:ext uri="{FF2B5EF4-FFF2-40B4-BE49-F238E27FC236}">
                <a16:creationId xmlns:a16="http://schemas.microsoft.com/office/drawing/2014/main" id="{81E2064F-7AEE-9E5E-2E8B-4FF9FA4A15F1}"/>
              </a:ext>
            </a:extLst>
          </p:cNvPr>
          <p:cNvSpPr txBox="1"/>
          <p:nvPr/>
        </p:nvSpPr>
        <p:spPr>
          <a:xfrm>
            <a:off x="213673" y="2051021"/>
            <a:ext cx="9408557" cy="1107996"/>
          </a:xfrm>
          <a:prstGeom prst="rect">
            <a:avLst/>
          </a:prstGeom>
          <a:noFill/>
        </p:spPr>
        <p:txBody>
          <a:bodyPr wrap="square" lIns="0" tIns="0" rIns="0" bIns="0">
            <a:spAutoFit/>
          </a:bodyPr>
          <a:lstStyle/>
          <a:p>
            <a:r>
              <a:rPr lang="en-IN" i="1" dirty="0">
                <a:solidFill>
                  <a:schemeClr val="accent5">
                    <a:lumMod val="50000"/>
                  </a:schemeClr>
                </a:solidFill>
              </a:rPr>
              <a:t>An end-to-end architecture designed to transform raw, unpredictable sales data into plain-language inventory recommendations.</a:t>
            </a:r>
            <a:endParaRPr lang="en-IN" dirty="0">
              <a:solidFill>
                <a:schemeClr val="accent5">
                  <a:lumMod val="50000"/>
                </a:schemeClr>
              </a:solidFill>
            </a:endParaRPr>
          </a:p>
          <a:p>
            <a:br>
              <a:rPr lang="en-IN" dirty="0"/>
            </a:br>
            <a:endParaRPr i="1" dirty="0">
              <a:solidFill>
                <a:srgbClr val="2F3C7E"/>
              </a:solidFill>
              <a:latin typeface="Calibri"/>
            </a:endParaRPr>
          </a:p>
        </p:txBody>
      </p:sp>
    </p:spTree>
    <p:extLst>
      <p:ext uri="{BB962C8B-B14F-4D97-AF65-F5344CB8AC3E}">
        <p14:creationId xmlns:p14="http://schemas.microsoft.com/office/powerpoint/2010/main" val="206626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14F4-1DA5-3A14-695D-65199F9BB25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BFC3007-2971-043E-2BE3-3C53B61CA10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7555D82-4538-145B-E280-8315A9597B0E}"/>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7BBB5B2-1C0F-718D-7919-9CAA31C0145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A7E9CFB4-0160-D836-B277-EDE02129A5A9}"/>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DA83F21E-5495-5CE8-71D0-F72DD05C62B3}"/>
              </a:ext>
            </a:extLst>
          </p:cNvPr>
          <p:cNvSpPr>
            <a:spLocks noGrp="1"/>
          </p:cNvSpPr>
          <p:nvPr>
            <p:ph type="sldNum" sz="quarter" idx="12"/>
          </p:nvPr>
        </p:nvSpPr>
        <p:spPr/>
        <p:txBody>
          <a:bodyPr/>
          <a:lstStyle/>
          <a:p>
            <a:fld id="{9DC013F7-6D70-4318-BA41-212A9B59413B}" type="slidenum">
              <a:rPr lang="en-US" smtClean="0"/>
              <a:t>10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485CD39B-8E62-A894-894E-AC9A3CBBC00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7A6876A-FCAD-77C9-E31A-89D15EF39D48}"/>
              </a:ext>
            </a:extLst>
          </p:cNvPr>
          <p:cNvSpPr/>
          <p:nvPr/>
        </p:nvSpPr>
        <p:spPr>
          <a:xfrm>
            <a:off x="-178529" y="1174621"/>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FAA5FB4-2353-B853-D731-B4F79BCA2EDD}"/>
              </a:ext>
            </a:extLst>
          </p:cNvPr>
          <p:cNvSpPr/>
          <p:nvPr/>
        </p:nvSpPr>
        <p:spPr>
          <a:xfrm>
            <a:off x="306971" y="1241904"/>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12" name="Shape 4">
            <a:extLst>
              <a:ext uri="{FF2B5EF4-FFF2-40B4-BE49-F238E27FC236}">
                <a16:creationId xmlns:a16="http://schemas.microsoft.com/office/drawing/2014/main" id="{F254803E-9B27-839E-D398-582A9CFF3C9E}"/>
              </a:ext>
            </a:extLst>
          </p:cNvPr>
          <p:cNvSpPr/>
          <p:nvPr/>
        </p:nvSpPr>
        <p:spPr>
          <a:xfrm>
            <a:off x="306033" y="1836264"/>
            <a:ext cx="8548419" cy="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C1645358-FEC7-8FAD-CD1A-51370C6F5D6A}"/>
              </a:ext>
            </a:extLst>
          </p:cNvPr>
          <p:cNvSpPr/>
          <p:nvPr/>
        </p:nvSpPr>
        <p:spPr>
          <a:xfrm>
            <a:off x="521574"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16" name="Shape 6">
            <a:extLst>
              <a:ext uri="{FF2B5EF4-FFF2-40B4-BE49-F238E27FC236}">
                <a16:creationId xmlns:a16="http://schemas.microsoft.com/office/drawing/2014/main" id="{A00F0501-417C-F55E-B88C-56DB610B7899}"/>
              </a:ext>
            </a:extLst>
          </p:cNvPr>
          <p:cNvSpPr/>
          <p:nvPr/>
        </p:nvSpPr>
        <p:spPr>
          <a:xfrm>
            <a:off x="521574" y="2175315"/>
            <a:ext cx="45719" cy="1837778"/>
          </a:xfrm>
          <a:prstGeom prst="rect">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C8102C8D-0BE3-E4A1-1551-BA2CE71DDE93}"/>
              </a:ext>
            </a:extLst>
          </p:cNvPr>
          <p:cNvSpPr/>
          <p:nvPr/>
        </p:nvSpPr>
        <p:spPr>
          <a:xfrm>
            <a:off x="675529"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Mobile Frontend</a:t>
            </a:r>
            <a:endParaRPr lang="en-US" dirty="0"/>
          </a:p>
        </p:txBody>
      </p:sp>
      <p:sp>
        <p:nvSpPr>
          <p:cNvPr id="20" name="Text 8">
            <a:extLst>
              <a:ext uri="{FF2B5EF4-FFF2-40B4-BE49-F238E27FC236}">
                <a16:creationId xmlns:a16="http://schemas.microsoft.com/office/drawing/2014/main" id="{9D0F70B9-4DF2-A683-ED1B-AF8C18D950E0}"/>
              </a:ext>
            </a:extLst>
          </p:cNvPr>
          <p:cNvSpPr/>
          <p:nvPr/>
        </p:nvSpPr>
        <p:spPr>
          <a:xfrm>
            <a:off x="675529"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Flutter (Dart)</a:t>
            </a:r>
            <a:endParaRPr lang="en-US" sz="1400" dirty="0"/>
          </a:p>
        </p:txBody>
      </p:sp>
      <p:sp>
        <p:nvSpPr>
          <p:cNvPr id="22" name="Text 9">
            <a:extLst>
              <a:ext uri="{FF2B5EF4-FFF2-40B4-BE49-F238E27FC236}">
                <a16:creationId xmlns:a16="http://schemas.microsoft.com/office/drawing/2014/main" id="{FB1BD70B-B35C-63C6-CFEF-ED487030449C}"/>
              </a:ext>
            </a:extLst>
          </p:cNvPr>
          <p:cNvSpPr/>
          <p:nvPr/>
        </p:nvSpPr>
        <p:spPr>
          <a:xfrm>
            <a:off x="675529"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Cross-platform app so zero-install friction interface for non-technical owners</a:t>
            </a:r>
            <a:endParaRPr lang="en-US" sz="1200" dirty="0"/>
          </a:p>
        </p:txBody>
      </p:sp>
      <p:sp>
        <p:nvSpPr>
          <p:cNvPr id="24" name="Shape 10">
            <a:extLst>
              <a:ext uri="{FF2B5EF4-FFF2-40B4-BE49-F238E27FC236}">
                <a16:creationId xmlns:a16="http://schemas.microsoft.com/office/drawing/2014/main" id="{248982C2-7596-4B3F-AA81-312E21D4EF5B}"/>
              </a:ext>
            </a:extLst>
          </p:cNvPr>
          <p:cNvSpPr/>
          <p:nvPr/>
        </p:nvSpPr>
        <p:spPr>
          <a:xfrm>
            <a:off x="2768377"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26" name="Shape 11">
            <a:extLst>
              <a:ext uri="{FF2B5EF4-FFF2-40B4-BE49-F238E27FC236}">
                <a16:creationId xmlns:a16="http://schemas.microsoft.com/office/drawing/2014/main" id="{841AAD53-A0FA-7174-9F95-B9E5014D48B1}"/>
              </a:ext>
            </a:extLst>
          </p:cNvPr>
          <p:cNvSpPr/>
          <p:nvPr/>
        </p:nvSpPr>
        <p:spPr>
          <a:xfrm>
            <a:off x="2768377" y="2175315"/>
            <a:ext cx="45719" cy="1837778"/>
          </a:xfrm>
          <a:prstGeom prst="rect">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FA90CEB9-E861-75D8-056C-9C67438A0766}"/>
              </a:ext>
            </a:extLst>
          </p:cNvPr>
          <p:cNvSpPr/>
          <p:nvPr/>
        </p:nvSpPr>
        <p:spPr>
          <a:xfrm>
            <a:off x="2922332"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Forecasting Engine</a:t>
            </a:r>
            <a:endParaRPr lang="en-US" dirty="0"/>
          </a:p>
        </p:txBody>
      </p:sp>
      <p:sp>
        <p:nvSpPr>
          <p:cNvPr id="30" name="Text 13">
            <a:extLst>
              <a:ext uri="{FF2B5EF4-FFF2-40B4-BE49-F238E27FC236}">
                <a16:creationId xmlns:a16="http://schemas.microsoft.com/office/drawing/2014/main" id="{985DAB09-0710-B3D5-6C2F-2E7732ED2872}"/>
              </a:ext>
            </a:extLst>
          </p:cNvPr>
          <p:cNvSpPr/>
          <p:nvPr/>
        </p:nvSpPr>
        <p:spPr>
          <a:xfrm>
            <a:off x="2922332"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Facebook Prophet + XGBoost (Python)</a:t>
            </a:r>
            <a:endParaRPr lang="en-US" sz="1400" dirty="0"/>
          </a:p>
        </p:txBody>
      </p:sp>
      <p:sp>
        <p:nvSpPr>
          <p:cNvPr id="32" name="Text 14">
            <a:extLst>
              <a:ext uri="{FF2B5EF4-FFF2-40B4-BE49-F238E27FC236}">
                <a16:creationId xmlns:a16="http://schemas.microsoft.com/office/drawing/2014/main" id="{FB1DA546-E63F-5717-02D9-BD17CED9DA42}"/>
              </a:ext>
            </a:extLst>
          </p:cNvPr>
          <p:cNvSpPr/>
          <p:nvPr/>
        </p:nvSpPr>
        <p:spPr>
          <a:xfrm>
            <a:off x="2922332"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Prophet handles trend/seasonality; XGBoost models the residuals — CPU only, no GPU needed</a:t>
            </a:r>
            <a:endParaRPr lang="en-US" sz="1200" dirty="0"/>
          </a:p>
        </p:txBody>
      </p:sp>
      <p:sp>
        <p:nvSpPr>
          <p:cNvPr id="34" name="Shape 15">
            <a:extLst>
              <a:ext uri="{FF2B5EF4-FFF2-40B4-BE49-F238E27FC236}">
                <a16:creationId xmlns:a16="http://schemas.microsoft.com/office/drawing/2014/main" id="{3E3A93E5-0CE7-EFD6-17A1-679F53FE8FAF}"/>
              </a:ext>
            </a:extLst>
          </p:cNvPr>
          <p:cNvSpPr/>
          <p:nvPr/>
        </p:nvSpPr>
        <p:spPr>
          <a:xfrm>
            <a:off x="5033843"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36" name="Shape 16">
            <a:extLst>
              <a:ext uri="{FF2B5EF4-FFF2-40B4-BE49-F238E27FC236}">
                <a16:creationId xmlns:a16="http://schemas.microsoft.com/office/drawing/2014/main" id="{B813A8D5-73FF-2D6C-DD04-E8E5DAE00DE0}"/>
              </a:ext>
            </a:extLst>
          </p:cNvPr>
          <p:cNvSpPr/>
          <p:nvPr/>
        </p:nvSpPr>
        <p:spPr>
          <a:xfrm>
            <a:off x="5033843" y="2175315"/>
            <a:ext cx="45719" cy="1837778"/>
          </a:xfrm>
          <a:prstGeom prst="rect">
            <a:avLst/>
          </a:prstGeom>
          <a:solidFill>
            <a:srgbClr val="BC312C"/>
          </a:solidFill>
          <a:ln/>
        </p:spPr>
        <p:txBody>
          <a:bodyPr/>
          <a:lstStyle/>
          <a:p>
            <a:endParaRPr lang="en-IN"/>
          </a:p>
        </p:txBody>
      </p:sp>
      <p:sp>
        <p:nvSpPr>
          <p:cNvPr id="38" name="Text 17">
            <a:extLst>
              <a:ext uri="{FF2B5EF4-FFF2-40B4-BE49-F238E27FC236}">
                <a16:creationId xmlns:a16="http://schemas.microsoft.com/office/drawing/2014/main" id="{972C71A3-4126-1B03-1975-0583164AE7EF}"/>
              </a:ext>
            </a:extLst>
          </p:cNvPr>
          <p:cNvSpPr/>
          <p:nvPr/>
        </p:nvSpPr>
        <p:spPr>
          <a:xfrm>
            <a:off x="5187798"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External Regressors</a:t>
            </a:r>
            <a:endParaRPr lang="en-US" dirty="0"/>
          </a:p>
        </p:txBody>
      </p:sp>
      <p:sp>
        <p:nvSpPr>
          <p:cNvPr id="40" name="Text 18">
            <a:extLst>
              <a:ext uri="{FF2B5EF4-FFF2-40B4-BE49-F238E27FC236}">
                <a16:creationId xmlns:a16="http://schemas.microsoft.com/office/drawing/2014/main" id="{9089B26B-281F-EBA2-C5C5-B5469033F2D1}"/>
              </a:ext>
            </a:extLst>
          </p:cNvPr>
          <p:cNvSpPr/>
          <p:nvPr/>
        </p:nvSpPr>
        <p:spPr>
          <a:xfrm>
            <a:off x="5187798" y="2614226"/>
            <a:ext cx="1871721" cy="496697"/>
          </a:xfrm>
          <a:prstGeom prst="rect">
            <a:avLst/>
          </a:prstGeom>
          <a:noFill/>
          <a:ln/>
        </p:spPr>
        <p:txBody>
          <a:bodyPr wrap="square" lIns="0" tIns="0" rIns="0" bIns="0" rtlCol="0" anchor="ctr"/>
          <a:lstStyle/>
          <a:p>
            <a:pPr marL="0" indent="0">
              <a:lnSpc>
                <a:spcPct val="100000"/>
              </a:lnSpc>
              <a:buNone/>
            </a:pPr>
            <a:r>
              <a:rPr lang="en-US" sz="1400" b="1" dirty="0" err="1">
                <a:solidFill>
                  <a:srgbClr val="BC312C"/>
                </a:solidFill>
                <a:latin typeface="Calibri" pitchFamily="34" charset="0"/>
                <a:ea typeface="Calibri" pitchFamily="34" charset="-122"/>
                <a:cs typeface="Calibri" pitchFamily="34" charset="-120"/>
              </a:rPr>
              <a:t>WeatherAPI</a:t>
            </a:r>
            <a:r>
              <a:rPr lang="en-US" sz="1400" b="1" dirty="0">
                <a:solidFill>
                  <a:srgbClr val="BC312C"/>
                </a:solidFill>
                <a:latin typeface="Calibri" pitchFamily="34" charset="0"/>
                <a:ea typeface="Calibri" pitchFamily="34" charset="-122"/>
                <a:cs typeface="Calibri" pitchFamily="34" charset="-120"/>
              </a:rPr>
              <a:t>, Python `holidays` library</a:t>
            </a:r>
            <a:endParaRPr lang="en-US" sz="1400" dirty="0"/>
          </a:p>
        </p:txBody>
      </p:sp>
      <p:sp>
        <p:nvSpPr>
          <p:cNvPr id="42" name="Text 19">
            <a:extLst>
              <a:ext uri="{FF2B5EF4-FFF2-40B4-BE49-F238E27FC236}">
                <a16:creationId xmlns:a16="http://schemas.microsoft.com/office/drawing/2014/main" id="{D760D88C-514E-E222-2E37-53AEF8EF6B61}"/>
              </a:ext>
            </a:extLst>
          </p:cNvPr>
          <p:cNvSpPr/>
          <p:nvPr/>
        </p:nvSpPr>
        <p:spPr>
          <a:xfrm>
            <a:off x="5197721" y="321160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Feeds weather and public-holiday signals into Prophet</a:t>
            </a:r>
            <a:endParaRPr lang="en-US" sz="1200" dirty="0"/>
          </a:p>
        </p:txBody>
      </p:sp>
      <p:sp>
        <p:nvSpPr>
          <p:cNvPr id="44" name="Shape 20">
            <a:extLst>
              <a:ext uri="{FF2B5EF4-FFF2-40B4-BE49-F238E27FC236}">
                <a16:creationId xmlns:a16="http://schemas.microsoft.com/office/drawing/2014/main" id="{E1AC1F50-7FB8-2967-7D66-ACBFA1E4E51A}"/>
              </a:ext>
            </a:extLst>
          </p:cNvPr>
          <p:cNvSpPr/>
          <p:nvPr/>
        </p:nvSpPr>
        <p:spPr>
          <a:xfrm>
            <a:off x="521574"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052DB586-A6E5-78A8-CD3C-B034A29017D8}"/>
              </a:ext>
            </a:extLst>
          </p:cNvPr>
          <p:cNvSpPr/>
          <p:nvPr/>
        </p:nvSpPr>
        <p:spPr>
          <a:xfrm>
            <a:off x="521574" y="4479045"/>
            <a:ext cx="45719" cy="1837778"/>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86A10AC1-B586-05DC-ECB8-42C5F07D11B6}"/>
              </a:ext>
            </a:extLst>
          </p:cNvPr>
          <p:cNvSpPr/>
          <p:nvPr/>
        </p:nvSpPr>
        <p:spPr>
          <a:xfrm>
            <a:off x="656864"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Restock Logic</a:t>
            </a:r>
            <a:endParaRPr lang="en-US" dirty="0"/>
          </a:p>
        </p:txBody>
      </p:sp>
      <p:sp>
        <p:nvSpPr>
          <p:cNvPr id="50" name="Text 23">
            <a:extLst>
              <a:ext uri="{FF2B5EF4-FFF2-40B4-BE49-F238E27FC236}">
                <a16:creationId xmlns:a16="http://schemas.microsoft.com/office/drawing/2014/main" id="{83E4F515-F7F5-2D28-BB7E-00D837798C3C}"/>
              </a:ext>
            </a:extLst>
          </p:cNvPr>
          <p:cNvSpPr/>
          <p:nvPr/>
        </p:nvSpPr>
        <p:spPr>
          <a:xfrm>
            <a:off x="656864"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Python (Pandas, NumPy)</a:t>
            </a:r>
            <a:endParaRPr lang="en-US" sz="1400" dirty="0"/>
          </a:p>
        </p:txBody>
      </p:sp>
      <p:sp>
        <p:nvSpPr>
          <p:cNvPr id="52" name="Text 24">
            <a:extLst>
              <a:ext uri="{FF2B5EF4-FFF2-40B4-BE49-F238E27FC236}">
                <a16:creationId xmlns:a16="http://schemas.microsoft.com/office/drawing/2014/main" id="{25415EF8-2E89-93FE-F2CA-C55B5E2420A7}"/>
              </a:ext>
            </a:extLst>
          </p:cNvPr>
          <p:cNvSpPr/>
          <p:nvPr/>
        </p:nvSpPr>
        <p:spPr>
          <a:xfrm>
            <a:off x="656864"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Deterministic safety-stock buffer calculation not a second ML model</a:t>
            </a:r>
            <a:endParaRPr lang="en-US" sz="1200" dirty="0"/>
          </a:p>
        </p:txBody>
      </p:sp>
      <p:sp>
        <p:nvSpPr>
          <p:cNvPr id="54" name="Shape 25">
            <a:extLst>
              <a:ext uri="{FF2B5EF4-FFF2-40B4-BE49-F238E27FC236}">
                <a16:creationId xmlns:a16="http://schemas.microsoft.com/office/drawing/2014/main" id="{CA62526B-AD31-B787-0E54-5FCA69E0D2F9}"/>
              </a:ext>
            </a:extLst>
          </p:cNvPr>
          <p:cNvSpPr/>
          <p:nvPr/>
        </p:nvSpPr>
        <p:spPr>
          <a:xfrm>
            <a:off x="2768377"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56" name="Shape 26">
            <a:extLst>
              <a:ext uri="{FF2B5EF4-FFF2-40B4-BE49-F238E27FC236}">
                <a16:creationId xmlns:a16="http://schemas.microsoft.com/office/drawing/2014/main" id="{B34D5FE2-452F-8374-3DD2-8E0F16FB854D}"/>
              </a:ext>
            </a:extLst>
          </p:cNvPr>
          <p:cNvSpPr/>
          <p:nvPr/>
        </p:nvSpPr>
        <p:spPr>
          <a:xfrm>
            <a:off x="2768377" y="4479045"/>
            <a:ext cx="45719" cy="1837778"/>
          </a:xfrm>
          <a:prstGeom prst="rect">
            <a:avLst/>
          </a:prstGeom>
          <a:solidFill>
            <a:srgbClr val="BC312C"/>
          </a:solidFill>
          <a:ln/>
        </p:spPr>
        <p:txBody>
          <a:bodyPr/>
          <a:lstStyle/>
          <a:p>
            <a:endParaRPr lang="en-IN"/>
          </a:p>
        </p:txBody>
      </p:sp>
      <p:sp>
        <p:nvSpPr>
          <p:cNvPr id="58" name="Text 27">
            <a:extLst>
              <a:ext uri="{FF2B5EF4-FFF2-40B4-BE49-F238E27FC236}">
                <a16:creationId xmlns:a16="http://schemas.microsoft.com/office/drawing/2014/main" id="{54E53DBD-C56A-E417-92A3-2F1F0ACBFD16}"/>
              </a:ext>
            </a:extLst>
          </p:cNvPr>
          <p:cNvSpPr/>
          <p:nvPr/>
        </p:nvSpPr>
        <p:spPr>
          <a:xfrm>
            <a:off x="2903667"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Backend API</a:t>
            </a:r>
            <a:endParaRPr lang="en-US" dirty="0"/>
          </a:p>
        </p:txBody>
      </p:sp>
      <p:sp>
        <p:nvSpPr>
          <p:cNvPr id="60" name="Text 28">
            <a:extLst>
              <a:ext uri="{FF2B5EF4-FFF2-40B4-BE49-F238E27FC236}">
                <a16:creationId xmlns:a16="http://schemas.microsoft.com/office/drawing/2014/main" id="{AA496FB8-9F88-C677-7D4B-2C9C674BAA4D}"/>
              </a:ext>
            </a:extLst>
          </p:cNvPr>
          <p:cNvSpPr/>
          <p:nvPr/>
        </p:nvSpPr>
        <p:spPr>
          <a:xfrm>
            <a:off x="2903667"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FastAPI / Flask, hosted on Render / AWS </a:t>
            </a:r>
            <a:endParaRPr lang="en-US" sz="1400" dirty="0"/>
          </a:p>
        </p:txBody>
      </p:sp>
      <p:sp>
        <p:nvSpPr>
          <p:cNvPr id="62" name="Text 29">
            <a:extLst>
              <a:ext uri="{FF2B5EF4-FFF2-40B4-BE49-F238E27FC236}">
                <a16:creationId xmlns:a16="http://schemas.microsoft.com/office/drawing/2014/main" id="{52131326-FD29-3973-DB36-90D650AAE1AD}"/>
              </a:ext>
            </a:extLst>
          </p:cNvPr>
          <p:cNvSpPr/>
          <p:nvPr/>
        </p:nvSpPr>
        <p:spPr>
          <a:xfrm>
            <a:off x="2903667"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Connects Flutter app to the Python forecasting pipeline</a:t>
            </a:r>
            <a:endParaRPr lang="en-US" sz="1200" dirty="0"/>
          </a:p>
        </p:txBody>
      </p:sp>
      <p:sp>
        <p:nvSpPr>
          <p:cNvPr id="64" name="Shape 30">
            <a:extLst>
              <a:ext uri="{FF2B5EF4-FFF2-40B4-BE49-F238E27FC236}">
                <a16:creationId xmlns:a16="http://schemas.microsoft.com/office/drawing/2014/main" id="{D5479092-5CF1-EBFF-43AF-8C25986DF4BB}"/>
              </a:ext>
            </a:extLst>
          </p:cNvPr>
          <p:cNvSpPr/>
          <p:nvPr/>
        </p:nvSpPr>
        <p:spPr>
          <a:xfrm>
            <a:off x="5033843"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66" name="Shape 31">
            <a:extLst>
              <a:ext uri="{FF2B5EF4-FFF2-40B4-BE49-F238E27FC236}">
                <a16:creationId xmlns:a16="http://schemas.microsoft.com/office/drawing/2014/main" id="{7A3AB7C8-427D-73CB-8861-586056133888}"/>
              </a:ext>
            </a:extLst>
          </p:cNvPr>
          <p:cNvSpPr/>
          <p:nvPr/>
        </p:nvSpPr>
        <p:spPr>
          <a:xfrm>
            <a:off x="5033843" y="4479045"/>
            <a:ext cx="45719" cy="1837778"/>
          </a:xfrm>
          <a:prstGeom prst="rect">
            <a:avLst/>
          </a:prstGeom>
          <a:solidFill>
            <a:srgbClr val="BC312C"/>
          </a:solidFill>
          <a:ln/>
        </p:spPr>
        <p:txBody>
          <a:bodyPr/>
          <a:lstStyle/>
          <a:p>
            <a:endParaRPr lang="en-IN"/>
          </a:p>
        </p:txBody>
      </p:sp>
      <p:sp>
        <p:nvSpPr>
          <p:cNvPr id="68" name="Text 32">
            <a:extLst>
              <a:ext uri="{FF2B5EF4-FFF2-40B4-BE49-F238E27FC236}">
                <a16:creationId xmlns:a16="http://schemas.microsoft.com/office/drawing/2014/main" id="{2DE12F82-4A24-56F7-F8E5-8CACE9D542BA}"/>
              </a:ext>
            </a:extLst>
          </p:cNvPr>
          <p:cNvSpPr/>
          <p:nvPr/>
        </p:nvSpPr>
        <p:spPr>
          <a:xfrm>
            <a:off x="5169133"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Database</a:t>
            </a:r>
            <a:endParaRPr lang="en-US" dirty="0"/>
          </a:p>
        </p:txBody>
      </p:sp>
      <p:sp>
        <p:nvSpPr>
          <p:cNvPr id="70" name="Text 33">
            <a:extLst>
              <a:ext uri="{FF2B5EF4-FFF2-40B4-BE49-F238E27FC236}">
                <a16:creationId xmlns:a16="http://schemas.microsoft.com/office/drawing/2014/main" id="{FB5688B8-40C6-756C-9014-13DE832A2D7E}"/>
              </a:ext>
            </a:extLst>
          </p:cNvPr>
          <p:cNvSpPr/>
          <p:nvPr/>
        </p:nvSpPr>
        <p:spPr>
          <a:xfrm>
            <a:off x="5169133"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Firebase / Supabase</a:t>
            </a:r>
            <a:endParaRPr lang="en-US" sz="1400" dirty="0"/>
          </a:p>
        </p:txBody>
      </p:sp>
      <p:sp>
        <p:nvSpPr>
          <p:cNvPr id="72" name="Text 34">
            <a:extLst>
              <a:ext uri="{FF2B5EF4-FFF2-40B4-BE49-F238E27FC236}">
                <a16:creationId xmlns:a16="http://schemas.microsoft.com/office/drawing/2014/main" id="{1BDCC6E1-16B0-DB80-116A-8F9470E135BB}"/>
              </a:ext>
            </a:extLst>
          </p:cNvPr>
          <p:cNvSpPr/>
          <p:nvPr/>
        </p:nvSpPr>
        <p:spPr>
          <a:xfrm>
            <a:off x="5169133"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User auth, shop profiles, historical sales logs from CSVs</a:t>
            </a:r>
            <a:endParaRPr lang="en-US" sz="1200" dirty="0"/>
          </a:p>
        </p:txBody>
      </p:sp>
      <p:sp>
        <p:nvSpPr>
          <p:cNvPr id="74" name="Shape 15">
            <a:extLst>
              <a:ext uri="{FF2B5EF4-FFF2-40B4-BE49-F238E27FC236}">
                <a16:creationId xmlns:a16="http://schemas.microsoft.com/office/drawing/2014/main" id="{D11F1F65-C232-0CA0-AEF3-69BE454F3BD9}"/>
              </a:ext>
            </a:extLst>
          </p:cNvPr>
          <p:cNvSpPr/>
          <p:nvPr/>
        </p:nvSpPr>
        <p:spPr>
          <a:xfrm>
            <a:off x="7339628"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76" name="Shape 16">
            <a:extLst>
              <a:ext uri="{FF2B5EF4-FFF2-40B4-BE49-F238E27FC236}">
                <a16:creationId xmlns:a16="http://schemas.microsoft.com/office/drawing/2014/main" id="{141D9C26-2A5D-EE7D-9D63-4B9EE9AE4490}"/>
              </a:ext>
            </a:extLst>
          </p:cNvPr>
          <p:cNvSpPr/>
          <p:nvPr/>
        </p:nvSpPr>
        <p:spPr>
          <a:xfrm>
            <a:off x="7339628" y="2175315"/>
            <a:ext cx="45719" cy="1837778"/>
          </a:xfrm>
          <a:prstGeom prst="rect">
            <a:avLst/>
          </a:prstGeom>
          <a:solidFill>
            <a:srgbClr val="BC312C"/>
          </a:solidFill>
          <a:ln/>
        </p:spPr>
        <p:txBody>
          <a:bodyPr/>
          <a:lstStyle/>
          <a:p>
            <a:endParaRPr lang="en-IN"/>
          </a:p>
        </p:txBody>
      </p:sp>
      <p:sp>
        <p:nvSpPr>
          <p:cNvPr id="78" name="Shape 30">
            <a:extLst>
              <a:ext uri="{FF2B5EF4-FFF2-40B4-BE49-F238E27FC236}">
                <a16:creationId xmlns:a16="http://schemas.microsoft.com/office/drawing/2014/main" id="{01F3E1CD-023D-2EC1-C8DA-BC9DBD6530E1}"/>
              </a:ext>
            </a:extLst>
          </p:cNvPr>
          <p:cNvSpPr/>
          <p:nvPr/>
        </p:nvSpPr>
        <p:spPr>
          <a:xfrm>
            <a:off x="7339628"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80" name="Shape 31">
            <a:extLst>
              <a:ext uri="{FF2B5EF4-FFF2-40B4-BE49-F238E27FC236}">
                <a16:creationId xmlns:a16="http://schemas.microsoft.com/office/drawing/2014/main" id="{9E9C16EE-A3CD-DC35-8B87-FAE679234721}"/>
              </a:ext>
            </a:extLst>
          </p:cNvPr>
          <p:cNvSpPr/>
          <p:nvPr/>
        </p:nvSpPr>
        <p:spPr>
          <a:xfrm>
            <a:off x="7339628" y="4479045"/>
            <a:ext cx="45719" cy="1837778"/>
          </a:xfrm>
          <a:prstGeom prst="rect">
            <a:avLst/>
          </a:prstGeom>
          <a:solidFill>
            <a:srgbClr val="BC312C"/>
          </a:solidFill>
          <a:ln/>
        </p:spPr>
        <p:txBody>
          <a:bodyPr/>
          <a:lstStyle/>
          <a:p>
            <a:endParaRPr lang="en-IN"/>
          </a:p>
        </p:txBody>
      </p:sp>
      <p:sp>
        <p:nvSpPr>
          <p:cNvPr id="82" name="TextBox 81">
            <a:extLst>
              <a:ext uri="{FF2B5EF4-FFF2-40B4-BE49-F238E27FC236}">
                <a16:creationId xmlns:a16="http://schemas.microsoft.com/office/drawing/2014/main" id="{E684D31E-256B-5778-1EAB-ACC1D3E32176}"/>
              </a:ext>
            </a:extLst>
          </p:cNvPr>
          <p:cNvSpPr txBox="1"/>
          <p:nvPr/>
        </p:nvSpPr>
        <p:spPr>
          <a:xfrm>
            <a:off x="7380485" y="2253587"/>
            <a:ext cx="2077757" cy="1579920"/>
          </a:xfrm>
          <a:prstGeom prst="rect">
            <a:avLst/>
          </a:prstGeom>
          <a:noFill/>
        </p:spPr>
        <p:txBody>
          <a:bodyPr wrap="square">
            <a:spAutoFit/>
          </a:bodyPr>
          <a:lstStyle/>
          <a:p>
            <a:r>
              <a:rPr b="1" dirty="0">
                <a:solidFill>
                  <a:srgbClr val="2F3C7E"/>
                </a:solidFill>
                <a:latin typeface="Calibri"/>
              </a:rPr>
              <a:t>Development Tools</a:t>
            </a:r>
          </a:p>
          <a:p>
            <a:pPr>
              <a:spcBef>
                <a:spcPts val="1000"/>
              </a:spcBef>
            </a:pPr>
            <a:r>
              <a:rPr sz="1400" b="1" dirty="0">
                <a:solidFill>
                  <a:srgbClr val="BC312C"/>
                </a:solidFill>
                <a:latin typeface="Calibri"/>
              </a:rPr>
              <a:t>Jupyter, VS Code, Git</a:t>
            </a:r>
          </a:p>
          <a:p>
            <a:pPr>
              <a:spcBef>
                <a:spcPts val="1000"/>
              </a:spcBef>
            </a:pPr>
            <a:r>
              <a:rPr sz="1200" dirty="0">
                <a:solidFill>
                  <a:srgbClr val="333333"/>
                </a:solidFill>
                <a:latin typeface="Calibri"/>
              </a:rPr>
              <a:t>Jupyter Notebook for EDA &amp; model training</a:t>
            </a:r>
            <a:r>
              <a:rPr lang="en-IN" sz="1200" dirty="0">
                <a:solidFill>
                  <a:srgbClr val="333333"/>
                </a:solidFill>
                <a:latin typeface="Calibri"/>
              </a:rPr>
              <a:t>,</a:t>
            </a:r>
            <a:r>
              <a:rPr sz="1200" dirty="0">
                <a:solidFill>
                  <a:srgbClr val="333333"/>
                </a:solidFill>
                <a:latin typeface="Calibri"/>
              </a:rPr>
              <a:t> VS Code</a:t>
            </a:r>
            <a:r>
              <a:rPr lang="en-IN" sz="1200" dirty="0">
                <a:solidFill>
                  <a:srgbClr val="333333"/>
                </a:solidFill>
                <a:latin typeface="Calibri"/>
              </a:rPr>
              <a:t> and Android Studio for development</a:t>
            </a:r>
            <a:r>
              <a:rPr sz="1200" dirty="0">
                <a:solidFill>
                  <a:srgbClr val="333333"/>
                </a:solidFill>
                <a:latin typeface="Calibri"/>
              </a:rPr>
              <a:t>.</a:t>
            </a:r>
          </a:p>
        </p:txBody>
      </p:sp>
      <p:sp>
        <p:nvSpPr>
          <p:cNvPr id="84" name="TextBox 83">
            <a:extLst>
              <a:ext uri="{FF2B5EF4-FFF2-40B4-BE49-F238E27FC236}">
                <a16:creationId xmlns:a16="http://schemas.microsoft.com/office/drawing/2014/main" id="{C5B818F2-33E6-C154-2668-9FAB57D97A8E}"/>
              </a:ext>
            </a:extLst>
          </p:cNvPr>
          <p:cNvSpPr txBox="1"/>
          <p:nvPr/>
        </p:nvSpPr>
        <p:spPr>
          <a:xfrm>
            <a:off x="7362487" y="4576453"/>
            <a:ext cx="2228850" cy="1579920"/>
          </a:xfrm>
          <a:prstGeom prst="rect">
            <a:avLst/>
          </a:prstGeom>
          <a:noFill/>
        </p:spPr>
        <p:txBody>
          <a:bodyPr wrap="square">
            <a:spAutoFit/>
          </a:bodyPr>
          <a:lstStyle/>
          <a:p>
            <a:r>
              <a:rPr b="1" dirty="0">
                <a:solidFill>
                  <a:srgbClr val="2F3C7E"/>
                </a:solidFill>
                <a:latin typeface="Calibri"/>
              </a:rPr>
              <a:t>Hardware Specs</a:t>
            </a:r>
          </a:p>
          <a:p>
            <a:pPr>
              <a:spcBef>
                <a:spcPts val="1000"/>
              </a:spcBef>
            </a:pPr>
            <a:r>
              <a:rPr sz="1400" b="1" dirty="0">
                <a:solidFill>
                  <a:srgbClr val="BC312C"/>
                </a:solidFill>
                <a:latin typeface="Calibri"/>
              </a:rPr>
              <a:t>Standard CPU / 8GB RAM</a:t>
            </a:r>
          </a:p>
          <a:p>
            <a:pPr>
              <a:spcBef>
                <a:spcPts val="1000"/>
              </a:spcBef>
            </a:pPr>
            <a:r>
              <a:rPr sz="12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727670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5A7E8-3679-A4CC-F1D1-622028E40D6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F7D0E49-EF0C-1710-E7AF-428C5EE7BB2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89068A70-0F81-BD05-E784-03AED869D194}"/>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D0AF866-F408-CB0C-261F-E2EB22FF34F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BF603E32-EE10-DF67-D4F1-8879D1D72D61}"/>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6E20AD7-C5A9-2D2A-31B8-D2DC5803048C}"/>
              </a:ext>
            </a:extLst>
          </p:cNvPr>
          <p:cNvSpPr>
            <a:spLocks noGrp="1"/>
          </p:cNvSpPr>
          <p:nvPr>
            <p:ph type="sldNum" sz="quarter" idx="12"/>
          </p:nvPr>
        </p:nvSpPr>
        <p:spPr/>
        <p:txBody>
          <a:bodyPr/>
          <a:lstStyle/>
          <a:p>
            <a:fld id="{9DC013F7-6D70-4318-BA41-212A9B59413B}" type="slidenum">
              <a:rPr lang="en-US" smtClean="0"/>
              <a:t>11</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F5022555-994B-95FB-6AB7-29C8B0CB419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574640F7-8E31-1ABE-7078-062D214CD9E9}"/>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96EDB457-CE2E-C1E2-5744-4AAC36419960}"/>
              </a:ext>
            </a:extLst>
          </p:cNvPr>
          <p:cNvSpPr/>
          <p:nvPr/>
        </p:nvSpPr>
        <p:spPr>
          <a:xfrm>
            <a:off x="253758" y="1177956"/>
            <a:ext cx="101393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Expected Outcomes</a:t>
            </a:r>
            <a:endParaRPr lang="en-US" sz="2700" dirty="0"/>
          </a:p>
        </p:txBody>
      </p:sp>
      <p:sp>
        <p:nvSpPr>
          <p:cNvPr id="12" name="Shape 4">
            <a:extLst>
              <a:ext uri="{FF2B5EF4-FFF2-40B4-BE49-F238E27FC236}">
                <a16:creationId xmlns:a16="http://schemas.microsoft.com/office/drawing/2014/main" id="{F8E739FD-18DA-094C-6747-78A9ACD2A8D4}"/>
              </a:ext>
            </a:extLst>
          </p:cNvPr>
          <p:cNvSpPr/>
          <p:nvPr/>
        </p:nvSpPr>
        <p:spPr>
          <a:xfrm flipV="1">
            <a:off x="185678" y="1786994"/>
            <a:ext cx="9512645"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82FBB14-2A5D-53EE-89B0-49FF2D3B0562}"/>
              </a:ext>
            </a:extLst>
          </p:cNvPr>
          <p:cNvSpPr txBox="1"/>
          <p:nvPr/>
        </p:nvSpPr>
        <p:spPr>
          <a:xfrm>
            <a:off x="204340" y="2020000"/>
            <a:ext cx="4566742" cy="307777"/>
          </a:xfrm>
          <a:prstGeom prst="rect">
            <a:avLst/>
          </a:prstGeom>
          <a:noFill/>
        </p:spPr>
        <p:txBody>
          <a:bodyPr wrap="square" lIns="0" tIns="0" rIns="0" bIns="0" anchor="t">
            <a:spAutoFit/>
          </a:bodyPr>
          <a:lstStyle/>
          <a:p>
            <a:pPr algn="l"/>
            <a:r>
              <a:rPr sz="2000" b="1" i="0" dirty="0">
                <a:solidFill>
                  <a:srgbClr val="2F3C7E"/>
                </a:solidFill>
                <a:latin typeface="Calibri"/>
              </a:rPr>
              <a:t>Technical Outcomes</a:t>
            </a:r>
          </a:p>
        </p:txBody>
      </p:sp>
      <p:sp>
        <p:nvSpPr>
          <p:cNvPr id="16" name="Rectangle 15">
            <a:extLst>
              <a:ext uri="{FF2B5EF4-FFF2-40B4-BE49-F238E27FC236}">
                <a16:creationId xmlns:a16="http://schemas.microsoft.com/office/drawing/2014/main" id="{C02F17C4-A8A7-04BE-4610-8BE7B7B7944E}"/>
              </a:ext>
            </a:extLst>
          </p:cNvPr>
          <p:cNvSpPr/>
          <p:nvPr/>
        </p:nvSpPr>
        <p:spPr>
          <a:xfrm>
            <a:off x="204340" y="2420000"/>
            <a:ext cx="4566742"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Oval 17">
            <a:extLst>
              <a:ext uri="{FF2B5EF4-FFF2-40B4-BE49-F238E27FC236}">
                <a16:creationId xmlns:a16="http://schemas.microsoft.com/office/drawing/2014/main" id="{F839A70E-C5D0-A31C-088B-2A75AFF1FC0F}"/>
              </a:ext>
            </a:extLst>
          </p:cNvPr>
          <p:cNvSpPr/>
          <p:nvPr/>
        </p:nvSpPr>
        <p:spPr>
          <a:xfrm>
            <a:off x="214340" y="26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a:extLst>
              <a:ext uri="{FF2B5EF4-FFF2-40B4-BE49-F238E27FC236}">
                <a16:creationId xmlns:a16="http://schemas.microsoft.com/office/drawing/2014/main" id="{EA15F6EC-3129-8E75-A2CE-FF6B1D2C89DE}"/>
              </a:ext>
            </a:extLst>
          </p:cNvPr>
          <p:cNvSpPr txBox="1"/>
          <p:nvPr/>
        </p:nvSpPr>
        <p:spPr>
          <a:xfrm>
            <a:off x="424340" y="25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Hybrid expected to reduce forecast error over standalone Prophet, following the pattern Kamboj et al. found</a:t>
            </a:r>
          </a:p>
        </p:txBody>
      </p:sp>
      <p:sp>
        <p:nvSpPr>
          <p:cNvPr id="22" name="Oval 21">
            <a:extLst>
              <a:ext uri="{FF2B5EF4-FFF2-40B4-BE49-F238E27FC236}">
                <a16:creationId xmlns:a16="http://schemas.microsoft.com/office/drawing/2014/main" id="{8D57F85B-F5BB-8366-CAB0-FFD0DAF001A2}"/>
              </a:ext>
            </a:extLst>
          </p:cNvPr>
          <p:cNvSpPr/>
          <p:nvPr/>
        </p:nvSpPr>
        <p:spPr>
          <a:xfrm>
            <a:off x="214340" y="39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a:extLst>
              <a:ext uri="{FF2B5EF4-FFF2-40B4-BE49-F238E27FC236}">
                <a16:creationId xmlns:a16="http://schemas.microsoft.com/office/drawing/2014/main" id="{CC3C487C-8747-789C-CF20-67FDE0B5B655}"/>
              </a:ext>
            </a:extLst>
          </p:cNvPr>
          <p:cNvSpPr txBox="1"/>
          <p:nvPr/>
        </p:nvSpPr>
        <p:spPr>
          <a:xfrm>
            <a:off x="424340" y="38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Adaptive branching expected to hold across both sparse and high-volume items, in one pipeline</a:t>
            </a:r>
          </a:p>
        </p:txBody>
      </p:sp>
      <p:sp>
        <p:nvSpPr>
          <p:cNvPr id="26" name="Oval 25">
            <a:extLst>
              <a:ext uri="{FF2B5EF4-FFF2-40B4-BE49-F238E27FC236}">
                <a16:creationId xmlns:a16="http://schemas.microsoft.com/office/drawing/2014/main" id="{AF0D4BCE-1FDC-3887-D289-E6423B76D7CD}"/>
              </a:ext>
            </a:extLst>
          </p:cNvPr>
          <p:cNvSpPr/>
          <p:nvPr/>
        </p:nvSpPr>
        <p:spPr>
          <a:xfrm>
            <a:off x="214340" y="5270000"/>
            <a:ext cx="97498"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a:extLst>
              <a:ext uri="{FF2B5EF4-FFF2-40B4-BE49-F238E27FC236}">
                <a16:creationId xmlns:a16="http://schemas.microsoft.com/office/drawing/2014/main" id="{76A1622E-A4DE-7EF4-01C3-0C5E35EA6077}"/>
              </a:ext>
            </a:extLst>
          </p:cNvPr>
          <p:cNvSpPr txBox="1"/>
          <p:nvPr/>
        </p:nvSpPr>
        <p:spPr>
          <a:xfrm>
            <a:off x="424340" y="5154748"/>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Every restock number expected to be directly usable — correct and actionable, not just accurate</a:t>
            </a:r>
          </a:p>
        </p:txBody>
      </p:sp>
      <p:sp>
        <p:nvSpPr>
          <p:cNvPr id="30" name="TextBox 29">
            <a:extLst>
              <a:ext uri="{FF2B5EF4-FFF2-40B4-BE49-F238E27FC236}">
                <a16:creationId xmlns:a16="http://schemas.microsoft.com/office/drawing/2014/main" id="{FA9B8982-FD81-D26D-C00C-F132212DE281}"/>
              </a:ext>
            </a:extLst>
          </p:cNvPr>
          <p:cNvSpPr txBox="1"/>
          <p:nvPr/>
        </p:nvSpPr>
        <p:spPr>
          <a:xfrm>
            <a:off x="4947150" y="2020000"/>
            <a:ext cx="4566742" cy="307777"/>
          </a:xfrm>
          <a:prstGeom prst="rect">
            <a:avLst/>
          </a:prstGeom>
          <a:noFill/>
        </p:spPr>
        <p:txBody>
          <a:bodyPr wrap="square" lIns="0" tIns="0" rIns="0" bIns="0" anchor="t">
            <a:spAutoFit/>
          </a:bodyPr>
          <a:lstStyle/>
          <a:p>
            <a:pPr algn="l"/>
            <a:r>
              <a:rPr sz="2000" b="1" i="0">
                <a:solidFill>
                  <a:srgbClr val="BC312C"/>
                </a:solidFill>
                <a:latin typeface="Calibri"/>
              </a:rPr>
              <a:t>Business Outcomes</a:t>
            </a:r>
          </a:p>
        </p:txBody>
      </p:sp>
      <p:sp>
        <p:nvSpPr>
          <p:cNvPr id="32" name="Rectangle 31">
            <a:extLst>
              <a:ext uri="{FF2B5EF4-FFF2-40B4-BE49-F238E27FC236}">
                <a16:creationId xmlns:a16="http://schemas.microsoft.com/office/drawing/2014/main" id="{EF260E4E-2E5D-9490-7173-FE86509F5571}"/>
              </a:ext>
            </a:extLst>
          </p:cNvPr>
          <p:cNvSpPr/>
          <p:nvPr/>
        </p:nvSpPr>
        <p:spPr>
          <a:xfrm>
            <a:off x="4947150" y="2420000"/>
            <a:ext cx="4566742"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4" name="Oval 33">
            <a:extLst>
              <a:ext uri="{FF2B5EF4-FFF2-40B4-BE49-F238E27FC236}">
                <a16:creationId xmlns:a16="http://schemas.microsoft.com/office/drawing/2014/main" id="{FD9F9503-213D-D01C-F9F9-A1A6A8BF0B03}"/>
              </a:ext>
            </a:extLst>
          </p:cNvPr>
          <p:cNvSpPr/>
          <p:nvPr/>
        </p:nvSpPr>
        <p:spPr>
          <a:xfrm>
            <a:off x="4957150" y="26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a:extLst>
              <a:ext uri="{FF2B5EF4-FFF2-40B4-BE49-F238E27FC236}">
                <a16:creationId xmlns:a16="http://schemas.microsoft.com/office/drawing/2014/main" id="{51D558AC-0B6E-7375-64CB-BF1D2D615760}"/>
              </a:ext>
            </a:extLst>
          </p:cNvPr>
          <p:cNvSpPr txBox="1"/>
          <p:nvPr/>
        </p:nvSpPr>
        <p:spPr>
          <a:xfrm>
            <a:off x="5167150" y="2558615"/>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Fewer wasted units, fewer stockouts — the downstream effect of a safety-stock-adjusted number</a:t>
            </a:r>
          </a:p>
        </p:txBody>
      </p:sp>
      <p:sp>
        <p:nvSpPr>
          <p:cNvPr id="38" name="Oval 37">
            <a:extLst>
              <a:ext uri="{FF2B5EF4-FFF2-40B4-BE49-F238E27FC236}">
                <a16:creationId xmlns:a16="http://schemas.microsoft.com/office/drawing/2014/main" id="{8A8F4AC4-8442-23AD-5382-C4F7E65F6650}"/>
              </a:ext>
            </a:extLst>
          </p:cNvPr>
          <p:cNvSpPr/>
          <p:nvPr/>
        </p:nvSpPr>
        <p:spPr>
          <a:xfrm>
            <a:off x="4957150" y="39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0" name="TextBox 39">
            <a:extLst>
              <a:ext uri="{FF2B5EF4-FFF2-40B4-BE49-F238E27FC236}">
                <a16:creationId xmlns:a16="http://schemas.microsoft.com/office/drawing/2014/main" id="{97A4BEC8-ED8E-C975-8E3D-58832FB1563D}"/>
              </a:ext>
            </a:extLst>
          </p:cNvPr>
          <p:cNvSpPr txBox="1"/>
          <p:nvPr/>
        </p:nvSpPr>
        <p:spPr>
          <a:xfrm>
            <a:off x="5167150" y="3858615"/>
            <a:ext cx="4328412" cy="618374"/>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Ordering time drops from minutes of guessing to seconds of reading</a:t>
            </a:r>
          </a:p>
        </p:txBody>
      </p:sp>
      <p:sp>
        <p:nvSpPr>
          <p:cNvPr id="42" name="Oval 41">
            <a:extLst>
              <a:ext uri="{FF2B5EF4-FFF2-40B4-BE49-F238E27FC236}">
                <a16:creationId xmlns:a16="http://schemas.microsoft.com/office/drawing/2014/main" id="{293E34BF-C48F-3F70-603E-22EC5535719F}"/>
              </a:ext>
            </a:extLst>
          </p:cNvPr>
          <p:cNvSpPr/>
          <p:nvPr/>
        </p:nvSpPr>
        <p:spPr>
          <a:xfrm>
            <a:off x="4957150" y="5270000"/>
            <a:ext cx="97498"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TextBox 43">
            <a:extLst>
              <a:ext uri="{FF2B5EF4-FFF2-40B4-BE49-F238E27FC236}">
                <a16:creationId xmlns:a16="http://schemas.microsoft.com/office/drawing/2014/main" id="{82950E89-49C4-CE2B-5C6B-0A7DF8E15564}"/>
              </a:ext>
            </a:extLst>
          </p:cNvPr>
          <p:cNvSpPr txBox="1"/>
          <p:nvPr/>
        </p:nvSpPr>
        <p:spPr>
          <a:xfrm>
            <a:off x="5167150" y="5158615"/>
            <a:ext cx="4328412"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Daily real use, not just install ease of use is the strongest driver of SME adoption (</a:t>
            </a:r>
            <a:r>
              <a:rPr sz="1800" b="0" i="0" dirty="0" err="1">
                <a:solidFill>
                  <a:srgbClr val="262626"/>
                </a:solidFill>
                <a:latin typeface="Calibri"/>
              </a:rPr>
              <a:t>Yuniarty</a:t>
            </a:r>
            <a:r>
              <a:rPr sz="1800" b="0" i="0" dirty="0">
                <a:solidFill>
                  <a:srgbClr val="262626"/>
                </a:solidFill>
                <a:latin typeface="Calibri"/>
              </a:rPr>
              <a:t> et al.)</a:t>
            </a:r>
          </a:p>
        </p:txBody>
      </p:sp>
    </p:spTree>
    <p:extLst>
      <p:ext uri="{BB962C8B-B14F-4D97-AF65-F5344CB8AC3E}">
        <p14:creationId xmlns:p14="http://schemas.microsoft.com/office/powerpoint/2010/main" val="4063653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C867-EFCF-8DB2-74E2-03EF7B43E48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7CC0B9E-2E6A-E871-A10F-251E566B45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6D67CCF-2EEB-8666-5412-3934CF11B72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A5FF0A-177F-681F-37F5-AEAC5C3DAF7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2FE451D-22D0-0949-4C06-A597F720D093}"/>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55D356A3-A349-498B-8D6F-9776BC17A570}"/>
              </a:ext>
            </a:extLst>
          </p:cNvPr>
          <p:cNvSpPr>
            <a:spLocks noGrp="1"/>
          </p:cNvSpPr>
          <p:nvPr>
            <p:ph type="sldNum" sz="quarter" idx="12"/>
          </p:nvPr>
        </p:nvSpPr>
        <p:spPr/>
        <p:txBody>
          <a:bodyPr/>
          <a:lstStyle/>
          <a:p>
            <a:fld id="{9DC013F7-6D70-4318-BA41-212A9B59413B}" type="slidenum">
              <a:rPr lang="en-US" smtClean="0"/>
              <a:t>12</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64DCB68B-1F71-03AE-D700-E620C6E8246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32D39AF-A94D-BAE0-0DA2-1E571CC2B927}"/>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 3">
            <a:extLst>
              <a:ext uri="{FF2B5EF4-FFF2-40B4-BE49-F238E27FC236}">
                <a16:creationId xmlns:a16="http://schemas.microsoft.com/office/drawing/2014/main" id="{D725FA40-F154-AFFA-7FD6-67C0B7B019E6}"/>
              </a:ext>
            </a:extLst>
          </p:cNvPr>
          <p:cNvSpPr/>
          <p:nvPr/>
        </p:nvSpPr>
        <p:spPr>
          <a:xfrm>
            <a:off x="334964" y="1129934"/>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15" name="Shape 4">
            <a:extLst>
              <a:ext uri="{FF2B5EF4-FFF2-40B4-BE49-F238E27FC236}">
                <a16:creationId xmlns:a16="http://schemas.microsoft.com/office/drawing/2014/main" id="{D901D37E-FFF3-FE05-29F5-3B1D7E912814}"/>
              </a:ext>
            </a:extLst>
          </p:cNvPr>
          <p:cNvSpPr/>
          <p:nvPr/>
        </p:nvSpPr>
        <p:spPr>
          <a:xfrm flipV="1">
            <a:off x="334964" y="1731012"/>
            <a:ext cx="8781043" cy="11570"/>
          </a:xfrm>
          <a:prstGeom prst="line">
            <a:avLst/>
          </a:prstGeom>
          <a:noFill/>
          <a:ln w="12700">
            <a:solidFill>
              <a:srgbClr val="E0DAD8"/>
            </a:solidFill>
            <a:prstDash val="solid"/>
          </a:ln>
        </p:spPr>
      </p:sp>
      <p:sp>
        <p:nvSpPr>
          <p:cNvPr id="19" name="Rectangle 18">
            <a:extLst>
              <a:ext uri="{FF2B5EF4-FFF2-40B4-BE49-F238E27FC236}">
                <a16:creationId xmlns:a16="http://schemas.microsoft.com/office/drawing/2014/main" id="{36B2FE04-8825-9E9D-5D67-1C9870B20209}"/>
              </a:ext>
            </a:extLst>
          </p:cNvPr>
          <p:cNvSpPr/>
          <p:nvPr/>
        </p:nvSpPr>
        <p:spPr>
          <a:xfrm>
            <a:off x="381273" y="1852047"/>
            <a:ext cx="4510132" cy="2322234"/>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a:extLst>
              <a:ext uri="{FF2B5EF4-FFF2-40B4-BE49-F238E27FC236}">
                <a16:creationId xmlns:a16="http://schemas.microsoft.com/office/drawing/2014/main" id="{5CED579D-42ED-EE0D-A763-CB2E84EB3E55}"/>
              </a:ext>
            </a:extLst>
          </p:cNvPr>
          <p:cNvSpPr txBox="1"/>
          <p:nvPr/>
        </p:nvSpPr>
        <p:spPr>
          <a:xfrm>
            <a:off x="558054" y="1915486"/>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7" name="TextBox 26">
            <a:extLst>
              <a:ext uri="{FF2B5EF4-FFF2-40B4-BE49-F238E27FC236}">
                <a16:creationId xmlns:a16="http://schemas.microsoft.com/office/drawing/2014/main" id="{B8924209-A8FC-494C-BF50-1345977ADB47}"/>
              </a:ext>
            </a:extLst>
          </p:cNvPr>
          <p:cNvSpPr txBox="1"/>
          <p:nvPr/>
        </p:nvSpPr>
        <p:spPr>
          <a:xfrm>
            <a:off x="558053" y="2234839"/>
            <a:ext cx="4238723" cy="1939442"/>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200" b="0" i="0" dirty="0">
                <a:solidFill>
                  <a:srgbClr val="262626"/>
                </a:solidFill>
                <a:latin typeface="Calibri"/>
              </a:rPr>
              <a:t>•  LSTM considered, not chosen — needs 1,000+ days of history we don't have</a:t>
            </a:r>
          </a:p>
          <a:p>
            <a:pPr algn="l">
              <a:lnSpc>
                <a:spcPct val="108000"/>
              </a:lnSpc>
              <a:spcAft>
                <a:spcPts val="400"/>
              </a:spcAft>
            </a:pPr>
            <a:r>
              <a:rPr sz="1200" b="0" i="0" dirty="0">
                <a:solidFill>
                  <a:srgbClr val="262626"/>
                </a:solidFill>
                <a:latin typeface="Calibri"/>
              </a:rPr>
              <a:t>•  XGBoost alone was ruled out weak on sparse SME data (Susanto et al.); as a Prophet residual-corrector it's proven (Kamboj et al., 12–18% MAPE gain)  this is what we use</a:t>
            </a:r>
          </a:p>
          <a:p>
            <a:pPr algn="l">
              <a:lnSpc>
                <a:spcPct val="108000"/>
              </a:lnSpc>
              <a:spcAft>
                <a:spcPts val="400"/>
              </a:spcAft>
            </a:pPr>
            <a:r>
              <a:rPr sz="1200" b="0" i="0" dirty="0">
                <a:solidFill>
                  <a:srgbClr val="262626"/>
                </a:solidFill>
                <a:latin typeface="Calibri"/>
              </a:rPr>
              <a:t>•  Restock logic is deterministic Pandas/NumPy — engineering work, not a research problem</a:t>
            </a:r>
          </a:p>
        </p:txBody>
      </p:sp>
      <p:sp>
        <p:nvSpPr>
          <p:cNvPr id="31" name="Rectangle 30">
            <a:extLst>
              <a:ext uri="{FF2B5EF4-FFF2-40B4-BE49-F238E27FC236}">
                <a16:creationId xmlns:a16="http://schemas.microsoft.com/office/drawing/2014/main" id="{748D5AAF-52C8-E1CE-221F-738A5EF2DD3B}"/>
              </a:ext>
            </a:extLst>
          </p:cNvPr>
          <p:cNvSpPr/>
          <p:nvPr/>
        </p:nvSpPr>
        <p:spPr>
          <a:xfrm>
            <a:off x="5113678" y="1823467"/>
            <a:ext cx="4510132" cy="2350814"/>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35" name="TextBox 34">
            <a:extLst>
              <a:ext uri="{FF2B5EF4-FFF2-40B4-BE49-F238E27FC236}">
                <a16:creationId xmlns:a16="http://schemas.microsoft.com/office/drawing/2014/main" id="{7A2FDB85-6A89-54C6-FD11-9FC9FE3E12A1}"/>
              </a:ext>
            </a:extLst>
          </p:cNvPr>
          <p:cNvSpPr txBox="1"/>
          <p:nvPr/>
        </p:nvSpPr>
        <p:spPr>
          <a:xfrm>
            <a:off x="5362056" y="1915486"/>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39" name="TextBox 38">
            <a:extLst>
              <a:ext uri="{FF2B5EF4-FFF2-40B4-BE49-F238E27FC236}">
                <a16:creationId xmlns:a16="http://schemas.microsoft.com/office/drawing/2014/main" id="{20A94580-D376-C9C1-6F6C-E36C70EDA978}"/>
              </a:ext>
            </a:extLst>
          </p:cNvPr>
          <p:cNvSpPr txBox="1"/>
          <p:nvPr/>
        </p:nvSpPr>
        <p:spPr>
          <a:xfrm>
            <a:off x="5362056" y="2251662"/>
            <a:ext cx="3940521" cy="1238609"/>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reviewed study combines a Prophet</a:t>
            </a:r>
            <a:r>
              <a:rPr lang="en-IN" sz="1200" b="0" i="0" dirty="0">
                <a:solidFill>
                  <a:srgbClr val="262626"/>
                </a:solidFill>
                <a:latin typeface="Calibri"/>
              </a:rPr>
              <a:t> </a:t>
            </a:r>
            <a:r>
              <a:rPr sz="1200" b="0" i="0" dirty="0">
                <a:solidFill>
                  <a:srgbClr val="262626"/>
                </a:solidFill>
                <a:latin typeface="Calibri"/>
              </a:rPr>
              <a:t>+</a:t>
            </a:r>
            <a:r>
              <a:rPr lang="en-IN" sz="1200" b="0" i="0" dirty="0">
                <a:solidFill>
                  <a:srgbClr val="262626"/>
                </a:solidFill>
                <a:latin typeface="Calibri"/>
              </a:rPr>
              <a:t> </a:t>
            </a:r>
            <a:r>
              <a:rPr sz="1200" b="0" i="0" dirty="0" err="1">
                <a:solidFill>
                  <a:srgbClr val="262626"/>
                </a:solidFill>
                <a:latin typeface="Calibri"/>
              </a:rPr>
              <a:t>XGBoost</a:t>
            </a:r>
            <a:r>
              <a:rPr sz="1200" b="0" i="0" dirty="0">
                <a:solidFill>
                  <a:srgbClr val="262626"/>
                </a:solidFill>
                <a:latin typeface="Calibri"/>
              </a:rPr>
              <a:t> hybrid, adaptive density-based model selection, restock-quantity conversion, and a zero-setup mobile interface with plain-language explanation in one system</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It</a:t>
            </a:r>
            <a:r>
              <a:rPr sz="1200" b="0" i="0" dirty="0">
                <a:solidFill>
                  <a:srgbClr val="262626"/>
                </a:solidFill>
                <a:latin typeface="Calibri"/>
              </a:rPr>
              <a:t> is positioned to fill that specific combined gap for small food businesses</a:t>
            </a:r>
          </a:p>
        </p:txBody>
      </p:sp>
      <p:sp>
        <p:nvSpPr>
          <p:cNvPr id="43" name="Rectangle 42">
            <a:extLst>
              <a:ext uri="{FF2B5EF4-FFF2-40B4-BE49-F238E27FC236}">
                <a16:creationId xmlns:a16="http://schemas.microsoft.com/office/drawing/2014/main" id="{842AE5B3-7AC6-7B90-75F5-D1603A7EA9EB}"/>
              </a:ext>
            </a:extLst>
          </p:cNvPr>
          <p:cNvSpPr/>
          <p:nvPr/>
        </p:nvSpPr>
        <p:spPr>
          <a:xfrm>
            <a:off x="388776" y="4285040"/>
            <a:ext cx="4510132"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46" name="TextBox 45">
            <a:extLst>
              <a:ext uri="{FF2B5EF4-FFF2-40B4-BE49-F238E27FC236}">
                <a16:creationId xmlns:a16="http://schemas.microsoft.com/office/drawing/2014/main" id="{CE568C82-2CAF-241C-8ACE-BC6A33D0C9EC}"/>
              </a:ext>
            </a:extLst>
          </p:cNvPr>
          <p:cNvSpPr txBox="1"/>
          <p:nvPr/>
        </p:nvSpPr>
        <p:spPr>
          <a:xfrm>
            <a:off x="558053" y="4422854"/>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Where We're Stretched Thin</a:t>
            </a:r>
          </a:p>
        </p:txBody>
      </p:sp>
      <p:sp>
        <p:nvSpPr>
          <p:cNvPr id="48" name="TextBox 47">
            <a:extLst>
              <a:ext uri="{FF2B5EF4-FFF2-40B4-BE49-F238E27FC236}">
                <a16:creationId xmlns:a16="http://schemas.microsoft.com/office/drawing/2014/main" id="{C444C6F2-1FD3-BE87-71E6-BA6A2B09863C}"/>
              </a:ext>
            </a:extLst>
          </p:cNvPr>
          <p:cNvSpPr txBox="1"/>
          <p:nvPr/>
        </p:nvSpPr>
        <p:spPr>
          <a:xfrm>
            <a:off x="558053" y="4797040"/>
            <a:ext cx="3940521" cy="128990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real business data yet  public datasets (French Bakery, Rossmann) used as proxies</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1</a:t>
            </a:r>
            <a:r>
              <a:rPr lang="en-IN" sz="1200" dirty="0">
                <a:solidFill>
                  <a:srgbClr val="262626"/>
                </a:solidFill>
                <a:latin typeface="Calibri"/>
              </a:rPr>
              <a:t>1</a:t>
            </a:r>
            <a:r>
              <a:rPr sz="1200" b="0" i="0" dirty="0">
                <a:solidFill>
                  <a:srgbClr val="262626"/>
                </a:solidFill>
                <a:latin typeface="Calibri"/>
              </a:rPr>
              <a:t>-week technical build compressed across 3 people running parallel workstreams</a:t>
            </a:r>
          </a:p>
          <a:p>
            <a:pPr algn="l">
              <a:lnSpc>
                <a:spcPct val="108000"/>
              </a:lnSpc>
              <a:spcAft>
                <a:spcPts val="400"/>
              </a:spcAft>
            </a:pPr>
            <a:r>
              <a:rPr sz="1200" b="0" i="0" dirty="0">
                <a:solidFill>
                  <a:srgbClr val="262626"/>
                </a:solidFill>
                <a:latin typeface="Calibri"/>
              </a:rPr>
              <a:t>•  The weather regressor is the one genuinely custom integration in the pipeline</a:t>
            </a:r>
          </a:p>
        </p:txBody>
      </p:sp>
      <p:sp>
        <p:nvSpPr>
          <p:cNvPr id="50" name="Rectangle 49">
            <a:extLst>
              <a:ext uri="{FF2B5EF4-FFF2-40B4-BE49-F238E27FC236}">
                <a16:creationId xmlns:a16="http://schemas.microsoft.com/office/drawing/2014/main" id="{63C6325D-7CB6-F83E-50E2-E2D41762C8E5}"/>
              </a:ext>
            </a:extLst>
          </p:cNvPr>
          <p:cNvSpPr/>
          <p:nvPr/>
        </p:nvSpPr>
        <p:spPr>
          <a:xfrm>
            <a:off x="5074576" y="4285040"/>
            <a:ext cx="4549234"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52" name="TextBox 51">
            <a:extLst>
              <a:ext uri="{FF2B5EF4-FFF2-40B4-BE49-F238E27FC236}">
                <a16:creationId xmlns:a16="http://schemas.microsoft.com/office/drawing/2014/main" id="{1AFD86C2-F946-A06A-02DF-0735CABF80E0}"/>
              </a:ext>
            </a:extLst>
          </p:cNvPr>
          <p:cNvSpPr txBox="1"/>
          <p:nvPr/>
        </p:nvSpPr>
        <p:spPr>
          <a:xfrm>
            <a:off x="5362056" y="4422854"/>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What Could Work Against Us</a:t>
            </a:r>
          </a:p>
        </p:txBody>
      </p:sp>
      <p:sp>
        <p:nvSpPr>
          <p:cNvPr id="54" name="TextBox 53">
            <a:extLst>
              <a:ext uri="{FF2B5EF4-FFF2-40B4-BE49-F238E27FC236}">
                <a16:creationId xmlns:a16="http://schemas.microsoft.com/office/drawing/2014/main" id="{63C16D18-A0EF-1E26-954D-E23062F02D2C}"/>
              </a:ext>
            </a:extLst>
          </p:cNvPr>
          <p:cNvSpPr txBox="1"/>
          <p:nvPr/>
        </p:nvSpPr>
        <p:spPr>
          <a:xfrm>
            <a:off x="5362056" y="4792854"/>
            <a:ext cx="3940521" cy="103919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Weather API rate limits on the free tier could reduce regressor reliability at scale</a:t>
            </a:r>
          </a:p>
          <a:p>
            <a:pPr algn="l">
              <a:lnSpc>
                <a:spcPct val="108000"/>
              </a:lnSpc>
              <a:spcAft>
                <a:spcPts val="400"/>
              </a:spcAft>
            </a:pPr>
            <a:r>
              <a:rPr sz="1200" b="0" i="0" dirty="0">
                <a:solidFill>
                  <a:srgbClr val="262626"/>
                </a:solidFill>
                <a:latin typeface="Calibri"/>
              </a:rPr>
              <a:t>•  Public-dataset proxies may not fully represent a real cafe/bakery's demand pattern accuracy may not transfer 1:1 to live deployment</a:t>
            </a:r>
          </a:p>
        </p:txBody>
      </p:sp>
    </p:spTree>
    <p:extLst>
      <p:ext uri="{BB962C8B-B14F-4D97-AF65-F5344CB8AC3E}">
        <p14:creationId xmlns:p14="http://schemas.microsoft.com/office/powerpoint/2010/main" val="2447231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8379-353F-BBAA-309C-75ED3BB34A7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D25D050-EC8D-18BB-48DA-9D689E91645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AD58D7C-6106-2E0D-0AF9-525B0D63ECA4}"/>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D5C0557-D75C-37E9-6637-BE2463B0B9F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AA8A8BA-6D90-AEA4-A07B-B63F974E1BB3}"/>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313E3B6-D68B-1BA0-2063-8AF4B7060D39}"/>
              </a:ext>
            </a:extLst>
          </p:cNvPr>
          <p:cNvSpPr>
            <a:spLocks noGrp="1"/>
          </p:cNvSpPr>
          <p:nvPr>
            <p:ph type="sldNum" sz="quarter" idx="12"/>
          </p:nvPr>
        </p:nvSpPr>
        <p:spPr/>
        <p:txBody>
          <a:bodyPr/>
          <a:lstStyle/>
          <a:p>
            <a:fld id="{9DC013F7-6D70-4318-BA41-212A9B59413B}" type="slidenum">
              <a:rPr lang="en-US" smtClean="0"/>
              <a:t>13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84801188-D4DD-EB2E-35EF-DF8C480B78C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FD395849-4621-909B-6161-65857BC6ED0C}"/>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ED05F43-DCF9-9E1A-09C8-13D234C7C6B2}"/>
              </a:ext>
            </a:extLst>
          </p:cNvPr>
          <p:cNvSpPr/>
          <p:nvPr/>
        </p:nvSpPr>
        <p:spPr>
          <a:xfrm>
            <a:off x="484254" y="1129931"/>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12" name="Shape 4">
            <a:extLst>
              <a:ext uri="{FF2B5EF4-FFF2-40B4-BE49-F238E27FC236}">
                <a16:creationId xmlns:a16="http://schemas.microsoft.com/office/drawing/2014/main" id="{8E27EB3C-4893-E6B2-B72F-8DBF05271F65}"/>
              </a:ext>
            </a:extLst>
          </p:cNvPr>
          <p:cNvSpPr/>
          <p:nvPr/>
        </p:nvSpPr>
        <p:spPr>
          <a:xfrm flipV="1">
            <a:off x="484254" y="1731009"/>
            <a:ext cx="8781043" cy="11570"/>
          </a:xfrm>
          <a:prstGeom prst="line">
            <a:avLst/>
          </a:prstGeom>
          <a:noFill/>
          <a:ln w="12700">
            <a:solidFill>
              <a:srgbClr val="E0DAD8"/>
            </a:solidFill>
            <a:prstDash val="solid"/>
          </a:ln>
        </p:spPr>
      </p:sp>
      <p:sp>
        <p:nvSpPr>
          <p:cNvPr id="14" name="Rectangle 13">
            <a:extLst>
              <a:ext uri="{FF2B5EF4-FFF2-40B4-BE49-F238E27FC236}">
                <a16:creationId xmlns:a16="http://schemas.microsoft.com/office/drawing/2014/main" id="{444583D7-4340-366A-5D86-E0D6EE0F1BF8}"/>
              </a:ext>
            </a:extLst>
          </p:cNvPr>
          <p:cNvSpPr/>
          <p:nvPr/>
        </p:nvSpPr>
        <p:spPr>
          <a:xfrm>
            <a:off x="2871578"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a:extLst>
              <a:ext uri="{FF2B5EF4-FFF2-40B4-BE49-F238E27FC236}">
                <a16:creationId xmlns:a16="http://schemas.microsoft.com/office/drawing/2014/main" id="{6FB00BBB-D84A-6F3A-59FB-7140298486B3}"/>
              </a:ext>
            </a:extLst>
          </p:cNvPr>
          <p:cNvSpPr txBox="1"/>
          <p:nvPr/>
        </p:nvSpPr>
        <p:spPr>
          <a:xfrm>
            <a:off x="2871578" y="190089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18" name="Rectangle 17">
            <a:extLst>
              <a:ext uri="{FF2B5EF4-FFF2-40B4-BE49-F238E27FC236}">
                <a16:creationId xmlns:a16="http://schemas.microsoft.com/office/drawing/2014/main" id="{002D4D67-B1C2-A38B-D12A-2AA6B2287620}"/>
              </a:ext>
            </a:extLst>
          </p:cNvPr>
          <p:cNvSpPr/>
          <p:nvPr/>
        </p:nvSpPr>
        <p:spPr>
          <a:xfrm>
            <a:off x="5015259"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a:extLst>
              <a:ext uri="{FF2B5EF4-FFF2-40B4-BE49-F238E27FC236}">
                <a16:creationId xmlns:a16="http://schemas.microsoft.com/office/drawing/2014/main" id="{85E9E642-00CD-DB40-014A-3C2B668B5254}"/>
              </a:ext>
            </a:extLst>
          </p:cNvPr>
          <p:cNvSpPr txBox="1"/>
          <p:nvPr/>
        </p:nvSpPr>
        <p:spPr>
          <a:xfrm>
            <a:off x="5015259" y="190089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2" name="Rectangle 21">
            <a:extLst>
              <a:ext uri="{FF2B5EF4-FFF2-40B4-BE49-F238E27FC236}">
                <a16:creationId xmlns:a16="http://schemas.microsoft.com/office/drawing/2014/main" id="{5FCD1D79-2D65-A9F4-0EC8-27F772089621}"/>
              </a:ext>
            </a:extLst>
          </p:cNvPr>
          <p:cNvSpPr/>
          <p:nvPr/>
        </p:nvSpPr>
        <p:spPr>
          <a:xfrm>
            <a:off x="7158940" y="188803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a:extLst>
              <a:ext uri="{FF2B5EF4-FFF2-40B4-BE49-F238E27FC236}">
                <a16:creationId xmlns:a16="http://schemas.microsoft.com/office/drawing/2014/main" id="{21714320-DF1E-9B10-ABB6-B45AD2089894}"/>
              </a:ext>
            </a:extLst>
          </p:cNvPr>
          <p:cNvSpPr txBox="1"/>
          <p:nvPr/>
        </p:nvSpPr>
        <p:spPr>
          <a:xfrm>
            <a:off x="7158940" y="190089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6" name="TextBox 25">
            <a:extLst>
              <a:ext uri="{FF2B5EF4-FFF2-40B4-BE49-F238E27FC236}">
                <a16:creationId xmlns:a16="http://schemas.microsoft.com/office/drawing/2014/main" id="{96316CB2-92DE-744A-426C-960C6BCE679D}"/>
              </a:ext>
            </a:extLst>
          </p:cNvPr>
          <p:cNvSpPr txBox="1"/>
          <p:nvPr/>
        </p:nvSpPr>
        <p:spPr>
          <a:xfrm>
            <a:off x="2871578"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8" name="TextBox 27">
            <a:extLst>
              <a:ext uri="{FF2B5EF4-FFF2-40B4-BE49-F238E27FC236}">
                <a16:creationId xmlns:a16="http://schemas.microsoft.com/office/drawing/2014/main" id="{C160ACC6-B4B7-17EC-E8DC-CF1B4E6E74BB}"/>
              </a:ext>
            </a:extLst>
          </p:cNvPr>
          <p:cNvSpPr txBox="1"/>
          <p:nvPr/>
        </p:nvSpPr>
        <p:spPr>
          <a:xfrm>
            <a:off x="3300314"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a:extLst>
              <a:ext uri="{FF2B5EF4-FFF2-40B4-BE49-F238E27FC236}">
                <a16:creationId xmlns:a16="http://schemas.microsoft.com/office/drawing/2014/main" id="{2C5722E0-813E-6EB9-0F72-7984E7EFE79F}"/>
              </a:ext>
            </a:extLst>
          </p:cNvPr>
          <p:cNvSpPr txBox="1"/>
          <p:nvPr/>
        </p:nvSpPr>
        <p:spPr>
          <a:xfrm>
            <a:off x="3729050"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2" name="TextBox 31">
            <a:extLst>
              <a:ext uri="{FF2B5EF4-FFF2-40B4-BE49-F238E27FC236}">
                <a16:creationId xmlns:a16="http://schemas.microsoft.com/office/drawing/2014/main" id="{DA6FCE0C-DAAB-7954-9FD0-9F025F205FD3}"/>
              </a:ext>
            </a:extLst>
          </p:cNvPr>
          <p:cNvSpPr txBox="1"/>
          <p:nvPr/>
        </p:nvSpPr>
        <p:spPr>
          <a:xfrm>
            <a:off x="4157786"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4" name="TextBox 33">
            <a:extLst>
              <a:ext uri="{FF2B5EF4-FFF2-40B4-BE49-F238E27FC236}">
                <a16:creationId xmlns:a16="http://schemas.microsoft.com/office/drawing/2014/main" id="{0498899A-8F4C-BC12-540A-3327FE957583}"/>
              </a:ext>
            </a:extLst>
          </p:cNvPr>
          <p:cNvSpPr txBox="1"/>
          <p:nvPr/>
        </p:nvSpPr>
        <p:spPr>
          <a:xfrm>
            <a:off x="4586522"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6" name="TextBox 35">
            <a:extLst>
              <a:ext uri="{FF2B5EF4-FFF2-40B4-BE49-F238E27FC236}">
                <a16:creationId xmlns:a16="http://schemas.microsoft.com/office/drawing/2014/main" id="{01E46765-EB96-34ED-AFA3-6AF0802A48AF}"/>
              </a:ext>
            </a:extLst>
          </p:cNvPr>
          <p:cNvSpPr txBox="1"/>
          <p:nvPr/>
        </p:nvSpPr>
        <p:spPr>
          <a:xfrm>
            <a:off x="5015259"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8" name="TextBox 37">
            <a:extLst>
              <a:ext uri="{FF2B5EF4-FFF2-40B4-BE49-F238E27FC236}">
                <a16:creationId xmlns:a16="http://schemas.microsoft.com/office/drawing/2014/main" id="{93F335CB-7E3A-C874-4373-610647EB628F}"/>
              </a:ext>
            </a:extLst>
          </p:cNvPr>
          <p:cNvSpPr txBox="1"/>
          <p:nvPr/>
        </p:nvSpPr>
        <p:spPr>
          <a:xfrm>
            <a:off x="5443995"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40" name="TextBox 39">
            <a:extLst>
              <a:ext uri="{FF2B5EF4-FFF2-40B4-BE49-F238E27FC236}">
                <a16:creationId xmlns:a16="http://schemas.microsoft.com/office/drawing/2014/main" id="{1ACE5E5E-501A-09EE-91E8-E2A7F48A77FF}"/>
              </a:ext>
            </a:extLst>
          </p:cNvPr>
          <p:cNvSpPr txBox="1"/>
          <p:nvPr/>
        </p:nvSpPr>
        <p:spPr>
          <a:xfrm>
            <a:off x="5872731" y="208473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8</a:t>
            </a:r>
          </a:p>
        </p:txBody>
      </p:sp>
      <p:sp>
        <p:nvSpPr>
          <p:cNvPr id="42" name="TextBox 41">
            <a:extLst>
              <a:ext uri="{FF2B5EF4-FFF2-40B4-BE49-F238E27FC236}">
                <a16:creationId xmlns:a16="http://schemas.microsoft.com/office/drawing/2014/main" id="{01F5761E-BCC8-1506-DCC2-D46116D7BF4F}"/>
              </a:ext>
            </a:extLst>
          </p:cNvPr>
          <p:cNvSpPr txBox="1"/>
          <p:nvPr/>
        </p:nvSpPr>
        <p:spPr>
          <a:xfrm>
            <a:off x="6301467"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44" name="TextBox 43">
            <a:extLst>
              <a:ext uri="{FF2B5EF4-FFF2-40B4-BE49-F238E27FC236}">
                <a16:creationId xmlns:a16="http://schemas.microsoft.com/office/drawing/2014/main" id="{45D7B41C-ED72-0D5A-1E4B-5868E0E6A8AA}"/>
              </a:ext>
            </a:extLst>
          </p:cNvPr>
          <p:cNvSpPr txBox="1"/>
          <p:nvPr/>
        </p:nvSpPr>
        <p:spPr>
          <a:xfrm>
            <a:off x="6730203"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46" name="TextBox 45">
            <a:extLst>
              <a:ext uri="{FF2B5EF4-FFF2-40B4-BE49-F238E27FC236}">
                <a16:creationId xmlns:a16="http://schemas.microsoft.com/office/drawing/2014/main" id="{8637314F-973C-5F97-5679-D968B6A939B9}"/>
              </a:ext>
            </a:extLst>
          </p:cNvPr>
          <p:cNvSpPr txBox="1"/>
          <p:nvPr/>
        </p:nvSpPr>
        <p:spPr>
          <a:xfrm>
            <a:off x="7158940"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48" name="TextBox 47">
            <a:extLst>
              <a:ext uri="{FF2B5EF4-FFF2-40B4-BE49-F238E27FC236}">
                <a16:creationId xmlns:a16="http://schemas.microsoft.com/office/drawing/2014/main" id="{A85B25FC-C7A2-B4BA-22F8-5E6F8A121B61}"/>
              </a:ext>
            </a:extLst>
          </p:cNvPr>
          <p:cNvSpPr txBox="1"/>
          <p:nvPr/>
        </p:nvSpPr>
        <p:spPr>
          <a:xfrm>
            <a:off x="7587676"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50" name="TextBox 49">
            <a:extLst>
              <a:ext uri="{FF2B5EF4-FFF2-40B4-BE49-F238E27FC236}">
                <a16:creationId xmlns:a16="http://schemas.microsoft.com/office/drawing/2014/main" id="{78DED2E3-3DF4-77B0-6380-29AB4AAEDED8}"/>
              </a:ext>
            </a:extLst>
          </p:cNvPr>
          <p:cNvSpPr txBox="1"/>
          <p:nvPr/>
        </p:nvSpPr>
        <p:spPr>
          <a:xfrm>
            <a:off x="8016412" y="208473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13</a:t>
            </a:r>
          </a:p>
        </p:txBody>
      </p:sp>
      <p:sp>
        <p:nvSpPr>
          <p:cNvPr id="52" name="TextBox 51">
            <a:extLst>
              <a:ext uri="{FF2B5EF4-FFF2-40B4-BE49-F238E27FC236}">
                <a16:creationId xmlns:a16="http://schemas.microsoft.com/office/drawing/2014/main" id="{7F45E1BE-AB13-20C0-B3B1-6121EFD99CF9}"/>
              </a:ext>
            </a:extLst>
          </p:cNvPr>
          <p:cNvSpPr txBox="1"/>
          <p:nvPr/>
        </p:nvSpPr>
        <p:spPr>
          <a:xfrm>
            <a:off x="8445148"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54" name="TextBox 53">
            <a:extLst>
              <a:ext uri="{FF2B5EF4-FFF2-40B4-BE49-F238E27FC236}">
                <a16:creationId xmlns:a16="http://schemas.microsoft.com/office/drawing/2014/main" id="{1C9E2A08-8469-46CF-1170-B04CB1E1BDBC}"/>
              </a:ext>
            </a:extLst>
          </p:cNvPr>
          <p:cNvSpPr txBox="1"/>
          <p:nvPr/>
        </p:nvSpPr>
        <p:spPr>
          <a:xfrm>
            <a:off x="8873884" y="208473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56" name="Rectangle 55">
            <a:extLst>
              <a:ext uri="{FF2B5EF4-FFF2-40B4-BE49-F238E27FC236}">
                <a16:creationId xmlns:a16="http://schemas.microsoft.com/office/drawing/2014/main" id="{BA13AD0D-99A7-75AA-504A-4429C367C991}"/>
              </a:ext>
            </a:extLst>
          </p:cNvPr>
          <p:cNvSpPr/>
          <p:nvPr/>
        </p:nvSpPr>
        <p:spPr>
          <a:xfrm>
            <a:off x="521578" y="224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a:extLst>
              <a:ext uri="{FF2B5EF4-FFF2-40B4-BE49-F238E27FC236}">
                <a16:creationId xmlns:a16="http://schemas.microsoft.com/office/drawing/2014/main" id="{B3297EAE-E0DF-DCF2-84C4-D7E128CB4EA9}"/>
              </a:ext>
            </a:extLst>
          </p:cNvPr>
          <p:cNvSpPr/>
          <p:nvPr/>
        </p:nvSpPr>
        <p:spPr>
          <a:xfrm>
            <a:off x="521578" y="267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0" name="TextBox 59">
            <a:extLst>
              <a:ext uri="{FF2B5EF4-FFF2-40B4-BE49-F238E27FC236}">
                <a16:creationId xmlns:a16="http://schemas.microsoft.com/office/drawing/2014/main" id="{1F78B010-804B-EEA9-718C-BB77EE018467}"/>
              </a:ext>
            </a:extLst>
          </p:cNvPr>
          <p:cNvSpPr txBox="1"/>
          <p:nvPr/>
        </p:nvSpPr>
        <p:spPr>
          <a:xfrm>
            <a:off x="611578" y="227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62" name="Rounded Rectangle 45">
            <a:extLst>
              <a:ext uri="{FF2B5EF4-FFF2-40B4-BE49-F238E27FC236}">
                <a16:creationId xmlns:a16="http://schemas.microsoft.com/office/drawing/2014/main" id="{7A081C49-33A4-C36C-FEEA-DCFF6011997B}"/>
              </a:ext>
            </a:extLst>
          </p:cNvPr>
          <p:cNvSpPr/>
          <p:nvPr/>
        </p:nvSpPr>
        <p:spPr>
          <a:xfrm>
            <a:off x="2891578" y="2338310"/>
            <a:ext cx="1058407" cy="24297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a:extLst>
              <a:ext uri="{FF2B5EF4-FFF2-40B4-BE49-F238E27FC236}">
                <a16:creationId xmlns:a16="http://schemas.microsoft.com/office/drawing/2014/main" id="{3ED687D2-AC88-32A6-F1DF-0438F40F407F}"/>
              </a:ext>
            </a:extLst>
          </p:cNvPr>
          <p:cNvSpPr/>
          <p:nvPr/>
        </p:nvSpPr>
        <p:spPr>
          <a:xfrm>
            <a:off x="521578" y="310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a:extLst>
              <a:ext uri="{FF2B5EF4-FFF2-40B4-BE49-F238E27FC236}">
                <a16:creationId xmlns:a16="http://schemas.microsoft.com/office/drawing/2014/main" id="{8D5C8498-321D-1ECD-6F93-0EE2949ECD54}"/>
              </a:ext>
            </a:extLst>
          </p:cNvPr>
          <p:cNvSpPr txBox="1"/>
          <p:nvPr/>
        </p:nvSpPr>
        <p:spPr>
          <a:xfrm>
            <a:off x="611578" y="280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68" name="Rounded Rectangle 48">
            <a:extLst>
              <a:ext uri="{FF2B5EF4-FFF2-40B4-BE49-F238E27FC236}">
                <a16:creationId xmlns:a16="http://schemas.microsoft.com/office/drawing/2014/main" id="{9F3C1762-054A-51B8-1179-7956684E6452}"/>
              </a:ext>
            </a:extLst>
          </p:cNvPr>
          <p:cNvSpPr/>
          <p:nvPr/>
        </p:nvSpPr>
        <p:spPr>
          <a:xfrm>
            <a:off x="3320314" y="2738629"/>
            <a:ext cx="1539142" cy="308802"/>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rgbClr val="FF0000"/>
              </a:solidFill>
            </a:endParaRPr>
          </a:p>
        </p:txBody>
      </p:sp>
      <p:sp>
        <p:nvSpPr>
          <p:cNvPr id="70" name="Rectangle 69">
            <a:extLst>
              <a:ext uri="{FF2B5EF4-FFF2-40B4-BE49-F238E27FC236}">
                <a16:creationId xmlns:a16="http://schemas.microsoft.com/office/drawing/2014/main" id="{5B8A9779-8AE0-4262-DCCF-BEF8909EFABE}"/>
              </a:ext>
            </a:extLst>
          </p:cNvPr>
          <p:cNvSpPr/>
          <p:nvPr/>
        </p:nvSpPr>
        <p:spPr>
          <a:xfrm>
            <a:off x="521578" y="310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a:extLst>
              <a:ext uri="{FF2B5EF4-FFF2-40B4-BE49-F238E27FC236}">
                <a16:creationId xmlns:a16="http://schemas.microsoft.com/office/drawing/2014/main" id="{F7E3BD76-E2E2-9498-E631-A9FE8B83C66E}"/>
              </a:ext>
            </a:extLst>
          </p:cNvPr>
          <p:cNvSpPr/>
          <p:nvPr/>
        </p:nvSpPr>
        <p:spPr>
          <a:xfrm>
            <a:off x="521578" y="353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4" name="TextBox 73">
            <a:extLst>
              <a:ext uri="{FF2B5EF4-FFF2-40B4-BE49-F238E27FC236}">
                <a16:creationId xmlns:a16="http://schemas.microsoft.com/office/drawing/2014/main" id="{771A0447-D199-8648-0AEF-F002490A4362}"/>
              </a:ext>
            </a:extLst>
          </p:cNvPr>
          <p:cNvSpPr txBox="1"/>
          <p:nvPr/>
        </p:nvSpPr>
        <p:spPr>
          <a:xfrm>
            <a:off x="611578" y="3138365"/>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(Prophet+XGBoost, Adaptive </a:t>
            </a:r>
            <a:r>
              <a:rPr lang="en-IN" sz="1200" b="0" i="0" dirty="0">
                <a:solidFill>
                  <a:srgbClr val="262626"/>
                </a:solidFill>
                <a:latin typeface="Calibri"/>
              </a:rPr>
              <a:t>Branching</a:t>
            </a:r>
            <a:r>
              <a:rPr sz="1200" b="0" i="0" dirty="0">
                <a:solidFill>
                  <a:srgbClr val="262626"/>
                </a:solidFill>
                <a:latin typeface="Calibri"/>
              </a:rPr>
              <a:t>)</a:t>
            </a:r>
          </a:p>
        </p:txBody>
      </p:sp>
      <p:sp>
        <p:nvSpPr>
          <p:cNvPr id="76" name="Rounded Rectangle 52">
            <a:extLst>
              <a:ext uri="{FF2B5EF4-FFF2-40B4-BE49-F238E27FC236}">
                <a16:creationId xmlns:a16="http://schemas.microsoft.com/office/drawing/2014/main" id="{9875309F-BD1E-C36B-FAFD-C467287C4973}"/>
              </a:ext>
            </a:extLst>
          </p:cNvPr>
          <p:cNvSpPr/>
          <p:nvPr/>
        </p:nvSpPr>
        <p:spPr>
          <a:xfrm>
            <a:off x="4691025" y="3185679"/>
            <a:ext cx="1741944" cy="294638"/>
          </a:xfrm>
          <a:prstGeom prst="roundRect">
            <a:avLst>
              <a:gd name="adj" fmla="val 15795"/>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ectangle 77">
            <a:extLst>
              <a:ext uri="{FF2B5EF4-FFF2-40B4-BE49-F238E27FC236}">
                <a16:creationId xmlns:a16="http://schemas.microsoft.com/office/drawing/2014/main" id="{5AC40DD9-BF95-9BDD-F200-644150211D15}"/>
              </a:ext>
            </a:extLst>
          </p:cNvPr>
          <p:cNvSpPr/>
          <p:nvPr/>
        </p:nvSpPr>
        <p:spPr>
          <a:xfrm>
            <a:off x="521578" y="396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0" name="TextBox 79">
            <a:extLst>
              <a:ext uri="{FF2B5EF4-FFF2-40B4-BE49-F238E27FC236}">
                <a16:creationId xmlns:a16="http://schemas.microsoft.com/office/drawing/2014/main" id="{CCCF5B1A-C8A5-9964-1D1C-CBB4B516CFB6}"/>
              </a:ext>
            </a:extLst>
          </p:cNvPr>
          <p:cNvSpPr txBox="1"/>
          <p:nvPr/>
        </p:nvSpPr>
        <p:spPr>
          <a:xfrm>
            <a:off x="611578" y="366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82" name="Rectangle 81">
            <a:extLst>
              <a:ext uri="{FF2B5EF4-FFF2-40B4-BE49-F238E27FC236}">
                <a16:creationId xmlns:a16="http://schemas.microsoft.com/office/drawing/2014/main" id="{EC0B25D7-ECB1-F573-4EBF-47EE34C60902}"/>
              </a:ext>
            </a:extLst>
          </p:cNvPr>
          <p:cNvSpPr/>
          <p:nvPr/>
        </p:nvSpPr>
        <p:spPr>
          <a:xfrm>
            <a:off x="521578" y="396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4" name="Rectangle 83">
            <a:extLst>
              <a:ext uri="{FF2B5EF4-FFF2-40B4-BE49-F238E27FC236}">
                <a16:creationId xmlns:a16="http://schemas.microsoft.com/office/drawing/2014/main" id="{46920E82-CF65-F7A0-6528-0DEEBA13924A}"/>
              </a:ext>
            </a:extLst>
          </p:cNvPr>
          <p:cNvSpPr/>
          <p:nvPr/>
        </p:nvSpPr>
        <p:spPr>
          <a:xfrm>
            <a:off x="521578" y="439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6" name="TextBox 85">
            <a:extLst>
              <a:ext uri="{FF2B5EF4-FFF2-40B4-BE49-F238E27FC236}">
                <a16:creationId xmlns:a16="http://schemas.microsoft.com/office/drawing/2014/main" id="{0AC797D0-C6DA-4AF0-FF26-70C09EDCAF39}"/>
              </a:ext>
            </a:extLst>
          </p:cNvPr>
          <p:cNvSpPr txBox="1"/>
          <p:nvPr/>
        </p:nvSpPr>
        <p:spPr>
          <a:xfrm>
            <a:off x="611578" y="399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Backend API </a:t>
            </a:r>
            <a:r>
              <a:rPr lang="en-IN" sz="1200" b="0" i="0" dirty="0">
                <a:solidFill>
                  <a:srgbClr val="262626"/>
                </a:solidFill>
                <a:latin typeface="Calibri"/>
              </a:rPr>
              <a:t>,</a:t>
            </a:r>
            <a:r>
              <a:rPr sz="1200" b="0" i="0" dirty="0">
                <a:solidFill>
                  <a:srgbClr val="262626"/>
                </a:solidFill>
                <a:latin typeface="Calibri"/>
              </a:rPr>
              <a:t> Restock Logic</a:t>
            </a:r>
            <a:r>
              <a:rPr lang="en-IN" sz="1200" b="0" i="0" dirty="0">
                <a:solidFill>
                  <a:srgbClr val="262626"/>
                </a:solidFill>
                <a:latin typeface="Calibri"/>
              </a:rPr>
              <a:t> and LLM narrator</a:t>
            </a:r>
            <a:endParaRPr sz="1200" b="0" i="0" dirty="0">
              <a:solidFill>
                <a:srgbClr val="262626"/>
              </a:solidFill>
              <a:latin typeface="Calibri"/>
            </a:endParaRPr>
          </a:p>
        </p:txBody>
      </p:sp>
      <p:sp>
        <p:nvSpPr>
          <p:cNvPr id="88" name="Rounded Rectangle 59">
            <a:extLst>
              <a:ext uri="{FF2B5EF4-FFF2-40B4-BE49-F238E27FC236}">
                <a16:creationId xmlns:a16="http://schemas.microsoft.com/office/drawing/2014/main" id="{7B34BB2D-0F02-0926-6D93-F8210214C972}"/>
              </a:ext>
            </a:extLst>
          </p:cNvPr>
          <p:cNvSpPr/>
          <p:nvPr/>
        </p:nvSpPr>
        <p:spPr>
          <a:xfrm>
            <a:off x="5463995" y="406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0" name="Rectangle 89">
            <a:extLst>
              <a:ext uri="{FF2B5EF4-FFF2-40B4-BE49-F238E27FC236}">
                <a16:creationId xmlns:a16="http://schemas.microsoft.com/office/drawing/2014/main" id="{8D41F513-6E3B-FC1A-151B-4D94004E10D1}"/>
              </a:ext>
            </a:extLst>
          </p:cNvPr>
          <p:cNvSpPr/>
          <p:nvPr/>
        </p:nvSpPr>
        <p:spPr>
          <a:xfrm>
            <a:off x="521578" y="482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2" name="TextBox 91">
            <a:extLst>
              <a:ext uri="{FF2B5EF4-FFF2-40B4-BE49-F238E27FC236}">
                <a16:creationId xmlns:a16="http://schemas.microsoft.com/office/drawing/2014/main" id="{7DCB54A6-B9DE-6F05-FABD-BE0599299F07}"/>
              </a:ext>
            </a:extLst>
          </p:cNvPr>
          <p:cNvSpPr txBox="1"/>
          <p:nvPr/>
        </p:nvSpPr>
        <p:spPr>
          <a:xfrm>
            <a:off x="611578" y="442836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94" name="Rounded Rectangle 62">
            <a:extLst>
              <a:ext uri="{FF2B5EF4-FFF2-40B4-BE49-F238E27FC236}">
                <a16:creationId xmlns:a16="http://schemas.microsoft.com/office/drawing/2014/main" id="{5D90A48D-D71E-83AA-BC4B-B9218FDE5B91}"/>
              </a:ext>
            </a:extLst>
          </p:cNvPr>
          <p:cNvSpPr/>
          <p:nvPr/>
        </p:nvSpPr>
        <p:spPr>
          <a:xfrm>
            <a:off x="6321467" y="449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6" name="Rectangle 95">
            <a:extLst>
              <a:ext uri="{FF2B5EF4-FFF2-40B4-BE49-F238E27FC236}">
                <a16:creationId xmlns:a16="http://schemas.microsoft.com/office/drawing/2014/main" id="{5E15A4EE-E25D-C283-CDFD-CCD12FD6E19D}"/>
              </a:ext>
            </a:extLst>
          </p:cNvPr>
          <p:cNvSpPr/>
          <p:nvPr/>
        </p:nvSpPr>
        <p:spPr>
          <a:xfrm>
            <a:off x="521578" y="482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8" name="Rectangle 97">
            <a:extLst>
              <a:ext uri="{FF2B5EF4-FFF2-40B4-BE49-F238E27FC236}">
                <a16:creationId xmlns:a16="http://schemas.microsoft.com/office/drawing/2014/main" id="{6B9A9E8F-0098-4152-800A-3A8910EC2FDE}"/>
              </a:ext>
            </a:extLst>
          </p:cNvPr>
          <p:cNvSpPr/>
          <p:nvPr/>
        </p:nvSpPr>
        <p:spPr>
          <a:xfrm>
            <a:off x="521578" y="525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0" name="TextBox 99">
            <a:extLst>
              <a:ext uri="{FF2B5EF4-FFF2-40B4-BE49-F238E27FC236}">
                <a16:creationId xmlns:a16="http://schemas.microsoft.com/office/drawing/2014/main" id="{9D1BA90C-0D1E-9C22-4D6C-FD8308BC3353}"/>
              </a:ext>
            </a:extLst>
          </p:cNvPr>
          <p:cNvSpPr txBox="1"/>
          <p:nvPr/>
        </p:nvSpPr>
        <p:spPr>
          <a:xfrm>
            <a:off x="611578" y="485836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Testing &amp; Evaluation (RMSE / MAPE)</a:t>
            </a:r>
          </a:p>
        </p:txBody>
      </p:sp>
      <p:sp>
        <p:nvSpPr>
          <p:cNvPr id="102" name="Rounded Rectangle 66">
            <a:extLst>
              <a:ext uri="{FF2B5EF4-FFF2-40B4-BE49-F238E27FC236}">
                <a16:creationId xmlns:a16="http://schemas.microsoft.com/office/drawing/2014/main" id="{C24E81E9-8FB5-3B6D-9EAB-65619E50C208}"/>
              </a:ext>
            </a:extLst>
          </p:cNvPr>
          <p:cNvSpPr/>
          <p:nvPr/>
        </p:nvSpPr>
        <p:spPr>
          <a:xfrm>
            <a:off x="7178940" y="492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4" name="Rectangle 103">
            <a:extLst>
              <a:ext uri="{FF2B5EF4-FFF2-40B4-BE49-F238E27FC236}">
                <a16:creationId xmlns:a16="http://schemas.microsoft.com/office/drawing/2014/main" id="{725367E8-AEB7-001D-0336-B229987A6947}"/>
              </a:ext>
            </a:extLst>
          </p:cNvPr>
          <p:cNvSpPr/>
          <p:nvPr/>
        </p:nvSpPr>
        <p:spPr>
          <a:xfrm>
            <a:off x="521578" y="568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6" name="TextBox 105">
            <a:extLst>
              <a:ext uri="{FF2B5EF4-FFF2-40B4-BE49-F238E27FC236}">
                <a16:creationId xmlns:a16="http://schemas.microsoft.com/office/drawing/2014/main" id="{8A95EFE5-1683-2411-D5E6-27A5CC411EA5}"/>
              </a:ext>
            </a:extLst>
          </p:cNvPr>
          <p:cNvSpPr txBox="1"/>
          <p:nvPr/>
        </p:nvSpPr>
        <p:spPr>
          <a:xfrm>
            <a:off x="611578" y="538069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108" name="Rounded Rectangle 69">
            <a:extLst>
              <a:ext uri="{FF2B5EF4-FFF2-40B4-BE49-F238E27FC236}">
                <a16:creationId xmlns:a16="http://schemas.microsoft.com/office/drawing/2014/main" id="{F98EB7E1-BC7B-BDEA-D290-A227327D3CA2}"/>
              </a:ext>
            </a:extLst>
          </p:cNvPr>
          <p:cNvSpPr/>
          <p:nvPr/>
        </p:nvSpPr>
        <p:spPr>
          <a:xfrm>
            <a:off x="7607676" y="535478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0" name="Rectangle 109">
            <a:extLst>
              <a:ext uri="{FF2B5EF4-FFF2-40B4-BE49-F238E27FC236}">
                <a16:creationId xmlns:a16="http://schemas.microsoft.com/office/drawing/2014/main" id="{4EF67E5F-D2D5-82E6-DDB4-7A83307D5681}"/>
              </a:ext>
            </a:extLst>
          </p:cNvPr>
          <p:cNvSpPr/>
          <p:nvPr/>
        </p:nvSpPr>
        <p:spPr>
          <a:xfrm>
            <a:off x="521578" y="568803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2" name="Rectangle 111">
            <a:extLst>
              <a:ext uri="{FF2B5EF4-FFF2-40B4-BE49-F238E27FC236}">
                <a16:creationId xmlns:a16="http://schemas.microsoft.com/office/drawing/2014/main" id="{C149F634-7537-4AF7-FC71-99DDCA7B430E}"/>
              </a:ext>
            </a:extLst>
          </p:cNvPr>
          <p:cNvSpPr/>
          <p:nvPr/>
        </p:nvSpPr>
        <p:spPr>
          <a:xfrm>
            <a:off x="521578" y="611326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4" name="TextBox 113">
            <a:extLst>
              <a:ext uri="{FF2B5EF4-FFF2-40B4-BE49-F238E27FC236}">
                <a16:creationId xmlns:a16="http://schemas.microsoft.com/office/drawing/2014/main" id="{585BF316-5545-9B46-B4E5-206829AA9EDF}"/>
              </a:ext>
            </a:extLst>
          </p:cNvPr>
          <p:cNvSpPr txBox="1"/>
          <p:nvPr/>
        </p:nvSpPr>
        <p:spPr>
          <a:xfrm>
            <a:off x="611578" y="571836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116" name="Rounded Rectangle 73">
            <a:extLst>
              <a:ext uri="{FF2B5EF4-FFF2-40B4-BE49-F238E27FC236}">
                <a16:creationId xmlns:a16="http://schemas.microsoft.com/office/drawing/2014/main" id="{7B176375-1B91-A01A-10EC-222B904581D7}"/>
              </a:ext>
            </a:extLst>
          </p:cNvPr>
          <p:cNvSpPr/>
          <p:nvPr/>
        </p:nvSpPr>
        <p:spPr>
          <a:xfrm>
            <a:off x="8465148" y="578478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8" name="Rectangle 117">
            <a:extLst>
              <a:ext uri="{FF2B5EF4-FFF2-40B4-BE49-F238E27FC236}">
                <a16:creationId xmlns:a16="http://schemas.microsoft.com/office/drawing/2014/main" id="{BFC81EDE-985D-A97E-F340-4C2A669E7ADF}"/>
              </a:ext>
            </a:extLst>
          </p:cNvPr>
          <p:cNvSpPr/>
          <p:nvPr/>
        </p:nvSpPr>
        <p:spPr>
          <a:xfrm>
            <a:off x="4709690" y="188803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0" name="TextBox 119">
            <a:extLst>
              <a:ext uri="{FF2B5EF4-FFF2-40B4-BE49-F238E27FC236}">
                <a16:creationId xmlns:a16="http://schemas.microsoft.com/office/drawing/2014/main" id="{87E70D43-2D13-7F3A-52D4-F71084428C4A}"/>
              </a:ext>
            </a:extLst>
          </p:cNvPr>
          <p:cNvSpPr txBox="1"/>
          <p:nvPr/>
        </p:nvSpPr>
        <p:spPr>
          <a:xfrm>
            <a:off x="4439044" y="172223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122" name="Rectangle 121">
            <a:extLst>
              <a:ext uri="{FF2B5EF4-FFF2-40B4-BE49-F238E27FC236}">
                <a16:creationId xmlns:a16="http://schemas.microsoft.com/office/drawing/2014/main" id="{303518CD-7536-2A95-E932-758825B8D849}"/>
              </a:ext>
            </a:extLst>
          </p:cNvPr>
          <p:cNvSpPr/>
          <p:nvPr/>
        </p:nvSpPr>
        <p:spPr>
          <a:xfrm>
            <a:off x="9296271" y="188803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4" name="Rounded Rectangle 77">
            <a:extLst>
              <a:ext uri="{FF2B5EF4-FFF2-40B4-BE49-F238E27FC236}">
                <a16:creationId xmlns:a16="http://schemas.microsoft.com/office/drawing/2014/main" id="{7B2516CE-D942-718C-471F-2E4B7E09E319}"/>
              </a:ext>
            </a:extLst>
          </p:cNvPr>
          <p:cNvSpPr/>
          <p:nvPr/>
        </p:nvSpPr>
        <p:spPr>
          <a:xfrm>
            <a:off x="521578" y="619803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6" name="TextBox 125">
            <a:extLst>
              <a:ext uri="{FF2B5EF4-FFF2-40B4-BE49-F238E27FC236}">
                <a16:creationId xmlns:a16="http://schemas.microsoft.com/office/drawing/2014/main" id="{1320E069-AF9D-4C70-C780-E279F84B9A6C}"/>
              </a:ext>
            </a:extLst>
          </p:cNvPr>
          <p:cNvSpPr txBox="1"/>
          <p:nvPr/>
        </p:nvSpPr>
        <p:spPr>
          <a:xfrm>
            <a:off x="7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128" name="Rounded Rectangle 79">
            <a:extLst>
              <a:ext uri="{FF2B5EF4-FFF2-40B4-BE49-F238E27FC236}">
                <a16:creationId xmlns:a16="http://schemas.microsoft.com/office/drawing/2014/main" id="{4B23981C-A684-FD92-B1C4-1BA8D0D32D3F}"/>
              </a:ext>
            </a:extLst>
          </p:cNvPr>
          <p:cNvSpPr/>
          <p:nvPr/>
        </p:nvSpPr>
        <p:spPr>
          <a:xfrm>
            <a:off x="2021578" y="6198030"/>
            <a:ext cx="220000" cy="140000"/>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0" name="TextBox 129">
            <a:extLst>
              <a:ext uri="{FF2B5EF4-FFF2-40B4-BE49-F238E27FC236}">
                <a16:creationId xmlns:a16="http://schemas.microsoft.com/office/drawing/2014/main" id="{C99E4447-A1F4-D172-D216-EBAAB38C4B99}"/>
              </a:ext>
            </a:extLst>
          </p:cNvPr>
          <p:cNvSpPr txBox="1"/>
          <p:nvPr/>
        </p:nvSpPr>
        <p:spPr>
          <a:xfrm>
            <a:off x="22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132" name="Rounded Rectangle 81">
            <a:extLst>
              <a:ext uri="{FF2B5EF4-FFF2-40B4-BE49-F238E27FC236}">
                <a16:creationId xmlns:a16="http://schemas.microsoft.com/office/drawing/2014/main" id="{03B52D05-A70B-0BB8-E2B3-D31149AABBB8}"/>
              </a:ext>
            </a:extLst>
          </p:cNvPr>
          <p:cNvSpPr/>
          <p:nvPr/>
        </p:nvSpPr>
        <p:spPr>
          <a:xfrm>
            <a:off x="3521578" y="619803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4" name="TextBox 133">
            <a:extLst>
              <a:ext uri="{FF2B5EF4-FFF2-40B4-BE49-F238E27FC236}">
                <a16:creationId xmlns:a16="http://schemas.microsoft.com/office/drawing/2014/main" id="{5E8F5372-844D-B441-418F-FAC4745A177A}"/>
              </a:ext>
            </a:extLst>
          </p:cNvPr>
          <p:cNvSpPr txBox="1"/>
          <p:nvPr/>
        </p:nvSpPr>
        <p:spPr>
          <a:xfrm>
            <a:off x="3781578" y="618339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136" name="TextBox 135">
            <a:extLst>
              <a:ext uri="{FF2B5EF4-FFF2-40B4-BE49-F238E27FC236}">
                <a16:creationId xmlns:a16="http://schemas.microsoft.com/office/drawing/2014/main" id="{F4F734E6-2131-F8EA-7EEB-D73D8FB9540C}"/>
              </a:ext>
            </a:extLst>
          </p:cNvPr>
          <p:cNvSpPr txBox="1"/>
          <p:nvPr/>
        </p:nvSpPr>
        <p:spPr>
          <a:xfrm>
            <a:off x="7514508" y="6253391"/>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138" name="Rectangle 137">
            <a:extLst>
              <a:ext uri="{FF2B5EF4-FFF2-40B4-BE49-F238E27FC236}">
                <a16:creationId xmlns:a16="http://schemas.microsoft.com/office/drawing/2014/main" id="{14974598-9651-73EA-9553-F5F6333C78F9}"/>
              </a:ext>
            </a:extLst>
          </p:cNvPr>
          <p:cNvSpPr/>
          <p:nvPr/>
        </p:nvSpPr>
        <p:spPr>
          <a:xfrm>
            <a:off x="2813528" y="189266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0" name="Rounded Rectangle 84">
            <a:extLst>
              <a:ext uri="{FF2B5EF4-FFF2-40B4-BE49-F238E27FC236}">
                <a16:creationId xmlns:a16="http://schemas.microsoft.com/office/drawing/2014/main" id="{0C2E36B2-5BD0-D7BF-2DF8-FC1D029E82DC}"/>
              </a:ext>
            </a:extLst>
          </p:cNvPr>
          <p:cNvSpPr/>
          <p:nvPr/>
        </p:nvSpPr>
        <p:spPr>
          <a:xfrm>
            <a:off x="4804542" y="3630017"/>
            <a:ext cx="1755960" cy="272652"/>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50408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5783-801C-8175-636A-6C18153D9B9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7B6D058-215A-5F02-9D58-174CB5830AA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2DF58CA-7E59-01C7-772B-00F5A01484D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EE1D4AF-F88E-E8B9-67B9-D0A3905DFF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243168D-3CC4-85FA-ACAC-CF3663EF9B9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71103C5-9D29-29DD-D818-CB402D81C27E}"/>
              </a:ext>
            </a:extLst>
          </p:cNvPr>
          <p:cNvSpPr>
            <a:spLocks noGrp="1"/>
          </p:cNvSpPr>
          <p:nvPr>
            <p:ph type="sldNum" sz="quarter" idx="12"/>
          </p:nvPr>
        </p:nvSpPr>
        <p:spPr/>
        <p:txBody>
          <a:bodyPr/>
          <a:lstStyle/>
          <a:p>
            <a:fld id="{9DC013F7-6D70-4318-BA41-212A9B59413B}" type="slidenum">
              <a:rPr lang="en-US" smtClean="0"/>
              <a:t>14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51372748-D24B-EB39-761C-B66E509A886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705B893-234A-69FF-C100-049393CC2B63}"/>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23B55B9-E290-A45C-844E-82414C2C8FB1}"/>
              </a:ext>
            </a:extLst>
          </p:cNvPr>
          <p:cNvSpPr/>
          <p:nvPr/>
        </p:nvSpPr>
        <p:spPr>
          <a:xfrm>
            <a:off x="311639" y="1187896"/>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12" name="Shape 4">
            <a:extLst>
              <a:ext uri="{FF2B5EF4-FFF2-40B4-BE49-F238E27FC236}">
                <a16:creationId xmlns:a16="http://schemas.microsoft.com/office/drawing/2014/main" id="{288E3F41-028A-0327-3C64-A881C898F0C7}"/>
              </a:ext>
            </a:extLst>
          </p:cNvPr>
          <p:cNvSpPr/>
          <p:nvPr/>
        </p:nvSpPr>
        <p:spPr>
          <a:xfrm flipV="1">
            <a:off x="311639" y="1788974"/>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2F76CC29-DF59-0BA0-E68F-2DB3CFED1BAB}"/>
              </a:ext>
            </a:extLst>
          </p:cNvPr>
          <p:cNvSpPr txBox="1"/>
          <p:nvPr/>
        </p:nvSpPr>
        <p:spPr>
          <a:xfrm>
            <a:off x="311639" y="1891347"/>
            <a:ext cx="4474965" cy="4254947"/>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16" name="TextBox 15">
            <a:extLst>
              <a:ext uri="{FF2B5EF4-FFF2-40B4-BE49-F238E27FC236}">
                <a16:creationId xmlns:a16="http://schemas.microsoft.com/office/drawing/2014/main" id="{61873B2A-8B7E-9B9D-78E2-EB3A73903874}"/>
              </a:ext>
            </a:extLst>
          </p:cNvPr>
          <p:cNvSpPr txBox="1"/>
          <p:nvPr/>
        </p:nvSpPr>
        <p:spPr>
          <a:xfrm>
            <a:off x="5119398" y="1914035"/>
            <a:ext cx="447496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a:t>
            </a:r>
            <a:r>
              <a:rPr lang="en-IN" sz="1300">
                <a:solidFill>
                  <a:srgbClr val="262626"/>
                </a:solidFill>
                <a:latin typeface="Calibri"/>
              </a:rPr>
              <a:t>4</a:t>
            </a:r>
            <a:r>
              <a:rPr sz="1300">
                <a:solidFill>
                  <a:srgbClr val="262626"/>
                </a:solidFill>
                <a:latin typeface="Calibri"/>
              </a:rPr>
              <a:t>.</a:t>
            </a:r>
            <a:endParaRPr sz="1300" dirty="0">
              <a:solidFill>
                <a:srgbClr val="262626"/>
              </a:solidFill>
              <a:latin typeface="Calibri"/>
            </a:endParaRP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Tree>
    <p:extLst>
      <p:ext uri="{BB962C8B-B14F-4D97-AF65-F5344CB8AC3E}">
        <p14:creationId xmlns:p14="http://schemas.microsoft.com/office/powerpoint/2010/main" val="362463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9487-A311-520D-D565-A7D57124452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6745D7B-C00A-35A9-0466-A7B294905FAF}"/>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230B179-0DB1-4586-4842-CD278946AE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92C2F7DD-D9D9-08D4-06B5-CAAFF56556E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797B42B-420F-D5D4-8EF9-B67EB2A8A6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815C31CB-105C-C228-28EE-3B0DA9C42A5B}"/>
              </a:ext>
            </a:extLst>
          </p:cNvPr>
          <p:cNvSpPr>
            <a:spLocks noGrp="1"/>
          </p:cNvSpPr>
          <p:nvPr>
            <p:ph type="sldNum" sz="quarter" idx="12"/>
          </p:nvPr>
        </p:nvSpPr>
        <p:spPr/>
        <p:txBody>
          <a:bodyPr/>
          <a:lstStyle/>
          <a:p>
            <a:fld id="{9DC013F7-6D70-4318-BA41-212A9B59413B}" type="slidenum">
              <a:rPr lang="en-US" smtClean="0"/>
              <a:t>15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A5B0FEC-A4BD-1856-BC44-B0605F4DBED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995DAD4-C416-C5AB-DAB5-2B56D0D8166D}"/>
              </a:ext>
            </a:extLst>
          </p:cNvPr>
          <p:cNvSpPr/>
          <p:nvPr/>
        </p:nvSpPr>
        <p:spPr>
          <a:xfrm>
            <a:off x="222696" y="1193283"/>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932BC5E-4777-C55C-CE76-65A834624D5C}"/>
              </a:ext>
            </a:extLst>
          </p:cNvPr>
          <p:cNvSpPr/>
          <p:nvPr/>
        </p:nvSpPr>
        <p:spPr>
          <a:xfrm>
            <a:off x="222696" y="1193283"/>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12" name="Shape 4">
            <a:extLst>
              <a:ext uri="{FF2B5EF4-FFF2-40B4-BE49-F238E27FC236}">
                <a16:creationId xmlns:a16="http://schemas.microsoft.com/office/drawing/2014/main" id="{C99C8616-AD1C-5FB0-2DC7-EA0F781717E9}"/>
              </a:ext>
            </a:extLst>
          </p:cNvPr>
          <p:cNvSpPr/>
          <p:nvPr/>
        </p:nvSpPr>
        <p:spPr>
          <a:xfrm flipV="1">
            <a:off x="157685" y="1759006"/>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7BECDD1-200D-99FF-4276-3EA774324097}"/>
              </a:ext>
            </a:extLst>
          </p:cNvPr>
          <p:cNvSpPr txBox="1"/>
          <p:nvPr/>
        </p:nvSpPr>
        <p:spPr>
          <a:xfrm>
            <a:off x="222696" y="1896734"/>
            <a:ext cx="450637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16" name="TextBox 15">
            <a:extLst>
              <a:ext uri="{FF2B5EF4-FFF2-40B4-BE49-F238E27FC236}">
                <a16:creationId xmlns:a16="http://schemas.microsoft.com/office/drawing/2014/main" id="{446562A5-FDB0-D14B-BEC4-1623355CF2AB}"/>
              </a:ext>
            </a:extLst>
          </p:cNvPr>
          <p:cNvSpPr txBox="1"/>
          <p:nvPr/>
        </p:nvSpPr>
        <p:spPr>
          <a:xfrm>
            <a:off x="5207795" y="1819352"/>
            <a:ext cx="44332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Tree>
    <p:extLst>
      <p:ext uri="{BB962C8B-B14F-4D97-AF65-F5344CB8AC3E}">
        <p14:creationId xmlns:p14="http://schemas.microsoft.com/office/powerpoint/2010/main" val="3910174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B9D12C0-2B1D-DD79-C784-6E764CA48022}"/>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Google Shape;203;g22f13355470_0_53">
            <a:extLst>
              <a:ext uri="{FF2B5EF4-FFF2-40B4-BE49-F238E27FC236}">
                <a16:creationId xmlns:a16="http://schemas.microsoft.com/office/drawing/2014/main" id="{8A9D94C2-3C6F-8E28-5CB9-B8C332048D91}"/>
              </a:ext>
            </a:extLst>
          </p:cNvPr>
          <p:cNvSpPr txBox="1">
            <a:spLocks/>
          </p:cNvSpPr>
          <p:nvPr/>
        </p:nvSpPr>
        <p:spPr>
          <a:xfrm flipH="1">
            <a:off x="770401" y="1646812"/>
            <a:ext cx="8229600" cy="3648364"/>
          </a:xfrm>
          <a:prstGeom prst="rect">
            <a:avLst/>
          </a:prstGeom>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6172643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2275</TotalTime>
  <Words>2559</Words>
  <Application>Microsoft Office PowerPoint</Application>
  <PresentationFormat>A4 Paper (210x297 mm)</PresentationFormat>
  <Paragraphs>277</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Book Antiqua</vt:lpstr>
      <vt:lpstr>Calibri</vt:lpstr>
      <vt:lpstr>Calibri Light</vt:lpstr>
      <vt:lpstr>Cambria</vt:lpstr>
      <vt:lpstr>Teko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Harshal Kotwal</dc:creator>
  <cp:lastModifiedBy>YATIN PATIL</cp:lastModifiedBy>
  <cp:revision>294</cp:revision>
  <cp:lastPrinted>2021-08-30T13:16:05Z</cp:lastPrinted>
  <dcterms:created xsi:type="dcterms:W3CDTF">2021-01-07T05:11:47Z</dcterms:created>
  <dcterms:modified xsi:type="dcterms:W3CDTF">2026-08-08T05:09:48Z</dcterms:modified>
</cp:coreProperties>
</file>